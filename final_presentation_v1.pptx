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5"/>
  </p:notesMasterIdLst>
  <p:sldIdLst>
    <p:sldId id="258" r:id="rId2"/>
    <p:sldId id="313" r:id="rId3"/>
    <p:sldId id="314" r:id="rId4"/>
    <p:sldId id="315" r:id="rId5"/>
    <p:sldId id="316" r:id="rId6"/>
    <p:sldId id="317" r:id="rId7"/>
    <p:sldId id="318" r:id="rId8"/>
    <p:sldId id="319" r:id="rId9"/>
    <p:sldId id="320" r:id="rId10"/>
    <p:sldId id="321" r:id="rId11"/>
    <p:sldId id="322" r:id="rId12"/>
    <p:sldId id="323" r:id="rId13"/>
    <p:sldId id="328" r:id="rId14"/>
    <p:sldId id="329" r:id="rId15"/>
    <p:sldId id="325" r:id="rId16"/>
    <p:sldId id="326" r:id="rId17"/>
    <p:sldId id="327" r:id="rId18"/>
    <p:sldId id="284" r:id="rId19"/>
    <p:sldId id="261" r:id="rId20"/>
    <p:sldId id="296" r:id="rId21"/>
    <p:sldId id="302" r:id="rId22"/>
    <p:sldId id="304" r:id="rId23"/>
    <p:sldId id="308" r:id="rId24"/>
    <p:sldId id="300" r:id="rId25"/>
    <p:sldId id="298" r:id="rId26"/>
    <p:sldId id="299" r:id="rId27"/>
    <p:sldId id="285" r:id="rId28"/>
    <p:sldId id="311" r:id="rId29"/>
    <p:sldId id="309" r:id="rId30"/>
    <p:sldId id="310" r:id="rId31"/>
    <p:sldId id="262" r:id="rId32"/>
    <p:sldId id="335" r:id="rId33"/>
    <p:sldId id="337" r:id="rId34"/>
    <p:sldId id="338" r:id="rId35"/>
    <p:sldId id="307" r:id="rId36"/>
    <p:sldId id="289" r:id="rId37"/>
    <p:sldId id="287" r:id="rId38"/>
    <p:sldId id="263" r:id="rId39"/>
    <p:sldId id="290" r:id="rId40"/>
    <p:sldId id="264" r:id="rId41"/>
    <p:sldId id="257" r:id="rId42"/>
    <p:sldId id="275" r:id="rId43"/>
    <p:sldId id="294" r:id="rId44"/>
    <p:sldId id="295" r:id="rId45"/>
    <p:sldId id="271" r:id="rId46"/>
    <p:sldId id="288" r:id="rId47"/>
    <p:sldId id="293" r:id="rId48"/>
    <p:sldId id="268" r:id="rId49"/>
    <p:sldId id="277" r:id="rId50"/>
    <p:sldId id="278" r:id="rId51"/>
    <p:sldId id="282" r:id="rId52"/>
    <p:sldId id="280" r:id="rId53"/>
    <p:sldId id="281" r:id="rId5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903"/>
    <a:srgbClr val="B278E6"/>
    <a:srgbClr val="008B2E"/>
    <a:srgbClr val="F3F3F3"/>
    <a:srgbClr val="004617"/>
    <a:srgbClr val="BBE555"/>
    <a:srgbClr val="8879F5"/>
    <a:srgbClr val="6350F2"/>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55" autoAdjust="0"/>
    <p:restoredTop sz="93785" autoAdjust="0"/>
  </p:normalViewPr>
  <p:slideViewPr>
    <p:cSldViewPr snapToGrid="0">
      <p:cViewPr varScale="1">
        <p:scale>
          <a:sx n="59" d="100"/>
          <a:sy n="59" d="100"/>
        </p:scale>
        <p:origin x="90" y="10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29/07/2025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PEM fuel cells are central to the transition toward clean energy. However, modeling them accurately involves solving complex systems of differential and algebraic equations, which can be computationally expensive. This limits their practical utility in fast design or optimization pipelines. That’s why our project focused on identifying the most influential parameters through sensitivity analysis, and using that insight to build an analytical and interpretable surrogate model, that is, a simplified faster version that retains key behavior.</a:t>
            </a:r>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a:t>
            </a:fld>
            <a:endParaRPr lang="es-ES_tradnl"/>
          </a:p>
        </p:txBody>
      </p:sp>
    </p:spTree>
    <p:extLst>
      <p:ext uri="{BB962C8B-B14F-4D97-AF65-F5344CB8AC3E}">
        <p14:creationId xmlns:p14="http://schemas.microsoft.com/office/powerpoint/2010/main" val="26979471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622A-F0A5-5B1B-4CEE-9E0FEB882DC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42656F4-4C5A-C545-BD3A-A2D3A55E865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A7CC1D-98CD-57F2-6C25-5F701D067742}"/>
              </a:ext>
            </a:extLst>
          </p:cNvPr>
          <p:cNvSpPr>
            <a:spLocks noGrp="1"/>
          </p:cNvSpPr>
          <p:nvPr>
            <p:ph type="body" idx="1"/>
          </p:nvPr>
        </p:nvSpPr>
        <p:spPr/>
        <p:txBody>
          <a:bodyPr/>
          <a:lstStyle/>
          <a:p>
            <a:r>
              <a:rPr lang="en-US" b="1" dirty="0"/>
              <a:t>Context:</a:t>
            </a:r>
          </a:p>
          <a:p>
            <a:r>
              <a:rPr lang="en-US" dirty="0"/>
              <a:t>PEM Fuel Cells are modeled via </a:t>
            </a:r>
            <a:r>
              <a:rPr lang="en-US" b="1" dirty="0"/>
              <a:t>high-fidelity physics-based simulations</a:t>
            </a:r>
            <a:r>
              <a:rPr lang="en-US" dirty="0"/>
              <a:t> (e.g., </a:t>
            </a:r>
            <a:r>
              <a:rPr lang="en-US" dirty="0" err="1"/>
              <a:t>AlphaPEM</a:t>
            </a:r>
            <a:r>
              <a:rPr lang="en-US" dirty="0"/>
              <a:t>).</a:t>
            </a:r>
          </a:p>
          <a:p>
            <a:r>
              <a:rPr lang="en-US" dirty="0"/>
              <a:t>These models are </a:t>
            </a:r>
            <a:r>
              <a:rPr lang="en-US" b="1" dirty="0"/>
              <a:t>accurate</a:t>
            </a:r>
            <a:r>
              <a:rPr lang="en-US" dirty="0"/>
              <a:t> but rely on solving complex </a:t>
            </a:r>
            <a:r>
              <a:rPr lang="en-US" b="1" dirty="0"/>
              <a:t>DAEs</a:t>
            </a:r>
            <a:r>
              <a:rPr lang="en-US" dirty="0"/>
              <a:t> and require significant computational time.</a:t>
            </a:r>
          </a:p>
          <a:p>
            <a:r>
              <a:rPr lang="en-US" dirty="0"/>
              <a:t>Model outputs depend on many </a:t>
            </a:r>
            <a:r>
              <a:rPr lang="en-US" b="1" dirty="0"/>
              <a:t>undetermined physical parameters</a:t>
            </a:r>
            <a:r>
              <a:rPr lang="en-US" dirty="0"/>
              <a:t> (e.g., porosity, kinetics) that must be </a:t>
            </a:r>
            <a:r>
              <a:rPr lang="en-US" b="1" dirty="0"/>
              <a:t>calibrated</a:t>
            </a:r>
            <a:r>
              <a:rPr lang="en-US" dirty="0"/>
              <a:t> to match real system behavior.</a:t>
            </a:r>
          </a:p>
          <a:p>
            <a:r>
              <a:rPr lang="en-US" b="1" dirty="0"/>
              <a:t>Challenge:</a:t>
            </a:r>
          </a:p>
          <a:p>
            <a:r>
              <a:rPr lang="en-US" dirty="0"/>
              <a:t>To calibrate these parameters systematically, the team wants to use </a:t>
            </a:r>
            <a:r>
              <a:rPr lang="en-US" b="1" dirty="0"/>
              <a:t>Optimal Experimental Design (OED)</a:t>
            </a:r>
            <a:r>
              <a:rPr lang="en-US" dirty="0"/>
              <a:t> based on the </a:t>
            </a:r>
            <a:r>
              <a:rPr lang="en-US" b="1" dirty="0"/>
              <a:t>Fisher Information Matrix (FIM)</a:t>
            </a:r>
            <a:r>
              <a:rPr lang="en-US" dirty="0"/>
              <a:t>.</a:t>
            </a:r>
          </a:p>
          <a:p>
            <a:r>
              <a:rPr lang="en-US" dirty="0"/>
              <a:t>FIM-based methods </a:t>
            </a:r>
            <a:r>
              <a:rPr lang="en-US" b="1" dirty="0"/>
              <a:t>require efficient access to model derivatives</a:t>
            </a:r>
            <a:r>
              <a:rPr lang="en-US" dirty="0"/>
              <a:t> (∂output/∂parameter).</a:t>
            </a:r>
          </a:p>
          <a:p>
            <a:r>
              <a:rPr lang="en-US" b="1" dirty="0"/>
              <a:t>Problem:</a:t>
            </a:r>
          </a:p>
          <a:p>
            <a:r>
              <a:rPr lang="en-US" dirty="0"/>
              <a:t>Current models are </a:t>
            </a:r>
            <a:r>
              <a:rPr lang="en-US" b="1" dirty="0"/>
              <a:t>black-box</a:t>
            </a:r>
            <a:r>
              <a:rPr lang="en-US" dirty="0"/>
              <a:t> or </a:t>
            </a:r>
            <a:r>
              <a:rPr lang="en-US" b="1" dirty="0"/>
              <a:t>numerical</a:t>
            </a:r>
            <a:r>
              <a:rPr lang="en-US" dirty="0"/>
              <a:t> → No analytical form → Derivatives must be approximated → Expensive, noisy, or unstable.</a:t>
            </a:r>
          </a:p>
          <a:p>
            <a:r>
              <a:rPr lang="en-US" b="1" dirty="0"/>
              <a:t>Goal:</a:t>
            </a:r>
          </a:p>
          <a:p>
            <a:r>
              <a:rPr lang="en-US" b="1" dirty="0"/>
              <a:t>Develop an analytical closed-form surrogate model</a:t>
            </a:r>
            <a:r>
              <a:rPr lang="en-US" dirty="0"/>
              <a:t> of the PEMFC behavior.</a:t>
            </a:r>
          </a:p>
          <a:p>
            <a:r>
              <a:rPr lang="en-US" dirty="0"/>
              <a:t>Use techniques like </a:t>
            </a:r>
            <a:r>
              <a:rPr lang="en-US" b="1" dirty="0"/>
              <a:t>symbolic regression</a:t>
            </a:r>
            <a:r>
              <a:rPr lang="en-US" dirty="0"/>
              <a:t> (e.g., </a:t>
            </a:r>
            <a:r>
              <a:rPr lang="en-US" dirty="0" err="1"/>
              <a:t>PySR</a:t>
            </a:r>
            <a:r>
              <a:rPr lang="en-US" dirty="0"/>
              <a:t>) to derive interpretable, differentiable expressions that:</a:t>
            </a:r>
          </a:p>
          <a:p>
            <a:pPr lvl="1"/>
            <a:r>
              <a:rPr lang="en-US" dirty="0"/>
              <a:t>- Accurately mimic the simulation outputs.</a:t>
            </a:r>
          </a:p>
          <a:p>
            <a:pPr lvl="1"/>
            <a:r>
              <a:rPr lang="en-US" dirty="0"/>
              <a:t>- Enable </a:t>
            </a:r>
            <a:r>
              <a:rPr lang="en-US" b="1" dirty="0"/>
              <a:t>fast and exact computation of derivatives</a:t>
            </a:r>
            <a:r>
              <a:rPr lang="en-US" dirty="0"/>
              <a:t>.</a:t>
            </a:r>
          </a:p>
          <a:p>
            <a:pPr lvl="1"/>
            <a:r>
              <a:rPr lang="en-US" dirty="0"/>
              <a:t>- Serve as a foundation for </a:t>
            </a:r>
            <a:r>
              <a:rPr lang="en-US" b="1" dirty="0"/>
              <a:t>FIM-based OED</a:t>
            </a:r>
            <a:r>
              <a:rPr lang="en-US" dirty="0"/>
              <a:t> and robust parameter calibration.</a:t>
            </a:r>
          </a:p>
          <a:p>
            <a:endParaRPr lang="en" dirty="0"/>
          </a:p>
        </p:txBody>
      </p:sp>
      <p:sp>
        <p:nvSpPr>
          <p:cNvPr id="4" name="Marcador de número de diapositiva 3">
            <a:extLst>
              <a:ext uri="{FF2B5EF4-FFF2-40B4-BE49-F238E27FC236}">
                <a16:creationId xmlns:a16="http://schemas.microsoft.com/office/drawing/2014/main" id="{F30D8F62-82C4-114A-572A-17930AEAD0E4}"/>
              </a:ext>
            </a:extLst>
          </p:cNvPr>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395678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75290-411B-E041-9CC4-CFD50094D8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A632A4-149B-7052-AF1C-62F92CB0C7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54DEAA-795B-732C-DB86-A01F6A136063}"/>
              </a:ext>
            </a:extLst>
          </p:cNvPr>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a:extLst>
              <a:ext uri="{FF2B5EF4-FFF2-40B4-BE49-F238E27FC236}">
                <a16:creationId xmlns:a16="http://schemas.microsoft.com/office/drawing/2014/main" id="{6EB4A087-DF6A-AE9D-C418-973C8897A88F}"/>
              </a:ext>
            </a:extLst>
          </p:cNvPr>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1825731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14069900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Check</a:t>
            </a:r>
            <a:r>
              <a:rPr lang="es-ES" dirty="0"/>
              <a:t> </a:t>
            </a:r>
            <a:r>
              <a:rPr lang="es-ES" dirty="0" err="1"/>
              <a:t>the</a:t>
            </a:r>
            <a:r>
              <a:rPr lang="es-ES" dirty="0"/>
              <a:t> </a:t>
            </a:r>
            <a:r>
              <a:rPr lang="es-ES" dirty="0" err="1"/>
              <a:t>text</a:t>
            </a:r>
            <a:r>
              <a:rPr lang="es-ES" dirty="0"/>
              <a:t> </a:t>
            </a:r>
            <a:r>
              <a:rPr lang="es-ES" dirty="0" err="1"/>
              <a:t>the</a:t>
            </a:r>
            <a:r>
              <a:rPr lang="es-ES" dirty="0"/>
              <a:t> </a:t>
            </a:r>
            <a:r>
              <a:rPr lang="es-ES" dirty="0" err="1"/>
              <a:t>scheme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We started by sampling across the full input space defined by expert- and literature-based ranges. However, we quickly noticed that many configurations were invalid — meaning the model produced unphysical results or numerical errors. Since </a:t>
            </a:r>
            <a:r>
              <a:rPr lang="en-US" dirty="0" err="1"/>
              <a:t>AlphaPEM</a:t>
            </a:r>
            <a:r>
              <a:rPr lang="en-US" dirty="0"/>
              <a:t> takes 1.5 minutes per run, this was inefficient. This led us to focus on the concept of </a:t>
            </a:r>
            <a:r>
              <a:rPr lang="en-US" i="1" dirty="0"/>
              <a:t>model validity: </a:t>
            </a:r>
            <a:r>
              <a:rPr lang="en-US" dirty="0"/>
              <a:t>defining which parts of the input space actually yield usable simulation 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D1638-3342-5D87-4525-BD5281F0069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40862E-694A-1BD1-830F-FD19D5031AC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1ADE026-78E5-F3E6-5634-7B4F6C5010B9}"/>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87670840-7618-1475-84D0-523992C1F6D0}"/>
              </a:ext>
            </a:extLst>
          </p:cNvPr>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10800731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74F62-C6DA-1F63-1628-0FA9249831A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19128A-5D12-6470-D163-304BC5CF889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175E35-1315-A96D-F1A7-6308481A3E0C}"/>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28040446-297D-D55E-DB9D-835A44BAD846}"/>
              </a:ext>
            </a:extLst>
          </p:cNvPr>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42897231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DF50-1851-BF03-D452-B88D17F4767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C4410C-567C-855F-ADAF-921D2668ED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0D2B5ED-4773-6C68-132A-1F551A8FCBD8}"/>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332F0F93-C217-48F2-63CB-48473FA0A1C5}"/>
              </a:ext>
            </a:extLst>
          </p:cNvPr>
          <p:cNvSpPr>
            <a:spLocks noGrp="1"/>
          </p:cNvSpPr>
          <p:nvPr>
            <p:ph type="sldNum" sz="quarter" idx="5"/>
          </p:nvPr>
        </p:nvSpPr>
        <p:spPr/>
        <p:txBody>
          <a:bodyPr/>
          <a:lstStyle/>
          <a:p>
            <a:fld id="{01F319AC-7ADF-334A-8FB5-7E11A077CE54}" type="slidenum">
              <a:rPr lang="es-ES_tradnl" smtClean="0"/>
              <a:t>12</a:t>
            </a:fld>
            <a:endParaRPr lang="es-ES_tradnl"/>
          </a:p>
        </p:txBody>
      </p:sp>
    </p:spTree>
    <p:extLst>
      <p:ext uri="{BB962C8B-B14F-4D97-AF65-F5344CB8AC3E}">
        <p14:creationId xmlns:p14="http://schemas.microsoft.com/office/powerpoint/2010/main" val="819599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A93AC-22DC-731C-8650-07C758113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22FA76-981D-AC5A-413C-4768CA9DB6E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91FD180-E6B1-75FD-6A12-B4F5694AEB0E}"/>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0A49D727-B0A0-7E29-3EBF-AF845700659D}"/>
              </a:ext>
            </a:extLst>
          </p:cNvPr>
          <p:cNvSpPr>
            <a:spLocks noGrp="1"/>
          </p:cNvSpPr>
          <p:nvPr>
            <p:ph type="sldNum" sz="quarter" idx="5"/>
          </p:nvPr>
        </p:nvSpPr>
        <p:spPr/>
        <p:txBody>
          <a:bodyPr/>
          <a:lstStyle/>
          <a:p>
            <a:fld id="{01F319AC-7ADF-334A-8FB5-7E11A077CE54}" type="slidenum">
              <a:rPr lang="es-ES_tradnl" smtClean="0"/>
              <a:t>13</a:t>
            </a:fld>
            <a:endParaRPr lang="es-ES_tradnl"/>
          </a:p>
        </p:txBody>
      </p:sp>
    </p:spTree>
    <p:extLst>
      <p:ext uri="{BB962C8B-B14F-4D97-AF65-F5344CB8AC3E}">
        <p14:creationId xmlns:p14="http://schemas.microsoft.com/office/powerpoint/2010/main" val="1769899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BB9D1-8BEE-DA29-FDD1-A3F98916B0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9D715D8-1A8B-C0B3-DD33-3F2A4D708AB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B787E77-19DE-82F6-E10A-810307D4694D}"/>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4E4D66D2-C5CC-8BF7-F49C-980E7CD31F4F}"/>
              </a:ext>
            </a:extLst>
          </p:cNvPr>
          <p:cNvSpPr>
            <a:spLocks noGrp="1"/>
          </p:cNvSpPr>
          <p:nvPr>
            <p:ph type="sldNum" sz="quarter" idx="5"/>
          </p:nvPr>
        </p:nvSpPr>
        <p:spPr/>
        <p:txBody>
          <a:bodyPr/>
          <a:lstStyle/>
          <a:p>
            <a:fld id="{01F319AC-7ADF-334A-8FB5-7E11A077CE54}" type="slidenum">
              <a:rPr lang="es-ES_tradnl" smtClean="0"/>
              <a:t>14</a:t>
            </a:fld>
            <a:endParaRPr lang="es-ES_tradnl"/>
          </a:p>
        </p:txBody>
      </p:sp>
    </p:spTree>
    <p:extLst>
      <p:ext uri="{BB962C8B-B14F-4D97-AF65-F5344CB8AC3E}">
        <p14:creationId xmlns:p14="http://schemas.microsoft.com/office/powerpoint/2010/main" val="42124754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15</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16</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17</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43</a:t>
            </a:fld>
            <a:endParaRPr lang="es-ES_tradnl"/>
          </a:p>
        </p:txBody>
      </p:sp>
    </p:spTree>
    <p:extLst>
      <p:ext uri="{BB962C8B-B14F-4D97-AF65-F5344CB8AC3E}">
        <p14:creationId xmlns:p14="http://schemas.microsoft.com/office/powerpoint/2010/main" val="3674459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en.wikipedia.org/wiki/Proton-exchange_membrane_fuel_cell"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direct.com/science/article/pii/S2352711024003728"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www.researchgate.net/figure/Polarization-curve-with-the-electric-losses-regions-encountered-with-the-operation-of_fig1_3617943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hyperlink" Target="https://www.springerprofessional.de/en/interpretable-regional-descriptors-hyperbox-based-local-explanat/26051906"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xml"/><Relationship Id="rId6" Type="http://schemas.openxmlformats.org/officeDocument/2006/relationships/image" Target="../media/image200.png"/><Relationship Id="rId5" Type="http://schemas.openxmlformats.org/officeDocument/2006/relationships/image" Target="../media/image190.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4.emf"/><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5.xml"/><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35.jp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35.jp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EC8874D-15CC-1026-FA69-0708366A801D}"/>
              </a:ext>
            </a:extLst>
          </p:cNvPr>
          <p:cNvSpPr txBox="1"/>
          <p:nvPr/>
        </p:nvSpPr>
        <p:spPr>
          <a:xfrm>
            <a:off x="4078516" y="1628078"/>
            <a:ext cx="6626654" cy="2123658"/>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Sensitivity</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Analysis</a:t>
            </a:r>
            <a:r>
              <a:rPr lang="es-ES_tradnl" sz="4400" b="1" dirty="0">
                <a:latin typeface="Source Sans Pro" panose="020B0503030403020204" pitchFamily="34" charset="0"/>
                <a:ea typeface="Source Sans Pro" panose="020B0503030403020204" pitchFamily="34" charset="0"/>
              </a:rPr>
              <a:t> </a:t>
            </a:r>
            <a:br>
              <a:rPr lang="es-ES_tradnl" sz="4400" b="1" dirty="0">
                <a:latin typeface="Source Sans Pro" panose="020B0503030403020204" pitchFamily="34" charset="0"/>
                <a:ea typeface="Source Sans Pro" panose="020B0503030403020204" pitchFamily="34" charset="0"/>
              </a:rPr>
            </a:br>
            <a:r>
              <a:rPr lang="es-ES_tradnl" sz="4400" b="1" dirty="0">
                <a:latin typeface="Source Sans Pro" panose="020B0503030403020204" pitchFamily="34" charset="0"/>
                <a:ea typeface="Source Sans Pro" panose="020B0503030403020204" pitchFamily="34" charset="0"/>
              </a:rPr>
              <a:t>and </a:t>
            </a:r>
            <a:r>
              <a:rPr lang="es-ES_tradnl" sz="4400" b="1" dirty="0" err="1">
                <a:latin typeface="Source Sans Pro" panose="020B0503030403020204" pitchFamily="34" charset="0"/>
                <a:ea typeface="Source Sans Pro" panose="020B0503030403020204" pitchFamily="34" charset="0"/>
              </a:rPr>
              <a:t>Surrogate</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Modeling</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of</a:t>
            </a:r>
            <a:r>
              <a:rPr lang="es-ES_tradnl" sz="4400" b="1" dirty="0">
                <a:latin typeface="Source Sans Pro" panose="020B0503030403020204" pitchFamily="34" charset="0"/>
                <a:ea typeface="Source Sans Pro" panose="020B0503030403020204" pitchFamily="34" charset="0"/>
              </a:rPr>
              <a:t> PEM Fuel </a:t>
            </a:r>
            <a:r>
              <a:rPr lang="es-ES_tradnl" sz="4400" b="1" dirty="0" err="1">
                <a:latin typeface="Source Sans Pro" panose="020B0503030403020204" pitchFamily="34" charset="0"/>
                <a:ea typeface="Source Sans Pro" panose="020B0503030403020204" pitchFamily="34" charset="0"/>
              </a:rPr>
              <a:t>Cells</a:t>
            </a:r>
            <a:endParaRPr lang="es-ES_tradnl" sz="4400" b="1" dirty="0">
              <a:latin typeface="Source Sans Pro" panose="020B0503030403020204" pitchFamily="34" charset="0"/>
              <a:ea typeface="Source Sans Pro" panose="020B0503030403020204" pitchFamily="34" charset="0"/>
            </a:endParaRPr>
          </a:p>
        </p:txBody>
      </p:sp>
      <p:cxnSp>
        <p:nvCxnSpPr>
          <p:cNvPr id="3" name="Conector recto 2">
            <a:extLst>
              <a:ext uri="{FF2B5EF4-FFF2-40B4-BE49-F238E27FC236}">
                <a16:creationId xmlns:a16="http://schemas.microsoft.com/office/drawing/2014/main" id="{AC770326-B1ED-B283-8A49-958B4107E2E9}"/>
              </a:ext>
            </a:extLst>
          </p:cNvPr>
          <p:cNvCxnSpPr>
            <a:cxnSpLocks/>
          </p:cNvCxnSpPr>
          <p:nvPr/>
        </p:nvCxnSpPr>
        <p:spPr>
          <a:xfrm>
            <a:off x="4181707" y="4059044"/>
            <a:ext cx="0" cy="1407693"/>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4" name="CuadroTexto 3">
            <a:extLst>
              <a:ext uri="{FF2B5EF4-FFF2-40B4-BE49-F238E27FC236}">
                <a16:creationId xmlns:a16="http://schemas.microsoft.com/office/drawing/2014/main" id="{A824276F-1589-0A46-13C0-7944BDBFEF23}"/>
              </a:ext>
            </a:extLst>
          </p:cNvPr>
          <p:cNvSpPr txBox="1"/>
          <p:nvPr/>
        </p:nvSpPr>
        <p:spPr>
          <a:xfrm>
            <a:off x="4404732" y="4059044"/>
            <a:ext cx="4527395" cy="1438471"/>
          </a:xfrm>
          <a:prstGeom prst="rect">
            <a:avLst/>
          </a:prstGeom>
          <a:noFill/>
        </p:spPr>
        <p:txBody>
          <a:bodyPr wrap="square" rtlCol="0">
            <a:spAutoFit/>
          </a:bodyPr>
          <a:lstStyle/>
          <a:p>
            <a:r>
              <a:rPr lang="es-ES_tradnl" sz="1600" dirty="0" err="1">
                <a:latin typeface="Source Sans Pro" panose="020B0503030403020204" pitchFamily="34" charset="0"/>
                <a:ea typeface="Source Sans Pro" panose="020B0503030403020204" pitchFamily="34" charset="0"/>
              </a:rPr>
              <a:t>Presented</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by</a:t>
            </a:r>
            <a:r>
              <a:rPr lang="es-ES_tradnl" sz="1600" dirty="0">
                <a:latin typeface="Source Sans Pro" panose="020B0503030403020204" pitchFamily="34" charset="0"/>
                <a:ea typeface="Source Sans Pro" panose="020B0503030403020204" pitchFamily="34" charset="0"/>
              </a:rPr>
              <a:t>:</a:t>
            </a:r>
          </a:p>
          <a:p>
            <a:r>
              <a:rPr lang="es-ES_tradnl" sz="1600" b="1" dirty="0" err="1">
                <a:latin typeface="Source Sans Pro SemiBold" panose="020B0503030403020204" pitchFamily="34" charset="0"/>
                <a:ea typeface="Source Sans Pro SemiBold" panose="020B0503030403020204" pitchFamily="34" charset="0"/>
              </a:rPr>
              <a:t>Dejvis</a:t>
            </a:r>
            <a:r>
              <a:rPr lang="es-ES_tradnl" sz="1600" b="1" dirty="0">
                <a:latin typeface="Source Sans Pro SemiBold" panose="020B0503030403020204" pitchFamily="34" charset="0"/>
                <a:ea typeface="Source Sans Pro SemiBold" panose="020B0503030403020204" pitchFamily="34" charset="0"/>
              </a:rPr>
              <a:t> </a:t>
            </a:r>
            <a:r>
              <a:rPr lang="es-ES_tradnl" sz="1600" b="1" dirty="0" err="1">
                <a:latin typeface="Source Sans Pro SemiBold" panose="020B0503030403020204" pitchFamily="34" charset="0"/>
                <a:ea typeface="Source Sans Pro SemiBold" panose="020B0503030403020204" pitchFamily="34" charset="0"/>
              </a:rPr>
              <a:t>Toptani</a:t>
            </a:r>
            <a:endParaRPr lang="es-ES_tradnl" sz="1600" b="1" dirty="0">
              <a:latin typeface="Source Sans Pro SemiBold" panose="020B0503030403020204" pitchFamily="34" charset="0"/>
              <a:ea typeface="Source Sans Pro SemiBold" panose="020B0503030403020204" pitchFamily="34" charset="0"/>
            </a:endParaRPr>
          </a:p>
          <a:p>
            <a:r>
              <a:rPr lang="es-ES_tradnl" sz="1600" b="1" dirty="0" err="1">
                <a:latin typeface="Source Sans Pro SemiBold" panose="020B0503030403020204" pitchFamily="34" charset="0"/>
                <a:ea typeface="Source Sans Pro SemiBold" panose="020B0503030403020204" pitchFamily="34" charset="0"/>
              </a:rPr>
              <a:t>Nathaly</a:t>
            </a:r>
            <a:r>
              <a:rPr lang="es-ES_tradnl" sz="1600" b="1" dirty="0">
                <a:latin typeface="Source Sans Pro SemiBold" panose="020B0503030403020204" pitchFamily="34" charset="0"/>
                <a:ea typeface="Source Sans Pro SemiBold" panose="020B0503030403020204" pitchFamily="34" charset="0"/>
              </a:rPr>
              <a:t> Vergel Serrano</a:t>
            </a:r>
          </a:p>
          <a:p>
            <a:r>
              <a:rPr lang="es-ES_tradnl" sz="1600" b="1" dirty="0">
                <a:latin typeface="Source Sans Pro SemiBold" panose="020B0503030403020204" pitchFamily="34" charset="0"/>
                <a:ea typeface="Source Sans Pro SemiBold" panose="020B0503030403020204" pitchFamily="34" charset="0"/>
              </a:rPr>
              <a:t>Camila Bermudez Valderrama</a:t>
            </a:r>
          </a:p>
          <a:p>
            <a:pPr>
              <a:lnSpc>
                <a:spcPct val="150000"/>
              </a:lnSpc>
            </a:pPr>
            <a:r>
              <a:rPr lang="es-ES_tradnl" sz="1600" dirty="0">
                <a:latin typeface="Source Sans Pro" panose="020B0503030403020204" pitchFamily="34" charset="0"/>
                <a:ea typeface="Source Sans Pro" panose="020B0503030403020204" pitchFamily="34" charset="0"/>
              </a:rPr>
              <a:t>August 1st, 2025</a:t>
            </a:r>
          </a:p>
        </p:txBody>
      </p:sp>
      <p:sp>
        <p:nvSpPr>
          <p:cNvPr id="6" name="CuadroTexto 5">
            <a:extLst>
              <a:ext uri="{FF2B5EF4-FFF2-40B4-BE49-F238E27FC236}">
                <a16:creationId xmlns:a16="http://schemas.microsoft.com/office/drawing/2014/main" id="{9D95B33A-A44B-CEB4-084F-FDD0B2E83D8F}"/>
              </a:ext>
            </a:extLst>
          </p:cNvPr>
          <p:cNvSpPr txBox="1"/>
          <p:nvPr/>
        </p:nvSpPr>
        <p:spPr>
          <a:xfrm>
            <a:off x="610575" y="6101412"/>
            <a:ext cx="4527395" cy="338554"/>
          </a:xfrm>
          <a:prstGeom prst="rect">
            <a:avLst/>
          </a:prstGeom>
          <a:noFill/>
        </p:spPr>
        <p:txBody>
          <a:bodyPr wrap="square" rtlCol="0">
            <a:spAutoFit/>
          </a:bodyPr>
          <a:lstStyle/>
          <a:p>
            <a:r>
              <a:rPr lang="es-ES_tradnl" sz="1600" dirty="0" err="1">
                <a:latin typeface="Source Sans Pro" panose="020B0503030403020204" pitchFamily="34" charset="0"/>
                <a:ea typeface="Source Sans Pro" panose="020B0503030403020204" pitchFamily="34" charset="0"/>
              </a:rPr>
              <a:t>Supervised</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by</a:t>
            </a:r>
            <a:r>
              <a:rPr lang="es-ES_tradnl" sz="1600" dirty="0">
                <a:latin typeface="Source Sans Pro" panose="020B0503030403020204" pitchFamily="34" charset="0"/>
                <a:ea typeface="Source Sans Pro" panose="020B0503030403020204" pitchFamily="34" charset="0"/>
              </a:rPr>
              <a:t>: </a:t>
            </a:r>
            <a:r>
              <a:rPr lang="es-CO" sz="1600" dirty="0"/>
              <a:t>Dr. Giuseppe </a:t>
            </a:r>
            <a:r>
              <a:rPr lang="es-CO" sz="1600" dirty="0" err="1"/>
              <a:t>Casalicchio</a:t>
            </a:r>
            <a:endParaRPr lang="es-ES_tradnl" sz="1600"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D5D4991A-665B-6669-5CE5-9BA884E51343}"/>
              </a:ext>
            </a:extLst>
          </p:cNvPr>
          <p:cNvSpPr txBox="1"/>
          <p:nvPr/>
        </p:nvSpPr>
        <p:spPr>
          <a:xfrm>
            <a:off x="5137970" y="5685913"/>
            <a:ext cx="3060917" cy="830997"/>
          </a:xfrm>
          <a:prstGeom prst="rect">
            <a:avLst/>
          </a:prstGeom>
          <a:noFill/>
        </p:spPr>
        <p:txBody>
          <a:bodyPr wrap="square">
            <a:spAutoFit/>
          </a:bodyPr>
          <a:lstStyle/>
          <a:p>
            <a:r>
              <a:rPr lang="es-CO" sz="1600" dirty="0"/>
              <a:t>In </a:t>
            </a:r>
            <a:r>
              <a:rPr lang="es-CO" sz="1600" dirty="0" err="1"/>
              <a:t>collaboration</a:t>
            </a:r>
            <a:r>
              <a:rPr lang="es-CO" sz="1600" dirty="0"/>
              <a:t> </a:t>
            </a:r>
            <a:r>
              <a:rPr lang="es-CO" sz="1600" dirty="0" err="1"/>
              <a:t>with</a:t>
            </a:r>
            <a:r>
              <a:rPr lang="es-CO" sz="1600" dirty="0"/>
              <a:t>: </a:t>
            </a:r>
          </a:p>
          <a:p>
            <a:r>
              <a:rPr lang="es-CO" sz="1600" dirty="0"/>
              <a:t> Luis Winkler (ZSW Ulm)</a:t>
            </a:r>
          </a:p>
          <a:p>
            <a:r>
              <a:rPr lang="es-CO" sz="1600" dirty="0"/>
              <a:t>Prof. Herbert Palm (UAS </a:t>
            </a:r>
            <a:r>
              <a:rPr lang="es-CO" sz="1600" dirty="0" err="1"/>
              <a:t>Munich</a:t>
            </a:r>
            <a:r>
              <a:rPr lang="es-CO" sz="1600" dirty="0"/>
              <a:t>)</a:t>
            </a:r>
            <a:endParaRPr lang="en" sz="1600" dirty="0"/>
          </a:p>
        </p:txBody>
      </p:sp>
      <p:pic>
        <p:nvPicPr>
          <p:cNvPr id="10" name="Imagen 9">
            <a:extLst>
              <a:ext uri="{FF2B5EF4-FFF2-40B4-BE49-F238E27FC236}">
                <a16:creationId xmlns:a16="http://schemas.microsoft.com/office/drawing/2014/main" id="{355371D2-9091-CC40-86BF-1B603F46DC9E}"/>
              </a:ext>
            </a:extLst>
          </p:cNvPr>
          <p:cNvPicPr>
            <a:picLocks noChangeAspect="1"/>
          </p:cNvPicPr>
          <p:nvPr/>
        </p:nvPicPr>
        <p:blipFill>
          <a:blip r:embed="rId3"/>
          <a:stretch>
            <a:fillRect/>
          </a:stretch>
        </p:blipFill>
        <p:spPr>
          <a:xfrm>
            <a:off x="8548913" y="5272050"/>
            <a:ext cx="1108772" cy="669883"/>
          </a:xfrm>
          <a:prstGeom prst="rect">
            <a:avLst/>
          </a:prstGeom>
        </p:spPr>
      </p:pic>
      <p:pic>
        <p:nvPicPr>
          <p:cNvPr id="11" name="Imagen 10">
            <a:extLst>
              <a:ext uri="{FF2B5EF4-FFF2-40B4-BE49-F238E27FC236}">
                <a16:creationId xmlns:a16="http://schemas.microsoft.com/office/drawing/2014/main" id="{5A14EFE2-BBE2-F746-E47E-B7E47AD52B41}"/>
              </a:ext>
            </a:extLst>
          </p:cNvPr>
          <p:cNvPicPr>
            <a:picLocks noChangeAspect="1"/>
          </p:cNvPicPr>
          <p:nvPr/>
        </p:nvPicPr>
        <p:blipFill>
          <a:blip r:embed="rId4"/>
          <a:stretch>
            <a:fillRect/>
          </a:stretch>
        </p:blipFill>
        <p:spPr>
          <a:xfrm>
            <a:off x="8548913" y="6111210"/>
            <a:ext cx="1108773" cy="417638"/>
          </a:xfrm>
          <a:prstGeom prst="rect">
            <a:avLst/>
          </a:prstGeom>
        </p:spPr>
      </p:pic>
    </p:spTree>
    <p:extLst>
      <p:ext uri="{BB962C8B-B14F-4D97-AF65-F5344CB8AC3E}">
        <p14:creationId xmlns:p14="http://schemas.microsoft.com/office/powerpoint/2010/main" val="39555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7423"/>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Motivation</a:t>
            </a:r>
            <a:r>
              <a:rPr lang="es-CO" sz="3600" dirty="0"/>
              <a:t>: </a:t>
            </a:r>
            <a:r>
              <a:rPr lang="es-CO" sz="3600" dirty="0" err="1"/>
              <a:t>Understanding</a:t>
            </a:r>
            <a:r>
              <a:rPr lang="es-CO" sz="3600" dirty="0"/>
              <a:t> PEMFC</a:t>
            </a:r>
            <a:endParaRPr lang="es-ES_tradnl" sz="3600" b="1" dirty="0">
              <a:solidFill>
                <a:srgbClr val="FF0000"/>
              </a:solidFill>
            </a:endParaRPr>
          </a:p>
          <a:p>
            <a:pPr>
              <a:lnSpc>
                <a:spcPct val="150000"/>
              </a:lnSpc>
            </a:pPr>
            <a:r>
              <a:rPr lang="es-ES_tradnl" sz="3600" b="1" dirty="0">
                <a:solidFill>
                  <a:srgbClr val="8879F5"/>
                </a:solidFill>
              </a:rPr>
              <a:t>2. </a:t>
            </a:r>
            <a:r>
              <a:rPr lang="es-CO" sz="3600" dirty="0" err="1">
                <a:effectLst/>
              </a:rPr>
              <a:t>Model</a:t>
            </a:r>
            <a:r>
              <a:rPr lang="es-CO" sz="3600" dirty="0">
                <a:effectLst/>
              </a:rPr>
              <a:t> </a:t>
            </a:r>
            <a:r>
              <a:rPr lang="es-CO" sz="3600" dirty="0" err="1">
                <a:effectLst/>
              </a:rPr>
              <a:t>validity</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modeling</a:t>
            </a:r>
            <a:endParaRPr lang="es-ES_tradnl" sz="3600" b="1" dirty="0">
              <a:solidFill>
                <a:srgbClr val="FF0000"/>
              </a:solidFill>
            </a:endParaRPr>
          </a:p>
          <a:p>
            <a:pPr>
              <a:lnSpc>
                <a:spcPct val="150000"/>
              </a:lnSpc>
            </a:pPr>
            <a:r>
              <a:rPr lang="es-ES_tradnl" sz="3600" b="1" dirty="0">
                <a:solidFill>
                  <a:srgbClr val="8879F5"/>
                </a:solidFill>
              </a:rPr>
              <a:t>5. </a:t>
            </a:r>
            <a:r>
              <a:rPr lang="es-CO" sz="3600" dirty="0">
                <a:effectLst/>
              </a:rPr>
              <a:t>Future </a:t>
            </a:r>
            <a:r>
              <a:rPr lang="es-CO" sz="3600" dirty="0" err="1">
                <a:effectLst/>
              </a:rPr>
              <a:t>work</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214233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463187" y="2209784"/>
            <a:ext cx="9582184" cy="2677656"/>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b="1" dirty="0" err="1"/>
              <a:t>Motivation</a:t>
            </a:r>
            <a:endParaRPr lang="es-ES_tradnl" sz="8000" b="1" dirty="0"/>
          </a:p>
          <a:p>
            <a:r>
              <a:rPr lang="es-ES_tradnl" sz="4400" dirty="0" err="1"/>
              <a:t>Understanding</a:t>
            </a:r>
            <a:r>
              <a:rPr lang="es-ES_tradnl" sz="4400" dirty="0"/>
              <a:t> </a:t>
            </a:r>
            <a:r>
              <a:rPr lang="es-ES_tradnl" sz="4400" dirty="0" err="1"/>
              <a:t>Proton</a:t>
            </a:r>
            <a:r>
              <a:rPr lang="es-ES_tradnl" sz="4400" dirty="0"/>
              <a:t> </a:t>
            </a:r>
            <a:r>
              <a:rPr lang="en-US" sz="4400">
                <a:ea typeface="Source Sans Pro" panose="020B0503030403020204" pitchFamily="34" charset="0"/>
                <a:cs typeface="Roboto"/>
                <a:sym typeface="Roboto"/>
              </a:rPr>
              <a:t>Exchange Membrane (PEM) </a:t>
            </a:r>
            <a:r>
              <a:rPr lang="en-US" sz="4400" dirty="0">
                <a:ea typeface="Source Sans Pro" panose="020B0503030403020204" pitchFamily="34" charset="0"/>
                <a:cs typeface="Roboto"/>
                <a:sym typeface="Roboto"/>
              </a:rPr>
              <a:t>Fuel Cells </a:t>
            </a:r>
            <a:endParaRPr lang="es-ES_tradnl" sz="8000" dirty="0"/>
          </a:p>
        </p:txBody>
      </p:sp>
    </p:spTree>
    <p:extLst>
      <p:ext uri="{BB962C8B-B14F-4D97-AF65-F5344CB8AC3E}">
        <p14:creationId xmlns:p14="http://schemas.microsoft.com/office/powerpoint/2010/main" val="935929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3225E-1643-7293-F815-B2BC1CB8885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F47039-4BE2-3F32-D063-AA5431DE90EA}"/>
              </a:ext>
            </a:extLst>
          </p:cNvPr>
          <p:cNvSpPr>
            <a:spLocks noGrp="1"/>
          </p:cNvSpPr>
          <p:nvPr>
            <p:ph type="title"/>
          </p:nvPr>
        </p:nvSpPr>
        <p:spPr>
          <a:xfrm>
            <a:off x="838200" y="908128"/>
            <a:ext cx="10515600" cy="659416"/>
          </a:xfrm>
        </p:spPr>
        <p:txBody>
          <a:bodyPr/>
          <a:lstStyle/>
          <a:p>
            <a:r>
              <a:rPr lang="en" sz="3200" b="1" dirty="0">
                <a:latin typeface="Source Sans Pro" panose="020B0503030403020204" pitchFamily="34" charset="0"/>
                <a:ea typeface="Source Sans Pro" panose="020B0503030403020204" pitchFamily="34" charset="0"/>
              </a:rPr>
              <a:t>Understanding PEMFCs through surrogates</a:t>
            </a:r>
          </a:p>
        </p:txBody>
      </p:sp>
      <p:sp>
        <p:nvSpPr>
          <p:cNvPr id="4" name="Marcador de número de diapositiva 3">
            <a:extLst>
              <a:ext uri="{FF2B5EF4-FFF2-40B4-BE49-F238E27FC236}">
                <a16:creationId xmlns:a16="http://schemas.microsoft.com/office/drawing/2014/main" id="{7980DA40-3643-DFD7-266B-C0417340C771}"/>
              </a:ext>
            </a:extLst>
          </p:cNvPr>
          <p:cNvSpPr>
            <a:spLocks noGrp="1"/>
          </p:cNvSpPr>
          <p:nvPr>
            <p:ph type="sldNum" sz="quarter" idx="12"/>
          </p:nvPr>
        </p:nvSpPr>
        <p:spPr/>
        <p:txBody>
          <a:bodyPr/>
          <a:lstStyle/>
          <a:p>
            <a:fld id="{B75BC28E-972B-EC47-BE79-29D89D46B9CA}" type="slidenum">
              <a:rPr lang="es-ES_tradnl" smtClean="0">
                <a:solidFill>
                  <a:schemeClr val="bg1"/>
                </a:solidFill>
              </a:rPr>
              <a:pPr/>
              <a:t>4</a:t>
            </a:fld>
            <a:endParaRPr lang="es-ES_tradnl" dirty="0">
              <a:solidFill>
                <a:schemeClr val="bg1"/>
              </a:solidFill>
            </a:endParaRPr>
          </a:p>
        </p:txBody>
      </p:sp>
      <p:sp>
        <p:nvSpPr>
          <p:cNvPr id="5" name="CuadroTexto 4">
            <a:extLst>
              <a:ext uri="{FF2B5EF4-FFF2-40B4-BE49-F238E27FC236}">
                <a16:creationId xmlns:a16="http://schemas.microsoft.com/office/drawing/2014/main" id="{A2FEC257-1CDD-28C0-5DDA-254006B3DA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A68FDCDD-B6C9-DE95-517D-E7E07C6DBA6C}"/>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9" name="Grupo 8">
            <a:extLst>
              <a:ext uri="{FF2B5EF4-FFF2-40B4-BE49-F238E27FC236}">
                <a16:creationId xmlns:a16="http://schemas.microsoft.com/office/drawing/2014/main" id="{BC8C631A-CB28-A705-6B2A-6005C586EF86}"/>
              </a:ext>
            </a:extLst>
          </p:cNvPr>
          <p:cNvGrpSpPr/>
          <p:nvPr/>
        </p:nvGrpSpPr>
        <p:grpSpPr>
          <a:xfrm>
            <a:off x="8567550" y="2296390"/>
            <a:ext cx="3454885" cy="3831365"/>
            <a:chOff x="8022295" y="2588963"/>
            <a:chExt cx="3460051" cy="3971571"/>
          </a:xfrm>
        </p:grpSpPr>
        <p:pic>
          <p:nvPicPr>
            <p:cNvPr id="7" name="Picture 3" descr="Proton-exchange membrane fuel cell - Wikipedia">
              <a:extLst>
                <a:ext uri="{FF2B5EF4-FFF2-40B4-BE49-F238E27FC236}">
                  <a16:creationId xmlns:a16="http://schemas.microsoft.com/office/drawing/2014/main" id="{8D9D7A67-7568-7DCB-50EF-E69882AECC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67492" y="2588963"/>
              <a:ext cx="2969658" cy="3148201"/>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D793138-40F3-7440-2CA6-91758F1E6191}"/>
                </a:ext>
              </a:extLst>
            </p:cNvPr>
            <p:cNvSpPr txBox="1"/>
            <p:nvPr/>
          </p:nvSpPr>
          <p:spPr>
            <a:xfrm>
              <a:off x="8022295" y="5914203"/>
              <a:ext cx="3460051" cy="646331"/>
            </a:xfrm>
            <a:prstGeom prst="rect">
              <a:avLst/>
            </a:prstGeom>
            <a:noFill/>
          </p:spPr>
          <p:txBody>
            <a:bodyPr wrap="square" rtlCol="0">
              <a:spAutoFit/>
            </a:bodyPr>
            <a:lstStyle/>
            <a:p>
              <a:r>
                <a:rPr lang="en-US" sz="1200" b="1" dirty="0">
                  <a:ea typeface="Source Sans Pro" panose="020B0503030403020204" pitchFamily="34" charset="0"/>
                </a:rPr>
                <a:t>Figure 1.</a:t>
              </a:r>
              <a:r>
                <a:rPr lang="en-US" sz="1200" dirty="0">
                  <a:ea typeface="Source Sans Pro" panose="020B0503030403020204" pitchFamily="34" charset="0"/>
                </a:rPr>
                <a:t> Operating principle of a PEM fuel cell: hydrogen and oxygen react to produce electricity and water. </a:t>
              </a:r>
              <a:r>
                <a:rPr lang="en-US" sz="1200" i="1" dirty="0">
                  <a:ea typeface="Source Sans Pro" panose="020B0503030403020204" pitchFamily="34" charset="0"/>
                </a:rPr>
                <a:t>Source: </a:t>
              </a:r>
              <a:r>
                <a:rPr lang="en-US" sz="1200" i="1" dirty="0">
                  <a:ea typeface="Source Sans Pro" panose="020B0503030403020204" pitchFamily="34" charset="0"/>
                  <a:hlinkClick r:id="rId4"/>
                </a:rPr>
                <a:t>Wikipedia - PEM fuel cell</a:t>
              </a:r>
              <a:endParaRPr lang="en" sz="1200" dirty="0">
                <a:ea typeface="Source Sans Pro" panose="020B0503030403020204" pitchFamily="34" charset="0"/>
              </a:endParaRPr>
            </a:p>
          </p:txBody>
        </p:sp>
      </p:grpSp>
      <p:grpSp>
        <p:nvGrpSpPr>
          <p:cNvPr id="20" name="Grupo 19">
            <a:extLst>
              <a:ext uri="{FF2B5EF4-FFF2-40B4-BE49-F238E27FC236}">
                <a16:creationId xmlns:a16="http://schemas.microsoft.com/office/drawing/2014/main" id="{5BD7BC5E-99B9-8CD0-C072-E23287287C48}"/>
              </a:ext>
            </a:extLst>
          </p:cNvPr>
          <p:cNvGrpSpPr/>
          <p:nvPr/>
        </p:nvGrpSpPr>
        <p:grpSpPr>
          <a:xfrm>
            <a:off x="4777555" y="1690629"/>
            <a:ext cx="3789995" cy="2888382"/>
            <a:chOff x="838200" y="1963496"/>
            <a:chExt cx="4749800" cy="2623018"/>
          </a:xfrm>
        </p:grpSpPr>
        <p:sp>
          <p:nvSpPr>
            <p:cNvPr id="10" name="Google Shape;1857;p37">
              <a:extLst>
                <a:ext uri="{FF2B5EF4-FFF2-40B4-BE49-F238E27FC236}">
                  <a16:creationId xmlns:a16="http://schemas.microsoft.com/office/drawing/2014/main" id="{298925F0-7F34-53C9-4BA4-0F41B003C13E}"/>
                </a:ext>
              </a:extLst>
            </p:cNvPr>
            <p:cNvSpPr/>
            <p:nvPr/>
          </p:nvSpPr>
          <p:spPr>
            <a:xfrm>
              <a:off x="838200" y="2232971"/>
              <a:ext cx="4749800" cy="2353543"/>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1" name="Google Shape;1859;p37">
              <a:extLst>
                <a:ext uri="{FF2B5EF4-FFF2-40B4-BE49-F238E27FC236}">
                  <a16:creationId xmlns:a16="http://schemas.microsoft.com/office/drawing/2014/main" id="{2479851C-0089-9599-3F0A-EAD394270DD8}"/>
                </a:ext>
              </a:extLst>
            </p:cNvPr>
            <p:cNvSpPr/>
            <p:nvPr/>
          </p:nvSpPr>
          <p:spPr>
            <a:xfrm>
              <a:off x="838200" y="1963496"/>
              <a:ext cx="4749800" cy="558476"/>
            </a:xfrm>
            <a:prstGeom prst="roundRect">
              <a:avLst>
                <a:gd name="adj" fmla="val 50000"/>
              </a:avLst>
            </a:prstGeom>
            <a:solidFill>
              <a:srgbClr val="635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2" name="Google Shape;1862;p37">
              <a:extLst>
                <a:ext uri="{FF2B5EF4-FFF2-40B4-BE49-F238E27FC236}">
                  <a16:creationId xmlns:a16="http://schemas.microsoft.com/office/drawing/2014/main" id="{AD68CE28-58D6-034A-048A-9CF9373C6289}"/>
                </a:ext>
              </a:extLst>
            </p:cNvPr>
            <p:cNvGrpSpPr/>
            <p:nvPr/>
          </p:nvGrpSpPr>
          <p:grpSpPr>
            <a:xfrm>
              <a:off x="1052314" y="2077873"/>
              <a:ext cx="4361515" cy="2450662"/>
              <a:chOff x="688874" y="1376475"/>
              <a:chExt cx="2334158" cy="2466102"/>
            </a:xfrm>
          </p:grpSpPr>
          <p:sp>
            <p:nvSpPr>
              <p:cNvPr id="13" name="Google Shape;1863;p37">
                <a:extLst>
                  <a:ext uri="{FF2B5EF4-FFF2-40B4-BE49-F238E27FC236}">
                    <a16:creationId xmlns:a16="http://schemas.microsoft.com/office/drawing/2014/main" id="{29D39D0F-CA7A-2EE5-A7CF-A250A5601352}"/>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Challenges</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with</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models</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19" name="Google Shape;1866;p37">
                <a:extLst>
                  <a:ext uri="{FF2B5EF4-FFF2-40B4-BE49-F238E27FC236}">
                    <a16:creationId xmlns:a16="http://schemas.microsoft.com/office/drawing/2014/main" id="{4A21895E-F886-D516-2D6A-3BB3FC97B691}"/>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17" name="Google Shape;1869;p37">
                <a:extLst>
                  <a:ext uri="{FF2B5EF4-FFF2-40B4-BE49-F238E27FC236}">
                    <a16:creationId xmlns:a16="http://schemas.microsoft.com/office/drawing/2014/main" id="{9682A930-9818-255B-6CAC-73ABBCA56ADB}"/>
                  </a:ext>
                </a:extLst>
              </p:cNvPr>
              <p:cNvSpPr txBox="1"/>
              <p:nvPr/>
            </p:nvSpPr>
            <p:spPr>
              <a:xfrm>
                <a:off x="688874" y="2002704"/>
                <a:ext cx="2334158" cy="1839873"/>
              </a:xfrm>
              <a:prstGeom prst="rect">
                <a:avLst/>
              </a:prstGeom>
              <a:noFill/>
              <a:ln>
                <a:noFill/>
              </a:ln>
            </p:spPr>
            <p:txBody>
              <a:bodyPr spcFirstLastPara="1" wrap="square" lIns="91425" tIns="91425" rIns="91425" bIns="91425" anchor="t" anchorCtr="0">
                <a:noAutofit/>
              </a:bodyPr>
              <a:lstStyle/>
              <a:p>
                <a:pPr marL="285750" indent="-285750">
                  <a:buFontTx/>
                  <a:buChar char="→"/>
                </a:pPr>
                <a:r>
                  <a:rPr lang="en-US" sz="1600" dirty="0">
                    <a:latin typeface="+mj-lt"/>
                    <a:ea typeface="Source Sans Pro" panose="020B0503030403020204" pitchFamily="34" charset="0"/>
                  </a:rPr>
                  <a:t>PEMFCs’ complex </a:t>
                </a:r>
                <a:r>
                  <a:rPr lang="en-US" sz="1600" dirty="0" err="1">
                    <a:latin typeface="+mj-lt"/>
                    <a:ea typeface="Source Sans Pro" panose="020B0503030403020204" pitchFamily="34" charset="0"/>
                  </a:rPr>
                  <a:t>behaviour</a:t>
                </a:r>
                <a:r>
                  <a:rPr lang="en-US" sz="1600" dirty="0">
                    <a:latin typeface="+mj-lt"/>
                    <a:ea typeface="Source Sans Pro" panose="020B0503030403020204" pitchFamily="34" charset="0"/>
                  </a:rPr>
                  <a:t> is only partially understood</a:t>
                </a:r>
              </a:p>
              <a:p>
                <a:pPr marL="285750" indent="-285750">
                  <a:buFontTx/>
                  <a:buChar char="→"/>
                </a:pPr>
                <a:r>
                  <a:rPr lang="en-US" sz="1600" dirty="0">
                    <a:latin typeface="+mj-lt"/>
                    <a:ea typeface="Source Sans Pro" panose="020B0503030403020204" pitchFamily="34" charset="0"/>
                  </a:rPr>
                  <a:t>Modeled using </a:t>
                </a:r>
                <a:r>
                  <a:rPr lang="en-US" sz="1600" b="1" dirty="0">
                    <a:solidFill>
                      <a:srgbClr val="B278E6"/>
                    </a:solidFill>
                    <a:latin typeface="+mj-lt"/>
                    <a:ea typeface="Source Sans Pro" panose="020B0503030403020204" pitchFamily="34" charset="0"/>
                  </a:rPr>
                  <a:t>accurate but expensive</a:t>
                </a:r>
                <a:r>
                  <a:rPr lang="en-US" sz="1600" dirty="0">
                    <a:solidFill>
                      <a:srgbClr val="B278E6"/>
                    </a:solidFill>
                    <a:latin typeface="+mj-lt"/>
                    <a:ea typeface="Source Sans Pro" panose="020B0503030403020204" pitchFamily="34" charset="0"/>
                  </a:rPr>
                  <a:t> </a:t>
                </a:r>
                <a:r>
                  <a:rPr lang="en-US" sz="1600" dirty="0">
                    <a:latin typeface="+mj-lt"/>
                    <a:ea typeface="Source Sans Pro" panose="020B0503030403020204" pitchFamily="34" charset="0"/>
                  </a:rPr>
                  <a:t>physics-based simulators (e.g. </a:t>
                </a:r>
                <a:r>
                  <a:rPr lang="en-US" sz="1600" dirty="0" err="1">
                    <a:latin typeface="+mj-lt"/>
                    <a:ea typeface="Source Sans Pro" panose="020B0503030403020204" pitchFamily="34" charset="0"/>
                  </a:rPr>
                  <a:t>AlphaPEM</a:t>
                </a:r>
                <a:r>
                  <a:rPr lang="en-US" sz="1600" dirty="0">
                    <a:latin typeface="+mj-lt"/>
                    <a:ea typeface="Source Sans Pro" panose="020B0503030403020204" pitchFamily="34" charset="0"/>
                  </a:rPr>
                  <a:t>)</a:t>
                </a:r>
              </a:p>
              <a:p>
                <a:pPr marL="285750" indent="-285750">
                  <a:buFontTx/>
                  <a:buChar char="→"/>
                </a:pPr>
                <a:r>
                  <a:rPr lang="en-US" sz="1600" dirty="0">
                    <a:latin typeface="+mj-lt"/>
                    <a:ea typeface="Source Sans Pro" panose="020B0503030403020204" pitchFamily="34" charset="0"/>
                  </a:rPr>
                  <a:t>Models have </a:t>
                </a:r>
                <a:r>
                  <a:rPr lang="en-US" sz="1600" b="1" dirty="0">
                    <a:solidFill>
                      <a:srgbClr val="B278E6"/>
                    </a:solidFill>
                    <a:latin typeface="+mj-lt"/>
                    <a:ea typeface="Source Sans Pro" panose="020B0503030403020204" pitchFamily="34" charset="0"/>
                  </a:rPr>
                  <a:t>no closed form</a:t>
                </a:r>
                <a:r>
                  <a:rPr lang="en-US" sz="1600" dirty="0">
                    <a:latin typeface="+mj-lt"/>
                    <a:ea typeface="Source Sans Pro" panose="020B0503030403020204" pitchFamily="34" charset="0"/>
                  </a:rPr>
                  <a:t>: they rely on solving  complex DAEs</a:t>
                </a:r>
              </a:p>
            </p:txBody>
          </p:sp>
        </p:grpSp>
      </p:grpSp>
      <p:sp>
        <p:nvSpPr>
          <p:cNvPr id="26" name="CuadroTexto 25">
            <a:extLst>
              <a:ext uri="{FF2B5EF4-FFF2-40B4-BE49-F238E27FC236}">
                <a16:creationId xmlns:a16="http://schemas.microsoft.com/office/drawing/2014/main" id="{758AEC0B-6460-C449-F9D2-69E67FCF4229}"/>
              </a:ext>
            </a:extLst>
          </p:cNvPr>
          <p:cNvSpPr txBox="1"/>
          <p:nvPr/>
        </p:nvSpPr>
        <p:spPr>
          <a:xfrm>
            <a:off x="838200" y="4828137"/>
            <a:ext cx="7450584" cy="1815882"/>
          </a:xfrm>
          <a:prstGeom prst="rect">
            <a:avLst/>
          </a:prstGeom>
          <a:noFill/>
        </p:spPr>
        <p:txBody>
          <a:bodyPr wrap="square">
            <a:spAutoFit/>
          </a:bodyPr>
          <a:lstStyle/>
          <a:p>
            <a:r>
              <a:rPr lang="en-US" sz="1600" b="1" dirty="0">
                <a:latin typeface="+mj-lt"/>
                <a:ea typeface="Source Sans Pro" panose="020B0503030403020204" pitchFamily="34" charset="0"/>
              </a:rPr>
              <a:t>Goal of project partners</a:t>
            </a:r>
          </a:p>
          <a:p>
            <a:r>
              <a:rPr lang="en-US" sz="1600" dirty="0">
                <a:latin typeface="+mj-lt"/>
                <a:ea typeface="Source Sans Pro" panose="020B0503030403020204" pitchFamily="34" charset="0"/>
              </a:rPr>
              <a:t>Perform </a:t>
            </a:r>
            <a:r>
              <a:rPr lang="en-US" sz="1600" i="1" dirty="0">
                <a:latin typeface="+mj-lt"/>
                <a:ea typeface="Source Sans Pro" panose="020B0503030403020204" pitchFamily="34" charset="0"/>
              </a:rPr>
              <a:t>model calibration </a:t>
            </a:r>
            <a:r>
              <a:rPr lang="en-US" sz="1600" dirty="0">
                <a:latin typeface="+mj-lt"/>
                <a:ea typeface="Source Sans Pro" panose="020B0503030403020204" pitchFamily="34" charset="0"/>
              </a:rPr>
              <a:t>using Fisher Information Matrix-based Optimal Experimental Design (FIM-OED)</a:t>
            </a:r>
          </a:p>
          <a:p>
            <a:endParaRPr lang="en-US" sz="1600" dirty="0">
              <a:latin typeface="+mj-lt"/>
              <a:ea typeface="Source Sans Pro" panose="020B0503030403020204" pitchFamily="34" charset="0"/>
            </a:endParaRPr>
          </a:p>
          <a:p>
            <a:r>
              <a:rPr lang="en-US" sz="1600" dirty="0">
                <a:latin typeface="+mj-lt"/>
                <a:ea typeface="Source Sans Pro" panose="020B0503030403020204" pitchFamily="34" charset="0"/>
              </a:rPr>
              <a:t>They need an analytically </a:t>
            </a:r>
            <a:r>
              <a:rPr lang="en-US" sz="1600" b="1" i="1" dirty="0">
                <a:solidFill>
                  <a:srgbClr val="008B2E"/>
                </a:solidFill>
                <a:latin typeface="+mj-lt"/>
                <a:ea typeface="Source Sans Pro" panose="020B0503030403020204" pitchFamily="34" charset="0"/>
              </a:rPr>
              <a:t>closed-form surrogate model </a:t>
            </a:r>
            <a:r>
              <a:rPr lang="en-US" sz="1600" dirty="0">
                <a:latin typeface="+mj-lt"/>
                <a:ea typeface="Source Sans Pro" panose="020B0503030403020204" pitchFamily="34" charset="0"/>
              </a:rPr>
              <a:t>that</a:t>
            </a:r>
          </a:p>
          <a:p>
            <a:pPr marL="742950" lvl="1" indent="-285750">
              <a:buFontTx/>
              <a:buChar char="→"/>
            </a:pPr>
            <a:r>
              <a:rPr lang="en-US" sz="1600" dirty="0">
                <a:latin typeface="+mj-lt"/>
                <a:ea typeface="Source Sans Pro" panose="020B0503030403020204" pitchFamily="34" charset="0"/>
              </a:rPr>
              <a:t>allows </a:t>
            </a:r>
            <a:r>
              <a:rPr lang="en-US" sz="1600" dirty="0">
                <a:solidFill>
                  <a:srgbClr val="6350F2"/>
                </a:solidFill>
                <a:latin typeface="+mj-lt"/>
                <a:ea typeface="Source Sans Pro" panose="020B0503030403020204" pitchFamily="34" charset="0"/>
              </a:rPr>
              <a:t>faster simulations</a:t>
            </a:r>
          </a:p>
          <a:p>
            <a:pPr marL="742950" lvl="1" indent="-285750">
              <a:buFontTx/>
              <a:buChar char="→"/>
            </a:pPr>
            <a:r>
              <a:rPr lang="en-US" sz="1600" dirty="0">
                <a:latin typeface="+mj-lt"/>
                <a:ea typeface="Source Sans Pro" panose="020B0503030403020204" pitchFamily="34" charset="0"/>
              </a:rPr>
              <a:t>enables exact </a:t>
            </a:r>
            <a:r>
              <a:rPr lang="en-US" sz="1600" dirty="0">
                <a:solidFill>
                  <a:srgbClr val="6350F2"/>
                </a:solidFill>
                <a:latin typeface="+mj-lt"/>
                <a:ea typeface="Source Sans Pro" panose="020B0503030403020204" pitchFamily="34" charset="0"/>
              </a:rPr>
              <a:t>partial derivative </a:t>
            </a:r>
            <a:r>
              <a:rPr lang="en-US" sz="1600" dirty="0">
                <a:latin typeface="+mj-lt"/>
                <a:ea typeface="Source Sans Pro" panose="020B0503030403020204" pitchFamily="34" charset="0"/>
              </a:rPr>
              <a:t>computation</a:t>
            </a:r>
          </a:p>
        </p:txBody>
      </p:sp>
      <p:grpSp>
        <p:nvGrpSpPr>
          <p:cNvPr id="3" name="Grupo 2">
            <a:extLst>
              <a:ext uri="{FF2B5EF4-FFF2-40B4-BE49-F238E27FC236}">
                <a16:creationId xmlns:a16="http://schemas.microsoft.com/office/drawing/2014/main" id="{F91F167D-889E-3DF4-EC02-379965312BD4}"/>
              </a:ext>
            </a:extLst>
          </p:cNvPr>
          <p:cNvGrpSpPr/>
          <p:nvPr/>
        </p:nvGrpSpPr>
        <p:grpSpPr>
          <a:xfrm>
            <a:off x="700193" y="1693997"/>
            <a:ext cx="3789996" cy="2912060"/>
            <a:chOff x="838200" y="1963496"/>
            <a:chExt cx="4749801" cy="2644521"/>
          </a:xfrm>
        </p:grpSpPr>
        <p:sp>
          <p:nvSpPr>
            <p:cNvPr id="14" name="Google Shape;1857;p37">
              <a:extLst>
                <a:ext uri="{FF2B5EF4-FFF2-40B4-BE49-F238E27FC236}">
                  <a16:creationId xmlns:a16="http://schemas.microsoft.com/office/drawing/2014/main" id="{A159F90A-E235-D4C6-CCDD-00B0561A4084}"/>
                </a:ext>
              </a:extLst>
            </p:cNvPr>
            <p:cNvSpPr/>
            <p:nvPr/>
          </p:nvSpPr>
          <p:spPr>
            <a:xfrm>
              <a:off x="838200" y="2232971"/>
              <a:ext cx="4749800" cy="2353543"/>
            </a:xfrm>
            <a:prstGeom prst="rect">
              <a:avLst/>
            </a:prstGeom>
            <a:solidFill>
              <a:srgbClr val="FFB903">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5" name="Google Shape;1859;p37">
              <a:extLst>
                <a:ext uri="{FF2B5EF4-FFF2-40B4-BE49-F238E27FC236}">
                  <a16:creationId xmlns:a16="http://schemas.microsoft.com/office/drawing/2014/main" id="{F7C5E4EB-55F7-7DC8-02F6-430633EBABB6}"/>
                </a:ext>
              </a:extLst>
            </p:cNvPr>
            <p:cNvSpPr/>
            <p:nvPr/>
          </p:nvSpPr>
          <p:spPr>
            <a:xfrm>
              <a:off x="838200" y="1963496"/>
              <a:ext cx="4749800" cy="558476"/>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6" name="Google Shape;1862;p37">
              <a:extLst>
                <a:ext uri="{FF2B5EF4-FFF2-40B4-BE49-F238E27FC236}">
                  <a16:creationId xmlns:a16="http://schemas.microsoft.com/office/drawing/2014/main" id="{DC3D0957-B68D-DCEE-0E6F-C51D6981D35D}"/>
                </a:ext>
              </a:extLst>
            </p:cNvPr>
            <p:cNvGrpSpPr/>
            <p:nvPr/>
          </p:nvGrpSpPr>
          <p:grpSpPr>
            <a:xfrm>
              <a:off x="1052316" y="2077873"/>
              <a:ext cx="4535685" cy="2530144"/>
              <a:chOff x="688875" y="1376475"/>
              <a:chExt cx="2427369" cy="2546084"/>
            </a:xfrm>
          </p:grpSpPr>
          <p:sp>
            <p:nvSpPr>
              <p:cNvPr id="18" name="Google Shape;1863;p37">
                <a:extLst>
                  <a:ext uri="{FF2B5EF4-FFF2-40B4-BE49-F238E27FC236}">
                    <a16:creationId xmlns:a16="http://schemas.microsoft.com/office/drawing/2014/main" id="{8D3D1563-D467-A17E-C389-A1AB2ADA98DA}"/>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What</a:t>
                </a:r>
                <a:r>
                  <a:rPr lang="es-MX" b="1" dirty="0">
                    <a:solidFill>
                      <a:schemeClr val="lt1"/>
                    </a:solidFill>
                    <a:latin typeface="+mj-lt"/>
                    <a:ea typeface="Source Sans Pro" panose="020B0503030403020204" pitchFamily="34" charset="0"/>
                    <a:cs typeface="Fira Sans Extra Condensed"/>
                    <a:sym typeface="Fira Sans Extra Condensed"/>
                  </a:rPr>
                  <a:t> are PEM Fuel </a:t>
                </a:r>
                <a:r>
                  <a:rPr lang="es-MX" b="1" dirty="0" err="1">
                    <a:solidFill>
                      <a:schemeClr val="lt1"/>
                    </a:solidFill>
                    <a:latin typeface="+mj-lt"/>
                    <a:ea typeface="Source Sans Pro" panose="020B0503030403020204" pitchFamily="34" charset="0"/>
                    <a:cs typeface="Fira Sans Extra Condensed"/>
                    <a:sym typeface="Fira Sans Extra Condensed"/>
                  </a:rPr>
                  <a:t>Cells</a:t>
                </a:r>
                <a:r>
                  <a:rPr lang="es-MX" b="1" dirty="0">
                    <a:solidFill>
                      <a:schemeClr val="lt1"/>
                    </a:solidFill>
                    <a:latin typeface="+mj-lt"/>
                    <a:ea typeface="Source Sans Pro" panose="020B0503030403020204" pitchFamily="34" charset="0"/>
                    <a:cs typeface="Fira Sans Extra Condensed"/>
                    <a:sym typeface="Fira Sans Extra Condensed"/>
                  </a:rPr>
                  <a:t>?</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21" name="Google Shape;1866;p37">
                <a:extLst>
                  <a:ext uri="{FF2B5EF4-FFF2-40B4-BE49-F238E27FC236}">
                    <a16:creationId xmlns:a16="http://schemas.microsoft.com/office/drawing/2014/main" id="{0E5EBD9F-92E5-3CB3-822F-5DCEED61917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23" name="Google Shape;1869;p37">
                <a:extLst>
                  <a:ext uri="{FF2B5EF4-FFF2-40B4-BE49-F238E27FC236}">
                    <a16:creationId xmlns:a16="http://schemas.microsoft.com/office/drawing/2014/main" id="{DC51810C-C2F8-0CD4-6FE3-C3001457CBCF}"/>
                  </a:ext>
                </a:extLst>
              </p:cNvPr>
              <p:cNvSpPr txBox="1"/>
              <p:nvPr/>
            </p:nvSpPr>
            <p:spPr>
              <a:xfrm>
                <a:off x="688875" y="1938931"/>
                <a:ext cx="2427369" cy="1983628"/>
              </a:xfrm>
              <a:prstGeom prst="rect">
                <a:avLst/>
              </a:prstGeom>
              <a:noFill/>
              <a:ln>
                <a:noFill/>
              </a:ln>
            </p:spPr>
            <p:txBody>
              <a:bodyPr spcFirstLastPara="1" wrap="square" lIns="91425" tIns="91425" rIns="91425" bIns="91425" anchor="t" anchorCtr="0">
                <a:noAutofit/>
              </a:bodyPr>
              <a:lstStyle/>
              <a:p>
                <a:pPr marL="2540" lvl="0" algn="l" rtl="0">
                  <a:spcBef>
                    <a:spcPts val="0"/>
                  </a:spcBef>
                  <a:spcAft>
                    <a:spcPts val="0"/>
                  </a:spcAft>
                  <a:buSzPts val="1400"/>
                </a:pPr>
                <a:r>
                  <a:rPr lang="en-US" sz="1600" dirty="0">
                    <a:latin typeface="+mj-lt"/>
                    <a:ea typeface="Source Sans Pro" panose="020B0503030403020204" pitchFamily="34" charset="0"/>
                    <a:cs typeface="Roboto"/>
                    <a:sym typeface="Roboto"/>
                  </a:rPr>
                  <a:t>Proton Exchange Membrane (PEM) fuel cells (FC) </a:t>
                </a:r>
                <a:r>
                  <a:rPr lang="en-US" sz="1600" b="1" dirty="0">
                    <a:solidFill>
                      <a:srgbClr val="008B2E"/>
                    </a:solidFill>
                    <a:latin typeface="+mj-lt"/>
                    <a:ea typeface="Source Sans Pro" panose="020B0503030403020204" pitchFamily="34" charset="0"/>
                    <a:cs typeface="Roboto"/>
                    <a:sym typeface="Roboto"/>
                  </a:rPr>
                  <a:t>convert hydrogen and oxygen into electricity</a:t>
                </a:r>
                <a:r>
                  <a:rPr lang="en-US" sz="1600" dirty="0">
                    <a:latin typeface="+mj-lt"/>
                    <a:ea typeface="Source Sans Pro" panose="020B0503030403020204" pitchFamily="34" charset="0"/>
                    <a:cs typeface="Roboto"/>
                    <a:sym typeface="Roboto"/>
                  </a:rPr>
                  <a:t>, emitting only water as subproduct. </a:t>
                </a:r>
              </a:p>
              <a:p>
                <a:pPr marL="2540" lvl="0" algn="l" rtl="0">
                  <a:spcBef>
                    <a:spcPts val="0"/>
                  </a:spcBef>
                  <a:spcAft>
                    <a:spcPts val="0"/>
                  </a:spcAft>
                  <a:buSzPts val="1400"/>
                </a:pPr>
                <a:endParaRPr lang="en-US" sz="800" dirty="0">
                  <a:latin typeface="+mj-lt"/>
                  <a:ea typeface="Source Sans Pro" panose="020B0503030403020204" pitchFamily="34" charset="0"/>
                  <a:cs typeface="Roboto"/>
                  <a:sym typeface="Roboto"/>
                </a:endParaRP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Used in automotive and backup power systems</a:t>
                </a: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Promising for a clean energy future!</a:t>
                </a:r>
              </a:p>
            </p:txBody>
          </p:sp>
        </p:grpSp>
      </p:grpSp>
    </p:spTree>
    <p:extLst>
      <p:ext uri="{BB962C8B-B14F-4D97-AF65-F5344CB8AC3E}">
        <p14:creationId xmlns:p14="http://schemas.microsoft.com/office/powerpoint/2010/main" val="373079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1801-2015-DDD0-EC44-D9D8FB899A1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A2C680A-D8B8-48C5-75C3-E5A1AB62229A}"/>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664112EB-DBA4-5D97-0690-46FE8E5DB1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5B291E88-3099-B533-9597-74B0DDCB74A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1084" name="Google Shape;2338;p45">
            <a:extLst>
              <a:ext uri="{FF2B5EF4-FFF2-40B4-BE49-F238E27FC236}">
                <a16:creationId xmlns:a16="http://schemas.microsoft.com/office/drawing/2014/main" id="{06590317-6325-2F41-FFD7-E699E5645267}"/>
              </a:ext>
            </a:extLst>
          </p:cNvPr>
          <p:cNvGrpSpPr/>
          <p:nvPr/>
        </p:nvGrpSpPr>
        <p:grpSpPr>
          <a:xfrm>
            <a:off x="4727673" y="3041774"/>
            <a:ext cx="3010731" cy="2732554"/>
            <a:chOff x="3124753" y="2097067"/>
            <a:chExt cx="2904005" cy="2684408"/>
          </a:xfrm>
        </p:grpSpPr>
        <p:sp>
          <p:nvSpPr>
            <p:cNvPr id="1085" name="Google Shape;2339;p45">
              <a:extLst>
                <a:ext uri="{FF2B5EF4-FFF2-40B4-BE49-F238E27FC236}">
                  <a16:creationId xmlns:a16="http://schemas.microsoft.com/office/drawing/2014/main" id="{9022AE80-D9AC-69F2-95D7-21559367D0DA}"/>
                </a:ext>
              </a:extLst>
            </p:cNvPr>
            <p:cNvSpPr/>
            <p:nvPr/>
          </p:nvSpPr>
          <p:spPr>
            <a:xfrm>
              <a:off x="3938625" y="4524375"/>
              <a:ext cx="1247700" cy="257100"/>
            </a:xfrm>
            <a:prstGeom prst="ellipse">
              <a:avLst/>
            </a:prstGeom>
            <a:solidFill>
              <a:srgbClr val="666666">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6" name="Google Shape;2340;p45">
              <a:extLst>
                <a:ext uri="{FF2B5EF4-FFF2-40B4-BE49-F238E27FC236}">
                  <a16:creationId xmlns:a16="http://schemas.microsoft.com/office/drawing/2014/main" id="{7669C89A-D367-49D8-EDDB-85A45017FA9F}"/>
                </a:ext>
              </a:extLst>
            </p:cNvPr>
            <p:cNvGrpSpPr/>
            <p:nvPr/>
          </p:nvGrpSpPr>
          <p:grpSpPr>
            <a:xfrm>
              <a:off x="3124761" y="2266506"/>
              <a:ext cx="1173544" cy="1038290"/>
              <a:chOff x="3039603" y="2097081"/>
              <a:chExt cx="1372888" cy="1214659"/>
            </a:xfrm>
          </p:grpSpPr>
          <p:sp>
            <p:nvSpPr>
              <p:cNvPr id="1146" name="Google Shape;2341;p45">
                <a:extLst>
                  <a:ext uri="{FF2B5EF4-FFF2-40B4-BE49-F238E27FC236}">
                    <a16:creationId xmlns:a16="http://schemas.microsoft.com/office/drawing/2014/main" id="{E06F6C9D-DEAC-BB16-A3CD-17678564C775}"/>
                  </a:ext>
                </a:extLst>
              </p:cNvPr>
              <p:cNvSpPr/>
              <p:nvPr/>
            </p:nvSpPr>
            <p:spPr>
              <a:xfrm>
                <a:off x="3039603" y="2097081"/>
                <a:ext cx="1372888" cy="1214659"/>
              </a:xfrm>
              <a:custGeom>
                <a:avLst/>
                <a:gdLst/>
                <a:ahLst/>
                <a:cxnLst/>
                <a:rect l="l" t="t" r="r" b="b"/>
                <a:pathLst>
                  <a:path w="76484" h="67669" extrusionOk="0">
                    <a:moveTo>
                      <a:pt x="0" y="1"/>
                    </a:moveTo>
                    <a:lnTo>
                      <a:pt x="0" y="67668"/>
                    </a:lnTo>
                    <a:lnTo>
                      <a:pt x="76484" y="67668"/>
                    </a:lnTo>
                    <a:lnTo>
                      <a:pt x="76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2342;p45">
                <a:extLst>
                  <a:ext uri="{FF2B5EF4-FFF2-40B4-BE49-F238E27FC236}">
                    <a16:creationId xmlns:a16="http://schemas.microsoft.com/office/drawing/2014/main" id="{8D16DFE5-B7A8-C467-CB8E-4052A2C8A167}"/>
                  </a:ext>
                </a:extLst>
              </p:cNvPr>
              <p:cNvSpPr/>
              <p:nvPr/>
            </p:nvSpPr>
            <p:spPr>
              <a:xfrm>
                <a:off x="3527987" y="2179974"/>
                <a:ext cx="797142" cy="317212"/>
              </a:xfrm>
              <a:custGeom>
                <a:avLst/>
                <a:gdLst/>
                <a:ahLst/>
                <a:cxnLst/>
                <a:rect l="l" t="t" r="r" b="b"/>
                <a:pathLst>
                  <a:path w="44409" h="17672" extrusionOk="0">
                    <a:moveTo>
                      <a:pt x="565" y="0"/>
                    </a:moveTo>
                    <a:lnTo>
                      <a:pt x="447" y="14"/>
                    </a:lnTo>
                    <a:lnTo>
                      <a:pt x="342" y="53"/>
                    </a:lnTo>
                    <a:lnTo>
                      <a:pt x="250" y="105"/>
                    </a:lnTo>
                    <a:lnTo>
                      <a:pt x="171" y="171"/>
                    </a:lnTo>
                    <a:lnTo>
                      <a:pt x="106" y="250"/>
                    </a:lnTo>
                    <a:lnTo>
                      <a:pt x="53" y="342"/>
                    </a:lnTo>
                    <a:lnTo>
                      <a:pt x="14" y="447"/>
                    </a:lnTo>
                    <a:lnTo>
                      <a:pt x="1" y="565"/>
                    </a:lnTo>
                    <a:lnTo>
                      <a:pt x="1" y="17121"/>
                    </a:lnTo>
                    <a:lnTo>
                      <a:pt x="14" y="17226"/>
                    </a:lnTo>
                    <a:lnTo>
                      <a:pt x="53" y="17331"/>
                    </a:lnTo>
                    <a:lnTo>
                      <a:pt x="106" y="17423"/>
                    </a:lnTo>
                    <a:lnTo>
                      <a:pt x="171" y="17514"/>
                    </a:lnTo>
                    <a:lnTo>
                      <a:pt x="250" y="17580"/>
                    </a:lnTo>
                    <a:lnTo>
                      <a:pt x="342" y="17632"/>
                    </a:lnTo>
                    <a:lnTo>
                      <a:pt x="447" y="17659"/>
                    </a:lnTo>
                    <a:lnTo>
                      <a:pt x="565" y="17672"/>
                    </a:lnTo>
                    <a:lnTo>
                      <a:pt x="43844" y="17672"/>
                    </a:lnTo>
                    <a:lnTo>
                      <a:pt x="43962" y="17659"/>
                    </a:lnTo>
                    <a:lnTo>
                      <a:pt x="44067" y="17632"/>
                    </a:lnTo>
                    <a:lnTo>
                      <a:pt x="44159" y="17580"/>
                    </a:lnTo>
                    <a:lnTo>
                      <a:pt x="44238" y="17514"/>
                    </a:lnTo>
                    <a:lnTo>
                      <a:pt x="44317" y="17423"/>
                    </a:lnTo>
                    <a:lnTo>
                      <a:pt x="44356" y="17331"/>
                    </a:lnTo>
                    <a:lnTo>
                      <a:pt x="44395" y="17226"/>
                    </a:lnTo>
                    <a:lnTo>
                      <a:pt x="44408" y="17121"/>
                    </a:lnTo>
                    <a:lnTo>
                      <a:pt x="44408" y="565"/>
                    </a:lnTo>
                    <a:lnTo>
                      <a:pt x="44395" y="447"/>
                    </a:lnTo>
                    <a:lnTo>
                      <a:pt x="44356" y="342"/>
                    </a:lnTo>
                    <a:lnTo>
                      <a:pt x="44317" y="250"/>
                    </a:lnTo>
                    <a:lnTo>
                      <a:pt x="44238" y="171"/>
                    </a:lnTo>
                    <a:lnTo>
                      <a:pt x="44159" y="105"/>
                    </a:lnTo>
                    <a:lnTo>
                      <a:pt x="44067" y="53"/>
                    </a:lnTo>
                    <a:lnTo>
                      <a:pt x="43962" y="14"/>
                    </a:lnTo>
                    <a:lnTo>
                      <a:pt x="43844" y="0"/>
                    </a:ln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2343;p45">
                <a:extLst>
                  <a:ext uri="{FF2B5EF4-FFF2-40B4-BE49-F238E27FC236}">
                    <a16:creationId xmlns:a16="http://schemas.microsoft.com/office/drawing/2014/main" id="{17B3B161-9671-2ACD-63AA-FAF1625F649D}"/>
                  </a:ext>
                </a:extLst>
              </p:cNvPr>
              <p:cNvSpPr/>
              <p:nvPr/>
            </p:nvSpPr>
            <p:spPr>
              <a:xfrm>
                <a:off x="3557425" y="2204943"/>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2344;p45">
                <a:extLst>
                  <a:ext uri="{FF2B5EF4-FFF2-40B4-BE49-F238E27FC236}">
                    <a16:creationId xmlns:a16="http://schemas.microsoft.com/office/drawing/2014/main" id="{95C76529-12B3-4911-9AAD-7890182F9D4C}"/>
                  </a:ext>
                </a:extLst>
              </p:cNvPr>
              <p:cNvSpPr/>
              <p:nvPr/>
            </p:nvSpPr>
            <p:spPr>
              <a:xfrm>
                <a:off x="3557425" y="2256746"/>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2345;p45">
                <a:extLst>
                  <a:ext uri="{FF2B5EF4-FFF2-40B4-BE49-F238E27FC236}">
                    <a16:creationId xmlns:a16="http://schemas.microsoft.com/office/drawing/2014/main" id="{CB997637-1AD7-F457-CB40-1F7B242BD0F3}"/>
                  </a:ext>
                </a:extLst>
              </p:cNvPr>
              <p:cNvSpPr/>
              <p:nvPr/>
            </p:nvSpPr>
            <p:spPr>
              <a:xfrm>
                <a:off x="3557425" y="2310435"/>
                <a:ext cx="721303" cy="162035"/>
              </a:xfrm>
              <a:custGeom>
                <a:avLst/>
                <a:gdLst/>
                <a:ahLst/>
                <a:cxnLst/>
                <a:rect l="l" t="t" r="r" b="b"/>
                <a:pathLst>
                  <a:path w="40184" h="9027" extrusionOk="0">
                    <a:moveTo>
                      <a:pt x="1" y="0"/>
                    </a:moveTo>
                    <a:lnTo>
                      <a:pt x="1" y="9026"/>
                    </a:lnTo>
                    <a:lnTo>
                      <a:pt x="40184" y="9026"/>
                    </a:lnTo>
                    <a:lnTo>
                      <a:pt x="40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2346;p45">
                <a:extLst>
                  <a:ext uri="{FF2B5EF4-FFF2-40B4-BE49-F238E27FC236}">
                    <a16:creationId xmlns:a16="http://schemas.microsoft.com/office/drawing/2014/main" id="{2AB345CD-20CB-3094-C389-028E441E18D5}"/>
                  </a:ext>
                </a:extLst>
              </p:cNvPr>
              <p:cNvSpPr/>
              <p:nvPr/>
            </p:nvSpPr>
            <p:spPr>
              <a:xfrm>
                <a:off x="3527987" y="2544270"/>
                <a:ext cx="797142" cy="317212"/>
              </a:xfrm>
              <a:custGeom>
                <a:avLst/>
                <a:gdLst/>
                <a:ahLst/>
                <a:cxnLst/>
                <a:rect l="l" t="t" r="r" b="b"/>
                <a:pathLst>
                  <a:path w="44409" h="17672" extrusionOk="0">
                    <a:moveTo>
                      <a:pt x="565" y="1"/>
                    </a:moveTo>
                    <a:lnTo>
                      <a:pt x="447" y="14"/>
                    </a:lnTo>
                    <a:lnTo>
                      <a:pt x="342" y="40"/>
                    </a:lnTo>
                    <a:lnTo>
                      <a:pt x="250" y="92"/>
                    </a:lnTo>
                    <a:lnTo>
                      <a:pt x="171" y="158"/>
                    </a:lnTo>
                    <a:lnTo>
                      <a:pt x="106" y="250"/>
                    </a:lnTo>
                    <a:lnTo>
                      <a:pt x="53" y="342"/>
                    </a:lnTo>
                    <a:lnTo>
                      <a:pt x="14" y="447"/>
                    </a:lnTo>
                    <a:lnTo>
                      <a:pt x="1" y="552"/>
                    </a:lnTo>
                    <a:lnTo>
                      <a:pt x="1" y="17108"/>
                    </a:lnTo>
                    <a:lnTo>
                      <a:pt x="14" y="17226"/>
                    </a:lnTo>
                    <a:lnTo>
                      <a:pt x="53" y="17331"/>
                    </a:lnTo>
                    <a:lnTo>
                      <a:pt x="106" y="17423"/>
                    </a:lnTo>
                    <a:lnTo>
                      <a:pt x="171" y="17501"/>
                    </a:lnTo>
                    <a:lnTo>
                      <a:pt x="250" y="17580"/>
                    </a:lnTo>
                    <a:lnTo>
                      <a:pt x="342" y="17619"/>
                    </a:lnTo>
                    <a:lnTo>
                      <a:pt x="447" y="17659"/>
                    </a:lnTo>
                    <a:lnTo>
                      <a:pt x="565" y="17672"/>
                    </a:lnTo>
                    <a:lnTo>
                      <a:pt x="43844" y="17672"/>
                    </a:lnTo>
                    <a:lnTo>
                      <a:pt x="43962" y="17659"/>
                    </a:lnTo>
                    <a:lnTo>
                      <a:pt x="44067" y="17619"/>
                    </a:lnTo>
                    <a:lnTo>
                      <a:pt x="44159" y="17580"/>
                    </a:lnTo>
                    <a:lnTo>
                      <a:pt x="44238" y="17501"/>
                    </a:lnTo>
                    <a:lnTo>
                      <a:pt x="44317" y="17423"/>
                    </a:lnTo>
                    <a:lnTo>
                      <a:pt x="44356" y="17331"/>
                    </a:lnTo>
                    <a:lnTo>
                      <a:pt x="44395" y="17226"/>
                    </a:lnTo>
                    <a:lnTo>
                      <a:pt x="44408" y="17108"/>
                    </a:lnTo>
                    <a:lnTo>
                      <a:pt x="44408" y="552"/>
                    </a:lnTo>
                    <a:lnTo>
                      <a:pt x="44395" y="447"/>
                    </a:lnTo>
                    <a:lnTo>
                      <a:pt x="44356" y="342"/>
                    </a:lnTo>
                    <a:lnTo>
                      <a:pt x="44317" y="250"/>
                    </a:lnTo>
                    <a:lnTo>
                      <a:pt x="44238" y="158"/>
                    </a:lnTo>
                    <a:lnTo>
                      <a:pt x="44159" y="92"/>
                    </a:lnTo>
                    <a:lnTo>
                      <a:pt x="44067" y="40"/>
                    </a:lnTo>
                    <a:lnTo>
                      <a:pt x="43962" y="14"/>
                    </a:lnTo>
                    <a:lnTo>
                      <a:pt x="43844" y="1"/>
                    </a:ln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2347;p45">
                <a:extLst>
                  <a:ext uri="{FF2B5EF4-FFF2-40B4-BE49-F238E27FC236}">
                    <a16:creationId xmlns:a16="http://schemas.microsoft.com/office/drawing/2014/main" id="{705683DD-3AAE-0B54-8578-FF9115AE6D2A}"/>
                  </a:ext>
                </a:extLst>
              </p:cNvPr>
              <p:cNvSpPr/>
              <p:nvPr/>
            </p:nvSpPr>
            <p:spPr>
              <a:xfrm>
                <a:off x="3557425" y="2569005"/>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2348;p45">
                <a:extLst>
                  <a:ext uri="{FF2B5EF4-FFF2-40B4-BE49-F238E27FC236}">
                    <a16:creationId xmlns:a16="http://schemas.microsoft.com/office/drawing/2014/main" id="{59B91A67-DAD0-69CF-2FD6-BFFC9E4C35E5}"/>
                  </a:ext>
                </a:extLst>
              </p:cNvPr>
              <p:cNvSpPr/>
              <p:nvPr/>
            </p:nvSpPr>
            <p:spPr>
              <a:xfrm>
                <a:off x="3557425" y="2620808"/>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2349;p45">
                <a:extLst>
                  <a:ext uri="{FF2B5EF4-FFF2-40B4-BE49-F238E27FC236}">
                    <a16:creationId xmlns:a16="http://schemas.microsoft.com/office/drawing/2014/main" id="{CF53CBFD-9583-E37B-59A6-1E382FFC66E9}"/>
                  </a:ext>
                </a:extLst>
              </p:cNvPr>
              <p:cNvSpPr/>
              <p:nvPr/>
            </p:nvSpPr>
            <p:spPr>
              <a:xfrm>
                <a:off x="3557425" y="2674730"/>
                <a:ext cx="721303" cy="161801"/>
              </a:xfrm>
              <a:custGeom>
                <a:avLst/>
                <a:gdLst/>
                <a:ahLst/>
                <a:cxnLst/>
                <a:rect l="l" t="t" r="r" b="b"/>
                <a:pathLst>
                  <a:path w="40184" h="9014" extrusionOk="0">
                    <a:moveTo>
                      <a:pt x="1" y="1"/>
                    </a:moveTo>
                    <a:lnTo>
                      <a:pt x="1" y="9013"/>
                    </a:lnTo>
                    <a:lnTo>
                      <a:pt x="40184" y="9013"/>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2350;p45">
                <a:extLst>
                  <a:ext uri="{FF2B5EF4-FFF2-40B4-BE49-F238E27FC236}">
                    <a16:creationId xmlns:a16="http://schemas.microsoft.com/office/drawing/2014/main" id="{C0212461-2AA1-8C59-C401-07DE835FE3B4}"/>
                  </a:ext>
                </a:extLst>
              </p:cNvPr>
              <p:cNvSpPr/>
              <p:nvPr/>
            </p:nvSpPr>
            <p:spPr>
              <a:xfrm>
                <a:off x="3527987" y="2908565"/>
                <a:ext cx="797142" cy="316979"/>
              </a:xfrm>
              <a:custGeom>
                <a:avLst/>
                <a:gdLst/>
                <a:ahLst/>
                <a:cxnLst/>
                <a:rect l="l" t="t" r="r" b="b"/>
                <a:pathLst>
                  <a:path w="44409" h="17659" extrusionOk="0">
                    <a:moveTo>
                      <a:pt x="565" y="1"/>
                    </a:moveTo>
                    <a:lnTo>
                      <a:pt x="447" y="14"/>
                    </a:lnTo>
                    <a:lnTo>
                      <a:pt x="342" y="40"/>
                    </a:lnTo>
                    <a:lnTo>
                      <a:pt x="250" y="93"/>
                    </a:lnTo>
                    <a:lnTo>
                      <a:pt x="171" y="158"/>
                    </a:lnTo>
                    <a:lnTo>
                      <a:pt x="106" y="237"/>
                    </a:lnTo>
                    <a:lnTo>
                      <a:pt x="53" y="342"/>
                    </a:lnTo>
                    <a:lnTo>
                      <a:pt x="14" y="434"/>
                    </a:lnTo>
                    <a:lnTo>
                      <a:pt x="1" y="552"/>
                    </a:lnTo>
                    <a:lnTo>
                      <a:pt x="1" y="17108"/>
                    </a:lnTo>
                    <a:lnTo>
                      <a:pt x="14" y="17226"/>
                    </a:lnTo>
                    <a:lnTo>
                      <a:pt x="53" y="17331"/>
                    </a:lnTo>
                    <a:lnTo>
                      <a:pt x="106" y="17423"/>
                    </a:lnTo>
                    <a:lnTo>
                      <a:pt x="171" y="17501"/>
                    </a:lnTo>
                    <a:lnTo>
                      <a:pt x="250" y="17567"/>
                    </a:lnTo>
                    <a:lnTo>
                      <a:pt x="342" y="17620"/>
                    </a:lnTo>
                    <a:lnTo>
                      <a:pt x="447" y="17659"/>
                    </a:lnTo>
                    <a:lnTo>
                      <a:pt x="43962" y="17659"/>
                    </a:lnTo>
                    <a:lnTo>
                      <a:pt x="44067" y="17620"/>
                    </a:lnTo>
                    <a:lnTo>
                      <a:pt x="44159" y="17567"/>
                    </a:lnTo>
                    <a:lnTo>
                      <a:pt x="44238" y="17501"/>
                    </a:lnTo>
                    <a:lnTo>
                      <a:pt x="44317" y="17423"/>
                    </a:lnTo>
                    <a:lnTo>
                      <a:pt x="44356" y="17331"/>
                    </a:lnTo>
                    <a:lnTo>
                      <a:pt x="44395" y="17226"/>
                    </a:lnTo>
                    <a:lnTo>
                      <a:pt x="44408" y="17108"/>
                    </a:lnTo>
                    <a:lnTo>
                      <a:pt x="44408" y="552"/>
                    </a:lnTo>
                    <a:lnTo>
                      <a:pt x="44395" y="434"/>
                    </a:lnTo>
                    <a:lnTo>
                      <a:pt x="44356" y="342"/>
                    </a:lnTo>
                    <a:lnTo>
                      <a:pt x="44317" y="237"/>
                    </a:lnTo>
                    <a:lnTo>
                      <a:pt x="44238" y="158"/>
                    </a:lnTo>
                    <a:lnTo>
                      <a:pt x="44159" y="93"/>
                    </a:lnTo>
                    <a:lnTo>
                      <a:pt x="44067" y="40"/>
                    </a:lnTo>
                    <a:lnTo>
                      <a:pt x="43962" y="14"/>
                    </a:lnTo>
                    <a:lnTo>
                      <a:pt x="43844" y="1"/>
                    </a:ln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2351;p45">
                <a:extLst>
                  <a:ext uri="{FF2B5EF4-FFF2-40B4-BE49-F238E27FC236}">
                    <a16:creationId xmlns:a16="http://schemas.microsoft.com/office/drawing/2014/main" id="{1F86E7BA-C770-7479-E835-5045CA077FF6}"/>
                  </a:ext>
                </a:extLst>
              </p:cNvPr>
              <p:cNvSpPr/>
              <p:nvPr/>
            </p:nvSpPr>
            <p:spPr>
              <a:xfrm>
                <a:off x="3557425" y="2933300"/>
                <a:ext cx="214538" cy="33459"/>
              </a:xfrm>
              <a:custGeom>
                <a:avLst/>
                <a:gdLst/>
                <a:ahLst/>
                <a:cxnLst/>
                <a:rect l="l" t="t" r="r" b="b"/>
                <a:pathLst>
                  <a:path w="11952" h="1864"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2352;p45">
                <a:extLst>
                  <a:ext uri="{FF2B5EF4-FFF2-40B4-BE49-F238E27FC236}">
                    <a16:creationId xmlns:a16="http://schemas.microsoft.com/office/drawing/2014/main" id="{CEFB4CF4-13E1-A5B9-953E-6BF576A1B7FD}"/>
                  </a:ext>
                </a:extLst>
              </p:cNvPr>
              <p:cNvSpPr/>
              <p:nvPr/>
            </p:nvSpPr>
            <p:spPr>
              <a:xfrm>
                <a:off x="3557425" y="2985104"/>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2353;p45">
                <a:extLst>
                  <a:ext uri="{FF2B5EF4-FFF2-40B4-BE49-F238E27FC236}">
                    <a16:creationId xmlns:a16="http://schemas.microsoft.com/office/drawing/2014/main" id="{C983E73D-BE64-BEDF-FCF3-B37E158C7499}"/>
                  </a:ext>
                </a:extLst>
              </p:cNvPr>
              <p:cNvSpPr/>
              <p:nvPr/>
            </p:nvSpPr>
            <p:spPr>
              <a:xfrm>
                <a:off x="3557425" y="3038792"/>
                <a:ext cx="721303" cy="162035"/>
              </a:xfrm>
              <a:custGeom>
                <a:avLst/>
                <a:gdLst/>
                <a:ahLst/>
                <a:cxnLst/>
                <a:rect l="l" t="t" r="r" b="b"/>
                <a:pathLst>
                  <a:path w="40184" h="9027" extrusionOk="0">
                    <a:moveTo>
                      <a:pt x="1" y="1"/>
                    </a:moveTo>
                    <a:lnTo>
                      <a:pt x="1" y="9026"/>
                    </a:lnTo>
                    <a:lnTo>
                      <a:pt x="40184" y="9026"/>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2354;p45">
                <a:extLst>
                  <a:ext uri="{FF2B5EF4-FFF2-40B4-BE49-F238E27FC236}">
                    <a16:creationId xmlns:a16="http://schemas.microsoft.com/office/drawing/2014/main" id="{F5F9B451-AB24-B124-5D04-0C056CF83EF8}"/>
                  </a:ext>
                </a:extLst>
              </p:cNvPr>
              <p:cNvSpPr/>
              <p:nvPr/>
            </p:nvSpPr>
            <p:spPr>
              <a:xfrm>
                <a:off x="3294386" y="2851825"/>
                <a:ext cx="107395" cy="48285"/>
              </a:xfrm>
              <a:custGeom>
                <a:avLst/>
                <a:gdLst/>
                <a:ahLst/>
                <a:cxnLst/>
                <a:rect l="l" t="t" r="r" b="b"/>
                <a:pathLst>
                  <a:path w="5983" h="2690" extrusionOk="0">
                    <a:moveTo>
                      <a:pt x="1339" y="0"/>
                    </a:moveTo>
                    <a:lnTo>
                      <a:pt x="1208" y="13"/>
                    </a:lnTo>
                    <a:lnTo>
                      <a:pt x="1076" y="26"/>
                    </a:lnTo>
                    <a:lnTo>
                      <a:pt x="945" y="66"/>
                    </a:lnTo>
                    <a:lnTo>
                      <a:pt x="827" y="105"/>
                    </a:lnTo>
                    <a:lnTo>
                      <a:pt x="709" y="157"/>
                    </a:lnTo>
                    <a:lnTo>
                      <a:pt x="591" y="223"/>
                    </a:lnTo>
                    <a:lnTo>
                      <a:pt x="486" y="302"/>
                    </a:lnTo>
                    <a:lnTo>
                      <a:pt x="394" y="394"/>
                    </a:lnTo>
                    <a:lnTo>
                      <a:pt x="302" y="485"/>
                    </a:lnTo>
                    <a:lnTo>
                      <a:pt x="224" y="590"/>
                    </a:lnTo>
                    <a:lnTo>
                      <a:pt x="158" y="708"/>
                    </a:lnTo>
                    <a:lnTo>
                      <a:pt x="106" y="827"/>
                    </a:lnTo>
                    <a:lnTo>
                      <a:pt x="53" y="945"/>
                    </a:lnTo>
                    <a:lnTo>
                      <a:pt x="27" y="1076"/>
                    </a:lnTo>
                    <a:lnTo>
                      <a:pt x="1" y="1207"/>
                    </a:lnTo>
                    <a:lnTo>
                      <a:pt x="1" y="1351"/>
                    </a:lnTo>
                    <a:lnTo>
                      <a:pt x="1" y="1482"/>
                    </a:lnTo>
                    <a:lnTo>
                      <a:pt x="27" y="1614"/>
                    </a:lnTo>
                    <a:lnTo>
                      <a:pt x="53" y="1745"/>
                    </a:lnTo>
                    <a:lnTo>
                      <a:pt x="106" y="1863"/>
                    </a:lnTo>
                    <a:lnTo>
                      <a:pt x="158" y="1981"/>
                    </a:lnTo>
                    <a:lnTo>
                      <a:pt x="224" y="2099"/>
                    </a:lnTo>
                    <a:lnTo>
                      <a:pt x="302" y="2204"/>
                    </a:lnTo>
                    <a:lnTo>
                      <a:pt x="394" y="2296"/>
                    </a:lnTo>
                    <a:lnTo>
                      <a:pt x="486" y="2388"/>
                    </a:lnTo>
                    <a:lnTo>
                      <a:pt x="591" y="2466"/>
                    </a:lnTo>
                    <a:lnTo>
                      <a:pt x="709" y="2532"/>
                    </a:lnTo>
                    <a:lnTo>
                      <a:pt x="827" y="2584"/>
                    </a:lnTo>
                    <a:lnTo>
                      <a:pt x="945" y="2624"/>
                    </a:lnTo>
                    <a:lnTo>
                      <a:pt x="1076" y="2663"/>
                    </a:lnTo>
                    <a:lnTo>
                      <a:pt x="1208" y="2689"/>
                    </a:lnTo>
                    <a:lnTo>
                      <a:pt x="4776" y="2689"/>
                    </a:lnTo>
                    <a:lnTo>
                      <a:pt x="4907" y="2663"/>
                    </a:lnTo>
                    <a:lnTo>
                      <a:pt x="5038" y="2624"/>
                    </a:lnTo>
                    <a:lnTo>
                      <a:pt x="5156" y="2584"/>
                    </a:lnTo>
                    <a:lnTo>
                      <a:pt x="5275" y="2532"/>
                    </a:lnTo>
                    <a:lnTo>
                      <a:pt x="5393" y="2466"/>
                    </a:lnTo>
                    <a:lnTo>
                      <a:pt x="5498" y="2388"/>
                    </a:lnTo>
                    <a:lnTo>
                      <a:pt x="5589" y="2296"/>
                    </a:lnTo>
                    <a:lnTo>
                      <a:pt x="5681" y="2204"/>
                    </a:lnTo>
                    <a:lnTo>
                      <a:pt x="5747" y="2099"/>
                    </a:lnTo>
                    <a:lnTo>
                      <a:pt x="5826" y="1981"/>
                    </a:lnTo>
                    <a:lnTo>
                      <a:pt x="5878" y="1863"/>
                    </a:lnTo>
                    <a:lnTo>
                      <a:pt x="5917" y="1745"/>
                    </a:lnTo>
                    <a:lnTo>
                      <a:pt x="5957" y="1614"/>
                    </a:lnTo>
                    <a:lnTo>
                      <a:pt x="5970" y="1482"/>
                    </a:lnTo>
                    <a:lnTo>
                      <a:pt x="5983" y="1351"/>
                    </a:lnTo>
                    <a:lnTo>
                      <a:pt x="5970" y="1207"/>
                    </a:lnTo>
                    <a:lnTo>
                      <a:pt x="5957" y="1076"/>
                    </a:lnTo>
                    <a:lnTo>
                      <a:pt x="5917" y="945"/>
                    </a:lnTo>
                    <a:lnTo>
                      <a:pt x="5878" y="827"/>
                    </a:lnTo>
                    <a:lnTo>
                      <a:pt x="5826" y="708"/>
                    </a:lnTo>
                    <a:lnTo>
                      <a:pt x="5747" y="590"/>
                    </a:lnTo>
                    <a:lnTo>
                      <a:pt x="5681" y="485"/>
                    </a:lnTo>
                    <a:lnTo>
                      <a:pt x="5589" y="394"/>
                    </a:lnTo>
                    <a:lnTo>
                      <a:pt x="5498" y="302"/>
                    </a:lnTo>
                    <a:lnTo>
                      <a:pt x="5393" y="223"/>
                    </a:lnTo>
                    <a:lnTo>
                      <a:pt x="5275" y="157"/>
                    </a:lnTo>
                    <a:lnTo>
                      <a:pt x="5156" y="105"/>
                    </a:lnTo>
                    <a:lnTo>
                      <a:pt x="5038" y="66"/>
                    </a:lnTo>
                    <a:lnTo>
                      <a:pt x="4907" y="26"/>
                    </a:lnTo>
                    <a:lnTo>
                      <a:pt x="4776" y="13"/>
                    </a:lnTo>
                    <a:lnTo>
                      <a:pt x="463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2355;p45">
                <a:extLst>
                  <a:ext uri="{FF2B5EF4-FFF2-40B4-BE49-F238E27FC236}">
                    <a16:creationId xmlns:a16="http://schemas.microsoft.com/office/drawing/2014/main" id="{ADD36BFB-AB74-2573-6A68-E9697F8F4A73}"/>
                  </a:ext>
                </a:extLst>
              </p:cNvPr>
              <p:cNvSpPr/>
              <p:nvPr/>
            </p:nvSpPr>
            <p:spPr>
              <a:xfrm>
                <a:off x="3300040" y="285794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46"/>
                    </a:lnTo>
                    <a:lnTo>
                      <a:pt x="119" y="525"/>
                    </a:lnTo>
                    <a:lnTo>
                      <a:pt x="79" y="617"/>
                    </a:lnTo>
                    <a:lnTo>
                      <a:pt x="40" y="709"/>
                    </a:lnTo>
                    <a:lnTo>
                      <a:pt x="14" y="800"/>
                    </a:lnTo>
                    <a:lnTo>
                      <a:pt x="1" y="905"/>
                    </a:lnTo>
                    <a:lnTo>
                      <a:pt x="1" y="1010"/>
                    </a:lnTo>
                    <a:lnTo>
                      <a:pt x="1" y="1102"/>
                    </a:lnTo>
                    <a:lnTo>
                      <a:pt x="14" y="1207"/>
                    </a:lnTo>
                    <a:lnTo>
                      <a:pt x="40" y="1299"/>
                    </a:lnTo>
                    <a:lnTo>
                      <a:pt x="79" y="1391"/>
                    </a:lnTo>
                    <a:lnTo>
                      <a:pt x="119" y="1483"/>
                    </a:lnTo>
                    <a:lnTo>
                      <a:pt x="171" y="1561"/>
                    </a:lnTo>
                    <a:lnTo>
                      <a:pt x="224" y="1640"/>
                    </a:lnTo>
                    <a:lnTo>
                      <a:pt x="289" y="1719"/>
                    </a:lnTo>
                    <a:lnTo>
                      <a:pt x="368" y="1784"/>
                    </a:lnTo>
                    <a:lnTo>
                      <a:pt x="447" y="1837"/>
                    </a:lnTo>
                    <a:lnTo>
                      <a:pt x="525" y="1889"/>
                    </a:lnTo>
                    <a:lnTo>
                      <a:pt x="617" y="1929"/>
                    </a:lnTo>
                    <a:lnTo>
                      <a:pt x="709" y="1968"/>
                    </a:lnTo>
                    <a:lnTo>
                      <a:pt x="801" y="1994"/>
                    </a:lnTo>
                    <a:lnTo>
                      <a:pt x="906" y="2007"/>
                    </a:lnTo>
                    <a:lnTo>
                      <a:pt x="1103" y="2007"/>
                    </a:lnTo>
                    <a:lnTo>
                      <a:pt x="1208" y="1994"/>
                    </a:lnTo>
                    <a:lnTo>
                      <a:pt x="1299" y="1968"/>
                    </a:lnTo>
                    <a:lnTo>
                      <a:pt x="1391" y="1929"/>
                    </a:lnTo>
                    <a:lnTo>
                      <a:pt x="1483" y="1889"/>
                    </a:lnTo>
                    <a:lnTo>
                      <a:pt x="1562" y="1837"/>
                    </a:lnTo>
                    <a:lnTo>
                      <a:pt x="1640" y="1784"/>
                    </a:lnTo>
                    <a:lnTo>
                      <a:pt x="1719" y="1719"/>
                    </a:lnTo>
                    <a:lnTo>
                      <a:pt x="1785" y="1640"/>
                    </a:lnTo>
                    <a:lnTo>
                      <a:pt x="1837" y="1561"/>
                    </a:lnTo>
                    <a:lnTo>
                      <a:pt x="1890" y="1483"/>
                    </a:lnTo>
                    <a:lnTo>
                      <a:pt x="1929" y="1391"/>
                    </a:lnTo>
                    <a:lnTo>
                      <a:pt x="1968" y="1299"/>
                    </a:lnTo>
                    <a:lnTo>
                      <a:pt x="1995" y="1207"/>
                    </a:lnTo>
                    <a:lnTo>
                      <a:pt x="2008" y="1102"/>
                    </a:lnTo>
                    <a:lnTo>
                      <a:pt x="2008" y="1010"/>
                    </a:lnTo>
                    <a:lnTo>
                      <a:pt x="2008" y="905"/>
                    </a:lnTo>
                    <a:lnTo>
                      <a:pt x="1995" y="800"/>
                    </a:lnTo>
                    <a:lnTo>
                      <a:pt x="1968" y="709"/>
                    </a:lnTo>
                    <a:lnTo>
                      <a:pt x="1929" y="617"/>
                    </a:lnTo>
                    <a:lnTo>
                      <a:pt x="1890" y="525"/>
                    </a:lnTo>
                    <a:lnTo>
                      <a:pt x="1837" y="446"/>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2356;p45">
                <a:extLst>
                  <a:ext uri="{FF2B5EF4-FFF2-40B4-BE49-F238E27FC236}">
                    <a16:creationId xmlns:a16="http://schemas.microsoft.com/office/drawing/2014/main" id="{5E6CAF91-BFB2-6ACE-951F-C56E299AE4F3}"/>
                  </a:ext>
                </a:extLst>
              </p:cNvPr>
              <p:cNvSpPr/>
              <p:nvPr/>
            </p:nvSpPr>
            <p:spPr>
              <a:xfrm>
                <a:off x="3304043" y="286194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30"/>
                    </a:lnTo>
                    <a:lnTo>
                      <a:pt x="1" y="695"/>
                    </a:lnTo>
                    <a:lnTo>
                      <a:pt x="1" y="787"/>
                    </a:lnTo>
                    <a:lnTo>
                      <a:pt x="1" y="866"/>
                    </a:lnTo>
                    <a:lnTo>
                      <a:pt x="14" y="932"/>
                    </a:lnTo>
                    <a:lnTo>
                      <a:pt x="66" y="1089"/>
                    </a:lnTo>
                    <a:lnTo>
                      <a:pt x="132" y="1220"/>
                    </a:lnTo>
                    <a:lnTo>
                      <a:pt x="224" y="1338"/>
                    </a:lnTo>
                    <a:lnTo>
                      <a:pt x="342" y="1430"/>
                    </a:lnTo>
                    <a:lnTo>
                      <a:pt x="473" y="1496"/>
                    </a:lnTo>
                    <a:lnTo>
                      <a:pt x="617" y="1548"/>
                    </a:lnTo>
                    <a:lnTo>
                      <a:pt x="696" y="1561"/>
                    </a:lnTo>
                    <a:lnTo>
                      <a:pt x="866" y="1561"/>
                    </a:lnTo>
                    <a:lnTo>
                      <a:pt x="932" y="1548"/>
                    </a:lnTo>
                    <a:lnTo>
                      <a:pt x="1089" y="1496"/>
                    </a:lnTo>
                    <a:lnTo>
                      <a:pt x="1221" y="1430"/>
                    </a:lnTo>
                    <a:lnTo>
                      <a:pt x="1326" y="1338"/>
                    </a:lnTo>
                    <a:lnTo>
                      <a:pt x="1431" y="1220"/>
                    </a:lnTo>
                    <a:lnTo>
                      <a:pt x="1496" y="1089"/>
                    </a:lnTo>
                    <a:lnTo>
                      <a:pt x="1549" y="932"/>
                    </a:lnTo>
                    <a:lnTo>
                      <a:pt x="1562" y="866"/>
                    </a:lnTo>
                    <a:lnTo>
                      <a:pt x="1562" y="787"/>
                    </a:lnTo>
                    <a:lnTo>
                      <a:pt x="1562" y="695"/>
                    </a:lnTo>
                    <a:lnTo>
                      <a:pt x="1549" y="630"/>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2357;p45">
                <a:extLst>
                  <a:ext uri="{FF2B5EF4-FFF2-40B4-BE49-F238E27FC236}">
                    <a16:creationId xmlns:a16="http://schemas.microsoft.com/office/drawing/2014/main" id="{A38B1FD7-D5C7-12BF-40FB-B5C06FCAFAFE}"/>
                  </a:ext>
                </a:extLst>
              </p:cNvPr>
              <p:cNvSpPr/>
              <p:nvPr/>
            </p:nvSpPr>
            <p:spPr>
              <a:xfrm>
                <a:off x="3294386" y="2916804"/>
                <a:ext cx="107395" cy="48303"/>
              </a:xfrm>
              <a:custGeom>
                <a:avLst/>
                <a:gdLst/>
                <a:ahLst/>
                <a:cxnLst/>
                <a:rect l="l" t="t" r="r" b="b"/>
                <a:pathLst>
                  <a:path w="5983" h="2691" extrusionOk="0">
                    <a:moveTo>
                      <a:pt x="1339" y="1"/>
                    </a:moveTo>
                    <a:lnTo>
                      <a:pt x="1208" y="14"/>
                    </a:lnTo>
                    <a:lnTo>
                      <a:pt x="1076" y="27"/>
                    </a:lnTo>
                    <a:lnTo>
                      <a:pt x="945" y="66"/>
                    </a:lnTo>
                    <a:lnTo>
                      <a:pt x="827" y="106"/>
                    </a:lnTo>
                    <a:lnTo>
                      <a:pt x="709" y="171"/>
                    </a:lnTo>
                    <a:lnTo>
                      <a:pt x="591" y="237"/>
                    </a:lnTo>
                    <a:lnTo>
                      <a:pt x="486" y="316"/>
                    </a:lnTo>
                    <a:lnTo>
                      <a:pt x="394" y="394"/>
                    </a:lnTo>
                    <a:lnTo>
                      <a:pt x="302" y="499"/>
                    </a:lnTo>
                    <a:lnTo>
                      <a:pt x="224" y="591"/>
                    </a:lnTo>
                    <a:lnTo>
                      <a:pt x="158" y="709"/>
                    </a:lnTo>
                    <a:lnTo>
                      <a:pt x="106" y="827"/>
                    </a:lnTo>
                    <a:lnTo>
                      <a:pt x="53" y="945"/>
                    </a:lnTo>
                    <a:lnTo>
                      <a:pt x="27" y="1077"/>
                    </a:lnTo>
                    <a:lnTo>
                      <a:pt x="1" y="1208"/>
                    </a:lnTo>
                    <a:lnTo>
                      <a:pt x="1" y="1352"/>
                    </a:lnTo>
                    <a:lnTo>
                      <a:pt x="1" y="1483"/>
                    </a:lnTo>
                    <a:lnTo>
                      <a:pt x="27" y="1615"/>
                    </a:lnTo>
                    <a:lnTo>
                      <a:pt x="53" y="1746"/>
                    </a:lnTo>
                    <a:lnTo>
                      <a:pt x="106" y="1877"/>
                    </a:lnTo>
                    <a:lnTo>
                      <a:pt x="158" y="1995"/>
                    </a:lnTo>
                    <a:lnTo>
                      <a:pt x="224" y="2100"/>
                    </a:lnTo>
                    <a:lnTo>
                      <a:pt x="302" y="2205"/>
                    </a:lnTo>
                    <a:lnTo>
                      <a:pt x="394" y="2297"/>
                    </a:lnTo>
                    <a:lnTo>
                      <a:pt x="486" y="2389"/>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9"/>
                    </a:lnTo>
                    <a:lnTo>
                      <a:pt x="5589" y="2297"/>
                    </a:lnTo>
                    <a:lnTo>
                      <a:pt x="5681" y="2205"/>
                    </a:lnTo>
                    <a:lnTo>
                      <a:pt x="5747" y="2100"/>
                    </a:lnTo>
                    <a:lnTo>
                      <a:pt x="5826" y="1995"/>
                    </a:lnTo>
                    <a:lnTo>
                      <a:pt x="5878" y="1877"/>
                    </a:lnTo>
                    <a:lnTo>
                      <a:pt x="5917" y="1746"/>
                    </a:lnTo>
                    <a:lnTo>
                      <a:pt x="5957" y="1615"/>
                    </a:lnTo>
                    <a:lnTo>
                      <a:pt x="5970" y="1483"/>
                    </a:lnTo>
                    <a:lnTo>
                      <a:pt x="5983" y="1352"/>
                    </a:lnTo>
                    <a:lnTo>
                      <a:pt x="5970" y="1208"/>
                    </a:lnTo>
                    <a:lnTo>
                      <a:pt x="5957" y="1077"/>
                    </a:lnTo>
                    <a:lnTo>
                      <a:pt x="5917" y="945"/>
                    </a:lnTo>
                    <a:lnTo>
                      <a:pt x="5878" y="827"/>
                    </a:lnTo>
                    <a:lnTo>
                      <a:pt x="5826" y="709"/>
                    </a:lnTo>
                    <a:lnTo>
                      <a:pt x="5747" y="591"/>
                    </a:lnTo>
                    <a:lnTo>
                      <a:pt x="5681" y="499"/>
                    </a:lnTo>
                    <a:lnTo>
                      <a:pt x="5589" y="394"/>
                    </a:lnTo>
                    <a:lnTo>
                      <a:pt x="5498" y="316"/>
                    </a:lnTo>
                    <a:lnTo>
                      <a:pt x="5393" y="237"/>
                    </a:lnTo>
                    <a:lnTo>
                      <a:pt x="5275" y="171"/>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2358;p45">
                <a:extLst>
                  <a:ext uri="{FF2B5EF4-FFF2-40B4-BE49-F238E27FC236}">
                    <a16:creationId xmlns:a16="http://schemas.microsoft.com/office/drawing/2014/main" id="{76FFCF11-95A7-032E-AD23-A089DAB2BF71}"/>
                  </a:ext>
                </a:extLst>
              </p:cNvPr>
              <p:cNvSpPr/>
              <p:nvPr/>
            </p:nvSpPr>
            <p:spPr>
              <a:xfrm>
                <a:off x="3360083" y="2922925"/>
                <a:ext cx="36062" cy="36295"/>
              </a:xfrm>
              <a:custGeom>
                <a:avLst/>
                <a:gdLst/>
                <a:ahLst/>
                <a:cxnLst/>
                <a:rect l="l" t="t" r="r" b="b"/>
                <a:pathLst>
                  <a:path w="2009" h="2022" extrusionOk="0">
                    <a:moveTo>
                      <a:pt x="998" y="1"/>
                    </a:moveTo>
                    <a:lnTo>
                      <a:pt x="906" y="14"/>
                    </a:lnTo>
                    <a:lnTo>
                      <a:pt x="801" y="27"/>
                    </a:lnTo>
                    <a:lnTo>
                      <a:pt x="709" y="53"/>
                    </a:lnTo>
                    <a:lnTo>
                      <a:pt x="617" y="80"/>
                    </a:lnTo>
                    <a:lnTo>
                      <a:pt x="526" y="119"/>
                    </a:lnTo>
                    <a:lnTo>
                      <a:pt x="447" y="172"/>
                    </a:lnTo>
                    <a:lnTo>
                      <a:pt x="368" y="237"/>
                    </a:lnTo>
                    <a:lnTo>
                      <a:pt x="290" y="303"/>
                    </a:lnTo>
                    <a:lnTo>
                      <a:pt x="224" y="368"/>
                    </a:lnTo>
                    <a:lnTo>
                      <a:pt x="171" y="447"/>
                    </a:lnTo>
                    <a:lnTo>
                      <a:pt x="119" y="526"/>
                    </a:lnTo>
                    <a:lnTo>
                      <a:pt x="80" y="618"/>
                    </a:lnTo>
                    <a:lnTo>
                      <a:pt x="40" y="709"/>
                    </a:lnTo>
                    <a:lnTo>
                      <a:pt x="14" y="801"/>
                    </a:lnTo>
                    <a:lnTo>
                      <a:pt x="1" y="906"/>
                    </a:lnTo>
                    <a:lnTo>
                      <a:pt x="1" y="1011"/>
                    </a:lnTo>
                    <a:lnTo>
                      <a:pt x="1" y="1116"/>
                    </a:lnTo>
                    <a:lnTo>
                      <a:pt x="14" y="1208"/>
                    </a:lnTo>
                    <a:lnTo>
                      <a:pt x="40" y="1313"/>
                    </a:lnTo>
                    <a:lnTo>
                      <a:pt x="80" y="1405"/>
                    </a:lnTo>
                    <a:lnTo>
                      <a:pt x="119" y="1483"/>
                    </a:lnTo>
                    <a:lnTo>
                      <a:pt x="171" y="1575"/>
                    </a:lnTo>
                    <a:lnTo>
                      <a:pt x="224" y="1654"/>
                    </a:lnTo>
                    <a:lnTo>
                      <a:pt x="290" y="1720"/>
                    </a:lnTo>
                    <a:lnTo>
                      <a:pt x="368" y="1785"/>
                    </a:lnTo>
                    <a:lnTo>
                      <a:pt x="447" y="1838"/>
                    </a:lnTo>
                    <a:lnTo>
                      <a:pt x="526" y="1890"/>
                    </a:lnTo>
                    <a:lnTo>
                      <a:pt x="617" y="1929"/>
                    </a:lnTo>
                    <a:lnTo>
                      <a:pt x="709" y="1969"/>
                    </a:lnTo>
                    <a:lnTo>
                      <a:pt x="801" y="1995"/>
                    </a:lnTo>
                    <a:lnTo>
                      <a:pt x="906" y="2008"/>
                    </a:lnTo>
                    <a:lnTo>
                      <a:pt x="998" y="2021"/>
                    </a:lnTo>
                    <a:lnTo>
                      <a:pt x="1103" y="2008"/>
                    </a:lnTo>
                    <a:lnTo>
                      <a:pt x="1208" y="1995"/>
                    </a:lnTo>
                    <a:lnTo>
                      <a:pt x="1300" y="1969"/>
                    </a:lnTo>
                    <a:lnTo>
                      <a:pt x="1392" y="1929"/>
                    </a:lnTo>
                    <a:lnTo>
                      <a:pt x="1483" y="1890"/>
                    </a:lnTo>
                    <a:lnTo>
                      <a:pt x="1562" y="1838"/>
                    </a:lnTo>
                    <a:lnTo>
                      <a:pt x="1641" y="1785"/>
                    </a:lnTo>
                    <a:lnTo>
                      <a:pt x="1719" y="1720"/>
                    </a:lnTo>
                    <a:lnTo>
                      <a:pt x="1785" y="1654"/>
                    </a:lnTo>
                    <a:lnTo>
                      <a:pt x="1838" y="1575"/>
                    </a:lnTo>
                    <a:lnTo>
                      <a:pt x="1890" y="1483"/>
                    </a:lnTo>
                    <a:lnTo>
                      <a:pt x="1929" y="1405"/>
                    </a:lnTo>
                    <a:lnTo>
                      <a:pt x="1969" y="1313"/>
                    </a:lnTo>
                    <a:lnTo>
                      <a:pt x="1995" y="1208"/>
                    </a:lnTo>
                    <a:lnTo>
                      <a:pt x="2008" y="1116"/>
                    </a:lnTo>
                    <a:lnTo>
                      <a:pt x="2008" y="1011"/>
                    </a:lnTo>
                    <a:lnTo>
                      <a:pt x="2008" y="906"/>
                    </a:lnTo>
                    <a:lnTo>
                      <a:pt x="1995" y="801"/>
                    </a:lnTo>
                    <a:lnTo>
                      <a:pt x="1969" y="709"/>
                    </a:lnTo>
                    <a:lnTo>
                      <a:pt x="1929" y="618"/>
                    </a:lnTo>
                    <a:lnTo>
                      <a:pt x="1890" y="526"/>
                    </a:lnTo>
                    <a:lnTo>
                      <a:pt x="1838" y="447"/>
                    </a:lnTo>
                    <a:lnTo>
                      <a:pt x="1785" y="368"/>
                    </a:lnTo>
                    <a:lnTo>
                      <a:pt x="1719" y="303"/>
                    </a:lnTo>
                    <a:lnTo>
                      <a:pt x="1641" y="237"/>
                    </a:lnTo>
                    <a:lnTo>
                      <a:pt x="1562" y="172"/>
                    </a:lnTo>
                    <a:lnTo>
                      <a:pt x="1483" y="119"/>
                    </a:lnTo>
                    <a:lnTo>
                      <a:pt x="1392" y="80"/>
                    </a:lnTo>
                    <a:lnTo>
                      <a:pt x="1300"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2359;p45">
                <a:extLst>
                  <a:ext uri="{FF2B5EF4-FFF2-40B4-BE49-F238E27FC236}">
                    <a16:creationId xmlns:a16="http://schemas.microsoft.com/office/drawing/2014/main" id="{9097E6B3-C1E3-A2C7-7503-BC6EF2B8AF47}"/>
                  </a:ext>
                </a:extLst>
              </p:cNvPr>
              <p:cNvSpPr/>
              <p:nvPr/>
            </p:nvSpPr>
            <p:spPr>
              <a:xfrm>
                <a:off x="3364085" y="2926928"/>
                <a:ext cx="28056" cy="28056"/>
              </a:xfrm>
              <a:custGeom>
                <a:avLst/>
                <a:gdLst/>
                <a:ahLst/>
                <a:cxnLst/>
                <a:rect l="l" t="t" r="r" b="b"/>
                <a:pathLst>
                  <a:path w="1563" h="1563" extrusionOk="0">
                    <a:moveTo>
                      <a:pt x="775" y="1"/>
                    </a:moveTo>
                    <a:lnTo>
                      <a:pt x="696" y="14"/>
                    </a:lnTo>
                    <a:lnTo>
                      <a:pt x="618" y="27"/>
                    </a:lnTo>
                    <a:lnTo>
                      <a:pt x="473" y="67"/>
                    </a:lnTo>
                    <a:lnTo>
                      <a:pt x="342" y="145"/>
                    </a:lnTo>
                    <a:lnTo>
                      <a:pt x="224" y="237"/>
                    </a:lnTo>
                    <a:lnTo>
                      <a:pt x="132" y="355"/>
                    </a:lnTo>
                    <a:lnTo>
                      <a:pt x="67" y="486"/>
                    </a:lnTo>
                    <a:lnTo>
                      <a:pt x="14" y="631"/>
                    </a:lnTo>
                    <a:lnTo>
                      <a:pt x="1" y="709"/>
                    </a:lnTo>
                    <a:lnTo>
                      <a:pt x="1" y="788"/>
                    </a:lnTo>
                    <a:lnTo>
                      <a:pt x="1" y="867"/>
                    </a:lnTo>
                    <a:lnTo>
                      <a:pt x="14" y="946"/>
                    </a:lnTo>
                    <a:lnTo>
                      <a:pt x="67" y="1090"/>
                    </a:lnTo>
                    <a:lnTo>
                      <a:pt x="132" y="1221"/>
                    </a:lnTo>
                    <a:lnTo>
                      <a:pt x="224" y="1339"/>
                    </a:lnTo>
                    <a:lnTo>
                      <a:pt x="342" y="1431"/>
                    </a:lnTo>
                    <a:lnTo>
                      <a:pt x="473" y="1510"/>
                    </a:lnTo>
                    <a:lnTo>
                      <a:pt x="618" y="1549"/>
                    </a:lnTo>
                    <a:lnTo>
                      <a:pt x="696" y="1562"/>
                    </a:lnTo>
                    <a:lnTo>
                      <a:pt x="854" y="1562"/>
                    </a:lnTo>
                    <a:lnTo>
                      <a:pt x="932" y="1549"/>
                    </a:lnTo>
                    <a:lnTo>
                      <a:pt x="1090" y="1510"/>
                    </a:lnTo>
                    <a:lnTo>
                      <a:pt x="1221" y="1431"/>
                    </a:lnTo>
                    <a:lnTo>
                      <a:pt x="1326" y="1339"/>
                    </a:lnTo>
                    <a:lnTo>
                      <a:pt x="1431" y="1221"/>
                    </a:lnTo>
                    <a:lnTo>
                      <a:pt x="1496" y="1090"/>
                    </a:lnTo>
                    <a:lnTo>
                      <a:pt x="1549" y="946"/>
                    </a:lnTo>
                    <a:lnTo>
                      <a:pt x="1562" y="867"/>
                    </a:lnTo>
                    <a:lnTo>
                      <a:pt x="1562" y="788"/>
                    </a:lnTo>
                    <a:lnTo>
                      <a:pt x="1562" y="709"/>
                    </a:lnTo>
                    <a:lnTo>
                      <a:pt x="1549" y="631"/>
                    </a:lnTo>
                    <a:lnTo>
                      <a:pt x="1496" y="486"/>
                    </a:lnTo>
                    <a:lnTo>
                      <a:pt x="1431" y="355"/>
                    </a:lnTo>
                    <a:lnTo>
                      <a:pt x="1326" y="237"/>
                    </a:lnTo>
                    <a:lnTo>
                      <a:pt x="1221" y="145"/>
                    </a:lnTo>
                    <a:lnTo>
                      <a:pt x="1090" y="67"/>
                    </a:lnTo>
                    <a:lnTo>
                      <a:pt x="932" y="27"/>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2360;p45">
                <a:extLst>
                  <a:ext uri="{FF2B5EF4-FFF2-40B4-BE49-F238E27FC236}">
                    <a16:creationId xmlns:a16="http://schemas.microsoft.com/office/drawing/2014/main" id="{98BAABDE-1EEA-F8D0-2BF6-E690035B7B01}"/>
                  </a:ext>
                </a:extLst>
              </p:cNvPr>
              <p:cNvSpPr/>
              <p:nvPr/>
            </p:nvSpPr>
            <p:spPr>
              <a:xfrm>
                <a:off x="3294386" y="2982267"/>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5"/>
                    </a:lnTo>
                    <a:lnTo>
                      <a:pt x="302" y="486"/>
                    </a:lnTo>
                    <a:lnTo>
                      <a:pt x="224" y="591"/>
                    </a:lnTo>
                    <a:lnTo>
                      <a:pt x="158" y="696"/>
                    </a:lnTo>
                    <a:lnTo>
                      <a:pt x="106" y="814"/>
                    </a:lnTo>
                    <a:lnTo>
                      <a:pt x="53" y="946"/>
                    </a:lnTo>
                    <a:lnTo>
                      <a:pt x="27" y="1077"/>
                    </a:lnTo>
                    <a:lnTo>
                      <a:pt x="1" y="1208"/>
                    </a:lnTo>
                    <a:lnTo>
                      <a:pt x="1" y="1339"/>
                    </a:lnTo>
                    <a:lnTo>
                      <a:pt x="1" y="1483"/>
                    </a:lnTo>
                    <a:lnTo>
                      <a:pt x="27" y="1615"/>
                    </a:lnTo>
                    <a:lnTo>
                      <a:pt x="53" y="1746"/>
                    </a:lnTo>
                    <a:lnTo>
                      <a:pt x="106" y="1864"/>
                    </a:lnTo>
                    <a:lnTo>
                      <a:pt x="158" y="1982"/>
                    </a:lnTo>
                    <a:lnTo>
                      <a:pt x="224" y="2100"/>
                    </a:lnTo>
                    <a:lnTo>
                      <a:pt x="302" y="2205"/>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205"/>
                    </a:lnTo>
                    <a:lnTo>
                      <a:pt x="5747" y="2100"/>
                    </a:lnTo>
                    <a:lnTo>
                      <a:pt x="5826" y="1982"/>
                    </a:lnTo>
                    <a:lnTo>
                      <a:pt x="5878" y="1864"/>
                    </a:lnTo>
                    <a:lnTo>
                      <a:pt x="5917" y="1746"/>
                    </a:lnTo>
                    <a:lnTo>
                      <a:pt x="5957" y="1615"/>
                    </a:lnTo>
                    <a:lnTo>
                      <a:pt x="5970" y="1483"/>
                    </a:lnTo>
                    <a:lnTo>
                      <a:pt x="5983" y="1339"/>
                    </a:lnTo>
                    <a:lnTo>
                      <a:pt x="5970" y="1208"/>
                    </a:lnTo>
                    <a:lnTo>
                      <a:pt x="5957" y="1077"/>
                    </a:lnTo>
                    <a:lnTo>
                      <a:pt x="5917" y="946"/>
                    </a:lnTo>
                    <a:lnTo>
                      <a:pt x="5878" y="814"/>
                    </a:lnTo>
                    <a:lnTo>
                      <a:pt x="5826" y="696"/>
                    </a:lnTo>
                    <a:lnTo>
                      <a:pt x="5747" y="591"/>
                    </a:lnTo>
                    <a:lnTo>
                      <a:pt x="5681" y="486"/>
                    </a:lnTo>
                    <a:lnTo>
                      <a:pt x="5589" y="395"/>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2361;p45">
                <a:extLst>
                  <a:ext uri="{FF2B5EF4-FFF2-40B4-BE49-F238E27FC236}">
                    <a16:creationId xmlns:a16="http://schemas.microsoft.com/office/drawing/2014/main" id="{F9A5A1E7-FB85-8064-E439-7FAC30FBF805}"/>
                  </a:ext>
                </a:extLst>
              </p:cNvPr>
              <p:cNvSpPr/>
              <p:nvPr/>
            </p:nvSpPr>
            <p:spPr>
              <a:xfrm>
                <a:off x="3300040" y="298840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33"/>
                    </a:lnTo>
                    <a:lnTo>
                      <a:pt x="119" y="525"/>
                    </a:lnTo>
                    <a:lnTo>
                      <a:pt x="79" y="604"/>
                    </a:lnTo>
                    <a:lnTo>
                      <a:pt x="40" y="708"/>
                    </a:lnTo>
                    <a:lnTo>
                      <a:pt x="14" y="800"/>
                    </a:lnTo>
                    <a:lnTo>
                      <a:pt x="1" y="892"/>
                    </a:lnTo>
                    <a:lnTo>
                      <a:pt x="1" y="997"/>
                    </a:lnTo>
                    <a:lnTo>
                      <a:pt x="1" y="1102"/>
                    </a:lnTo>
                    <a:lnTo>
                      <a:pt x="14" y="1207"/>
                    </a:lnTo>
                    <a:lnTo>
                      <a:pt x="40" y="1299"/>
                    </a:lnTo>
                    <a:lnTo>
                      <a:pt x="79" y="1391"/>
                    </a:lnTo>
                    <a:lnTo>
                      <a:pt x="119" y="1482"/>
                    </a:lnTo>
                    <a:lnTo>
                      <a:pt x="171" y="1561"/>
                    </a:lnTo>
                    <a:lnTo>
                      <a:pt x="224" y="1640"/>
                    </a:lnTo>
                    <a:lnTo>
                      <a:pt x="289" y="1719"/>
                    </a:lnTo>
                    <a:lnTo>
                      <a:pt x="368" y="1771"/>
                    </a:lnTo>
                    <a:lnTo>
                      <a:pt x="447" y="1837"/>
                    </a:lnTo>
                    <a:lnTo>
                      <a:pt x="525" y="1889"/>
                    </a:lnTo>
                    <a:lnTo>
                      <a:pt x="617" y="1929"/>
                    </a:lnTo>
                    <a:lnTo>
                      <a:pt x="709" y="1968"/>
                    </a:lnTo>
                    <a:lnTo>
                      <a:pt x="801" y="1981"/>
                    </a:lnTo>
                    <a:lnTo>
                      <a:pt x="906" y="2007"/>
                    </a:lnTo>
                    <a:lnTo>
                      <a:pt x="1103" y="2007"/>
                    </a:lnTo>
                    <a:lnTo>
                      <a:pt x="1208" y="1981"/>
                    </a:lnTo>
                    <a:lnTo>
                      <a:pt x="1299" y="1968"/>
                    </a:lnTo>
                    <a:lnTo>
                      <a:pt x="1391" y="1929"/>
                    </a:lnTo>
                    <a:lnTo>
                      <a:pt x="1483" y="1889"/>
                    </a:lnTo>
                    <a:lnTo>
                      <a:pt x="1562" y="1837"/>
                    </a:lnTo>
                    <a:lnTo>
                      <a:pt x="1640" y="1771"/>
                    </a:lnTo>
                    <a:lnTo>
                      <a:pt x="1719" y="1719"/>
                    </a:lnTo>
                    <a:lnTo>
                      <a:pt x="1785" y="1640"/>
                    </a:lnTo>
                    <a:lnTo>
                      <a:pt x="1837" y="1561"/>
                    </a:lnTo>
                    <a:lnTo>
                      <a:pt x="1890" y="1482"/>
                    </a:lnTo>
                    <a:lnTo>
                      <a:pt x="1929" y="1391"/>
                    </a:lnTo>
                    <a:lnTo>
                      <a:pt x="1968" y="1299"/>
                    </a:lnTo>
                    <a:lnTo>
                      <a:pt x="1995" y="1207"/>
                    </a:lnTo>
                    <a:lnTo>
                      <a:pt x="2008" y="1102"/>
                    </a:lnTo>
                    <a:lnTo>
                      <a:pt x="2008" y="997"/>
                    </a:lnTo>
                    <a:lnTo>
                      <a:pt x="2008" y="892"/>
                    </a:lnTo>
                    <a:lnTo>
                      <a:pt x="1995" y="800"/>
                    </a:lnTo>
                    <a:lnTo>
                      <a:pt x="1968" y="708"/>
                    </a:lnTo>
                    <a:lnTo>
                      <a:pt x="1929" y="604"/>
                    </a:lnTo>
                    <a:lnTo>
                      <a:pt x="1890" y="525"/>
                    </a:lnTo>
                    <a:lnTo>
                      <a:pt x="1837" y="433"/>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2362;p45">
                <a:extLst>
                  <a:ext uri="{FF2B5EF4-FFF2-40B4-BE49-F238E27FC236}">
                    <a16:creationId xmlns:a16="http://schemas.microsoft.com/office/drawing/2014/main" id="{F2D19AA5-8A8A-CF40-9EE9-CA927B6EE6EF}"/>
                  </a:ext>
                </a:extLst>
              </p:cNvPr>
              <p:cNvSpPr/>
              <p:nvPr/>
            </p:nvSpPr>
            <p:spPr>
              <a:xfrm>
                <a:off x="3304043" y="299240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17"/>
                    </a:lnTo>
                    <a:lnTo>
                      <a:pt x="1" y="695"/>
                    </a:lnTo>
                    <a:lnTo>
                      <a:pt x="1" y="774"/>
                    </a:lnTo>
                    <a:lnTo>
                      <a:pt x="1" y="853"/>
                    </a:lnTo>
                    <a:lnTo>
                      <a:pt x="14" y="932"/>
                    </a:lnTo>
                    <a:lnTo>
                      <a:pt x="66" y="1076"/>
                    </a:lnTo>
                    <a:lnTo>
                      <a:pt x="132" y="1220"/>
                    </a:lnTo>
                    <a:lnTo>
                      <a:pt x="224" y="1325"/>
                    </a:lnTo>
                    <a:lnTo>
                      <a:pt x="342" y="1430"/>
                    </a:lnTo>
                    <a:lnTo>
                      <a:pt x="473" y="1496"/>
                    </a:lnTo>
                    <a:lnTo>
                      <a:pt x="617" y="1548"/>
                    </a:lnTo>
                    <a:lnTo>
                      <a:pt x="696" y="1548"/>
                    </a:lnTo>
                    <a:lnTo>
                      <a:pt x="775" y="1561"/>
                    </a:lnTo>
                    <a:lnTo>
                      <a:pt x="866" y="1548"/>
                    </a:lnTo>
                    <a:lnTo>
                      <a:pt x="932" y="1548"/>
                    </a:lnTo>
                    <a:lnTo>
                      <a:pt x="1089" y="1496"/>
                    </a:lnTo>
                    <a:lnTo>
                      <a:pt x="1221" y="1430"/>
                    </a:lnTo>
                    <a:lnTo>
                      <a:pt x="1326" y="1325"/>
                    </a:lnTo>
                    <a:lnTo>
                      <a:pt x="1431" y="1220"/>
                    </a:lnTo>
                    <a:lnTo>
                      <a:pt x="1496" y="1076"/>
                    </a:lnTo>
                    <a:lnTo>
                      <a:pt x="1549" y="932"/>
                    </a:lnTo>
                    <a:lnTo>
                      <a:pt x="1562" y="853"/>
                    </a:lnTo>
                    <a:lnTo>
                      <a:pt x="1562" y="774"/>
                    </a:lnTo>
                    <a:lnTo>
                      <a:pt x="1562" y="695"/>
                    </a:lnTo>
                    <a:lnTo>
                      <a:pt x="1549" y="617"/>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2363;p45">
                <a:extLst>
                  <a:ext uri="{FF2B5EF4-FFF2-40B4-BE49-F238E27FC236}">
                    <a16:creationId xmlns:a16="http://schemas.microsoft.com/office/drawing/2014/main" id="{B877A833-6C03-2977-C713-D440BB675D00}"/>
                  </a:ext>
                </a:extLst>
              </p:cNvPr>
              <p:cNvSpPr/>
              <p:nvPr/>
            </p:nvSpPr>
            <p:spPr>
              <a:xfrm>
                <a:off x="3294386" y="3047264"/>
                <a:ext cx="107395" cy="48303"/>
              </a:xfrm>
              <a:custGeom>
                <a:avLst/>
                <a:gdLst/>
                <a:ahLst/>
                <a:cxnLst/>
                <a:rect l="l" t="t" r="r" b="b"/>
                <a:pathLst>
                  <a:path w="5983" h="2691" extrusionOk="0">
                    <a:moveTo>
                      <a:pt x="1339" y="1"/>
                    </a:moveTo>
                    <a:lnTo>
                      <a:pt x="1208" y="14"/>
                    </a:lnTo>
                    <a:lnTo>
                      <a:pt x="1076" y="27"/>
                    </a:lnTo>
                    <a:lnTo>
                      <a:pt x="945" y="66"/>
                    </a:lnTo>
                    <a:lnTo>
                      <a:pt x="827" y="106"/>
                    </a:lnTo>
                    <a:lnTo>
                      <a:pt x="709" y="158"/>
                    </a:lnTo>
                    <a:lnTo>
                      <a:pt x="591" y="237"/>
                    </a:lnTo>
                    <a:lnTo>
                      <a:pt x="486" y="316"/>
                    </a:lnTo>
                    <a:lnTo>
                      <a:pt x="394" y="394"/>
                    </a:lnTo>
                    <a:lnTo>
                      <a:pt x="302" y="486"/>
                    </a:lnTo>
                    <a:lnTo>
                      <a:pt x="224" y="591"/>
                    </a:lnTo>
                    <a:lnTo>
                      <a:pt x="158" y="709"/>
                    </a:lnTo>
                    <a:lnTo>
                      <a:pt x="106" y="827"/>
                    </a:lnTo>
                    <a:lnTo>
                      <a:pt x="53" y="945"/>
                    </a:lnTo>
                    <a:lnTo>
                      <a:pt x="27" y="1077"/>
                    </a:lnTo>
                    <a:lnTo>
                      <a:pt x="1" y="1208"/>
                    </a:lnTo>
                    <a:lnTo>
                      <a:pt x="1" y="1352"/>
                    </a:lnTo>
                    <a:lnTo>
                      <a:pt x="1" y="1483"/>
                    </a:lnTo>
                    <a:lnTo>
                      <a:pt x="27" y="1614"/>
                    </a:lnTo>
                    <a:lnTo>
                      <a:pt x="53" y="1746"/>
                    </a:lnTo>
                    <a:lnTo>
                      <a:pt x="106" y="1877"/>
                    </a:lnTo>
                    <a:lnTo>
                      <a:pt x="158" y="1995"/>
                    </a:lnTo>
                    <a:lnTo>
                      <a:pt x="224" y="2100"/>
                    </a:lnTo>
                    <a:lnTo>
                      <a:pt x="302" y="2205"/>
                    </a:lnTo>
                    <a:lnTo>
                      <a:pt x="394" y="2297"/>
                    </a:lnTo>
                    <a:lnTo>
                      <a:pt x="486" y="2388"/>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8"/>
                    </a:lnTo>
                    <a:lnTo>
                      <a:pt x="5589" y="2297"/>
                    </a:lnTo>
                    <a:lnTo>
                      <a:pt x="5681" y="2205"/>
                    </a:lnTo>
                    <a:lnTo>
                      <a:pt x="5747" y="2100"/>
                    </a:lnTo>
                    <a:lnTo>
                      <a:pt x="5826" y="1995"/>
                    </a:lnTo>
                    <a:lnTo>
                      <a:pt x="5878" y="1877"/>
                    </a:lnTo>
                    <a:lnTo>
                      <a:pt x="5917" y="1746"/>
                    </a:lnTo>
                    <a:lnTo>
                      <a:pt x="5957" y="1614"/>
                    </a:lnTo>
                    <a:lnTo>
                      <a:pt x="5970" y="1483"/>
                    </a:lnTo>
                    <a:lnTo>
                      <a:pt x="5983" y="1352"/>
                    </a:lnTo>
                    <a:lnTo>
                      <a:pt x="5970" y="1208"/>
                    </a:lnTo>
                    <a:lnTo>
                      <a:pt x="5957" y="1077"/>
                    </a:lnTo>
                    <a:lnTo>
                      <a:pt x="5917" y="945"/>
                    </a:lnTo>
                    <a:lnTo>
                      <a:pt x="5878" y="827"/>
                    </a:lnTo>
                    <a:lnTo>
                      <a:pt x="5826" y="709"/>
                    </a:lnTo>
                    <a:lnTo>
                      <a:pt x="5747" y="591"/>
                    </a:lnTo>
                    <a:lnTo>
                      <a:pt x="5681" y="486"/>
                    </a:lnTo>
                    <a:lnTo>
                      <a:pt x="5589" y="394"/>
                    </a:lnTo>
                    <a:lnTo>
                      <a:pt x="5498" y="316"/>
                    </a:lnTo>
                    <a:lnTo>
                      <a:pt x="5393" y="237"/>
                    </a:lnTo>
                    <a:lnTo>
                      <a:pt x="5275" y="158"/>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2364;p45">
                <a:extLst>
                  <a:ext uri="{FF2B5EF4-FFF2-40B4-BE49-F238E27FC236}">
                    <a16:creationId xmlns:a16="http://schemas.microsoft.com/office/drawing/2014/main" id="{804D1488-693D-49F8-348C-7524489FD650}"/>
                  </a:ext>
                </a:extLst>
              </p:cNvPr>
              <p:cNvSpPr/>
              <p:nvPr/>
            </p:nvSpPr>
            <p:spPr>
              <a:xfrm>
                <a:off x="3360083" y="3053385"/>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90"/>
                    </a:lnTo>
                    <a:lnTo>
                      <a:pt x="224" y="368"/>
                    </a:lnTo>
                    <a:lnTo>
                      <a:pt x="171" y="447"/>
                    </a:lnTo>
                    <a:lnTo>
                      <a:pt x="119" y="526"/>
                    </a:lnTo>
                    <a:lnTo>
                      <a:pt x="80" y="617"/>
                    </a:lnTo>
                    <a:lnTo>
                      <a:pt x="40" y="709"/>
                    </a:lnTo>
                    <a:lnTo>
                      <a:pt x="14" y="801"/>
                    </a:lnTo>
                    <a:lnTo>
                      <a:pt x="1" y="906"/>
                    </a:lnTo>
                    <a:lnTo>
                      <a:pt x="1" y="1011"/>
                    </a:lnTo>
                    <a:lnTo>
                      <a:pt x="1" y="1103"/>
                    </a:lnTo>
                    <a:lnTo>
                      <a:pt x="14" y="1208"/>
                    </a:lnTo>
                    <a:lnTo>
                      <a:pt x="40" y="1300"/>
                    </a:lnTo>
                    <a:lnTo>
                      <a:pt x="80" y="1392"/>
                    </a:lnTo>
                    <a:lnTo>
                      <a:pt x="119" y="1483"/>
                    </a:lnTo>
                    <a:lnTo>
                      <a:pt x="171" y="1575"/>
                    </a:lnTo>
                    <a:lnTo>
                      <a:pt x="224" y="1641"/>
                    </a:lnTo>
                    <a:lnTo>
                      <a:pt x="290" y="1719"/>
                    </a:lnTo>
                    <a:lnTo>
                      <a:pt x="368" y="1785"/>
                    </a:lnTo>
                    <a:lnTo>
                      <a:pt x="447" y="1838"/>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8"/>
                    </a:lnTo>
                    <a:lnTo>
                      <a:pt x="1641" y="1785"/>
                    </a:lnTo>
                    <a:lnTo>
                      <a:pt x="1719" y="1719"/>
                    </a:lnTo>
                    <a:lnTo>
                      <a:pt x="1785" y="1641"/>
                    </a:lnTo>
                    <a:lnTo>
                      <a:pt x="1838" y="1575"/>
                    </a:lnTo>
                    <a:lnTo>
                      <a:pt x="1890" y="1483"/>
                    </a:lnTo>
                    <a:lnTo>
                      <a:pt x="1929" y="1392"/>
                    </a:lnTo>
                    <a:lnTo>
                      <a:pt x="1969" y="1300"/>
                    </a:lnTo>
                    <a:lnTo>
                      <a:pt x="1995" y="1208"/>
                    </a:lnTo>
                    <a:lnTo>
                      <a:pt x="2008" y="1103"/>
                    </a:lnTo>
                    <a:lnTo>
                      <a:pt x="2008" y="1011"/>
                    </a:lnTo>
                    <a:lnTo>
                      <a:pt x="2008" y="906"/>
                    </a:lnTo>
                    <a:lnTo>
                      <a:pt x="1995" y="801"/>
                    </a:lnTo>
                    <a:lnTo>
                      <a:pt x="1969" y="709"/>
                    </a:lnTo>
                    <a:lnTo>
                      <a:pt x="1929" y="617"/>
                    </a:lnTo>
                    <a:lnTo>
                      <a:pt x="1890" y="526"/>
                    </a:lnTo>
                    <a:lnTo>
                      <a:pt x="1838" y="447"/>
                    </a:lnTo>
                    <a:lnTo>
                      <a:pt x="1785" y="368"/>
                    </a:lnTo>
                    <a:lnTo>
                      <a:pt x="1719" y="290"/>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2365;p45">
                <a:extLst>
                  <a:ext uri="{FF2B5EF4-FFF2-40B4-BE49-F238E27FC236}">
                    <a16:creationId xmlns:a16="http://schemas.microsoft.com/office/drawing/2014/main" id="{4C3913C7-5DF9-3062-D4B5-C6029AF3653A}"/>
                  </a:ext>
                </a:extLst>
              </p:cNvPr>
              <p:cNvSpPr/>
              <p:nvPr/>
            </p:nvSpPr>
            <p:spPr>
              <a:xfrm>
                <a:off x="3364085" y="3057388"/>
                <a:ext cx="28056" cy="28056"/>
              </a:xfrm>
              <a:custGeom>
                <a:avLst/>
                <a:gdLst/>
                <a:ahLst/>
                <a:cxnLst/>
                <a:rect l="l" t="t" r="r" b="b"/>
                <a:pathLst>
                  <a:path w="1563" h="1563" extrusionOk="0">
                    <a:moveTo>
                      <a:pt x="775" y="1"/>
                    </a:moveTo>
                    <a:lnTo>
                      <a:pt x="696" y="14"/>
                    </a:lnTo>
                    <a:lnTo>
                      <a:pt x="618" y="14"/>
                    </a:lnTo>
                    <a:lnTo>
                      <a:pt x="473" y="67"/>
                    </a:lnTo>
                    <a:lnTo>
                      <a:pt x="342" y="132"/>
                    </a:lnTo>
                    <a:lnTo>
                      <a:pt x="224" y="237"/>
                    </a:lnTo>
                    <a:lnTo>
                      <a:pt x="132" y="342"/>
                    </a:lnTo>
                    <a:lnTo>
                      <a:pt x="67" y="486"/>
                    </a:lnTo>
                    <a:lnTo>
                      <a:pt x="14" y="631"/>
                    </a:lnTo>
                    <a:lnTo>
                      <a:pt x="1" y="709"/>
                    </a:lnTo>
                    <a:lnTo>
                      <a:pt x="1" y="788"/>
                    </a:lnTo>
                    <a:lnTo>
                      <a:pt x="1" y="867"/>
                    </a:lnTo>
                    <a:lnTo>
                      <a:pt x="14" y="945"/>
                    </a:lnTo>
                    <a:lnTo>
                      <a:pt x="67" y="1090"/>
                    </a:lnTo>
                    <a:lnTo>
                      <a:pt x="132" y="1221"/>
                    </a:lnTo>
                    <a:lnTo>
                      <a:pt x="224" y="1339"/>
                    </a:lnTo>
                    <a:lnTo>
                      <a:pt x="342" y="1431"/>
                    </a:lnTo>
                    <a:lnTo>
                      <a:pt x="473" y="1496"/>
                    </a:lnTo>
                    <a:lnTo>
                      <a:pt x="618" y="1549"/>
                    </a:lnTo>
                    <a:lnTo>
                      <a:pt x="696" y="1562"/>
                    </a:lnTo>
                    <a:lnTo>
                      <a:pt x="854" y="1562"/>
                    </a:lnTo>
                    <a:lnTo>
                      <a:pt x="932" y="1549"/>
                    </a:lnTo>
                    <a:lnTo>
                      <a:pt x="1090" y="1496"/>
                    </a:lnTo>
                    <a:lnTo>
                      <a:pt x="1221" y="1431"/>
                    </a:lnTo>
                    <a:lnTo>
                      <a:pt x="1326" y="1339"/>
                    </a:lnTo>
                    <a:lnTo>
                      <a:pt x="1431" y="1221"/>
                    </a:lnTo>
                    <a:lnTo>
                      <a:pt x="1496" y="1090"/>
                    </a:lnTo>
                    <a:lnTo>
                      <a:pt x="1549" y="945"/>
                    </a:lnTo>
                    <a:lnTo>
                      <a:pt x="1562" y="867"/>
                    </a:lnTo>
                    <a:lnTo>
                      <a:pt x="1562" y="788"/>
                    </a:lnTo>
                    <a:lnTo>
                      <a:pt x="1562" y="709"/>
                    </a:lnTo>
                    <a:lnTo>
                      <a:pt x="1549" y="631"/>
                    </a:lnTo>
                    <a:lnTo>
                      <a:pt x="1496" y="486"/>
                    </a:lnTo>
                    <a:lnTo>
                      <a:pt x="1431" y="342"/>
                    </a:lnTo>
                    <a:lnTo>
                      <a:pt x="1326" y="237"/>
                    </a:lnTo>
                    <a:lnTo>
                      <a:pt x="1221" y="132"/>
                    </a:lnTo>
                    <a:lnTo>
                      <a:pt x="1090" y="67"/>
                    </a:lnTo>
                    <a:lnTo>
                      <a:pt x="932" y="14"/>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2366;p45">
                <a:extLst>
                  <a:ext uri="{FF2B5EF4-FFF2-40B4-BE49-F238E27FC236}">
                    <a16:creationId xmlns:a16="http://schemas.microsoft.com/office/drawing/2014/main" id="{18AEF967-634F-6639-D5B8-2EF91E5F21F0}"/>
                  </a:ext>
                </a:extLst>
              </p:cNvPr>
              <p:cNvSpPr/>
              <p:nvPr/>
            </p:nvSpPr>
            <p:spPr>
              <a:xfrm>
                <a:off x="3294386" y="3112728"/>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4"/>
                    </a:lnTo>
                    <a:lnTo>
                      <a:pt x="302" y="486"/>
                    </a:lnTo>
                    <a:lnTo>
                      <a:pt x="224" y="591"/>
                    </a:lnTo>
                    <a:lnTo>
                      <a:pt x="158" y="696"/>
                    </a:lnTo>
                    <a:lnTo>
                      <a:pt x="106" y="814"/>
                    </a:lnTo>
                    <a:lnTo>
                      <a:pt x="53" y="945"/>
                    </a:lnTo>
                    <a:lnTo>
                      <a:pt x="27" y="1064"/>
                    </a:lnTo>
                    <a:lnTo>
                      <a:pt x="1" y="1208"/>
                    </a:lnTo>
                    <a:lnTo>
                      <a:pt x="1" y="1339"/>
                    </a:lnTo>
                    <a:lnTo>
                      <a:pt x="1" y="1483"/>
                    </a:lnTo>
                    <a:lnTo>
                      <a:pt x="27" y="1615"/>
                    </a:lnTo>
                    <a:lnTo>
                      <a:pt x="53" y="1746"/>
                    </a:lnTo>
                    <a:lnTo>
                      <a:pt x="106" y="1864"/>
                    </a:lnTo>
                    <a:lnTo>
                      <a:pt x="158" y="1982"/>
                    </a:lnTo>
                    <a:lnTo>
                      <a:pt x="224" y="2087"/>
                    </a:lnTo>
                    <a:lnTo>
                      <a:pt x="302" y="2192"/>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192"/>
                    </a:lnTo>
                    <a:lnTo>
                      <a:pt x="5747" y="2087"/>
                    </a:lnTo>
                    <a:lnTo>
                      <a:pt x="5826" y="1982"/>
                    </a:lnTo>
                    <a:lnTo>
                      <a:pt x="5878" y="1864"/>
                    </a:lnTo>
                    <a:lnTo>
                      <a:pt x="5917" y="1746"/>
                    </a:lnTo>
                    <a:lnTo>
                      <a:pt x="5957" y="1615"/>
                    </a:lnTo>
                    <a:lnTo>
                      <a:pt x="5970" y="1483"/>
                    </a:lnTo>
                    <a:lnTo>
                      <a:pt x="5983" y="1339"/>
                    </a:lnTo>
                    <a:lnTo>
                      <a:pt x="5970" y="1208"/>
                    </a:lnTo>
                    <a:lnTo>
                      <a:pt x="5957" y="1064"/>
                    </a:lnTo>
                    <a:lnTo>
                      <a:pt x="5917" y="945"/>
                    </a:lnTo>
                    <a:lnTo>
                      <a:pt x="5878" y="814"/>
                    </a:lnTo>
                    <a:lnTo>
                      <a:pt x="5826" y="696"/>
                    </a:lnTo>
                    <a:lnTo>
                      <a:pt x="5747" y="591"/>
                    </a:lnTo>
                    <a:lnTo>
                      <a:pt x="5681" y="486"/>
                    </a:lnTo>
                    <a:lnTo>
                      <a:pt x="5589" y="394"/>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2367;p45">
                <a:extLst>
                  <a:ext uri="{FF2B5EF4-FFF2-40B4-BE49-F238E27FC236}">
                    <a16:creationId xmlns:a16="http://schemas.microsoft.com/office/drawing/2014/main" id="{5C5CB3FC-5B5A-EA02-D62A-E6319A2F18B4}"/>
                  </a:ext>
                </a:extLst>
              </p:cNvPr>
              <p:cNvSpPr/>
              <p:nvPr/>
            </p:nvSpPr>
            <p:spPr>
              <a:xfrm>
                <a:off x="3300040" y="3118616"/>
                <a:ext cx="36044" cy="36295"/>
              </a:xfrm>
              <a:custGeom>
                <a:avLst/>
                <a:gdLst/>
                <a:ahLst/>
                <a:cxnLst/>
                <a:rect l="l" t="t" r="r" b="b"/>
                <a:pathLst>
                  <a:path w="2008" h="2022" extrusionOk="0">
                    <a:moveTo>
                      <a:pt x="998" y="1"/>
                    </a:moveTo>
                    <a:lnTo>
                      <a:pt x="906" y="14"/>
                    </a:lnTo>
                    <a:lnTo>
                      <a:pt x="801" y="27"/>
                    </a:lnTo>
                    <a:lnTo>
                      <a:pt x="709" y="53"/>
                    </a:lnTo>
                    <a:lnTo>
                      <a:pt x="617" y="80"/>
                    </a:lnTo>
                    <a:lnTo>
                      <a:pt x="525" y="132"/>
                    </a:lnTo>
                    <a:lnTo>
                      <a:pt x="447" y="185"/>
                    </a:lnTo>
                    <a:lnTo>
                      <a:pt x="368" y="237"/>
                    </a:lnTo>
                    <a:lnTo>
                      <a:pt x="289" y="303"/>
                    </a:lnTo>
                    <a:lnTo>
                      <a:pt x="224" y="368"/>
                    </a:lnTo>
                    <a:lnTo>
                      <a:pt x="171" y="447"/>
                    </a:lnTo>
                    <a:lnTo>
                      <a:pt x="119" y="539"/>
                    </a:lnTo>
                    <a:lnTo>
                      <a:pt x="79" y="617"/>
                    </a:lnTo>
                    <a:lnTo>
                      <a:pt x="40" y="709"/>
                    </a:lnTo>
                    <a:lnTo>
                      <a:pt x="14" y="814"/>
                    </a:lnTo>
                    <a:lnTo>
                      <a:pt x="1" y="906"/>
                    </a:lnTo>
                    <a:lnTo>
                      <a:pt x="1" y="1011"/>
                    </a:lnTo>
                    <a:lnTo>
                      <a:pt x="1" y="1116"/>
                    </a:lnTo>
                    <a:lnTo>
                      <a:pt x="14" y="1221"/>
                    </a:lnTo>
                    <a:lnTo>
                      <a:pt x="40" y="1313"/>
                    </a:lnTo>
                    <a:lnTo>
                      <a:pt x="79" y="1405"/>
                    </a:lnTo>
                    <a:lnTo>
                      <a:pt x="119" y="1496"/>
                    </a:lnTo>
                    <a:lnTo>
                      <a:pt x="171" y="1575"/>
                    </a:lnTo>
                    <a:lnTo>
                      <a:pt x="224" y="1654"/>
                    </a:lnTo>
                    <a:lnTo>
                      <a:pt x="289" y="1719"/>
                    </a:lnTo>
                    <a:lnTo>
                      <a:pt x="368" y="1785"/>
                    </a:lnTo>
                    <a:lnTo>
                      <a:pt x="447" y="1851"/>
                    </a:lnTo>
                    <a:lnTo>
                      <a:pt x="525" y="1903"/>
                    </a:lnTo>
                    <a:lnTo>
                      <a:pt x="617" y="1942"/>
                    </a:lnTo>
                    <a:lnTo>
                      <a:pt x="709" y="1969"/>
                    </a:lnTo>
                    <a:lnTo>
                      <a:pt x="801" y="1995"/>
                    </a:lnTo>
                    <a:lnTo>
                      <a:pt x="906" y="2008"/>
                    </a:lnTo>
                    <a:lnTo>
                      <a:pt x="998" y="2021"/>
                    </a:lnTo>
                    <a:lnTo>
                      <a:pt x="1103" y="2008"/>
                    </a:lnTo>
                    <a:lnTo>
                      <a:pt x="1208" y="1995"/>
                    </a:lnTo>
                    <a:lnTo>
                      <a:pt x="1299" y="1969"/>
                    </a:lnTo>
                    <a:lnTo>
                      <a:pt x="1391" y="1942"/>
                    </a:lnTo>
                    <a:lnTo>
                      <a:pt x="1483" y="1903"/>
                    </a:lnTo>
                    <a:lnTo>
                      <a:pt x="1562" y="1851"/>
                    </a:lnTo>
                    <a:lnTo>
                      <a:pt x="1640" y="1785"/>
                    </a:lnTo>
                    <a:lnTo>
                      <a:pt x="1719" y="1719"/>
                    </a:lnTo>
                    <a:lnTo>
                      <a:pt x="1785" y="1654"/>
                    </a:lnTo>
                    <a:lnTo>
                      <a:pt x="1837" y="1575"/>
                    </a:lnTo>
                    <a:lnTo>
                      <a:pt x="1890" y="1496"/>
                    </a:lnTo>
                    <a:lnTo>
                      <a:pt x="1929" y="1405"/>
                    </a:lnTo>
                    <a:lnTo>
                      <a:pt x="1968" y="1313"/>
                    </a:lnTo>
                    <a:lnTo>
                      <a:pt x="1995" y="1221"/>
                    </a:lnTo>
                    <a:lnTo>
                      <a:pt x="2008" y="1116"/>
                    </a:lnTo>
                    <a:lnTo>
                      <a:pt x="2008" y="1011"/>
                    </a:lnTo>
                    <a:lnTo>
                      <a:pt x="2008" y="906"/>
                    </a:lnTo>
                    <a:lnTo>
                      <a:pt x="1995" y="814"/>
                    </a:lnTo>
                    <a:lnTo>
                      <a:pt x="1968" y="709"/>
                    </a:lnTo>
                    <a:lnTo>
                      <a:pt x="1929" y="617"/>
                    </a:lnTo>
                    <a:lnTo>
                      <a:pt x="1890" y="539"/>
                    </a:lnTo>
                    <a:lnTo>
                      <a:pt x="1837" y="447"/>
                    </a:lnTo>
                    <a:lnTo>
                      <a:pt x="1785" y="368"/>
                    </a:lnTo>
                    <a:lnTo>
                      <a:pt x="1719" y="303"/>
                    </a:lnTo>
                    <a:lnTo>
                      <a:pt x="1640" y="237"/>
                    </a:lnTo>
                    <a:lnTo>
                      <a:pt x="1562" y="185"/>
                    </a:lnTo>
                    <a:lnTo>
                      <a:pt x="1483" y="132"/>
                    </a:lnTo>
                    <a:lnTo>
                      <a:pt x="1391" y="80"/>
                    </a:lnTo>
                    <a:lnTo>
                      <a:pt x="1299"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2368;p45">
                <a:extLst>
                  <a:ext uri="{FF2B5EF4-FFF2-40B4-BE49-F238E27FC236}">
                    <a16:creationId xmlns:a16="http://schemas.microsoft.com/office/drawing/2014/main" id="{F7C9F995-B463-5C20-0E67-C891D2389397}"/>
                  </a:ext>
                </a:extLst>
              </p:cNvPr>
              <p:cNvSpPr/>
              <p:nvPr/>
            </p:nvSpPr>
            <p:spPr>
              <a:xfrm>
                <a:off x="3304043" y="3122870"/>
                <a:ext cx="28038" cy="28038"/>
              </a:xfrm>
              <a:custGeom>
                <a:avLst/>
                <a:gdLst/>
                <a:ahLst/>
                <a:cxnLst/>
                <a:rect l="l" t="t" r="r" b="b"/>
                <a:pathLst>
                  <a:path w="1562" h="1562" extrusionOk="0">
                    <a:moveTo>
                      <a:pt x="696" y="0"/>
                    </a:moveTo>
                    <a:lnTo>
                      <a:pt x="617" y="13"/>
                    </a:lnTo>
                    <a:lnTo>
                      <a:pt x="473" y="52"/>
                    </a:lnTo>
                    <a:lnTo>
                      <a:pt x="342" y="131"/>
                    </a:lnTo>
                    <a:lnTo>
                      <a:pt x="224" y="223"/>
                    </a:lnTo>
                    <a:lnTo>
                      <a:pt x="132" y="341"/>
                    </a:lnTo>
                    <a:lnTo>
                      <a:pt x="66" y="472"/>
                    </a:lnTo>
                    <a:lnTo>
                      <a:pt x="14" y="617"/>
                    </a:lnTo>
                    <a:lnTo>
                      <a:pt x="1" y="695"/>
                    </a:lnTo>
                    <a:lnTo>
                      <a:pt x="1" y="774"/>
                    </a:lnTo>
                    <a:lnTo>
                      <a:pt x="1" y="853"/>
                    </a:lnTo>
                    <a:lnTo>
                      <a:pt x="14" y="931"/>
                    </a:lnTo>
                    <a:lnTo>
                      <a:pt x="66" y="1076"/>
                    </a:lnTo>
                    <a:lnTo>
                      <a:pt x="132" y="1207"/>
                    </a:lnTo>
                    <a:lnTo>
                      <a:pt x="224" y="1325"/>
                    </a:lnTo>
                    <a:lnTo>
                      <a:pt x="342" y="1417"/>
                    </a:lnTo>
                    <a:lnTo>
                      <a:pt x="473" y="1496"/>
                    </a:lnTo>
                    <a:lnTo>
                      <a:pt x="617" y="1535"/>
                    </a:lnTo>
                    <a:lnTo>
                      <a:pt x="696" y="1548"/>
                    </a:lnTo>
                    <a:lnTo>
                      <a:pt x="775" y="1561"/>
                    </a:lnTo>
                    <a:lnTo>
                      <a:pt x="866" y="1548"/>
                    </a:lnTo>
                    <a:lnTo>
                      <a:pt x="932" y="1535"/>
                    </a:lnTo>
                    <a:lnTo>
                      <a:pt x="1089" y="1496"/>
                    </a:lnTo>
                    <a:lnTo>
                      <a:pt x="1221" y="1417"/>
                    </a:lnTo>
                    <a:lnTo>
                      <a:pt x="1326" y="1325"/>
                    </a:lnTo>
                    <a:lnTo>
                      <a:pt x="1431" y="1207"/>
                    </a:lnTo>
                    <a:lnTo>
                      <a:pt x="1496" y="1076"/>
                    </a:lnTo>
                    <a:lnTo>
                      <a:pt x="1549" y="931"/>
                    </a:lnTo>
                    <a:lnTo>
                      <a:pt x="1562" y="853"/>
                    </a:lnTo>
                    <a:lnTo>
                      <a:pt x="1562" y="774"/>
                    </a:lnTo>
                    <a:lnTo>
                      <a:pt x="1562" y="695"/>
                    </a:lnTo>
                    <a:lnTo>
                      <a:pt x="1549" y="617"/>
                    </a:lnTo>
                    <a:lnTo>
                      <a:pt x="1496" y="472"/>
                    </a:lnTo>
                    <a:lnTo>
                      <a:pt x="1431" y="341"/>
                    </a:lnTo>
                    <a:lnTo>
                      <a:pt x="1326" y="223"/>
                    </a:lnTo>
                    <a:lnTo>
                      <a:pt x="1221" y="131"/>
                    </a:lnTo>
                    <a:lnTo>
                      <a:pt x="1089" y="52"/>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2369;p45">
                <a:extLst>
                  <a:ext uri="{FF2B5EF4-FFF2-40B4-BE49-F238E27FC236}">
                    <a16:creationId xmlns:a16="http://schemas.microsoft.com/office/drawing/2014/main" id="{3ACFB5C3-47D3-6200-B5D8-1D29C2AA250C}"/>
                  </a:ext>
                </a:extLst>
              </p:cNvPr>
              <p:cNvSpPr/>
              <p:nvPr/>
            </p:nvSpPr>
            <p:spPr>
              <a:xfrm>
                <a:off x="3294386" y="3177725"/>
                <a:ext cx="107395" cy="48303"/>
              </a:xfrm>
              <a:custGeom>
                <a:avLst/>
                <a:gdLst/>
                <a:ahLst/>
                <a:cxnLst/>
                <a:rect l="l" t="t" r="r" b="b"/>
                <a:pathLst>
                  <a:path w="5983" h="2691" extrusionOk="0">
                    <a:moveTo>
                      <a:pt x="1208" y="1"/>
                    </a:moveTo>
                    <a:lnTo>
                      <a:pt x="1076" y="27"/>
                    </a:lnTo>
                    <a:lnTo>
                      <a:pt x="945" y="66"/>
                    </a:lnTo>
                    <a:lnTo>
                      <a:pt x="827" y="106"/>
                    </a:lnTo>
                    <a:lnTo>
                      <a:pt x="709" y="158"/>
                    </a:lnTo>
                    <a:lnTo>
                      <a:pt x="591" y="224"/>
                    </a:lnTo>
                    <a:lnTo>
                      <a:pt x="486" y="302"/>
                    </a:lnTo>
                    <a:lnTo>
                      <a:pt x="394" y="394"/>
                    </a:lnTo>
                    <a:lnTo>
                      <a:pt x="302" y="486"/>
                    </a:lnTo>
                    <a:lnTo>
                      <a:pt x="224" y="591"/>
                    </a:lnTo>
                    <a:lnTo>
                      <a:pt x="158" y="709"/>
                    </a:lnTo>
                    <a:lnTo>
                      <a:pt x="106" y="827"/>
                    </a:lnTo>
                    <a:lnTo>
                      <a:pt x="53" y="945"/>
                    </a:lnTo>
                    <a:lnTo>
                      <a:pt x="27" y="1076"/>
                    </a:lnTo>
                    <a:lnTo>
                      <a:pt x="1" y="1208"/>
                    </a:lnTo>
                    <a:lnTo>
                      <a:pt x="1" y="1339"/>
                    </a:lnTo>
                    <a:lnTo>
                      <a:pt x="1" y="1483"/>
                    </a:lnTo>
                    <a:lnTo>
                      <a:pt x="27" y="1614"/>
                    </a:lnTo>
                    <a:lnTo>
                      <a:pt x="53" y="1746"/>
                    </a:lnTo>
                    <a:lnTo>
                      <a:pt x="106" y="1864"/>
                    </a:lnTo>
                    <a:lnTo>
                      <a:pt x="158" y="1982"/>
                    </a:lnTo>
                    <a:lnTo>
                      <a:pt x="224" y="2100"/>
                    </a:lnTo>
                    <a:lnTo>
                      <a:pt x="302" y="2205"/>
                    </a:lnTo>
                    <a:lnTo>
                      <a:pt x="394" y="2297"/>
                    </a:lnTo>
                    <a:lnTo>
                      <a:pt x="486" y="2388"/>
                    </a:lnTo>
                    <a:lnTo>
                      <a:pt x="591" y="2454"/>
                    </a:lnTo>
                    <a:lnTo>
                      <a:pt x="709" y="2533"/>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33"/>
                    </a:lnTo>
                    <a:lnTo>
                      <a:pt x="5393" y="2454"/>
                    </a:lnTo>
                    <a:lnTo>
                      <a:pt x="5498" y="2388"/>
                    </a:lnTo>
                    <a:lnTo>
                      <a:pt x="5589" y="2297"/>
                    </a:lnTo>
                    <a:lnTo>
                      <a:pt x="5681" y="2205"/>
                    </a:lnTo>
                    <a:lnTo>
                      <a:pt x="5747" y="2100"/>
                    </a:lnTo>
                    <a:lnTo>
                      <a:pt x="5826" y="1982"/>
                    </a:lnTo>
                    <a:lnTo>
                      <a:pt x="5878" y="1864"/>
                    </a:lnTo>
                    <a:lnTo>
                      <a:pt x="5917" y="1746"/>
                    </a:lnTo>
                    <a:lnTo>
                      <a:pt x="5957" y="1614"/>
                    </a:lnTo>
                    <a:lnTo>
                      <a:pt x="5970" y="1483"/>
                    </a:lnTo>
                    <a:lnTo>
                      <a:pt x="5983" y="1339"/>
                    </a:lnTo>
                    <a:lnTo>
                      <a:pt x="5970" y="1208"/>
                    </a:lnTo>
                    <a:lnTo>
                      <a:pt x="5957" y="1076"/>
                    </a:lnTo>
                    <a:lnTo>
                      <a:pt x="5917" y="945"/>
                    </a:lnTo>
                    <a:lnTo>
                      <a:pt x="5878" y="827"/>
                    </a:lnTo>
                    <a:lnTo>
                      <a:pt x="5826" y="709"/>
                    </a:lnTo>
                    <a:lnTo>
                      <a:pt x="5747" y="591"/>
                    </a:lnTo>
                    <a:lnTo>
                      <a:pt x="5681" y="486"/>
                    </a:lnTo>
                    <a:lnTo>
                      <a:pt x="5589" y="394"/>
                    </a:lnTo>
                    <a:lnTo>
                      <a:pt x="5498" y="302"/>
                    </a:lnTo>
                    <a:lnTo>
                      <a:pt x="5393" y="224"/>
                    </a:lnTo>
                    <a:lnTo>
                      <a:pt x="5275" y="158"/>
                    </a:lnTo>
                    <a:lnTo>
                      <a:pt x="5156" y="106"/>
                    </a:lnTo>
                    <a:lnTo>
                      <a:pt x="5038" y="66"/>
                    </a:lnTo>
                    <a:lnTo>
                      <a:pt x="4907" y="27"/>
                    </a:lnTo>
                    <a:lnTo>
                      <a:pt x="477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2370;p45">
                <a:extLst>
                  <a:ext uri="{FF2B5EF4-FFF2-40B4-BE49-F238E27FC236}">
                    <a16:creationId xmlns:a16="http://schemas.microsoft.com/office/drawing/2014/main" id="{6B430B75-7FD2-7206-09D6-0263BEDB7337}"/>
                  </a:ext>
                </a:extLst>
              </p:cNvPr>
              <p:cNvSpPr/>
              <p:nvPr/>
            </p:nvSpPr>
            <p:spPr>
              <a:xfrm>
                <a:off x="3360083" y="3183846"/>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89"/>
                    </a:lnTo>
                    <a:lnTo>
                      <a:pt x="224" y="368"/>
                    </a:lnTo>
                    <a:lnTo>
                      <a:pt x="171" y="447"/>
                    </a:lnTo>
                    <a:lnTo>
                      <a:pt x="119" y="526"/>
                    </a:lnTo>
                    <a:lnTo>
                      <a:pt x="80" y="617"/>
                    </a:lnTo>
                    <a:lnTo>
                      <a:pt x="40" y="709"/>
                    </a:lnTo>
                    <a:lnTo>
                      <a:pt x="14" y="801"/>
                    </a:lnTo>
                    <a:lnTo>
                      <a:pt x="1" y="906"/>
                    </a:lnTo>
                    <a:lnTo>
                      <a:pt x="1" y="998"/>
                    </a:lnTo>
                    <a:lnTo>
                      <a:pt x="1" y="1103"/>
                    </a:lnTo>
                    <a:lnTo>
                      <a:pt x="14" y="1208"/>
                    </a:lnTo>
                    <a:lnTo>
                      <a:pt x="40" y="1300"/>
                    </a:lnTo>
                    <a:lnTo>
                      <a:pt x="80" y="1391"/>
                    </a:lnTo>
                    <a:lnTo>
                      <a:pt x="119" y="1483"/>
                    </a:lnTo>
                    <a:lnTo>
                      <a:pt x="171" y="1562"/>
                    </a:lnTo>
                    <a:lnTo>
                      <a:pt x="224" y="1641"/>
                    </a:lnTo>
                    <a:lnTo>
                      <a:pt x="290" y="1719"/>
                    </a:lnTo>
                    <a:lnTo>
                      <a:pt x="368" y="1785"/>
                    </a:lnTo>
                    <a:lnTo>
                      <a:pt x="447" y="1837"/>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7"/>
                    </a:lnTo>
                    <a:lnTo>
                      <a:pt x="1641" y="1785"/>
                    </a:lnTo>
                    <a:lnTo>
                      <a:pt x="1719" y="1719"/>
                    </a:lnTo>
                    <a:lnTo>
                      <a:pt x="1785" y="1641"/>
                    </a:lnTo>
                    <a:lnTo>
                      <a:pt x="1838" y="1562"/>
                    </a:lnTo>
                    <a:lnTo>
                      <a:pt x="1890" y="1483"/>
                    </a:lnTo>
                    <a:lnTo>
                      <a:pt x="1929" y="1391"/>
                    </a:lnTo>
                    <a:lnTo>
                      <a:pt x="1969" y="1300"/>
                    </a:lnTo>
                    <a:lnTo>
                      <a:pt x="1995" y="1208"/>
                    </a:lnTo>
                    <a:lnTo>
                      <a:pt x="2008" y="1103"/>
                    </a:lnTo>
                    <a:lnTo>
                      <a:pt x="2008" y="998"/>
                    </a:lnTo>
                    <a:lnTo>
                      <a:pt x="2008" y="906"/>
                    </a:lnTo>
                    <a:lnTo>
                      <a:pt x="1995" y="801"/>
                    </a:lnTo>
                    <a:lnTo>
                      <a:pt x="1969" y="709"/>
                    </a:lnTo>
                    <a:lnTo>
                      <a:pt x="1929" y="617"/>
                    </a:lnTo>
                    <a:lnTo>
                      <a:pt x="1890" y="526"/>
                    </a:lnTo>
                    <a:lnTo>
                      <a:pt x="1838" y="447"/>
                    </a:lnTo>
                    <a:lnTo>
                      <a:pt x="1785" y="368"/>
                    </a:lnTo>
                    <a:lnTo>
                      <a:pt x="1719" y="289"/>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2371;p45">
                <a:extLst>
                  <a:ext uri="{FF2B5EF4-FFF2-40B4-BE49-F238E27FC236}">
                    <a16:creationId xmlns:a16="http://schemas.microsoft.com/office/drawing/2014/main" id="{537ADF8A-C40E-49AA-BA5B-4B5B223AE885}"/>
                  </a:ext>
                </a:extLst>
              </p:cNvPr>
              <p:cNvSpPr/>
              <p:nvPr/>
            </p:nvSpPr>
            <p:spPr>
              <a:xfrm>
                <a:off x="3364085" y="3187849"/>
                <a:ext cx="28056" cy="28056"/>
              </a:xfrm>
              <a:custGeom>
                <a:avLst/>
                <a:gdLst/>
                <a:ahLst/>
                <a:cxnLst/>
                <a:rect l="l" t="t" r="r" b="b"/>
                <a:pathLst>
                  <a:path w="1563" h="1563" extrusionOk="0">
                    <a:moveTo>
                      <a:pt x="696" y="1"/>
                    </a:moveTo>
                    <a:lnTo>
                      <a:pt x="618" y="14"/>
                    </a:lnTo>
                    <a:lnTo>
                      <a:pt x="473" y="66"/>
                    </a:lnTo>
                    <a:lnTo>
                      <a:pt x="342" y="132"/>
                    </a:lnTo>
                    <a:lnTo>
                      <a:pt x="224" y="224"/>
                    </a:lnTo>
                    <a:lnTo>
                      <a:pt x="132" y="342"/>
                    </a:lnTo>
                    <a:lnTo>
                      <a:pt x="67" y="473"/>
                    </a:lnTo>
                    <a:lnTo>
                      <a:pt x="14" y="617"/>
                    </a:lnTo>
                    <a:lnTo>
                      <a:pt x="1" y="696"/>
                    </a:lnTo>
                    <a:lnTo>
                      <a:pt x="1" y="775"/>
                    </a:lnTo>
                    <a:lnTo>
                      <a:pt x="1" y="867"/>
                    </a:lnTo>
                    <a:lnTo>
                      <a:pt x="14" y="932"/>
                    </a:lnTo>
                    <a:lnTo>
                      <a:pt x="67" y="1090"/>
                    </a:lnTo>
                    <a:lnTo>
                      <a:pt x="132" y="1221"/>
                    </a:lnTo>
                    <a:lnTo>
                      <a:pt x="224" y="1326"/>
                    </a:lnTo>
                    <a:lnTo>
                      <a:pt x="342" y="1431"/>
                    </a:lnTo>
                    <a:lnTo>
                      <a:pt x="473" y="1496"/>
                    </a:lnTo>
                    <a:lnTo>
                      <a:pt x="618" y="1549"/>
                    </a:lnTo>
                    <a:lnTo>
                      <a:pt x="696" y="1562"/>
                    </a:lnTo>
                    <a:lnTo>
                      <a:pt x="854" y="1562"/>
                    </a:lnTo>
                    <a:lnTo>
                      <a:pt x="932" y="1549"/>
                    </a:lnTo>
                    <a:lnTo>
                      <a:pt x="1090" y="1496"/>
                    </a:lnTo>
                    <a:lnTo>
                      <a:pt x="1221" y="1431"/>
                    </a:lnTo>
                    <a:lnTo>
                      <a:pt x="1326" y="1326"/>
                    </a:lnTo>
                    <a:lnTo>
                      <a:pt x="1431" y="1221"/>
                    </a:lnTo>
                    <a:lnTo>
                      <a:pt x="1496" y="1090"/>
                    </a:lnTo>
                    <a:lnTo>
                      <a:pt x="1549" y="932"/>
                    </a:lnTo>
                    <a:lnTo>
                      <a:pt x="1562" y="867"/>
                    </a:lnTo>
                    <a:lnTo>
                      <a:pt x="1562" y="775"/>
                    </a:lnTo>
                    <a:lnTo>
                      <a:pt x="1562" y="696"/>
                    </a:lnTo>
                    <a:lnTo>
                      <a:pt x="1549" y="617"/>
                    </a:lnTo>
                    <a:lnTo>
                      <a:pt x="1496" y="473"/>
                    </a:lnTo>
                    <a:lnTo>
                      <a:pt x="1431" y="342"/>
                    </a:lnTo>
                    <a:lnTo>
                      <a:pt x="1326" y="224"/>
                    </a:lnTo>
                    <a:lnTo>
                      <a:pt x="1221" y="132"/>
                    </a:lnTo>
                    <a:lnTo>
                      <a:pt x="1090" y="66"/>
                    </a:lnTo>
                    <a:lnTo>
                      <a:pt x="932" y="14"/>
                    </a:lnTo>
                    <a:lnTo>
                      <a:pt x="854"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2372;p45">
                <a:extLst>
                  <a:ext uri="{FF2B5EF4-FFF2-40B4-BE49-F238E27FC236}">
                    <a16:creationId xmlns:a16="http://schemas.microsoft.com/office/drawing/2014/main" id="{366C90C5-C6C5-0BBF-BDC0-84B1173E8840}"/>
                  </a:ext>
                </a:extLst>
              </p:cNvPr>
              <p:cNvSpPr/>
              <p:nvPr/>
            </p:nvSpPr>
            <p:spPr>
              <a:xfrm>
                <a:off x="3126248" y="2186095"/>
                <a:ext cx="42183" cy="41931"/>
              </a:xfrm>
              <a:custGeom>
                <a:avLst/>
                <a:gdLst/>
                <a:ahLst/>
                <a:cxnLst/>
                <a:rect l="l" t="t" r="r" b="b"/>
                <a:pathLst>
                  <a:path w="2350" h="2336" extrusionOk="0">
                    <a:moveTo>
                      <a:pt x="1050" y="1"/>
                    </a:moveTo>
                    <a:lnTo>
                      <a:pt x="932" y="14"/>
                    </a:lnTo>
                    <a:lnTo>
                      <a:pt x="814" y="53"/>
                    </a:lnTo>
                    <a:lnTo>
                      <a:pt x="709" y="92"/>
                    </a:lnTo>
                    <a:lnTo>
                      <a:pt x="604" y="132"/>
                    </a:lnTo>
                    <a:lnTo>
                      <a:pt x="512" y="197"/>
                    </a:lnTo>
                    <a:lnTo>
                      <a:pt x="421" y="263"/>
                    </a:lnTo>
                    <a:lnTo>
                      <a:pt x="342" y="342"/>
                    </a:lnTo>
                    <a:lnTo>
                      <a:pt x="263" y="420"/>
                    </a:lnTo>
                    <a:lnTo>
                      <a:pt x="198" y="512"/>
                    </a:lnTo>
                    <a:lnTo>
                      <a:pt x="132" y="604"/>
                    </a:lnTo>
                    <a:lnTo>
                      <a:pt x="93" y="709"/>
                    </a:lnTo>
                    <a:lnTo>
                      <a:pt x="53" y="814"/>
                    </a:lnTo>
                    <a:lnTo>
                      <a:pt x="14" y="932"/>
                    </a:lnTo>
                    <a:lnTo>
                      <a:pt x="1" y="1050"/>
                    </a:lnTo>
                    <a:lnTo>
                      <a:pt x="1" y="1168"/>
                    </a:lnTo>
                    <a:lnTo>
                      <a:pt x="1" y="1286"/>
                    </a:lnTo>
                    <a:lnTo>
                      <a:pt x="14" y="1404"/>
                    </a:lnTo>
                    <a:lnTo>
                      <a:pt x="53" y="1522"/>
                    </a:lnTo>
                    <a:lnTo>
                      <a:pt x="93" y="1627"/>
                    </a:lnTo>
                    <a:lnTo>
                      <a:pt x="132" y="1732"/>
                    </a:lnTo>
                    <a:lnTo>
                      <a:pt x="198" y="1824"/>
                    </a:lnTo>
                    <a:lnTo>
                      <a:pt x="263" y="1916"/>
                    </a:lnTo>
                    <a:lnTo>
                      <a:pt x="342" y="1995"/>
                    </a:lnTo>
                    <a:lnTo>
                      <a:pt x="421" y="2073"/>
                    </a:lnTo>
                    <a:lnTo>
                      <a:pt x="512" y="2139"/>
                    </a:lnTo>
                    <a:lnTo>
                      <a:pt x="604" y="2205"/>
                    </a:lnTo>
                    <a:lnTo>
                      <a:pt x="709" y="2244"/>
                    </a:lnTo>
                    <a:lnTo>
                      <a:pt x="814" y="2283"/>
                    </a:lnTo>
                    <a:lnTo>
                      <a:pt x="932" y="2323"/>
                    </a:lnTo>
                    <a:lnTo>
                      <a:pt x="1050" y="2336"/>
                    </a:lnTo>
                    <a:lnTo>
                      <a:pt x="1286" y="2336"/>
                    </a:lnTo>
                    <a:lnTo>
                      <a:pt x="1405" y="2323"/>
                    </a:lnTo>
                    <a:lnTo>
                      <a:pt x="1523" y="2283"/>
                    </a:lnTo>
                    <a:lnTo>
                      <a:pt x="1628" y="2244"/>
                    </a:lnTo>
                    <a:lnTo>
                      <a:pt x="1732" y="2205"/>
                    </a:lnTo>
                    <a:lnTo>
                      <a:pt x="1824" y="2139"/>
                    </a:lnTo>
                    <a:lnTo>
                      <a:pt x="1916" y="2073"/>
                    </a:lnTo>
                    <a:lnTo>
                      <a:pt x="1995" y="1995"/>
                    </a:lnTo>
                    <a:lnTo>
                      <a:pt x="2074" y="1916"/>
                    </a:lnTo>
                    <a:lnTo>
                      <a:pt x="2139" y="1824"/>
                    </a:lnTo>
                    <a:lnTo>
                      <a:pt x="2205" y="1732"/>
                    </a:lnTo>
                    <a:lnTo>
                      <a:pt x="2244" y="1627"/>
                    </a:lnTo>
                    <a:lnTo>
                      <a:pt x="2283" y="1522"/>
                    </a:lnTo>
                    <a:lnTo>
                      <a:pt x="2323" y="1404"/>
                    </a:lnTo>
                    <a:lnTo>
                      <a:pt x="2336" y="1286"/>
                    </a:lnTo>
                    <a:lnTo>
                      <a:pt x="2349" y="1168"/>
                    </a:lnTo>
                    <a:lnTo>
                      <a:pt x="2336" y="1050"/>
                    </a:lnTo>
                    <a:lnTo>
                      <a:pt x="2323" y="932"/>
                    </a:lnTo>
                    <a:lnTo>
                      <a:pt x="2283" y="814"/>
                    </a:lnTo>
                    <a:lnTo>
                      <a:pt x="2244" y="709"/>
                    </a:lnTo>
                    <a:lnTo>
                      <a:pt x="2205" y="604"/>
                    </a:lnTo>
                    <a:lnTo>
                      <a:pt x="2139" y="512"/>
                    </a:lnTo>
                    <a:lnTo>
                      <a:pt x="2074" y="420"/>
                    </a:lnTo>
                    <a:lnTo>
                      <a:pt x="1995" y="342"/>
                    </a:lnTo>
                    <a:lnTo>
                      <a:pt x="1916" y="263"/>
                    </a:lnTo>
                    <a:lnTo>
                      <a:pt x="1824" y="197"/>
                    </a:lnTo>
                    <a:lnTo>
                      <a:pt x="1732" y="132"/>
                    </a:lnTo>
                    <a:lnTo>
                      <a:pt x="1628" y="92"/>
                    </a:lnTo>
                    <a:lnTo>
                      <a:pt x="1523" y="53"/>
                    </a:lnTo>
                    <a:lnTo>
                      <a:pt x="1405" y="14"/>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2373;p45">
                <a:extLst>
                  <a:ext uri="{FF2B5EF4-FFF2-40B4-BE49-F238E27FC236}">
                    <a16:creationId xmlns:a16="http://schemas.microsoft.com/office/drawing/2014/main" id="{8CF6EB1B-D73D-8AAD-5EE6-3F9F8106B621}"/>
                  </a:ext>
                </a:extLst>
              </p:cNvPr>
              <p:cNvSpPr/>
              <p:nvPr/>
            </p:nvSpPr>
            <p:spPr>
              <a:xfrm>
                <a:off x="3190311" y="2188680"/>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2374;p45">
                <a:extLst>
                  <a:ext uri="{FF2B5EF4-FFF2-40B4-BE49-F238E27FC236}">
                    <a16:creationId xmlns:a16="http://schemas.microsoft.com/office/drawing/2014/main" id="{4F59E1FE-DBFC-6FCF-0111-ED25EF559ED4}"/>
                  </a:ext>
                </a:extLst>
              </p:cNvPr>
              <p:cNvSpPr/>
              <p:nvPr/>
            </p:nvSpPr>
            <p:spPr>
              <a:xfrm>
                <a:off x="3126248" y="2272758"/>
                <a:ext cx="42183" cy="42165"/>
              </a:xfrm>
              <a:custGeom>
                <a:avLst/>
                <a:gdLst/>
                <a:ahLst/>
                <a:cxnLst/>
                <a:rect l="l" t="t" r="r" b="b"/>
                <a:pathLst>
                  <a:path w="2350" h="2349" extrusionOk="0">
                    <a:moveTo>
                      <a:pt x="1168" y="0"/>
                    </a:moveTo>
                    <a:lnTo>
                      <a:pt x="1050" y="13"/>
                    </a:ln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17"/>
                    </a:lnTo>
                    <a:lnTo>
                      <a:pt x="53" y="1522"/>
                    </a:lnTo>
                    <a:lnTo>
                      <a:pt x="93" y="1627"/>
                    </a:lnTo>
                    <a:lnTo>
                      <a:pt x="132" y="1732"/>
                    </a:lnTo>
                    <a:lnTo>
                      <a:pt x="198" y="1837"/>
                    </a:lnTo>
                    <a:lnTo>
                      <a:pt x="263" y="1916"/>
                    </a:lnTo>
                    <a:lnTo>
                      <a:pt x="342" y="2008"/>
                    </a:lnTo>
                    <a:lnTo>
                      <a:pt x="421" y="2086"/>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86"/>
                    </a:lnTo>
                    <a:lnTo>
                      <a:pt x="1995" y="2008"/>
                    </a:lnTo>
                    <a:lnTo>
                      <a:pt x="2074" y="1916"/>
                    </a:lnTo>
                    <a:lnTo>
                      <a:pt x="2139" y="1837"/>
                    </a:lnTo>
                    <a:lnTo>
                      <a:pt x="2205" y="1732"/>
                    </a:lnTo>
                    <a:lnTo>
                      <a:pt x="2244" y="1627"/>
                    </a:lnTo>
                    <a:lnTo>
                      <a:pt x="2283" y="1522"/>
                    </a:lnTo>
                    <a:lnTo>
                      <a:pt x="2323" y="1417"/>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13"/>
                    </a:lnTo>
                    <a:lnTo>
                      <a:pt x="116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2375;p45">
                <a:extLst>
                  <a:ext uri="{FF2B5EF4-FFF2-40B4-BE49-F238E27FC236}">
                    <a16:creationId xmlns:a16="http://schemas.microsoft.com/office/drawing/2014/main" id="{9AF7668B-C55F-942E-0DDC-BCE9D2B0B35B}"/>
                  </a:ext>
                </a:extLst>
              </p:cNvPr>
              <p:cNvSpPr/>
              <p:nvPr/>
            </p:nvSpPr>
            <p:spPr>
              <a:xfrm>
                <a:off x="3190311" y="2275343"/>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2376;p45">
                <a:extLst>
                  <a:ext uri="{FF2B5EF4-FFF2-40B4-BE49-F238E27FC236}">
                    <a16:creationId xmlns:a16="http://schemas.microsoft.com/office/drawing/2014/main" id="{69146C28-C478-28B8-5E6E-AF47B7A49AF2}"/>
                  </a:ext>
                </a:extLst>
              </p:cNvPr>
              <p:cNvSpPr/>
              <p:nvPr/>
            </p:nvSpPr>
            <p:spPr>
              <a:xfrm>
                <a:off x="3126248" y="2416394"/>
                <a:ext cx="42183" cy="42183"/>
              </a:xfrm>
              <a:custGeom>
                <a:avLst/>
                <a:gdLst/>
                <a:ahLst/>
                <a:cxnLst/>
                <a:rect l="l" t="t" r="r" b="b"/>
                <a:pathLst>
                  <a:path w="2350" h="2350" extrusionOk="0">
                    <a:moveTo>
                      <a:pt x="1050" y="1"/>
                    </a:moveTo>
                    <a:lnTo>
                      <a:pt x="932" y="27"/>
                    </a:lnTo>
                    <a:lnTo>
                      <a:pt x="814" y="53"/>
                    </a:lnTo>
                    <a:lnTo>
                      <a:pt x="709" y="93"/>
                    </a:lnTo>
                    <a:lnTo>
                      <a:pt x="604" y="145"/>
                    </a:lnTo>
                    <a:lnTo>
                      <a:pt x="512" y="198"/>
                    </a:lnTo>
                    <a:lnTo>
                      <a:pt x="421" y="263"/>
                    </a:lnTo>
                    <a:lnTo>
                      <a:pt x="342" y="342"/>
                    </a:lnTo>
                    <a:lnTo>
                      <a:pt x="263" y="421"/>
                    </a:lnTo>
                    <a:lnTo>
                      <a:pt x="198" y="513"/>
                    </a:lnTo>
                    <a:lnTo>
                      <a:pt x="132" y="618"/>
                    </a:lnTo>
                    <a:lnTo>
                      <a:pt x="93" y="709"/>
                    </a:lnTo>
                    <a:lnTo>
                      <a:pt x="53" y="827"/>
                    </a:lnTo>
                    <a:lnTo>
                      <a:pt x="14" y="932"/>
                    </a:lnTo>
                    <a:lnTo>
                      <a:pt x="1" y="1050"/>
                    </a:lnTo>
                    <a:lnTo>
                      <a:pt x="1" y="1169"/>
                    </a:lnTo>
                    <a:lnTo>
                      <a:pt x="1" y="1287"/>
                    </a:lnTo>
                    <a:lnTo>
                      <a:pt x="14" y="1405"/>
                    </a:lnTo>
                    <a:lnTo>
                      <a:pt x="53" y="1523"/>
                    </a:lnTo>
                    <a:lnTo>
                      <a:pt x="93" y="1628"/>
                    </a:lnTo>
                    <a:lnTo>
                      <a:pt x="132" y="1733"/>
                    </a:lnTo>
                    <a:lnTo>
                      <a:pt x="198" y="1825"/>
                    </a:lnTo>
                    <a:lnTo>
                      <a:pt x="263" y="1916"/>
                    </a:lnTo>
                    <a:lnTo>
                      <a:pt x="342" y="1995"/>
                    </a:lnTo>
                    <a:lnTo>
                      <a:pt x="421" y="2074"/>
                    </a:lnTo>
                    <a:lnTo>
                      <a:pt x="512" y="2139"/>
                    </a:lnTo>
                    <a:lnTo>
                      <a:pt x="604" y="2205"/>
                    </a:lnTo>
                    <a:lnTo>
                      <a:pt x="709" y="2257"/>
                    </a:lnTo>
                    <a:lnTo>
                      <a:pt x="814" y="2297"/>
                    </a:lnTo>
                    <a:lnTo>
                      <a:pt x="932" y="2323"/>
                    </a:lnTo>
                    <a:lnTo>
                      <a:pt x="1050" y="2336"/>
                    </a:lnTo>
                    <a:lnTo>
                      <a:pt x="1168" y="2349"/>
                    </a:lnTo>
                    <a:lnTo>
                      <a:pt x="1286" y="2336"/>
                    </a:lnTo>
                    <a:lnTo>
                      <a:pt x="1405" y="2323"/>
                    </a:lnTo>
                    <a:lnTo>
                      <a:pt x="1523" y="2297"/>
                    </a:lnTo>
                    <a:lnTo>
                      <a:pt x="1628" y="2257"/>
                    </a:lnTo>
                    <a:lnTo>
                      <a:pt x="1732" y="2205"/>
                    </a:lnTo>
                    <a:lnTo>
                      <a:pt x="1824" y="2139"/>
                    </a:lnTo>
                    <a:lnTo>
                      <a:pt x="1916" y="2074"/>
                    </a:lnTo>
                    <a:lnTo>
                      <a:pt x="1995" y="1995"/>
                    </a:lnTo>
                    <a:lnTo>
                      <a:pt x="2074" y="1916"/>
                    </a:lnTo>
                    <a:lnTo>
                      <a:pt x="2139" y="1825"/>
                    </a:lnTo>
                    <a:lnTo>
                      <a:pt x="2205" y="1733"/>
                    </a:lnTo>
                    <a:lnTo>
                      <a:pt x="2244" y="1628"/>
                    </a:lnTo>
                    <a:lnTo>
                      <a:pt x="2283" y="1523"/>
                    </a:lnTo>
                    <a:lnTo>
                      <a:pt x="2323" y="1405"/>
                    </a:lnTo>
                    <a:lnTo>
                      <a:pt x="2336" y="1287"/>
                    </a:lnTo>
                    <a:lnTo>
                      <a:pt x="2349" y="1169"/>
                    </a:lnTo>
                    <a:lnTo>
                      <a:pt x="2336" y="1050"/>
                    </a:lnTo>
                    <a:lnTo>
                      <a:pt x="2323" y="932"/>
                    </a:lnTo>
                    <a:lnTo>
                      <a:pt x="2283" y="827"/>
                    </a:lnTo>
                    <a:lnTo>
                      <a:pt x="2244" y="709"/>
                    </a:lnTo>
                    <a:lnTo>
                      <a:pt x="2205" y="618"/>
                    </a:lnTo>
                    <a:lnTo>
                      <a:pt x="2139" y="513"/>
                    </a:lnTo>
                    <a:lnTo>
                      <a:pt x="2074" y="421"/>
                    </a:lnTo>
                    <a:lnTo>
                      <a:pt x="1995" y="342"/>
                    </a:lnTo>
                    <a:lnTo>
                      <a:pt x="1916" y="263"/>
                    </a:lnTo>
                    <a:lnTo>
                      <a:pt x="1824" y="198"/>
                    </a:lnTo>
                    <a:lnTo>
                      <a:pt x="1732" y="145"/>
                    </a:lnTo>
                    <a:lnTo>
                      <a:pt x="1628" y="93"/>
                    </a:lnTo>
                    <a:lnTo>
                      <a:pt x="1523" y="53"/>
                    </a:lnTo>
                    <a:lnTo>
                      <a:pt x="1405" y="27"/>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2377;p45">
                <a:extLst>
                  <a:ext uri="{FF2B5EF4-FFF2-40B4-BE49-F238E27FC236}">
                    <a16:creationId xmlns:a16="http://schemas.microsoft.com/office/drawing/2014/main" id="{C79C789D-7C52-71BA-B83B-3ED523B7A2ED}"/>
                  </a:ext>
                </a:extLst>
              </p:cNvPr>
              <p:cNvSpPr/>
              <p:nvPr/>
            </p:nvSpPr>
            <p:spPr>
              <a:xfrm>
                <a:off x="3190311" y="2418996"/>
                <a:ext cx="207951" cy="36744"/>
              </a:xfrm>
              <a:custGeom>
                <a:avLst/>
                <a:gdLst/>
                <a:ahLst/>
                <a:cxnLst/>
                <a:rect l="l" t="t" r="r" b="b"/>
                <a:pathLst>
                  <a:path w="11585" h="2047" extrusionOk="0">
                    <a:moveTo>
                      <a:pt x="0" y="0"/>
                    </a:moveTo>
                    <a:lnTo>
                      <a:pt x="0" y="2047"/>
                    </a:lnTo>
                    <a:lnTo>
                      <a:pt x="11584" y="2047"/>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2378;p45">
                <a:extLst>
                  <a:ext uri="{FF2B5EF4-FFF2-40B4-BE49-F238E27FC236}">
                    <a16:creationId xmlns:a16="http://schemas.microsoft.com/office/drawing/2014/main" id="{B3AF1A7C-B58C-886B-E529-1D1565ACEEC7}"/>
                  </a:ext>
                </a:extLst>
              </p:cNvPr>
              <p:cNvSpPr/>
              <p:nvPr/>
            </p:nvSpPr>
            <p:spPr>
              <a:xfrm>
                <a:off x="3126248" y="2503056"/>
                <a:ext cx="42183" cy="42183"/>
              </a:xfrm>
              <a:custGeom>
                <a:avLst/>
                <a:gdLst/>
                <a:ahLst/>
                <a:cxnLst/>
                <a:rect l="l" t="t" r="r" b="b"/>
                <a:pathLst>
                  <a:path w="2350" h="2350" extrusionOk="0">
                    <a:moveTo>
                      <a:pt x="1168" y="1"/>
                    </a:moveTo>
                    <a:lnTo>
                      <a:pt x="1050" y="14"/>
                    </a:lnTo>
                    <a:lnTo>
                      <a:pt x="932" y="27"/>
                    </a:lnTo>
                    <a:lnTo>
                      <a:pt x="814" y="53"/>
                    </a:lnTo>
                    <a:lnTo>
                      <a:pt x="709" y="93"/>
                    </a:lnTo>
                    <a:lnTo>
                      <a:pt x="604" y="145"/>
                    </a:lnTo>
                    <a:lnTo>
                      <a:pt x="512" y="211"/>
                    </a:lnTo>
                    <a:lnTo>
                      <a:pt x="421" y="276"/>
                    </a:lnTo>
                    <a:lnTo>
                      <a:pt x="342" y="342"/>
                    </a:lnTo>
                    <a:lnTo>
                      <a:pt x="263" y="434"/>
                    </a:lnTo>
                    <a:lnTo>
                      <a:pt x="198" y="526"/>
                    </a:lnTo>
                    <a:lnTo>
                      <a:pt x="132" y="617"/>
                    </a:lnTo>
                    <a:lnTo>
                      <a:pt x="93" y="722"/>
                    </a:lnTo>
                    <a:lnTo>
                      <a:pt x="53" y="827"/>
                    </a:lnTo>
                    <a:lnTo>
                      <a:pt x="14" y="945"/>
                    </a:lnTo>
                    <a:lnTo>
                      <a:pt x="1" y="1063"/>
                    </a:lnTo>
                    <a:lnTo>
                      <a:pt x="1" y="1181"/>
                    </a:lnTo>
                    <a:lnTo>
                      <a:pt x="1" y="1300"/>
                    </a:lnTo>
                    <a:lnTo>
                      <a:pt x="14" y="1418"/>
                    </a:lnTo>
                    <a:lnTo>
                      <a:pt x="53" y="1523"/>
                    </a:lnTo>
                    <a:lnTo>
                      <a:pt x="93" y="1641"/>
                    </a:lnTo>
                    <a:lnTo>
                      <a:pt x="132" y="1732"/>
                    </a:lnTo>
                    <a:lnTo>
                      <a:pt x="198" y="1837"/>
                    </a:lnTo>
                    <a:lnTo>
                      <a:pt x="263" y="1929"/>
                    </a:lnTo>
                    <a:lnTo>
                      <a:pt x="342" y="2008"/>
                    </a:lnTo>
                    <a:lnTo>
                      <a:pt x="421" y="2087"/>
                    </a:lnTo>
                    <a:lnTo>
                      <a:pt x="512" y="2152"/>
                    </a:lnTo>
                    <a:lnTo>
                      <a:pt x="604" y="2205"/>
                    </a:lnTo>
                    <a:lnTo>
                      <a:pt x="709" y="2257"/>
                    </a:lnTo>
                    <a:lnTo>
                      <a:pt x="814" y="2297"/>
                    </a:lnTo>
                    <a:lnTo>
                      <a:pt x="932" y="2323"/>
                    </a:lnTo>
                    <a:lnTo>
                      <a:pt x="1050" y="2349"/>
                    </a:lnTo>
                    <a:lnTo>
                      <a:pt x="1286" y="2349"/>
                    </a:lnTo>
                    <a:lnTo>
                      <a:pt x="1405" y="2323"/>
                    </a:lnTo>
                    <a:lnTo>
                      <a:pt x="1523" y="2297"/>
                    </a:lnTo>
                    <a:lnTo>
                      <a:pt x="1628" y="2257"/>
                    </a:lnTo>
                    <a:lnTo>
                      <a:pt x="1732" y="2205"/>
                    </a:lnTo>
                    <a:lnTo>
                      <a:pt x="1824" y="2152"/>
                    </a:lnTo>
                    <a:lnTo>
                      <a:pt x="1916" y="2087"/>
                    </a:lnTo>
                    <a:lnTo>
                      <a:pt x="1995" y="2008"/>
                    </a:lnTo>
                    <a:lnTo>
                      <a:pt x="2074" y="1929"/>
                    </a:lnTo>
                    <a:lnTo>
                      <a:pt x="2139" y="1837"/>
                    </a:lnTo>
                    <a:lnTo>
                      <a:pt x="2205" y="1732"/>
                    </a:lnTo>
                    <a:lnTo>
                      <a:pt x="2244" y="1641"/>
                    </a:lnTo>
                    <a:lnTo>
                      <a:pt x="2283" y="1523"/>
                    </a:lnTo>
                    <a:lnTo>
                      <a:pt x="2323" y="1418"/>
                    </a:lnTo>
                    <a:lnTo>
                      <a:pt x="2336" y="1300"/>
                    </a:lnTo>
                    <a:lnTo>
                      <a:pt x="2349" y="1181"/>
                    </a:lnTo>
                    <a:lnTo>
                      <a:pt x="2336" y="1063"/>
                    </a:lnTo>
                    <a:lnTo>
                      <a:pt x="2323" y="945"/>
                    </a:lnTo>
                    <a:lnTo>
                      <a:pt x="2283" y="827"/>
                    </a:lnTo>
                    <a:lnTo>
                      <a:pt x="2244" y="722"/>
                    </a:lnTo>
                    <a:lnTo>
                      <a:pt x="2205" y="617"/>
                    </a:lnTo>
                    <a:lnTo>
                      <a:pt x="2139" y="526"/>
                    </a:lnTo>
                    <a:lnTo>
                      <a:pt x="2074" y="434"/>
                    </a:lnTo>
                    <a:lnTo>
                      <a:pt x="1995" y="342"/>
                    </a:lnTo>
                    <a:lnTo>
                      <a:pt x="1916" y="276"/>
                    </a:lnTo>
                    <a:lnTo>
                      <a:pt x="1824" y="211"/>
                    </a:lnTo>
                    <a:lnTo>
                      <a:pt x="1732" y="145"/>
                    </a:lnTo>
                    <a:lnTo>
                      <a:pt x="1628" y="93"/>
                    </a:lnTo>
                    <a:lnTo>
                      <a:pt x="1523" y="53"/>
                    </a:lnTo>
                    <a:lnTo>
                      <a:pt x="1405" y="27"/>
                    </a:lnTo>
                    <a:lnTo>
                      <a:pt x="1286" y="14"/>
                    </a:lnTo>
                    <a:lnTo>
                      <a:pt x="11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2379;p45">
                <a:extLst>
                  <a:ext uri="{FF2B5EF4-FFF2-40B4-BE49-F238E27FC236}">
                    <a16:creationId xmlns:a16="http://schemas.microsoft.com/office/drawing/2014/main" id="{5AFA6344-F15E-9157-1A4D-C346B2BEC157}"/>
                  </a:ext>
                </a:extLst>
              </p:cNvPr>
              <p:cNvSpPr/>
              <p:nvPr/>
            </p:nvSpPr>
            <p:spPr>
              <a:xfrm>
                <a:off x="3190311" y="2505659"/>
                <a:ext cx="207951" cy="36977"/>
              </a:xfrm>
              <a:custGeom>
                <a:avLst/>
                <a:gdLst/>
                <a:ahLst/>
                <a:cxnLst/>
                <a:rect l="l" t="t" r="r" b="b"/>
                <a:pathLst>
                  <a:path w="11585" h="2060" extrusionOk="0">
                    <a:moveTo>
                      <a:pt x="0" y="0"/>
                    </a:moveTo>
                    <a:lnTo>
                      <a:pt x="0" y="2060"/>
                    </a:lnTo>
                    <a:lnTo>
                      <a:pt x="11584" y="2060"/>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2380;p45">
                <a:extLst>
                  <a:ext uri="{FF2B5EF4-FFF2-40B4-BE49-F238E27FC236}">
                    <a16:creationId xmlns:a16="http://schemas.microsoft.com/office/drawing/2014/main" id="{8A2AFD49-2B67-FD53-BC56-E54DF0F60979}"/>
                  </a:ext>
                </a:extLst>
              </p:cNvPr>
              <p:cNvSpPr/>
              <p:nvPr/>
            </p:nvSpPr>
            <p:spPr>
              <a:xfrm>
                <a:off x="3126248" y="2646710"/>
                <a:ext cx="42183" cy="42165"/>
              </a:xfrm>
              <a:custGeom>
                <a:avLst/>
                <a:gdLst/>
                <a:ahLst/>
                <a:cxnLst/>
                <a:rect l="l" t="t" r="r" b="b"/>
                <a:pathLst>
                  <a:path w="2350" h="2349" extrusionOk="0">
                    <a:moveTo>
                      <a:pt x="1050" y="0"/>
                    </a:move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04"/>
                    </a:lnTo>
                    <a:lnTo>
                      <a:pt x="53" y="1522"/>
                    </a:lnTo>
                    <a:lnTo>
                      <a:pt x="93" y="1627"/>
                    </a:lnTo>
                    <a:lnTo>
                      <a:pt x="132" y="1732"/>
                    </a:lnTo>
                    <a:lnTo>
                      <a:pt x="198" y="1824"/>
                    </a:lnTo>
                    <a:lnTo>
                      <a:pt x="263" y="1916"/>
                    </a:lnTo>
                    <a:lnTo>
                      <a:pt x="342" y="2008"/>
                    </a:lnTo>
                    <a:lnTo>
                      <a:pt x="421" y="2073"/>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73"/>
                    </a:lnTo>
                    <a:lnTo>
                      <a:pt x="1995" y="2008"/>
                    </a:lnTo>
                    <a:lnTo>
                      <a:pt x="2074" y="1916"/>
                    </a:lnTo>
                    <a:lnTo>
                      <a:pt x="2139" y="1824"/>
                    </a:lnTo>
                    <a:lnTo>
                      <a:pt x="2205" y="1732"/>
                    </a:lnTo>
                    <a:lnTo>
                      <a:pt x="2244" y="1627"/>
                    </a:lnTo>
                    <a:lnTo>
                      <a:pt x="2283" y="1522"/>
                    </a:lnTo>
                    <a:lnTo>
                      <a:pt x="2323" y="1404"/>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2381;p45">
                <a:extLst>
                  <a:ext uri="{FF2B5EF4-FFF2-40B4-BE49-F238E27FC236}">
                    <a16:creationId xmlns:a16="http://schemas.microsoft.com/office/drawing/2014/main" id="{15471C88-4095-B56D-DC12-CF13DA1296B1}"/>
                  </a:ext>
                </a:extLst>
              </p:cNvPr>
              <p:cNvSpPr/>
              <p:nvPr/>
            </p:nvSpPr>
            <p:spPr>
              <a:xfrm>
                <a:off x="3190311" y="2649295"/>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2382;p45">
                <a:extLst>
                  <a:ext uri="{FF2B5EF4-FFF2-40B4-BE49-F238E27FC236}">
                    <a16:creationId xmlns:a16="http://schemas.microsoft.com/office/drawing/2014/main" id="{523306FD-88A2-A12A-BCFC-5FCEE8C5129F}"/>
                  </a:ext>
                </a:extLst>
              </p:cNvPr>
              <p:cNvSpPr/>
              <p:nvPr/>
            </p:nvSpPr>
            <p:spPr>
              <a:xfrm>
                <a:off x="3126248" y="2733373"/>
                <a:ext cx="42183" cy="42165"/>
              </a:xfrm>
              <a:custGeom>
                <a:avLst/>
                <a:gdLst/>
                <a:ahLst/>
                <a:cxnLst/>
                <a:rect l="l" t="t" r="r" b="b"/>
                <a:pathLst>
                  <a:path w="2350" h="2349" extrusionOk="0">
                    <a:moveTo>
                      <a:pt x="1168" y="0"/>
                    </a:moveTo>
                    <a:lnTo>
                      <a:pt x="1050" y="13"/>
                    </a:lnTo>
                    <a:lnTo>
                      <a:pt x="932" y="26"/>
                    </a:lnTo>
                    <a:lnTo>
                      <a:pt x="814" y="66"/>
                    </a:lnTo>
                    <a:lnTo>
                      <a:pt x="709" y="105"/>
                    </a:lnTo>
                    <a:lnTo>
                      <a:pt x="604" y="144"/>
                    </a:lnTo>
                    <a:lnTo>
                      <a:pt x="512" y="210"/>
                    </a:lnTo>
                    <a:lnTo>
                      <a:pt x="421" y="276"/>
                    </a:lnTo>
                    <a:lnTo>
                      <a:pt x="342" y="354"/>
                    </a:lnTo>
                    <a:lnTo>
                      <a:pt x="263" y="433"/>
                    </a:lnTo>
                    <a:lnTo>
                      <a:pt x="198" y="525"/>
                    </a:lnTo>
                    <a:lnTo>
                      <a:pt x="132" y="617"/>
                    </a:lnTo>
                    <a:lnTo>
                      <a:pt x="93" y="722"/>
                    </a:lnTo>
                    <a:lnTo>
                      <a:pt x="53" y="827"/>
                    </a:lnTo>
                    <a:lnTo>
                      <a:pt x="14" y="945"/>
                    </a:lnTo>
                    <a:lnTo>
                      <a:pt x="1" y="1063"/>
                    </a:lnTo>
                    <a:lnTo>
                      <a:pt x="1" y="1181"/>
                    </a:lnTo>
                    <a:lnTo>
                      <a:pt x="1" y="1299"/>
                    </a:lnTo>
                    <a:lnTo>
                      <a:pt x="14" y="1417"/>
                    </a:lnTo>
                    <a:lnTo>
                      <a:pt x="53" y="1535"/>
                    </a:lnTo>
                    <a:lnTo>
                      <a:pt x="93" y="1640"/>
                    </a:lnTo>
                    <a:lnTo>
                      <a:pt x="132" y="1745"/>
                    </a:lnTo>
                    <a:lnTo>
                      <a:pt x="198" y="1837"/>
                    </a:lnTo>
                    <a:lnTo>
                      <a:pt x="263" y="1929"/>
                    </a:lnTo>
                    <a:lnTo>
                      <a:pt x="342" y="2007"/>
                    </a:lnTo>
                    <a:lnTo>
                      <a:pt x="421" y="2086"/>
                    </a:lnTo>
                    <a:lnTo>
                      <a:pt x="512" y="2152"/>
                    </a:lnTo>
                    <a:lnTo>
                      <a:pt x="604" y="2217"/>
                    </a:lnTo>
                    <a:lnTo>
                      <a:pt x="709" y="2257"/>
                    </a:lnTo>
                    <a:lnTo>
                      <a:pt x="814" y="2296"/>
                    </a:lnTo>
                    <a:lnTo>
                      <a:pt x="932" y="2335"/>
                    </a:lnTo>
                    <a:lnTo>
                      <a:pt x="1050" y="2348"/>
                    </a:lnTo>
                    <a:lnTo>
                      <a:pt x="1286" y="2348"/>
                    </a:lnTo>
                    <a:lnTo>
                      <a:pt x="1405" y="2335"/>
                    </a:lnTo>
                    <a:lnTo>
                      <a:pt x="1523" y="2296"/>
                    </a:lnTo>
                    <a:lnTo>
                      <a:pt x="1628" y="2257"/>
                    </a:lnTo>
                    <a:lnTo>
                      <a:pt x="1732" y="2217"/>
                    </a:lnTo>
                    <a:lnTo>
                      <a:pt x="1824" y="2152"/>
                    </a:lnTo>
                    <a:lnTo>
                      <a:pt x="1916" y="2086"/>
                    </a:lnTo>
                    <a:lnTo>
                      <a:pt x="1995" y="2007"/>
                    </a:lnTo>
                    <a:lnTo>
                      <a:pt x="2074" y="1929"/>
                    </a:lnTo>
                    <a:lnTo>
                      <a:pt x="2139" y="1837"/>
                    </a:lnTo>
                    <a:lnTo>
                      <a:pt x="2205" y="1745"/>
                    </a:lnTo>
                    <a:lnTo>
                      <a:pt x="2244" y="1640"/>
                    </a:lnTo>
                    <a:lnTo>
                      <a:pt x="2283" y="1535"/>
                    </a:lnTo>
                    <a:lnTo>
                      <a:pt x="2323" y="1417"/>
                    </a:lnTo>
                    <a:lnTo>
                      <a:pt x="2336" y="1299"/>
                    </a:lnTo>
                    <a:lnTo>
                      <a:pt x="2349" y="1181"/>
                    </a:lnTo>
                    <a:lnTo>
                      <a:pt x="2336" y="1063"/>
                    </a:lnTo>
                    <a:lnTo>
                      <a:pt x="2323" y="945"/>
                    </a:lnTo>
                    <a:lnTo>
                      <a:pt x="2283" y="827"/>
                    </a:lnTo>
                    <a:lnTo>
                      <a:pt x="2244" y="722"/>
                    </a:lnTo>
                    <a:lnTo>
                      <a:pt x="2205" y="617"/>
                    </a:lnTo>
                    <a:lnTo>
                      <a:pt x="2139" y="525"/>
                    </a:lnTo>
                    <a:lnTo>
                      <a:pt x="2074" y="433"/>
                    </a:lnTo>
                    <a:lnTo>
                      <a:pt x="1995" y="354"/>
                    </a:lnTo>
                    <a:lnTo>
                      <a:pt x="1916" y="276"/>
                    </a:lnTo>
                    <a:lnTo>
                      <a:pt x="1824" y="210"/>
                    </a:lnTo>
                    <a:lnTo>
                      <a:pt x="1732" y="144"/>
                    </a:lnTo>
                    <a:lnTo>
                      <a:pt x="1628" y="105"/>
                    </a:lnTo>
                    <a:lnTo>
                      <a:pt x="1523" y="66"/>
                    </a:lnTo>
                    <a:lnTo>
                      <a:pt x="1405" y="26"/>
                    </a:lnTo>
                    <a:lnTo>
                      <a:pt x="1286" y="13"/>
                    </a:lnTo>
                    <a:lnTo>
                      <a:pt x="11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2383;p45">
                <a:extLst>
                  <a:ext uri="{FF2B5EF4-FFF2-40B4-BE49-F238E27FC236}">
                    <a16:creationId xmlns:a16="http://schemas.microsoft.com/office/drawing/2014/main" id="{C3FDC72E-2040-EAB7-4C65-69987F9D0D6D}"/>
                  </a:ext>
                </a:extLst>
              </p:cNvPr>
              <p:cNvSpPr/>
              <p:nvPr/>
            </p:nvSpPr>
            <p:spPr>
              <a:xfrm>
                <a:off x="3190311" y="2736191"/>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2384;p45">
                <a:extLst>
                  <a:ext uri="{FF2B5EF4-FFF2-40B4-BE49-F238E27FC236}">
                    <a16:creationId xmlns:a16="http://schemas.microsoft.com/office/drawing/2014/main" id="{F9C6600E-C48A-7A6C-125B-A0548B9095FA}"/>
                  </a:ext>
                </a:extLst>
              </p:cNvPr>
              <p:cNvSpPr/>
              <p:nvPr/>
            </p:nvSpPr>
            <p:spPr>
              <a:xfrm>
                <a:off x="3076562" y="2367193"/>
                <a:ext cx="371386" cy="18"/>
              </a:xfrm>
              <a:custGeom>
                <a:avLst/>
                <a:gdLst/>
                <a:ahLst/>
                <a:cxnLst/>
                <a:rect l="l" t="t" r="r" b="b"/>
                <a:pathLst>
                  <a:path w="20690" h="1" fill="none" extrusionOk="0">
                    <a:moveTo>
                      <a:pt x="1" y="0"/>
                    </a:moveTo>
                    <a:lnTo>
                      <a:pt x="20689" y="0"/>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2385;p45">
                <a:extLst>
                  <a:ext uri="{FF2B5EF4-FFF2-40B4-BE49-F238E27FC236}">
                    <a16:creationId xmlns:a16="http://schemas.microsoft.com/office/drawing/2014/main" id="{4BB070CC-CF41-739A-30CE-19B8550B5A74}"/>
                  </a:ext>
                </a:extLst>
              </p:cNvPr>
              <p:cNvSpPr/>
              <p:nvPr/>
            </p:nvSpPr>
            <p:spPr>
              <a:xfrm>
                <a:off x="3076562" y="259607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2386;p45">
                <a:extLst>
                  <a:ext uri="{FF2B5EF4-FFF2-40B4-BE49-F238E27FC236}">
                    <a16:creationId xmlns:a16="http://schemas.microsoft.com/office/drawing/2014/main" id="{FAC86E12-37E4-44B0-F921-5829EC5D4043}"/>
                  </a:ext>
                </a:extLst>
              </p:cNvPr>
              <p:cNvSpPr/>
              <p:nvPr/>
            </p:nvSpPr>
            <p:spPr>
              <a:xfrm>
                <a:off x="3076562" y="281366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2387;p45">
                <a:extLst>
                  <a:ext uri="{FF2B5EF4-FFF2-40B4-BE49-F238E27FC236}">
                    <a16:creationId xmlns:a16="http://schemas.microsoft.com/office/drawing/2014/main" id="{1DC276EF-A156-7425-4555-04A9F9BF6DD2}"/>
                  </a:ext>
                </a:extLst>
              </p:cNvPr>
              <p:cNvSpPr/>
              <p:nvPr/>
            </p:nvSpPr>
            <p:spPr>
              <a:xfrm>
                <a:off x="3128133" y="2857461"/>
                <a:ext cx="134248" cy="36995"/>
              </a:xfrm>
              <a:custGeom>
                <a:avLst/>
                <a:gdLst/>
                <a:ahLst/>
                <a:cxnLst/>
                <a:rect l="l" t="t" r="r" b="b"/>
                <a:pathLst>
                  <a:path w="7479" h="2061" extrusionOk="0">
                    <a:moveTo>
                      <a:pt x="1" y="1"/>
                    </a:moveTo>
                    <a:lnTo>
                      <a:pt x="1" y="2061"/>
                    </a:lnTo>
                    <a:lnTo>
                      <a:pt x="7479" y="2061"/>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2388;p45">
                <a:extLst>
                  <a:ext uri="{FF2B5EF4-FFF2-40B4-BE49-F238E27FC236}">
                    <a16:creationId xmlns:a16="http://schemas.microsoft.com/office/drawing/2014/main" id="{ECA34F30-FB58-C329-FD19-87907EE77758}"/>
                  </a:ext>
                </a:extLst>
              </p:cNvPr>
              <p:cNvSpPr/>
              <p:nvPr/>
            </p:nvSpPr>
            <p:spPr>
              <a:xfrm>
                <a:off x="3128133" y="2922691"/>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2389;p45">
                <a:extLst>
                  <a:ext uri="{FF2B5EF4-FFF2-40B4-BE49-F238E27FC236}">
                    <a16:creationId xmlns:a16="http://schemas.microsoft.com/office/drawing/2014/main" id="{BF3BB79C-825D-D9D4-1D36-6D9D124693D0}"/>
                  </a:ext>
                </a:extLst>
              </p:cNvPr>
              <p:cNvSpPr/>
              <p:nvPr/>
            </p:nvSpPr>
            <p:spPr>
              <a:xfrm>
                <a:off x="3128133" y="2987688"/>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2390;p45">
                <a:extLst>
                  <a:ext uri="{FF2B5EF4-FFF2-40B4-BE49-F238E27FC236}">
                    <a16:creationId xmlns:a16="http://schemas.microsoft.com/office/drawing/2014/main" id="{592E53B4-DD4E-A315-A39B-91BCA1802E63}"/>
                  </a:ext>
                </a:extLst>
              </p:cNvPr>
              <p:cNvSpPr/>
              <p:nvPr/>
            </p:nvSpPr>
            <p:spPr>
              <a:xfrm>
                <a:off x="3128133" y="3052685"/>
                <a:ext cx="134248" cy="36995"/>
              </a:xfrm>
              <a:custGeom>
                <a:avLst/>
                <a:gdLst/>
                <a:ahLst/>
                <a:cxnLst/>
                <a:rect l="l" t="t" r="r" b="b"/>
                <a:pathLst>
                  <a:path w="7479" h="2061" extrusionOk="0">
                    <a:moveTo>
                      <a:pt x="1" y="1"/>
                    </a:moveTo>
                    <a:lnTo>
                      <a:pt x="1" y="2060"/>
                    </a:lnTo>
                    <a:lnTo>
                      <a:pt x="7479" y="2060"/>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2391;p45">
                <a:extLst>
                  <a:ext uri="{FF2B5EF4-FFF2-40B4-BE49-F238E27FC236}">
                    <a16:creationId xmlns:a16="http://schemas.microsoft.com/office/drawing/2014/main" id="{71F02716-0479-DD3F-B3C4-1C36BBADE844}"/>
                  </a:ext>
                </a:extLst>
              </p:cNvPr>
              <p:cNvSpPr/>
              <p:nvPr/>
            </p:nvSpPr>
            <p:spPr>
              <a:xfrm>
                <a:off x="3128133" y="3117916"/>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2392;p45">
                <a:extLst>
                  <a:ext uri="{FF2B5EF4-FFF2-40B4-BE49-F238E27FC236}">
                    <a16:creationId xmlns:a16="http://schemas.microsoft.com/office/drawing/2014/main" id="{A076B4D6-4E44-1031-B217-EBBC49BD7EB7}"/>
                  </a:ext>
                </a:extLst>
              </p:cNvPr>
              <p:cNvSpPr/>
              <p:nvPr/>
            </p:nvSpPr>
            <p:spPr>
              <a:xfrm>
                <a:off x="3128133" y="3182913"/>
                <a:ext cx="134248" cy="36744"/>
              </a:xfrm>
              <a:custGeom>
                <a:avLst/>
                <a:gdLst/>
                <a:ahLst/>
                <a:cxnLst/>
                <a:rect l="l" t="t" r="r" b="b"/>
                <a:pathLst>
                  <a:path w="7479" h="2047" extrusionOk="0">
                    <a:moveTo>
                      <a:pt x="1" y="0"/>
                    </a:moveTo>
                    <a:lnTo>
                      <a:pt x="1" y="2047"/>
                    </a:lnTo>
                    <a:lnTo>
                      <a:pt x="7479" y="2047"/>
                    </a:lnTo>
                    <a:lnTo>
                      <a:pt x="747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 name="Google Shape;2393;p45">
              <a:extLst>
                <a:ext uri="{FF2B5EF4-FFF2-40B4-BE49-F238E27FC236}">
                  <a16:creationId xmlns:a16="http://schemas.microsoft.com/office/drawing/2014/main" id="{4A74CE1D-6939-2CC8-A3E5-A90CED89F884}"/>
                </a:ext>
              </a:extLst>
            </p:cNvPr>
            <p:cNvGrpSpPr/>
            <p:nvPr/>
          </p:nvGrpSpPr>
          <p:grpSpPr>
            <a:xfrm>
              <a:off x="4962121" y="2452285"/>
              <a:ext cx="1066388" cy="666717"/>
              <a:chOff x="5097171" y="2413221"/>
              <a:chExt cx="931587" cy="582388"/>
            </a:xfrm>
          </p:grpSpPr>
          <p:sp>
            <p:nvSpPr>
              <p:cNvPr id="1123" name="Google Shape;2394;p45">
                <a:extLst>
                  <a:ext uri="{FF2B5EF4-FFF2-40B4-BE49-F238E27FC236}">
                    <a16:creationId xmlns:a16="http://schemas.microsoft.com/office/drawing/2014/main" id="{5617860E-618F-4EFA-F25F-DC039CF0206C}"/>
                  </a:ext>
                </a:extLst>
              </p:cNvPr>
              <p:cNvSpPr/>
              <p:nvPr/>
            </p:nvSpPr>
            <p:spPr>
              <a:xfrm>
                <a:off x="5097171" y="2465743"/>
                <a:ext cx="931587" cy="529866"/>
              </a:xfrm>
              <a:custGeom>
                <a:avLst/>
                <a:gdLst/>
                <a:ahLst/>
                <a:cxnLst/>
                <a:rect l="l" t="t" r="r" b="b"/>
                <a:pathLst>
                  <a:path w="51899" h="29519" extrusionOk="0">
                    <a:moveTo>
                      <a:pt x="0" y="1"/>
                    </a:moveTo>
                    <a:lnTo>
                      <a:pt x="0" y="29518"/>
                    </a:lnTo>
                    <a:lnTo>
                      <a:pt x="51899" y="29518"/>
                    </a:lnTo>
                    <a:lnTo>
                      <a:pt x="5189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95;p45">
                <a:extLst>
                  <a:ext uri="{FF2B5EF4-FFF2-40B4-BE49-F238E27FC236}">
                    <a16:creationId xmlns:a16="http://schemas.microsoft.com/office/drawing/2014/main" id="{61328194-6E8E-F195-EBB3-1773834FADAF}"/>
                  </a:ext>
                </a:extLst>
              </p:cNvPr>
              <p:cNvSpPr/>
              <p:nvPr/>
            </p:nvSpPr>
            <p:spPr>
              <a:xfrm>
                <a:off x="5097171" y="2465743"/>
                <a:ext cx="931587" cy="529866"/>
              </a:xfrm>
              <a:custGeom>
                <a:avLst/>
                <a:gdLst/>
                <a:ahLst/>
                <a:cxnLst/>
                <a:rect l="l" t="t" r="r" b="b"/>
                <a:pathLst>
                  <a:path w="51899" h="29519" fill="none" extrusionOk="0">
                    <a:moveTo>
                      <a:pt x="51899" y="29518"/>
                    </a:moveTo>
                    <a:lnTo>
                      <a:pt x="0" y="29518"/>
                    </a:lnTo>
                    <a:lnTo>
                      <a:pt x="0" y="1"/>
                    </a:lnTo>
                    <a:lnTo>
                      <a:pt x="51899" y="1"/>
                    </a:lnTo>
                    <a:lnTo>
                      <a:pt x="51899" y="29518"/>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96;p45">
                <a:extLst>
                  <a:ext uri="{FF2B5EF4-FFF2-40B4-BE49-F238E27FC236}">
                    <a16:creationId xmlns:a16="http://schemas.microsoft.com/office/drawing/2014/main" id="{193BC4AC-7994-E807-2E1E-0C1AF9D34526}"/>
                  </a:ext>
                </a:extLst>
              </p:cNvPr>
              <p:cNvSpPr/>
              <p:nvPr/>
            </p:nvSpPr>
            <p:spPr>
              <a:xfrm>
                <a:off x="5097171" y="2865364"/>
                <a:ext cx="931587" cy="130245"/>
              </a:xfrm>
              <a:custGeom>
                <a:avLst/>
                <a:gdLst/>
                <a:ahLst/>
                <a:cxnLst/>
                <a:rect l="l" t="t" r="r" b="b"/>
                <a:pathLst>
                  <a:path w="51899" h="7256" extrusionOk="0">
                    <a:moveTo>
                      <a:pt x="0" y="0"/>
                    </a:moveTo>
                    <a:lnTo>
                      <a:pt x="0" y="7255"/>
                    </a:lnTo>
                    <a:lnTo>
                      <a:pt x="51899" y="7255"/>
                    </a:lnTo>
                    <a:lnTo>
                      <a:pt x="518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97;p45">
                <a:extLst>
                  <a:ext uri="{FF2B5EF4-FFF2-40B4-BE49-F238E27FC236}">
                    <a16:creationId xmlns:a16="http://schemas.microsoft.com/office/drawing/2014/main" id="{70B1D3CD-4B17-DB09-0381-858D76E796BD}"/>
                  </a:ext>
                </a:extLst>
              </p:cNvPr>
              <p:cNvSpPr/>
              <p:nvPr/>
            </p:nvSpPr>
            <p:spPr>
              <a:xfrm>
                <a:off x="5125658" y="2917885"/>
                <a:ext cx="745338" cy="24968"/>
              </a:xfrm>
              <a:custGeom>
                <a:avLst/>
                <a:gdLst/>
                <a:ahLst/>
                <a:cxnLst/>
                <a:rect l="l" t="t" r="r" b="b"/>
                <a:pathLst>
                  <a:path w="41523" h="1391" extrusionOk="0">
                    <a:moveTo>
                      <a:pt x="1" y="0"/>
                    </a:moveTo>
                    <a:lnTo>
                      <a:pt x="1" y="1391"/>
                    </a:lnTo>
                    <a:lnTo>
                      <a:pt x="41522" y="1391"/>
                    </a:lnTo>
                    <a:lnTo>
                      <a:pt x="41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98;p45">
                <a:extLst>
                  <a:ext uri="{FF2B5EF4-FFF2-40B4-BE49-F238E27FC236}">
                    <a16:creationId xmlns:a16="http://schemas.microsoft.com/office/drawing/2014/main" id="{B03C8B35-995E-00CB-7E25-93C0B6830808}"/>
                  </a:ext>
                </a:extLst>
              </p:cNvPr>
              <p:cNvSpPr/>
              <p:nvPr/>
            </p:nvSpPr>
            <p:spPr>
              <a:xfrm>
                <a:off x="5125658" y="2917885"/>
                <a:ext cx="372552" cy="24968"/>
              </a:xfrm>
              <a:custGeom>
                <a:avLst/>
                <a:gdLst/>
                <a:ahLst/>
                <a:cxnLst/>
                <a:rect l="l" t="t" r="r" b="b"/>
                <a:pathLst>
                  <a:path w="20755" h="1391" extrusionOk="0">
                    <a:moveTo>
                      <a:pt x="1" y="0"/>
                    </a:moveTo>
                    <a:lnTo>
                      <a:pt x="1" y="1391"/>
                    </a:lnTo>
                    <a:lnTo>
                      <a:pt x="20755" y="1391"/>
                    </a:lnTo>
                    <a:lnTo>
                      <a:pt x="207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99;p45">
                <a:extLst>
                  <a:ext uri="{FF2B5EF4-FFF2-40B4-BE49-F238E27FC236}">
                    <a16:creationId xmlns:a16="http://schemas.microsoft.com/office/drawing/2014/main" id="{FD79C64C-EFA1-CBDB-8BEE-28EAAD4B60AC}"/>
                  </a:ext>
                </a:extLst>
              </p:cNvPr>
              <p:cNvSpPr/>
              <p:nvPr/>
            </p:nvSpPr>
            <p:spPr>
              <a:xfrm>
                <a:off x="5956689" y="2917885"/>
                <a:ext cx="11093" cy="6139"/>
              </a:xfrm>
              <a:custGeom>
                <a:avLst/>
                <a:gdLst/>
                <a:ahLst/>
                <a:cxnLst/>
                <a:rect l="l" t="t" r="r" b="b"/>
                <a:pathLst>
                  <a:path w="618" h="342" extrusionOk="0">
                    <a:moveTo>
                      <a:pt x="1" y="0"/>
                    </a:moveTo>
                    <a:lnTo>
                      <a:pt x="1" y="341"/>
                    </a:lnTo>
                    <a:lnTo>
                      <a:pt x="171" y="341"/>
                    </a:lnTo>
                    <a:lnTo>
                      <a:pt x="171" y="184"/>
                    </a:lnTo>
                    <a:lnTo>
                      <a:pt x="617" y="184"/>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400;p45">
                <a:extLst>
                  <a:ext uri="{FF2B5EF4-FFF2-40B4-BE49-F238E27FC236}">
                    <a16:creationId xmlns:a16="http://schemas.microsoft.com/office/drawing/2014/main" id="{4D038BE7-E126-BCB3-0936-B0C5FD897662}"/>
                  </a:ext>
                </a:extLst>
              </p:cNvPr>
              <p:cNvSpPr/>
              <p:nvPr/>
            </p:nvSpPr>
            <p:spPr>
              <a:xfrm>
                <a:off x="5989196" y="2917885"/>
                <a:ext cx="11075" cy="6139"/>
              </a:xfrm>
              <a:custGeom>
                <a:avLst/>
                <a:gdLst/>
                <a:ahLst/>
                <a:cxnLst/>
                <a:rect l="l" t="t" r="r" b="b"/>
                <a:pathLst>
                  <a:path w="617" h="342" extrusionOk="0">
                    <a:moveTo>
                      <a:pt x="0" y="0"/>
                    </a:moveTo>
                    <a:lnTo>
                      <a:pt x="0" y="184"/>
                    </a:lnTo>
                    <a:lnTo>
                      <a:pt x="446" y="184"/>
                    </a:lnTo>
                    <a:lnTo>
                      <a:pt x="446" y="341"/>
                    </a:lnTo>
                    <a:lnTo>
                      <a:pt x="617" y="341"/>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401;p45">
                <a:extLst>
                  <a:ext uri="{FF2B5EF4-FFF2-40B4-BE49-F238E27FC236}">
                    <a16:creationId xmlns:a16="http://schemas.microsoft.com/office/drawing/2014/main" id="{F09DA363-4C6D-70F2-1C75-90847F3AB9BF}"/>
                  </a:ext>
                </a:extLst>
              </p:cNvPr>
              <p:cNvSpPr/>
              <p:nvPr/>
            </p:nvSpPr>
            <p:spPr>
              <a:xfrm>
                <a:off x="5989196" y="2936948"/>
                <a:ext cx="11075" cy="5906"/>
              </a:xfrm>
              <a:custGeom>
                <a:avLst/>
                <a:gdLst/>
                <a:ahLst/>
                <a:cxnLst/>
                <a:rect l="l" t="t" r="r" b="b"/>
                <a:pathLst>
                  <a:path w="617" h="329" extrusionOk="0">
                    <a:moveTo>
                      <a:pt x="446" y="1"/>
                    </a:moveTo>
                    <a:lnTo>
                      <a:pt x="446" y="158"/>
                    </a:lnTo>
                    <a:lnTo>
                      <a:pt x="0" y="158"/>
                    </a:lnTo>
                    <a:lnTo>
                      <a:pt x="0" y="329"/>
                    </a:lnTo>
                    <a:lnTo>
                      <a:pt x="617" y="329"/>
                    </a:lnTo>
                    <a:lnTo>
                      <a:pt x="61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402;p45">
                <a:extLst>
                  <a:ext uri="{FF2B5EF4-FFF2-40B4-BE49-F238E27FC236}">
                    <a16:creationId xmlns:a16="http://schemas.microsoft.com/office/drawing/2014/main" id="{E4C64E34-1005-80BD-B8D4-6E3EA2B9CCAC}"/>
                  </a:ext>
                </a:extLst>
              </p:cNvPr>
              <p:cNvSpPr/>
              <p:nvPr/>
            </p:nvSpPr>
            <p:spPr>
              <a:xfrm>
                <a:off x="5956689" y="2936948"/>
                <a:ext cx="11093" cy="5906"/>
              </a:xfrm>
              <a:custGeom>
                <a:avLst/>
                <a:gdLst/>
                <a:ahLst/>
                <a:cxnLst/>
                <a:rect l="l" t="t" r="r" b="b"/>
                <a:pathLst>
                  <a:path w="618" h="329" extrusionOk="0">
                    <a:moveTo>
                      <a:pt x="1" y="1"/>
                    </a:moveTo>
                    <a:lnTo>
                      <a:pt x="1" y="329"/>
                    </a:lnTo>
                    <a:lnTo>
                      <a:pt x="617" y="329"/>
                    </a:lnTo>
                    <a:lnTo>
                      <a:pt x="617" y="158"/>
                    </a:lnTo>
                    <a:lnTo>
                      <a:pt x="171" y="158"/>
                    </a:lnTo>
                    <a:lnTo>
                      <a:pt x="1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403;p45">
                <a:extLst>
                  <a:ext uri="{FF2B5EF4-FFF2-40B4-BE49-F238E27FC236}">
                    <a16:creationId xmlns:a16="http://schemas.microsoft.com/office/drawing/2014/main" id="{64953FE2-5BD0-47F8-F8CC-96720973AF8D}"/>
                  </a:ext>
                </a:extLst>
              </p:cNvPr>
              <p:cNvSpPr/>
              <p:nvPr/>
            </p:nvSpPr>
            <p:spPr>
              <a:xfrm>
                <a:off x="5890292" y="2917885"/>
                <a:ext cx="47101" cy="24968"/>
              </a:xfrm>
              <a:custGeom>
                <a:avLst/>
                <a:gdLst/>
                <a:ahLst/>
                <a:cxnLst/>
                <a:rect l="l" t="t" r="r" b="b"/>
                <a:pathLst>
                  <a:path w="2624" h="1391" extrusionOk="0">
                    <a:moveTo>
                      <a:pt x="0" y="0"/>
                    </a:moveTo>
                    <a:lnTo>
                      <a:pt x="0" y="1391"/>
                    </a:lnTo>
                    <a:lnTo>
                      <a:pt x="2624" y="1391"/>
                    </a:lnTo>
                    <a:lnTo>
                      <a:pt x="26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404;p45">
                <a:extLst>
                  <a:ext uri="{FF2B5EF4-FFF2-40B4-BE49-F238E27FC236}">
                    <a16:creationId xmlns:a16="http://schemas.microsoft.com/office/drawing/2014/main" id="{42B79DBA-C113-0B20-03C3-9F5EBB26FB8B}"/>
                  </a:ext>
                </a:extLst>
              </p:cNvPr>
              <p:cNvSpPr/>
              <p:nvPr/>
            </p:nvSpPr>
            <p:spPr>
              <a:xfrm>
                <a:off x="5907237" y="2922121"/>
                <a:ext cx="15796" cy="16729"/>
              </a:xfrm>
              <a:custGeom>
                <a:avLst/>
                <a:gdLst/>
                <a:ahLst/>
                <a:cxnLst/>
                <a:rect l="l" t="t" r="r" b="b"/>
                <a:pathLst>
                  <a:path w="880" h="932" extrusionOk="0">
                    <a:moveTo>
                      <a:pt x="1" y="0"/>
                    </a:moveTo>
                    <a:lnTo>
                      <a:pt x="1" y="459"/>
                    </a:lnTo>
                    <a:lnTo>
                      <a:pt x="1" y="932"/>
                    </a:lnTo>
                    <a:lnTo>
                      <a:pt x="447" y="695"/>
                    </a:lnTo>
                    <a:lnTo>
                      <a:pt x="880" y="459"/>
                    </a:lnTo>
                    <a:lnTo>
                      <a:pt x="447" y="223"/>
                    </a:ln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2405;p45">
                <a:extLst>
                  <a:ext uri="{FF2B5EF4-FFF2-40B4-BE49-F238E27FC236}">
                    <a16:creationId xmlns:a16="http://schemas.microsoft.com/office/drawing/2014/main" id="{967859E1-D92E-FBA8-5A5E-B7C7194FB015}"/>
                  </a:ext>
                </a:extLst>
              </p:cNvPr>
              <p:cNvSpPr/>
              <p:nvPr/>
            </p:nvSpPr>
            <p:spPr>
              <a:xfrm>
                <a:off x="5097171" y="2413221"/>
                <a:ext cx="931587" cy="52540"/>
              </a:xfrm>
              <a:custGeom>
                <a:avLst/>
                <a:gdLst/>
                <a:ahLst/>
                <a:cxnLst/>
                <a:rect l="l" t="t" r="r" b="b"/>
                <a:pathLst>
                  <a:path w="51899" h="2927" extrusionOk="0">
                    <a:moveTo>
                      <a:pt x="0" y="1"/>
                    </a:moveTo>
                    <a:lnTo>
                      <a:pt x="0" y="2927"/>
                    </a:lnTo>
                    <a:lnTo>
                      <a:pt x="51899" y="2927"/>
                    </a:lnTo>
                    <a:lnTo>
                      <a:pt x="5189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2406;p45">
                <a:extLst>
                  <a:ext uri="{FF2B5EF4-FFF2-40B4-BE49-F238E27FC236}">
                    <a16:creationId xmlns:a16="http://schemas.microsoft.com/office/drawing/2014/main" id="{514F102E-77D8-7363-CBA5-AC65339243B2}"/>
                  </a:ext>
                </a:extLst>
              </p:cNvPr>
              <p:cNvSpPr/>
              <p:nvPr/>
            </p:nvSpPr>
            <p:spPr>
              <a:xfrm>
                <a:off x="5343966" y="2582777"/>
                <a:ext cx="438016" cy="207484"/>
              </a:xfrm>
              <a:custGeom>
                <a:avLst/>
                <a:gdLst/>
                <a:ahLst/>
                <a:cxnLst/>
                <a:rect l="l" t="t" r="r" b="b"/>
                <a:pathLst>
                  <a:path w="24402" h="11559" extrusionOk="0">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2407;p45">
                <a:extLst>
                  <a:ext uri="{FF2B5EF4-FFF2-40B4-BE49-F238E27FC236}">
                    <a16:creationId xmlns:a16="http://schemas.microsoft.com/office/drawing/2014/main" id="{117F74E7-B304-32C5-D008-F13057D99D58}"/>
                  </a:ext>
                </a:extLst>
              </p:cNvPr>
              <p:cNvSpPr/>
              <p:nvPr/>
            </p:nvSpPr>
            <p:spPr>
              <a:xfrm>
                <a:off x="5343966" y="2582777"/>
                <a:ext cx="438016" cy="207484"/>
              </a:xfrm>
              <a:custGeom>
                <a:avLst/>
                <a:gdLst/>
                <a:ahLst/>
                <a:cxnLst/>
                <a:rect l="l" t="t" r="r" b="b"/>
                <a:pathLst>
                  <a:path w="24402" h="11559" fill="none" extrusionOk="0">
                    <a:moveTo>
                      <a:pt x="5720" y="1"/>
                    </a:moveTo>
                    <a:lnTo>
                      <a:pt x="5720" y="1"/>
                    </a:lnTo>
                    <a:lnTo>
                      <a:pt x="5982" y="1"/>
                    </a:lnTo>
                    <a:lnTo>
                      <a:pt x="6245" y="14"/>
                    </a:lnTo>
                    <a:lnTo>
                      <a:pt x="6507" y="53"/>
                    </a:lnTo>
                    <a:lnTo>
                      <a:pt x="6756" y="93"/>
                    </a:lnTo>
                    <a:lnTo>
                      <a:pt x="7019" y="145"/>
                    </a:lnTo>
                    <a:lnTo>
                      <a:pt x="7268" y="197"/>
                    </a:lnTo>
                    <a:lnTo>
                      <a:pt x="7504" y="276"/>
                    </a:lnTo>
                    <a:lnTo>
                      <a:pt x="7740" y="355"/>
                    </a:lnTo>
                    <a:lnTo>
                      <a:pt x="7976" y="460"/>
                    </a:lnTo>
                    <a:lnTo>
                      <a:pt x="8213" y="552"/>
                    </a:lnTo>
                    <a:lnTo>
                      <a:pt x="8436" y="670"/>
                    </a:lnTo>
                    <a:lnTo>
                      <a:pt x="8659" y="801"/>
                    </a:lnTo>
                    <a:lnTo>
                      <a:pt x="8868" y="932"/>
                    </a:lnTo>
                    <a:lnTo>
                      <a:pt x="9078" y="1063"/>
                    </a:lnTo>
                    <a:lnTo>
                      <a:pt x="9275" y="1221"/>
                    </a:lnTo>
                    <a:lnTo>
                      <a:pt x="9472" y="1378"/>
                    </a:lnTo>
                    <a:lnTo>
                      <a:pt x="9656" y="1549"/>
                    </a:lnTo>
                    <a:lnTo>
                      <a:pt x="9839" y="1719"/>
                    </a:lnTo>
                    <a:lnTo>
                      <a:pt x="10010" y="1903"/>
                    </a:lnTo>
                    <a:lnTo>
                      <a:pt x="10167" y="2087"/>
                    </a:lnTo>
                    <a:lnTo>
                      <a:pt x="10325" y="2283"/>
                    </a:lnTo>
                    <a:lnTo>
                      <a:pt x="10482" y="2493"/>
                    </a:lnTo>
                    <a:lnTo>
                      <a:pt x="10613" y="2703"/>
                    </a:lnTo>
                    <a:lnTo>
                      <a:pt x="10745" y="2913"/>
                    </a:lnTo>
                    <a:lnTo>
                      <a:pt x="10863" y="3136"/>
                    </a:lnTo>
                    <a:lnTo>
                      <a:pt x="10981" y="3372"/>
                    </a:lnTo>
                    <a:lnTo>
                      <a:pt x="11072" y="3595"/>
                    </a:lnTo>
                    <a:lnTo>
                      <a:pt x="11164" y="3845"/>
                    </a:lnTo>
                    <a:lnTo>
                      <a:pt x="11256" y="4081"/>
                    </a:lnTo>
                    <a:lnTo>
                      <a:pt x="11322" y="4330"/>
                    </a:lnTo>
                    <a:lnTo>
                      <a:pt x="11374" y="4579"/>
                    </a:lnTo>
                    <a:lnTo>
                      <a:pt x="11427" y="4842"/>
                    </a:lnTo>
                    <a:lnTo>
                      <a:pt x="11427" y="4842"/>
                    </a:lnTo>
                    <a:lnTo>
                      <a:pt x="11610" y="4789"/>
                    </a:lnTo>
                    <a:lnTo>
                      <a:pt x="11794" y="4763"/>
                    </a:lnTo>
                    <a:lnTo>
                      <a:pt x="11991" y="4750"/>
                    </a:lnTo>
                    <a:lnTo>
                      <a:pt x="12188" y="4737"/>
                    </a:lnTo>
                    <a:lnTo>
                      <a:pt x="12188" y="4737"/>
                    </a:lnTo>
                    <a:lnTo>
                      <a:pt x="12384" y="4750"/>
                    </a:lnTo>
                    <a:lnTo>
                      <a:pt x="12581" y="4763"/>
                    </a:lnTo>
                    <a:lnTo>
                      <a:pt x="12778" y="4789"/>
                    </a:lnTo>
                    <a:lnTo>
                      <a:pt x="12988" y="4842"/>
                    </a:lnTo>
                    <a:lnTo>
                      <a:pt x="12988" y="4842"/>
                    </a:lnTo>
                    <a:lnTo>
                      <a:pt x="13040" y="4579"/>
                    </a:lnTo>
                    <a:lnTo>
                      <a:pt x="13093" y="4330"/>
                    </a:lnTo>
                    <a:lnTo>
                      <a:pt x="13172" y="4081"/>
                    </a:lnTo>
                    <a:lnTo>
                      <a:pt x="13250" y="3845"/>
                    </a:lnTo>
                    <a:lnTo>
                      <a:pt x="13342" y="3608"/>
                    </a:lnTo>
                    <a:lnTo>
                      <a:pt x="13434" y="3385"/>
                    </a:lnTo>
                    <a:lnTo>
                      <a:pt x="13552" y="3162"/>
                    </a:lnTo>
                    <a:lnTo>
                      <a:pt x="13670" y="2939"/>
                    </a:lnTo>
                    <a:lnTo>
                      <a:pt x="13801" y="2729"/>
                    </a:lnTo>
                    <a:lnTo>
                      <a:pt x="13932" y="2520"/>
                    </a:lnTo>
                    <a:lnTo>
                      <a:pt x="14077" y="2323"/>
                    </a:lnTo>
                    <a:lnTo>
                      <a:pt x="14234" y="2126"/>
                    </a:lnTo>
                    <a:lnTo>
                      <a:pt x="14392" y="1942"/>
                    </a:lnTo>
                    <a:lnTo>
                      <a:pt x="14562" y="1759"/>
                    </a:lnTo>
                    <a:lnTo>
                      <a:pt x="14746" y="1588"/>
                    </a:lnTo>
                    <a:lnTo>
                      <a:pt x="14929" y="1431"/>
                    </a:lnTo>
                    <a:lnTo>
                      <a:pt x="15113" y="1273"/>
                    </a:lnTo>
                    <a:lnTo>
                      <a:pt x="15310" y="1129"/>
                    </a:lnTo>
                    <a:lnTo>
                      <a:pt x="15520" y="985"/>
                    </a:lnTo>
                    <a:lnTo>
                      <a:pt x="15730" y="853"/>
                    </a:lnTo>
                    <a:lnTo>
                      <a:pt x="15940" y="735"/>
                    </a:lnTo>
                    <a:lnTo>
                      <a:pt x="16163" y="617"/>
                    </a:lnTo>
                    <a:lnTo>
                      <a:pt x="16399" y="525"/>
                    </a:lnTo>
                    <a:lnTo>
                      <a:pt x="16622" y="420"/>
                    </a:lnTo>
                    <a:lnTo>
                      <a:pt x="16858" y="342"/>
                    </a:lnTo>
                    <a:lnTo>
                      <a:pt x="17107" y="276"/>
                    </a:lnTo>
                    <a:lnTo>
                      <a:pt x="17343" y="211"/>
                    </a:lnTo>
                    <a:lnTo>
                      <a:pt x="17593" y="158"/>
                    </a:lnTo>
                    <a:lnTo>
                      <a:pt x="17855" y="119"/>
                    </a:lnTo>
                    <a:lnTo>
                      <a:pt x="18104" y="79"/>
                    </a:lnTo>
                    <a:lnTo>
                      <a:pt x="18367" y="66"/>
                    </a:lnTo>
                    <a:lnTo>
                      <a:pt x="18629" y="53"/>
                    </a:lnTo>
                    <a:lnTo>
                      <a:pt x="18629" y="53"/>
                    </a:lnTo>
                    <a:lnTo>
                      <a:pt x="18918" y="66"/>
                    </a:lnTo>
                    <a:lnTo>
                      <a:pt x="19219" y="93"/>
                    </a:lnTo>
                    <a:lnTo>
                      <a:pt x="19508" y="119"/>
                    </a:lnTo>
                    <a:lnTo>
                      <a:pt x="19783" y="171"/>
                    </a:lnTo>
                    <a:lnTo>
                      <a:pt x="20059" y="237"/>
                    </a:lnTo>
                    <a:lnTo>
                      <a:pt x="20334" y="316"/>
                    </a:lnTo>
                    <a:lnTo>
                      <a:pt x="20610" y="394"/>
                    </a:lnTo>
                    <a:lnTo>
                      <a:pt x="20859" y="499"/>
                    </a:lnTo>
                    <a:lnTo>
                      <a:pt x="21122" y="617"/>
                    </a:lnTo>
                    <a:lnTo>
                      <a:pt x="21371" y="735"/>
                    </a:lnTo>
                    <a:lnTo>
                      <a:pt x="21607" y="880"/>
                    </a:lnTo>
                    <a:lnTo>
                      <a:pt x="21843" y="1024"/>
                    </a:lnTo>
                    <a:lnTo>
                      <a:pt x="22066" y="1181"/>
                    </a:lnTo>
                    <a:lnTo>
                      <a:pt x="22289" y="1352"/>
                    </a:lnTo>
                    <a:lnTo>
                      <a:pt x="22499" y="1536"/>
                    </a:lnTo>
                    <a:lnTo>
                      <a:pt x="22696" y="1732"/>
                    </a:lnTo>
                    <a:lnTo>
                      <a:pt x="22893" y="1929"/>
                    </a:lnTo>
                    <a:lnTo>
                      <a:pt x="23076" y="2139"/>
                    </a:lnTo>
                    <a:lnTo>
                      <a:pt x="23247" y="2349"/>
                    </a:lnTo>
                    <a:lnTo>
                      <a:pt x="23404" y="2572"/>
                    </a:lnTo>
                    <a:lnTo>
                      <a:pt x="23562" y="2808"/>
                    </a:lnTo>
                    <a:lnTo>
                      <a:pt x="23693" y="3044"/>
                    </a:lnTo>
                    <a:lnTo>
                      <a:pt x="23824" y="3294"/>
                    </a:lnTo>
                    <a:lnTo>
                      <a:pt x="23942" y="3543"/>
                    </a:lnTo>
                    <a:lnTo>
                      <a:pt x="24047" y="3805"/>
                    </a:lnTo>
                    <a:lnTo>
                      <a:pt x="24139" y="4081"/>
                    </a:lnTo>
                    <a:lnTo>
                      <a:pt x="24218" y="4343"/>
                    </a:lnTo>
                    <a:lnTo>
                      <a:pt x="24283" y="4632"/>
                    </a:lnTo>
                    <a:lnTo>
                      <a:pt x="24336" y="4907"/>
                    </a:lnTo>
                    <a:lnTo>
                      <a:pt x="24375" y="5196"/>
                    </a:lnTo>
                    <a:lnTo>
                      <a:pt x="24401" y="5484"/>
                    </a:lnTo>
                    <a:lnTo>
                      <a:pt x="24401" y="5786"/>
                    </a:lnTo>
                    <a:lnTo>
                      <a:pt x="24401" y="5786"/>
                    </a:lnTo>
                    <a:lnTo>
                      <a:pt x="24401" y="6075"/>
                    </a:lnTo>
                    <a:lnTo>
                      <a:pt x="24375" y="6377"/>
                    </a:lnTo>
                    <a:lnTo>
                      <a:pt x="24336" y="6652"/>
                    </a:lnTo>
                    <a:lnTo>
                      <a:pt x="24296" y="6941"/>
                    </a:lnTo>
                    <a:lnTo>
                      <a:pt x="24231" y="7216"/>
                    </a:lnTo>
                    <a:lnTo>
                      <a:pt x="24152" y="7492"/>
                    </a:lnTo>
                    <a:lnTo>
                      <a:pt x="24060" y="7754"/>
                    </a:lnTo>
                    <a:lnTo>
                      <a:pt x="23968" y="8016"/>
                    </a:lnTo>
                    <a:lnTo>
                      <a:pt x="23850" y="8279"/>
                    </a:lnTo>
                    <a:lnTo>
                      <a:pt x="23719" y="8528"/>
                    </a:lnTo>
                    <a:lnTo>
                      <a:pt x="23588" y="8764"/>
                    </a:lnTo>
                    <a:lnTo>
                      <a:pt x="23431" y="9000"/>
                    </a:lnTo>
                    <a:lnTo>
                      <a:pt x="23273" y="9223"/>
                    </a:lnTo>
                    <a:lnTo>
                      <a:pt x="23103" y="9446"/>
                    </a:lnTo>
                    <a:lnTo>
                      <a:pt x="22932" y="9656"/>
                    </a:lnTo>
                    <a:lnTo>
                      <a:pt x="22735" y="9853"/>
                    </a:lnTo>
                    <a:lnTo>
                      <a:pt x="22538" y="10050"/>
                    </a:lnTo>
                    <a:lnTo>
                      <a:pt x="22329" y="10234"/>
                    </a:lnTo>
                    <a:lnTo>
                      <a:pt x="22119" y="10404"/>
                    </a:lnTo>
                    <a:lnTo>
                      <a:pt x="21882" y="10561"/>
                    </a:lnTo>
                    <a:lnTo>
                      <a:pt x="21659" y="10719"/>
                    </a:lnTo>
                    <a:lnTo>
                      <a:pt x="21410" y="10850"/>
                    </a:lnTo>
                    <a:lnTo>
                      <a:pt x="21174" y="10981"/>
                    </a:lnTo>
                    <a:lnTo>
                      <a:pt x="20912" y="11099"/>
                    </a:lnTo>
                    <a:lnTo>
                      <a:pt x="20649" y="11204"/>
                    </a:lnTo>
                    <a:lnTo>
                      <a:pt x="20387" y="11296"/>
                    </a:lnTo>
                    <a:lnTo>
                      <a:pt x="20111" y="11375"/>
                    </a:lnTo>
                    <a:lnTo>
                      <a:pt x="19836" y="11440"/>
                    </a:lnTo>
                    <a:lnTo>
                      <a:pt x="19560" y="11493"/>
                    </a:lnTo>
                    <a:lnTo>
                      <a:pt x="19272" y="11532"/>
                    </a:lnTo>
                    <a:lnTo>
                      <a:pt x="18970" y="11545"/>
                    </a:lnTo>
                    <a:lnTo>
                      <a:pt x="18681" y="11559"/>
                    </a:lnTo>
                    <a:lnTo>
                      <a:pt x="18681" y="11559"/>
                    </a:lnTo>
                    <a:lnTo>
                      <a:pt x="18393" y="11559"/>
                    </a:lnTo>
                    <a:lnTo>
                      <a:pt x="18104" y="11532"/>
                    </a:lnTo>
                    <a:lnTo>
                      <a:pt x="17829" y="11506"/>
                    </a:lnTo>
                    <a:lnTo>
                      <a:pt x="17553" y="11454"/>
                    </a:lnTo>
                    <a:lnTo>
                      <a:pt x="17278" y="11388"/>
                    </a:lnTo>
                    <a:lnTo>
                      <a:pt x="17002" y="11322"/>
                    </a:lnTo>
                    <a:lnTo>
                      <a:pt x="16740" y="11231"/>
                    </a:lnTo>
                    <a:lnTo>
                      <a:pt x="16491" y="11139"/>
                    </a:lnTo>
                    <a:lnTo>
                      <a:pt x="16241" y="11034"/>
                    </a:lnTo>
                    <a:lnTo>
                      <a:pt x="15992" y="10903"/>
                    </a:lnTo>
                    <a:lnTo>
                      <a:pt x="15756" y="10771"/>
                    </a:lnTo>
                    <a:lnTo>
                      <a:pt x="15520" y="10627"/>
                    </a:lnTo>
                    <a:lnTo>
                      <a:pt x="15297" y="10483"/>
                    </a:lnTo>
                    <a:lnTo>
                      <a:pt x="15087" y="10312"/>
                    </a:lnTo>
                    <a:lnTo>
                      <a:pt x="14877" y="10142"/>
                    </a:lnTo>
                    <a:lnTo>
                      <a:pt x="14680" y="9958"/>
                    </a:lnTo>
                    <a:lnTo>
                      <a:pt x="14483" y="9774"/>
                    </a:lnTo>
                    <a:lnTo>
                      <a:pt x="14313" y="9564"/>
                    </a:lnTo>
                    <a:lnTo>
                      <a:pt x="14129" y="9355"/>
                    </a:lnTo>
                    <a:lnTo>
                      <a:pt x="13972" y="9145"/>
                    </a:lnTo>
                    <a:lnTo>
                      <a:pt x="13814" y="8922"/>
                    </a:lnTo>
                    <a:lnTo>
                      <a:pt x="13683" y="8685"/>
                    </a:lnTo>
                    <a:lnTo>
                      <a:pt x="13552" y="8449"/>
                    </a:lnTo>
                    <a:lnTo>
                      <a:pt x="13434" y="8200"/>
                    </a:lnTo>
                    <a:lnTo>
                      <a:pt x="13316" y="7951"/>
                    </a:lnTo>
                    <a:lnTo>
                      <a:pt x="13224" y="7688"/>
                    </a:lnTo>
                    <a:lnTo>
                      <a:pt x="13132" y="7426"/>
                    </a:lnTo>
                    <a:lnTo>
                      <a:pt x="13067" y="7151"/>
                    </a:lnTo>
                    <a:lnTo>
                      <a:pt x="13001" y="6875"/>
                    </a:lnTo>
                    <a:lnTo>
                      <a:pt x="12962" y="6600"/>
                    </a:lnTo>
                    <a:lnTo>
                      <a:pt x="12922" y="6311"/>
                    </a:lnTo>
                    <a:lnTo>
                      <a:pt x="12909" y="6022"/>
                    </a:lnTo>
                    <a:lnTo>
                      <a:pt x="12909" y="6022"/>
                    </a:lnTo>
                    <a:lnTo>
                      <a:pt x="12725" y="5970"/>
                    </a:lnTo>
                    <a:lnTo>
                      <a:pt x="12542" y="5930"/>
                    </a:lnTo>
                    <a:lnTo>
                      <a:pt x="12358" y="5904"/>
                    </a:lnTo>
                    <a:lnTo>
                      <a:pt x="12188" y="5904"/>
                    </a:lnTo>
                    <a:lnTo>
                      <a:pt x="12188" y="5904"/>
                    </a:lnTo>
                    <a:lnTo>
                      <a:pt x="11978" y="5917"/>
                    </a:lnTo>
                    <a:lnTo>
                      <a:pt x="11781" y="5944"/>
                    </a:lnTo>
                    <a:lnTo>
                      <a:pt x="11623" y="5996"/>
                    </a:lnTo>
                    <a:lnTo>
                      <a:pt x="11492" y="6049"/>
                    </a:lnTo>
                    <a:lnTo>
                      <a:pt x="11492" y="6049"/>
                    </a:lnTo>
                    <a:lnTo>
                      <a:pt x="11466" y="6324"/>
                    </a:lnTo>
                    <a:lnTo>
                      <a:pt x="11427" y="6600"/>
                    </a:lnTo>
                    <a:lnTo>
                      <a:pt x="11387" y="6875"/>
                    </a:lnTo>
                    <a:lnTo>
                      <a:pt x="11322" y="7137"/>
                    </a:lnTo>
                    <a:lnTo>
                      <a:pt x="11243" y="7413"/>
                    </a:lnTo>
                    <a:lnTo>
                      <a:pt x="11164" y="7662"/>
                    </a:lnTo>
                    <a:lnTo>
                      <a:pt x="11059" y="7925"/>
                    </a:lnTo>
                    <a:lnTo>
                      <a:pt x="10954" y="8161"/>
                    </a:lnTo>
                    <a:lnTo>
                      <a:pt x="10836" y="8410"/>
                    </a:lnTo>
                    <a:lnTo>
                      <a:pt x="10705" y="8646"/>
                    </a:lnTo>
                    <a:lnTo>
                      <a:pt x="10561" y="8869"/>
                    </a:lnTo>
                    <a:lnTo>
                      <a:pt x="10417" y="9092"/>
                    </a:lnTo>
                    <a:lnTo>
                      <a:pt x="10246" y="9302"/>
                    </a:lnTo>
                    <a:lnTo>
                      <a:pt x="10075" y="9512"/>
                    </a:lnTo>
                    <a:lnTo>
                      <a:pt x="9905" y="9709"/>
                    </a:lnTo>
                    <a:lnTo>
                      <a:pt x="9708" y="9892"/>
                    </a:lnTo>
                    <a:lnTo>
                      <a:pt x="9511" y="10076"/>
                    </a:lnTo>
                    <a:lnTo>
                      <a:pt x="9301" y="10247"/>
                    </a:lnTo>
                    <a:lnTo>
                      <a:pt x="9092" y="10404"/>
                    </a:lnTo>
                    <a:lnTo>
                      <a:pt x="8868" y="10561"/>
                    </a:lnTo>
                    <a:lnTo>
                      <a:pt x="8645" y="10706"/>
                    </a:lnTo>
                    <a:lnTo>
                      <a:pt x="8409" y="10837"/>
                    </a:lnTo>
                    <a:lnTo>
                      <a:pt x="8173" y="10955"/>
                    </a:lnTo>
                    <a:lnTo>
                      <a:pt x="7924" y="11060"/>
                    </a:lnTo>
                    <a:lnTo>
                      <a:pt x="7675" y="11165"/>
                    </a:lnTo>
                    <a:lnTo>
                      <a:pt x="7412" y="11244"/>
                    </a:lnTo>
                    <a:lnTo>
                      <a:pt x="7150" y="11322"/>
                    </a:lnTo>
                    <a:lnTo>
                      <a:pt x="6888" y="11388"/>
                    </a:lnTo>
                    <a:lnTo>
                      <a:pt x="6612" y="11427"/>
                    </a:lnTo>
                    <a:lnTo>
                      <a:pt x="6337" y="11467"/>
                    </a:lnTo>
                    <a:lnTo>
                      <a:pt x="6061" y="11493"/>
                    </a:lnTo>
                    <a:lnTo>
                      <a:pt x="5772" y="11493"/>
                    </a:lnTo>
                    <a:lnTo>
                      <a:pt x="5772" y="11493"/>
                    </a:lnTo>
                    <a:lnTo>
                      <a:pt x="5484" y="11493"/>
                    </a:lnTo>
                    <a:lnTo>
                      <a:pt x="5195" y="11467"/>
                    </a:lnTo>
                    <a:lnTo>
                      <a:pt x="4907" y="11440"/>
                    </a:lnTo>
                    <a:lnTo>
                      <a:pt x="4618" y="11388"/>
                    </a:lnTo>
                    <a:lnTo>
                      <a:pt x="4342" y="11322"/>
                    </a:lnTo>
                    <a:lnTo>
                      <a:pt x="4067" y="11244"/>
                    </a:lnTo>
                    <a:lnTo>
                      <a:pt x="3805" y="11152"/>
                    </a:lnTo>
                    <a:lnTo>
                      <a:pt x="3542" y="11060"/>
                    </a:lnTo>
                    <a:lnTo>
                      <a:pt x="3280" y="10942"/>
                    </a:lnTo>
                    <a:lnTo>
                      <a:pt x="3031" y="10811"/>
                    </a:lnTo>
                    <a:lnTo>
                      <a:pt x="2794" y="10680"/>
                    </a:lnTo>
                    <a:lnTo>
                      <a:pt x="2558" y="10522"/>
                    </a:lnTo>
                    <a:lnTo>
                      <a:pt x="2335" y="10365"/>
                    </a:lnTo>
                    <a:lnTo>
                      <a:pt x="2112" y="10194"/>
                    </a:lnTo>
                    <a:lnTo>
                      <a:pt x="1902" y="10024"/>
                    </a:lnTo>
                    <a:lnTo>
                      <a:pt x="1706" y="9827"/>
                    </a:lnTo>
                    <a:lnTo>
                      <a:pt x="1509" y="9630"/>
                    </a:lnTo>
                    <a:lnTo>
                      <a:pt x="1338" y="9420"/>
                    </a:lnTo>
                    <a:lnTo>
                      <a:pt x="1155" y="9210"/>
                    </a:lnTo>
                    <a:lnTo>
                      <a:pt x="997" y="8987"/>
                    </a:lnTo>
                    <a:lnTo>
                      <a:pt x="853" y="8751"/>
                    </a:lnTo>
                    <a:lnTo>
                      <a:pt x="708" y="8515"/>
                    </a:lnTo>
                    <a:lnTo>
                      <a:pt x="577" y="8266"/>
                    </a:lnTo>
                    <a:lnTo>
                      <a:pt x="459" y="8003"/>
                    </a:lnTo>
                    <a:lnTo>
                      <a:pt x="354" y="7741"/>
                    </a:lnTo>
                    <a:lnTo>
                      <a:pt x="262" y="7479"/>
                    </a:lnTo>
                    <a:lnTo>
                      <a:pt x="184" y="7203"/>
                    </a:lnTo>
                    <a:lnTo>
                      <a:pt x="118" y="6928"/>
                    </a:lnTo>
                    <a:lnTo>
                      <a:pt x="66" y="6652"/>
                    </a:lnTo>
                    <a:lnTo>
                      <a:pt x="26" y="6363"/>
                    </a:lnTo>
                    <a:lnTo>
                      <a:pt x="13" y="6075"/>
                    </a:lnTo>
                    <a:lnTo>
                      <a:pt x="0" y="5773"/>
                    </a:lnTo>
                    <a:lnTo>
                      <a:pt x="0" y="5773"/>
                    </a:lnTo>
                    <a:lnTo>
                      <a:pt x="0" y="5471"/>
                    </a:lnTo>
                    <a:lnTo>
                      <a:pt x="26" y="5183"/>
                    </a:lnTo>
                    <a:lnTo>
                      <a:pt x="66" y="4894"/>
                    </a:lnTo>
                    <a:lnTo>
                      <a:pt x="105" y="4619"/>
                    </a:lnTo>
                    <a:lnTo>
                      <a:pt x="171" y="4343"/>
                    </a:lnTo>
                    <a:lnTo>
                      <a:pt x="249" y="4068"/>
                    </a:lnTo>
                    <a:lnTo>
                      <a:pt x="341" y="3792"/>
                    </a:lnTo>
                    <a:lnTo>
                      <a:pt x="446" y="3530"/>
                    </a:lnTo>
                    <a:lnTo>
                      <a:pt x="551" y="3280"/>
                    </a:lnTo>
                    <a:lnTo>
                      <a:pt x="682" y="3031"/>
                    </a:lnTo>
                    <a:lnTo>
                      <a:pt x="813" y="2795"/>
                    </a:lnTo>
                    <a:lnTo>
                      <a:pt x="971" y="2559"/>
                    </a:lnTo>
                    <a:lnTo>
                      <a:pt x="1128" y="2336"/>
                    </a:lnTo>
                    <a:lnTo>
                      <a:pt x="1299" y="2113"/>
                    </a:lnTo>
                    <a:lnTo>
                      <a:pt x="1483" y="1903"/>
                    </a:lnTo>
                    <a:lnTo>
                      <a:pt x="1666" y="1706"/>
                    </a:lnTo>
                    <a:lnTo>
                      <a:pt x="1863" y="1509"/>
                    </a:lnTo>
                    <a:lnTo>
                      <a:pt x="2073" y="1326"/>
                    </a:lnTo>
                    <a:lnTo>
                      <a:pt x="2296" y="1155"/>
                    </a:lnTo>
                    <a:lnTo>
                      <a:pt x="2519" y="998"/>
                    </a:lnTo>
                    <a:lnTo>
                      <a:pt x="2742" y="840"/>
                    </a:lnTo>
                    <a:lnTo>
                      <a:pt x="2991" y="709"/>
                    </a:lnTo>
                    <a:lnTo>
                      <a:pt x="3240" y="578"/>
                    </a:lnTo>
                    <a:lnTo>
                      <a:pt x="3490" y="460"/>
                    </a:lnTo>
                    <a:lnTo>
                      <a:pt x="3752" y="355"/>
                    </a:lnTo>
                    <a:lnTo>
                      <a:pt x="4014" y="263"/>
                    </a:lnTo>
                    <a:lnTo>
                      <a:pt x="4290" y="184"/>
                    </a:lnTo>
                    <a:lnTo>
                      <a:pt x="4565" y="119"/>
                    </a:lnTo>
                    <a:lnTo>
                      <a:pt x="4854" y="66"/>
                    </a:lnTo>
                    <a:lnTo>
                      <a:pt x="5143" y="27"/>
                    </a:lnTo>
                    <a:lnTo>
                      <a:pt x="5431" y="1"/>
                    </a:lnTo>
                    <a:lnTo>
                      <a:pt x="5720"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2408;p45">
                <a:extLst>
                  <a:ext uri="{FF2B5EF4-FFF2-40B4-BE49-F238E27FC236}">
                    <a16:creationId xmlns:a16="http://schemas.microsoft.com/office/drawing/2014/main" id="{18D83A1C-9B08-3955-D805-503EF4D866A7}"/>
                  </a:ext>
                </a:extLst>
              </p:cNvPr>
              <p:cNvSpPr/>
              <p:nvPr/>
            </p:nvSpPr>
            <p:spPr>
              <a:xfrm>
                <a:off x="5595463" y="2603024"/>
                <a:ext cx="162268" cy="163453"/>
              </a:xfrm>
              <a:custGeom>
                <a:avLst/>
                <a:gdLst/>
                <a:ahLst/>
                <a:cxnLst/>
                <a:rect l="l" t="t" r="r" b="b"/>
                <a:pathLst>
                  <a:path w="9040" h="9106" extrusionOk="0">
                    <a:moveTo>
                      <a:pt x="7963" y="1"/>
                    </a:moveTo>
                    <a:lnTo>
                      <a:pt x="5982" y="2021"/>
                    </a:lnTo>
                    <a:lnTo>
                      <a:pt x="4001" y="4028"/>
                    </a:lnTo>
                    <a:lnTo>
                      <a:pt x="0" y="8043"/>
                    </a:lnTo>
                    <a:lnTo>
                      <a:pt x="223" y="8331"/>
                    </a:lnTo>
                    <a:lnTo>
                      <a:pt x="459" y="8607"/>
                    </a:lnTo>
                    <a:lnTo>
                      <a:pt x="709" y="8869"/>
                    </a:lnTo>
                    <a:lnTo>
                      <a:pt x="984" y="9106"/>
                    </a:lnTo>
                    <a:lnTo>
                      <a:pt x="9039" y="972"/>
                    </a:lnTo>
                    <a:lnTo>
                      <a:pt x="8790" y="709"/>
                    </a:lnTo>
                    <a:lnTo>
                      <a:pt x="8527" y="447"/>
                    </a:lnTo>
                    <a:lnTo>
                      <a:pt x="8252" y="211"/>
                    </a:lnTo>
                    <a:lnTo>
                      <a:pt x="796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2409;p45">
                <a:extLst>
                  <a:ext uri="{FF2B5EF4-FFF2-40B4-BE49-F238E27FC236}">
                    <a16:creationId xmlns:a16="http://schemas.microsoft.com/office/drawing/2014/main" id="{9B1A8701-12AF-F0F5-CAC0-A6F92829CC0A}"/>
                  </a:ext>
                </a:extLst>
              </p:cNvPr>
              <p:cNvSpPr/>
              <p:nvPr/>
            </p:nvSpPr>
            <p:spPr>
              <a:xfrm>
                <a:off x="5595463" y="2603024"/>
                <a:ext cx="162268" cy="163453"/>
              </a:xfrm>
              <a:custGeom>
                <a:avLst/>
                <a:gdLst/>
                <a:ahLst/>
                <a:cxnLst/>
                <a:rect l="l" t="t" r="r" b="b"/>
                <a:pathLst>
                  <a:path w="9040" h="9106" fill="none" extrusionOk="0">
                    <a:moveTo>
                      <a:pt x="7963" y="1"/>
                    </a:moveTo>
                    <a:lnTo>
                      <a:pt x="7963" y="1"/>
                    </a:lnTo>
                    <a:lnTo>
                      <a:pt x="5982" y="2021"/>
                    </a:lnTo>
                    <a:lnTo>
                      <a:pt x="4001" y="4028"/>
                    </a:lnTo>
                    <a:lnTo>
                      <a:pt x="0" y="8043"/>
                    </a:lnTo>
                    <a:lnTo>
                      <a:pt x="0" y="8043"/>
                    </a:lnTo>
                    <a:lnTo>
                      <a:pt x="223" y="8331"/>
                    </a:lnTo>
                    <a:lnTo>
                      <a:pt x="459" y="8607"/>
                    </a:lnTo>
                    <a:lnTo>
                      <a:pt x="709" y="8869"/>
                    </a:lnTo>
                    <a:lnTo>
                      <a:pt x="984" y="9106"/>
                    </a:lnTo>
                    <a:lnTo>
                      <a:pt x="984" y="9106"/>
                    </a:lnTo>
                    <a:lnTo>
                      <a:pt x="9039" y="972"/>
                    </a:lnTo>
                    <a:lnTo>
                      <a:pt x="9039" y="972"/>
                    </a:lnTo>
                    <a:lnTo>
                      <a:pt x="8790" y="709"/>
                    </a:lnTo>
                    <a:lnTo>
                      <a:pt x="8527" y="447"/>
                    </a:lnTo>
                    <a:lnTo>
                      <a:pt x="8252" y="211"/>
                    </a:lnTo>
                    <a:lnTo>
                      <a:pt x="796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2410;p45">
                <a:extLst>
                  <a:ext uri="{FF2B5EF4-FFF2-40B4-BE49-F238E27FC236}">
                    <a16:creationId xmlns:a16="http://schemas.microsoft.com/office/drawing/2014/main" id="{A846E87A-250C-5AB0-77F9-FFBF00A67912}"/>
                  </a:ext>
                </a:extLst>
              </p:cNvPr>
              <p:cNvSpPr/>
              <p:nvPr/>
            </p:nvSpPr>
            <p:spPr>
              <a:xfrm>
                <a:off x="5354556" y="2592667"/>
                <a:ext cx="163686" cy="165104"/>
              </a:xfrm>
              <a:custGeom>
                <a:avLst/>
                <a:gdLst/>
                <a:ahLst/>
                <a:cxnLst/>
                <a:rect l="l" t="t" r="r" b="b"/>
                <a:pathLst>
                  <a:path w="9119" h="9198" extrusionOk="0">
                    <a:moveTo>
                      <a:pt x="7583" y="1"/>
                    </a:moveTo>
                    <a:lnTo>
                      <a:pt x="7570" y="53"/>
                    </a:lnTo>
                    <a:lnTo>
                      <a:pt x="7544" y="106"/>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8948" y="893"/>
                    </a:lnTo>
                    <a:lnTo>
                      <a:pt x="8764" y="735"/>
                    </a:lnTo>
                    <a:lnTo>
                      <a:pt x="8580" y="604"/>
                    </a:lnTo>
                    <a:lnTo>
                      <a:pt x="8397" y="460"/>
                    </a:lnTo>
                    <a:lnTo>
                      <a:pt x="8200" y="342"/>
                    </a:lnTo>
                    <a:lnTo>
                      <a:pt x="8003" y="224"/>
                    </a:lnTo>
                    <a:lnTo>
                      <a:pt x="7793" y="106"/>
                    </a:lnTo>
                    <a:lnTo>
                      <a:pt x="758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2411;p45">
                <a:extLst>
                  <a:ext uri="{FF2B5EF4-FFF2-40B4-BE49-F238E27FC236}">
                    <a16:creationId xmlns:a16="http://schemas.microsoft.com/office/drawing/2014/main" id="{D75B4EC9-919F-095F-9E4E-12E2019AA0FE}"/>
                  </a:ext>
                </a:extLst>
              </p:cNvPr>
              <p:cNvSpPr/>
              <p:nvPr/>
            </p:nvSpPr>
            <p:spPr>
              <a:xfrm>
                <a:off x="5354556" y="2592667"/>
                <a:ext cx="163686" cy="165104"/>
              </a:xfrm>
              <a:custGeom>
                <a:avLst/>
                <a:gdLst/>
                <a:ahLst/>
                <a:cxnLst/>
                <a:rect l="l" t="t" r="r" b="b"/>
                <a:pathLst>
                  <a:path w="9119" h="9198" fill="none" extrusionOk="0">
                    <a:moveTo>
                      <a:pt x="7583" y="1"/>
                    </a:moveTo>
                    <a:lnTo>
                      <a:pt x="7583" y="1"/>
                    </a:lnTo>
                    <a:lnTo>
                      <a:pt x="7570" y="53"/>
                    </a:lnTo>
                    <a:lnTo>
                      <a:pt x="7544" y="106"/>
                    </a:lnTo>
                    <a:lnTo>
                      <a:pt x="0" y="7715"/>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9118" y="1050"/>
                    </a:lnTo>
                    <a:lnTo>
                      <a:pt x="8948" y="893"/>
                    </a:lnTo>
                    <a:lnTo>
                      <a:pt x="8764" y="735"/>
                    </a:lnTo>
                    <a:lnTo>
                      <a:pt x="8580" y="604"/>
                    </a:lnTo>
                    <a:lnTo>
                      <a:pt x="8397" y="460"/>
                    </a:lnTo>
                    <a:lnTo>
                      <a:pt x="8200" y="342"/>
                    </a:lnTo>
                    <a:lnTo>
                      <a:pt x="8003" y="224"/>
                    </a:lnTo>
                    <a:lnTo>
                      <a:pt x="7793" y="106"/>
                    </a:lnTo>
                    <a:lnTo>
                      <a:pt x="758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2412;p45">
                <a:extLst>
                  <a:ext uri="{FF2B5EF4-FFF2-40B4-BE49-F238E27FC236}">
                    <a16:creationId xmlns:a16="http://schemas.microsoft.com/office/drawing/2014/main" id="{886601BE-3E36-1A06-684A-2976D705EFA7}"/>
                  </a:ext>
                </a:extLst>
              </p:cNvPr>
              <p:cNvSpPr/>
              <p:nvPr/>
            </p:nvSpPr>
            <p:spPr>
              <a:xfrm>
                <a:off x="5392933" y="2630811"/>
                <a:ext cx="150726" cy="151911"/>
              </a:xfrm>
              <a:custGeom>
                <a:avLst/>
                <a:gdLst/>
                <a:ahLst/>
                <a:cxnLst/>
                <a:rect l="l" t="t" r="r" b="b"/>
                <a:pathLst>
                  <a:path w="8397" h="8463" extrusionOk="0">
                    <a:moveTo>
                      <a:pt x="7859" y="1"/>
                    </a:moveTo>
                    <a:lnTo>
                      <a:pt x="1" y="7951"/>
                    </a:lnTo>
                    <a:lnTo>
                      <a:pt x="250" y="8095"/>
                    </a:lnTo>
                    <a:lnTo>
                      <a:pt x="512" y="8227"/>
                    </a:lnTo>
                    <a:lnTo>
                      <a:pt x="775" y="8358"/>
                    </a:lnTo>
                    <a:lnTo>
                      <a:pt x="1063" y="8463"/>
                    </a:lnTo>
                    <a:lnTo>
                      <a:pt x="8397" y="1064"/>
                    </a:lnTo>
                    <a:lnTo>
                      <a:pt x="8279" y="788"/>
                    </a:lnTo>
                    <a:lnTo>
                      <a:pt x="8161" y="513"/>
                    </a:lnTo>
                    <a:lnTo>
                      <a:pt x="8017" y="250"/>
                    </a:lnTo>
                    <a:lnTo>
                      <a:pt x="78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2413;p45">
                <a:extLst>
                  <a:ext uri="{FF2B5EF4-FFF2-40B4-BE49-F238E27FC236}">
                    <a16:creationId xmlns:a16="http://schemas.microsoft.com/office/drawing/2014/main" id="{4BBC3548-9684-2469-6E75-4BDCB31613EA}"/>
                  </a:ext>
                </a:extLst>
              </p:cNvPr>
              <p:cNvSpPr/>
              <p:nvPr/>
            </p:nvSpPr>
            <p:spPr>
              <a:xfrm>
                <a:off x="5392933" y="2630811"/>
                <a:ext cx="150726" cy="151911"/>
              </a:xfrm>
              <a:custGeom>
                <a:avLst/>
                <a:gdLst/>
                <a:ahLst/>
                <a:cxnLst/>
                <a:rect l="l" t="t" r="r" b="b"/>
                <a:pathLst>
                  <a:path w="8397" h="8463" fill="none" extrusionOk="0">
                    <a:moveTo>
                      <a:pt x="7859" y="1"/>
                    </a:moveTo>
                    <a:lnTo>
                      <a:pt x="1" y="7951"/>
                    </a:lnTo>
                    <a:lnTo>
                      <a:pt x="1" y="7951"/>
                    </a:lnTo>
                    <a:lnTo>
                      <a:pt x="250" y="8095"/>
                    </a:lnTo>
                    <a:lnTo>
                      <a:pt x="512" y="8227"/>
                    </a:lnTo>
                    <a:lnTo>
                      <a:pt x="775" y="8358"/>
                    </a:lnTo>
                    <a:lnTo>
                      <a:pt x="1063" y="8463"/>
                    </a:lnTo>
                    <a:lnTo>
                      <a:pt x="8397" y="1064"/>
                    </a:lnTo>
                    <a:lnTo>
                      <a:pt x="8397" y="1064"/>
                    </a:lnTo>
                    <a:lnTo>
                      <a:pt x="8279" y="788"/>
                    </a:lnTo>
                    <a:lnTo>
                      <a:pt x="8161" y="513"/>
                    </a:lnTo>
                    <a:lnTo>
                      <a:pt x="8017" y="250"/>
                    </a:lnTo>
                    <a:lnTo>
                      <a:pt x="7859"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2414;p45">
                <a:extLst>
                  <a:ext uri="{FF2B5EF4-FFF2-40B4-BE49-F238E27FC236}">
                    <a16:creationId xmlns:a16="http://schemas.microsoft.com/office/drawing/2014/main" id="{227C1388-CA91-FB1D-4007-E8118E1AEAFD}"/>
                  </a:ext>
                </a:extLst>
              </p:cNvPr>
              <p:cNvSpPr/>
              <p:nvPr/>
            </p:nvSpPr>
            <p:spPr>
              <a:xfrm>
                <a:off x="5640428" y="2647774"/>
                <a:ext cx="136833" cy="138251"/>
              </a:xfrm>
              <a:custGeom>
                <a:avLst/>
                <a:gdLst/>
                <a:ahLst/>
                <a:cxnLst/>
                <a:rect l="l" t="t" r="r" b="b"/>
                <a:pathLst>
                  <a:path w="7623" h="7702" extrusionOk="0">
                    <a:moveTo>
                      <a:pt x="7452" y="1"/>
                    </a:moveTo>
                    <a:lnTo>
                      <a:pt x="1" y="7518"/>
                    </a:lnTo>
                    <a:lnTo>
                      <a:pt x="250" y="7610"/>
                    </a:lnTo>
                    <a:lnTo>
                      <a:pt x="512" y="7701"/>
                    </a:lnTo>
                    <a:lnTo>
                      <a:pt x="2297" y="5904"/>
                    </a:lnTo>
                    <a:lnTo>
                      <a:pt x="4081" y="4107"/>
                    </a:lnTo>
                    <a:lnTo>
                      <a:pt x="5852" y="2296"/>
                    </a:lnTo>
                    <a:lnTo>
                      <a:pt x="7623" y="486"/>
                    </a:lnTo>
                    <a:lnTo>
                      <a:pt x="7544" y="237"/>
                    </a:lnTo>
                    <a:lnTo>
                      <a:pt x="745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2415;p45">
                <a:extLst>
                  <a:ext uri="{FF2B5EF4-FFF2-40B4-BE49-F238E27FC236}">
                    <a16:creationId xmlns:a16="http://schemas.microsoft.com/office/drawing/2014/main" id="{98B1548B-B3DE-6CCC-9B28-047ED02834D7}"/>
                  </a:ext>
                </a:extLst>
              </p:cNvPr>
              <p:cNvSpPr/>
              <p:nvPr/>
            </p:nvSpPr>
            <p:spPr>
              <a:xfrm>
                <a:off x="5640428" y="2647774"/>
                <a:ext cx="136833" cy="138251"/>
              </a:xfrm>
              <a:custGeom>
                <a:avLst/>
                <a:gdLst/>
                <a:ahLst/>
                <a:cxnLst/>
                <a:rect l="l" t="t" r="r" b="b"/>
                <a:pathLst>
                  <a:path w="7623" h="7702" fill="none" extrusionOk="0">
                    <a:moveTo>
                      <a:pt x="7452" y="1"/>
                    </a:moveTo>
                    <a:lnTo>
                      <a:pt x="1" y="7518"/>
                    </a:lnTo>
                    <a:lnTo>
                      <a:pt x="1" y="7518"/>
                    </a:lnTo>
                    <a:lnTo>
                      <a:pt x="250" y="7610"/>
                    </a:lnTo>
                    <a:lnTo>
                      <a:pt x="512" y="7701"/>
                    </a:lnTo>
                    <a:lnTo>
                      <a:pt x="512" y="7701"/>
                    </a:lnTo>
                    <a:lnTo>
                      <a:pt x="2297" y="5904"/>
                    </a:lnTo>
                    <a:lnTo>
                      <a:pt x="4081" y="4107"/>
                    </a:lnTo>
                    <a:lnTo>
                      <a:pt x="5852" y="2296"/>
                    </a:lnTo>
                    <a:lnTo>
                      <a:pt x="7623" y="486"/>
                    </a:lnTo>
                    <a:lnTo>
                      <a:pt x="7623" y="486"/>
                    </a:lnTo>
                    <a:lnTo>
                      <a:pt x="7544" y="237"/>
                    </a:lnTo>
                    <a:lnTo>
                      <a:pt x="7452"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2416;p45">
                <a:extLst>
                  <a:ext uri="{FF2B5EF4-FFF2-40B4-BE49-F238E27FC236}">
                    <a16:creationId xmlns:a16="http://schemas.microsoft.com/office/drawing/2014/main" id="{1B507858-EB76-1B4D-057D-5C78BA0C617F}"/>
                  </a:ext>
                </a:extLst>
              </p:cNvPr>
              <p:cNvSpPr/>
              <p:nvPr/>
            </p:nvSpPr>
            <p:spPr>
              <a:xfrm>
                <a:off x="5343966" y="2582777"/>
                <a:ext cx="438016" cy="207484"/>
              </a:xfrm>
              <a:custGeom>
                <a:avLst/>
                <a:gdLst/>
                <a:ahLst/>
                <a:cxnLst/>
                <a:rect l="l" t="t" r="r" b="b"/>
                <a:pathLst>
                  <a:path w="24402" h="11559" extrusionOk="0">
                    <a:moveTo>
                      <a:pt x="5733" y="1155"/>
                    </a:moveTo>
                    <a:lnTo>
                      <a:pt x="5969" y="1168"/>
                    </a:lnTo>
                    <a:lnTo>
                      <a:pt x="6192" y="1181"/>
                    </a:lnTo>
                    <a:lnTo>
                      <a:pt x="6428" y="1208"/>
                    </a:lnTo>
                    <a:lnTo>
                      <a:pt x="6651" y="1247"/>
                    </a:lnTo>
                    <a:lnTo>
                      <a:pt x="6874" y="1299"/>
                    </a:lnTo>
                    <a:lnTo>
                      <a:pt x="7097" y="1365"/>
                    </a:lnTo>
                    <a:lnTo>
                      <a:pt x="7307" y="1431"/>
                    </a:lnTo>
                    <a:lnTo>
                      <a:pt x="7517" y="1509"/>
                    </a:lnTo>
                    <a:lnTo>
                      <a:pt x="7714" y="1601"/>
                    </a:lnTo>
                    <a:lnTo>
                      <a:pt x="7911" y="1706"/>
                    </a:lnTo>
                    <a:lnTo>
                      <a:pt x="8108" y="1811"/>
                    </a:lnTo>
                    <a:lnTo>
                      <a:pt x="8291" y="1929"/>
                    </a:lnTo>
                    <a:lnTo>
                      <a:pt x="8475" y="2060"/>
                    </a:lnTo>
                    <a:lnTo>
                      <a:pt x="8645" y="2192"/>
                    </a:lnTo>
                    <a:lnTo>
                      <a:pt x="8816" y="2336"/>
                    </a:lnTo>
                    <a:lnTo>
                      <a:pt x="8973" y="2493"/>
                    </a:lnTo>
                    <a:lnTo>
                      <a:pt x="9131" y="2651"/>
                    </a:lnTo>
                    <a:lnTo>
                      <a:pt x="9275" y="2821"/>
                    </a:lnTo>
                    <a:lnTo>
                      <a:pt x="9406" y="2992"/>
                    </a:lnTo>
                    <a:lnTo>
                      <a:pt x="9538" y="3162"/>
                    </a:lnTo>
                    <a:lnTo>
                      <a:pt x="9656" y="3346"/>
                    </a:lnTo>
                    <a:lnTo>
                      <a:pt x="9774" y="3543"/>
                    </a:lnTo>
                    <a:lnTo>
                      <a:pt x="9879" y="3740"/>
                    </a:lnTo>
                    <a:lnTo>
                      <a:pt x="9970" y="3949"/>
                    </a:lnTo>
                    <a:lnTo>
                      <a:pt x="10049" y="4146"/>
                    </a:lnTo>
                    <a:lnTo>
                      <a:pt x="10128" y="4369"/>
                    </a:lnTo>
                    <a:lnTo>
                      <a:pt x="10180" y="4579"/>
                    </a:lnTo>
                    <a:lnTo>
                      <a:pt x="10233" y="4802"/>
                    </a:lnTo>
                    <a:lnTo>
                      <a:pt x="10285" y="5025"/>
                    </a:lnTo>
                    <a:lnTo>
                      <a:pt x="10312" y="5261"/>
                    </a:lnTo>
                    <a:lnTo>
                      <a:pt x="10325" y="5484"/>
                    </a:lnTo>
                    <a:lnTo>
                      <a:pt x="10338" y="5721"/>
                    </a:lnTo>
                    <a:lnTo>
                      <a:pt x="10325" y="5957"/>
                    </a:lnTo>
                    <a:lnTo>
                      <a:pt x="10312" y="6193"/>
                    </a:lnTo>
                    <a:lnTo>
                      <a:pt x="10285" y="6429"/>
                    </a:lnTo>
                    <a:lnTo>
                      <a:pt x="10246" y="6652"/>
                    </a:lnTo>
                    <a:lnTo>
                      <a:pt x="10194" y="6875"/>
                    </a:lnTo>
                    <a:lnTo>
                      <a:pt x="10141" y="7085"/>
                    </a:lnTo>
                    <a:lnTo>
                      <a:pt x="10062" y="7295"/>
                    </a:lnTo>
                    <a:lnTo>
                      <a:pt x="9984" y="7505"/>
                    </a:lnTo>
                    <a:lnTo>
                      <a:pt x="9892" y="7715"/>
                    </a:lnTo>
                    <a:lnTo>
                      <a:pt x="9787" y="7911"/>
                    </a:lnTo>
                    <a:lnTo>
                      <a:pt x="9682" y="8108"/>
                    </a:lnTo>
                    <a:lnTo>
                      <a:pt x="9564" y="8292"/>
                    </a:lnTo>
                    <a:lnTo>
                      <a:pt x="9433" y="8476"/>
                    </a:lnTo>
                    <a:lnTo>
                      <a:pt x="9301" y="8646"/>
                    </a:lnTo>
                    <a:lnTo>
                      <a:pt x="9157" y="8817"/>
                    </a:lnTo>
                    <a:lnTo>
                      <a:pt x="9013" y="8974"/>
                    </a:lnTo>
                    <a:lnTo>
                      <a:pt x="8842" y="9118"/>
                    </a:lnTo>
                    <a:lnTo>
                      <a:pt x="8685" y="9276"/>
                    </a:lnTo>
                    <a:lnTo>
                      <a:pt x="8514" y="9407"/>
                    </a:lnTo>
                    <a:lnTo>
                      <a:pt x="8331" y="9538"/>
                    </a:lnTo>
                    <a:lnTo>
                      <a:pt x="8147" y="9656"/>
                    </a:lnTo>
                    <a:lnTo>
                      <a:pt x="7950" y="9761"/>
                    </a:lnTo>
                    <a:lnTo>
                      <a:pt x="7753" y="9866"/>
                    </a:lnTo>
                    <a:lnTo>
                      <a:pt x="7557" y="9958"/>
                    </a:lnTo>
                    <a:lnTo>
                      <a:pt x="7347" y="10050"/>
                    </a:lnTo>
                    <a:lnTo>
                      <a:pt x="7137" y="10115"/>
                    </a:lnTo>
                    <a:lnTo>
                      <a:pt x="6914" y="10181"/>
                    </a:lnTo>
                    <a:lnTo>
                      <a:pt x="6691" y="10234"/>
                    </a:lnTo>
                    <a:lnTo>
                      <a:pt x="6468" y="10273"/>
                    </a:lnTo>
                    <a:lnTo>
                      <a:pt x="6245" y="10299"/>
                    </a:lnTo>
                    <a:lnTo>
                      <a:pt x="6009" y="10325"/>
                    </a:lnTo>
                    <a:lnTo>
                      <a:pt x="5536" y="10325"/>
                    </a:lnTo>
                    <a:lnTo>
                      <a:pt x="5300" y="10312"/>
                    </a:lnTo>
                    <a:lnTo>
                      <a:pt x="5077" y="10286"/>
                    </a:lnTo>
                    <a:lnTo>
                      <a:pt x="4854" y="10247"/>
                    </a:lnTo>
                    <a:lnTo>
                      <a:pt x="4631" y="10194"/>
                    </a:lnTo>
                    <a:lnTo>
                      <a:pt x="4408" y="10129"/>
                    </a:lnTo>
                    <a:lnTo>
                      <a:pt x="4198" y="10063"/>
                    </a:lnTo>
                    <a:lnTo>
                      <a:pt x="3988" y="9984"/>
                    </a:lnTo>
                    <a:lnTo>
                      <a:pt x="3778" y="9892"/>
                    </a:lnTo>
                    <a:lnTo>
                      <a:pt x="3582" y="9787"/>
                    </a:lnTo>
                    <a:lnTo>
                      <a:pt x="3398" y="9683"/>
                    </a:lnTo>
                    <a:lnTo>
                      <a:pt x="3201" y="9564"/>
                    </a:lnTo>
                    <a:lnTo>
                      <a:pt x="3031" y="9433"/>
                    </a:lnTo>
                    <a:lnTo>
                      <a:pt x="2847" y="9302"/>
                    </a:lnTo>
                    <a:lnTo>
                      <a:pt x="2689" y="9158"/>
                    </a:lnTo>
                    <a:lnTo>
                      <a:pt x="2519" y="9000"/>
                    </a:lnTo>
                    <a:lnTo>
                      <a:pt x="2375" y="8843"/>
                    </a:lnTo>
                    <a:lnTo>
                      <a:pt x="2230" y="8672"/>
                    </a:lnTo>
                    <a:lnTo>
                      <a:pt x="2086" y="8502"/>
                    </a:lnTo>
                    <a:lnTo>
                      <a:pt x="1968" y="8331"/>
                    </a:lnTo>
                    <a:lnTo>
                      <a:pt x="1837" y="8134"/>
                    </a:lnTo>
                    <a:lnTo>
                      <a:pt x="1732" y="7951"/>
                    </a:lnTo>
                    <a:lnTo>
                      <a:pt x="1627" y="7754"/>
                    </a:lnTo>
                    <a:lnTo>
                      <a:pt x="1535" y="7544"/>
                    </a:lnTo>
                    <a:lnTo>
                      <a:pt x="1456" y="7347"/>
                    </a:lnTo>
                    <a:lnTo>
                      <a:pt x="1378" y="7124"/>
                    </a:lnTo>
                    <a:lnTo>
                      <a:pt x="1312" y="6914"/>
                    </a:lnTo>
                    <a:lnTo>
                      <a:pt x="1259" y="6691"/>
                    </a:lnTo>
                    <a:lnTo>
                      <a:pt x="1220" y="6468"/>
                    </a:lnTo>
                    <a:lnTo>
                      <a:pt x="1194" y="6232"/>
                    </a:lnTo>
                    <a:lnTo>
                      <a:pt x="1168" y="6009"/>
                    </a:lnTo>
                    <a:lnTo>
                      <a:pt x="1168" y="5773"/>
                    </a:lnTo>
                    <a:lnTo>
                      <a:pt x="1168" y="5537"/>
                    </a:lnTo>
                    <a:lnTo>
                      <a:pt x="1181" y="5301"/>
                    </a:lnTo>
                    <a:lnTo>
                      <a:pt x="1220" y="5065"/>
                    </a:lnTo>
                    <a:lnTo>
                      <a:pt x="1259" y="4842"/>
                    </a:lnTo>
                    <a:lnTo>
                      <a:pt x="1299" y="4619"/>
                    </a:lnTo>
                    <a:lnTo>
                      <a:pt x="1364" y="4409"/>
                    </a:lnTo>
                    <a:lnTo>
                      <a:pt x="1443" y="4186"/>
                    </a:lnTo>
                    <a:lnTo>
                      <a:pt x="1522" y="3989"/>
                    </a:lnTo>
                    <a:lnTo>
                      <a:pt x="1614" y="3779"/>
                    </a:lnTo>
                    <a:lnTo>
                      <a:pt x="1706" y="3582"/>
                    </a:lnTo>
                    <a:lnTo>
                      <a:pt x="1824" y="3385"/>
                    </a:lnTo>
                    <a:lnTo>
                      <a:pt x="1942" y="3202"/>
                    </a:lnTo>
                    <a:lnTo>
                      <a:pt x="2060" y="3018"/>
                    </a:lnTo>
                    <a:lnTo>
                      <a:pt x="2204" y="2847"/>
                    </a:lnTo>
                    <a:lnTo>
                      <a:pt x="2348" y="2677"/>
                    </a:lnTo>
                    <a:lnTo>
                      <a:pt x="2493" y="2520"/>
                    </a:lnTo>
                    <a:lnTo>
                      <a:pt x="2650" y="2362"/>
                    </a:lnTo>
                    <a:lnTo>
                      <a:pt x="2821" y="2218"/>
                    </a:lnTo>
                    <a:lnTo>
                      <a:pt x="2991" y="2087"/>
                    </a:lnTo>
                    <a:lnTo>
                      <a:pt x="3175" y="1955"/>
                    </a:lnTo>
                    <a:lnTo>
                      <a:pt x="3359" y="1837"/>
                    </a:lnTo>
                    <a:lnTo>
                      <a:pt x="3542" y="1719"/>
                    </a:lnTo>
                    <a:lnTo>
                      <a:pt x="3739" y="1627"/>
                    </a:lnTo>
                    <a:lnTo>
                      <a:pt x="3949" y="1536"/>
                    </a:lnTo>
                    <a:lnTo>
                      <a:pt x="4159" y="1444"/>
                    </a:lnTo>
                    <a:lnTo>
                      <a:pt x="4369" y="1378"/>
                    </a:lnTo>
                    <a:lnTo>
                      <a:pt x="4592" y="1313"/>
                    </a:lnTo>
                    <a:lnTo>
                      <a:pt x="4802" y="1260"/>
                    </a:lnTo>
                    <a:lnTo>
                      <a:pt x="5038" y="1221"/>
                    </a:lnTo>
                    <a:lnTo>
                      <a:pt x="5261" y="1181"/>
                    </a:lnTo>
                    <a:lnTo>
                      <a:pt x="5497" y="1168"/>
                    </a:lnTo>
                    <a:lnTo>
                      <a:pt x="5733" y="1155"/>
                    </a:lnTo>
                    <a:close/>
                    <a:moveTo>
                      <a:pt x="18629" y="1221"/>
                    </a:moveTo>
                    <a:lnTo>
                      <a:pt x="18865" y="1234"/>
                    </a:lnTo>
                    <a:lnTo>
                      <a:pt x="19101" y="1247"/>
                    </a:lnTo>
                    <a:lnTo>
                      <a:pt x="19324" y="1273"/>
                    </a:lnTo>
                    <a:lnTo>
                      <a:pt x="19560" y="1313"/>
                    </a:lnTo>
                    <a:lnTo>
                      <a:pt x="19783" y="1365"/>
                    </a:lnTo>
                    <a:lnTo>
                      <a:pt x="19993" y="1431"/>
                    </a:lnTo>
                    <a:lnTo>
                      <a:pt x="20203" y="1496"/>
                    </a:lnTo>
                    <a:lnTo>
                      <a:pt x="20413" y="1575"/>
                    </a:lnTo>
                    <a:lnTo>
                      <a:pt x="20623" y="1667"/>
                    </a:lnTo>
                    <a:lnTo>
                      <a:pt x="20820" y="1772"/>
                    </a:lnTo>
                    <a:lnTo>
                      <a:pt x="21017" y="1877"/>
                    </a:lnTo>
                    <a:lnTo>
                      <a:pt x="21200" y="1995"/>
                    </a:lnTo>
                    <a:lnTo>
                      <a:pt x="21384" y="2126"/>
                    </a:lnTo>
                    <a:lnTo>
                      <a:pt x="21555" y="2257"/>
                    </a:lnTo>
                    <a:lnTo>
                      <a:pt x="21725" y="2401"/>
                    </a:lnTo>
                    <a:lnTo>
                      <a:pt x="21882" y="2559"/>
                    </a:lnTo>
                    <a:lnTo>
                      <a:pt x="22027" y="2716"/>
                    </a:lnTo>
                    <a:lnTo>
                      <a:pt x="22171" y="2874"/>
                    </a:lnTo>
                    <a:lnTo>
                      <a:pt x="22315" y="3057"/>
                    </a:lnTo>
                    <a:lnTo>
                      <a:pt x="22447" y="3228"/>
                    </a:lnTo>
                    <a:lnTo>
                      <a:pt x="22565" y="3412"/>
                    </a:lnTo>
                    <a:lnTo>
                      <a:pt x="22670" y="3608"/>
                    </a:lnTo>
                    <a:lnTo>
                      <a:pt x="22775" y="3805"/>
                    </a:lnTo>
                    <a:lnTo>
                      <a:pt x="22866" y="4002"/>
                    </a:lnTo>
                    <a:lnTo>
                      <a:pt x="22958" y="4212"/>
                    </a:lnTo>
                    <a:lnTo>
                      <a:pt x="23024" y="4422"/>
                    </a:lnTo>
                    <a:lnTo>
                      <a:pt x="23089" y="4645"/>
                    </a:lnTo>
                    <a:lnTo>
                      <a:pt x="23142" y="4868"/>
                    </a:lnTo>
                    <a:lnTo>
                      <a:pt x="23181" y="5091"/>
                    </a:lnTo>
                    <a:lnTo>
                      <a:pt x="23208" y="5327"/>
                    </a:lnTo>
                    <a:lnTo>
                      <a:pt x="23234" y="5550"/>
                    </a:lnTo>
                    <a:lnTo>
                      <a:pt x="23234" y="5786"/>
                    </a:lnTo>
                    <a:lnTo>
                      <a:pt x="23234" y="6022"/>
                    </a:lnTo>
                    <a:lnTo>
                      <a:pt x="23221" y="6258"/>
                    </a:lnTo>
                    <a:lnTo>
                      <a:pt x="23194" y="6481"/>
                    </a:lnTo>
                    <a:lnTo>
                      <a:pt x="23155" y="6718"/>
                    </a:lnTo>
                    <a:lnTo>
                      <a:pt x="23103" y="6928"/>
                    </a:lnTo>
                    <a:lnTo>
                      <a:pt x="23037" y="7151"/>
                    </a:lnTo>
                    <a:lnTo>
                      <a:pt x="22971" y="7360"/>
                    </a:lnTo>
                    <a:lnTo>
                      <a:pt x="22893" y="7570"/>
                    </a:lnTo>
                    <a:lnTo>
                      <a:pt x="22801" y="7780"/>
                    </a:lnTo>
                    <a:lnTo>
                      <a:pt x="22696" y="7977"/>
                    </a:lnTo>
                    <a:lnTo>
                      <a:pt x="22591" y="8174"/>
                    </a:lnTo>
                    <a:lnTo>
                      <a:pt x="22473" y="8357"/>
                    </a:lnTo>
                    <a:lnTo>
                      <a:pt x="22342" y="8528"/>
                    </a:lnTo>
                    <a:lnTo>
                      <a:pt x="22210" y="8712"/>
                    </a:lnTo>
                    <a:lnTo>
                      <a:pt x="22066" y="8869"/>
                    </a:lnTo>
                    <a:lnTo>
                      <a:pt x="21909" y="9040"/>
                    </a:lnTo>
                    <a:lnTo>
                      <a:pt x="21751" y="9184"/>
                    </a:lnTo>
                    <a:lnTo>
                      <a:pt x="21581" y="9328"/>
                    </a:lnTo>
                    <a:lnTo>
                      <a:pt x="21410" y="9473"/>
                    </a:lnTo>
                    <a:lnTo>
                      <a:pt x="21240" y="9604"/>
                    </a:lnTo>
                    <a:lnTo>
                      <a:pt x="21043" y="9722"/>
                    </a:lnTo>
                    <a:lnTo>
                      <a:pt x="20859" y="9827"/>
                    </a:lnTo>
                    <a:lnTo>
                      <a:pt x="20662" y="9932"/>
                    </a:lnTo>
                    <a:lnTo>
                      <a:pt x="20453" y="10024"/>
                    </a:lnTo>
                    <a:lnTo>
                      <a:pt x="20243" y="10115"/>
                    </a:lnTo>
                    <a:lnTo>
                      <a:pt x="20033" y="10181"/>
                    </a:lnTo>
                    <a:lnTo>
                      <a:pt x="19823" y="10247"/>
                    </a:lnTo>
                    <a:lnTo>
                      <a:pt x="19600" y="10299"/>
                    </a:lnTo>
                    <a:lnTo>
                      <a:pt x="19377" y="10338"/>
                    </a:lnTo>
                    <a:lnTo>
                      <a:pt x="19141" y="10365"/>
                    </a:lnTo>
                    <a:lnTo>
                      <a:pt x="18904" y="10391"/>
                    </a:lnTo>
                    <a:lnTo>
                      <a:pt x="18472" y="10391"/>
                    </a:lnTo>
                    <a:lnTo>
                      <a:pt x="18275" y="10378"/>
                    </a:lnTo>
                    <a:lnTo>
                      <a:pt x="18065" y="10352"/>
                    </a:lnTo>
                    <a:lnTo>
                      <a:pt x="17868" y="10325"/>
                    </a:lnTo>
                    <a:lnTo>
                      <a:pt x="17671" y="10286"/>
                    </a:lnTo>
                    <a:lnTo>
                      <a:pt x="17475" y="10234"/>
                    </a:lnTo>
                    <a:lnTo>
                      <a:pt x="17278" y="10181"/>
                    </a:lnTo>
                    <a:lnTo>
                      <a:pt x="17081" y="10115"/>
                    </a:lnTo>
                    <a:lnTo>
                      <a:pt x="16897" y="10050"/>
                    </a:lnTo>
                    <a:lnTo>
                      <a:pt x="16714" y="9958"/>
                    </a:lnTo>
                    <a:lnTo>
                      <a:pt x="16530" y="9866"/>
                    </a:lnTo>
                    <a:lnTo>
                      <a:pt x="16359" y="9774"/>
                    </a:lnTo>
                    <a:lnTo>
                      <a:pt x="16176" y="9669"/>
                    </a:lnTo>
                    <a:lnTo>
                      <a:pt x="16018" y="9551"/>
                    </a:lnTo>
                    <a:lnTo>
                      <a:pt x="15848" y="9433"/>
                    </a:lnTo>
                    <a:lnTo>
                      <a:pt x="15690" y="9302"/>
                    </a:lnTo>
                    <a:lnTo>
                      <a:pt x="15480" y="9118"/>
                    </a:lnTo>
                    <a:lnTo>
                      <a:pt x="15284" y="8908"/>
                    </a:lnTo>
                    <a:lnTo>
                      <a:pt x="15100" y="8699"/>
                    </a:lnTo>
                    <a:lnTo>
                      <a:pt x="14929" y="8476"/>
                    </a:lnTo>
                    <a:lnTo>
                      <a:pt x="14772" y="8239"/>
                    </a:lnTo>
                    <a:lnTo>
                      <a:pt x="14628" y="7990"/>
                    </a:lnTo>
                    <a:lnTo>
                      <a:pt x="14497" y="7741"/>
                    </a:lnTo>
                    <a:lnTo>
                      <a:pt x="14392" y="7492"/>
                    </a:lnTo>
                    <a:lnTo>
                      <a:pt x="14300" y="7216"/>
                    </a:lnTo>
                    <a:lnTo>
                      <a:pt x="14221" y="6954"/>
                    </a:lnTo>
                    <a:lnTo>
                      <a:pt x="14155" y="6678"/>
                    </a:lnTo>
                    <a:lnTo>
                      <a:pt x="14116" y="6403"/>
                    </a:lnTo>
                    <a:lnTo>
                      <a:pt x="14090" y="6114"/>
                    </a:lnTo>
                    <a:lnTo>
                      <a:pt x="14077" y="5839"/>
                    </a:lnTo>
                    <a:lnTo>
                      <a:pt x="14077" y="5550"/>
                    </a:lnTo>
                    <a:lnTo>
                      <a:pt x="14103" y="5261"/>
                    </a:lnTo>
                    <a:lnTo>
                      <a:pt x="14129" y="5051"/>
                    </a:lnTo>
                    <a:lnTo>
                      <a:pt x="14182" y="4842"/>
                    </a:lnTo>
                    <a:lnTo>
                      <a:pt x="14221" y="4645"/>
                    </a:lnTo>
                    <a:lnTo>
                      <a:pt x="14287" y="4448"/>
                    </a:lnTo>
                    <a:lnTo>
                      <a:pt x="14352" y="4238"/>
                    </a:lnTo>
                    <a:lnTo>
                      <a:pt x="14431" y="4054"/>
                    </a:lnTo>
                    <a:lnTo>
                      <a:pt x="14510" y="3858"/>
                    </a:lnTo>
                    <a:lnTo>
                      <a:pt x="14601" y="3674"/>
                    </a:lnTo>
                    <a:lnTo>
                      <a:pt x="14706" y="3503"/>
                    </a:lnTo>
                    <a:lnTo>
                      <a:pt x="14811" y="3320"/>
                    </a:lnTo>
                    <a:lnTo>
                      <a:pt x="14929" y="3149"/>
                    </a:lnTo>
                    <a:lnTo>
                      <a:pt x="15048" y="2992"/>
                    </a:lnTo>
                    <a:lnTo>
                      <a:pt x="15179" y="2834"/>
                    </a:lnTo>
                    <a:lnTo>
                      <a:pt x="15310" y="2677"/>
                    </a:lnTo>
                    <a:lnTo>
                      <a:pt x="15454" y="2533"/>
                    </a:lnTo>
                    <a:lnTo>
                      <a:pt x="15599" y="2401"/>
                    </a:lnTo>
                    <a:lnTo>
                      <a:pt x="15756" y="2270"/>
                    </a:lnTo>
                    <a:lnTo>
                      <a:pt x="15913" y="2139"/>
                    </a:lnTo>
                    <a:lnTo>
                      <a:pt x="16084" y="2021"/>
                    </a:lnTo>
                    <a:lnTo>
                      <a:pt x="16254" y="1903"/>
                    </a:lnTo>
                    <a:lnTo>
                      <a:pt x="16438" y="1811"/>
                    </a:lnTo>
                    <a:lnTo>
                      <a:pt x="16609" y="1706"/>
                    </a:lnTo>
                    <a:lnTo>
                      <a:pt x="16792" y="1627"/>
                    </a:lnTo>
                    <a:lnTo>
                      <a:pt x="16989" y="1536"/>
                    </a:lnTo>
                    <a:lnTo>
                      <a:pt x="17186" y="1470"/>
                    </a:lnTo>
                    <a:lnTo>
                      <a:pt x="17383" y="1404"/>
                    </a:lnTo>
                    <a:lnTo>
                      <a:pt x="17579" y="1352"/>
                    </a:lnTo>
                    <a:lnTo>
                      <a:pt x="17789" y="1313"/>
                    </a:lnTo>
                    <a:lnTo>
                      <a:pt x="17999" y="1273"/>
                    </a:lnTo>
                    <a:lnTo>
                      <a:pt x="18209" y="1247"/>
                    </a:lnTo>
                    <a:lnTo>
                      <a:pt x="18419" y="1234"/>
                    </a:lnTo>
                    <a:lnTo>
                      <a:pt x="18629" y="1221"/>
                    </a:lnTo>
                    <a:close/>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 name="Google Shape;2417;p45">
              <a:extLst>
                <a:ext uri="{FF2B5EF4-FFF2-40B4-BE49-F238E27FC236}">
                  <a16:creationId xmlns:a16="http://schemas.microsoft.com/office/drawing/2014/main" id="{8B9485FD-012C-89E1-55C1-A79524D729FB}"/>
                </a:ext>
              </a:extLst>
            </p:cNvPr>
            <p:cNvGrpSpPr/>
            <p:nvPr/>
          </p:nvGrpSpPr>
          <p:grpSpPr>
            <a:xfrm>
              <a:off x="3124753" y="2097067"/>
              <a:ext cx="2904005" cy="2628275"/>
              <a:chOff x="735516" y="1544617"/>
              <a:chExt cx="2904005" cy="2628275"/>
            </a:xfrm>
          </p:grpSpPr>
          <p:sp>
            <p:nvSpPr>
              <p:cNvPr id="1089" name="Google Shape;2418;p45">
                <a:extLst>
                  <a:ext uri="{FF2B5EF4-FFF2-40B4-BE49-F238E27FC236}">
                    <a16:creationId xmlns:a16="http://schemas.microsoft.com/office/drawing/2014/main" id="{D933DBCD-6B31-9006-DE39-348A3180EEA0}"/>
                  </a:ext>
                </a:extLst>
              </p:cNvPr>
              <p:cNvSpPr/>
              <p:nvPr/>
            </p:nvSpPr>
            <p:spPr>
              <a:xfrm>
                <a:off x="1961914" y="2680601"/>
                <a:ext cx="305922" cy="16514"/>
              </a:xfrm>
              <a:custGeom>
                <a:avLst/>
                <a:gdLst/>
                <a:ahLst/>
                <a:cxnLst/>
                <a:rect l="l" t="t" r="r" b="b"/>
                <a:pathLst>
                  <a:path w="17043" h="920" extrusionOk="0">
                    <a:moveTo>
                      <a:pt x="1" y="1"/>
                    </a:moveTo>
                    <a:lnTo>
                      <a:pt x="1" y="919"/>
                    </a:lnTo>
                    <a:lnTo>
                      <a:pt x="17042" y="919"/>
                    </a:lnTo>
                    <a:lnTo>
                      <a:pt x="17042"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2419;p45">
                <a:extLst>
                  <a:ext uri="{FF2B5EF4-FFF2-40B4-BE49-F238E27FC236}">
                    <a16:creationId xmlns:a16="http://schemas.microsoft.com/office/drawing/2014/main" id="{F16CBD8A-5480-52CF-9D2C-CAEA937DB517}"/>
                  </a:ext>
                </a:extLst>
              </p:cNvPr>
              <p:cNvSpPr/>
              <p:nvPr/>
            </p:nvSpPr>
            <p:spPr>
              <a:xfrm>
                <a:off x="2274872" y="2680601"/>
                <a:ext cx="97738" cy="16514"/>
              </a:xfrm>
              <a:custGeom>
                <a:avLst/>
                <a:gdLst/>
                <a:ahLst/>
                <a:cxnLst/>
                <a:rect l="l" t="t" r="r" b="b"/>
                <a:pathLst>
                  <a:path w="5445" h="920" extrusionOk="0">
                    <a:moveTo>
                      <a:pt x="1" y="1"/>
                    </a:moveTo>
                    <a:lnTo>
                      <a:pt x="1" y="919"/>
                    </a:lnTo>
                    <a:lnTo>
                      <a:pt x="5445" y="919"/>
                    </a:lnTo>
                    <a:lnTo>
                      <a:pt x="5445"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2420;p45">
                <a:extLst>
                  <a:ext uri="{FF2B5EF4-FFF2-40B4-BE49-F238E27FC236}">
                    <a16:creationId xmlns:a16="http://schemas.microsoft.com/office/drawing/2014/main" id="{1DFBE270-D0B8-132C-34A0-BFC63E92CF5E}"/>
                  </a:ext>
                </a:extLst>
              </p:cNvPr>
              <p:cNvSpPr/>
              <p:nvPr/>
            </p:nvSpPr>
            <p:spPr>
              <a:xfrm>
                <a:off x="2379664" y="2680601"/>
                <a:ext cx="115167" cy="16514"/>
              </a:xfrm>
              <a:custGeom>
                <a:avLst/>
                <a:gdLst/>
                <a:ahLst/>
                <a:cxnLst/>
                <a:rect l="l" t="t" r="r" b="b"/>
                <a:pathLst>
                  <a:path w="6416" h="920" extrusionOk="0">
                    <a:moveTo>
                      <a:pt x="1" y="1"/>
                    </a:moveTo>
                    <a:lnTo>
                      <a:pt x="1" y="919"/>
                    </a:lnTo>
                    <a:lnTo>
                      <a:pt x="6416" y="919"/>
                    </a:lnTo>
                    <a:lnTo>
                      <a:pt x="6416"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2421;p45">
                <a:extLst>
                  <a:ext uri="{FF2B5EF4-FFF2-40B4-BE49-F238E27FC236}">
                    <a16:creationId xmlns:a16="http://schemas.microsoft.com/office/drawing/2014/main" id="{3B2A4BBE-F88F-E4C7-8229-9B0E147A0D00}"/>
                  </a:ext>
                </a:extLst>
              </p:cNvPr>
              <p:cNvSpPr/>
              <p:nvPr/>
            </p:nvSpPr>
            <p:spPr>
              <a:xfrm>
                <a:off x="1896683" y="2717111"/>
                <a:ext cx="254818" cy="16496"/>
              </a:xfrm>
              <a:custGeom>
                <a:avLst/>
                <a:gdLst/>
                <a:ahLst/>
                <a:cxnLst/>
                <a:rect l="l" t="t" r="r" b="b"/>
                <a:pathLst>
                  <a:path w="14196" h="919" extrusionOk="0">
                    <a:moveTo>
                      <a:pt x="1" y="0"/>
                    </a:moveTo>
                    <a:lnTo>
                      <a:pt x="1" y="919"/>
                    </a:lnTo>
                    <a:lnTo>
                      <a:pt x="14195" y="919"/>
                    </a:lnTo>
                    <a:lnTo>
                      <a:pt x="14195" y="0"/>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2422;p45">
                <a:extLst>
                  <a:ext uri="{FF2B5EF4-FFF2-40B4-BE49-F238E27FC236}">
                    <a16:creationId xmlns:a16="http://schemas.microsoft.com/office/drawing/2014/main" id="{9B4BD258-D49B-5D1B-2F5C-C0EB9038BE4F}"/>
                  </a:ext>
                </a:extLst>
              </p:cNvPr>
              <p:cNvSpPr/>
              <p:nvPr/>
            </p:nvSpPr>
            <p:spPr>
              <a:xfrm>
                <a:off x="2159723" y="2717111"/>
                <a:ext cx="83378" cy="16496"/>
              </a:xfrm>
              <a:custGeom>
                <a:avLst/>
                <a:gdLst/>
                <a:ahLst/>
                <a:cxnLst/>
                <a:rect l="l" t="t" r="r" b="b"/>
                <a:pathLst>
                  <a:path w="4645" h="919" extrusionOk="0">
                    <a:moveTo>
                      <a:pt x="0" y="0"/>
                    </a:moveTo>
                    <a:lnTo>
                      <a:pt x="0" y="919"/>
                    </a:lnTo>
                    <a:lnTo>
                      <a:pt x="4645" y="919"/>
                    </a:lnTo>
                    <a:lnTo>
                      <a:pt x="4645" y="0"/>
                    </a:lnTo>
                    <a:close/>
                  </a:path>
                </a:pathLst>
              </a:custGeom>
              <a:solidFill>
                <a:srgbClr val="E7C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2423;p45">
                <a:extLst>
                  <a:ext uri="{FF2B5EF4-FFF2-40B4-BE49-F238E27FC236}">
                    <a16:creationId xmlns:a16="http://schemas.microsoft.com/office/drawing/2014/main" id="{DCC042C6-0E5D-4E4F-5BA5-412C6311B326}"/>
                  </a:ext>
                </a:extLst>
              </p:cNvPr>
              <p:cNvSpPr/>
              <p:nvPr/>
            </p:nvSpPr>
            <p:spPr>
              <a:xfrm>
                <a:off x="2050928" y="4038428"/>
                <a:ext cx="116119" cy="75139"/>
              </a:xfrm>
              <a:custGeom>
                <a:avLst/>
                <a:gdLst/>
                <a:ahLst/>
                <a:cxnLst/>
                <a:rect l="l" t="t" r="r" b="b"/>
                <a:pathLst>
                  <a:path w="6469" h="4186" extrusionOk="0">
                    <a:moveTo>
                      <a:pt x="1" y="0"/>
                    </a:moveTo>
                    <a:lnTo>
                      <a:pt x="132" y="4185"/>
                    </a:lnTo>
                    <a:lnTo>
                      <a:pt x="1483" y="4185"/>
                    </a:lnTo>
                    <a:lnTo>
                      <a:pt x="1732" y="4172"/>
                    </a:lnTo>
                    <a:lnTo>
                      <a:pt x="1995" y="4146"/>
                    </a:lnTo>
                    <a:lnTo>
                      <a:pt x="2244" y="4106"/>
                    </a:lnTo>
                    <a:lnTo>
                      <a:pt x="2493" y="4054"/>
                    </a:lnTo>
                    <a:lnTo>
                      <a:pt x="2729" y="4001"/>
                    </a:lnTo>
                    <a:lnTo>
                      <a:pt x="2979" y="3923"/>
                    </a:lnTo>
                    <a:lnTo>
                      <a:pt x="3215" y="3844"/>
                    </a:lnTo>
                    <a:lnTo>
                      <a:pt x="3451" y="3765"/>
                    </a:lnTo>
                    <a:lnTo>
                      <a:pt x="3674" y="3660"/>
                    </a:lnTo>
                    <a:lnTo>
                      <a:pt x="3910" y="3555"/>
                    </a:lnTo>
                    <a:lnTo>
                      <a:pt x="4120" y="3437"/>
                    </a:lnTo>
                    <a:lnTo>
                      <a:pt x="4343" y="3306"/>
                    </a:lnTo>
                    <a:lnTo>
                      <a:pt x="4553" y="3162"/>
                    </a:lnTo>
                    <a:lnTo>
                      <a:pt x="4763" y="3017"/>
                    </a:lnTo>
                    <a:lnTo>
                      <a:pt x="4959" y="2860"/>
                    </a:lnTo>
                    <a:lnTo>
                      <a:pt x="6245" y="1797"/>
                    </a:lnTo>
                    <a:lnTo>
                      <a:pt x="6311" y="1732"/>
                    </a:lnTo>
                    <a:lnTo>
                      <a:pt x="6363" y="1666"/>
                    </a:lnTo>
                    <a:lnTo>
                      <a:pt x="6403" y="1601"/>
                    </a:lnTo>
                    <a:lnTo>
                      <a:pt x="6429" y="1522"/>
                    </a:lnTo>
                    <a:lnTo>
                      <a:pt x="6455" y="1443"/>
                    </a:lnTo>
                    <a:lnTo>
                      <a:pt x="6468" y="1364"/>
                    </a:lnTo>
                    <a:lnTo>
                      <a:pt x="6468" y="1286"/>
                    </a:lnTo>
                    <a:lnTo>
                      <a:pt x="6455" y="1207"/>
                    </a:lnTo>
                    <a:lnTo>
                      <a:pt x="6416" y="1076"/>
                    </a:lnTo>
                    <a:lnTo>
                      <a:pt x="6363" y="945"/>
                    </a:lnTo>
                    <a:lnTo>
                      <a:pt x="6298" y="827"/>
                    </a:lnTo>
                    <a:lnTo>
                      <a:pt x="6232" y="722"/>
                    </a:lnTo>
                    <a:lnTo>
                      <a:pt x="6153" y="617"/>
                    </a:lnTo>
                    <a:lnTo>
                      <a:pt x="6075" y="512"/>
                    </a:lnTo>
                    <a:lnTo>
                      <a:pt x="5983" y="420"/>
                    </a:lnTo>
                    <a:lnTo>
                      <a:pt x="5878" y="341"/>
                    </a:lnTo>
                    <a:lnTo>
                      <a:pt x="5773" y="262"/>
                    </a:lnTo>
                    <a:lnTo>
                      <a:pt x="5668" y="197"/>
                    </a:lnTo>
                    <a:lnTo>
                      <a:pt x="5550" y="131"/>
                    </a:lnTo>
                    <a:lnTo>
                      <a:pt x="5419" y="92"/>
                    </a:lnTo>
                    <a:lnTo>
                      <a:pt x="5301" y="53"/>
                    </a:lnTo>
                    <a:lnTo>
                      <a:pt x="5169" y="26"/>
                    </a:lnTo>
                    <a:lnTo>
                      <a:pt x="5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2424;p45">
                <a:extLst>
                  <a:ext uri="{FF2B5EF4-FFF2-40B4-BE49-F238E27FC236}">
                    <a16:creationId xmlns:a16="http://schemas.microsoft.com/office/drawing/2014/main" id="{485D2F91-AC1A-4236-31EC-3DD5841DC607}"/>
                  </a:ext>
                </a:extLst>
              </p:cNvPr>
              <p:cNvSpPr/>
              <p:nvPr/>
            </p:nvSpPr>
            <p:spPr>
              <a:xfrm>
                <a:off x="2212711" y="4039128"/>
                <a:ext cx="116101" cy="75139"/>
              </a:xfrm>
              <a:custGeom>
                <a:avLst/>
                <a:gdLst/>
                <a:ahLst/>
                <a:cxnLst/>
                <a:rect l="l" t="t" r="r" b="b"/>
                <a:pathLst>
                  <a:path w="6468" h="4186" extrusionOk="0">
                    <a:moveTo>
                      <a:pt x="1443" y="0"/>
                    </a:moveTo>
                    <a:lnTo>
                      <a:pt x="1312" y="14"/>
                    </a:lnTo>
                    <a:lnTo>
                      <a:pt x="1168" y="53"/>
                    </a:lnTo>
                    <a:lnTo>
                      <a:pt x="1050" y="92"/>
                    </a:lnTo>
                    <a:lnTo>
                      <a:pt x="919" y="132"/>
                    </a:lnTo>
                    <a:lnTo>
                      <a:pt x="800" y="197"/>
                    </a:lnTo>
                    <a:lnTo>
                      <a:pt x="696" y="263"/>
                    </a:lnTo>
                    <a:lnTo>
                      <a:pt x="591" y="342"/>
                    </a:lnTo>
                    <a:lnTo>
                      <a:pt x="486" y="420"/>
                    </a:lnTo>
                    <a:lnTo>
                      <a:pt x="394" y="512"/>
                    </a:lnTo>
                    <a:lnTo>
                      <a:pt x="315" y="617"/>
                    </a:lnTo>
                    <a:lnTo>
                      <a:pt x="236" y="722"/>
                    </a:lnTo>
                    <a:lnTo>
                      <a:pt x="171" y="827"/>
                    </a:lnTo>
                    <a:lnTo>
                      <a:pt x="105" y="945"/>
                    </a:lnTo>
                    <a:lnTo>
                      <a:pt x="66" y="1076"/>
                    </a:lnTo>
                    <a:lnTo>
                      <a:pt x="26" y="1194"/>
                    </a:lnTo>
                    <a:lnTo>
                      <a:pt x="0" y="1286"/>
                    </a:lnTo>
                    <a:lnTo>
                      <a:pt x="0" y="1365"/>
                    </a:lnTo>
                    <a:lnTo>
                      <a:pt x="13" y="1443"/>
                    </a:lnTo>
                    <a:lnTo>
                      <a:pt x="40" y="1522"/>
                    </a:lnTo>
                    <a:lnTo>
                      <a:pt x="66" y="1601"/>
                    </a:lnTo>
                    <a:lnTo>
                      <a:pt x="118" y="1667"/>
                    </a:lnTo>
                    <a:lnTo>
                      <a:pt x="171" y="1732"/>
                    </a:lnTo>
                    <a:lnTo>
                      <a:pt x="223" y="1798"/>
                    </a:lnTo>
                    <a:lnTo>
                      <a:pt x="1509" y="2860"/>
                    </a:lnTo>
                    <a:lnTo>
                      <a:pt x="1706" y="3018"/>
                    </a:lnTo>
                    <a:lnTo>
                      <a:pt x="1916" y="3162"/>
                    </a:lnTo>
                    <a:lnTo>
                      <a:pt x="2126" y="3306"/>
                    </a:lnTo>
                    <a:lnTo>
                      <a:pt x="2349" y="3424"/>
                    </a:lnTo>
                    <a:lnTo>
                      <a:pt x="2572" y="3556"/>
                    </a:lnTo>
                    <a:lnTo>
                      <a:pt x="2795" y="3661"/>
                    </a:lnTo>
                    <a:lnTo>
                      <a:pt x="3018" y="3766"/>
                    </a:lnTo>
                    <a:lnTo>
                      <a:pt x="3254" y="3844"/>
                    </a:lnTo>
                    <a:lnTo>
                      <a:pt x="3503" y="3923"/>
                    </a:lnTo>
                    <a:lnTo>
                      <a:pt x="3739" y="4002"/>
                    </a:lnTo>
                    <a:lnTo>
                      <a:pt x="3988" y="4054"/>
                    </a:lnTo>
                    <a:lnTo>
                      <a:pt x="4238" y="4107"/>
                    </a:lnTo>
                    <a:lnTo>
                      <a:pt x="4487" y="4146"/>
                    </a:lnTo>
                    <a:lnTo>
                      <a:pt x="4736" y="4172"/>
                    </a:lnTo>
                    <a:lnTo>
                      <a:pt x="4985" y="4185"/>
                    </a:lnTo>
                    <a:lnTo>
                      <a:pt x="6337" y="4185"/>
                    </a:lnTo>
                    <a:lnTo>
                      <a:pt x="64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2425;p45">
                <a:extLst>
                  <a:ext uri="{FF2B5EF4-FFF2-40B4-BE49-F238E27FC236}">
                    <a16:creationId xmlns:a16="http://schemas.microsoft.com/office/drawing/2014/main" id="{168BE4FA-095E-5341-878D-AA99C5B3022D}"/>
                  </a:ext>
                </a:extLst>
              </p:cNvPr>
              <p:cNvSpPr/>
              <p:nvPr/>
            </p:nvSpPr>
            <p:spPr>
              <a:xfrm>
                <a:off x="735516" y="2825188"/>
                <a:ext cx="2904005" cy="59845"/>
              </a:xfrm>
              <a:custGeom>
                <a:avLst/>
                <a:gdLst/>
                <a:ahLst/>
                <a:cxnLst/>
                <a:rect l="l" t="t" r="r" b="b"/>
                <a:pathLst>
                  <a:path w="161783" h="3334" extrusionOk="0">
                    <a:moveTo>
                      <a:pt x="0" y="1"/>
                    </a:moveTo>
                    <a:lnTo>
                      <a:pt x="0" y="3333"/>
                    </a:lnTo>
                    <a:lnTo>
                      <a:pt x="161783" y="3333"/>
                    </a:lnTo>
                    <a:lnTo>
                      <a:pt x="161783" y="1"/>
                    </a:lnTo>
                    <a:close/>
                  </a:path>
                </a:pathLst>
              </a:custGeom>
              <a:solidFill>
                <a:srgbClr val="4343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2426;p45">
                <a:extLst>
                  <a:ext uri="{FF2B5EF4-FFF2-40B4-BE49-F238E27FC236}">
                    <a16:creationId xmlns:a16="http://schemas.microsoft.com/office/drawing/2014/main" id="{452E8E6D-58E2-6FB5-1097-6BCE76E4277A}"/>
                  </a:ext>
                </a:extLst>
              </p:cNvPr>
              <p:cNvSpPr/>
              <p:nvPr/>
            </p:nvSpPr>
            <p:spPr>
              <a:xfrm>
                <a:off x="2005245" y="4066448"/>
                <a:ext cx="86914" cy="47585"/>
              </a:xfrm>
              <a:custGeom>
                <a:avLst/>
                <a:gdLst/>
                <a:ahLst/>
                <a:cxnLst/>
                <a:rect l="l" t="t" r="r" b="b"/>
                <a:pathLst>
                  <a:path w="4842" h="2651" extrusionOk="0">
                    <a:moveTo>
                      <a:pt x="0" y="0"/>
                    </a:moveTo>
                    <a:lnTo>
                      <a:pt x="0" y="1312"/>
                    </a:lnTo>
                    <a:lnTo>
                      <a:pt x="14" y="1443"/>
                    </a:lnTo>
                    <a:lnTo>
                      <a:pt x="27" y="1574"/>
                    </a:lnTo>
                    <a:lnTo>
                      <a:pt x="66" y="1706"/>
                    </a:lnTo>
                    <a:lnTo>
                      <a:pt x="105" y="1837"/>
                    </a:lnTo>
                    <a:lnTo>
                      <a:pt x="158" y="1955"/>
                    </a:lnTo>
                    <a:lnTo>
                      <a:pt x="223" y="2060"/>
                    </a:lnTo>
                    <a:lnTo>
                      <a:pt x="302" y="2165"/>
                    </a:lnTo>
                    <a:lnTo>
                      <a:pt x="394" y="2257"/>
                    </a:lnTo>
                    <a:lnTo>
                      <a:pt x="486" y="2349"/>
                    </a:lnTo>
                    <a:lnTo>
                      <a:pt x="591" y="2427"/>
                    </a:lnTo>
                    <a:lnTo>
                      <a:pt x="696" y="2493"/>
                    </a:lnTo>
                    <a:lnTo>
                      <a:pt x="814" y="2545"/>
                    </a:lnTo>
                    <a:lnTo>
                      <a:pt x="945" y="2585"/>
                    </a:lnTo>
                    <a:lnTo>
                      <a:pt x="1063" y="2624"/>
                    </a:lnTo>
                    <a:lnTo>
                      <a:pt x="1207" y="2637"/>
                    </a:lnTo>
                    <a:lnTo>
                      <a:pt x="1339" y="2650"/>
                    </a:lnTo>
                    <a:lnTo>
                      <a:pt x="3490" y="2650"/>
                    </a:lnTo>
                    <a:lnTo>
                      <a:pt x="3634" y="2637"/>
                    </a:lnTo>
                    <a:lnTo>
                      <a:pt x="3766" y="2624"/>
                    </a:lnTo>
                    <a:lnTo>
                      <a:pt x="3897" y="2585"/>
                    </a:lnTo>
                    <a:lnTo>
                      <a:pt x="4015" y="2545"/>
                    </a:lnTo>
                    <a:lnTo>
                      <a:pt x="4133" y="2493"/>
                    </a:lnTo>
                    <a:lnTo>
                      <a:pt x="4251" y="2427"/>
                    </a:lnTo>
                    <a:lnTo>
                      <a:pt x="4343" y="2349"/>
                    </a:lnTo>
                    <a:lnTo>
                      <a:pt x="4448" y="2257"/>
                    </a:lnTo>
                    <a:lnTo>
                      <a:pt x="4526" y="2165"/>
                    </a:lnTo>
                    <a:lnTo>
                      <a:pt x="4605" y="2060"/>
                    </a:lnTo>
                    <a:lnTo>
                      <a:pt x="4671" y="1955"/>
                    </a:lnTo>
                    <a:lnTo>
                      <a:pt x="4736" y="1837"/>
                    </a:lnTo>
                    <a:lnTo>
                      <a:pt x="4776" y="1706"/>
                    </a:lnTo>
                    <a:lnTo>
                      <a:pt x="4802" y="1574"/>
                    </a:lnTo>
                    <a:lnTo>
                      <a:pt x="4828" y="1443"/>
                    </a:lnTo>
                    <a:lnTo>
                      <a:pt x="4841" y="1312"/>
                    </a:lnTo>
                    <a:lnTo>
                      <a:pt x="48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2427;p45">
                <a:extLst>
                  <a:ext uri="{FF2B5EF4-FFF2-40B4-BE49-F238E27FC236}">
                    <a16:creationId xmlns:a16="http://schemas.microsoft.com/office/drawing/2014/main" id="{1FA79E8C-BDD9-1EE9-DE3E-91ADBCC57FCA}"/>
                  </a:ext>
                </a:extLst>
              </p:cNvPr>
              <p:cNvSpPr/>
              <p:nvPr/>
            </p:nvSpPr>
            <p:spPr>
              <a:xfrm>
                <a:off x="1903900" y="3163581"/>
                <a:ext cx="191688" cy="904770"/>
              </a:xfrm>
              <a:custGeom>
                <a:avLst/>
                <a:gdLst/>
                <a:ahLst/>
                <a:cxnLst/>
                <a:rect l="l" t="t" r="r" b="b"/>
                <a:pathLst>
                  <a:path w="10679" h="50405" extrusionOk="0">
                    <a:moveTo>
                      <a:pt x="0" y="1"/>
                    </a:moveTo>
                    <a:lnTo>
                      <a:pt x="4723" y="50404"/>
                    </a:lnTo>
                    <a:lnTo>
                      <a:pt x="10679"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2428;p45">
                <a:extLst>
                  <a:ext uri="{FF2B5EF4-FFF2-40B4-BE49-F238E27FC236}">
                    <a16:creationId xmlns:a16="http://schemas.microsoft.com/office/drawing/2014/main" id="{7F4EC4B2-9B78-EDB5-2C69-0F35756F4C06}"/>
                  </a:ext>
                </a:extLst>
              </p:cNvPr>
              <p:cNvSpPr/>
              <p:nvPr/>
            </p:nvSpPr>
            <p:spPr>
              <a:xfrm>
                <a:off x="2267477" y="4066448"/>
                <a:ext cx="86914" cy="47585"/>
              </a:xfrm>
              <a:custGeom>
                <a:avLst/>
                <a:gdLst/>
                <a:ahLst/>
                <a:cxnLst/>
                <a:rect l="l" t="t" r="r" b="b"/>
                <a:pathLst>
                  <a:path w="4842" h="2651" extrusionOk="0">
                    <a:moveTo>
                      <a:pt x="1" y="0"/>
                    </a:moveTo>
                    <a:lnTo>
                      <a:pt x="1" y="1312"/>
                    </a:lnTo>
                    <a:lnTo>
                      <a:pt x="14" y="1443"/>
                    </a:lnTo>
                    <a:lnTo>
                      <a:pt x="27" y="1574"/>
                    </a:lnTo>
                    <a:lnTo>
                      <a:pt x="66" y="1706"/>
                    </a:lnTo>
                    <a:lnTo>
                      <a:pt x="106" y="1837"/>
                    </a:lnTo>
                    <a:lnTo>
                      <a:pt x="171" y="1955"/>
                    </a:lnTo>
                    <a:lnTo>
                      <a:pt x="237" y="2060"/>
                    </a:lnTo>
                    <a:lnTo>
                      <a:pt x="316" y="2165"/>
                    </a:lnTo>
                    <a:lnTo>
                      <a:pt x="394" y="2257"/>
                    </a:lnTo>
                    <a:lnTo>
                      <a:pt x="486" y="2349"/>
                    </a:lnTo>
                    <a:lnTo>
                      <a:pt x="591" y="2427"/>
                    </a:lnTo>
                    <a:lnTo>
                      <a:pt x="709" y="2493"/>
                    </a:lnTo>
                    <a:lnTo>
                      <a:pt x="827" y="2545"/>
                    </a:lnTo>
                    <a:lnTo>
                      <a:pt x="945" y="2585"/>
                    </a:lnTo>
                    <a:lnTo>
                      <a:pt x="1076" y="2624"/>
                    </a:lnTo>
                    <a:lnTo>
                      <a:pt x="1208" y="2637"/>
                    </a:lnTo>
                    <a:lnTo>
                      <a:pt x="1339" y="2650"/>
                    </a:lnTo>
                    <a:lnTo>
                      <a:pt x="3503" y="2650"/>
                    </a:lnTo>
                    <a:lnTo>
                      <a:pt x="3635" y="2637"/>
                    </a:lnTo>
                    <a:lnTo>
                      <a:pt x="3766" y="2624"/>
                    </a:lnTo>
                    <a:lnTo>
                      <a:pt x="3897" y="2585"/>
                    </a:lnTo>
                    <a:lnTo>
                      <a:pt x="4015" y="2545"/>
                    </a:lnTo>
                    <a:lnTo>
                      <a:pt x="4133" y="2493"/>
                    </a:lnTo>
                    <a:lnTo>
                      <a:pt x="4251" y="2427"/>
                    </a:lnTo>
                    <a:lnTo>
                      <a:pt x="4356" y="2349"/>
                    </a:lnTo>
                    <a:lnTo>
                      <a:pt x="4448" y="2257"/>
                    </a:lnTo>
                    <a:lnTo>
                      <a:pt x="4527" y="2165"/>
                    </a:lnTo>
                    <a:lnTo>
                      <a:pt x="4605" y="2060"/>
                    </a:lnTo>
                    <a:lnTo>
                      <a:pt x="4671" y="1955"/>
                    </a:lnTo>
                    <a:lnTo>
                      <a:pt x="4737" y="1837"/>
                    </a:lnTo>
                    <a:lnTo>
                      <a:pt x="4776" y="1706"/>
                    </a:lnTo>
                    <a:lnTo>
                      <a:pt x="4815" y="1574"/>
                    </a:lnTo>
                    <a:lnTo>
                      <a:pt x="4828" y="1443"/>
                    </a:lnTo>
                    <a:lnTo>
                      <a:pt x="4842" y="1312"/>
                    </a:lnTo>
                    <a:lnTo>
                      <a:pt x="48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2429;p45">
                <a:extLst>
                  <a:ext uri="{FF2B5EF4-FFF2-40B4-BE49-F238E27FC236}">
                    <a16:creationId xmlns:a16="http://schemas.microsoft.com/office/drawing/2014/main" id="{77E6F47B-1B52-11A5-688D-46396420E8B4}"/>
                  </a:ext>
                </a:extLst>
              </p:cNvPr>
              <p:cNvSpPr/>
              <p:nvPr/>
            </p:nvSpPr>
            <p:spPr>
              <a:xfrm>
                <a:off x="2260423" y="3163581"/>
                <a:ext cx="191688" cy="904770"/>
              </a:xfrm>
              <a:custGeom>
                <a:avLst/>
                <a:gdLst/>
                <a:ahLst/>
                <a:cxnLst/>
                <a:rect l="l" t="t" r="r" b="b"/>
                <a:pathLst>
                  <a:path w="10679" h="50405" extrusionOk="0">
                    <a:moveTo>
                      <a:pt x="0" y="1"/>
                    </a:moveTo>
                    <a:lnTo>
                      <a:pt x="0" y="50404"/>
                    </a:lnTo>
                    <a:lnTo>
                      <a:pt x="5956"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2430;p45">
                <a:extLst>
                  <a:ext uri="{FF2B5EF4-FFF2-40B4-BE49-F238E27FC236}">
                    <a16:creationId xmlns:a16="http://schemas.microsoft.com/office/drawing/2014/main" id="{3AA1E7F5-15EA-1CC3-400F-C62E8386D1D3}"/>
                  </a:ext>
                </a:extLst>
              </p:cNvPr>
              <p:cNvSpPr/>
              <p:nvPr/>
            </p:nvSpPr>
            <p:spPr>
              <a:xfrm>
                <a:off x="1640950" y="2743246"/>
                <a:ext cx="66415" cy="99622"/>
              </a:xfrm>
              <a:custGeom>
                <a:avLst/>
                <a:gdLst/>
                <a:ahLst/>
                <a:cxnLst/>
                <a:rect l="l" t="t" r="r" b="b"/>
                <a:pathLst>
                  <a:path w="3700" h="5550" extrusionOk="0">
                    <a:moveTo>
                      <a:pt x="3503" y="0"/>
                    </a:moveTo>
                    <a:lnTo>
                      <a:pt x="3319" y="14"/>
                    </a:lnTo>
                    <a:lnTo>
                      <a:pt x="3136" y="40"/>
                    </a:lnTo>
                    <a:lnTo>
                      <a:pt x="2952" y="66"/>
                    </a:lnTo>
                    <a:lnTo>
                      <a:pt x="2769" y="119"/>
                    </a:lnTo>
                    <a:lnTo>
                      <a:pt x="2598" y="158"/>
                    </a:lnTo>
                    <a:lnTo>
                      <a:pt x="2427" y="224"/>
                    </a:lnTo>
                    <a:lnTo>
                      <a:pt x="2257" y="289"/>
                    </a:lnTo>
                    <a:lnTo>
                      <a:pt x="2086" y="368"/>
                    </a:lnTo>
                    <a:lnTo>
                      <a:pt x="1929" y="447"/>
                    </a:lnTo>
                    <a:lnTo>
                      <a:pt x="1771" y="538"/>
                    </a:lnTo>
                    <a:lnTo>
                      <a:pt x="1627" y="630"/>
                    </a:lnTo>
                    <a:lnTo>
                      <a:pt x="1483" y="735"/>
                    </a:lnTo>
                    <a:lnTo>
                      <a:pt x="1339" y="840"/>
                    </a:lnTo>
                    <a:lnTo>
                      <a:pt x="1207" y="958"/>
                    </a:lnTo>
                    <a:lnTo>
                      <a:pt x="1076" y="1076"/>
                    </a:lnTo>
                    <a:lnTo>
                      <a:pt x="958" y="1207"/>
                    </a:lnTo>
                    <a:lnTo>
                      <a:pt x="840" y="1339"/>
                    </a:lnTo>
                    <a:lnTo>
                      <a:pt x="735" y="1483"/>
                    </a:lnTo>
                    <a:lnTo>
                      <a:pt x="630" y="1627"/>
                    </a:lnTo>
                    <a:lnTo>
                      <a:pt x="525" y="1772"/>
                    </a:lnTo>
                    <a:lnTo>
                      <a:pt x="446" y="1929"/>
                    </a:lnTo>
                    <a:lnTo>
                      <a:pt x="355" y="2086"/>
                    </a:lnTo>
                    <a:lnTo>
                      <a:pt x="289" y="2257"/>
                    </a:lnTo>
                    <a:lnTo>
                      <a:pt x="223" y="2427"/>
                    </a:lnTo>
                    <a:lnTo>
                      <a:pt x="158" y="2598"/>
                    </a:lnTo>
                    <a:lnTo>
                      <a:pt x="118" y="2769"/>
                    </a:lnTo>
                    <a:lnTo>
                      <a:pt x="66" y="2952"/>
                    </a:lnTo>
                    <a:lnTo>
                      <a:pt x="40" y="3136"/>
                    </a:lnTo>
                    <a:lnTo>
                      <a:pt x="14" y="3320"/>
                    </a:lnTo>
                    <a:lnTo>
                      <a:pt x="0" y="3503"/>
                    </a:lnTo>
                    <a:lnTo>
                      <a:pt x="0" y="3700"/>
                    </a:lnTo>
                    <a:lnTo>
                      <a:pt x="0" y="5550"/>
                    </a:lnTo>
                    <a:lnTo>
                      <a:pt x="3700" y="5550"/>
                    </a:lnTo>
                    <a:lnTo>
                      <a:pt x="3700"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2431;p45">
                <a:extLst>
                  <a:ext uri="{FF2B5EF4-FFF2-40B4-BE49-F238E27FC236}">
                    <a16:creationId xmlns:a16="http://schemas.microsoft.com/office/drawing/2014/main" id="{82ADCDEB-69CF-E12A-C87D-13E7388F6486}"/>
                  </a:ext>
                </a:extLst>
              </p:cNvPr>
              <p:cNvSpPr/>
              <p:nvPr/>
            </p:nvSpPr>
            <p:spPr>
              <a:xfrm>
                <a:off x="1640716" y="2524005"/>
                <a:ext cx="235019" cy="385045"/>
              </a:xfrm>
              <a:custGeom>
                <a:avLst/>
                <a:gdLst/>
                <a:ahLst/>
                <a:cxnLst/>
                <a:rect l="l" t="t" r="r" b="b"/>
                <a:pathLst>
                  <a:path w="13093" h="21451" extrusionOk="0">
                    <a:moveTo>
                      <a:pt x="6442" y="1"/>
                    </a:moveTo>
                    <a:lnTo>
                      <a:pt x="145" y="17134"/>
                    </a:lnTo>
                    <a:lnTo>
                      <a:pt x="66" y="17370"/>
                    </a:lnTo>
                    <a:lnTo>
                      <a:pt x="13" y="17620"/>
                    </a:lnTo>
                    <a:lnTo>
                      <a:pt x="0" y="17869"/>
                    </a:lnTo>
                    <a:lnTo>
                      <a:pt x="0" y="18118"/>
                    </a:lnTo>
                    <a:lnTo>
                      <a:pt x="27" y="18367"/>
                    </a:lnTo>
                    <a:lnTo>
                      <a:pt x="79" y="18603"/>
                    </a:lnTo>
                    <a:lnTo>
                      <a:pt x="145" y="18853"/>
                    </a:lnTo>
                    <a:lnTo>
                      <a:pt x="250" y="19076"/>
                    </a:lnTo>
                    <a:lnTo>
                      <a:pt x="761" y="20099"/>
                    </a:lnTo>
                    <a:lnTo>
                      <a:pt x="866" y="20283"/>
                    </a:lnTo>
                    <a:lnTo>
                      <a:pt x="984" y="20453"/>
                    </a:lnTo>
                    <a:lnTo>
                      <a:pt x="1115" y="20624"/>
                    </a:lnTo>
                    <a:lnTo>
                      <a:pt x="1247" y="20768"/>
                    </a:lnTo>
                    <a:lnTo>
                      <a:pt x="1404" y="20899"/>
                    </a:lnTo>
                    <a:lnTo>
                      <a:pt x="1561" y="21017"/>
                    </a:lnTo>
                    <a:lnTo>
                      <a:pt x="1732" y="21135"/>
                    </a:lnTo>
                    <a:lnTo>
                      <a:pt x="1916" y="21227"/>
                    </a:lnTo>
                    <a:lnTo>
                      <a:pt x="2099" y="21306"/>
                    </a:lnTo>
                    <a:lnTo>
                      <a:pt x="2283" y="21358"/>
                    </a:lnTo>
                    <a:lnTo>
                      <a:pt x="2480" y="21411"/>
                    </a:lnTo>
                    <a:lnTo>
                      <a:pt x="2690" y="21437"/>
                    </a:lnTo>
                    <a:lnTo>
                      <a:pt x="2886" y="21450"/>
                    </a:lnTo>
                    <a:lnTo>
                      <a:pt x="3096" y="21450"/>
                    </a:lnTo>
                    <a:lnTo>
                      <a:pt x="3306" y="21437"/>
                    </a:lnTo>
                    <a:lnTo>
                      <a:pt x="3503" y="21398"/>
                    </a:lnTo>
                    <a:lnTo>
                      <a:pt x="3844" y="21306"/>
                    </a:lnTo>
                    <a:lnTo>
                      <a:pt x="4172" y="21201"/>
                    </a:lnTo>
                    <a:lnTo>
                      <a:pt x="4500" y="21070"/>
                    </a:lnTo>
                    <a:lnTo>
                      <a:pt x="4802" y="20912"/>
                    </a:lnTo>
                    <a:lnTo>
                      <a:pt x="5104" y="20755"/>
                    </a:lnTo>
                    <a:lnTo>
                      <a:pt x="5392" y="20571"/>
                    </a:lnTo>
                    <a:lnTo>
                      <a:pt x="5668" y="20361"/>
                    </a:lnTo>
                    <a:lnTo>
                      <a:pt x="5930" y="20151"/>
                    </a:lnTo>
                    <a:lnTo>
                      <a:pt x="6179" y="19915"/>
                    </a:lnTo>
                    <a:lnTo>
                      <a:pt x="6415" y="19666"/>
                    </a:lnTo>
                    <a:lnTo>
                      <a:pt x="6638" y="19404"/>
                    </a:lnTo>
                    <a:lnTo>
                      <a:pt x="6835" y="19128"/>
                    </a:lnTo>
                    <a:lnTo>
                      <a:pt x="7019" y="18840"/>
                    </a:lnTo>
                    <a:lnTo>
                      <a:pt x="7189" y="18538"/>
                    </a:lnTo>
                    <a:lnTo>
                      <a:pt x="7334" y="18223"/>
                    </a:lnTo>
                    <a:lnTo>
                      <a:pt x="7465" y="17895"/>
                    </a:lnTo>
                    <a:lnTo>
                      <a:pt x="13093" y="2598"/>
                    </a:lnTo>
                    <a:lnTo>
                      <a:pt x="6442"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2432;p45">
                <a:extLst>
                  <a:ext uri="{FF2B5EF4-FFF2-40B4-BE49-F238E27FC236}">
                    <a16:creationId xmlns:a16="http://schemas.microsoft.com/office/drawing/2014/main" id="{64D624C8-8927-2E5A-5987-02AD903E1D05}"/>
                  </a:ext>
                </a:extLst>
              </p:cNvPr>
              <p:cNvSpPr/>
              <p:nvPr/>
            </p:nvSpPr>
            <p:spPr>
              <a:xfrm>
                <a:off x="2667672" y="2743246"/>
                <a:ext cx="66415" cy="99622"/>
              </a:xfrm>
              <a:custGeom>
                <a:avLst/>
                <a:gdLst/>
                <a:ahLst/>
                <a:cxnLst/>
                <a:rect l="l" t="t" r="r" b="b"/>
                <a:pathLst>
                  <a:path w="3700" h="5550" extrusionOk="0">
                    <a:moveTo>
                      <a:pt x="0" y="0"/>
                    </a:moveTo>
                    <a:lnTo>
                      <a:pt x="0" y="5550"/>
                    </a:lnTo>
                    <a:lnTo>
                      <a:pt x="3700" y="5550"/>
                    </a:lnTo>
                    <a:lnTo>
                      <a:pt x="3700" y="3700"/>
                    </a:lnTo>
                    <a:lnTo>
                      <a:pt x="3700" y="3503"/>
                    </a:lnTo>
                    <a:lnTo>
                      <a:pt x="3686" y="3320"/>
                    </a:lnTo>
                    <a:lnTo>
                      <a:pt x="3660" y="3136"/>
                    </a:lnTo>
                    <a:lnTo>
                      <a:pt x="3634" y="2952"/>
                    </a:lnTo>
                    <a:lnTo>
                      <a:pt x="3582" y="2769"/>
                    </a:lnTo>
                    <a:lnTo>
                      <a:pt x="3542" y="2598"/>
                    </a:lnTo>
                    <a:lnTo>
                      <a:pt x="3477" y="2427"/>
                    </a:lnTo>
                    <a:lnTo>
                      <a:pt x="3411" y="2257"/>
                    </a:lnTo>
                    <a:lnTo>
                      <a:pt x="3332" y="2086"/>
                    </a:lnTo>
                    <a:lnTo>
                      <a:pt x="3254" y="1929"/>
                    </a:lnTo>
                    <a:lnTo>
                      <a:pt x="3162" y="1772"/>
                    </a:lnTo>
                    <a:lnTo>
                      <a:pt x="3070" y="1627"/>
                    </a:lnTo>
                    <a:lnTo>
                      <a:pt x="2965" y="1483"/>
                    </a:lnTo>
                    <a:lnTo>
                      <a:pt x="2860" y="1339"/>
                    </a:lnTo>
                    <a:lnTo>
                      <a:pt x="2742" y="1207"/>
                    </a:lnTo>
                    <a:lnTo>
                      <a:pt x="2624" y="1076"/>
                    </a:lnTo>
                    <a:lnTo>
                      <a:pt x="2493" y="958"/>
                    </a:lnTo>
                    <a:lnTo>
                      <a:pt x="2361" y="840"/>
                    </a:lnTo>
                    <a:lnTo>
                      <a:pt x="2217" y="735"/>
                    </a:lnTo>
                    <a:lnTo>
                      <a:pt x="2073" y="630"/>
                    </a:lnTo>
                    <a:lnTo>
                      <a:pt x="1929" y="538"/>
                    </a:lnTo>
                    <a:lnTo>
                      <a:pt x="1771" y="447"/>
                    </a:lnTo>
                    <a:lnTo>
                      <a:pt x="1614" y="368"/>
                    </a:lnTo>
                    <a:lnTo>
                      <a:pt x="1443" y="289"/>
                    </a:lnTo>
                    <a:lnTo>
                      <a:pt x="1273" y="224"/>
                    </a:lnTo>
                    <a:lnTo>
                      <a:pt x="1102" y="158"/>
                    </a:lnTo>
                    <a:lnTo>
                      <a:pt x="932" y="119"/>
                    </a:lnTo>
                    <a:lnTo>
                      <a:pt x="748" y="66"/>
                    </a:lnTo>
                    <a:lnTo>
                      <a:pt x="564" y="40"/>
                    </a:lnTo>
                    <a:lnTo>
                      <a:pt x="381" y="14"/>
                    </a:lnTo>
                    <a:lnTo>
                      <a:pt x="197"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2433;p45">
                <a:extLst>
                  <a:ext uri="{FF2B5EF4-FFF2-40B4-BE49-F238E27FC236}">
                    <a16:creationId xmlns:a16="http://schemas.microsoft.com/office/drawing/2014/main" id="{C0C49F31-C03F-DF63-FC4F-7D09FAF78A6F}"/>
                  </a:ext>
                </a:extLst>
              </p:cNvPr>
              <p:cNvSpPr/>
              <p:nvPr/>
            </p:nvSpPr>
            <p:spPr>
              <a:xfrm>
                <a:off x="2499301" y="2524005"/>
                <a:ext cx="235019" cy="385045"/>
              </a:xfrm>
              <a:custGeom>
                <a:avLst/>
                <a:gdLst/>
                <a:ahLst/>
                <a:cxnLst/>
                <a:rect l="l" t="t" r="r" b="b"/>
                <a:pathLst>
                  <a:path w="13093" h="21451" extrusionOk="0">
                    <a:moveTo>
                      <a:pt x="6651" y="1"/>
                    </a:moveTo>
                    <a:lnTo>
                      <a:pt x="0" y="2598"/>
                    </a:lnTo>
                    <a:lnTo>
                      <a:pt x="5615" y="17895"/>
                    </a:lnTo>
                    <a:lnTo>
                      <a:pt x="5746" y="18223"/>
                    </a:lnTo>
                    <a:lnTo>
                      <a:pt x="5904" y="18538"/>
                    </a:lnTo>
                    <a:lnTo>
                      <a:pt x="6074" y="18840"/>
                    </a:lnTo>
                    <a:lnTo>
                      <a:pt x="6258" y="19128"/>
                    </a:lnTo>
                    <a:lnTo>
                      <a:pt x="6455" y="19404"/>
                    </a:lnTo>
                    <a:lnTo>
                      <a:pt x="6678" y="19666"/>
                    </a:lnTo>
                    <a:lnTo>
                      <a:pt x="6914" y="19915"/>
                    </a:lnTo>
                    <a:lnTo>
                      <a:pt x="7163" y="20151"/>
                    </a:lnTo>
                    <a:lnTo>
                      <a:pt x="7425" y="20361"/>
                    </a:lnTo>
                    <a:lnTo>
                      <a:pt x="7701" y="20571"/>
                    </a:lnTo>
                    <a:lnTo>
                      <a:pt x="7989" y="20755"/>
                    </a:lnTo>
                    <a:lnTo>
                      <a:pt x="8278" y="20912"/>
                    </a:lnTo>
                    <a:lnTo>
                      <a:pt x="8593" y="21070"/>
                    </a:lnTo>
                    <a:lnTo>
                      <a:pt x="8921" y="21201"/>
                    </a:lnTo>
                    <a:lnTo>
                      <a:pt x="9249" y="21306"/>
                    </a:lnTo>
                    <a:lnTo>
                      <a:pt x="9577" y="21398"/>
                    </a:lnTo>
                    <a:lnTo>
                      <a:pt x="9787" y="21437"/>
                    </a:lnTo>
                    <a:lnTo>
                      <a:pt x="9997" y="21450"/>
                    </a:lnTo>
                    <a:lnTo>
                      <a:pt x="10207" y="21450"/>
                    </a:lnTo>
                    <a:lnTo>
                      <a:pt x="10403" y="21437"/>
                    </a:lnTo>
                    <a:lnTo>
                      <a:pt x="10600" y="21411"/>
                    </a:lnTo>
                    <a:lnTo>
                      <a:pt x="10797" y="21358"/>
                    </a:lnTo>
                    <a:lnTo>
                      <a:pt x="10994" y="21306"/>
                    </a:lnTo>
                    <a:lnTo>
                      <a:pt x="11177" y="21227"/>
                    </a:lnTo>
                    <a:lnTo>
                      <a:pt x="11361" y="21135"/>
                    </a:lnTo>
                    <a:lnTo>
                      <a:pt x="11532" y="21017"/>
                    </a:lnTo>
                    <a:lnTo>
                      <a:pt x="11689" y="20899"/>
                    </a:lnTo>
                    <a:lnTo>
                      <a:pt x="11846" y="20768"/>
                    </a:lnTo>
                    <a:lnTo>
                      <a:pt x="11978" y="20624"/>
                    </a:lnTo>
                    <a:lnTo>
                      <a:pt x="12109" y="20453"/>
                    </a:lnTo>
                    <a:lnTo>
                      <a:pt x="12227" y="20283"/>
                    </a:lnTo>
                    <a:lnTo>
                      <a:pt x="12332" y="20099"/>
                    </a:lnTo>
                    <a:lnTo>
                      <a:pt x="12843" y="19076"/>
                    </a:lnTo>
                    <a:lnTo>
                      <a:pt x="12935" y="18853"/>
                    </a:lnTo>
                    <a:lnTo>
                      <a:pt x="13014" y="18603"/>
                    </a:lnTo>
                    <a:lnTo>
                      <a:pt x="13066" y="18367"/>
                    </a:lnTo>
                    <a:lnTo>
                      <a:pt x="13093" y="18118"/>
                    </a:lnTo>
                    <a:lnTo>
                      <a:pt x="13093" y="17869"/>
                    </a:lnTo>
                    <a:lnTo>
                      <a:pt x="13066" y="17620"/>
                    </a:lnTo>
                    <a:lnTo>
                      <a:pt x="13027" y="17370"/>
                    </a:lnTo>
                    <a:lnTo>
                      <a:pt x="12948" y="17134"/>
                    </a:lnTo>
                    <a:lnTo>
                      <a:pt x="6651"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2434;p45">
                <a:extLst>
                  <a:ext uri="{FF2B5EF4-FFF2-40B4-BE49-F238E27FC236}">
                    <a16:creationId xmlns:a16="http://schemas.microsoft.com/office/drawing/2014/main" id="{EF1E3013-DD0F-9DF8-CA9D-D35717CD4D3F}"/>
                  </a:ext>
                </a:extLst>
              </p:cNvPr>
              <p:cNvSpPr/>
              <p:nvPr/>
            </p:nvSpPr>
            <p:spPr>
              <a:xfrm>
                <a:off x="1896683" y="3002516"/>
                <a:ext cx="581670" cy="312276"/>
              </a:xfrm>
              <a:custGeom>
                <a:avLst/>
                <a:gdLst/>
                <a:ahLst/>
                <a:cxnLst/>
                <a:rect l="l" t="t" r="r" b="b"/>
                <a:pathLst>
                  <a:path w="32405" h="17397" extrusionOk="0">
                    <a:moveTo>
                      <a:pt x="1" y="1"/>
                    </a:moveTo>
                    <a:lnTo>
                      <a:pt x="14" y="1076"/>
                    </a:lnTo>
                    <a:lnTo>
                      <a:pt x="1" y="2165"/>
                    </a:lnTo>
                    <a:lnTo>
                      <a:pt x="1" y="4277"/>
                    </a:lnTo>
                    <a:lnTo>
                      <a:pt x="1" y="5314"/>
                    </a:lnTo>
                    <a:lnTo>
                      <a:pt x="14" y="6324"/>
                    </a:lnTo>
                    <a:lnTo>
                      <a:pt x="53" y="7308"/>
                    </a:lnTo>
                    <a:lnTo>
                      <a:pt x="106" y="8252"/>
                    </a:lnTo>
                    <a:lnTo>
                      <a:pt x="145" y="8698"/>
                    </a:lnTo>
                    <a:lnTo>
                      <a:pt x="184" y="9144"/>
                    </a:lnTo>
                    <a:lnTo>
                      <a:pt x="237" y="9577"/>
                    </a:lnTo>
                    <a:lnTo>
                      <a:pt x="289" y="9997"/>
                    </a:lnTo>
                    <a:lnTo>
                      <a:pt x="355" y="10404"/>
                    </a:lnTo>
                    <a:lnTo>
                      <a:pt x="434" y="10797"/>
                    </a:lnTo>
                    <a:lnTo>
                      <a:pt x="525" y="11165"/>
                    </a:lnTo>
                    <a:lnTo>
                      <a:pt x="630" y="11532"/>
                    </a:lnTo>
                    <a:lnTo>
                      <a:pt x="735" y="11873"/>
                    </a:lnTo>
                    <a:lnTo>
                      <a:pt x="853" y="12201"/>
                    </a:lnTo>
                    <a:lnTo>
                      <a:pt x="998" y="12503"/>
                    </a:lnTo>
                    <a:lnTo>
                      <a:pt x="1142" y="12805"/>
                    </a:lnTo>
                    <a:lnTo>
                      <a:pt x="1299" y="13067"/>
                    </a:lnTo>
                    <a:lnTo>
                      <a:pt x="1483" y="13316"/>
                    </a:lnTo>
                    <a:lnTo>
                      <a:pt x="1680" y="13552"/>
                    </a:lnTo>
                    <a:lnTo>
                      <a:pt x="1877" y="13762"/>
                    </a:lnTo>
                    <a:lnTo>
                      <a:pt x="2139" y="13985"/>
                    </a:lnTo>
                    <a:lnTo>
                      <a:pt x="2414" y="14195"/>
                    </a:lnTo>
                    <a:lnTo>
                      <a:pt x="2703" y="14405"/>
                    </a:lnTo>
                    <a:lnTo>
                      <a:pt x="3018" y="14615"/>
                    </a:lnTo>
                    <a:lnTo>
                      <a:pt x="3346" y="14812"/>
                    </a:lnTo>
                    <a:lnTo>
                      <a:pt x="3687" y="14996"/>
                    </a:lnTo>
                    <a:lnTo>
                      <a:pt x="4041" y="15179"/>
                    </a:lnTo>
                    <a:lnTo>
                      <a:pt x="4409" y="15350"/>
                    </a:lnTo>
                    <a:lnTo>
                      <a:pt x="4802" y="15520"/>
                    </a:lnTo>
                    <a:lnTo>
                      <a:pt x="5196" y="15678"/>
                    </a:lnTo>
                    <a:lnTo>
                      <a:pt x="5602" y="15822"/>
                    </a:lnTo>
                    <a:lnTo>
                      <a:pt x="6035" y="15966"/>
                    </a:lnTo>
                    <a:lnTo>
                      <a:pt x="6468" y="16111"/>
                    </a:lnTo>
                    <a:lnTo>
                      <a:pt x="6914" y="16242"/>
                    </a:lnTo>
                    <a:lnTo>
                      <a:pt x="7373" y="16360"/>
                    </a:lnTo>
                    <a:lnTo>
                      <a:pt x="7846" y="16478"/>
                    </a:lnTo>
                    <a:lnTo>
                      <a:pt x="8318" y="16596"/>
                    </a:lnTo>
                    <a:lnTo>
                      <a:pt x="8803" y="16701"/>
                    </a:lnTo>
                    <a:lnTo>
                      <a:pt x="9302" y="16793"/>
                    </a:lnTo>
                    <a:lnTo>
                      <a:pt x="9800" y="16885"/>
                    </a:lnTo>
                    <a:lnTo>
                      <a:pt x="10312" y="16963"/>
                    </a:lnTo>
                    <a:lnTo>
                      <a:pt x="10824" y="17029"/>
                    </a:lnTo>
                    <a:lnTo>
                      <a:pt x="11873" y="17160"/>
                    </a:lnTo>
                    <a:lnTo>
                      <a:pt x="12936" y="17265"/>
                    </a:lnTo>
                    <a:lnTo>
                      <a:pt x="14012" y="17331"/>
                    </a:lnTo>
                    <a:lnTo>
                      <a:pt x="15114" y="17370"/>
                    </a:lnTo>
                    <a:lnTo>
                      <a:pt x="16203" y="17396"/>
                    </a:lnTo>
                    <a:lnTo>
                      <a:pt x="17291" y="17370"/>
                    </a:lnTo>
                    <a:lnTo>
                      <a:pt x="18380" y="17331"/>
                    </a:lnTo>
                    <a:lnTo>
                      <a:pt x="19469" y="17265"/>
                    </a:lnTo>
                    <a:lnTo>
                      <a:pt x="20532" y="17160"/>
                    </a:lnTo>
                    <a:lnTo>
                      <a:pt x="21581" y="17029"/>
                    </a:lnTo>
                    <a:lnTo>
                      <a:pt x="22093" y="16963"/>
                    </a:lnTo>
                    <a:lnTo>
                      <a:pt x="22605" y="16885"/>
                    </a:lnTo>
                    <a:lnTo>
                      <a:pt x="23103" y="16793"/>
                    </a:lnTo>
                    <a:lnTo>
                      <a:pt x="23602" y="16701"/>
                    </a:lnTo>
                    <a:lnTo>
                      <a:pt x="24087" y="16596"/>
                    </a:lnTo>
                    <a:lnTo>
                      <a:pt x="24559" y="16478"/>
                    </a:lnTo>
                    <a:lnTo>
                      <a:pt x="25032" y="16360"/>
                    </a:lnTo>
                    <a:lnTo>
                      <a:pt x="25491" y="16242"/>
                    </a:lnTo>
                    <a:lnTo>
                      <a:pt x="25937" y="16111"/>
                    </a:lnTo>
                    <a:lnTo>
                      <a:pt x="26370" y="15966"/>
                    </a:lnTo>
                    <a:lnTo>
                      <a:pt x="26790" y="15822"/>
                    </a:lnTo>
                    <a:lnTo>
                      <a:pt x="27209" y="15678"/>
                    </a:lnTo>
                    <a:lnTo>
                      <a:pt x="27603" y="15520"/>
                    </a:lnTo>
                    <a:lnTo>
                      <a:pt x="27996" y="15350"/>
                    </a:lnTo>
                    <a:lnTo>
                      <a:pt x="28364" y="15179"/>
                    </a:lnTo>
                    <a:lnTo>
                      <a:pt x="28718" y="14996"/>
                    </a:lnTo>
                    <a:lnTo>
                      <a:pt x="29059" y="14812"/>
                    </a:lnTo>
                    <a:lnTo>
                      <a:pt x="29387" y="14615"/>
                    </a:lnTo>
                    <a:lnTo>
                      <a:pt x="29702" y="14405"/>
                    </a:lnTo>
                    <a:lnTo>
                      <a:pt x="29991" y="14195"/>
                    </a:lnTo>
                    <a:lnTo>
                      <a:pt x="30266" y="13985"/>
                    </a:lnTo>
                    <a:lnTo>
                      <a:pt x="30515" y="13762"/>
                    </a:lnTo>
                    <a:lnTo>
                      <a:pt x="30725" y="13552"/>
                    </a:lnTo>
                    <a:lnTo>
                      <a:pt x="30922" y="13316"/>
                    </a:lnTo>
                    <a:lnTo>
                      <a:pt x="31093" y="13067"/>
                    </a:lnTo>
                    <a:lnTo>
                      <a:pt x="31263" y="12805"/>
                    </a:lnTo>
                    <a:lnTo>
                      <a:pt x="31407" y="12503"/>
                    </a:lnTo>
                    <a:lnTo>
                      <a:pt x="31539" y="12201"/>
                    </a:lnTo>
                    <a:lnTo>
                      <a:pt x="31670" y="11873"/>
                    </a:lnTo>
                    <a:lnTo>
                      <a:pt x="31775" y="11532"/>
                    </a:lnTo>
                    <a:lnTo>
                      <a:pt x="31880" y="11165"/>
                    </a:lnTo>
                    <a:lnTo>
                      <a:pt x="31958" y="10797"/>
                    </a:lnTo>
                    <a:lnTo>
                      <a:pt x="32037" y="10404"/>
                    </a:lnTo>
                    <a:lnTo>
                      <a:pt x="32116" y="9997"/>
                    </a:lnTo>
                    <a:lnTo>
                      <a:pt x="32168" y="9577"/>
                    </a:lnTo>
                    <a:lnTo>
                      <a:pt x="32221" y="9144"/>
                    </a:lnTo>
                    <a:lnTo>
                      <a:pt x="32260" y="8698"/>
                    </a:lnTo>
                    <a:lnTo>
                      <a:pt x="32299" y="8252"/>
                    </a:lnTo>
                    <a:lnTo>
                      <a:pt x="32352" y="7308"/>
                    </a:lnTo>
                    <a:lnTo>
                      <a:pt x="32391" y="6324"/>
                    </a:lnTo>
                    <a:lnTo>
                      <a:pt x="32404" y="5314"/>
                    </a:lnTo>
                    <a:lnTo>
                      <a:pt x="32404" y="4277"/>
                    </a:lnTo>
                    <a:lnTo>
                      <a:pt x="32391" y="2165"/>
                    </a:lnTo>
                    <a:lnTo>
                      <a:pt x="32391" y="1076"/>
                    </a:lnTo>
                    <a:lnTo>
                      <a:pt x="324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2435;p45">
                <a:extLst>
                  <a:ext uri="{FF2B5EF4-FFF2-40B4-BE49-F238E27FC236}">
                    <a16:creationId xmlns:a16="http://schemas.microsoft.com/office/drawing/2014/main" id="{513CC17A-3D14-5B56-6247-3EE6FE0D371D}"/>
                  </a:ext>
                </a:extLst>
              </p:cNvPr>
              <p:cNvSpPr/>
              <p:nvPr/>
            </p:nvSpPr>
            <p:spPr>
              <a:xfrm>
                <a:off x="1715604" y="2185378"/>
                <a:ext cx="943829" cy="944080"/>
              </a:xfrm>
              <a:custGeom>
                <a:avLst/>
                <a:gdLst/>
                <a:ahLst/>
                <a:cxnLst/>
                <a:rect l="l" t="t" r="r" b="b"/>
                <a:pathLst>
                  <a:path w="52581" h="52595" extrusionOk="0">
                    <a:moveTo>
                      <a:pt x="22053" y="1"/>
                    </a:moveTo>
                    <a:lnTo>
                      <a:pt x="21436" y="14"/>
                    </a:lnTo>
                    <a:lnTo>
                      <a:pt x="20833" y="40"/>
                    </a:lnTo>
                    <a:lnTo>
                      <a:pt x="20230" y="92"/>
                    </a:lnTo>
                    <a:lnTo>
                      <a:pt x="19626" y="158"/>
                    </a:lnTo>
                    <a:lnTo>
                      <a:pt x="19036" y="237"/>
                    </a:lnTo>
                    <a:lnTo>
                      <a:pt x="18432" y="342"/>
                    </a:lnTo>
                    <a:lnTo>
                      <a:pt x="17842" y="460"/>
                    </a:lnTo>
                    <a:lnTo>
                      <a:pt x="17252" y="591"/>
                    </a:lnTo>
                    <a:lnTo>
                      <a:pt x="16674" y="748"/>
                    </a:lnTo>
                    <a:lnTo>
                      <a:pt x="16097" y="919"/>
                    </a:lnTo>
                    <a:lnTo>
                      <a:pt x="15520" y="1116"/>
                    </a:lnTo>
                    <a:lnTo>
                      <a:pt x="14956" y="1326"/>
                    </a:lnTo>
                    <a:lnTo>
                      <a:pt x="14392" y="1549"/>
                    </a:lnTo>
                    <a:lnTo>
                      <a:pt x="13841" y="1798"/>
                    </a:lnTo>
                    <a:lnTo>
                      <a:pt x="13303" y="2073"/>
                    </a:lnTo>
                    <a:lnTo>
                      <a:pt x="12765" y="2349"/>
                    </a:lnTo>
                    <a:lnTo>
                      <a:pt x="12345" y="2585"/>
                    </a:lnTo>
                    <a:lnTo>
                      <a:pt x="11912" y="2834"/>
                    </a:lnTo>
                    <a:lnTo>
                      <a:pt x="11492" y="3097"/>
                    </a:lnTo>
                    <a:lnTo>
                      <a:pt x="11059" y="3385"/>
                    </a:lnTo>
                    <a:lnTo>
                      <a:pt x="10613" y="3674"/>
                    </a:lnTo>
                    <a:lnTo>
                      <a:pt x="10180" y="3989"/>
                    </a:lnTo>
                    <a:lnTo>
                      <a:pt x="9734" y="4317"/>
                    </a:lnTo>
                    <a:lnTo>
                      <a:pt x="9288" y="4671"/>
                    </a:lnTo>
                    <a:lnTo>
                      <a:pt x="8842" y="5038"/>
                    </a:lnTo>
                    <a:lnTo>
                      <a:pt x="8396" y="5419"/>
                    </a:lnTo>
                    <a:lnTo>
                      <a:pt x="7963" y="5825"/>
                    </a:lnTo>
                    <a:lnTo>
                      <a:pt x="7517" y="6245"/>
                    </a:lnTo>
                    <a:lnTo>
                      <a:pt x="7071" y="6678"/>
                    </a:lnTo>
                    <a:lnTo>
                      <a:pt x="6638" y="7150"/>
                    </a:lnTo>
                    <a:lnTo>
                      <a:pt x="6205" y="7623"/>
                    </a:lnTo>
                    <a:lnTo>
                      <a:pt x="5772" y="8134"/>
                    </a:lnTo>
                    <a:lnTo>
                      <a:pt x="5340" y="8659"/>
                    </a:lnTo>
                    <a:lnTo>
                      <a:pt x="4920" y="9197"/>
                    </a:lnTo>
                    <a:lnTo>
                      <a:pt x="4513" y="9774"/>
                    </a:lnTo>
                    <a:lnTo>
                      <a:pt x="4106" y="10365"/>
                    </a:lnTo>
                    <a:lnTo>
                      <a:pt x="3700" y="10968"/>
                    </a:lnTo>
                    <a:lnTo>
                      <a:pt x="3306" y="11611"/>
                    </a:lnTo>
                    <a:lnTo>
                      <a:pt x="2926" y="12267"/>
                    </a:lnTo>
                    <a:lnTo>
                      <a:pt x="2558" y="12962"/>
                    </a:lnTo>
                    <a:lnTo>
                      <a:pt x="2191" y="13671"/>
                    </a:lnTo>
                    <a:lnTo>
                      <a:pt x="1837" y="14405"/>
                    </a:lnTo>
                    <a:lnTo>
                      <a:pt x="1496" y="15166"/>
                    </a:lnTo>
                    <a:lnTo>
                      <a:pt x="1168" y="15953"/>
                    </a:lnTo>
                    <a:lnTo>
                      <a:pt x="866" y="16767"/>
                    </a:lnTo>
                    <a:lnTo>
                      <a:pt x="564" y="17606"/>
                    </a:lnTo>
                    <a:lnTo>
                      <a:pt x="276" y="18485"/>
                    </a:lnTo>
                    <a:lnTo>
                      <a:pt x="0" y="19377"/>
                    </a:lnTo>
                    <a:lnTo>
                      <a:pt x="10679" y="23720"/>
                    </a:lnTo>
                    <a:lnTo>
                      <a:pt x="10574" y="24638"/>
                    </a:lnTo>
                    <a:lnTo>
                      <a:pt x="10469" y="25701"/>
                    </a:lnTo>
                    <a:lnTo>
                      <a:pt x="10351" y="27091"/>
                    </a:lnTo>
                    <a:lnTo>
                      <a:pt x="10233" y="28757"/>
                    </a:lnTo>
                    <a:lnTo>
                      <a:pt x="10180" y="29676"/>
                    </a:lnTo>
                    <a:lnTo>
                      <a:pt x="10128" y="30647"/>
                    </a:lnTo>
                    <a:lnTo>
                      <a:pt x="10089" y="31657"/>
                    </a:lnTo>
                    <a:lnTo>
                      <a:pt x="10049" y="32693"/>
                    </a:lnTo>
                    <a:lnTo>
                      <a:pt x="10023" y="33756"/>
                    </a:lnTo>
                    <a:lnTo>
                      <a:pt x="10010" y="34845"/>
                    </a:lnTo>
                    <a:lnTo>
                      <a:pt x="10010" y="35947"/>
                    </a:lnTo>
                    <a:lnTo>
                      <a:pt x="10023" y="37049"/>
                    </a:lnTo>
                    <a:lnTo>
                      <a:pt x="10062" y="38151"/>
                    </a:lnTo>
                    <a:lnTo>
                      <a:pt x="10115" y="39240"/>
                    </a:lnTo>
                    <a:lnTo>
                      <a:pt x="10194" y="40315"/>
                    </a:lnTo>
                    <a:lnTo>
                      <a:pt x="10285" y="41378"/>
                    </a:lnTo>
                    <a:lnTo>
                      <a:pt x="10403" y="42401"/>
                    </a:lnTo>
                    <a:lnTo>
                      <a:pt x="10469" y="42900"/>
                    </a:lnTo>
                    <a:lnTo>
                      <a:pt x="10548" y="43398"/>
                    </a:lnTo>
                    <a:lnTo>
                      <a:pt x="10640" y="43884"/>
                    </a:lnTo>
                    <a:lnTo>
                      <a:pt x="10731" y="44343"/>
                    </a:lnTo>
                    <a:lnTo>
                      <a:pt x="10823" y="44802"/>
                    </a:lnTo>
                    <a:lnTo>
                      <a:pt x="10928" y="45248"/>
                    </a:lnTo>
                    <a:lnTo>
                      <a:pt x="11046" y="45668"/>
                    </a:lnTo>
                    <a:lnTo>
                      <a:pt x="11164" y="46088"/>
                    </a:lnTo>
                    <a:lnTo>
                      <a:pt x="11296" y="46481"/>
                    </a:lnTo>
                    <a:lnTo>
                      <a:pt x="11440" y="46862"/>
                    </a:lnTo>
                    <a:lnTo>
                      <a:pt x="11584" y="47229"/>
                    </a:lnTo>
                    <a:lnTo>
                      <a:pt x="11742" y="47570"/>
                    </a:lnTo>
                    <a:lnTo>
                      <a:pt x="11912" y="47898"/>
                    </a:lnTo>
                    <a:lnTo>
                      <a:pt x="12083" y="48200"/>
                    </a:lnTo>
                    <a:lnTo>
                      <a:pt x="12266" y="48488"/>
                    </a:lnTo>
                    <a:lnTo>
                      <a:pt x="12463" y="48751"/>
                    </a:lnTo>
                    <a:lnTo>
                      <a:pt x="12673" y="48987"/>
                    </a:lnTo>
                    <a:lnTo>
                      <a:pt x="12883" y="49197"/>
                    </a:lnTo>
                    <a:lnTo>
                      <a:pt x="13119" y="49407"/>
                    </a:lnTo>
                    <a:lnTo>
                      <a:pt x="13381" y="49617"/>
                    </a:lnTo>
                    <a:lnTo>
                      <a:pt x="13657" y="49813"/>
                    </a:lnTo>
                    <a:lnTo>
                      <a:pt x="13946" y="49997"/>
                    </a:lnTo>
                    <a:lnTo>
                      <a:pt x="14247" y="50181"/>
                    </a:lnTo>
                    <a:lnTo>
                      <a:pt x="14562" y="50351"/>
                    </a:lnTo>
                    <a:lnTo>
                      <a:pt x="14903" y="50522"/>
                    </a:lnTo>
                    <a:lnTo>
                      <a:pt x="15244" y="50692"/>
                    </a:lnTo>
                    <a:lnTo>
                      <a:pt x="15612" y="50837"/>
                    </a:lnTo>
                    <a:lnTo>
                      <a:pt x="15979" y="50994"/>
                    </a:lnTo>
                    <a:lnTo>
                      <a:pt x="16373" y="51138"/>
                    </a:lnTo>
                    <a:lnTo>
                      <a:pt x="16766" y="51270"/>
                    </a:lnTo>
                    <a:lnTo>
                      <a:pt x="17173" y="51401"/>
                    </a:lnTo>
                    <a:lnTo>
                      <a:pt x="17593" y="51519"/>
                    </a:lnTo>
                    <a:lnTo>
                      <a:pt x="18026" y="51637"/>
                    </a:lnTo>
                    <a:lnTo>
                      <a:pt x="18458" y="51755"/>
                    </a:lnTo>
                    <a:lnTo>
                      <a:pt x="18905" y="51847"/>
                    </a:lnTo>
                    <a:lnTo>
                      <a:pt x="19364" y="51952"/>
                    </a:lnTo>
                    <a:lnTo>
                      <a:pt x="20295" y="52122"/>
                    </a:lnTo>
                    <a:lnTo>
                      <a:pt x="21253" y="52267"/>
                    </a:lnTo>
                    <a:lnTo>
                      <a:pt x="22237" y="52385"/>
                    </a:lnTo>
                    <a:lnTo>
                      <a:pt x="23234" y="52477"/>
                    </a:lnTo>
                    <a:lnTo>
                      <a:pt x="24244" y="52542"/>
                    </a:lnTo>
                    <a:lnTo>
                      <a:pt x="25267" y="52582"/>
                    </a:lnTo>
                    <a:lnTo>
                      <a:pt x="26291" y="52595"/>
                    </a:lnTo>
                    <a:lnTo>
                      <a:pt x="27314" y="52582"/>
                    </a:lnTo>
                    <a:lnTo>
                      <a:pt x="28337" y="52542"/>
                    </a:lnTo>
                    <a:lnTo>
                      <a:pt x="29347" y="52477"/>
                    </a:lnTo>
                    <a:lnTo>
                      <a:pt x="30344" y="52385"/>
                    </a:lnTo>
                    <a:lnTo>
                      <a:pt x="31328" y="52267"/>
                    </a:lnTo>
                    <a:lnTo>
                      <a:pt x="32286" y="52122"/>
                    </a:lnTo>
                    <a:lnTo>
                      <a:pt x="33217" y="51952"/>
                    </a:lnTo>
                    <a:lnTo>
                      <a:pt x="33676" y="51847"/>
                    </a:lnTo>
                    <a:lnTo>
                      <a:pt x="34123" y="51755"/>
                    </a:lnTo>
                    <a:lnTo>
                      <a:pt x="34555" y="51637"/>
                    </a:lnTo>
                    <a:lnTo>
                      <a:pt x="34988" y="51519"/>
                    </a:lnTo>
                    <a:lnTo>
                      <a:pt x="35408" y="51401"/>
                    </a:lnTo>
                    <a:lnTo>
                      <a:pt x="35815" y="51270"/>
                    </a:lnTo>
                    <a:lnTo>
                      <a:pt x="36208" y="51138"/>
                    </a:lnTo>
                    <a:lnTo>
                      <a:pt x="36589" y="50994"/>
                    </a:lnTo>
                    <a:lnTo>
                      <a:pt x="36969" y="50837"/>
                    </a:lnTo>
                    <a:lnTo>
                      <a:pt x="37324" y="50692"/>
                    </a:lnTo>
                    <a:lnTo>
                      <a:pt x="37678" y="50522"/>
                    </a:lnTo>
                    <a:lnTo>
                      <a:pt x="38006" y="50351"/>
                    </a:lnTo>
                    <a:lnTo>
                      <a:pt x="38334" y="50181"/>
                    </a:lnTo>
                    <a:lnTo>
                      <a:pt x="38635" y="49997"/>
                    </a:lnTo>
                    <a:lnTo>
                      <a:pt x="38924" y="49813"/>
                    </a:lnTo>
                    <a:lnTo>
                      <a:pt x="39200" y="49617"/>
                    </a:lnTo>
                    <a:lnTo>
                      <a:pt x="39462" y="49407"/>
                    </a:lnTo>
                    <a:lnTo>
                      <a:pt x="39698" y="49197"/>
                    </a:lnTo>
                    <a:lnTo>
                      <a:pt x="39908" y="48987"/>
                    </a:lnTo>
                    <a:lnTo>
                      <a:pt x="40118" y="48751"/>
                    </a:lnTo>
                    <a:lnTo>
                      <a:pt x="40315" y="48488"/>
                    </a:lnTo>
                    <a:lnTo>
                      <a:pt x="40498" y="48200"/>
                    </a:lnTo>
                    <a:lnTo>
                      <a:pt x="40669" y="47898"/>
                    </a:lnTo>
                    <a:lnTo>
                      <a:pt x="40839" y="47570"/>
                    </a:lnTo>
                    <a:lnTo>
                      <a:pt x="40997" y="47229"/>
                    </a:lnTo>
                    <a:lnTo>
                      <a:pt x="41141" y="46862"/>
                    </a:lnTo>
                    <a:lnTo>
                      <a:pt x="41285" y="46481"/>
                    </a:lnTo>
                    <a:lnTo>
                      <a:pt x="41417" y="46088"/>
                    </a:lnTo>
                    <a:lnTo>
                      <a:pt x="41535" y="45668"/>
                    </a:lnTo>
                    <a:lnTo>
                      <a:pt x="41653" y="45248"/>
                    </a:lnTo>
                    <a:lnTo>
                      <a:pt x="41758" y="44802"/>
                    </a:lnTo>
                    <a:lnTo>
                      <a:pt x="41850" y="44343"/>
                    </a:lnTo>
                    <a:lnTo>
                      <a:pt x="41941" y="43884"/>
                    </a:lnTo>
                    <a:lnTo>
                      <a:pt x="42033" y="43398"/>
                    </a:lnTo>
                    <a:lnTo>
                      <a:pt x="42112" y="42900"/>
                    </a:lnTo>
                    <a:lnTo>
                      <a:pt x="42178" y="42401"/>
                    </a:lnTo>
                    <a:lnTo>
                      <a:pt x="42296" y="41378"/>
                    </a:lnTo>
                    <a:lnTo>
                      <a:pt x="42387" y="40315"/>
                    </a:lnTo>
                    <a:lnTo>
                      <a:pt x="42466" y="39240"/>
                    </a:lnTo>
                    <a:lnTo>
                      <a:pt x="42519" y="38151"/>
                    </a:lnTo>
                    <a:lnTo>
                      <a:pt x="42545" y="37049"/>
                    </a:lnTo>
                    <a:lnTo>
                      <a:pt x="42571" y="35947"/>
                    </a:lnTo>
                    <a:lnTo>
                      <a:pt x="42571" y="34845"/>
                    </a:lnTo>
                    <a:lnTo>
                      <a:pt x="42558" y="33756"/>
                    </a:lnTo>
                    <a:lnTo>
                      <a:pt x="42532" y="32693"/>
                    </a:lnTo>
                    <a:lnTo>
                      <a:pt x="42492" y="31657"/>
                    </a:lnTo>
                    <a:lnTo>
                      <a:pt x="42453" y="30647"/>
                    </a:lnTo>
                    <a:lnTo>
                      <a:pt x="42401" y="29676"/>
                    </a:lnTo>
                    <a:lnTo>
                      <a:pt x="42335" y="28757"/>
                    </a:lnTo>
                    <a:lnTo>
                      <a:pt x="42217" y="27091"/>
                    </a:lnTo>
                    <a:lnTo>
                      <a:pt x="42099" y="25701"/>
                    </a:lnTo>
                    <a:lnTo>
                      <a:pt x="42007" y="24638"/>
                    </a:lnTo>
                    <a:lnTo>
                      <a:pt x="41902" y="23720"/>
                    </a:lnTo>
                    <a:lnTo>
                      <a:pt x="52581" y="19377"/>
                    </a:lnTo>
                    <a:lnTo>
                      <a:pt x="52292" y="18459"/>
                    </a:lnTo>
                    <a:lnTo>
                      <a:pt x="52004" y="17554"/>
                    </a:lnTo>
                    <a:lnTo>
                      <a:pt x="51689" y="16688"/>
                    </a:lnTo>
                    <a:lnTo>
                      <a:pt x="51361" y="15861"/>
                    </a:lnTo>
                    <a:lnTo>
                      <a:pt x="51033" y="15048"/>
                    </a:lnTo>
                    <a:lnTo>
                      <a:pt x="50679" y="14274"/>
                    </a:lnTo>
                    <a:lnTo>
                      <a:pt x="50311" y="13513"/>
                    </a:lnTo>
                    <a:lnTo>
                      <a:pt x="49931" y="12792"/>
                    </a:lnTo>
                    <a:lnTo>
                      <a:pt x="49550" y="12083"/>
                    </a:lnTo>
                    <a:lnTo>
                      <a:pt x="49144" y="11414"/>
                    </a:lnTo>
                    <a:lnTo>
                      <a:pt x="48737" y="10758"/>
                    </a:lnTo>
                    <a:lnTo>
                      <a:pt x="48330" y="10142"/>
                    </a:lnTo>
                    <a:lnTo>
                      <a:pt x="47911" y="9538"/>
                    </a:lnTo>
                    <a:lnTo>
                      <a:pt x="47478" y="8961"/>
                    </a:lnTo>
                    <a:lnTo>
                      <a:pt x="47045" y="8410"/>
                    </a:lnTo>
                    <a:lnTo>
                      <a:pt x="46599" y="7885"/>
                    </a:lnTo>
                    <a:lnTo>
                      <a:pt x="46153" y="7373"/>
                    </a:lnTo>
                    <a:lnTo>
                      <a:pt x="45707" y="6888"/>
                    </a:lnTo>
                    <a:lnTo>
                      <a:pt x="45247" y="6429"/>
                    </a:lnTo>
                    <a:lnTo>
                      <a:pt x="44788" y="5983"/>
                    </a:lnTo>
                    <a:lnTo>
                      <a:pt x="44342" y="5563"/>
                    </a:lnTo>
                    <a:lnTo>
                      <a:pt x="43883" y="5156"/>
                    </a:lnTo>
                    <a:lnTo>
                      <a:pt x="43424" y="4776"/>
                    </a:lnTo>
                    <a:lnTo>
                      <a:pt x="42965" y="4409"/>
                    </a:lnTo>
                    <a:lnTo>
                      <a:pt x="42506" y="4067"/>
                    </a:lnTo>
                    <a:lnTo>
                      <a:pt x="42046" y="3739"/>
                    </a:lnTo>
                    <a:lnTo>
                      <a:pt x="41600" y="3425"/>
                    </a:lnTo>
                    <a:lnTo>
                      <a:pt x="41154" y="3136"/>
                    </a:lnTo>
                    <a:lnTo>
                      <a:pt x="40708" y="2860"/>
                    </a:lnTo>
                    <a:lnTo>
                      <a:pt x="40275" y="2598"/>
                    </a:lnTo>
                    <a:lnTo>
                      <a:pt x="39842" y="2362"/>
                    </a:lnTo>
                    <a:lnTo>
                      <a:pt x="39423" y="2139"/>
                    </a:lnTo>
                    <a:lnTo>
                      <a:pt x="38898" y="1877"/>
                    </a:lnTo>
                    <a:lnTo>
                      <a:pt x="38373" y="1627"/>
                    </a:lnTo>
                    <a:lnTo>
                      <a:pt x="37848" y="1404"/>
                    </a:lnTo>
                    <a:lnTo>
                      <a:pt x="37310" y="1194"/>
                    </a:lnTo>
                    <a:lnTo>
                      <a:pt x="36773" y="1011"/>
                    </a:lnTo>
                    <a:lnTo>
                      <a:pt x="36222" y="827"/>
                    </a:lnTo>
                    <a:lnTo>
                      <a:pt x="35671" y="670"/>
                    </a:lnTo>
                    <a:lnTo>
                      <a:pt x="35106" y="538"/>
                    </a:lnTo>
                    <a:lnTo>
                      <a:pt x="34555" y="407"/>
                    </a:lnTo>
                    <a:lnTo>
                      <a:pt x="33978" y="302"/>
                    </a:lnTo>
                    <a:lnTo>
                      <a:pt x="33414" y="210"/>
                    </a:lnTo>
                    <a:lnTo>
                      <a:pt x="32850" y="132"/>
                    </a:lnTo>
                    <a:lnTo>
                      <a:pt x="32273" y="79"/>
                    </a:lnTo>
                    <a:lnTo>
                      <a:pt x="31696" y="40"/>
                    </a:lnTo>
                    <a:lnTo>
                      <a:pt x="31118" y="14"/>
                    </a:lnTo>
                    <a:lnTo>
                      <a:pt x="305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2436;p45">
                <a:extLst>
                  <a:ext uri="{FF2B5EF4-FFF2-40B4-BE49-F238E27FC236}">
                    <a16:creationId xmlns:a16="http://schemas.microsoft.com/office/drawing/2014/main" id="{208DA96D-7BE7-B473-FEC4-BA886C205CEF}"/>
                  </a:ext>
                </a:extLst>
              </p:cNvPr>
              <p:cNvSpPr/>
              <p:nvPr/>
            </p:nvSpPr>
            <p:spPr>
              <a:xfrm>
                <a:off x="1737269" y="3217521"/>
                <a:ext cx="900498" cy="138484"/>
              </a:xfrm>
              <a:custGeom>
                <a:avLst/>
                <a:gdLst/>
                <a:ahLst/>
                <a:cxnLst/>
                <a:rect l="l" t="t" r="r" b="b"/>
                <a:pathLst>
                  <a:path w="50167" h="7715" extrusionOk="0">
                    <a:moveTo>
                      <a:pt x="5143" y="0"/>
                    </a:moveTo>
                    <a:lnTo>
                      <a:pt x="4880" y="26"/>
                    </a:lnTo>
                    <a:lnTo>
                      <a:pt x="4605" y="53"/>
                    </a:lnTo>
                    <a:lnTo>
                      <a:pt x="4329" y="105"/>
                    </a:lnTo>
                    <a:lnTo>
                      <a:pt x="4067" y="158"/>
                    </a:lnTo>
                    <a:lnTo>
                      <a:pt x="3805" y="223"/>
                    </a:lnTo>
                    <a:lnTo>
                      <a:pt x="3555" y="315"/>
                    </a:lnTo>
                    <a:lnTo>
                      <a:pt x="3306" y="407"/>
                    </a:lnTo>
                    <a:lnTo>
                      <a:pt x="3057" y="512"/>
                    </a:lnTo>
                    <a:lnTo>
                      <a:pt x="2821" y="630"/>
                    </a:lnTo>
                    <a:lnTo>
                      <a:pt x="2584" y="761"/>
                    </a:lnTo>
                    <a:lnTo>
                      <a:pt x="2361" y="905"/>
                    </a:lnTo>
                    <a:lnTo>
                      <a:pt x="2152" y="1050"/>
                    </a:lnTo>
                    <a:lnTo>
                      <a:pt x="1942" y="1207"/>
                    </a:lnTo>
                    <a:lnTo>
                      <a:pt x="1732" y="1378"/>
                    </a:lnTo>
                    <a:lnTo>
                      <a:pt x="1548" y="1561"/>
                    </a:lnTo>
                    <a:lnTo>
                      <a:pt x="1364" y="1758"/>
                    </a:lnTo>
                    <a:lnTo>
                      <a:pt x="1194" y="1955"/>
                    </a:lnTo>
                    <a:lnTo>
                      <a:pt x="1023" y="2152"/>
                    </a:lnTo>
                    <a:lnTo>
                      <a:pt x="866" y="2375"/>
                    </a:lnTo>
                    <a:lnTo>
                      <a:pt x="722" y="2598"/>
                    </a:lnTo>
                    <a:lnTo>
                      <a:pt x="590" y="2821"/>
                    </a:lnTo>
                    <a:lnTo>
                      <a:pt x="472" y="3070"/>
                    </a:lnTo>
                    <a:lnTo>
                      <a:pt x="367" y="3306"/>
                    </a:lnTo>
                    <a:lnTo>
                      <a:pt x="276" y="3555"/>
                    </a:lnTo>
                    <a:lnTo>
                      <a:pt x="197" y="3818"/>
                    </a:lnTo>
                    <a:lnTo>
                      <a:pt x="131" y="4080"/>
                    </a:lnTo>
                    <a:lnTo>
                      <a:pt x="66" y="4356"/>
                    </a:lnTo>
                    <a:lnTo>
                      <a:pt x="26" y="4631"/>
                    </a:lnTo>
                    <a:lnTo>
                      <a:pt x="0" y="4907"/>
                    </a:lnTo>
                    <a:lnTo>
                      <a:pt x="0" y="4999"/>
                    </a:lnTo>
                    <a:lnTo>
                      <a:pt x="0" y="5274"/>
                    </a:lnTo>
                    <a:lnTo>
                      <a:pt x="26" y="5536"/>
                    </a:lnTo>
                    <a:lnTo>
                      <a:pt x="92" y="5799"/>
                    </a:lnTo>
                    <a:lnTo>
                      <a:pt x="171" y="6048"/>
                    </a:lnTo>
                    <a:lnTo>
                      <a:pt x="276" y="6284"/>
                    </a:lnTo>
                    <a:lnTo>
                      <a:pt x="407" y="6507"/>
                    </a:lnTo>
                    <a:lnTo>
                      <a:pt x="564" y="6717"/>
                    </a:lnTo>
                    <a:lnTo>
                      <a:pt x="735" y="6914"/>
                    </a:lnTo>
                    <a:lnTo>
                      <a:pt x="932" y="7084"/>
                    </a:lnTo>
                    <a:lnTo>
                      <a:pt x="1128" y="7242"/>
                    </a:lnTo>
                    <a:lnTo>
                      <a:pt x="1351" y="7373"/>
                    </a:lnTo>
                    <a:lnTo>
                      <a:pt x="1587" y="7491"/>
                    </a:lnTo>
                    <a:lnTo>
                      <a:pt x="1837" y="7583"/>
                    </a:lnTo>
                    <a:lnTo>
                      <a:pt x="2099" y="7649"/>
                    </a:lnTo>
                    <a:lnTo>
                      <a:pt x="2361" y="7701"/>
                    </a:lnTo>
                    <a:lnTo>
                      <a:pt x="2637" y="7714"/>
                    </a:lnTo>
                    <a:lnTo>
                      <a:pt x="47530" y="7714"/>
                    </a:lnTo>
                    <a:lnTo>
                      <a:pt x="47806" y="7701"/>
                    </a:lnTo>
                    <a:lnTo>
                      <a:pt x="48068" y="7649"/>
                    </a:lnTo>
                    <a:lnTo>
                      <a:pt x="48330" y="7583"/>
                    </a:lnTo>
                    <a:lnTo>
                      <a:pt x="48580" y="7491"/>
                    </a:lnTo>
                    <a:lnTo>
                      <a:pt x="48816" y="7373"/>
                    </a:lnTo>
                    <a:lnTo>
                      <a:pt x="49039" y="7242"/>
                    </a:lnTo>
                    <a:lnTo>
                      <a:pt x="49236" y="7084"/>
                    </a:lnTo>
                    <a:lnTo>
                      <a:pt x="49432" y="6914"/>
                    </a:lnTo>
                    <a:lnTo>
                      <a:pt x="49603" y="6717"/>
                    </a:lnTo>
                    <a:lnTo>
                      <a:pt x="49747" y="6507"/>
                    </a:lnTo>
                    <a:lnTo>
                      <a:pt x="49878" y="6284"/>
                    </a:lnTo>
                    <a:lnTo>
                      <a:pt x="49996" y="6048"/>
                    </a:lnTo>
                    <a:lnTo>
                      <a:pt x="50075" y="5799"/>
                    </a:lnTo>
                    <a:lnTo>
                      <a:pt x="50128" y="5536"/>
                    </a:lnTo>
                    <a:lnTo>
                      <a:pt x="50167" y="5274"/>
                    </a:lnTo>
                    <a:lnTo>
                      <a:pt x="50167" y="4999"/>
                    </a:lnTo>
                    <a:lnTo>
                      <a:pt x="50167" y="4907"/>
                    </a:lnTo>
                    <a:lnTo>
                      <a:pt x="50141" y="4631"/>
                    </a:lnTo>
                    <a:lnTo>
                      <a:pt x="50101" y="4356"/>
                    </a:lnTo>
                    <a:lnTo>
                      <a:pt x="50036" y="4080"/>
                    </a:lnTo>
                    <a:lnTo>
                      <a:pt x="49970" y="3818"/>
                    </a:lnTo>
                    <a:lnTo>
                      <a:pt x="49891" y="3555"/>
                    </a:lnTo>
                    <a:lnTo>
                      <a:pt x="49800" y="3306"/>
                    </a:lnTo>
                    <a:lnTo>
                      <a:pt x="49695" y="3070"/>
                    </a:lnTo>
                    <a:lnTo>
                      <a:pt x="49563" y="2821"/>
                    </a:lnTo>
                    <a:lnTo>
                      <a:pt x="49432" y="2598"/>
                    </a:lnTo>
                    <a:lnTo>
                      <a:pt x="49301" y="2375"/>
                    </a:lnTo>
                    <a:lnTo>
                      <a:pt x="49144" y="2152"/>
                    </a:lnTo>
                    <a:lnTo>
                      <a:pt x="48973" y="1955"/>
                    </a:lnTo>
                    <a:lnTo>
                      <a:pt x="48803" y="1758"/>
                    </a:lnTo>
                    <a:lnTo>
                      <a:pt x="48619" y="1561"/>
                    </a:lnTo>
                    <a:lnTo>
                      <a:pt x="48422" y="1378"/>
                    </a:lnTo>
                    <a:lnTo>
                      <a:pt x="48225" y="1207"/>
                    </a:lnTo>
                    <a:lnTo>
                      <a:pt x="48015" y="1050"/>
                    </a:lnTo>
                    <a:lnTo>
                      <a:pt x="47806" y="905"/>
                    </a:lnTo>
                    <a:lnTo>
                      <a:pt x="47569" y="761"/>
                    </a:lnTo>
                    <a:lnTo>
                      <a:pt x="47346" y="630"/>
                    </a:lnTo>
                    <a:lnTo>
                      <a:pt x="47110" y="512"/>
                    </a:lnTo>
                    <a:lnTo>
                      <a:pt x="46861" y="407"/>
                    </a:lnTo>
                    <a:lnTo>
                      <a:pt x="46612" y="315"/>
                    </a:lnTo>
                    <a:lnTo>
                      <a:pt x="46362" y="223"/>
                    </a:lnTo>
                    <a:lnTo>
                      <a:pt x="46100" y="158"/>
                    </a:lnTo>
                    <a:lnTo>
                      <a:pt x="45838" y="105"/>
                    </a:lnTo>
                    <a:lnTo>
                      <a:pt x="45562" y="53"/>
                    </a:lnTo>
                    <a:lnTo>
                      <a:pt x="45287" y="26"/>
                    </a:lnTo>
                    <a:lnTo>
                      <a:pt x="45011" y="0"/>
                    </a:lnTo>
                    <a:lnTo>
                      <a:pt x="44736" y="0"/>
                    </a:lnTo>
                    <a:lnTo>
                      <a:pt x="44460" y="13"/>
                    </a:lnTo>
                    <a:lnTo>
                      <a:pt x="44172" y="26"/>
                    </a:lnTo>
                    <a:lnTo>
                      <a:pt x="38622" y="643"/>
                    </a:lnTo>
                    <a:lnTo>
                      <a:pt x="36943" y="827"/>
                    </a:lnTo>
                    <a:lnTo>
                      <a:pt x="35251" y="971"/>
                    </a:lnTo>
                    <a:lnTo>
                      <a:pt x="33558" y="1102"/>
                    </a:lnTo>
                    <a:lnTo>
                      <a:pt x="31866" y="1207"/>
                    </a:lnTo>
                    <a:lnTo>
                      <a:pt x="30174" y="1299"/>
                    </a:lnTo>
                    <a:lnTo>
                      <a:pt x="28468" y="1351"/>
                    </a:lnTo>
                    <a:lnTo>
                      <a:pt x="26776" y="1391"/>
                    </a:lnTo>
                    <a:lnTo>
                      <a:pt x="25084" y="1404"/>
                    </a:lnTo>
                    <a:lnTo>
                      <a:pt x="23391" y="1391"/>
                    </a:lnTo>
                    <a:lnTo>
                      <a:pt x="21686" y="1351"/>
                    </a:lnTo>
                    <a:lnTo>
                      <a:pt x="19993" y="1299"/>
                    </a:lnTo>
                    <a:lnTo>
                      <a:pt x="18301" y="1207"/>
                    </a:lnTo>
                    <a:lnTo>
                      <a:pt x="16609" y="1102"/>
                    </a:lnTo>
                    <a:lnTo>
                      <a:pt x="14916" y="971"/>
                    </a:lnTo>
                    <a:lnTo>
                      <a:pt x="13224" y="827"/>
                    </a:lnTo>
                    <a:lnTo>
                      <a:pt x="11545" y="643"/>
                    </a:lnTo>
                    <a:lnTo>
                      <a:pt x="5982" y="26"/>
                    </a:lnTo>
                    <a:lnTo>
                      <a:pt x="5707" y="13"/>
                    </a:lnTo>
                    <a:lnTo>
                      <a:pt x="543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2437;p45">
                <a:extLst>
                  <a:ext uri="{FF2B5EF4-FFF2-40B4-BE49-F238E27FC236}">
                    <a16:creationId xmlns:a16="http://schemas.microsoft.com/office/drawing/2014/main" id="{A67CF867-DE4D-0A83-9999-69952885EB11}"/>
                  </a:ext>
                </a:extLst>
              </p:cNvPr>
              <p:cNvSpPr/>
              <p:nvPr/>
            </p:nvSpPr>
            <p:spPr>
              <a:xfrm>
                <a:off x="1845813" y="2327380"/>
                <a:ext cx="683159" cy="855766"/>
              </a:xfrm>
              <a:custGeom>
                <a:avLst/>
                <a:gdLst/>
                <a:ahLst/>
                <a:cxnLst/>
                <a:rect l="l" t="t" r="r" b="b"/>
                <a:pathLst>
                  <a:path w="38059" h="47675" extrusionOk="0">
                    <a:moveTo>
                      <a:pt x="18958" y="0"/>
                    </a:moveTo>
                    <a:lnTo>
                      <a:pt x="18381" y="13"/>
                    </a:lnTo>
                    <a:lnTo>
                      <a:pt x="17790" y="40"/>
                    </a:lnTo>
                    <a:lnTo>
                      <a:pt x="17200" y="79"/>
                    </a:lnTo>
                    <a:lnTo>
                      <a:pt x="16610" y="158"/>
                    </a:lnTo>
                    <a:lnTo>
                      <a:pt x="16019" y="236"/>
                    </a:lnTo>
                    <a:lnTo>
                      <a:pt x="15429" y="341"/>
                    </a:lnTo>
                    <a:lnTo>
                      <a:pt x="14825" y="473"/>
                    </a:lnTo>
                    <a:lnTo>
                      <a:pt x="14235" y="617"/>
                    </a:lnTo>
                    <a:lnTo>
                      <a:pt x="13631" y="787"/>
                    </a:lnTo>
                    <a:lnTo>
                      <a:pt x="13185" y="932"/>
                    </a:lnTo>
                    <a:lnTo>
                      <a:pt x="12739" y="1076"/>
                    </a:lnTo>
                    <a:lnTo>
                      <a:pt x="12359" y="1207"/>
                    </a:lnTo>
                    <a:lnTo>
                      <a:pt x="11979" y="1352"/>
                    </a:lnTo>
                    <a:lnTo>
                      <a:pt x="11611" y="1509"/>
                    </a:lnTo>
                    <a:lnTo>
                      <a:pt x="11244" y="1653"/>
                    </a:lnTo>
                    <a:lnTo>
                      <a:pt x="10890" y="1824"/>
                    </a:lnTo>
                    <a:lnTo>
                      <a:pt x="10522" y="1994"/>
                    </a:lnTo>
                    <a:lnTo>
                      <a:pt x="10181" y="2178"/>
                    </a:lnTo>
                    <a:lnTo>
                      <a:pt x="9827" y="2362"/>
                    </a:lnTo>
                    <a:lnTo>
                      <a:pt x="9486" y="2559"/>
                    </a:lnTo>
                    <a:lnTo>
                      <a:pt x="9145" y="2755"/>
                    </a:lnTo>
                    <a:lnTo>
                      <a:pt x="8817" y="2952"/>
                    </a:lnTo>
                    <a:lnTo>
                      <a:pt x="8489" y="3175"/>
                    </a:lnTo>
                    <a:lnTo>
                      <a:pt x="8174" y="3385"/>
                    </a:lnTo>
                    <a:lnTo>
                      <a:pt x="7859" y="3608"/>
                    </a:lnTo>
                    <a:lnTo>
                      <a:pt x="7544" y="3844"/>
                    </a:lnTo>
                    <a:lnTo>
                      <a:pt x="7243" y="4080"/>
                    </a:lnTo>
                    <a:lnTo>
                      <a:pt x="6941" y="4330"/>
                    </a:lnTo>
                    <a:lnTo>
                      <a:pt x="6639" y="4579"/>
                    </a:lnTo>
                    <a:lnTo>
                      <a:pt x="6350" y="4828"/>
                    </a:lnTo>
                    <a:lnTo>
                      <a:pt x="6062" y="5090"/>
                    </a:lnTo>
                    <a:lnTo>
                      <a:pt x="5786" y="5353"/>
                    </a:lnTo>
                    <a:lnTo>
                      <a:pt x="5511" y="5628"/>
                    </a:lnTo>
                    <a:lnTo>
                      <a:pt x="4986" y="6192"/>
                    </a:lnTo>
                    <a:lnTo>
                      <a:pt x="4488" y="6770"/>
                    </a:lnTo>
                    <a:lnTo>
                      <a:pt x="4002" y="7373"/>
                    </a:lnTo>
                    <a:lnTo>
                      <a:pt x="3556" y="7990"/>
                    </a:lnTo>
                    <a:lnTo>
                      <a:pt x="3123" y="8619"/>
                    </a:lnTo>
                    <a:lnTo>
                      <a:pt x="2717" y="9275"/>
                    </a:lnTo>
                    <a:lnTo>
                      <a:pt x="2336" y="9945"/>
                    </a:lnTo>
                    <a:lnTo>
                      <a:pt x="1982" y="10627"/>
                    </a:lnTo>
                    <a:lnTo>
                      <a:pt x="1654" y="11322"/>
                    </a:lnTo>
                    <a:lnTo>
                      <a:pt x="1365" y="12044"/>
                    </a:lnTo>
                    <a:lnTo>
                      <a:pt x="1090" y="12765"/>
                    </a:lnTo>
                    <a:lnTo>
                      <a:pt x="854" y="13500"/>
                    </a:lnTo>
                    <a:lnTo>
                      <a:pt x="644" y="14248"/>
                    </a:lnTo>
                    <a:lnTo>
                      <a:pt x="460" y="15008"/>
                    </a:lnTo>
                    <a:lnTo>
                      <a:pt x="303" y="15769"/>
                    </a:lnTo>
                    <a:lnTo>
                      <a:pt x="237" y="16163"/>
                    </a:lnTo>
                    <a:lnTo>
                      <a:pt x="185" y="16543"/>
                    </a:lnTo>
                    <a:lnTo>
                      <a:pt x="132" y="16937"/>
                    </a:lnTo>
                    <a:lnTo>
                      <a:pt x="93" y="17331"/>
                    </a:lnTo>
                    <a:lnTo>
                      <a:pt x="53" y="17724"/>
                    </a:lnTo>
                    <a:lnTo>
                      <a:pt x="27" y="18118"/>
                    </a:lnTo>
                    <a:lnTo>
                      <a:pt x="14" y="18511"/>
                    </a:lnTo>
                    <a:lnTo>
                      <a:pt x="1" y="18918"/>
                    </a:lnTo>
                    <a:lnTo>
                      <a:pt x="1" y="19311"/>
                    </a:lnTo>
                    <a:lnTo>
                      <a:pt x="14" y="19718"/>
                    </a:lnTo>
                    <a:lnTo>
                      <a:pt x="27" y="20112"/>
                    </a:lnTo>
                    <a:lnTo>
                      <a:pt x="53" y="20518"/>
                    </a:lnTo>
                    <a:lnTo>
                      <a:pt x="906" y="33060"/>
                    </a:lnTo>
                    <a:lnTo>
                      <a:pt x="932" y="33493"/>
                    </a:lnTo>
                    <a:lnTo>
                      <a:pt x="985" y="33939"/>
                    </a:lnTo>
                    <a:lnTo>
                      <a:pt x="1037" y="34372"/>
                    </a:lnTo>
                    <a:lnTo>
                      <a:pt x="1103" y="34792"/>
                    </a:lnTo>
                    <a:lnTo>
                      <a:pt x="1182" y="35212"/>
                    </a:lnTo>
                    <a:lnTo>
                      <a:pt x="1273" y="35618"/>
                    </a:lnTo>
                    <a:lnTo>
                      <a:pt x="1365" y="36025"/>
                    </a:lnTo>
                    <a:lnTo>
                      <a:pt x="1470" y="36419"/>
                    </a:lnTo>
                    <a:lnTo>
                      <a:pt x="1588" y="36812"/>
                    </a:lnTo>
                    <a:lnTo>
                      <a:pt x="1719" y="37193"/>
                    </a:lnTo>
                    <a:lnTo>
                      <a:pt x="1851" y="37573"/>
                    </a:lnTo>
                    <a:lnTo>
                      <a:pt x="1995" y="37940"/>
                    </a:lnTo>
                    <a:lnTo>
                      <a:pt x="2152" y="38308"/>
                    </a:lnTo>
                    <a:lnTo>
                      <a:pt x="2310" y="38662"/>
                    </a:lnTo>
                    <a:lnTo>
                      <a:pt x="2480" y="39016"/>
                    </a:lnTo>
                    <a:lnTo>
                      <a:pt x="2664" y="39357"/>
                    </a:lnTo>
                    <a:lnTo>
                      <a:pt x="2861" y="39698"/>
                    </a:lnTo>
                    <a:lnTo>
                      <a:pt x="3058" y="40026"/>
                    </a:lnTo>
                    <a:lnTo>
                      <a:pt x="3254" y="40354"/>
                    </a:lnTo>
                    <a:lnTo>
                      <a:pt x="3477" y="40669"/>
                    </a:lnTo>
                    <a:lnTo>
                      <a:pt x="3687" y="40984"/>
                    </a:lnTo>
                    <a:lnTo>
                      <a:pt x="3923" y="41286"/>
                    </a:lnTo>
                    <a:lnTo>
                      <a:pt x="4160" y="41588"/>
                    </a:lnTo>
                    <a:lnTo>
                      <a:pt x="4409" y="41876"/>
                    </a:lnTo>
                    <a:lnTo>
                      <a:pt x="4724" y="42230"/>
                    </a:lnTo>
                    <a:lnTo>
                      <a:pt x="5052" y="42571"/>
                    </a:lnTo>
                    <a:lnTo>
                      <a:pt x="5393" y="42899"/>
                    </a:lnTo>
                    <a:lnTo>
                      <a:pt x="5747" y="43214"/>
                    </a:lnTo>
                    <a:lnTo>
                      <a:pt x="6101" y="43529"/>
                    </a:lnTo>
                    <a:lnTo>
                      <a:pt x="6482" y="43831"/>
                    </a:lnTo>
                    <a:lnTo>
                      <a:pt x="6862" y="44120"/>
                    </a:lnTo>
                    <a:lnTo>
                      <a:pt x="7256" y="44395"/>
                    </a:lnTo>
                    <a:lnTo>
                      <a:pt x="7649" y="44657"/>
                    </a:lnTo>
                    <a:lnTo>
                      <a:pt x="8069" y="44907"/>
                    </a:lnTo>
                    <a:lnTo>
                      <a:pt x="8489" y="45156"/>
                    </a:lnTo>
                    <a:lnTo>
                      <a:pt x="8922" y="45392"/>
                    </a:lnTo>
                    <a:lnTo>
                      <a:pt x="9355" y="45615"/>
                    </a:lnTo>
                    <a:lnTo>
                      <a:pt x="9801" y="45825"/>
                    </a:lnTo>
                    <a:lnTo>
                      <a:pt x="10260" y="46022"/>
                    </a:lnTo>
                    <a:lnTo>
                      <a:pt x="10719" y="46205"/>
                    </a:lnTo>
                    <a:lnTo>
                      <a:pt x="11191" y="46389"/>
                    </a:lnTo>
                    <a:lnTo>
                      <a:pt x="11677" y="46547"/>
                    </a:lnTo>
                    <a:lnTo>
                      <a:pt x="12162" y="46704"/>
                    </a:lnTo>
                    <a:lnTo>
                      <a:pt x="12661" y="46848"/>
                    </a:lnTo>
                    <a:lnTo>
                      <a:pt x="13159" y="46979"/>
                    </a:lnTo>
                    <a:lnTo>
                      <a:pt x="13658" y="47098"/>
                    </a:lnTo>
                    <a:lnTo>
                      <a:pt x="14182" y="47216"/>
                    </a:lnTo>
                    <a:lnTo>
                      <a:pt x="14694" y="47307"/>
                    </a:lnTo>
                    <a:lnTo>
                      <a:pt x="15219" y="47399"/>
                    </a:lnTo>
                    <a:lnTo>
                      <a:pt x="15757" y="47465"/>
                    </a:lnTo>
                    <a:lnTo>
                      <a:pt x="16282" y="47530"/>
                    </a:lnTo>
                    <a:lnTo>
                      <a:pt x="16833" y="47583"/>
                    </a:lnTo>
                    <a:lnTo>
                      <a:pt x="17370" y="47622"/>
                    </a:lnTo>
                    <a:lnTo>
                      <a:pt x="17921" y="47662"/>
                    </a:lnTo>
                    <a:lnTo>
                      <a:pt x="18472" y="47675"/>
                    </a:lnTo>
                    <a:lnTo>
                      <a:pt x="19037" y="47675"/>
                    </a:lnTo>
                    <a:lnTo>
                      <a:pt x="19929" y="47662"/>
                    </a:lnTo>
                    <a:lnTo>
                      <a:pt x="20808" y="47622"/>
                    </a:lnTo>
                    <a:lnTo>
                      <a:pt x="21673" y="47544"/>
                    </a:lnTo>
                    <a:lnTo>
                      <a:pt x="22526" y="47439"/>
                    </a:lnTo>
                    <a:lnTo>
                      <a:pt x="23379" y="47307"/>
                    </a:lnTo>
                    <a:lnTo>
                      <a:pt x="23786" y="47229"/>
                    </a:lnTo>
                    <a:lnTo>
                      <a:pt x="24205" y="47150"/>
                    </a:lnTo>
                    <a:lnTo>
                      <a:pt x="24612" y="47058"/>
                    </a:lnTo>
                    <a:lnTo>
                      <a:pt x="25019" y="46953"/>
                    </a:lnTo>
                    <a:lnTo>
                      <a:pt x="25412" y="46848"/>
                    </a:lnTo>
                    <a:lnTo>
                      <a:pt x="25806" y="46730"/>
                    </a:lnTo>
                    <a:lnTo>
                      <a:pt x="26199" y="46612"/>
                    </a:lnTo>
                    <a:lnTo>
                      <a:pt x="26593" y="46481"/>
                    </a:lnTo>
                    <a:lnTo>
                      <a:pt x="26973" y="46350"/>
                    </a:lnTo>
                    <a:lnTo>
                      <a:pt x="27341" y="46205"/>
                    </a:lnTo>
                    <a:lnTo>
                      <a:pt x="27721" y="46061"/>
                    </a:lnTo>
                    <a:lnTo>
                      <a:pt x="28089" y="45904"/>
                    </a:lnTo>
                    <a:lnTo>
                      <a:pt x="28443" y="45733"/>
                    </a:lnTo>
                    <a:lnTo>
                      <a:pt x="28797" y="45563"/>
                    </a:lnTo>
                    <a:lnTo>
                      <a:pt x="29151" y="45392"/>
                    </a:lnTo>
                    <a:lnTo>
                      <a:pt x="29492" y="45208"/>
                    </a:lnTo>
                    <a:lnTo>
                      <a:pt x="29833" y="45012"/>
                    </a:lnTo>
                    <a:lnTo>
                      <a:pt x="30175" y="44815"/>
                    </a:lnTo>
                    <a:lnTo>
                      <a:pt x="30502" y="44605"/>
                    </a:lnTo>
                    <a:lnTo>
                      <a:pt x="30817" y="44395"/>
                    </a:lnTo>
                    <a:lnTo>
                      <a:pt x="31132" y="44172"/>
                    </a:lnTo>
                    <a:lnTo>
                      <a:pt x="31447" y="43949"/>
                    </a:lnTo>
                    <a:lnTo>
                      <a:pt x="31749" y="43713"/>
                    </a:lnTo>
                    <a:lnTo>
                      <a:pt x="32037" y="43464"/>
                    </a:lnTo>
                    <a:lnTo>
                      <a:pt x="32326" y="43214"/>
                    </a:lnTo>
                    <a:lnTo>
                      <a:pt x="32615" y="42965"/>
                    </a:lnTo>
                    <a:lnTo>
                      <a:pt x="32890" y="42703"/>
                    </a:lnTo>
                    <a:lnTo>
                      <a:pt x="33153" y="42427"/>
                    </a:lnTo>
                    <a:lnTo>
                      <a:pt x="33415" y="42152"/>
                    </a:lnTo>
                    <a:lnTo>
                      <a:pt x="33664" y="41876"/>
                    </a:lnTo>
                    <a:lnTo>
                      <a:pt x="33913" y="41588"/>
                    </a:lnTo>
                    <a:lnTo>
                      <a:pt x="34150" y="41286"/>
                    </a:lnTo>
                    <a:lnTo>
                      <a:pt x="34373" y="40984"/>
                    </a:lnTo>
                    <a:lnTo>
                      <a:pt x="34596" y="40669"/>
                    </a:lnTo>
                    <a:lnTo>
                      <a:pt x="34819" y="40354"/>
                    </a:lnTo>
                    <a:lnTo>
                      <a:pt x="35015" y="40026"/>
                    </a:lnTo>
                    <a:lnTo>
                      <a:pt x="35212" y="39698"/>
                    </a:lnTo>
                    <a:lnTo>
                      <a:pt x="35409" y="39357"/>
                    </a:lnTo>
                    <a:lnTo>
                      <a:pt x="35580" y="39016"/>
                    </a:lnTo>
                    <a:lnTo>
                      <a:pt x="35763" y="38662"/>
                    </a:lnTo>
                    <a:lnTo>
                      <a:pt x="35921" y="38308"/>
                    </a:lnTo>
                    <a:lnTo>
                      <a:pt x="36078" y="37940"/>
                    </a:lnTo>
                    <a:lnTo>
                      <a:pt x="36222" y="37573"/>
                    </a:lnTo>
                    <a:lnTo>
                      <a:pt x="36354" y="37193"/>
                    </a:lnTo>
                    <a:lnTo>
                      <a:pt x="36485" y="36812"/>
                    </a:lnTo>
                    <a:lnTo>
                      <a:pt x="36590" y="36419"/>
                    </a:lnTo>
                    <a:lnTo>
                      <a:pt x="36708" y="36025"/>
                    </a:lnTo>
                    <a:lnTo>
                      <a:pt x="36800" y="35618"/>
                    </a:lnTo>
                    <a:lnTo>
                      <a:pt x="36891" y="35212"/>
                    </a:lnTo>
                    <a:lnTo>
                      <a:pt x="36970" y="34792"/>
                    </a:lnTo>
                    <a:lnTo>
                      <a:pt x="37036" y="34372"/>
                    </a:lnTo>
                    <a:lnTo>
                      <a:pt x="37088" y="33939"/>
                    </a:lnTo>
                    <a:lnTo>
                      <a:pt x="37128" y="33493"/>
                    </a:lnTo>
                    <a:lnTo>
                      <a:pt x="37167" y="33060"/>
                    </a:lnTo>
                    <a:lnTo>
                      <a:pt x="37062" y="33349"/>
                    </a:lnTo>
                    <a:lnTo>
                      <a:pt x="36931" y="33690"/>
                    </a:lnTo>
                    <a:lnTo>
                      <a:pt x="36747" y="34136"/>
                    </a:lnTo>
                    <a:lnTo>
                      <a:pt x="36852" y="33703"/>
                    </a:lnTo>
                    <a:lnTo>
                      <a:pt x="36957" y="33270"/>
                    </a:lnTo>
                    <a:lnTo>
                      <a:pt x="37049" y="32837"/>
                    </a:lnTo>
                    <a:lnTo>
                      <a:pt x="37128" y="32391"/>
                    </a:lnTo>
                    <a:lnTo>
                      <a:pt x="37193" y="31945"/>
                    </a:lnTo>
                    <a:lnTo>
                      <a:pt x="37259" y="31499"/>
                    </a:lnTo>
                    <a:lnTo>
                      <a:pt x="37298" y="31040"/>
                    </a:lnTo>
                    <a:lnTo>
                      <a:pt x="37337" y="30581"/>
                    </a:lnTo>
                    <a:lnTo>
                      <a:pt x="38020" y="20676"/>
                    </a:lnTo>
                    <a:lnTo>
                      <a:pt x="38046" y="20046"/>
                    </a:lnTo>
                    <a:lnTo>
                      <a:pt x="38059" y="19430"/>
                    </a:lnTo>
                    <a:lnTo>
                      <a:pt x="38059" y="18826"/>
                    </a:lnTo>
                    <a:lnTo>
                      <a:pt x="38033" y="18223"/>
                    </a:lnTo>
                    <a:lnTo>
                      <a:pt x="37980" y="17619"/>
                    </a:lnTo>
                    <a:lnTo>
                      <a:pt x="37928" y="17029"/>
                    </a:lnTo>
                    <a:lnTo>
                      <a:pt x="37849" y="16438"/>
                    </a:lnTo>
                    <a:lnTo>
                      <a:pt x="37744" y="15848"/>
                    </a:lnTo>
                    <a:lnTo>
                      <a:pt x="37639" y="15271"/>
                    </a:lnTo>
                    <a:lnTo>
                      <a:pt x="37508" y="14707"/>
                    </a:lnTo>
                    <a:lnTo>
                      <a:pt x="37351" y="14143"/>
                    </a:lnTo>
                    <a:lnTo>
                      <a:pt x="37193" y="13592"/>
                    </a:lnTo>
                    <a:lnTo>
                      <a:pt x="37009" y="13041"/>
                    </a:lnTo>
                    <a:lnTo>
                      <a:pt x="36813" y="12490"/>
                    </a:lnTo>
                    <a:lnTo>
                      <a:pt x="36603" y="11965"/>
                    </a:lnTo>
                    <a:lnTo>
                      <a:pt x="36380" y="11440"/>
                    </a:lnTo>
                    <a:lnTo>
                      <a:pt x="36131" y="10915"/>
                    </a:lnTo>
                    <a:lnTo>
                      <a:pt x="35881" y="10404"/>
                    </a:lnTo>
                    <a:lnTo>
                      <a:pt x="35606" y="9905"/>
                    </a:lnTo>
                    <a:lnTo>
                      <a:pt x="35330" y="9420"/>
                    </a:lnTo>
                    <a:lnTo>
                      <a:pt x="35029" y="8934"/>
                    </a:lnTo>
                    <a:lnTo>
                      <a:pt x="34714" y="8462"/>
                    </a:lnTo>
                    <a:lnTo>
                      <a:pt x="34399" y="8003"/>
                    </a:lnTo>
                    <a:lnTo>
                      <a:pt x="34058" y="7557"/>
                    </a:lnTo>
                    <a:lnTo>
                      <a:pt x="33704" y="7111"/>
                    </a:lnTo>
                    <a:lnTo>
                      <a:pt x="33349" y="6678"/>
                    </a:lnTo>
                    <a:lnTo>
                      <a:pt x="32969" y="6258"/>
                    </a:lnTo>
                    <a:lnTo>
                      <a:pt x="32588" y="5851"/>
                    </a:lnTo>
                    <a:lnTo>
                      <a:pt x="32195" y="5458"/>
                    </a:lnTo>
                    <a:lnTo>
                      <a:pt x="31788" y="5064"/>
                    </a:lnTo>
                    <a:lnTo>
                      <a:pt x="31368" y="4697"/>
                    </a:lnTo>
                    <a:lnTo>
                      <a:pt x="30935" y="4330"/>
                    </a:lnTo>
                    <a:lnTo>
                      <a:pt x="30502" y="3988"/>
                    </a:lnTo>
                    <a:lnTo>
                      <a:pt x="30056" y="3647"/>
                    </a:lnTo>
                    <a:lnTo>
                      <a:pt x="29597" y="3319"/>
                    </a:lnTo>
                    <a:lnTo>
                      <a:pt x="29138" y="3018"/>
                    </a:lnTo>
                    <a:lnTo>
                      <a:pt x="28653" y="2716"/>
                    </a:lnTo>
                    <a:lnTo>
                      <a:pt x="28180" y="2440"/>
                    </a:lnTo>
                    <a:lnTo>
                      <a:pt x="27682" y="2165"/>
                    </a:lnTo>
                    <a:lnTo>
                      <a:pt x="27183" y="1916"/>
                    </a:lnTo>
                    <a:lnTo>
                      <a:pt x="26685" y="1680"/>
                    </a:lnTo>
                    <a:lnTo>
                      <a:pt x="26160" y="1443"/>
                    </a:lnTo>
                    <a:lnTo>
                      <a:pt x="25648" y="1233"/>
                    </a:lnTo>
                    <a:lnTo>
                      <a:pt x="25111" y="1050"/>
                    </a:lnTo>
                    <a:lnTo>
                      <a:pt x="24586" y="866"/>
                    </a:lnTo>
                    <a:lnTo>
                      <a:pt x="24048" y="709"/>
                    </a:lnTo>
                    <a:lnTo>
                      <a:pt x="23497" y="551"/>
                    </a:lnTo>
                    <a:lnTo>
                      <a:pt x="22946" y="433"/>
                    </a:lnTo>
                    <a:lnTo>
                      <a:pt x="22395" y="315"/>
                    </a:lnTo>
                    <a:lnTo>
                      <a:pt x="21831" y="223"/>
                    </a:lnTo>
                    <a:lnTo>
                      <a:pt x="21267" y="145"/>
                    </a:lnTo>
                    <a:lnTo>
                      <a:pt x="20689" y="79"/>
                    </a:lnTo>
                    <a:lnTo>
                      <a:pt x="20125" y="27"/>
                    </a:lnTo>
                    <a:lnTo>
                      <a:pt x="1954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438;p45">
                <a:extLst>
                  <a:ext uri="{FF2B5EF4-FFF2-40B4-BE49-F238E27FC236}">
                    <a16:creationId xmlns:a16="http://schemas.microsoft.com/office/drawing/2014/main" id="{DDEEC54E-997C-E45F-58D2-A9EC17DFCDA1}"/>
                  </a:ext>
                </a:extLst>
              </p:cNvPr>
              <p:cNvSpPr/>
              <p:nvPr/>
            </p:nvSpPr>
            <p:spPr>
              <a:xfrm>
                <a:off x="2064354" y="2534129"/>
                <a:ext cx="246328" cy="126942"/>
              </a:xfrm>
              <a:custGeom>
                <a:avLst/>
                <a:gdLst/>
                <a:ahLst/>
                <a:cxnLst/>
                <a:rect l="l" t="t" r="r" b="b"/>
                <a:pathLst>
                  <a:path w="13723" h="7072" extrusionOk="0">
                    <a:moveTo>
                      <a:pt x="3346" y="1"/>
                    </a:moveTo>
                    <a:lnTo>
                      <a:pt x="3175" y="14"/>
                    </a:lnTo>
                    <a:lnTo>
                      <a:pt x="2991" y="40"/>
                    </a:lnTo>
                    <a:lnTo>
                      <a:pt x="2821" y="66"/>
                    </a:lnTo>
                    <a:lnTo>
                      <a:pt x="2650" y="106"/>
                    </a:lnTo>
                    <a:lnTo>
                      <a:pt x="2480" y="158"/>
                    </a:lnTo>
                    <a:lnTo>
                      <a:pt x="2322" y="211"/>
                    </a:lnTo>
                    <a:lnTo>
                      <a:pt x="2152" y="276"/>
                    </a:lnTo>
                    <a:lnTo>
                      <a:pt x="2007" y="342"/>
                    </a:lnTo>
                    <a:lnTo>
                      <a:pt x="1850" y="421"/>
                    </a:lnTo>
                    <a:lnTo>
                      <a:pt x="1706" y="512"/>
                    </a:lnTo>
                    <a:lnTo>
                      <a:pt x="1561" y="604"/>
                    </a:lnTo>
                    <a:lnTo>
                      <a:pt x="1417" y="696"/>
                    </a:lnTo>
                    <a:lnTo>
                      <a:pt x="1286" y="801"/>
                    </a:lnTo>
                    <a:lnTo>
                      <a:pt x="1155" y="919"/>
                    </a:lnTo>
                    <a:lnTo>
                      <a:pt x="1037" y="1037"/>
                    </a:lnTo>
                    <a:lnTo>
                      <a:pt x="919" y="1155"/>
                    </a:lnTo>
                    <a:lnTo>
                      <a:pt x="801" y="1286"/>
                    </a:lnTo>
                    <a:lnTo>
                      <a:pt x="696" y="1418"/>
                    </a:lnTo>
                    <a:lnTo>
                      <a:pt x="604" y="1562"/>
                    </a:lnTo>
                    <a:lnTo>
                      <a:pt x="512" y="1706"/>
                    </a:lnTo>
                    <a:lnTo>
                      <a:pt x="420" y="1851"/>
                    </a:lnTo>
                    <a:lnTo>
                      <a:pt x="341" y="1995"/>
                    </a:lnTo>
                    <a:lnTo>
                      <a:pt x="276" y="2152"/>
                    </a:lnTo>
                    <a:lnTo>
                      <a:pt x="210" y="2323"/>
                    </a:lnTo>
                    <a:lnTo>
                      <a:pt x="158" y="2480"/>
                    </a:lnTo>
                    <a:lnTo>
                      <a:pt x="105" y="2651"/>
                    </a:lnTo>
                    <a:lnTo>
                      <a:pt x="66" y="2821"/>
                    </a:lnTo>
                    <a:lnTo>
                      <a:pt x="40" y="2992"/>
                    </a:lnTo>
                    <a:lnTo>
                      <a:pt x="13" y="3176"/>
                    </a:lnTo>
                    <a:lnTo>
                      <a:pt x="0" y="3346"/>
                    </a:lnTo>
                    <a:lnTo>
                      <a:pt x="0" y="3530"/>
                    </a:lnTo>
                    <a:lnTo>
                      <a:pt x="0" y="3713"/>
                    </a:lnTo>
                    <a:lnTo>
                      <a:pt x="13" y="3897"/>
                    </a:lnTo>
                    <a:lnTo>
                      <a:pt x="40" y="4068"/>
                    </a:lnTo>
                    <a:lnTo>
                      <a:pt x="66" y="4251"/>
                    </a:lnTo>
                    <a:lnTo>
                      <a:pt x="105" y="4422"/>
                    </a:lnTo>
                    <a:lnTo>
                      <a:pt x="158" y="4579"/>
                    </a:lnTo>
                    <a:lnTo>
                      <a:pt x="210" y="4750"/>
                    </a:lnTo>
                    <a:lnTo>
                      <a:pt x="276" y="4907"/>
                    </a:lnTo>
                    <a:lnTo>
                      <a:pt x="341" y="5065"/>
                    </a:lnTo>
                    <a:lnTo>
                      <a:pt x="420" y="5222"/>
                    </a:lnTo>
                    <a:lnTo>
                      <a:pt x="512" y="5366"/>
                    </a:lnTo>
                    <a:lnTo>
                      <a:pt x="604" y="5511"/>
                    </a:lnTo>
                    <a:lnTo>
                      <a:pt x="696" y="5655"/>
                    </a:lnTo>
                    <a:lnTo>
                      <a:pt x="801" y="5786"/>
                    </a:lnTo>
                    <a:lnTo>
                      <a:pt x="919" y="5904"/>
                    </a:lnTo>
                    <a:lnTo>
                      <a:pt x="1037" y="6036"/>
                    </a:lnTo>
                    <a:lnTo>
                      <a:pt x="1155" y="6154"/>
                    </a:lnTo>
                    <a:lnTo>
                      <a:pt x="1286" y="6259"/>
                    </a:lnTo>
                    <a:lnTo>
                      <a:pt x="1417" y="6364"/>
                    </a:lnTo>
                    <a:lnTo>
                      <a:pt x="1561" y="6468"/>
                    </a:lnTo>
                    <a:lnTo>
                      <a:pt x="1706" y="6560"/>
                    </a:lnTo>
                    <a:lnTo>
                      <a:pt x="1850" y="6639"/>
                    </a:lnTo>
                    <a:lnTo>
                      <a:pt x="2007" y="6718"/>
                    </a:lnTo>
                    <a:lnTo>
                      <a:pt x="2152" y="6796"/>
                    </a:lnTo>
                    <a:lnTo>
                      <a:pt x="2322" y="6849"/>
                    </a:lnTo>
                    <a:lnTo>
                      <a:pt x="2480" y="6915"/>
                    </a:lnTo>
                    <a:lnTo>
                      <a:pt x="2650" y="6954"/>
                    </a:lnTo>
                    <a:lnTo>
                      <a:pt x="2821" y="6993"/>
                    </a:lnTo>
                    <a:lnTo>
                      <a:pt x="2991" y="7033"/>
                    </a:lnTo>
                    <a:lnTo>
                      <a:pt x="3175" y="7046"/>
                    </a:lnTo>
                    <a:lnTo>
                      <a:pt x="3346" y="7059"/>
                    </a:lnTo>
                    <a:lnTo>
                      <a:pt x="3529" y="7072"/>
                    </a:lnTo>
                    <a:lnTo>
                      <a:pt x="10194" y="7072"/>
                    </a:lnTo>
                    <a:lnTo>
                      <a:pt x="10364" y="7059"/>
                    </a:lnTo>
                    <a:lnTo>
                      <a:pt x="10548" y="7046"/>
                    </a:lnTo>
                    <a:lnTo>
                      <a:pt x="10732" y="7033"/>
                    </a:lnTo>
                    <a:lnTo>
                      <a:pt x="10902" y="6993"/>
                    </a:lnTo>
                    <a:lnTo>
                      <a:pt x="11073" y="6954"/>
                    </a:lnTo>
                    <a:lnTo>
                      <a:pt x="11243" y="6915"/>
                    </a:lnTo>
                    <a:lnTo>
                      <a:pt x="11401" y="6849"/>
                    </a:lnTo>
                    <a:lnTo>
                      <a:pt x="11558" y="6796"/>
                    </a:lnTo>
                    <a:lnTo>
                      <a:pt x="11716" y="6718"/>
                    </a:lnTo>
                    <a:lnTo>
                      <a:pt x="11873" y="6639"/>
                    </a:lnTo>
                    <a:lnTo>
                      <a:pt x="12017" y="6560"/>
                    </a:lnTo>
                    <a:lnTo>
                      <a:pt x="12162" y="6468"/>
                    </a:lnTo>
                    <a:lnTo>
                      <a:pt x="12306" y="6364"/>
                    </a:lnTo>
                    <a:lnTo>
                      <a:pt x="12437" y="6259"/>
                    </a:lnTo>
                    <a:lnTo>
                      <a:pt x="12568" y="6154"/>
                    </a:lnTo>
                    <a:lnTo>
                      <a:pt x="12686" y="6036"/>
                    </a:lnTo>
                    <a:lnTo>
                      <a:pt x="12804" y="5904"/>
                    </a:lnTo>
                    <a:lnTo>
                      <a:pt x="12909" y="5786"/>
                    </a:lnTo>
                    <a:lnTo>
                      <a:pt x="13014" y="5655"/>
                    </a:lnTo>
                    <a:lnTo>
                      <a:pt x="13119" y="5511"/>
                    </a:lnTo>
                    <a:lnTo>
                      <a:pt x="13211" y="5366"/>
                    </a:lnTo>
                    <a:lnTo>
                      <a:pt x="13290" y="5222"/>
                    </a:lnTo>
                    <a:lnTo>
                      <a:pt x="13369" y="5065"/>
                    </a:lnTo>
                    <a:lnTo>
                      <a:pt x="13447" y="4907"/>
                    </a:lnTo>
                    <a:lnTo>
                      <a:pt x="13513" y="4750"/>
                    </a:lnTo>
                    <a:lnTo>
                      <a:pt x="13565" y="4579"/>
                    </a:lnTo>
                    <a:lnTo>
                      <a:pt x="13618" y="4422"/>
                    </a:lnTo>
                    <a:lnTo>
                      <a:pt x="13657" y="4251"/>
                    </a:lnTo>
                    <a:lnTo>
                      <a:pt x="13683" y="4068"/>
                    </a:lnTo>
                    <a:lnTo>
                      <a:pt x="13710" y="3897"/>
                    </a:lnTo>
                    <a:lnTo>
                      <a:pt x="13723" y="3713"/>
                    </a:lnTo>
                    <a:lnTo>
                      <a:pt x="13723" y="3530"/>
                    </a:lnTo>
                    <a:lnTo>
                      <a:pt x="13723" y="3346"/>
                    </a:lnTo>
                    <a:lnTo>
                      <a:pt x="13710" y="3176"/>
                    </a:lnTo>
                    <a:lnTo>
                      <a:pt x="13683" y="2992"/>
                    </a:lnTo>
                    <a:lnTo>
                      <a:pt x="13657" y="2821"/>
                    </a:lnTo>
                    <a:lnTo>
                      <a:pt x="13618" y="2651"/>
                    </a:lnTo>
                    <a:lnTo>
                      <a:pt x="13565" y="2480"/>
                    </a:lnTo>
                    <a:lnTo>
                      <a:pt x="13513" y="2323"/>
                    </a:lnTo>
                    <a:lnTo>
                      <a:pt x="13447" y="2152"/>
                    </a:lnTo>
                    <a:lnTo>
                      <a:pt x="13369" y="1995"/>
                    </a:lnTo>
                    <a:lnTo>
                      <a:pt x="13290" y="1851"/>
                    </a:lnTo>
                    <a:lnTo>
                      <a:pt x="13211" y="1706"/>
                    </a:lnTo>
                    <a:lnTo>
                      <a:pt x="13119" y="1562"/>
                    </a:lnTo>
                    <a:lnTo>
                      <a:pt x="13014" y="1418"/>
                    </a:lnTo>
                    <a:lnTo>
                      <a:pt x="12909" y="1286"/>
                    </a:lnTo>
                    <a:lnTo>
                      <a:pt x="12804" y="1155"/>
                    </a:lnTo>
                    <a:lnTo>
                      <a:pt x="12686" y="1037"/>
                    </a:lnTo>
                    <a:lnTo>
                      <a:pt x="12568" y="919"/>
                    </a:lnTo>
                    <a:lnTo>
                      <a:pt x="12437" y="801"/>
                    </a:lnTo>
                    <a:lnTo>
                      <a:pt x="12306" y="696"/>
                    </a:lnTo>
                    <a:lnTo>
                      <a:pt x="12162" y="604"/>
                    </a:lnTo>
                    <a:lnTo>
                      <a:pt x="12017" y="512"/>
                    </a:lnTo>
                    <a:lnTo>
                      <a:pt x="11873" y="421"/>
                    </a:lnTo>
                    <a:lnTo>
                      <a:pt x="11716" y="342"/>
                    </a:lnTo>
                    <a:lnTo>
                      <a:pt x="11558" y="276"/>
                    </a:lnTo>
                    <a:lnTo>
                      <a:pt x="11401" y="211"/>
                    </a:lnTo>
                    <a:lnTo>
                      <a:pt x="11243" y="158"/>
                    </a:lnTo>
                    <a:lnTo>
                      <a:pt x="11073" y="106"/>
                    </a:lnTo>
                    <a:lnTo>
                      <a:pt x="10902" y="66"/>
                    </a:lnTo>
                    <a:lnTo>
                      <a:pt x="10732" y="40"/>
                    </a:lnTo>
                    <a:lnTo>
                      <a:pt x="10548" y="14"/>
                    </a:lnTo>
                    <a:lnTo>
                      <a:pt x="1036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439;p45">
                <a:extLst>
                  <a:ext uri="{FF2B5EF4-FFF2-40B4-BE49-F238E27FC236}">
                    <a16:creationId xmlns:a16="http://schemas.microsoft.com/office/drawing/2014/main" id="{BE915C2B-0BEC-2FB1-FE9F-D9FEFC0FAFE2}"/>
                  </a:ext>
                </a:extLst>
              </p:cNvPr>
              <p:cNvSpPr/>
              <p:nvPr/>
            </p:nvSpPr>
            <p:spPr>
              <a:xfrm>
                <a:off x="2165143" y="3497038"/>
                <a:ext cx="44749" cy="533869"/>
              </a:xfrm>
              <a:custGeom>
                <a:avLst/>
                <a:gdLst/>
                <a:ahLst/>
                <a:cxnLst/>
                <a:rect l="l" t="t" r="r" b="b"/>
                <a:pathLst>
                  <a:path w="2493" h="29742" extrusionOk="0">
                    <a:moveTo>
                      <a:pt x="0" y="0"/>
                    </a:moveTo>
                    <a:lnTo>
                      <a:pt x="0" y="29741"/>
                    </a:lnTo>
                    <a:lnTo>
                      <a:pt x="2493" y="29741"/>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440;p45">
                <a:extLst>
                  <a:ext uri="{FF2B5EF4-FFF2-40B4-BE49-F238E27FC236}">
                    <a16:creationId xmlns:a16="http://schemas.microsoft.com/office/drawing/2014/main" id="{C94D14AE-E10A-3FBD-8D81-F230D8766DEF}"/>
                  </a:ext>
                </a:extLst>
              </p:cNvPr>
              <p:cNvSpPr/>
              <p:nvPr/>
            </p:nvSpPr>
            <p:spPr>
              <a:xfrm>
                <a:off x="2131469" y="2564033"/>
                <a:ext cx="112098" cy="955389"/>
              </a:xfrm>
              <a:custGeom>
                <a:avLst/>
                <a:gdLst/>
                <a:ahLst/>
                <a:cxnLst/>
                <a:rect l="l" t="t" r="r" b="b"/>
                <a:pathLst>
                  <a:path w="6245" h="53225" extrusionOk="0">
                    <a:moveTo>
                      <a:pt x="1023" y="1"/>
                    </a:moveTo>
                    <a:lnTo>
                      <a:pt x="905" y="14"/>
                    </a:lnTo>
                    <a:lnTo>
                      <a:pt x="800" y="53"/>
                    </a:lnTo>
                    <a:lnTo>
                      <a:pt x="696" y="80"/>
                    </a:lnTo>
                    <a:lnTo>
                      <a:pt x="604" y="132"/>
                    </a:lnTo>
                    <a:lnTo>
                      <a:pt x="499" y="185"/>
                    </a:lnTo>
                    <a:lnTo>
                      <a:pt x="420" y="250"/>
                    </a:lnTo>
                    <a:lnTo>
                      <a:pt x="341" y="329"/>
                    </a:lnTo>
                    <a:lnTo>
                      <a:pt x="263" y="408"/>
                    </a:lnTo>
                    <a:lnTo>
                      <a:pt x="197" y="499"/>
                    </a:lnTo>
                    <a:lnTo>
                      <a:pt x="145" y="591"/>
                    </a:lnTo>
                    <a:lnTo>
                      <a:pt x="92" y="696"/>
                    </a:lnTo>
                    <a:lnTo>
                      <a:pt x="53" y="801"/>
                    </a:lnTo>
                    <a:lnTo>
                      <a:pt x="26" y="906"/>
                    </a:lnTo>
                    <a:lnTo>
                      <a:pt x="13" y="1024"/>
                    </a:lnTo>
                    <a:lnTo>
                      <a:pt x="0" y="1129"/>
                    </a:lnTo>
                    <a:lnTo>
                      <a:pt x="0" y="50116"/>
                    </a:lnTo>
                    <a:lnTo>
                      <a:pt x="0" y="50273"/>
                    </a:lnTo>
                    <a:lnTo>
                      <a:pt x="13" y="50430"/>
                    </a:lnTo>
                    <a:lnTo>
                      <a:pt x="40" y="50588"/>
                    </a:lnTo>
                    <a:lnTo>
                      <a:pt x="66" y="50745"/>
                    </a:lnTo>
                    <a:lnTo>
                      <a:pt x="145" y="51034"/>
                    </a:lnTo>
                    <a:lnTo>
                      <a:pt x="249" y="51322"/>
                    </a:lnTo>
                    <a:lnTo>
                      <a:pt x="381" y="51598"/>
                    </a:lnTo>
                    <a:lnTo>
                      <a:pt x="538" y="51860"/>
                    </a:lnTo>
                    <a:lnTo>
                      <a:pt x="709" y="52097"/>
                    </a:lnTo>
                    <a:lnTo>
                      <a:pt x="919" y="52320"/>
                    </a:lnTo>
                    <a:lnTo>
                      <a:pt x="1142" y="52516"/>
                    </a:lnTo>
                    <a:lnTo>
                      <a:pt x="1378" y="52700"/>
                    </a:lnTo>
                    <a:lnTo>
                      <a:pt x="1640" y="52857"/>
                    </a:lnTo>
                    <a:lnTo>
                      <a:pt x="1902" y="52989"/>
                    </a:lnTo>
                    <a:lnTo>
                      <a:pt x="2191" y="53094"/>
                    </a:lnTo>
                    <a:lnTo>
                      <a:pt x="2493" y="53172"/>
                    </a:lnTo>
                    <a:lnTo>
                      <a:pt x="2650" y="53199"/>
                    </a:lnTo>
                    <a:lnTo>
                      <a:pt x="2808" y="53212"/>
                    </a:lnTo>
                    <a:lnTo>
                      <a:pt x="2965" y="53225"/>
                    </a:lnTo>
                    <a:lnTo>
                      <a:pt x="3280" y="53225"/>
                    </a:lnTo>
                    <a:lnTo>
                      <a:pt x="3437" y="53212"/>
                    </a:lnTo>
                    <a:lnTo>
                      <a:pt x="3595" y="53199"/>
                    </a:lnTo>
                    <a:lnTo>
                      <a:pt x="3752" y="53172"/>
                    </a:lnTo>
                    <a:lnTo>
                      <a:pt x="4054" y="53094"/>
                    </a:lnTo>
                    <a:lnTo>
                      <a:pt x="4329" y="52989"/>
                    </a:lnTo>
                    <a:lnTo>
                      <a:pt x="4605" y="52857"/>
                    </a:lnTo>
                    <a:lnTo>
                      <a:pt x="4867" y="52700"/>
                    </a:lnTo>
                    <a:lnTo>
                      <a:pt x="5103" y="52516"/>
                    </a:lnTo>
                    <a:lnTo>
                      <a:pt x="5326" y="52320"/>
                    </a:lnTo>
                    <a:lnTo>
                      <a:pt x="5523" y="52097"/>
                    </a:lnTo>
                    <a:lnTo>
                      <a:pt x="5707" y="51860"/>
                    </a:lnTo>
                    <a:lnTo>
                      <a:pt x="5864" y="51598"/>
                    </a:lnTo>
                    <a:lnTo>
                      <a:pt x="5996" y="51322"/>
                    </a:lnTo>
                    <a:lnTo>
                      <a:pt x="6101" y="51034"/>
                    </a:lnTo>
                    <a:lnTo>
                      <a:pt x="6179" y="50745"/>
                    </a:lnTo>
                    <a:lnTo>
                      <a:pt x="6205" y="50588"/>
                    </a:lnTo>
                    <a:lnTo>
                      <a:pt x="6219" y="50430"/>
                    </a:lnTo>
                    <a:lnTo>
                      <a:pt x="6232" y="50273"/>
                    </a:lnTo>
                    <a:lnTo>
                      <a:pt x="6245" y="50116"/>
                    </a:lnTo>
                    <a:lnTo>
                      <a:pt x="6245" y="1129"/>
                    </a:lnTo>
                    <a:lnTo>
                      <a:pt x="6232" y="1024"/>
                    </a:lnTo>
                    <a:lnTo>
                      <a:pt x="6219" y="906"/>
                    </a:lnTo>
                    <a:lnTo>
                      <a:pt x="6192" y="801"/>
                    </a:lnTo>
                    <a:lnTo>
                      <a:pt x="6153" y="696"/>
                    </a:lnTo>
                    <a:lnTo>
                      <a:pt x="6101" y="591"/>
                    </a:lnTo>
                    <a:lnTo>
                      <a:pt x="6048" y="499"/>
                    </a:lnTo>
                    <a:lnTo>
                      <a:pt x="5982" y="408"/>
                    </a:lnTo>
                    <a:lnTo>
                      <a:pt x="5904" y="329"/>
                    </a:lnTo>
                    <a:lnTo>
                      <a:pt x="5825" y="250"/>
                    </a:lnTo>
                    <a:lnTo>
                      <a:pt x="5733" y="185"/>
                    </a:lnTo>
                    <a:lnTo>
                      <a:pt x="5641" y="132"/>
                    </a:lnTo>
                    <a:lnTo>
                      <a:pt x="5550" y="80"/>
                    </a:lnTo>
                    <a:lnTo>
                      <a:pt x="5445" y="53"/>
                    </a:lnTo>
                    <a:lnTo>
                      <a:pt x="5326" y="14"/>
                    </a:lnTo>
                    <a:lnTo>
                      <a:pt x="52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441;p45">
                <a:extLst>
                  <a:ext uri="{FF2B5EF4-FFF2-40B4-BE49-F238E27FC236}">
                    <a16:creationId xmlns:a16="http://schemas.microsoft.com/office/drawing/2014/main" id="{74088C0D-6700-DDDB-3348-29C8E67CBF37}"/>
                  </a:ext>
                </a:extLst>
              </p:cNvPr>
              <p:cNvSpPr/>
              <p:nvPr/>
            </p:nvSpPr>
            <p:spPr>
              <a:xfrm>
                <a:off x="1780583" y="3354102"/>
                <a:ext cx="813871" cy="74654"/>
              </a:xfrm>
              <a:custGeom>
                <a:avLst/>
                <a:gdLst/>
                <a:ahLst/>
                <a:cxnLst/>
                <a:rect l="l" t="t" r="r" b="b"/>
                <a:pathLst>
                  <a:path w="45341" h="4159" extrusionOk="0">
                    <a:moveTo>
                      <a:pt x="1" y="0"/>
                    </a:moveTo>
                    <a:lnTo>
                      <a:pt x="14" y="210"/>
                    </a:lnTo>
                    <a:lnTo>
                      <a:pt x="27" y="420"/>
                    </a:lnTo>
                    <a:lnTo>
                      <a:pt x="53" y="630"/>
                    </a:lnTo>
                    <a:lnTo>
                      <a:pt x="93" y="840"/>
                    </a:lnTo>
                    <a:lnTo>
                      <a:pt x="132" y="1037"/>
                    </a:lnTo>
                    <a:lnTo>
                      <a:pt x="185" y="1233"/>
                    </a:lnTo>
                    <a:lnTo>
                      <a:pt x="250" y="1430"/>
                    </a:lnTo>
                    <a:lnTo>
                      <a:pt x="329" y="1614"/>
                    </a:lnTo>
                    <a:lnTo>
                      <a:pt x="421" y="1798"/>
                    </a:lnTo>
                    <a:lnTo>
                      <a:pt x="513" y="1981"/>
                    </a:lnTo>
                    <a:lnTo>
                      <a:pt x="604" y="2152"/>
                    </a:lnTo>
                    <a:lnTo>
                      <a:pt x="709" y="2322"/>
                    </a:lnTo>
                    <a:lnTo>
                      <a:pt x="827" y="2480"/>
                    </a:lnTo>
                    <a:lnTo>
                      <a:pt x="959" y="2637"/>
                    </a:lnTo>
                    <a:lnTo>
                      <a:pt x="1090" y="2795"/>
                    </a:lnTo>
                    <a:lnTo>
                      <a:pt x="1221" y="2939"/>
                    </a:lnTo>
                    <a:lnTo>
                      <a:pt x="1365" y="3070"/>
                    </a:lnTo>
                    <a:lnTo>
                      <a:pt x="1523" y="3201"/>
                    </a:lnTo>
                    <a:lnTo>
                      <a:pt x="1680" y="3332"/>
                    </a:lnTo>
                    <a:lnTo>
                      <a:pt x="1838" y="3450"/>
                    </a:lnTo>
                    <a:lnTo>
                      <a:pt x="2008" y="3555"/>
                    </a:lnTo>
                    <a:lnTo>
                      <a:pt x="2179" y="3647"/>
                    </a:lnTo>
                    <a:lnTo>
                      <a:pt x="2362" y="3739"/>
                    </a:lnTo>
                    <a:lnTo>
                      <a:pt x="2546" y="3831"/>
                    </a:lnTo>
                    <a:lnTo>
                      <a:pt x="2730" y="3897"/>
                    </a:lnTo>
                    <a:lnTo>
                      <a:pt x="2926" y="3962"/>
                    </a:lnTo>
                    <a:lnTo>
                      <a:pt x="3123" y="4028"/>
                    </a:lnTo>
                    <a:lnTo>
                      <a:pt x="3320" y="4067"/>
                    </a:lnTo>
                    <a:lnTo>
                      <a:pt x="3530" y="4106"/>
                    </a:lnTo>
                    <a:lnTo>
                      <a:pt x="3740" y="4133"/>
                    </a:lnTo>
                    <a:lnTo>
                      <a:pt x="3950" y="4146"/>
                    </a:lnTo>
                    <a:lnTo>
                      <a:pt x="4160" y="4159"/>
                    </a:lnTo>
                    <a:lnTo>
                      <a:pt x="41181" y="4159"/>
                    </a:lnTo>
                    <a:lnTo>
                      <a:pt x="41391" y="4146"/>
                    </a:lnTo>
                    <a:lnTo>
                      <a:pt x="41601" y="4133"/>
                    </a:lnTo>
                    <a:lnTo>
                      <a:pt x="41811" y="4106"/>
                    </a:lnTo>
                    <a:lnTo>
                      <a:pt x="42021" y="4067"/>
                    </a:lnTo>
                    <a:lnTo>
                      <a:pt x="42218" y="4028"/>
                    </a:lnTo>
                    <a:lnTo>
                      <a:pt x="42415" y="3962"/>
                    </a:lnTo>
                    <a:lnTo>
                      <a:pt x="42611" y="3897"/>
                    </a:lnTo>
                    <a:lnTo>
                      <a:pt x="42795" y="3831"/>
                    </a:lnTo>
                    <a:lnTo>
                      <a:pt x="42979" y="3739"/>
                    </a:lnTo>
                    <a:lnTo>
                      <a:pt x="43162" y="3647"/>
                    </a:lnTo>
                    <a:lnTo>
                      <a:pt x="43333" y="3555"/>
                    </a:lnTo>
                    <a:lnTo>
                      <a:pt x="43503" y="3450"/>
                    </a:lnTo>
                    <a:lnTo>
                      <a:pt x="43661" y="3332"/>
                    </a:lnTo>
                    <a:lnTo>
                      <a:pt x="43818" y="3201"/>
                    </a:lnTo>
                    <a:lnTo>
                      <a:pt x="43976" y="3070"/>
                    </a:lnTo>
                    <a:lnTo>
                      <a:pt x="44120" y="2939"/>
                    </a:lnTo>
                    <a:lnTo>
                      <a:pt x="44251" y="2795"/>
                    </a:lnTo>
                    <a:lnTo>
                      <a:pt x="44382" y="2637"/>
                    </a:lnTo>
                    <a:lnTo>
                      <a:pt x="44514" y="2480"/>
                    </a:lnTo>
                    <a:lnTo>
                      <a:pt x="44632" y="2322"/>
                    </a:lnTo>
                    <a:lnTo>
                      <a:pt x="44737" y="2152"/>
                    </a:lnTo>
                    <a:lnTo>
                      <a:pt x="44828" y="1981"/>
                    </a:lnTo>
                    <a:lnTo>
                      <a:pt x="44920" y="1798"/>
                    </a:lnTo>
                    <a:lnTo>
                      <a:pt x="45012" y="1614"/>
                    </a:lnTo>
                    <a:lnTo>
                      <a:pt x="45078" y="1430"/>
                    </a:lnTo>
                    <a:lnTo>
                      <a:pt x="45143" y="1233"/>
                    </a:lnTo>
                    <a:lnTo>
                      <a:pt x="45209" y="1037"/>
                    </a:lnTo>
                    <a:lnTo>
                      <a:pt x="45248" y="840"/>
                    </a:lnTo>
                    <a:lnTo>
                      <a:pt x="45288" y="630"/>
                    </a:lnTo>
                    <a:lnTo>
                      <a:pt x="45314" y="420"/>
                    </a:lnTo>
                    <a:lnTo>
                      <a:pt x="45327" y="210"/>
                    </a:lnTo>
                    <a:lnTo>
                      <a:pt x="453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442;p45">
                <a:extLst>
                  <a:ext uri="{FF2B5EF4-FFF2-40B4-BE49-F238E27FC236}">
                    <a16:creationId xmlns:a16="http://schemas.microsoft.com/office/drawing/2014/main" id="{D52C06EC-930B-B87E-AFB6-C1DF47B08E79}"/>
                  </a:ext>
                </a:extLst>
              </p:cNvPr>
              <p:cNvSpPr/>
              <p:nvPr/>
            </p:nvSpPr>
            <p:spPr>
              <a:xfrm>
                <a:off x="1847931" y="4030889"/>
                <a:ext cx="89517" cy="89732"/>
              </a:xfrm>
              <a:custGeom>
                <a:avLst/>
                <a:gdLst/>
                <a:ahLst/>
                <a:cxnLst/>
                <a:rect l="l" t="t" r="r" b="b"/>
                <a:pathLst>
                  <a:path w="4987" h="4999" extrusionOk="0">
                    <a:moveTo>
                      <a:pt x="2494" y="0"/>
                    </a:moveTo>
                    <a:lnTo>
                      <a:pt x="2231" y="13"/>
                    </a:lnTo>
                    <a:lnTo>
                      <a:pt x="1982" y="53"/>
                    </a:lnTo>
                    <a:lnTo>
                      <a:pt x="1746" y="118"/>
                    </a:lnTo>
                    <a:lnTo>
                      <a:pt x="1523" y="197"/>
                    </a:lnTo>
                    <a:lnTo>
                      <a:pt x="1300" y="302"/>
                    </a:lnTo>
                    <a:lnTo>
                      <a:pt x="1090" y="433"/>
                    </a:lnTo>
                    <a:lnTo>
                      <a:pt x="906" y="577"/>
                    </a:lnTo>
                    <a:lnTo>
                      <a:pt x="723" y="735"/>
                    </a:lnTo>
                    <a:lnTo>
                      <a:pt x="565" y="905"/>
                    </a:lnTo>
                    <a:lnTo>
                      <a:pt x="421" y="1102"/>
                    </a:lnTo>
                    <a:lnTo>
                      <a:pt x="303" y="1312"/>
                    </a:lnTo>
                    <a:lnTo>
                      <a:pt x="185" y="1522"/>
                    </a:lnTo>
                    <a:lnTo>
                      <a:pt x="106" y="1758"/>
                    </a:lnTo>
                    <a:lnTo>
                      <a:pt x="40" y="1994"/>
                    </a:lnTo>
                    <a:lnTo>
                      <a:pt x="14" y="2244"/>
                    </a:lnTo>
                    <a:lnTo>
                      <a:pt x="1" y="2493"/>
                    </a:lnTo>
                    <a:lnTo>
                      <a:pt x="14" y="2755"/>
                    </a:lnTo>
                    <a:lnTo>
                      <a:pt x="40" y="3004"/>
                    </a:lnTo>
                    <a:lnTo>
                      <a:pt x="106" y="3241"/>
                    </a:lnTo>
                    <a:lnTo>
                      <a:pt x="185" y="3477"/>
                    </a:lnTo>
                    <a:lnTo>
                      <a:pt x="303" y="3687"/>
                    </a:lnTo>
                    <a:lnTo>
                      <a:pt x="421" y="3897"/>
                    </a:lnTo>
                    <a:lnTo>
                      <a:pt x="565" y="4080"/>
                    </a:lnTo>
                    <a:lnTo>
                      <a:pt x="723" y="4264"/>
                    </a:lnTo>
                    <a:lnTo>
                      <a:pt x="906" y="4421"/>
                    </a:lnTo>
                    <a:lnTo>
                      <a:pt x="1090" y="4566"/>
                    </a:lnTo>
                    <a:lnTo>
                      <a:pt x="1300" y="4697"/>
                    </a:lnTo>
                    <a:lnTo>
                      <a:pt x="1523" y="4802"/>
                    </a:lnTo>
                    <a:lnTo>
                      <a:pt x="1746" y="4881"/>
                    </a:lnTo>
                    <a:lnTo>
                      <a:pt x="1982" y="4946"/>
                    </a:lnTo>
                    <a:lnTo>
                      <a:pt x="2231" y="4985"/>
                    </a:lnTo>
                    <a:lnTo>
                      <a:pt x="2494" y="4999"/>
                    </a:lnTo>
                    <a:lnTo>
                      <a:pt x="2743" y="4985"/>
                    </a:lnTo>
                    <a:lnTo>
                      <a:pt x="2992" y="4946"/>
                    </a:lnTo>
                    <a:lnTo>
                      <a:pt x="3228" y="4881"/>
                    </a:lnTo>
                    <a:lnTo>
                      <a:pt x="3464" y="4802"/>
                    </a:lnTo>
                    <a:lnTo>
                      <a:pt x="3674" y="4697"/>
                    </a:lnTo>
                    <a:lnTo>
                      <a:pt x="3884" y="4566"/>
                    </a:lnTo>
                    <a:lnTo>
                      <a:pt x="4081" y="4421"/>
                    </a:lnTo>
                    <a:lnTo>
                      <a:pt x="4252" y="4264"/>
                    </a:lnTo>
                    <a:lnTo>
                      <a:pt x="4422" y="4080"/>
                    </a:lnTo>
                    <a:lnTo>
                      <a:pt x="4553" y="3897"/>
                    </a:lnTo>
                    <a:lnTo>
                      <a:pt x="4684" y="3687"/>
                    </a:lnTo>
                    <a:lnTo>
                      <a:pt x="4789" y="3477"/>
                    </a:lnTo>
                    <a:lnTo>
                      <a:pt x="4868" y="3241"/>
                    </a:lnTo>
                    <a:lnTo>
                      <a:pt x="4934" y="3004"/>
                    </a:lnTo>
                    <a:lnTo>
                      <a:pt x="4973" y="2755"/>
                    </a:lnTo>
                    <a:lnTo>
                      <a:pt x="4986" y="2493"/>
                    </a:lnTo>
                    <a:lnTo>
                      <a:pt x="4973" y="2244"/>
                    </a:lnTo>
                    <a:lnTo>
                      <a:pt x="4934" y="1994"/>
                    </a:lnTo>
                    <a:lnTo>
                      <a:pt x="4868" y="1758"/>
                    </a:lnTo>
                    <a:lnTo>
                      <a:pt x="4789" y="1522"/>
                    </a:lnTo>
                    <a:lnTo>
                      <a:pt x="4684" y="1312"/>
                    </a:lnTo>
                    <a:lnTo>
                      <a:pt x="4553" y="1102"/>
                    </a:lnTo>
                    <a:lnTo>
                      <a:pt x="4422" y="905"/>
                    </a:lnTo>
                    <a:lnTo>
                      <a:pt x="4252" y="735"/>
                    </a:lnTo>
                    <a:lnTo>
                      <a:pt x="4081" y="577"/>
                    </a:lnTo>
                    <a:lnTo>
                      <a:pt x="3884" y="433"/>
                    </a:lnTo>
                    <a:lnTo>
                      <a:pt x="3674" y="302"/>
                    </a:lnTo>
                    <a:lnTo>
                      <a:pt x="3464" y="197"/>
                    </a:lnTo>
                    <a:lnTo>
                      <a:pt x="3228" y="118"/>
                    </a:lnTo>
                    <a:lnTo>
                      <a:pt x="2992" y="53"/>
                    </a:lnTo>
                    <a:lnTo>
                      <a:pt x="2743" y="13"/>
                    </a:lnTo>
                    <a:lnTo>
                      <a:pt x="24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443;p45">
                <a:extLst>
                  <a:ext uri="{FF2B5EF4-FFF2-40B4-BE49-F238E27FC236}">
                    <a16:creationId xmlns:a16="http://schemas.microsoft.com/office/drawing/2014/main" id="{9414FEE6-A838-FE0E-64DD-CE1A8A7594C4}"/>
                  </a:ext>
                </a:extLst>
              </p:cNvPr>
              <p:cNvSpPr/>
              <p:nvPr/>
            </p:nvSpPr>
            <p:spPr>
              <a:xfrm>
                <a:off x="1870315" y="4053255"/>
                <a:ext cx="44749" cy="45001"/>
              </a:xfrm>
              <a:custGeom>
                <a:avLst/>
                <a:gdLst/>
                <a:ahLst/>
                <a:cxnLst/>
                <a:rect l="l" t="t" r="r" b="b"/>
                <a:pathLst>
                  <a:path w="2493" h="2507" extrusionOk="0">
                    <a:moveTo>
                      <a:pt x="1247" y="1"/>
                    </a:moveTo>
                    <a:lnTo>
                      <a:pt x="1115" y="14"/>
                    </a:lnTo>
                    <a:lnTo>
                      <a:pt x="997" y="27"/>
                    </a:lnTo>
                    <a:lnTo>
                      <a:pt x="866" y="66"/>
                    </a:lnTo>
                    <a:lnTo>
                      <a:pt x="761" y="106"/>
                    </a:lnTo>
                    <a:lnTo>
                      <a:pt x="643" y="158"/>
                    </a:lnTo>
                    <a:lnTo>
                      <a:pt x="551" y="224"/>
                    </a:lnTo>
                    <a:lnTo>
                      <a:pt x="446" y="289"/>
                    </a:lnTo>
                    <a:lnTo>
                      <a:pt x="368" y="368"/>
                    </a:lnTo>
                    <a:lnTo>
                      <a:pt x="276" y="460"/>
                    </a:lnTo>
                    <a:lnTo>
                      <a:pt x="210" y="552"/>
                    </a:lnTo>
                    <a:lnTo>
                      <a:pt x="145" y="656"/>
                    </a:lnTo>
                    <a:lnTo>
                      <a:pt x="92" y="761"/>
                    </a:lnTo>
                    <a:lnTo>
                      <a:pt x="53" y="880"/>
                    </a:lnTo>
                    <a:lnTo>
                      <a:pt x="27" y="998"/>
                    </a:lnTo>
                    <a:lnTo>
                      <a:pt x="0" y="1129"/>
                    </a:lnTo>
                    <a:lnTo>
                      <a:pt x="0" y="1247"/>
                    </a:lnTo>
                    <a:lnTo>
                      <a:pt x="0" y="1378"/>
                    </a:lnTo>
                    <a:lnTo>
                      <a:pt x="27" y="1509"/>
                    </a:lnTo>
                    <a:lnTo>
                      <a:pt x="53" y="1627"/>
                    </a:lnTo>
                    <a:lnTo>
                      <a:pt x="92" y="1732"/>
                    </a:lnTo>
                    <a:lnTo>
                      <a:pt x="145" y="1850"/>
                    </a:lnTo>
                    <a:lnTo>
                      <a:pt x="210" y="1955"/>
                    </a:lnTo>
                    <a:lnTo>
                      <a:pt x="276" y="2047"/>
                    </a:lnTo>
                    <a:lnTo>
                      <a:pt x="368" y="2139"/>
                    </a:lnTo>
                    <a:lnTo>
                      <a:pt x="446" y="2218"/>
                    </a:lnTo>
                    <a:lnTo>
                      <a:pt x="551" y="2283"/>
                    </a:lnTo>
                    <a:lnTo>
                      <a:pt x="643" y="2349"/>
                    </a:lnTo>
                    <a:lnTo>
                      <a:pt x="761" y="2401"/>
                    </a:lnTo>
                    <a:lnTo>
                      <a:pt x="866" y="2441"/>
                    </a:lnTo>
                    <a:lnTo>
                      <a:pt x="997" y="2480"/>
                    </a:lnTo>
                    <a:lnTo>
                      <a:pt x="1115" y="2493"/>
                    </a:lnTo>
                    <a:lnTo>
                      <a:pt x="1247" y="2506"/>
                    </a:lnTo>
                    <a:lnTo>
                      <a:pt x="1365" y="2493"/>
                    </a:lnTo>
                    <a:lnTo>
                      <a:pt x="1496" y="2480"/>
                    </a:lnTo>
                    <a:lnTo>
                      <a:pt x="1614" y="2441"/>
                    </a:lnTo>
                    <a:lnTo>
                      <a:pt x="1732" y="2401"/>
                    </a:lnTo>
                    <a:lnTo>
                      <a:pt x="1837" y="2349"/>
                    </a:lnTo>
                    <a:lnTo>
                      <a:pt x="1942" y="2283"/>
                    </a:lnTo>
                    <a:lnTo>
                      <a:pt x="2034" y="2218"/>
                    </a:lnTo>
                    <a:lnTo>
                      <a:pt x="2126" y="2139"/>
                    </a:lnTo>
                    <a:lnTo>
                      <a:pt x="2204" y="2047"/>
                    </a:lnTo>
                    <a:lnTo>
                      <a:pt x="2283" y="1955"/>
                    </a:lnTo>
                    <a:lnTo>
                      <a:pt x="2335" y="1850"/>
                    </a:lnTo>
                    <a:lnTo>
                      <a:pt x="2388" y="1732"/>
                    </a:lnTo>
                    <a:lnTo>
                      <a:pt x="2440" y="1627"/>
                    </a:lnTo>
                    <a:lnTo>
                      <a:pt x="2467" y="1509"/>
                    </a:lnTo>
                    <a:lnTo>
                      <a:pt x="2480" y="1378"/>
                    </a:lnTo>
                    <a:lnTo>
                      <a:pt x="2493" y="1247"/>
                    </a:lnTo>
                    <a:lnTo>
                      <a:pt x="2480" y="1129"/>
                    </a:lnTo>
                    <a:lnTo>
                      <a:pt x="2467" y="998"/>
                    </a:lnTo>
                    <a:lnTo>
                      <a:pt x="2440" y="880"/>
                    </a:lnTo>
                    <a:lnTo>
                      <a:pt x="2388" y="761"/>
                    </a:lnTo>
                    <a:lnTo>
                      <a:pt x="2335" y="656"/>
                    </a:lnTo>
                    <a:lnTo>
                      <a:pt x="2283" y="552"/>
                    </a:lnTo>
                    <a:lnTo>
                      <a:pt x="2204" y="460"/>
                    </a:lnTo>
                    <a:lnTo>
                      <a:pt x="2126" y="368"/>
                    </a:lnTo>
                    <a:lnTo>
                      <a:pt x="2034" y="289"/>
                    </a:lnTo>
                    <a:lnTo>
                      <a:pt x="1942" y="224"/>
                    </a:lnTo>
                    <a:lnTo>
                      <a:pt x="1837" y="158"/>
                    </a:lnTo>
                    <a:lnTo>
                      <a:pt x="1732" y="106"/>
                    </a:lnTo>
                    <a:lnTo>
                      <a:pt x="1614" y="66"/>
                    </a:lnTo>
                    <a:lnTo>
                      <a:pt x="1496" y="27"/>
                    </a:lnTo>
                    <a:lnTo>
                      <a:pt x="1365" y="14"/>
                    </a:lnTo>
                    <a:lnTo>
                      <a:pt x="12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444;p45">
                <a:extLst>
                  <a:ext uri="{FF2B5EF4-FFF2-40B4-BE49-F238E27FC236}">
                    <a16:creationId xmlns:a16="http://schemas.microsoft.com/office/drawing/2014/main" id="{2FFB5F60-D603-6FD9-E50D-C4E8E791ED00}"/>
                  </a:ext>
                </a:extLst>
              </p:cNvPr>
              <p:cNvSpPr/>
              <p:nvPr/>
            </p:nvSpPr>
            <p:spPr>
              <a:xfrm>
                <a:off x="1855237" y="3966359"/>
                <a:ext cx="313694" cy="64548"/>
              </a:xfrm>
              <a:custGeom>
                <a:avLst/>
                <a:gdLst/>
                <a:ahLst/>
                <a:cxnLst/>
                <a:rect l="l" t="t" r="r" b="b"/>
                <a:pathLst>
                  <a:path w="17476" h="3596" extrusionOk="0">
                    <a:moveTo>
                      <a:pt x="17475" y="1"/>
                    </a:moveTo>
                    <a:lnTo>
                      <a:pt x="512" y="2415"/>
                    </a:lnTo>
                    <a:lnTo>
                      <a:pt x="407" y="2441"/>
                    </a:lnTo>
                    <a:lnTo>
                      <a:pt x="316" y="2480"/>
                    </a:lnTo>
                    <a:lnTo>
                      <a:pt x="224" y="2546"/>
                    </a:lnTo>
                    <a:lnTo>
                      <a:pt x="145" y="2611"/>
                    </a:lnTo>
                    <a:lnTo>
                      <a:pt x="92" y="2703"/>
                    </a:lnTo>
                    <a:lnTo>
                      <a:pt x="40" y="2795"/>
                    </a:lnTo>
                    <a:lnTo>
                      <a:pt x="14" y="2900"/>
                    </a:lnTo>
                    <a:lnTo>
                      <a:pt x="1" y="3005"/>
                    </a:lnTo>
                    <a:lnTo>
                      <a:pt x="14" y="3123"/>
                    </a:lnTo>
                    <a:lnTo>
                      <a:pt x="53" y="3241"/>
                    </a:lnTo>
                    <a:lnTo>
                      <a:pt x="106" y="3333"/>
                    </a:lnTo>
                    <a:lnTo>
                      <a:pt x="184" y="3425"/>
                    </a:lnTo>
                    <a:lnTo>
                      <a:pt x="263" y="3503"/>
                    </a:lnTo>
                    <a:lnTo>
                      <a:pt x="368" y="3556"/>
                    </a:lnTo>
                    <a:lnTo>
                      <a:pt x="473" y="3582"/>
                    </a:lnTo>
                    <a:lnTo>
                      <a:pt x="604" y="3595"/>
                    </a:lnTo>
                    <a:lnTo>
                      <a:pt x="17475" y="3595"/>
                    </a:lnTo>
                    <a:lnTo>
                      <a:pt x="174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445;p45">
                <a:extLst>
                  <a:ext uri="{FF2B5EF4-FFF2-40B4-BE49-F238E27FC236}">
                    <a16:creationId xmlns:a16="http://schemas.microsoft.com/office/drawing/2014/main" id="{3BAAB29F-23AE-ED3D-B7CB-E5A0DA8630EF}"/>
                  </a:ext>
                </a:extLst>
              </p:cNvPr>
              <p:cNvSpPr/>
              <p:nvPr/>
            </p:nvSpPr>
            <p:spPr>
              <a:xfrm>
                <a:off x="2437589" y="4030889"/>
                <a:ext cx="89517" cy="89732"/>
              </a:xfrm>
              <a:custGeom>
                <a:avLst/>
                <a:gdLst/>
                <a:ahLst/>
                <a:cxnLst/>
                <a:rect l="l" t="t" r="r" b="b"/>
                <a:pathLst>
                  <a:path w="4987" h="4999" extrusionOk="0">
                    <a:moveTo>
                      <a:pt x="2493" y="0"/>
                    </a:moveTo>
                    <a:lnTo>
                      <a:pt x="2244" y="13"/>
                    </a:lnTo>
                    <a:lnTo>
                      <a:pt x="1995" y="53"/>
                    </a:lnTo>
                    <a:lnTo>
                      <a:pt x="1759" y="118"/>
                    </a:lnTo>
                    <a:lnTo>
                      <a:pt x="1523" y="197"/>
                    </a:lnTo>
                    <a:lnTo>
                      <a:pt x="1300" y="302"/>
                    </a:lnTo>
                    <a:lnTo>
                      <a:pt x="1103" y="433"/>
                    </a:lnTo>
                    <a:lnTo>
                      <a:pt x="906" y="577"/>
                    </a:lnTo>
                    <a:lnTo>
                      <a:pt x="736" y="735"/>
                    </a:lnTo>
                    <a:lnTo>
                      <a:pt x="565" y="905"/>
                    </a:lnTo>
                    <a:lnTo>
                      <a:pt x="421" y="1102"/>
                    </a:lnTo>
                    <a:lnTo>
                      <a:pt x="303" y="1312"/>
                    </a:lnTo>
                    <a:lnTo>
                      <a:pt x="198" y="1522"/>
                    </a:lnTo>
                    <a:lnTo>
                      <a:pt x="106" y="1758"/>
                    </a:lnTo>
                    <a:lnTo>
                      <a:pt x="53" y="1994"/>
                    </a:lnTo>
                    <a:lnTo>
                      <a:pt x="14" y="2244"/>
                    </a:lnTo>
                    <a:lnTo>
                      <a:pt x="1" y="2493"/>
                    </a:lnTo>
                    <a:lnTo>
                      <a:pt x="14" y="2755"/>
                    </a:lnTo>
                    <a:lnTo>
                      <a:pt x="53" y="3004"/>
                    </a:lnTo>
                    <a:lnTo>
                      <a:pt x="106" y="3241"/>
                    </a:lnTo>
                    <a:lnTo>
                      <a:pt x="198" y="3477"/>
                    </a:lnTo>
                    <a:lnTo>
                      <a:pt x="303" y="3687"/>
                    </a:lnTo>
                    <a:lnTo>
                      <a:pt x="421" y="3897"/>
                    </a:lnTo>
                    <a:lnTo>
                      <a:pt x="565" y="4080"/>
                    </a:lnTo>
                    <a:lnTo>
                      <a:pt x="736" y="4264"/>
                    </a:lnTo>
                    <a:lnTo>
                      <a:pt x="906" y="4421"/>
                    </a:lnTo>
                    <a:lnTo>
                      <a:pt x="1103" y="4566"/>
                    </a:lnTo>
                    <a:lnTo>
                      <a:pt x="1300" y="4697"/>
                    </a:lnTo>
                    <a:lnTo>
                      <a:pt x="1523" y="4802"/>
                    </a:lnTo>
                    <a:lnTo>
                      <a:pt x="1759" y="4881"/>
                    </a:lnTo>
                    <a:lnTo>
                      <a:pt x="1995" y="4946"/>
                    </a:lnTo>
                    <a:lnTo>
                      <a:pt x="2244" y="4985"/>
                    </a:lnTo>
                    <a:lnTo>
                      <a:pt x="2493" y="4999"/>
                    </a:lnTo>
                    <a:lnTo>
                      <a:pt x="2756" y="4985"/>
                    </a:lnTo>
                    <a:lnTo>
                      <a:pt x="2992" y="4946"/>
                    </a:lnTo>
                    <a:lnTo>
                      <a:pt x="3241" y="4881"/>
                    </a:lnTo>
                    <a:lnTo>
                      <a:pt x="3464" y="4802"/>
                    </a:lnTo>
                    <a:lnTo>
                      <a:pt x="3687" y="4697"/>
                    </a:lnTo>
                    <a:lnTo>
                      <a:pt x="3884" y="4566"/>
                    </a:lnTo>
                    <a:lnTo>
                      <a:pt x="4081" y="4421"/>
                    </a:lnTo>
                    <a:lnTo>
                      <a:pt x="4265" y="4264"/>
                    </a:lnTo>
                    <a:lnTo>
                      <a:pt x="4422" y="4080"/>
                    </a:lnTo>
                    <a:lnTo>
                      <a:pt x="4566" y="3897"/>
                    </a:lnTo>
                    <a:lnTo>
                      <a:pt x="4684" y="3687"/>
                    </a:lnTo>
                    <a:lnTo>
                      <a:pt x="4789" y="3477"/>
                    </a:lnTo>
                    <a:lnTo>
                      <a:pt x="4881" y="3241"/>
                    </a:lnTo>
                    <a:lnTo>
                      <a:pt x="4934" y="3004"/>
                    </a:lnTo>
                    <a:lnTo>
                      <a:pt x="4973" y="2755"/>
                    </a:lnTo>
                    <a:lnTo>
                      <a:pt x="4986" y="2493"/>
                    </a:lnTo>
                    <a:lnTo>
                      <a:pt x="4973" y="2244"/>
                    </a:lnTo>
                    <a:lnTo>
                      <a:pt x="4934" y="1994"/>
                    </a:lnTo>
                    <a:lnTo>
                      <a:pt x="4881" y="1758"/>
                    </a:lnTo>
                    <a:lnTo>
                      <a:pt x="4789" y="1522"/>
                    </a:lnTo>
                    <a:lnTo>
                      <a:pt x="4684" y="1312"/>
                    </a:lnTo>
                    <a:lnTo>
                      <a:pt x="4566" y="1102"/>
                    </a:lnTo>
                    <a:lnTo>
                      <a:pt x="4422" y="905"/>
                    </a:lnTo>
                    <a:lnTo>
                      <a:pt x="4265" y="735"/>
                    </a:lnTo>
                    <a:lnTo>
                      <a:pt x="4081" y="577"/>
                    </a:lnTo>
                    <a:lnTo>
                      <a:pt x="3884" y="433"/>
                    </a:lnTo>
                    <a:lnTo>
                      <a:pt x="3687" y="302"/>
                    </a:lnTo>
                    <a:lnTo>
                      <a:pt x="3464" y="197"/>
                    </a:lnTo>
                    <a:lnTo>
                      <a:pt x="3241" y="118"/>
                    </a:lnTo>
                    <a:lnTo>
                      <a:pt x="2992" y="53"/>
                    </a:lnTo>
                    <a:lnTo>
                      <a:pt x="2756" y="13"/>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446;p45">
                <a:extLst>
                  <a:ext uri="{FF2B5EF4-FFF2-40B4-BE49-F238E27FC236}">
                    <a16:creationId xmlns:a16="http://schemas.microsoft.com/office/drawing/2014/main" id="{AA4D230A-249A-3273-70D3-763628FAA9AB}"/>
                  </a:ext>
                </a:extLst>
              </p:cNvPr>
              <p:cNvSpPr/>
              <p:nvPr/>
            </p:nvSpPr>
            <p:spPr>
              <a:xfrm>
                <a:off x="2459972" y="4053255"/>
                <a:ext cx="44749" cy="45001"/>
              </a:xfrm>
              <a:custGeom>
                <a:avLst/>
                <a:gdLst/>
                <a:ahLst/>
                <a:cxnLst/>
                <a:rect l="l" t="t" r="r" b="b"/>
                <a:pathLst>
                  <a:path w="2493" h="2507" extrusionOk="0">
                    <a:moveTo>
                      <a:pt x="1246" y="1"/>
                    </a:moveTo>
                    <a:lnTo>
                      <a:pt x="1115" y="14"/>
                    </a:lnTo>
                    <a:lnTo>
                      <a:pt x="997" y="27"/>
                    </a:lnTo>
                    <a:lnTo>
                      <a:pt x="879" y="66"/>
                    </a:lnTo>
                    <a:lnTo>
                      <a:pt x="761" y="106"/>
                    </a:lnTo>
                    <a:lnTo>
                      <a:pt x="656" y="158"/>
                    </a:lnTo>
                    <a:lnTo>
                      <a:pt x="551" y="224"/>
                    </a:lnTo>
                    <a:lnTo>
                      <a:pt x="459" y="289"/>
                    </a:lnTo>
                    <a:lnTo>
                      <a:pt x="367" y="368"/>
                    </a:lnTo>
                    <a:lnTo>
                      <a:pt x="289" y="460"/>
                    </a:lnTo>
                    <a:lnTo>
                      <a:pt x="210" y="552"/>
                    </a:lnTo>
                    <a:lnTo>
                      <a:pt x="158" y="656"/>
                    </a:lnTo>
                    <a:lnTo>
                      <a:pt x="105" y="761"/>
                    </a:lnTo>
                    <a:lnTo>
                      <a:pt x="53" y="880"/>
                    </a:lnTo>
                    <a:lnTo>
                      <a:pt x="26" y="998"/>
                    </a:lnTo>
                    <a:lnTo>
                      <a:pt x="13" y="1129"/>
                    </a:lnTo>
                    <a:lnTo>
                      <a:pt x="0" y="1247"/>
                    </a:lnTo>
                    <a:lnTo>
                      <a:pt x="13" y="1378"/>
                    </a:lnTo>
                    <a:lnTo>
                      <a:pt x="26" y="1509"/>
                    </a:lnTo>
                    <a:lnTo>
                      <a:pt x="53" y="1627"/>
                    </a:lnTo>
                    <a:lnTo>
                      <a:pt x="105" y="1732"/>
                    </a:lnTo>
                    <a:lnTo>
                      <a:pt x="158" y="1850"/>
                    </a:lnTo>
                    <a:lnTo>
                      <a:pt x="210" y="1955"/>
                    </a:lnTo>
                    <a:lnTo>
                      <a:pt x="289" y="2047"/>
                    </a:lnTo>
                    <a:lnTo>
                      <a:pt x="367" y="2139"/>
                    </a:lnTo>
                    <a:lnTo>
                      <a:pt x="459" y="2218"/>
                    </a:lnTo>
                    <a:lnTo>
                      <a:pt x="551" y="2283"/>
                    </a:lnTo>
                    <a:lnTo>
                      <a:pt x="656" y="2349"/>
                    </a:lnTo>
                    <a:lnTo>
                      <a:pt x="761" y="2401"/>
                    </a:lnTo>
                    <a:lnTo>
                      <a:pt x="879" y="2441"/>
                    </a:lnTo>
                    <a:lnTo>
                      <a:pt x="997" y="2480"/>
                    </a:lnTo>
                    <a:lnTo>
                      <a:pt x="1115" y="2493"/>
                    </a:lnTo>
                    <a:lnTo>
                      <a:pt x="1246" y="2506"/>
                    </a:lnTo>
                    <a:lnTo>
                      <a:pt x="1378" y="2493"/>
                    </a:lnTo>
                    <a:lnTo>
                      <a:pt x="1496" y="2480"/>
                    </a:lnTo>
                    <a:lnTo>
                      <a:pt x="1614" y="2441"/>
                    </a:lnTo>
                    <a:lnTo>
                      <a:pt x="1732" y="2401"/>
                    </a:lnTo>
                    <a:lnTo>
                      <a:pt x="1837" y="2349"/>
                    </a:lnTo>
                    <a:lnTo>
                      <a:pt x="1942" y="2283"/>
                    </a:lnTo>
                    <a:lnTo>
                      <a:pt x="2047" y="2218"/>
                    </a:lnTo>
                    <a:lnTo>
                      <a:pt x="2125" y="2139"/>
                    </a:lnTo>
                    <a:lnTo>
                      <a:pt x="2217" y="2047"/>
                    </a:lnTo>
                    <a:lnTo>
                      <a:pt x="2283" y="1955"/>
                    </a:lnTo>
                    <a:lnTo>
                      <a:pt x="2348" y="1850"/>
                    </a:lnTo>
                    <a:lnTo>
                      <a:pt x="2401" y="1732"/>
                    </a:lnTo>
                    <a:lnTo>
                      <a:pt x="2440" y="1627"/>
                    </a:lnTo>
                    <a:lnTo>
                      <a:pt x="2467" y="1509"/>
                    </a:lnTo>
                    <a:lnTo>
                      <a:pt x="2493" y="1378"/>
                    </a:lnTo>
                    <a:lnTo>
                      <a:pt x="2493" y="1247"/>
                    </a:lnTo>
                    <a:lnTo>
                      <a:pt x="2493" y="1129"/>
                    </a:lnTo>
                    <a:lnTo>
                      <a:pt x="2467" y="998"/>
                    </a:lnTo>
                    <a:lnTo>
                      <a:pt x="2440" y="880"/>
                    </a:lnTo>
                    <a:lnTo>
                      <a:pt x="2401" y="761"/>
                    </a:lnTo>
                    <a:lnTo>
                      <a:pt x="2348" y="656"/>
                    </a:lnTo>
                    <a:lnTo>
                      <a:pt x="2283" y="552"/>
                    </a:lnTo>
                    <a:lnTo>
                      <a:pt x="2217" y="460"/>
                    </a:lnTo>
                    <a:lnTo>
                      <a:pt x="2125" y="368"/>
                    </a:lnTo>
                    <a:lnTo>
                      <a:pt x="2047" y="289"/>
                    </a:lnTo>
                    <a:lnTo>
                      <a:pt x="1942" y="224"/>
                    </a:lnTo>
                    <a:lnTo>
                      <a:pt x="1837" y="158"/>
                    </a:lnTo>
                    <a:lnTo>
                      <a:pt x="1732" y="106"/>
                    </a:lnTo>
                    <a:lnTo>
                      <a:pt x="1614" y="66"/>
                    </a:lnTo>
                    <a:lnTo>
                      <a:pt x="1496" y="27"/>
                    </a:lnTo>
                    <a:lnTo>
                      <a:pt x="1378" y="14"/>
                    </a:lnTo>
                    <a:lnTo>
                      <a:pt x="12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447;p45">
                <a:extLst>
                  <a:ext uri="{FF2B5EF4-FFF2-40B4-BE49-F238E27FC236}">
                    <a16:creationId xmlns:a16="http://schemas.microsoft.com/office/drawing/2014/main" id="{0A58E6AC-CE19-7AD5-5951-6217DF85A3D5}"/>
                  </a:ext>
                </a:extLst>
              </p:cNvPr>
              <p:cNvSpPr/>
              <p:nvPr/>
            </p:nvSpPr>
            <p:spPr>
              <a:xfrm>
                <a:off x="2206105" y="3966359"/>
                <a:ext cx="313694" cy="64548"/>
              </a:xfrm>
              <a:custGeom>
                <a:avLst/>
                <a:gdLst/>
                <a:ahLst/>
                <a:cxnLst/>
                <a:rect l="l" t="t" r="r" b="b"/>
                <a:pathLst>
                  <a:path w="17476" h="3596" extrusionOk="0">
                    <a:moveTo>
                      <a:pt x="1" y="1"/>
                    </a:moveTo>
                    <a:lnTo>
                      <a:pt x="1" y="3595"/>
                    </a:lnTo>
                    <a:lnTo>
                      <a:pt x="16872" y="3595"/>
                    </a:lnTo>
                    <a:lnTo>
                      <a:pt x="16990" y="3582"/>
                    </a:lnTo>
                    <a:lnTo>
                      <a:pt x="17108" y="3556"/>
                    </a:lnTo>
                    <a:lnTo>
                      <a:pt x="17213" y="3503"/>
                    </a:lnTo>
                    <a:lnTo>
                      <a:pt x="17292" y="3425"/>
                    </a:lnTo>
                    <a:lnTo>
                      <a:pt x="17370" y="3333"/>
                    </a:lnTo>
                    <a:lnTo>
                      <a:pt x="17423" y="3241"/>
                    </a:lnTo>
                    <a:lnTo>
                      <a:pt x="17462" y="3123"/>
                    </a:lnTo>
                    <a:lnTo>
                      <a:pt x="17475" y="3005"/>
                    </a:lnTo>
                    <a:lnTo>
                      <a:pt x="17462" y="2900"/>
                    </a:lnTo>
                    <a:lnTo>
                      <a:pt x="17436" y="2795"/>
                    </a:lnTo>
                    <a:lnTo>
                      <a:pt x="17384" y="2703"/>
                    </a:lnTo>
                    <a:lnTo>
                      <a:pt x="17331" y="2611"/>
                    </a:lnTo>
                    <a:lnTo>
                      <a:pt x="17252" y="2546"/>
                    </a:lnTo>
                    <a:lnTo>
                      <a:pt x="17161" y="2480"/>
                    </a:lnTo>
                    <a:lnTo>
                      <a:pt x="17069" y="2441"/>
                    </a:lnTo>
                    <a:lnTo>
                      <a:pt x="16964" y="2415"/>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448;p45">
                <a:extLst>
                  <a:ext uri="{FF2B5EF4-FFF2-40B4-BE49-F238E27FC236}">
                    <a16:creationId xmlns:a16="http://schemas.microsoft.com/office/drawing/2014/main" id="{30D9C080-E123-2820-6AD6-1ACAF649F86A}"/>
                  </a:ext>
                </a:extLst>
              </p:cNvPr>
              <p:cNvSpPr/>
              <p:nvPr/>
            </p:nvSpPr>
            <p:spPr>
              <a:xfrm>
                <a:off x="2161374" y="3978601"/>
                <a:ext cx="44749" cy="112116"/>
              </a:xfrm>
              <a:custGeom>
                <a:avLst/>
                <a:gdLst/>
                <a:ahLst/>
                <a:cxnLst/>
                <a:rect l="l" t="t" r="r" b="b"/>
                <a:pathLst>
                  <a:path w="2493" h="6246" extrusionOk="0">
                    <a:moveTo>
                      <a:pt x="0" y="1"/>
                    </a:moveTo>
                    <a:lnTo>
                      <a:pt x="420" y="6245"/>
                    </a:lnTo>
                    <a:lnTo>
                      <a:pt x="2073" y="6245"/>
                    </a:lnTo>
                    <a:lnTo>
                      <a:pt x="24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449;p45">
                <a:extLst>
                  <a:ext uri="{FF2B5EF4-FFF2-40B4-BE49-F238E27FC236}">
                    <a16:creationId xmlns:a16="http://schemas.microsoft.com/office/drawing/2014/main" id="{AD084FDC-E245-1879-6FC4-9CAE6020E6BB}"/>
                  </a:ext>
                </a:extLst>
              </p:cNvPr>
              <p:cNvSpPr/>
              <p:nvPr/>
            </p:nvSpPr>
            <p:spPr>
              <a:xfrm>
                <a:off x="2162792" y="4068333"/>
                <a:ext cx="41931" cy="104559"/>
              </a:xfrm>
              <a:custGeom>
                <a:avLst/>
                <a:gdLst/>
                <a:ahLst/>
                <a:cxnLst/>
                <a:rect l="l" t="t" r="r" b="b"/>
                <a:pathLst>
                  <a:path w="2336" h="5825" extrusionOk="0">
                    <a:moveTo>
                      <a:pt x="1050" y="0"/>
                    </a:moveTo>
                    <a:lnTo>
                      <a:pt x="931" y="26"/>
                    </a:lnTo>
                    <a:lnTo>
                      <a:pt x="827" y="53"/>
                    </a:lnTo>
                    <a:lnTo>
                      <a:pt x="722" y="92"/>
                    </a:lnTo>
                    <a:lnTo>
                      <a:pt x="617" y="131"/>
                    </a:lnTo>
                    <a:lnTo>
                      <a:pt x="512" y="197"/>
                    </a:lnTo>
                    <a:lnTo>
                      <a:pt x="433" y="263"/>
                    </a:lnTo>
                    <a:lnTo>
                      <a:pt x="341" y="341"/>
                    </a:lnTo>
                    <a:lnTo>
                      <a:pt x="276" y="420"/>
                    </a:lnTo>
                    <a:lnTo>
                      <a:pt x="197" y="512"/>
                    </a:lnTo>
                    <a:lnTo>
                      <a:pt x="144" y="604"/>
                    </a:lnTo>
                    <a:lnTo>
                      <a:pt x="92" y="709"/>
                    </a:lnTo>
                    <a:lnTo>
                      <a:pt x="52" y="814"/>
                    </a:lnTo>
                    <a:lnTo>
                      <a:pt x="26" y="932"/>
                    </a:lnTo>
                    <a:lnTo>
                      <a:pt x="13" y="1037"/>
                    </a:lnTo>
                    <a:lnTo>
                      <a:pt x="0" y="1168"/>
                    </a:lnTo>
                    <a:lnTo>
                      <a:pt x="0" y="4657"/>
                    </a:lnTo>
                    <a:lnTo>
                      <a:pt x="13" y="4775"/>
                    </a:lnTo>
                    <a:lnTo>
                      <a:pt x="26" y="4894"/>
                    </a:lnTo>
                    <a:lnTo>
                      <a:pt x="52" y="4999"/>
                    </a:lnTo>
                    <a:lnTo>
                      <a:pt x="92" y="5103"/>
                    </a:lnTo>
                    <a:lnTo>
                      <a:pt x="144" y="5208"/>
                    </a:lnTo>
                    <a:lnTo>
                      <a:pt x="197" y="5300"/>
                    </a:lnTo>
                    <a:lnTo>
                      <a:pt x="276" y="5392"/>
                    </a:lnTo>
                    <a:lnTo>
                      <a:pt x="341" y="5484"/>
                    </a:lnTo>
                    <a:lnTo>
                      <a:pt x="433" y="5550"/>
                    </a:lnTo>
                    <a:lnTo>
                      <a:pt x="512" y="5615"/>
                    </a:lnTo>
                    <a:lnTo>
                      <a:pt x="617" y="5681"/>
                    </a:lnTo>
                    <a:lnTo>
                      <a:pt x="722" y="5733"/>
                    </a:lnTo>
                    <a:lnTo>
                      <a:pt x="827" y="5773"/>
                    </a:lnTo>
                    <a:lnTo>
                      <a:pt x="931" y="5799"/>
                    </a:lnTo>
                    <a:lnTo>
                      <a:pt x="1050" y="5812"/>
                    </a:lnTo>
                    <a:lnTo>
                      <a:pt x="1168" y="5825"/>
                    </a:lnTo>
                    <a:lnTo>
                      <a:pt x="1286" y="5812"/>
                    </a:lnTo>
                    <a:lnTo>
                      <a:pt x="1404" y="5799"/>
                    </a:lnTo>
                    <a:lnTo>
                      <a:pt x="1509" y="5773"/>
                    </a:lnTo>
                    <a:lnTo>
                      <a:pt x="1627" y="5733"/>
                    </a:lnTo>
                    <a:lnTo>
                      <a:pt x="1719" y="5681"/>
                    </a:lnTo>
                    <a:lnTo>
                      <a:pt x="1824" y="5615"/>
                    </a:lnTo>
                    <a:lnTo>
                      <a:pt x="1915" y="5550"/>
                    </a:lnTo>
                    <a:lnTo>
                      <a:pt x="1994" y="5484"/>
                    </a:lnTo>
                    <a:lnTo>
                      <a:pt x="2073" y="5392"/>
                    </a:lnTo>
                    <a:lnTo>
                      <a:pt x="2138" y="5300"/>
                    </a:lnTo>
                    <a:lnTo>
                      <a:pt x="2191" y="5208"/>
                    </a:lnTo>
                    <a:lnTo>
                      <a:pt x="2243" y="5103"/>
                    </a:lnTo>
                    <a:lnTo>
                      <a:pt x="2283" y="4999"/>
                    </a:lnTo>
                    <a:lnTo>
                      <a:pt x="2309" y="4894"/>
                    </a:lnTo>
                    <a:lnTo>
                      <a:pt x="2322" y="4775"/>
                    </a:lnTo>
                    <a:lnTo>
                      <a:pt x="2335" y="4657"/>
                    </a:lnTo>
                    <a:lnTo>
                      <a:pt x="2335" y="1168"/>
                    </a:lnTo>
                    <a:lnTo>
                      <a:pt x="2322" y="1037"/>
                    </a:lnTo>
                    <a:lnTo>
                      <a:pt x="2309" y="932"/>
                    </a:lnTo>
                    <a:lnTo>
                      <a:pt x="2283" y="814"/>
                    </a:lnTo>
                    <a:lnTo>
                      <a:pt x="2243" y="709"/>
                    </a:lnTo>
                    <a:lnTo>
                      <a:pt x="2191" y="604"/>
                    </a:lnTo>
                    <a:lnTo>
                      <a:pt x="2138" y="512"/>
                    </a:lnTo>
                    <a:lnTo>
                      <a:pt x="2073" y="420"/>
                    </a:lnTo>
                    <a:lnTo>
                      <a:pt x="1994" y="341"/>
                    </a:lnTo>
                    <a:lnTo>
                      <a:pt x="1915" y="263"/>
                    </a:lnTo>
                    <a:lnTo>
                      <a:pt x="1824" y="197"/>
                    </a:lnTo>
                    <a:lnTo>
                      <a:pt x="1719" y="131"/>
                    </a:lnTo>
                    <a:lnTo>
                      <a:pt x="1627" y="92"/>
                    </a:lnTo>
                    <a:lnTo>
                      <a:pt x="1509" y="53"/>
                    </a:lnTo>
                    <a:lnTo>
                      <a:pt x="1404" y="26"/>
                    </a:lnTo>
                    <a:lnTo>
                      <a:pt x="12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450;p45">
                <a:extLst>
                  <a:ext uri="{FF2B5EF4-FFF2-40B4-BE49-F238E27FC236}">
                    <a16:creationId xmlns:a16="http://schemas.microsoft.com/office/drawing/2014/main" id="{88F9BF9C-C803-A918-4CBC-60246B63CB20}"/>
                  </a:ext>
                </a:extLst>
              </p:cNvPr>
              <p:cNvSpPr/>
              <p:nvPr/>
            </p:nvSpPr>
            <p:spPr>
              <a:xfrm>
                <a:off x="1891747" y="1544617"/>
                <a:ext cx="591309" cy="702240"/>
              </a:xfrm>
              <a:custGeom>
                <a:avLst/>
                <a:gdLst/>
                <a:ahLst/>
                <a:cxnLst/>
                <a:rect l="l" t="t" r="r" b="b"/>
                <a:pathLst>
                  <a:path w="32942" h="39122" extrusionOk="0">
                    <a:moveTo>
                      <a:pt x="19009" y="1"/>
                    </a:moveTo>
                    <a:lnTo>
                      <a:pt x="18695" y="27"/>
                    </a:lnTo>
                    <a:lnTo>
                      <a:pt x="18406" y="93"/>
                    </a:lnTo>
                    <a:lnTo>
                      <a:pt x="18130" y="171"/>
                    </a:lnTo>
                    <a:lnTo>
                      <a:pt x="17881" y="276"/>
                    </a:lnTo>
                    <a:lnTo>
                      <a:pt x="17645" y="407"/>
                    </a:lnTo>
                    <a:lnTo>
                      <a:pt x="17422" y="552"/>
                    </a:lnTo>
                    <a:lnTo>
                      <a:pt x="17238" y="709"/>
                    </a:lnTo>
                    <a:lnTo>
                      <a:pt x="17055" y="893"/>
                    </a:lnTo>
                    <a:lnTo>
                      <a:pt x="16897" y="1090"/>
                    </a:lnTo>
                    <a:lnTo>
                      <a:pt x="16766" y="1299"/>
                    </a:lnTo>
                    <a:lnTo>
                      <a:pt x="16648" y="1523"/>
                    </a:lnTo>
                    <a:lnTo>
                      <a:pt x="16556" y="1746"/>
                    </a:lnTo>
                    <a:lnTo>
                      <a:pt x="16478" y="1982"/>
                    </a:lnTo>
                    <a:lnTo>
                      <a:pt x="16412" y="2231"/>
                    </a:lnTo>
                    <a:lnTo>
                      <a:pt x="16373" y="2480"/>
                    </a:lnTo>
                    <a:lnTo>
                      <a:pt x="16359" y="2729"/>
                    </a:lnTo>
                    <a:lnTo>
                      <a:pt x="16281" y="2848"/>
                    </a:lnTo>
                    <a:lnTo>
                      <a:pt x="16254" y="2848"/>
                    </a:lnTo>
                    <a:lnTo>
                      <a:pt x="15874" y="2874"/>
                    </a:lnTo>
                    <a:lnTo>
                      <a:pt x="15507" y="2913"/>
                    </a:lnTo>
                    <a:lnTo>
                      <a:pt x="15152" y="2952"/>
                    </a:lnTo>
                    <a:lnTo>
                      <a:pt x="14798" y="2992"/>
                    </a:lnTo>
                    <a:lnTo>
                      <a:pt x="14457" y="3044"/>
                    </a:lnTo>
                    <a:lnTo>
                      <a:pt x="14116" y="3110"/>
                    </a:lnTo>
                    <a:lnTo>
                      <a:pt x="13788" y="3175"/>
                    </a:lnTo>
                    <a:lnTo>
                      <a:pt x="13460" y="3254"/>
                    </a:lnTo>
                    <a:lnTo>
                      <a:pt x="13145" y="3333"/>
                    </a:lnTo>
                    <a:lnTo>
                      <a:pt x="12830" y="3425"/>
                    </a:lnTo>
                    <a:lnTo>
                      <a:pt x="12516" y="3517"/>
                    </a:lnTo>
                    <a:lnTo>
                      <a:pt x="12214" y="3622"/>
                    </a:lnTo>
                    <a:lnTo>
                      <a:pt x="11925" y="3726"/>
                    </a:lnTo>
                    <a:lnTo>
                      <a:pt x="11637" y="3845"/>
                    </a:lnTo>
                    <a:lnTo>
                      <a:pt x="11348" y="3963"/>
                    </a:lnTo>
                    <a:lnTo>
                      <a:pt x="11072" y="4094"/>
                    </a:lnTo>
                    <a:lnTo>
                      <a:pt x="10810" y="4238"/>
                    </a:lnTo>
                    <a:lnTo>
                      <a:pt x="10548" y="4382"/>
                    </a:lnTo>
                    <a:lnTo>
                      <a:pt x="10285" y="4527"/>
                    </a:lnTo>
                    <a:lnTo>
                      <a:pt x="10036" y="4684"/>
                    </a:lnTo>
                    <a:lnTo>
                      <a:pt x="9800" y="4842"/>
                    </a:lnTo>
                    <a:lnTo>
                      <a:pt x="9551" y="5012"/>
                    </a:lnTo>
                    <a:lnTo>
                      <a:pt x="9328" y="5183"/>
                    </a:lnTo>
                    <a:lnTo>
                      <a:pt x="9105" y="5366"/>
                    </a:lnTo>
                    <a:lnTo>
                      <a:pt x="8882" y="5550"/>
                    </a:lnTo>
                    <a:lnTo>
                      <a:pt x="8672" y="5747"/>
                    </a:lnTo>
                    <a:lnTo>
                      <a:pt x="8462" y="5944"/>
                    </a:lnTo>
                    <a:lnTo>
                      <a:pt x="8252" y="6154"/>
                    </a:lnTo>
                    <a:lnTo>
                      <a:pt x="8068" y="6363"/>
                    </a:lnTo>
                    <a:lnTo>
                      <a:pt x="7871" y="6586"/>
                    </a:lnTo>
                    <a:lnTo>
                      <a:pt x="7688" y="6809"/>
                    </a:lnTo>
                    <a:lnTo>
                      <a:pt x="7517" y="7032"/>
                    </a:lnTo>
                    <a:lnTo>
                      <a:pt x="7347" y="7269"/>
                    </a:lnTo>
                    <a:lnTo>
                      <a:pt x="7176" y="7505"/>
                    </a:lnTo>
                    <a:lnTo>
                      <a:pt x="7019" y="7754"/>
                    </a:lnTo>
                    <a:lnTo>
                      <a:pt x="6874" y="8003"/>
                    </a:lnTo>
                    <a:lnTo>
                      <a:pt x="6730" y="8266"/>
                    </a:lnTo>
                    <a:lnTo>
                      <a:pt x="6586" y="8515"/>
                    </a:lnTo>
                    <a:lnTo>
                      <a:pt x="6323" y="9066"/>
                    </a:lnTo>
                    <a:lnTo>
                      <a:pt x="6087" y="9617"/>
                    </a:lnTo>
                    <a:lnTo>
                      <a:pt x="5877" y="10194"/>
                    </a:lnTo>
                    <a:lnTo>
                      <a:pt x="5681" y="10798"/>
                    </a:lnTo>
                    <a:lnTo>
                      <a:pt x="5523" y="11414"/>
                    </a:lnTo>
                    <a:lnTo>
                      <a:pt x="5379" y="12057"/>
                    </a:lnTo>
                    <a:lnTo>
                      <a:pt x="5261" y="12713"/>
                    </a:lnTo>
                    <a:lnTo>
                      <a:pt x="5169" y="13395"/>
                    </a:lnTo>
                    <a:lnTo>
                      <a:pt x="5090" y="14077"/>
                    </a:lnTo>
                    <a:lnTo>
                      <a:pt x="5051" y="14799"/>
                    </a:lnTo>
                    <a:lnTo>
                      <a:pt x="5025" y="15520"/>
                    </a:lnTo>
                    <a:lnTo>
                      <a:pt x="5025" y="16255"/>
                    </a:lnTo>
                    <a:lnTo>
                      <a:pt x="5051" y="17016"/>
                    </a:lnTo>
                    <a:lnTo>
                      <a:pt x="5025" y="17803"/>
                    </a:lnTo>
                    <a:lnTo>
                      <a:pt x="4985" y="18577"/>
                    </a:lnTo>
                    <a:lnTo>
                      <a:pt x="4920" y="19351"/>
                    </a:lnTo>
                    <a:lnTo>
                      <a:pt x="4841" y="20112"/>
                    </a:lnTo>
                    <a:lnTo>
                      <a:pt x="4736" y="20873"/>
                    </a:lnTo>
                    <a:lnTo>
                      <a:pt x="4618" y="21634"/>
                    </a:lnTo>
                    <a:lnTo>
                      <a:pt x="4461" y="22382"/>
                    </a:lnTo>
                    <a:lnTo>
                      <a:pt x="4303" y="23130"/>
                    </a:lnTo>
                    <a:lnTo>
                      <a:pt x="4106" y="23877"/>
                    </a:lnTo>
                    <a:lnTo>
                      <a:pt x="3896" y="24612"/>
                    </a:lnTo>
                    <a:lnTo>
                      <a:pt x="3673" y="25334"/>
                    </a:lnTo>
                    <a:lnTo>
                      <a:pt x="3424" y="26068"/>
                    </a:lnTo>
                    <a:lnTo>
                      <a:pt x="3149" y="26790"/>
                    </a:lnTo>
                    <a:lnTo>
                      <a:pt x="2860" y="27498"/>
                    </a:lnTo>
                    <a:lnTo>
                      <a:pt x="2545" y="28220"/>
                    </a:lnTo>
                    <a:lnTo>
                      <a:pt x="2204" y="28928"/>
                    </a:lnTo>
                    <a:lnTo>
                      <a:pt x="2020" y="29309"/>
                    </a:lnTo>
                    <a:lnTo>
                      <a:pt x="1811" y="29715"/>
                    </a:lnTo>
                    <a:lnTo>
                      <a:pt x="1338" y="30594"/>
                    </a:lnTo>
                    <a:lnTo>
                      <a:pt x="1102" y="31067"/>
                    </a:lnTo>
                    <a:lnTo>
                      <a:pt x="879" y="31552"/>
                    </a:lnTo>
                    <a:lnTo>
                      <a:pt x="656" y="32050"/>
                    </a:lnTo>
                    <a:lnTo>
                      <a:pt x="459" y="32549"/>
                    </a:lnTo>
                    <a:lnTo>
                      <a:pt x="289" y="33047"/>
                    </a:lnTo>
                    <a:lnTo>
                      <a:pt x="223" y="33310"/>
                    </a:lnTo>
                    <a:lnTo>
                      <a:pt x="158" y="33559"/>
                    </a:lnTo>
                    <a:lnTo>
                      <a:pt x="105" y="33808"/>
                    </a:lnTo>
                    <a:lnTo>
                      <a:pt x="53" y="34058"/>
                    </a:lnTo>
                    <a:lnTo>
                      <a:pt x="26" y="34307"/>
                    </a:lnTo>
                    <a:lnTo>
                      <a:pt x="13" y="34556"/>
                    </a:lnTo>
                    <a:lnTo>
                      <a:pt x="0" y="34792"/>
                    </a:lnTo>
                    <a:lnTo>
                      <a:pt x="13" y="35042"/>
                    </a:lnTo>
                    <a:lnTo>
                      <a:pt x="39" y="35278"/>
                    </a:lnTo>
                    <a:lnTo>
                      <a:pt x="79" y="35501"/>
                    </a:lnTo>
                    <a:lnTo>
                      <a:pt x="144" y="35737"/>
                    </a:lnTo>
                    <a:lnTo>
                      <a:pt x="210" y="35960"/>
                    </a:lnTo>
                    <a:lnTo>
                      <a:pt x="315" y="36183"/>
                    </a:lnTo>
                    <a:lnTo>
                      <a:pt x="420" y="36393"/>
                    </a:lnTo>
                    <a:lnTo>
                      <a:pt x="538" y="36563"/>
                    </a:lnTo>
                    <a:lnTo>
                      <a:pt x="656" y="36734"/>
                    </a:lnTo>
                    <a:lnTo>
                      <a:pt x="787" y="36891"/>
                    </a:lnTo>
                    <a:lnTo>
                      <a:pt x="932" y="37036"/>
                    </a:lnTo>
                    <a:lnTo>
                      <a:pt x="1089" y="37180"/>
                    </a:lnTo>
                    <a:lnTo>
                      <a:pt x="1246" y="37311"/>
                    </a:lnTo>
                    <a:lnTo>
                      <a:pt x="1417" y="37429"/>
                    </a:lnTo>
                    <a:lnTo>
                      <a:pt x="1587" y="37547"/>
                    </a:lnTo>
                    <a:lnTo>
                      <a:pt x="1771" y="37652"/>
                    </a:lnTo>
                    <a:lnTo>
                      <a:pt x="1968" y="37757"/>
                    </a:lnTo>
                    <a:lnTo>
                      <a:pt x="2152" y="37849"/>
                    </a:lnTo>
                    <a:lnTo>
                      <a:pt x="2362" y="37928"/>
                    </a:lnTo>
                    <a:lnTo>
                      <a:pt x="2558" y="38006"/>
                    </a:lnTo>
                    <a:lnTo>
                      <a:pt x="2768" y="38072"/>
                    </a:lnTo>
                    <a:lnTo>
                      <a:pt x="3201" y="38190"/>
                    </a:lnTo>
                    <a:lnTo>
                      <a:pt x="3634" y="38269"/>
                    </a:lnTo>
                    <a:lnTo>
                      <a:pt x="4080" y="38334"/>
                    </a:lnTo>
                    <a:lnTo>
                      <a:pt x="4513" y="38374"/>
                    </a:lnTo>
                    <a:lnTo>
                      <a:pt x="4959" y="38374"/>
                    </a:lnTo>
                    <a:lnTo>
                      <a:pt x="5379" y="38361"/>
                    </a:lnTo>
                    <a:lnTo>
                      <a:pt x="5799" y="38334"/>
                    </a:lnTo>
                    <a:lnTo>
                      <a:pt x="6205" y="38282"/>
                    </a:lnTo>
                    <a:lnTo>
                      <a:pt x="6573" y="38203"/>
                    </a:lnTo>
                    <a:lnTo>
                      <a:pt x="6874" y="38125"/>
                    </a:lnTo>
                    <a:lnTo>
                      <a:pt x="7163" y="38033"/>
                    </a:lnTo>
                    <a:lnTo>
                      <a:pt x="7452" y="37941"/>
                    </a:lnTo>
                    <a:lnTo>
                      <a:pt x="7727" y="37836"/>
                    </a:lnTo>
                    <a:lnTo>
                      <a:pt x="7990" y="37705"/>
                    </a:lnTo>
                    <a:lnTo>
                      <a:pt x="8252" y="37574"/>
                    </a:lnTo>
                    <a:lnTo>
                      <a:pt x="8514" y="37442"/>
                    </a:lnTo>
                    <a:lnTo>
                      <a:pt x="8764" y="37285"/>
                    </a:lnTo>
                    <a:lnTo>
                      <a:pt x="8987" y="37521"/>
                    </a:lnTo>
                    <a:lnTo>
                      <a:pt x="9236" y="37731"/>
                    </a:lnTo>
                    <a:lnTo>
                      <a:pt x="9472" y="37928"/>
                    </a:lnTo>
                    <a:lnTo>
                      <a:pt x="9721" y="38111"/>
                    </a:lnTo>
                    <a:lnTo>
                      <a:pt x="9984" y="38282"/>
                    </a:lnTo>
                    <a:lnTo>
                      <a:pt x="10246" y="38426"/>
                    </a:lnTo>
                    <a:lnTo>
                      <a:pt x="10522" y="38571"/>
                    </a:lnTo>
                    <a:lnTo>
                      <a:pt x="10784" y="38689"/>
                    </a:lnTo>
                    <a:lnTo>
                      <a:pt x="11059" y="38794"/>
                    </a:lnTo>
                    <a:lnTo>
                      <a:pt x="11348" y="38885"/>
                    </a:lnTo>
                    <a:lnTo>
                      <a:pt x="11637" y="38951"/>
                    </a:lnTo>
                    <a:lnTo>
                      <a:pt x="11925" y="39017"/>
                    </a:lnTo>
                    <a:lnTo>
                      <a:pt x="12214" y="39056"/>
                    </a:lnTo>
                    <a:lnTo>
                      <a:pt x="12502" y="39095"/>
                    </a:lnTo>
                    <a:lnTo>
                      <a:pt x="12791" y="39108"/>
                    </a:lnTo>
                    <a:lnTo>
                      <a:pt x="13093" y="39122"/>
                    </a:lnTo>
                    <a:lnTo>
                      <a:pt x="13395" y="39108"/>
                    </a:lnTo>
                    <a:lnTo>
                      <a:pt x="13683" y="39095"/>
                    </a:lnTo>
                    <a:lnTo>
                      <a:pt x="13985" y="39056"/>
                    </a:lnTo>
                    <a:lnTo>
                      <a:pt x="14274" y="39017"/>
                    </a:lnTo>
                    <a:lnTo>
                      <a:pt x="14575" y="38951"/>
                    </a:lnTo>
                    <a:lnTo>
                      <a:pt x="14877" y="38885"/>
                    </a:lnTo>
                    <a:lnTo>
                      <a:pt x="15166" y="38807"/>
                    </a:lnTo>
                    <a:lnTo>
                      <a:pt x="15454" y="38715"/>
                    </a:lnTo>
                    <a:lnTo>
                      <a:pt x="15743" y="38623"/>
                    </a:lnTo>
                    <a:lnTo>
                      <a:pt x="16031" y="38505"/>
                    </a:lnTo>
                    <a:lnTo>
                      <a:pt x="16320" y="38387"/>
                    </a:lnTo>
                    <a:lnTo>
                      <a:pt x="16596" y="38256"/>
                    </a:lnTo>
                    <a:lnTo>
                      <a:pt x="16871" y="38111"/>
                    </a:lnTo>
                    <a:lnTo>
                      <a:pt x="17133" y="37967"/>
                    </a:lnTo>
                    <a:lnTo>
                      <a:pt x="17409" y="37810"/>
                    </a:lnTo>
                    <a:lnTo>
                      <a:pt x="17671" y="37639"/>
                    </a:lnTo>
                    <a:lnTo>
                      <a:pt x="17684" y="37652"/>
                    </a:lnTo>
                    <a:lnTo>
                      <a:pt x="17881" y="37757"/>
                    </a:lnTo>
                    <a:lnTo>
                      <a:pt x="18078" y="37862"/>
                    </a:lnTo>
                    <a:lnTo>
                      <a:pt x="18275" y="37954"/>
                    </a:lnTo>
                    <a:lnTo>
                      <a:pt x="18485" y="38046"/>
                    </a:lnTo>
                    <a:lnTo>
                      <a:pt x="18681" y="38111"/>
                    </a:lnTo>
                    <a:lnTo>
                      <a:pt x="18891" y="38190"/>
                    </a:lnTo>
                    <a:lnTo>
                      <a:pt x="19088" y="38243"/>
                    </a:lnTo>
                    <a:lnTo>
                      <a:pt x="19298" y="38295"/>
                    </a:lnTo>
                    <a:lnTo>
                      <a:pt x="19705" y="38374"/>
                    </a:lnTo>
                    <a:lnTo>
                      <a:pt x="20125" y="38426"/>
                    </a:lnTo>
                    <a:lnTo>
                      <a:pt x="20531" y="38453"/>
                    </a:lnTo>
                    <a:lnTo>
                      <a:pt x="20951" y="38439"/>
                    </a:lnTo>
                    <a:lnTo>
                      <a:pt x="21358" y="38400"/>
                    </a:lnTo>
                    <a:lnTo>
                      <a:pt x="21751" y="38321"/>
                    </a:lnTo>
                    <a:lnTo>
                      <a:pt x="22145" y="38216"/>
                    </a:lnTo>
                    <a:lnTo>
                      <a:pt x="22538" y="38085"/>
                    </a:lnTo>
                    <a:lnTo>
                      <a:pt x="22919" y="37928"/>
                    </a:lnTo>
                    <a:lnTo>
                      <a:pt x="23103" y="37836"/>
                    </a:lnTo>
                    <a:lnTo>
                      <a:pt x="23273" y="37731"/>
                    </a:lnTo>
                    <a:lnTo>
                      <a:pt x="23457" y="37626"/>
                    </a:lnTo>
                    <a:lnTo>
                      <a:pt x="23627" y="37508"/>
                    </a:lnTo>
                    <a:lnTo>
                      <a:pt x="23798" y="37390"/>
                    </a:lnTo>
                    <a:lnTo>
                      <a:pt x="23968" y="37259"/>
                    </a:lnTo>
                    <a:lnTo>
                      <a:pt x="24244" y="37429"/>
                    </a:lnTo>
                    <a:lnTo>
                      <a:pt x="24533" y="37587"/>
                    </a:lnTo>
                    <a:lnTo>
                      <a:pt x="24834" y="37731"/>
                    </a:lnTo>
                    <a:lnTo>
                      <a:pt x="25149" y="37875"/>
                    </a:lnTo>
                    <a:lnTo>
                      <a:pt x="25477" y="38006"/>
                    </a:lnTo>
                    <a:lnTo>
                      <a:pt x="25805" y="38125"/>
                    </a:lnTo>
                    <a:lnTo>
                      <a:pt x="26159" y="38243"/>
                    </a:lnTo>
                    <a:lnTo>
                      <a:pt x="26514" y="38334"/>
                    </a:lnTo>
                    <a:lnTo>
                      <a:pt x="26868" y="38426"/>
                    </a:lnTo>
                    <a:lnTo>
                      <a:pt x="27222" y="38492"/>
                    </a:lnTo>
                    <a:lnTo>
                      <a:pt x="27589" y="38557"/>
                    </a:lnTo>
                    <a:lnTo>
                      <a:pt x="27957" y="38597"/>
                    </a:lnTo>
                    <a:lnTo>
                      <a:pt x="28311" y="38623"/>
                    </a:lnTo>
                    <a:lnTo>
                      <a:pt x="28678" y="38636"/>
                    </a:lnTo>
                    <a:lnTo>
                      <a:pt x="29032" y="38636"/>
                    </a:lnTo>
                    <a:lnTo>
                      <a:pt x="29387" y="38610"/>
                    </a:lnTo>
                    <a:lnTo>
                      <a:pt x="29728" y="38571"/>
                    </a:lnTo>
                    <a:lnTo>
                      <a:pt x="30056" y="38505"/>
                    </a:lnTo>
                    <a:lnTo>
                      <a:pt x="30384" y="38426"/>
                    </a:lnTo>
                    <a:lnTo>
                      <a:pt x="30698" y="38334"/>
                    </a:lnTo>
                    <a:lnTo>
                      <a:pt x="30987" y="38203"/>
                    </a:lnTo>
                    <a:lnTo>
                      <a:pt x="31276" y="38059"/>
                    </a:lnTo>
                    <a:lnTo>
                      <a:pt x="31538" y="37902"/>
                    </a:lnTo>
                    <a:lnTo>
                      <a:pt x="31787" y="37705"/>
                    </a:lnTo>
                    <a:lnTo>
                      <a:pt x="31905" y="37600"/>
                    </a:lnTo>
                    <a:lnTo>
                      <a:pt x="32023" y="37495"/>
                    </a:lnTo>
                    <a:lnTo>
                      <a:pt x="32128" y="37377"/>
                    </a:lnTo>
                    <a:lnTo>
                      <a:pt x="32233" y="37246"/>
                    </a:lnTo>
                    <a:lnTo>
                      <a:pt x="32325" y="37128"/>
                    </a:lnTo>
                    <a:lnTo>
                      <a:pt x="32417" y="36983"/>
                    </a:lnTo>
                    <a:lnTo>
                      <a:pt x="32496" y="36839"/>
                    </a:lnTo>
                    <a:lnTo>
                      <a:pt x="32574" y="36695"/>
                    </a:lnTo>
                    <a:lnTo>
                      <a:pt x="32640" y="36537"/>
                    </a:lnTo>
                    <a:lnTo>
                      <a:pt x="32706" y="36380"/>
                    </a:lnTo>
                    <a:lnTo>
                      <a:pt x="32758" y="36209"/>
                    </a:lnTo>
                    <a:lnTo>
                      <a:pt x="32811" y="36026"/>
                    </a:lnTo>
                    <a:lnTo>
                      <a:pt x="32850" y="35842"/>
                    </a:lnTo>
                    <a:lnTo>
                      <a:pt x="32889" y="35645"/>
                    </a:lnTo>
                    <a:lnTo>
                      <a:pt x="32916" y="35448"/>
                    </a:lnTo>
                    <a:lnTo>
                      <a:pt x="32942" y="35238"/>
                    </a:lnTo>
                    <a:lnTo>
                      <a:pt x="32942" y="35002"/>
                    </a:lnTo>
                    <a:lnTo>
                      <a:pt x="32942" y="34779"/>
                    </a:lnTo>
                    <a:lnTo>
                      <a:pt x="32942" y="34543"/>
                    </a:lnTo>
                    <a:lnTo>
                      <a:pt x="32916" y="34320"/>
                    </a:lnTo>
                    <a:lnTo>
                      <a:pt x="32889" y="34097"/>
                    </a:lnTo>
                    <a:lnTo>
                      <a:pt x="32850" y="33887"/>
                    </a:lnTo>
                    <a:lnTo>
                      <a:pt x="32811" y="33664"/>
                    </a:lnTo>
                    <a:lnTo>
                      <a:pt x="32758" y="33454"/>
                    </a:lnTo>
                    <a:lnTo>
                      <a:pt x="32627" y="33021"/>
                    </a:lnTo>
                    <a:lnTo>
                      <a:pt x="32470" y="32615"/>
                    </a:lnTo>
                    <a:lnTo>
                      <a:pt x="32286" y="32208"/>
                    </a:lnTo>
                    <a:lnTo>
                      <a:pt x="32089" y="31801"/>
                    </a:lnTo>
                    <a:lnTo>
                      <a:pt x="31879" y="31408"/>
                    </a:lnTo>
                    <a:lnTo>
                      <a:pt x="31656" y="31014"/>
                    </a:lnTo>
                    <a:lnTo>
                      <a:pt x="31197" y="30240"/>
                    </a:lnTo>
                    <a:lnTo>
                      <a:pt x="30751" y="29453"/>
                    </a:lnTo>
                    <a:lnTo>
                      <a:pt x="30528" y="29059"/>
                    </a:lnTo>
                    <a:lnTo>
                      <a:pt x="30318" y="28666"/>
                    </a:lnTo>
                    <a:lnTo>
                      <a:pt x="30174" y="28351"/>
                    </a:lnTo>
                    <a:lnTo>
                      <a:pt x="30029" y="28023"/>
                    </a:lnTo>
                    <a:lnTo>
                      <a:pt x="29898" y="27695"/>
                    </a:lnTo>
                    <a:lnTo>
                      <a:pt x="29767" y="27367"/>
                    </a:lnTo>
                    <a:lnTo>
                      <a:pt x="29636" y="26960"/>
                    </a:lnTo>
                    <a:lnTo>
                      <a:pt x="29518" y="26540"/>
                    </a:lnTo>
                    <a:lnTo>
                      <a:pt x="29413" y="26108"/>
                    </a:lnTo>
                    <a:lnTo>
                      <a:pt x="29321" y="25661"/>
                    </a:lnTo>
                    <a:lnTo>
                      <a:pt x="29242" y="25215"/>
                    </a:lnTo>
                    <a:lnTo>
                      <a:pt x="29177" y="24756"/>
                    </a:lnTo>
                    <a:lnTo>
                      <a:pt x="29111" y="24297"/>
                    </a:lnTo>
                    <a:lnTo>
                      <a:pt x="29072" y="23825"/>
                    </a:lnTo>
                    <a:lnTo>
                      <a:pt x="29032" y="23366"/>
                    </a:lnTo>
                    <a:lnTo>
                      <a:pt x="29006" y="22893"/>
                    </a:lnTo>
                    <a:lnTo>
                      <a:pt x="28967" y="21962"/>
                    </a:lnTo>
                    <a:lnTo>
                      <a:pt x="28954" y="21057"/>
                    </a:lnTo>
                    <a:lnTo>
                      <a:pt x="28941" y="20178"/>
                    </a:lnTo>
                    <a:lnTo>
                      <a:pt x="28954" y="19496"/>
                    </a:lnTo>
                    <a:lnTo>
                      <a:pt x="28980" y="18840"/>
                    </a:lnTo>
                    <a:lnTo>
                      <a:pt x="29019" y="18184"/>
                    </a:lnTo>
                    <a:lnTo>
                      <a:pt x="29072" y="17554"/>
                    </a:lnTo>
                    <a:lnTo>
                      <a:pt x="29177" y="16268"/>
                    </a:lnTo>
                    <a:lnTo>
                      <a:pt x="29216" y="15639"/>
                    </a:lnTo>
                    <a:lnTo>
                      <a:pt x="29255" y="14996"/>
                    </a:lnTo>
                    <a:lnTo>
                      <a:pt x="29255" y="14340"/>
                    </a:lnTo>
                    <a:lnTo>
                      <a:pt x="29242" y="13671"/>
                    </a:lnTo>
                    <a:lnTo>
                      <a:pt x="29216" y="13330"/>
                    </a:lnTo>
                    <a:lnTo>
                      <a:pt x="29190" y="12975"/>
                    </a:lnTo>
                    <a:lnTo>
                      <a:pt x="29150" y="12634"/>
                    </a:lnTo>
                    <a:lnTo>
                      <a:pt x="29098" y="12280"/>
                    </a:lnTo>
                    <a:lnTo>
                      <a:pt x="29032" y="11913"/>
                    </a:lnTo>
                    <a:lnTo>
                      <a:pt x="28967" y="11545"/>
                    </a:lnTo>
                    <a:lnTo>
                      <a:pt x="28875" y="11165"/>
                    </a:lnTo>
                    <a:lnTo>
                      <a:pt x="28783" y="10785"/>
                    </a:lnTo>
                    <a:lnTo>
                      <a:pt x="28678" y="10391"/>
                    </a:lnTo>
                    <a:lnTo>
                      <a:pt x="28547" y="9997"/>
                    </a:lnTo>
                    <a:lnTo>
                      <a:pt x="28403" y="9591"/>
                    </a:lnTo>
                    <a:lnTo>
                      <a:pt x="28245" y="9171"/>
                    </a:lnTo>
                    <a:lnTo>
                      <a:pt x="28140" y="8935"/>
                    </a:lnTo>
                    <a:lnTo>
                      <a:pt x="28035" y="8685"/>
                    </a:lnTo>
                    <a:lnTo>
                      <a:pt x="27904" y="8462"/>
                    </a:lnTo>
                    <a:lnTo>
                      <a:pt x="27773" y="8226"/>
                    </a:lnTo>
                    <a:lnTo>
                      <a:pt x="27629" y="8016"/>
                    </a:lnTo>
                    <a:lnTo>
                      <a:pt x="27484" y="7807"/>
                    </a:lnTo>
                    <a:lnTo>
                      <a:pt x="27327" y="7597"/>
                    </a:lnTo>
                    <a:lnTo>
                      <a:pt x="27169" y="7400"/>
                    </a:lnTo>
                    <a:lnTo>
                      <a:pt x="26841" y="7032"/>
                    </a:lnTo>
                    <a:lnTo>
                      <a:pt x="26514" y="6691"/>
                    </a:lnTo>
                    <a:lnTo>
                      <a:pt x="26172" y="6377"/>
                    </a:lnTo>
                    <a:lnTo>
                      <a:pt x="25831" y="6088"/>
                    </a:lnTo>
                    <a:lnTo>
                      <a:pt x="25503" y="5839"/>
                    </a:lnTo>
                    <a:lnTo>
                      <a:pt x="25202" y="5629"/>
                    </a:lnTo>
                    <a:lnTo>
                      <a:pt x="24926" y="5445"/>
                    </a:lnTo>
                    <a:lnTo>
                      <a:pt x="24690" y="5288"/>
                    </a:lnTo>
                    <a:lnTo>
                      <a:pt x="24336" y="5091"/>
                    </a:lnTo>
                    <a:lnTo>
                      <a:pt x="24191" y="5025"/>
                    </a:lnTo>
                    <a:lnTo>
                      <a:pt x="24244" y="4789"/>
                    </a:lnTo>
                    <a:lnTo>
                      <a:pt x="24270" y="4553"/>
                    </a:lnTo>
                    <a:lnTo>
                      <a:pt x="24270" y="4304"/>
                    </a:lnTo>
                    <a:lnTo>
                      <a:pt x="24244" y="4068"/>
                    </a:lnTo>
                    <a:lnTo>
                      <a:pt x="24205" y="3831"/>
                    </a:lnTo>
                    <a:lnTo>
                      <a:pt x="24126" y="3608"/>
                    </a:lnTo>
                    <a:lnTo>
                      <a:pt x="24034" y="3385"/>
                    </a:lnTo>
                    <a:lnTo>
                      <a:pt x="23916" y="3175"/>
                    </a:lnTo>
                    <a:lnTo>
                      <a:pt x="23772" y="2992"/>
                    </a:lnTo>
                    <a:lnTo>
                      <a:pt x="23614" y="2821"/>
                    </a:lnTo>
                    <a:lnTo>
                      <a:pt x="23522" y="2743"/>
                    </a:lnTo>
                    <a:lnTo>
                      <a:pt x="23431" y="2664"/>
                    </a:lnTo>
                    <a:lnTo>
                      <a:pt x="23326" y="2598"/>
                    </a:lnTo>
                    <a:lnTo>
                      <a:pt x="23221" y="2546"/>
                    </a:lnTo>
                    <a:lnTo>
                      <a:pt x="23103" y="2493"/>
                    </a:lnTo>
                    <a:lnTo>
                      <a:pt x="22985" y="2441"/>
                    </a:lnTo>
                    <a:lnTo>
                      <a:pt x="22866" y="2401"/>
                    </a:lnTo>
                    <a:lnTo>
                      <a:pt x="22735" y="2375"/>
                    </a:lnTo>
                    <a:lnTo>
                      <a:pt x="22591" y="2349"/>
                    </a:lnTo>
                    <a:lnTo>
                      <a:pt x="22460" y="2336"/>
                    </a:lnTo>
                    <a:lnTo>
                      <a:pt x="22302" y="2323"/>
                    </a:lnTo>
                    <a:lnTo>
                      <a:pt x="22158" y="2336"/>
                    </a:lnTo>
                    <a:lnTo>
                      <a:pt x="22040" y="2349"/>
                    </a:lnTo>
                    <a:lnTo>
                      <a:pt x="21922" y="2362"/>
                    </a:lnTo>
                    <a:lnTo>
                      <a:pt x="21883" y="2126"/>
                    </a:lnTo>
                    <a:lnTo>
                      <a:pt x="21804" y="1890"/>
                    </a:lnTo>
                    <a:lnTo>
                      <a:pt x="21725" y="1654"/>
                    </a:lnTo>
                    <a:lnTo>
                      <a:pt x="21620" y="1431"/>
                    </a:lnTo>
                    <a:lnTo>
                      <a:pt x="21489" y="1221"/>
                    </a:lnTo>
                    <a:lnTo>
                      <a:pt x="21358" y="1024"/>
                    </a:lnTo>
                    <a:lnTo>
                      <a:pt x="21200" y="827"/>
                    </a:lnTo>
                    <a:lnTo>
                      <a:pt x="21030" y="657"/>
                    </a:lnTo>
                    <a:lnTo>
                      <a:pt x="20833" y="499"/>
                    </a:lnTo>
                    <a:lnTo>
                      <a:pt x="20623" y="368"/>
                    </a:lnTo>
                    <a:lnTo>
                      <a:pt x="20400" y="250"/>
                    </a:lnTo>
                    <a:lnTo>
                      <a:pt x="20151" y="145"/>
                    </a:lnTo>
                    <a:lnTo>
                      <a:pt x="19888" y="66"/>
                    </a:lnTo>
                    <a:lnTo>
                      <a:pt x="19613" y="27"/>
                    </a:lnTo>
                    <a:lnTo>
                      <a:pt x="19324" y="1"/>
                    </a:ln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122" name="Google Shape;2451;p45">
                <a:extLst>
                  <a:ext uri="{FF2B5EF4-FFF2-40B4-BE49-F238E27FC236}">
                    <a16:creationId xmlns:a16="http://schemas.microsoft.com/office/drawing/2014/main" id="{8917AE4D-CBCE-E074-45EF-9DBED7862AE7}"/>
                  </a:ext>
                </a:extLst>
              </p:cNvPr>
              <p:cNvSpPr/>
              <p:nvPr/>
            </p:nvSpPr>
            <p:spPr>
              <a:xfrm>
                <a:off x="1989700" y="3428739"/>
                <a:ext cx="395636" cy="44767"/>
              </a:xfrm>
              <a:custGeom>
                <a:avLst/>
                <a:gdLst/>
                <a:ahLst/>
                <a:cxnLst/>
                <a:rect l="l" t="t" r="r" b="b"/>
                <a:pathLst>
                  <a:path w="22041" h="2494" extrusionOk="0">
                    <a:moveTo>
                      <a:pt x="1" y="1"/>
                    </a:moveTo>
                    <a:lnTo>
                      <a:pt x="14" y="250"/>
                    </a:lnTo>
                    <a:lnTo>
                      <a:pt x="53" y="499"/>
                    </a:lnTo>
                    <a:lnTo>
                      <a:pt x="106" y="736"/>
                    </a:lnTo>
                    <a:lnTo>
                      <a:pt x="197" y="972"/>
                    </a:lnTo>
                    <a:lnTo>
                      <a:pt x="302" y="1182"/>
                    </a:lnTo>
                    <a:lnTo>
                      <a:pt x="420" y="1392"/>
                    </a:lnTo>
                    <a:lnTo>
                      <a:pt x="565" y="1588"/>
                    </a:lnTo>
                    <a:lnTo>
                      <a:pt x="735" y="1759"/>
                    </a:lnTo>
                    <a:lnTo>
                      <a:pt x="906" y="1916"/>
                    </a:lnTo>
                    <a:lnTo>
                      <a:pt x="1103" y="2061"/>
                    </a:lnTo>
                    <a:lnTo>
                      <a:pt x="1299" y="2192"/>
                    </a:lnTo>
                    <a:lnTo>
                      <a:pt x="1522" y="2297"/>
                    </a:lnTo>
                    <a:lnTo>
                      <a:pt x="1759" y="2375"/>
                    </a:lnTo>
                    <a:lnTo>
                      <a:pt x="1995" y="2441"/>
                    </a:lnTo>
                    <a:lnTo>
                      <a:pt x="2244" y="2480"/>
                    </a:lnTo>
                    <a:lnTo>
                      <a:pt x="2493" y="2494"/>
                    </a:lnTo>
                    <a:lnTo>
                      <a:pt x="19548" y="2494"/>
                    </a:lnTo>
                    <a:lnTo>
                      <a:pt x="19797" y="2480"/>
                    </a:lnTo>
                    <a:lnTo>
                      <a:pt x="20046" y="2441"/>
                    </a:lnTo>
                    <a:lnTo>
                      <a:pt x="20282" y="2375"/>
                    </a:lnTo>
                    <a:lnTo>
                      <a:pt x="20519" y="2297"/>
                    </a:lnTo>
                    <a:lnTo>
                      <a:pt x="20729" y="2192"/>
                    </a:lnTo>
                    <a:lnTo>
                      <a:pt x="20938" y="2061"/>
                    </a:lnTo>
                    <a:lnTo>
                      <a:pt x="21135" y="1916"/>
                    </a:lnTo>
                    <a:lnTo>
                      <a:pt x="21306" y="1759"/>
                    </a:lnTo>
                    <a:lnTo>
                      <a:pt x="21476" y="1588"/>
                    </a:lnTo>
                    <a:lnTo>
                      <a:pt x="21621" y="1392"/>
                    </a:lnTo>
                    <a:lnTo>
                      <a:pt x="21739" y="1182"/>
                    </a:lnTo>
                    <a:lnTo>
                      <a:pt x="21844" y="972"/>
                    </a:lnTo>
                    <a:lnTo>
                      <a:pt x="21922" y="736"/>
                    </a:lnTo>
                    <a:lnTo>
                      <a:pt x="21988" y="499"/>
                    </a:lnTo>
                    <a:lnTo>
                      <a:pt x="22027" y="250"/>
                    </a:lnTo>
                    <a:lnTo>
                      <a:pt x="22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98" name="Título 1">
            <a:extLst>
              <a:ext uri="{FF2B5EF4-FFF2-40B4-BE49-F238E27FC236}">
                <a16:creationId xmlns:a16="http://schemas.microsoft.com/office/drawing/2014/main" id="{42918CFE-E8BC-170F-EF9A-31A0ED53E2F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Project goals: From Sensitivities to Surrogates</a:t>
            </a:r>
          </a:p>
        </p:txBody>
      </p:sp>
      <p:sp>
        <p:nvSpPr>
          <p:cNvPr id="1209" name="CuadroTexto 1208">
            <a:extLst>
              <a:ext uri="{FF2B5EF4-FFF2-40B4-BE49-F238E27FC236}">
                <a16:creationId xmlns:a16="http://schemas.microsoft.com/office/drawing/2014/main" id="{55F83AB7-28D0-77AF-3A94-26CFEF770456}"/>
              </a:ext>
            </a:extLst>
          </p:cNvPr>
          <p:cNvSpPr txBox="1"/>
          <p:nvPr/>
        </p:nvSpPr>
        <p:spPr>
          <a:xfrm>
            <a:off x="1036520" y="1740679"/>
            <a:ext cx="10363425" cy="646331"/>
          </a:xfrm>
          <a:prstGeom prst="rect">
            <a:avLst/>
          </a:prstGeom>
          <a:noFill/>
        </p:spPr>
        <p:txBody>
          <a:bodyPr wrap="square">
            <a:spAutoFit/>
          </a:bodyPr>
          <a:lstStyle/>
          <a:p>
            <a:r>
              <a:rPr lang="en-US" dirty="0"/>
              <a:t>We work with </a:t>
            </a:r>
            <a:r>
              <a:rPr lang="en-US" b="1" dirty="0" err="1"/>
              <a:t>AlphaPEM</a:t>
            </a:r>
            <a:r>
              <a:rPr lang="en-US" b="1" dirty="0"/>
              <a:t>, </a:t>
            </a:r>
            <a:r>
              <a:rPr lang="en-US" dirty="0"/>
              <a:t>a 1D physics-based PEM fuel cell model using differential-algebraic equations (DAEs) to simulate polarization </a:t>
            </a:r>
            <a:r>
              <a:rPr lang="en-US" dirty="0" err="1"/>
              <a:t>behaviour</a:t>
            </a:r>
            <a:r>
              <a:rPr lang="en-US" dirty="0"/>
              <a:t> (current-voltage relation).</a:t>
            </a:r>
            <a:endParaRPr lang="en" dirty="0"/>
          </a:p>
        </p:txBody>
      </p:sp>
      <p:sp>
        <p:nvSpPr>
          <p:cNvPr id="1210" name="Google Shape;1860;p37">
            <a:extLst>
              <a:ext uri="{FF2B5EF4-FFF2-40B4-BE49-F238E27FC236}">
                <a16:creationId xmlns:a16="http://schemas.microsoft.com/office/drawing/2014/main" id="{4F320ECF-F4F6-3A0D-DA44-4808939E0BA6}"/>
              </a:ext>
            </a:extLst>
          </p:cNvPr>
          <p:cNvSpPr/>
          <p:nvPr/>
        </p:nvSpPr>
        <p:spPr bwMode="auto">
          <a:xfrm>
            <a:off x="8091406" y="2063845"/>
            <a:ext cx="2160166" cy="323166"/>
          </a:xfrm>
          <a:prstGeom prst="roundRect">
            <a:avLst>
              <a:gd name="adj" fmla="val 50000"/>
            </a:avLst>
          </a:prstGeom>
          <a:solidFill>
            <a:schemeClr val="bg1">
              <a:lumMod val="65000"/>
            </a:schemeClr>
          </a:solidFill>
          <a:ln>
            <a:noFill/>
          </a:ln>
        </p:spPr>
        <p:txBody>
          <a:bodyPr spcFirstLastPara="1" wrap="square" lIns="121900" tIns="121900" rIns="121900" bIns="121900" anchor="ctr" anchorCtr="0">
            <a:noAutofit/>
          </a:bodyPr>
          <a:lstStyle/>
          <a:p>
            <a:pPr defTabSz="1219140">
              <a:buClr>
                <a:srgbClr val="000000"/>
              </a:buClr>
              <a:defRPr/>
            </a:pPr>
            <a:r>
              <a:rPr lang="es-MX" sz="1851" b="1" kern="0" dirty="0" err="1">
                <a:solidFill>
                  <a:schemeClr val="bg1"/>
                </a:solidFill>
                <a:cs typeface="Arial"/>
                <a:sym typeface="Arial"/>
                <a:hlinkClick r:id="rId3">
                  <a:extLst>
                    <a:ext uri="{A12FA001-AC4F-418D-AE19-62706E023703}">
                      <ahyp:hlinkClr xmlns:ahyp="http://schemas.microsoft.com/office/drawing/2018/hyperlinkcolor" val="tx"/>
                    </a:ext>
                  </a:extLst>
                </a:hlinkClick>
              </a:rPr>
              <a:t>Gass</a:t>
            </a:r>
            <a:r>
              <a:rPr lang="es-MX" sz="1851" b="1" kern="0" dirty="0">
                <a:solidFill>
                  <a:schemeClr val="bg1"/>
                </a:solidFill>
                <a:cs typeface="Arial"/>
                <a:sym typeface="Arial"/>
                <a:hlinkClick r:id="rId3">
                  <a:extLst>
                    <a:ext uri="{A12FA001-AC4F-418D-AE19-62706E023703}">
                      <ahyp:hlinkClr xmlns:ahyp="http://schemas.microsoft.com/office/drawing/2018/hyperlinkcolor" val="tx"/>
                    </a:ext>
                  </a:extLst>
                </a:hlinkClick>
              </a:rPr>
              <a:t> et al, (2025)</a:t>
            </a:r>
            <a:endParaRPr sz="1851" b="1" kern="0" dirty="0">
              <a:solidFill>
                <a:schemeClr val="bg1"/>
              </a:solidFill>
              <a:cs typeface="Arial"/>
              <a:sym typeface="Arial"/>
            </a:endParaRPr>
          </a:p>
        </p:txBody>
      </p:sp>
      <p:sp>
        <p:nvSpPr>
          <p:cNvPr id="17" name="Google Shape;2329;p45">
            <a:extLst>
              <a:ext uri="{FF2B5EF4-FFF2-40B4-BE49-F238E27FC236}">
                <a16:creationId xmlns:a16="http://schemas.microsoft.com/office/drawing/2014/main" id="{74607976-49A7-1BF8-F2C1-C8FC67485498}"/>
              </a:ext>
            </a:extLst>
          </p:cNvPr>
          <p:cNvSpPr/>
          <p:nvPr/>
        </p:nvSpPr>
        <p:spPr>
          <a:xfrm>
            <a:off x="838200" y="3145584"/>
            <a:ext cx="3578817" cy="3058580"/>
          </a:xfrm>
          <a:prstGeom prst="roundRect">
            <a:avLst>
              <a:gd name="adj" fmla="val 16667"/>
            </a:avLst>
          </a:prstGeom>
          <a:solidFill>
            <a:srgbClr val="008B2E">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18" name="Google Shape;2334;p45">
            <a:extLst>
              <a:ext uri="{FF2B5EF4-FFF2-40B4-BE49-F238E27FC236}">
                <a16:creationId xmlns:a16="http://schemas.microsoft.com/office/drawing/2014/main" id="{4982A734-CCD3-952E-DBE7-BB7B4BF7F1CA}"/>
              </a:ext>
            </a:extLst>
          </p:cNvPr>
          <p:cNvGrpSpPr/>
          <p:nvPr/>
        </p:nvGrpSpPr>
        <p:grpSpPr>
          <a:xfrm>
            <a:off x="1057346" y="2945836"/>
            <a:ext cx="3271917" cy="3085834"/>
            <a:chOff x="457201" y="3005625"/>
            <a:chExt cx="2069448" cy="1532346"/>
          </a:xfrm>
        </p:grpSpPr>
        <p:sp>
          <p:nvSpPr>
            <p:cNvPr id="19" name="Google Shape;2335;p45">
              <a:extLst>
                <a:ext uri="{FF2B5EF4-FFF2-40B4-BE49-F238E27FC236}">
                  <a16:creationId xmlns:a16="http://schemas.microsoft.com/office/drawing/2014/main" id="{EC0D8457-6A32-C7CA-2E78-D314204D443D}"/>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sz="2400" b="1" kern="0" dirty="0">
                  <a:solidFill>
                    <a:srgbClr val="000000"/>
                  </a:solidFill>
                  <a:latin typeface="Fira Sans Extra Condensed"/>
                  <a:ea typeface="Fira Sans Extra Condensed"/>
                  <a:cs typeface="Fira Sans Extra Condensed"/>
                  <a:sym typeface="Fira Sans Extra Condensed"/>
                </a:rPr>
                <a:t>Sensitivity Analysis (SA)</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0" name="Google Shape;2336;p45">
              <a:extLst>
                <a:ext uri="{FF2B5EF4-FFF2-40B4-BE49-F238E27FC236}">
                  <a16:creationId xmlns:a16="http://schemas.microsoft.com/office/drawing/2014/main" id="{AF0A67A7-C606-EE4B-50B8-42D58A359139}"/>
                </a:ext>
              </a:extLst>
            </p:cNvPr>
            <p:cNvSpPr txBox="1"/>
            <p:nvPr/>
          </p:nvSpPr>
          <p:spPr>
            <a:xfrm>
              <a:off x="590473" y="3741868"/>
              <a:ext cx="1936176" cy="796103"/>
            </a:xfrm>
            <a:prstGeom prst="rect">
              <a:avLst/>
            </a:prstGeom>
            <a:noFill/>
            <a:ln>
              <a:noFill/>
            </a:ln>
          </p:spPr>
          <p:txBody>
            <a:bodyPr spcFirstLastPara="1" wrap="square" lIns="91425" tIns="91425" rIns="91425" bIns="91425" anchor="ctr" anchorCtr="0">
              <a:noAutofit/>
            </a:bodyPr>
            <a:lstStyle/>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Identify and quantify the </a:t>
              </a:r>
              <a:r>
                <a:rPr kumimoji="0" lang="en-US" b="0" u="none" strike="noStrike" kern="0" cap="none" spc="0" normalizeH="0" baseline="0" noProof="0" dirty="0">
                  <a:ln>
                    <a:noFill/>
                  </a:ln>
                  <a:solidFill>
                    <a:srgbClr val="000000"/>
                  </a:solidFill>
                  <a:effectLst/>
                  <a:uLnTx/>
                  <a:uFillTx/>
                  <a:latin typeface="+mj-lt"/>
                  <a:ea typeface="Roboto"/>
                  <a:cs typeface="Roboto"/>
                  <a:sym typeface="Roboto"/>
                </a:rPr>
                <a:t>influence of input features </a:t>
              </a: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on </a:t>
              </a:r>
              <a:r>
                <a:rPr kumimoji="0" lang="en-US" b="0" i="0" u="none" strike="noStrike" kern="0" cap="none" spc="0" normalizeH="0" baseline="0" noProof="0" dirty="0" err="1">
                  <a:ln>
                    <a:noFill/>
                  </a:ln>
                  <a:solidFill>
                    <a:srgbClr val="000000"/>
                  </a:solidFill>
                  <a:effectLst/>
                  <a:uLnTx/>
                  <a:uFillTx/>
                  <a:latin typeface="+mj-lt"/>
                  <a:ea typeface="Roboto"/>
                  <a:cs typeface="Roboto"/>
                  <a:sym typeface="Roboto"/>
                </a:rPr>
                <a:t>AlphaPEM</a:t>
              </a:r>
              <a:endParaRPr lang="en-US" kern="0" dirty="0">
                <a:solidFill>
                  <a:srgbClr val="000000"/>
                </a:solidFill>
                <a:latin typeface="+mj-lt"/>
                <a:ea typeface="Roboto"/>
                <a:cs typeface="Roboto"/>
                <a:sym typeface="Roboto"/>
              </a:endParaRPr>
            </a:p>
            <a:p>
              <a:pPr marL="285750" lvl="0" indent="-285750">
                <a:buClr>
                  <a:srgbClr val="000000"/>
                </a:buClr>
                <a:buFont typeface="Arial" panose="020B0604020202020204" pitchFamily="34" charset="0"/>
                <a:buChar char="•"/>
              </a:pPr>
              <a:r>
                <a:rPr lang="en-US" dirty="0"/>
                <a:t>Select a subset of </a:t>
              </a:r>
              <a:r>
                <a:rPr lang="en-US" b="1" dirty="0">
                  <a:solidFill>
                    <a:srgbClr val="008B2E"/>
                  </a:solidFill>
                </a:rPr>
                <a:t>most influential features</a:t>
              </a:r>
              <a:endParaRPr kumimoji="0" lang="en-US" b="0" i="0" u="none" strike="noStrike" kern="0" cap="none" spc="0" normalizeH="0" baseline="0" noProof="0" dirty="0">
                <a:ln>
                  <a:noFill/>
                </a:ln>
                <a:solidFill>
                  <a:srgbClr val="008B2E"/>
                </a:solidFill>
                <a:effectLst/>
                <a:uLnTx/>
                <a:uFillTx/>
                <a:latin typeface="+mj-lt"/>
                <a:ea typeface="Roboto"/>
                <a:cs typeface="Roboto"/>
                <a:sym typeface="Roboto"/>
              </a:endParaRP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lang="en-US" kern="0" dirty="0">
                <a:solidFill>
                  <a:srgbClr val="000000"/>
                </a:solidFill>
                <a:latin typeface="+mj-lt"/>
                <a:ea typeface="Roboto"/>
                <a:cs typeface="Roboto"/>
                <a:sym typeface="Roboto"/>
              </a:endParaRPr>
            </a:p>
          </p:txBody>
        </p:sp>
        <p:sp>
          <p:nvSpPr>
            <p:cNvPr id="21" name="Google Shape;2337;p45">
              <a:extLst>
                <a:ext uri="{FF2B5EF4-FFF2-40B4-BE49-F238E27FC236}">
                  <a16:creationId xmlns:a16="http://schemas.microsoft.com/office/drawing/2014/main" id="{A17D8633-8CEC-60A1-8617-83E51BE46E75}"/>
                </a:ext>
              </a:extLst>
            </p:cNvPr>
            <p:cNvSpPr/>
            <p:nvPr/>
          </p:nvSpPr>
          <p:spPr>
            <a:xfrm>
              <a:off x="1226100" y="3005625"/>
              <a:ext cx="519600" cy="282953"/>
            </a:xfrm>
            <a:prstGeom prst="roundRect">
              <a:avLst>
                <a:gd name="adj" fmla="val 16667"/>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22" name="Google Shape;2329;p45">
            <a:extLst>
              <a:ext uri="{FF2B5EF4-FFF2-40B4-BE49-F238E27FC236}">
                <a16:creationId xmlns:a16="http://schemas.microsoft.com/office/drawing/2014/main" id="{327D8EFB-2093-2BCD-8710-DF876ECEA4DF}"/>
              </a:ext>
            </a:extLst>
          </p:cNvPr>
          <p:cNvSpPr/>
          <p:nvPr/>
        </p:nvSpPr>
        <p:spPr>
          <a:xfrm>
            <a:off x="8091406" y="3206478"/>
            <a:ext cx="3578817" cy="3085834"/>
          </a:xfrm>
          <a:prstGeom prst="roundRect">
            <a:avLst>
              <a:gd name="adj" fmla="val 16667"/>
            </a:avLst>
          </a:prstGeom>
          <a:solidFill>
            <a:srgbClr val="8027EA">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23" name="Google Shape;2334;p45">
            <a:extLst>
              <a:ext uri="{FF2B5EF4-FFF2-40B4-BE49-F238E27FC236}">
                <a16:creationId xmlns:a16="http://schemas.microsoft.com/office/drawing/2014/main" id="{82FFAAE7-A950-D912-5B77-B92C2E50688B}"/>
              </a:ext>
            </a:extLst>
          </p:cNvPr>
          <p:cNvGrpSpPr/>
          <p:nvPr/>
        </p:nvGrpSpPr>
        <p:grpSpPr>
          <a:xfrm>
            <a:off x="8214380" y="3030568"/>
            <a:ext cx="3252870" cy="3001102"/>
            <a:chOff x="457201" y="3005625"/>
            <a:chExt cx="2057401" cy="1678076"/>
          </a:xfrm>
        </p:grpSpPr>
        <p:sp>
          <p:nvSpPr>
            <p:cNvPr id="24" name="Google Shape;2335;p45">
              <a:extLst>
                <a:ext uri="{FF2B5EF4-FFF2-40B4-BE49-F238E27FC236}">
                  <a16:creationId xmlns:a16="http://schemas.microsoft.com/office/drawing/2014/main" id="{6AB8FCAE-4F4F-8B69-0D53-5CB89B703E65}"/>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Surrogate</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Model</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(SM)</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5" name="Google Shape;2336;p45">
              <a:extLst>
                <a:ext uri="{FF2B5EF4-FFF2-40B4-BE49-F238E27FC236}">
                  <a16:creationId xmlns:a16="http://schemas.microsoft.com/office/drawing/2014/main" id="{1936D60E-7FD2-373E-B404-49F9AD630A33}"/>
                </a:ext>
              </a:extLst>
            </p:cNvPr>
            <p:cNvSpPr txBox="1"/>
            <p:nvPr/>
          </p:nvSpPr>
          <p:spPr>
            <a:xfrm>
              <a:off x="594260" y="3689090"/>
              <a:ext cx="1920342" cy="994611"/>
            </a:xfrm>
            <a:prstGeom prst="rect">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r>
                <a:rPr lang="en-US" kern="0" dirty="0">
                  <a:solidFill>
                    <a:srgbClr val="000000"/>
                  </a:solidFill>
                  <a:latin typeface="+mj-lt"/>
                  <a:ea typeface="Roboto"/>
                  <a:cs typeface="Roboto"/>
                  <a:sym typeface="Roboto"/>
                </a:rPr>
                <a:t>Develop an analytically </a:t>
              </a:r>
              <a:r>
                <a:rPr lang="en-US" b="1" kern="0" dirty="0">
                  <a:solidFill>
                    <a:srgbClr val="8879F5"/>
                  </a:solidFill>
                  <a:latin typeface="+mj-lt"/>
                  <a:ea typeface="Roboto"/>
                  <a:cs typeface="Roboto"/>
                  <a:sym typeface="Roboto"/>
                </a:rPr>
                <a:t>closed-form surrogate model </a:t>
              </a:r>
            </a:p>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lang="en-US" sz="1000" kern="0" dirty="0">
                <a:solidFill>
                  <a:srgbClr val="000000"/>
                </a:solidFill>
                <a:latin typeface="+mj-lt"/>
                <a:ea typeface="Roboto"/>
                <a:cs typeface="Roboto"/>
                <a:sym typeface="Roboto"/>
              </a:endParaRPr>
            </a:p>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kern="0" dirty="0">
                  <a:solidFill>
                    <a:srgbClr val="000000"/>
                  </a:solidFill>
                  <a:latin typeface="+mj-lt"/>
                  <a:ea typeface="Roboto"/>
                  <a:cs typeface="Roboto"/>
                  <a:sym typeface="Roboto"/>
                </a:rPr>
                <a:t>Uses key features from SA</a:t>
              </a:r>
            </a:p>
            <a:p>
              <a:pPr marL="285750" lvl="0" indent="-285750">
                <a:buClr>
                  <a:srgbClr val="000000"/>
                </a:buClr>
                <a:buFont typeface="Arial" panose="020B0604020202020204" pitchFamily="34" charset="0"/>
                <a:buChar char="•"/>
              </a:pPr>
              <a:r>
                <a:rPr lang="es-CO" dirty="0" err="1"/>
                <a:t>Faithful</a:t>
              </a:r>
              <a:r>
                <a:rPr lang="es-CO" dirty="0"/>
                <a:t> </a:t>
              </a:r>
              <a:r>
                <a:rPr lang="es-CO" dirty="0" err="1"/>
                <a:t>to</a:t>
              </a:r>
              <a:r>
                <a:rPr lang="es-CO" dirty="0"/>
                <a:t> </a:t>
              </a:r>
              <a:r>
                <a:rPr lang="es-CO" dirty="0" err="1"/>
                <a:t>AlphaPEM</a:t>
              </a:r>
              <a:endParaRPr lang="es-CO" dirty="0"/>
            </a:p>
            <a:p>
              <a:pPr marL="285750" lvl="0" indent="-285750">
                <a:buClr>
                  <a:srgbClr val="000000"/>
                </a:buClr>
                <a:buFont typeface="Arial" panose="020B0604020202020204" pitchFamily="34" charset="0"/>
                <a:buChar char="•"/>
              </a:pPr>
              <a:r>
                <a:rPr lang="es-CO" dirty="0"/>
                <a:t>Interpretable and </a:t>
              </a:r>
              <a:r>
                <a:rPr lang="es-CO" dirty="0" err="1"/>
                <a:t>computationally</a:t>
              </a:r>
              <a:r>
                <a:rPr lang="es-CO" dirty="0"/>
                <a:t> </a:t>
              </a:r>
              <a:r>
                <a:rPr lang="es-CO" dirty="0" err="1"/>
                <a:t>efficient</a:t>
              </a:r>
              <a:endParaRPr lang="es-CO" dirty="0"/>
            </a:p>
          </p:txBody>
        </p:sp>
        <p:sp>
          <p:nvSpPr>
            <p:cNvPr id="26" name="Google Shape;2337;p45">
              <a:extLst>
                <a:ext uri="{FF2B5EF4-FFF2-40B4-BE49-F238E27FC236}">
                  <a16:creationId xmlns:a16="http://schemas.microsoft.com/office/drawing/2014/main" id="{626056F3-EA68-6FC3-18AA-54D355B79891}"/>
                </a:ext>
              </a:extLst>
            </p:cNvPr>
            <p:cNvSpPr/>
            <p:nvPr/>
          </p:nvSpPr>
          <p:spPr>
            <a:xfrm>
              <a:off x="1226100" y="3005625"/>
              <a:ext cx="519600" cy="371400"/>
            </a:xfrm>
            <a:prstGeom prst="roundRect">
              <a:avLst>
                <a:gd name="adj" fmla="val 16667"/>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a:t>
              </a:r>
              <a:r>
                <a:rPr lang="en" b="1" kern="0" dirty="0">
                  <a:solidFill>
                    <a:srgbClr val="FFFFFF"/>
                  </a:solidFill>
                  <a:latin typeface="Fira Sans Extra Condensed"/>
                  <a:ea typeface="Fira Sans Extra Condensed"/>
                  <a:cs typeface="Fira Sans Extra Condensed"/>
                  <a:sym typeface="Fira Sans Extra Condensed"/>
                </a:rPr>
                <a:t>2</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Tree>
    <p:extLst>
      <p:ext uri="{BB962C8B-B14F-4D97-AF65-F5344CB8AC3E}">
        <p14:creationId xmlns:p14="http://schemas.microsoft.com/office/powerpoint/2010/main" val="352856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A0A49227-957D-8E18-A56A-5CD7F345FB77}"/>
              </a:ext>
            </a:extLst>
          </p:cNvPr>
          <p:cNvSpPr>
            <a:spLocks noGrp="1"/>
          </p:cNvSpPr>
          <p:nvPr>
            <p:ph type="sldNum" sz="quarter" idx="12"/>
          </p:nvPr>
        </p:nvSpPr>
        <p:spPr/>
        <p:txBody>
          <a:bodyPr/>
          <a:lstStyle/>
          <a:p>
            <a:fld id="{B75BC28E-972B-EC47-BE79-29D89D46B9CA}" type="slidenum">
              <a:rPr lang="es-ES_tradnl" smtClean="0">
                <a:solidFill>
                  <a:schemeClr val="bg1"/>
                </a:solidFill>
              </a:rPr>
              <a:pPr/>
              <a:t>6</a:t>
            </a:fld>
            <a:endParaRPr lang="es-ES_tradnl" dirty="0">
              <a:solidFill>
                <a:schemeClr val="bg1"/>
              </a:solidFill>
            </a:endParaRPr>
          </a:p>
        </p:txBody>
      </p:sp>
      <p:sp>
        <p:nvSpPr>
          <p:cNvPr id="5" name="CuadroTexto 4">
            <a:extLst>
              <a:ext uri="{FF2B5EF4-FFF2-40B4-BE49-F238E27FC236}">
                <a16:creationId xmlns:a16="http://schemas.microsoft.com/office/drawing/2014/main" id="{5001BFE3-01A8-CC2B-89C5-BDC4CED63BAD}"/>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E4ED7FC4-D288-91EF-728D-C378E8A41AD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7" name="Título 1">
            <a:extLst>
              <a:ext uri="{FF2B5EF4-FFF2-40B4-BE49-F238E27FC236}">
                <a16:creationId xmlns:a16="http://schemas.microsoft.com/office/drawing/2014/main" id="{D1CE687A-9CF8-BC69-B4FD-65C557A5E26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Input-Output framework for AlphaPEM</a:t>
            </a:r>
          </a:p>
        </p:txBody>
      </p:sp>
      <p:grpSp>
        <p:nvGrpSpPr>
          <p:cNvPr id="12" name="Grupo 23">
            <a:extLst>
              <a:ext uri="{FF2B5EF4-FFF2-40B4-BE49-F238E27FC236}">
                <a16:creationId xmlns:a16="http://schemas.microsoft.com/office/drawing/2014/main" id="{77D56640-783A-FB55-0ECA-CBBFCB3DE9FB}"/>
              </a:ext>
            </a:extLst>
          </p:cNvPr>
          <p:cNvGrpSpPr/>
          <p:nvPr/>
        </p:nvGrpSpPr>
        <p:grpSpPr bwMode="auto">
          <a:xfrm>
            <a:off x="1170558" y="1715110"/>
            <a:ext cx="3125900" cy="3995690"/>
            <a:chOff x="468164" y="1181786"/>
            <a:chExt cx="2571833" cy="3469875"/>
          </a:xfrm>
          <a:solidFill>
            <a:srgbClr val="FFC000">
              <a:alpha val="10000"/>
            </a:srgbClr>
          </a:solidFill>
        </p:grpSpPr>
        <p:sp>
          <p:nvSpPr>
            <p:cNvPr id="13" name="Google Shape;1857;p37">
              <a:extLst>
                <a:ext uri="{FF2B5EF4-FFF2-40B4-BE49-F238E27FC236}">
                  <a16:creationId xmlns:a16="http://schemas.microsoft.com/office/drawing/2014/main" id="{E58C1A07-0D36-5179-6A8A-70F2409FCCD5}"/>
                </a:ext>
              </a:extLst>
            </p:cNvPr>
            <p:cNvSpPr/>
            <p:nvPr/>
          </p:nvSpPr>
          <p:spPr bwMode="auto">
            <a:xfrm>
              <a:off x="468165" y="1451261"/>
              <a:ext cx="2509942" cy="3200400"/>
            </a:xfrm>
            <a:prstGeom prst="rect">
              <a:avLst/>
            </a:prstGeom>
            <a:grp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14" name="Google Shape;1859;p37">
              <a:extLst>
                <a:ext uri="{FF2B5EF4-FFF2-40B4-BE49-F238E27FC236}">
                  <a16:creationId xmlns:a16="http://schemas.microsoft.com/office/drawing/2014/main" id="{DBFA5AD9-E689-E232-5E5C-6878542BFBE3}"/>
                </a:ext>
              </a:extLst>
            </p:cNvPr>
            <p:cNvSpPr/>
            <p:nvPr/>
          </p:nvSpPr>
          <p:spPr bwMode="auto">
            <a:xfrm>
              <a:off x="468164" y="1181786"/>
              <a:ext cx="2571833" cy="560700"/>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grpSp>
        <p:nvGrpSpPr>
          <p:cNvPr id="15" name="Google Shape;1862;p37">
            <a:extLst>
              <a:ext uri="{FF2B5EF4-FFF2-40B4-BE49-F238E27FC236}">
                <a16:creationId xmlns:a16="http://schemas.microsoft.com/office/drawing/2014/main" id="{7A4C6183-0548-9423-CC5D-2C7B7224BD57}"/>
              </a:ext>
            </a:extLst>
          </p:cNvPr>
          <p:cNvGrpSpPr/>
          <p:nvPr/>
        </p:nvGrpSpPr>
        <p:grpSpPr bwMode="auto">
          <a:xfrm>
            <a:off x="1340497" y="1829230"/>
            <a:ext cx="2871278" cy="3753316"/>
            <a:chOff x="556110" y="1374967"/>
            <a:chExt cx="2265585" cy="3139982"/>
          </a:xfrm>
        </p:grpSpPr>
        <p:sp>
          <p:nvSpPr>
            <p:cNvPr id="16" name="Google Shape;1863;p37">
              <a:extLst>
                <a:ext uri="{FF2B5EF4-FFF2-40B4-BE49-F238E27FC236}">
                  <a16:creationId xmlns:a16="http://schemas.microsoft.com/office/drawing/2014/main" id="{B5E7E1DD-6D23-C965-78A6-38C61A211A5E}"/>
                </a:ext>
              </a:extLst>
            </p:cNvPr>
            <p:cNvSpPr txBox="1"/>
            <p:nvPr/>
          </p:nvSpPr>
          <p:spPr bwMode="auto">
            <a:xfrm>
              <a:off x="556110" y="1374967"/>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Input features</a:t>
              </a:r>
              <a:endParaRPr sz="2000" b="1" kern="0" dirty="0">
                <a:solidFill>
                  <a:srgbClr val="FFFFFF"/>
                </a:solidFill>
                <a:latin typeface="Fira Sans Extra Condensed"/>
                <a:ea typeface="Fira Sans Extra Condensed"/>
                <a:cs typeface="Fira Sans Extra Condensed"/>
                <a:sym typeface="Arial"/>
              </a:endParaRPr>
            </a:p>
          </p:txBody>
        </p:sp>
        <p:grpSp>
          <p:nvGrpSpPr>
            <p:cNvPr id="17" name="Google Shape;1864;p37">
              <a:extLst>
                <a:ext uri="{FF2B5EF4-FFF2-40B4-BE49-F238E27FC236}">
                  <a16:creationId xmlns:a16="http://schemas.microsoft.com/office/drawing/2014/main" id="{98B2522C-0CD5-6A55-F4F9-CD7FBB454E40}"/>
                </a:ext>
              </a:extLst>
            </p:cNvPr>
            <p:cNvGrpSpPr/>
            <p:nvPr/>
          </p:nvGrpSpPr>
          <p:grpSpPr bwMode="auto">
            <a:xfrm>
              <a:off x="598066" y="1920820"/>
              <a:ext cx="2223629" cy="1158683"/>
              <a:chOff x="604592" y="2248945"/>
              <a:chExt cx="2223629" cy="1158683"/>
            </a:xfrm>
          </p:grpSpPr>
          <p:sp>
            <p:nvSpPr>
              <p:cNvPr id="21" name="Google Shape;1865;p37">
                <a:extLst>
                  <a:ext uri="{FF2B5EF4-FFF2-40B4-BE49-F238E27FC236}">
                    <a16:creationId xmlns:a16="http://schemas.microsoft.com/office/drawing/2014/main" id="{F27FA9A8-4649-E2A7-FF5D-B09DD27DBACE}"/>
                  </a:ext>
                </a:extLst>
              </p:cNvPr>
              <p:cNvSpPr txBox="1"/>
              <p:nvPr/>
            </p:nvSpPr>
            <p:spPr bwMode="auto">
              <a:xfrm>
                <a:off x="695349" y="2248945"/>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Variable (19)</a:t>
                </a:r>
                <a:endParaRPr b="1" kern="0" dirty="0">
                  <a:solidFill>
                    <a:srgbClr val="000000"/>
                  </a:solidFill>
                  <a:latin typeface="Fira Sans Extra Condensed"/>
                  <a:ea typeface="Fira Sans Extra Condensed"/>
                  <a:cs typeface="Fira Sans Extra Condensed"/>
                  <a:sym typeface="Arial"/>
                </a:endParaRPr>
              </a:p>
            </p:txBody>
          </p:sp>
          <p:sp>
            <p:nvSpPr>
              <p:cNvPr id="22" name="Google Shape;1866;p37">
                <a:extLst>
                  <a:ext uri="{FF2B5EF4-FFF2-40B4-BE49-F238E27FC236}">
                    <a16:creationId xmlns:a16="http://schemas.microsoft.com/office/drawing/2014/main" id="{2C0FD058-5D91-C8C0-F65A-C8E6FFC8A9B2}"/>
                  </a:ext>
                </a:extLst>
              </p:cNvPr>
              <p:cNvSpPr txBox="1"/>
              <p:nvPr/>
            </p:nvSpPr>
            <p:spPr bwMode="auto">
              <a:xfrm>
                <a:off x="604592" y="2550901"/>
                <a:ext cx="2223629"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Operating conditions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Undetermined physical parameters (12)</a:t>
                </a:r>
                <a:endParaRPr sz="1600" kern="0" dirty="0">
                  <a:solidFill>
                    <a:srgbClr val="000000"/>
                  </a:solidFill>
                  <a:latin typeface="+mj-lt"/>
                  <a:ea typeface="Roboto"/>
                  <a:cs typeface="Roboto"/>
                  <a:sym typeface="Arial"/>
                </a:endParaRPr>
              </a:p>
            </p:txBody>
          </p:sp>
        </p:grpSp>
        <p:grpSp>
          <p:nvGrpSpPr>
            <p:cNvPr id="18" name="Google Shape;1867;p37">
              <a:extLst>
                <a:ext uri="{FF2B5EF4-FFF2-40B4-BE49-F238E27FC236}">
                  <a16:creationId xmlns:a16="http://schemas.microsoft.com/office/drawing/2014/main" id="{4B5AEA9B-DC63-355E-26F8-8DFBFCC29895}"/>
                </a:ext>
              </a:extLst>
            </p:cNvPr>
            <p:cNvGrpSpPr/>
            <p:nvPr/>
          </p:nvGrpSpPr>
          <p:grpSpPr bwMode="auto">
            <a:xfrm>
              <a:off x="590070" y="3203873"/>
              <a:ext cx="2166680" cy="1311076"/>
              <a:chOff x="596595" y="1892048"/>
              <a:chExt cx="2166680" cy="1311076"/>
            </a:xfrm>
          </p:grpSpPr>
          <p:sp>
            <p:nvSpPr>
              <p:cNvPr id="19" name="Google Shape;1868;p37">
                <a:extLst>
                  <a:ext uri="{FF2B5EF4-FFF2-40B4-BE49-F238E27FC236}">
                    <a16:creationId xmlns:a16="http://schemas.microsoft.com/office/drawing/2014/main" id="{3996637E-8C04-44FC-1212-4BCE9DCD3935}"/>
                  </a:ext>
                </a:extLst>
              </p:cNvPr>
              <p:cNvSpPr txBox="1"/>
              <p:nvPr/>
            </p:nvSpPr>
            <p:spPr bwMode="auto">
              <a:xfrm>
                <a:off x="648875" y="1892048"/>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Fixed (14)</a:t>
                </a:r>
                <a:endParaRPr b="1" kern="0" dirty="0">
                  <a:solidFill>
                    <a:srgbClr val="000000"/>
                  </a:solidFill>
                  <a:latin typeface="Fira Sans Extra Condensed"/>
                  <a:ea typeface="Fira Sans Extra Condensed"/>
                  <a:cs typeface="Fira Sans Extra Condensed"/>
                  <a:sym typeface="Arial"/>
                </a:endParaRPr>
              </a:p>
            </p:txBody>
          </p:sp>
          <p:sp>
            <p:nvSpPr>
              <p:cNvPr id="20" name="Google Shape;1869;p37">
                <a:extLst>
                  <a:ext uri="{FF2B5EF4-FFF2-40B4-BE49-F238E27FC236}">
                    <a16:creationId xmlns:a16="http://schemas.microsoft.com/office/drawing/2014/main" id="{6570ED8F-8FB0-76B7-7EE4-59FA3848DD41}"/>
                  </a:ext>
                </a:extLst>
              </p:cNvPr>
              <p:cNvSpPr txBox="1"/>
              <p:nvPr/>
            </p:nvSpPr>
            <p:spPr bwMode="auto">
              <a:xfrm>
                <a:off x="596595" y="2133344"/>
                <a:ext cx="209899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Accesible physical parameters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Current density parameters (7)</a:t>
                </a:r>
                <a:endParaRPr lang="es-CO" sz="1600" kern="0" dirty="0">
                  <a:solidFill>
                    <a:srgbClr val="000000"/>
                  </a:solidFill>
                  <a:latin typeface="+mj-lt"/>
                  <a:ea typeface="Roboto"/>
                  <a:cs typeface="Roboto"/>
                  <a:sym typeface="Arial"/>
                </a:endParaRPr>
              </a:p>
            </p:txBody>
          </p:sp>
        </p:grpSp>
      </p:grpSp>
      <p:sp>
        <p:nvSpPr>
          <p:cNvPr id="30" name="Abrir llave 25">
            <a:extLst>
              <a:ext uri="{FF2B5EF4-FFF2-40B4-BE49-F238E27FC236}">
                <a16:creationId xmlns:a16="http://schemas.microsoft.com/office/drawing/2014/main" id="{366BA0B6-F287-E424-57CC-57E897FE1E55}"/>
              </a:ext>
            </a:extLst>
          </p:cNvPr>
          <p:cNvSpPr/>
          <p:nvPr/>
        </p:nvSpPr>
        <p:spPr bwMode="auto">
          <a:xfrm>
            <a:off x="1069040" y="2564143"/>
            <a:ext cx="369802" cy="1214365"/>
          </a:xfrm>
          <a:prstGeom prst="leftBrace">
            <a:avLst>
              <a:gd name="adj1" fmla="val 8333"/>
              <a:gd name="adj2" fmla="val 50000"/>
            </a:avLst>
          </a:prstGeom>
          <a:noFill/>
          <a:ln>
            <a:solidFill>
              <a:schemeClr val="accent2">
                <a:lumMod val="50000"/>
              </a:schemeClr>
            </a:solidFill>
          </a:ln>
        </p:spPr>
        <p:style>
          <a:lnRef idx="2">
            <a:schemeClr val="dk1"/>
          </a:lnRef>
          <a:fillRef idx="0">
            <a:schemeClr val="dk1"/>
          </a:fillRef>
          <a:effectRef idx="1">
            <a:schemeClr val="dk1"/>
          </a:effectRef>
          <a:fontRef idx="minor">
            <a:schemeClr val="tx1"/>
          </a:fontRef>
        </p:style>
        <p:txBody>
          <a:bodyPr rtlCol="0" anchor="ctr"/>
          <a:lstStyle/>
          <a:p>
            <a:pPr algn="ctr" defTabSz="1219140">
              <a:buClr>
                <a:srgbClr val="000000"/>
              </a:buClr>
              <a:defRPr/>
            </a:pPr>
            <a:endParaRPr lang="de-DE" kern="0">
              <a:solidFill>
                <a:srgbClr val="000000"/>
              </a:solidFill>
              <a:latin typeface="Arial"/>
              <a:sym typeface="Arial"/>
            </a:endParaRPr>
          </a:p>
        </p:txBody>
      </p:sp>
      <p:grpSp>
        <p:nvGrpSpPr>
          <p:cNvPr id="69" name="Grupo 68">
            <a:extLst>
              <a:ext uri="{FF2B5EF4-FFF2-40B4-BE49-F238E27FC236}">
                <a16:creationId xmlns:a16="http://schemas.microsoft.com/office/drawing/2014/main" id="{CA1BCA7B-9F9C-13C7-F2BE-F7D427E1B062}"/>
              </a:ext>
            </a:extLst>
          </p:cNvPr>
          <p:cNvGrpSpPr/>
          <p:nvPr/>
        </p:nvGrpSpPr>
        <p:grpSpPr>
          <a:xfrm>
            <a:off x="4381811" y="1658057"/>
            <a:ext cx="3558001" cy="3844172"/>
            <a:chOff x="4355041" y="1649147"/>
            <a:chExt cx="3928981" cy="4229960"/>
          </a:xfrm>
        </p:grpSpPr>
        <p:grpSp>
          <p:nvGrpSpPr>
            <p:cNvPr id="32" name="Grupo 39">
              <a:extLst>
                <a:ext uri="{FF2B5EF4-FFF2-40B4-BE49-F238E27FC236}">
                  <a16:creationId xmlns:a16="http://schemas.microsoft.com/office/drawing/2014/main" id="{03F462C0-9D55-5F36-7B36-3DCCB4B2F978}"/>
                </a:ext>
              </a:extLst>
            </p:cNvPr>
            <p:cNvGrpSpPr/>
            <p:nvPr/>
          </p:nvGrpSpPr>
          <p:grpSpPr bwMode="auto">
            <a:xfrm>
              <a:off x="4355041" y="1649147"/>
              <a:ext cx="3928981" cy="4229960"/>
              <a:chOff x="3718053" y="1350067"/>
              <a:chExt cx="4687667" cy="5186281"/>
            </a:xfrm>
          </p:grpSpPr>
          <p:sp>
            <p:nvSpPr>
              <p:cNvPr id="33" name="Google Shape;530;p20">
                <a:extLst>
                  <a:ext uri="{FF2B5EF4-FFF2-40B4-BE49-F238E27FC236}">
                    <a16:creationId xmlns:a16="http://schemas.microsoft.com/office/drawing/2014/main" id="{31F3468D-A8A8-4EBC-35BE-022C6308B08A}"/>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4" name="Google Shape;531;p20">
                <a:extLst>
                  <a:ext uri="{FF2B5EF4-FFF2-40B4-BE49-F238E27FC236}">
                    <a16:creationId xmlns:a16="http://schemas.microsoft.com/office/drawing/2014/main" id="{110FEF52-DE9F-29B1-C6FD-E4399DE5885A}"/>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5" name="Google Shape;532;p20">
                <a:extLst>
                  <a:ext uri="{FF2B5EF4-FFF2-40B4-BE49-F238E27FC236}">
                    <a16:creationId xmlns:a16="http://schemas.microsoft.com/office/drawing/2014/main" id="{3BE9D48E-D157-E5B8-7408-82CF05071A0C}"/>
                  </a:ext>
                </a:extLst>
              </p:cNvPr>
              <p:cNvSpPr/>
              <p:nvPr/>
            </p:nvSpPr>
            <p:spPr bwMode="auto">
              <a:xfrm>
                <a:off x="4686137" y="2458993"/>
                <a:ext cx="2833738" cy="4077355"/>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36" name="Google Shape;533;p20">
                <a:extLst>
                  <a:ext uri="{FF2B5EF4-FFF2-40B4-BE49-F238E27FC236}">
                    <a16:creationId xmlns:a16="http://schemas.microsoft.com/office/drawing/2014/main" id="{7DAAD90E-3CB1-2F11-CDF2-E189DB37C62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7" name="Google Shape;534;p20">
                <a:extLst>
                  <a:ext uri="{FF2B5EF4-FFF2-40B4-BE49-F238E27FC236}">
                    <a16:creationId xmlns:a16="http://schemas.microsoft.com/office/drawing/2014/main" id="{CA97ACAB-2D7C-6300-D208-E5550812897B}"/>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8" name="Google Shape;535;p20">
                <a:extLst>
                  <a:ext uri="{FF2B5EF4-FFF2-40B4-BE49-F238E27FC236}">
                    <a16:creationId xmlns:a16="http://schemas.microsoft.com/office/drawing/2014/main" id="{3309C931-D5B9-E94A-F8D3-E60C4BF47DF8}"/>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9" name="Google Shape;536;p20">
                <a:extLst>
                  <a:ext uri="{FF2B5EF4-FFF2-40B4-BE49-F238E27FC236}">
                    <a16:creationId xmlns:a16="http://schemas.microsoft.com/office/drawing/2014/main" id="{1420C1FA-581C-19D8-283E-FC710583E684}"/>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0" name="Google Shape;537;p20">
                <a:extLst>
                  <a:ext uri="{FF2B5EF4-FFF2-40B4-BE49-F238E27FC236}">
                    <a16:creationId xmlns:a16="http://schemas.microsoft.com/office/drawing/2014/main" id="{250000C4-7204-CE71-F1EF-AE365E53CCF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1" name="Google Shape;538;p20">
                <a:extLst>
                  <a:ext uri="{FF2B5EF4-FFF2-40B4-BE49-F238E27FC236}">
                    <a16:creationId xmlns:a16="http://schemas.microsoft.com/office/drawing/2014/main" id="{E37448F4-3745-D520-C895-D7BAD08A6D68}"/>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2" name="Google Shape;539;p20">
                <a:extLst>
                  <a:ext uri="{FF2B5EF4-FFF2-40B4-BE49-F238E27FC236}">
                    <a16:creationId xmlns:a16="http://schemas.microsoft.com/office/drawing/2014/main" id="{1046804A-AEDD-6C50-1077-0D6FD6CD44E9}"/>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3" name="Google Shape;540;p20">
                <a:extLst>
                  <a:ext uri="{FF2B5EF4-FFF2-40B4-BE49-F238E27FC236}">
                    <a16:creationId xmlns:a16="http://schemas.microsoft.com/office/drawing/2014/main" id="{D00155CD-977E-3F67-AFA8-28C5DEEF14DB}"/>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4" name="Google Shape;541;p20">
                <a:extLst>
                  <a:ext uri="{FF2B5EF4-FFF2-40B4-BE49-F238E27FC236}">
                    <a16:creationId xmlns:a16="http://schemas.microsoft.com/office/drawing/2014/main" id="{8BEAD275-BD80-5AD8-8DEA-6A87212F130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5" name="Google Shape;542;p20">
                <a:extLst>
                  <a:ext uri="{FF2B5EF4-FFF2-40B4-BE49-F238E27FC236}">
                    <a16:creationId xmlns:a16="http://schemas.microsoft.com/office/drawing/2014/main" id="{DA48F57A-884F-CD90-B411-18478C444A69}"/>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43;p20">
                <a:extLst>
                  <a:ext uri="{FF2B5EF4-FFF2-40B4-BE49-F238E27FC236}">
                    <a16:creationId xmlns:a16="http://schemas.microsoft.com/office/drawing/2014/main" id="{536ECA6C-2AF9-4E41-96D1-E822BEF09CE8}"/>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44;p20">
                <a:extLst>
                  <a:ext uri="{FF2B5EF4-FFF2-40B4-BE49-F238E27FC236}">
                    <a16:creationId xmlns:a16="http://schemas.microsoft.com/office/drawing/2014/main" id="{F87EFBD2-2651-03CC-CEDB-0E8724529D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45;p20">
                <a:extLst>
                  <a:ext uri="{FF2B5EF4-FFF2-40B4-BE49-F238E27FC236}">
                    <a16:creationId xmlns:a16="http://schemas.microsoft.com/office/drawing/2014/main" id="{2A111CF6-854F-E4A0-6C4A-331102E99E03}"/>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46;p20">
                <a:extLst>
                  <a:ext uri="{FF2B5EF4-FFF2-40B4-BE49-F238E27FC236}">
                    <a16:creationId xmlns:a16="http://schemas.microsoft.com/office/drawing/2014/main" id="{CB470F4F-D061-0EF3-B5C0-A68D19DF630B}"/>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47;p20">
                <a:extLst>
                  <a:ext uri="{FF2B5EF4-FFF2-40B4-BE49-F238E27FC236}">
                    <a16:creationId xmlns:a16="http://schemas.microsoft.com/office/drawing/2014/main" id="{9449D5B0-7DF9-8E1F-EC56-9D6116503EA2}"/>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48;p20">
                <a:extLst>
                  <a:ext uri="{FF2B5EF4-FFF2-40B4-BE49-F238E27FC236}">
                    <a16:creationId xmlns:a16="http://schemas.microsoft.com/office/drawing/2014/main" id="{DB5F65A7-CA82-6783-3973-DC093C9AA6DE}"/>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9;p20">
                <a:extLst>
                  <a:ext uri="{FF2B5EF4-FFF2-40B4-BE49-F238E27FC236}">
                    <a16:creationId xmlns:a16="http://schemas.microsoft.com/office/drawing/2014/main" id="{E31679A3-B566-345B-4415-F8A1593B6162}"/>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50;p20">
                <a:extLst>
                  <a:ext uri="{FF2B5EF4-FFF2-40B4-BE49-F238E27FC236}">
                    <a16:creationId xmlns:a16="http://schemas.microsoft.com/office/drawing/2014/main" id="{1BD1A7A7-8A87-9627-F551-94F05C8CF72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51;p20">
                <a:extLst>
                  <a:ext uri="{FF2B5EF4-FFF2-40B4-BE49-F238E27FC236}">
                    <a16:creationId xmlns:a16="http://schemas.microsoft.com/office/drawing/2014/main" id="{C2C108BA-6FB9-54BA-16DE-CDCCABCF0874}"/>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52;p20">
                <a:extLst>
                  <a:ext uri="{FF2B5EF4-FFF2-40B4-BE49-F238E27FC236}">
                    <a16:creationId xmlns:a16="http://schemas.microsoft.com/office/drawing/2014/main" id="{2E3A7BA6-3A9D-A49B-E06D-2ED2786BAA43}"/>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53;p20">
                <a:extLst>
                  <a:ext uri="{FF2B5EF4-FFF2-40B4-BE49-F238E27FC236}">
                    <a16:creationId xmlns:a16="http://schemas.microsoft.com/office/drawing/2014/main" id="{4B5A8B52-EF8D-55BE-839A-61A09A071C6D}"/>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54;p20">
                <a:extLst>
                  <a:ext uri="{FF2B5EF4-FFF2-40B4-BE49-F238E27FC236}">
                    <a16:creationId xmlns:a16="http://schemas.microsoft.com/office/drawing/2014/main" id="{B14910AA-3EC6-6614-2210-1942B20FF5E6}"/>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55;p20">
                <a:extLst>
                  <a:ext uri="{FF2B5EF4-FFF2-40B4-BE49-F238E27FC236}">
                    <a16:creationId xmlns:a16="http://schemas.microsoft.com/office/drawing/2014/main" id="{E7C55B27-2F25-B565-7B53-F96BEDBFC9C1}"/>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56;p20">
                <a:extLst>
                  <a:ext uri="{FF2B5EF4-FFF2-40B4-BE49-F238E27FC236}">
                    <a16:creationId xmlns:a16="http://schemas.microsoft.com/office/drawing/2014/main" id="{93734FCE-8BAB-8A0B-D7A1-4623D12AD984}"/>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57;p20">
                <a:extLst>
                  <a:ext uri="{FF2B5EF4-FFF2-40B4-BE49-F238E27FC236}">
                    <a16:creationId xmlns:a16="http://schemas.microsoft.com/office/drawing/2014/main" id="{ADAE87B4-8A71-B270-B3A0-C62D6EA9AB2B}"/>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58;p20">
                <a:extLst>
                  <a:ext uri="{FF2B5EF4-FFF2-40B4-BE49-F238E27FC236}">
                    <a16:creationId xmlns:a16="http://schemas.microsoft.com/office/drawing/2014/main" id="{1CBE9ACA-2F41-CBD5-02AA-91EBA71D8F50}"/>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9;p20">
                <a:extLst>
                  <a:ext uri="{FF2B5EF4-FFF2-40B4-BE49-F238E27FC236}">
                    <a16:creationId xmlns:a16="http://schemas.microsoft.com/office/drawing/2014/main" id="{7A3E7F8A-30D1-2366-0102-E9D7DEF00CD8}"/>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60;p20">
                <a:extLst>
                  <a:ext uri="{FF2B5EF4-FFF2-40B4-BE49-F238E27FC236}">
                    <a16:creationId xmlns:a16="http://schemas.microsoft.com/office/drawing/2014/main" id="{C43CD252-DBBE-5471-69E8-E5F6345435D7}"/>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64" name="Google Shape;561;p20">
                <a:extLst>
                  <a:ext uri="{FF2B5EF4-FFF2-40B4-BE49-F238E27FC236}">
                    <a16:creationId xmlns:a16="http://schemas.microsoft.com/office/drawing/2014/main" id="{6C4D9D9A-78BE-055D-C1EB-075FFDAD742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65" name="Google Shape;562;p20">
                <a:extLst>
                  <a:ext uri="{FF2B5EF4-FFF2-40B4-BE49-F238E27FC236}">
                    <a16:creationId xmlns:a16="http://schemas.microsoft.com/office/drawing/2014/main" id="{492A939B-3C94-AB55-3DC1-0077AEC8C7F6}"/>
                  </a:ext>
                </a:extLst>
              </p:cNvPr>
              <p:cNvGrpSpPr/>
              <p:nvPr/>
            </p:nvGrpSpPr>
            <p:grpSpPr bwMode="auto">
              <a:xfrm>
                <a:off x="5778262" y="4811510"/>
                <a:ext cx="629523" cy="629483"/>
                <a:chOff x="-44512325" y="3176075"/>
                <a:chExt cx="300899" cy="300899"/>
              </a:xfrm>
            </p:grpSpPr>
            <p:sp>
              <p:nvSpPr>
                <p:cNvPr id="66" name="Google Shape;563;p20">
                  <a:extLst>
                    <a:ext uri="{FF2B5EF4-FFF2-40B4-BE49-F238E27FC236}">
                      <a16:creationId xmlns:a16="http://schemas.microsoft.com/office/drawing/2014/main" id="{2CFE5ABF-4C47-FEC8-5812-668ACBD0824B}"/>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64;p20">
                  <a:extLst>
                    <a:ext uri="{FF2B5EF4-FFF2-40B4-BE49-F238E27FC236}">
                      <a16:creationId xmlns:a16="http://schemas.microsoft.com/office/drawing/2014/main" id="{F75512E6-F20F-24C6-FF8D-ED9DC983537E}"/>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65;p20">
                  <a:extLst>
                    <a:ext uri="{FF2B5EF4-FFF2-40B4-BE49-F238E27FC236}">
                      <a16:creationId xmlns:a16="http://schemas.microsoft.com/office/drawing/2014/main" id="{5DF9C20C-C777-1888-D200-E430D46F71EC}"/>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9" name="Google Shape;526;p20">
              <a:extLst>
                <a:ext uri="{FF2B5EF4-FFF2-40B4-BE49-F238E27FC236}">
                  <a16:creationId xmlns:a16="http://schemas.microsoft.com/office/drawing/2014/main" id="{32AF8BD3-1118-9500-DA63-57638B52AEF8}"/>
                </a:ext>
              </a:extLst>
            </p:cNvPr>
            <p:cNvGrpSpPr/>
            <p:nvPr/>
          </p:nvGrpSpPr>
          <p:grpSpPr bwMode="auto">
            <a:xfrm>
              <a:off x="5202417" y="2867781"/>
              <a:ext cx="2312800" cy="1314934"/>
              <a:chOff x="3704250" y="2113000"/>
              <a:chExt cx="1734599" cy="986201"/>
            </a:xfrm>
          </p:grpSpPr>
          <p:sp>
            <p:nvSpPr>
              <p:cNvPr id="10" name="Google Shape;527;p20">
                <a:extLst>
                  <a:ext uri="{FF2B5EF4-FFF2-40B4-BE49-F238E27FC236}">
                    <a16:creationId xmlns:a16="http://schemas.microsoft.com/office/drawing/2014/main" id="{F03ECE4F-9BC5-8A5D-2CD5-75C85FB65D7A}"/>
                  </a:ext>
                </a:extLst>
              </p:cNvPr>
              <p:cNvSpPr txBox="1"/>
              <p:nvPr/>
            </p:nvSpPr>
            <p:spPr bwMode="auto">
              <a:xfrm>
                <a:off x="3704250" y="2113000"/>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1" name="Google Shape;528;p20">
                <a:extLst>
                  <a:ext uri="{FF2B5EF4-FFF2-40B4-BE49-F238E27FC236}">
                    <a16:creationId xmlns:a16="http://schemas.microsoft.com/office/drawing/2014/main" id="{35BDE143-5DDD-8DBD-4F8D-336D46CF79DC}"/>
                  </a:ext>
                </a:extLst>
              </p:cNvPr>
              <p:cNvSpPr txBox="1"/>
              <p:nvPr/>
            </p:nvSpPr>
            <p:spPr bwMode="auto">
              <a:xfrm>
                <a:off x="3809199" y="2494689"/>
                <a:ext cx="1537560" cy="604512"/>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mj-lt"/>
                    <a:ea typeface="Roboto"/>
                    <a:cs typeface="Roboto"/>
                    <a:sym typeface="Arial"/>
                  </a:rPr>
                  <a:t>Black-box, complex simulator</a:t>
                </a:r>
                <a:endParaRPr sz="1851" kern="0" dirty="0">
                  <a:solidFill>
                    <a:srgbClr val="000000"/>
                  </a:solidFill>
                  <a:latin typeface="+mj-lt"/>
                  <a:ea typeface="Roboto"/>
                  <a:cs typeface="Roboto"/>
                  <a:sym typeface="Arial"/>
                </a:endParaRPr>
              </a:p>
            </p:txBody>
          </p:sp>
        </p:grpSp>
      </p:grpSp>
      <p:grpSp>
        <p:nvGrpSpPr>
          <p:cNvPr id="70" name="Grupo 23">
            <a:extLst>
              <a:ext uri="{FF2B5EF4-FFF2-40B4-BE49-F238E27FC236}">
                <a16:creationId xmlns:a16="http://schemas.microsoft.com/office/drawing/2014/main" id="{9487E06E-2AF2-64DB-D986-A99EC95F5091}"/>
              </a:ext>
            </a:extLst>
          </p:cNvPr>
          <p:cNvGrpSpPr/>
          <p:nvPr/>
        </p:nvGrpSpPr>
        <p:grpSpPr bwMode="auto">
          <a:xfrm>
            <a:off x="8325814" y="1715111"/>
            <a:ext cx="3125900" cy="3995690"/>
            <a:chOff x="468164" y="1181786"/>
            <a:chExt cx="2571833" cy="3469875"/>
          </a:xfrm>
        </p:grpSpPr>
        <p:sp>
          <p:nvSpPr>
            <p:cNvPr id="71" name="Google Shape;1857;p37">
              <a:extLst>
                <a:ext uri="{FF2B5EF4-FFF2-40B4-BE49-F238E27FC236}">
                  <a16:creationId xmlns:a16="http://schemas.microsoft.com/office/drawing/2014/main" id="{AA1FFD77-B532-F313-0FF8-7E957A569B71}"/>
                </a:ext>
              </a:extLst>
            </p:cNvPr>
            <p:cNvSpPr/>
            <p:nvPr/>
          </p:nvSpPr>
          <p:spPr bwMode="auto">
            <a:xfrm>
              <a:off x="468165" y="1451261"/>
              <a:ext cx="2509942" cy="3200400"/>
            </a:xfrm>
            <a:prstGeom prst="rect">
              <a:avLst/>
            </a:prstGeom>
            <a:solidFill>
              <a:srgbClr val="8879F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72" name="Google Shape;1859;p37">
              <a:extLst>
                <a:ext uri="{FF2B5EF4-FFF2-40B4-BE49-F238E27FC236}">
                  <a16:creationId xmlns:a16="http://schemas.microsoft.com/office/drawing/2014/main" id="{E2A1A92A-3961-28F0-EC57-F2E359619491}"/>
                </a:ext>
              </a:extLst>
            </p:cNvPr>
            <p:cNvSpPr/>
            <p:nvPr/>
          </p:nvSpPr>
          <p:spPr bwMode="auto">
            <a:xfrm>
              <a:off x="468164" y="1181786"/>
              <a:ext cx="2571833" cy="560700"/>
            </a:xfrm>
            <a:prstGeom prst="roundRect">
              <a:avLst>
                <a:gd name="adj" fmla="val 50000"/>
              </a:avLst>
            </a:prstGeom>
            <a:solidFill>
              <a:srgbClr val="8879F5"/>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sp>
        <p:nvSpPr>
          <p:cNvPr id="74" name="Google Shape;1863;p37">
            <a:extLst>
              <a:ext uri="{FF2B5EF4-FFF2-40B4-BE49-F238E27FC236}">
                <a16:creationId xmlns:a16="http://schemas.microsoft.com/office/drawing/2014/main" id="{CE86E354-56ED-885E-A42A-06A3D93CDFD0}"/>
              </a:ext>
            </a:extLst>
          </p:cNvPr>
          <p:cNvSpPr txBox="1"/>
          <p:nvPr/>
        </p:nvSpPr>
        <p:spPr bwMode="auto">
          <a:xfrm>
            <a:off x="8598938" y="1886108"/>
            <a:ext cx="2629663"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Functional output</a:t>
            </a:r>
            <a:endParaRPr sz="2000" b="1" kern="0" dirty="0">
              <a:solidFill>
                <a:srgbClr val="FFFFFF"/>
              </a:solidFill>
              <a:latin typeface="Fira Sans Extra Condensed"/>
              <a:ea typeface="Fira Sans Extra Condensed"/>
              <a:cs typeface="Fira Sans Extra Condensed"/>
              <a:sym typeface="Arial"/>
            </a:endParaRPr>
          </a:p>
        </p:txBody>
      </p:sp>
      <p:pic>
        <p:nvPicPr>
          <p:cNvPr id="81" name="Picture 2" descr="Polarization curve of a PEM fuel cell; additional information in [35]. V* = Voltage loss caused by mixed potential and crossover.">
            <a:extLst>
              <a:ext uri="{FF2B5EF4-FFF2-40B4-BE49-F238E27FC236}">
                <a16:creationId xmlns:a16="http://schemas.microsoft.com/office/drawing/2014/main" id="{EA3EC5EA-AF07-6B9C-0000-C9CA40B00268}"/>
              </a:ext>
            </a:extLst>
          </p:cNvPr>
          <p:cNvPicPr>
            <a:picLocks noChangeAspect="1" noChangeArrowheads="1"/>
          </p:cNvPicPr>
          <p:nvPr/>
        </p:nvPicPr>
        <p:blipFill>
          <a:blip r:embed="rId3"/>
          <a:stretch/>
        </p:blipFill>
        <p:spPr bwMode="auto">
          <a:xfrm>
            <a:off x="8578743" y="2490656"/>
            <a:ext cx="2544217" cy="1999455"/>
          </a:xfrm>
          <a:prstGeom prst="rect">
            <a:avLst/>
          </a:prstGeom>
          <a:noFill/>
        </p:spPr>
      </p:pic>
      <p:sp>
        <p:nvSpPr>
          <p:cNvPr id="82" name="Google Shape;1877;p37">
            <a:extLst>
              <a:ext uri="{FF2B5EF4-FFF2-40B4-BE49-F238E27FC236}">
                <a16:creationId xmlns:a16="http://schemas.microsoft.com/office/drawing/2014/main" id="{091959DC-A267-1C49-1493-3531A8E0F44C}"/>
              </a:ext>
            </a:extLst>
          </p:cNvPr>
          <p:cNvSpPr txBox="1"/>
          <p:nvPr/>
        </p:nvSpPr>
        <p:spPr bwMode="auto">
          <a:xfrm>
            <a:off x="8510359" y="4739283"/>
            <a:ext cx="2756809" cy="667774"/>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mj-lt"/>
                <a:ea typeface="Source Sans Pro" panose="020B0503030403020204" pitchFamily="34" charset="0"/>
                <a:sym typeface="Arial"/>
              </a:rPr>
              <a:t>Evaluates performance under different loads and operating conditions</a:t>
            </a:r>
            <a:endParaRPr sz="1600" dirty="0">
              <a:latin typeface="+mj-lt"/>
              <a:ea typeface="Source Sans Pro" panose="020B0503030403020204" pitchFamily="34" charset="0"/>
              <a:sym typeface="Arial"/>
            </a:endParaRPr>
          </a:p>
        </p:txBody>
      </p:sp>
      <p:sp>
        <p:nvSpPr>
          <p:cNvPr id="83" name="Google Shape;1868;p37">
            <a:extLst>
              <a:ext uri="{FF2B5EF4-FFF2-40B4-BE49-F238E27FC236}">
                <a16:creationId xmlns:a16="http://schemas.microsoft.com/office/drawing/2014/main" id="{5AB216EF-C839-72C5-A5CC-C17F7A6B974D}"/>
              </a:ext>
            </a:extLst>
          </p:cNvPr>
          <p:cNvSpPr txBox="1"/>
          <p:nvPr/>
        </p:nvSpPr>
        <p:spPr bwMode="auto">
          <a:xfrm>
            <a:off x="8753336" y="4492025"/>
            <a:ext cx="2320865"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b="1" kern="0" dirty="0">
                <a:solidFill>
                  <a:srgbClr val="000000"/>
                </a:solidFill>
                <a:latin typeface="Fira Sans Extra Condensed"/>
                <a:ea typeface="Fira Sans Extra Condensed"/>
                <a:cs typeface="Fira Sans Extra Condensed"/>
                <a:sym typeface="Arial"/>
              </a:rPr>
              <a:t>Polarization curve (PC)</a:t>
            </a:r>
            <a:endParaRPr b="1" kern="0" dirty="0">
              <a:solidFill>
                <a:srgbClr val="000000"/>
              </a:solidFill>
              <a:latin typeface="Fira Sans Extra Condensed"/>
              <a:ea typeface="Fira Sans Extra Condensed"/>
              <a:cs typeface="Fira Sans Extra Condensed"/>
              <a:sym typeface="Arial"/>
            </a:endParaRPr>
          </a:p>
        </p:txBody>
      </p:sp>
      <p:sp>
        <p:nvSpPr>
          <p:cNvPr id="84" name="Google Shape;1869;p37">
            <a:extLst>
              <a:ext uri="{FF2B5EF4-FFF2-40B4-BE49-F238E27FC236}">
                <a16:creationId xmlns:a16="http://schemas.microsoft.com/office/drawing/2014/main" id="{875A3201-068B-6E11-7819-F54451120C48}"/>
              </a:ext>
            </a:extLst>
          </p:cNvPr>
          <p:cNvSpPr txBox="1"/>
          <p:nvPr/>
        </p:nvSpPr>
        <p:spPr bwMode="auto">
          <a:xfrm rot="16199999">
            <a:off x="-599878" y="2815089"/>
            <a:ext cx="2800864" cy="517327"/>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mj-lt"/>
                <a:ea typeface="Roboto"/>
                <a:cs typeface="Roboto"/>
                <a:sym typeface="Arial"/>
              </a:rPr>
              <a:t>Sensitivity</a:t>
            </a:r>
            <a:r>
              <a:rPr lang="es-MX" sz="1851" kern="0" dirty="0">
                <a:solidFill>
                  <a:srgbClr val="000000"/>
                </a:solidFill>
                <a:latin typeface="+mj-lt"/>
                <a:ea typeface="Roboto"/>
                <a:cs typeface="Roboto"/>
                <a:sym typeface="Arial"/>
              </a:rPr>
              <a:t> </a:t>
            </a:r>
            <a:r>
              <a:rPr lang="es-MX" sz="1851" kern="0" dirty="0" err="1">
                <a:solidFill>
                  <a:srgbClr val="000000"/>
                </a:solidFill>
                <a:latin typeface="+mj-lt"/>
                <a:ea typeface="Roboto"/>
                <a:cs typeface="Roboto"/>
                <a:sym typeface="Arial"/>
              </a:rPr>
              <a:t>analysis</a:t>
            </a:r>
            <a:endParaRPr sz="1851" kern="0" dirty="0">
              <a:solidFill>
                <a:srgbClr val="000000"/>
              </a:solidFill>
              <a:latin typeface="+mj-lt"/>
              <a:ea typeface="Roboto"/>
              <a:cs typeface="Roboto"/>
              <a:sym typeface="Arial"/>
            </a:endParaRPr>
          </a:p>
        </p:txBody>
      </p:sp>
      <p:sp>
        <p:nvSpPr>
          <p:cNvPr id="85" name="CuadroTexto 84">
            <a:extLst>
              <a:ext uri="{FF2B5EF4-FFF2-40B4-BE49-F238E27FC236}">
                <a16:creationId xmlns:a16="http://schemas.microsoft.com/office/drawing/2014/main" id="{6892B67B-5B54-F152-43DB-F16BC0CC847F}"/>
              </a:ext>
            </a:extLst>
          </p:cNvPr>
          <p:cNvSpPr txBox="1"/>
          <p:nvPr/>
        </p:nvSpPr>
        <p:spPr>
          <a:xfrm>
            <a:off x="1253940" y="5895403"/>
            <a:ext cx="10197773" cy="538609"/>
          </a:xfrm>
          <a:prstGeom prst="rect">
            <a:avLst/>
          </a:prstGeom>
          <a:noFill/>
        </p:spPr>
        <p:txBody>
          <a:bodyPr wrap="square" rtlCol="0">
            <a:spAutoFit/>
          </a:bodyPr>
          <a:lstStyle/>
          <a:p>
            <a:r>
              <a:rPr lang="en" sz="1450" b="1" dirty="0">
                <a:latin typeface="+mj-lt"/>
                <a:ea typeface="Source Sans Pro" panose="020B0503030403020204" pitchFamily="34" charset="0"/>
              </a:rPr>
              <a:t>Figure 2: </a:t>
            </a:r>
            <a:r>
              <a:rPr lang="en-US" sz="1450" dirty="0" err="1">
                <a:latin typeface="+mj-lt"/>
              </a:rPr>
              <a:t>AlphaPEM</a:t>
            </a:r>
            <a:r>
              <a:rPr lang="en-US" sz="1450" dirty="0">
                <a:latin typeface="+mj-lt"/>
              </a:rPr>
              <a:t> is a “black-box” simulator that maps a given </a:t>
            </a:r>
            <a:r>
              <a:rPr lang="en-US" sz="1450" b="1" dirty="0">
                <a:solidFill>
                  <a:srgbClr val="008B2E"/>
                </a:solidFill>
                <a:latin typeface="+mj-lt"/>
              </a:rPr>
              <a:t>configuration </a:t>
            </a:r>
            <a:r>
              <a:rPr lang="en-US" sz="1450" dirty="0">
                <a:latin typeface="+mj-lt"/>
              </a:rPr>
              <a:t>(a combination of physical parameters and operating conditions) to a </a:t>
            </a:r>
            <a:r>
              <a:rPr lang="en-US" sz="1450" b="1" dirty="0">
                <a:solidFill>
                  <a:srgbClr val="008B2E"/>
                </a:solidFill>
                <a:latin typeface="+mj-lt"/>
              </a:rPr>
              <a:t>polarization curve</a:t>
            </a:r>
            <a:r>
              <a:rPr lang="en-US" sz="1450" dirty="0">
                <a:latin typeface="+mj-lt"/>
              </a:rPr>
              <a:t>, characterizing fuel cell performance. </a:t>
            </a:r>
            <a:endParaRPr lang="en" sz="1450" dirty="0">
              <a:latin typeface="+mj-lt"/>
              <a:ea typeface="Source Sans Pro" panose="020B0503030403020204" pitchFamily="34" charset="0"/>
            </a:endParaRPr>
          </a:p>
        </p:txBody>
      </p:sp>
    </p:spTree>
    <p:extLst>
      <p:ext uri="{BB962C8B-B14F-4D97-AF65-F5344CB8AC3E}">
        <p14:creationId xmlns:p14="http://schemas.microsoft.com/office/powerpoint/2010/main" val="1703116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7</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grpSp>
        <p:nvGrpSpPr>
          <p:cNvPr id="38" name="Grupo 37">
            <a:extLst>
              <a:ext uri="{FF2B5EF4-FFF2-40B4-BE49-F238E27FC236}">
                <a16:creationId xmlns:a16="http://schemas.microsoft.com/office/drawing/2014/main" id="{D2E8C553-C495-4F37-92CF-51CF804E79D5}"/>
              </a:ext>
            </a:extLst>
          </p:cNvPr>
          <p:cNvGrpSpPr>
            <a:grpSpLocks noChangeAspect="1"/>
          </p:cNvGrpSpPr>
          <p:nvPr/>
        </p:nvGrpSpPr>
        <p:grpSpPr>
          <a:xfrm>
            <a:off x="-2066038" y="7415697"/>
            <a:ext cx="5101559" cy="3600000"/>
            <a:chOff x="7396516" y="2023187"/>
            <a:chExt cx="4795484" cy="3384013"/>
          </a:xfrm>
        </p:grpSpPr>
        <p:cxnSp>
          <p:nvCxnSpPr>
            <p:cNvPr id="36" name="Conector recto 35">
              <a:extLst>
                <a:ext uri="{FF2B5EF4-FFF2-40B4-BE49-F238E27FC236}">
                  <a16:creationId xmlns:a16="http://schemas.microsoft.com/office/drawing/2014/main" id="{71830FFD-A4FD-4C54-9D29-6BBC1A7D4E38}"/>
                </a:ext>
              </a:extLst>
            </p:cNvPr>
            <p:cNvCxnSpPr>
              <a:cxnSpLocks/>
            </p:cNvCxnSpPr>
            <p:nvPr/>
          </p:nvCxnSpPr>
          <p:spPr>
            <a:xfrm>
              <a:off x="11191752" y="3869483"/>
              <a:ext cx="544377" cy="931168"/>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4" name="Conector recto 33">
              <a:extLst>
                <a:ext uri="{FF2B5EF4-FFF2-40B4-BE49-F238E27FC236}">
                  <a16:creationId xmlns:a16="http://schemas.microsoft.com/office/drawing/2014/main" id="{DD42AAD5-947D-4540-BC96-28033C8488C4}"/>
                </a:ext>
              </a:extLst>
            </p:cNvPr>
            <p:cNvCxnSpPr>
              <a:cxnSpLocks/>
            </p:cNvCxnSpPr>
            <p:nvPr/>
          </p:nvCxnSpPr>
          <p:spPr>
            <a:xfrm flipH="1">
              <a:off x="10443236" y="3919623"/>
              <a:ext cx="526469" cy="959819"/>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3EE9A91F-4A6B-4EA8-87A8-96E08A545C66}"/>
                </a:ext>
              </a:extLst>
            </p:cNvPr>
            <p:cNvCxnSpPr>
              <a:cxnSpLocks/>
            </p:cNvCxnSpPr>
            <p:nvPr/>
          </p:nvCxnSpPr>
          <p:spPr>
            <a:xfrm>
              <a:off x="8648948" y="3826506"/>
              <a:ext cx="605259" cy="110665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7" name="Elipse 16">
              <a:extLst>
                <a:ext uri="{FF2B5EF4-FFF2-40B4-BE49-F238E27FC236}">
                  <a16:creationId xmlns:a16="http://schemas.microsoft.com/office/drawing/2014/main" id="{8C4DE680-64AA-4E47-A997-B86D583EAB45}"/>
                </a:ext>
              </a:extLst>
            </p:cNvPr>
            <p:cNvSpPr>
              <a:spLocks noChangeAspect="1"/>
            </p:cNvSpPr>
            <p:nvPr/>
          </p:nvSpPr>
          <p:spPr>
            <a:xfrm>
              <a:off x="900179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Elipse 18">
              <a:extLst>
                <a:ext uri="{FF2B5EF4-FFF2-40B4-BE49-F238E27FC236}">
                  <a16:creationId xmlns:a16="http://schemas.microsoft.com/office/drawing/2014/main" id="{7D2C86BA-5A6D-4DA2-A374-7342E8952DAC}"/>
                </a:ext>
              </a:extLst>
            </p:cNvPr>
            <p:cNvSpPr>
              <a:spLocks noChangeAspect="1"/>
            </p:cNvSpPr>
            <p:nvPr/>
          </p:nvSpPr>
          <p:spPr>
            <a:xfrm>
              <a:off x="9980240" y="466088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Elipse 20">
              <a:extLst>
                <a:ext uri="{FF2B5EF4-FFF2-40B4-BE49-F238E27FC236}">
                  <a16:creationId xmlns:a16="http://schemas.microsoft.com/office/drawing/2014/main" id="{E33FDA46-E8BC-47BD-B325-381AE487C167}"/>
                </a:ext>
              </a:extLst>
            </p:cNvPr>
            <p:cNvSpPr>
              <a:spLocks noChangeAspect="1"/>
            </p:cNvSpPr>
            <p:nvPr/>
          </p:nvSpPr>
          <p:spPr>
            <a:xfrm>
              <a:off x="11470640" y="466088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14" name="Conector recto 13">
              <a:extLst>
                <a:ext uri="{FF2B5EF4-FFF2-40B4-BE49-F238E27FC236}">
                  <a16:creationId xmlns:a16="http://schemas.microsoft.com/office/drawing/2014/main" id="{5A139C3F-EE4D-4480-93BD-A3022AF07968}"/>
                </a:ext>
              </a:extLst>
            </p:cNvPr>
            <p:cNvCxnSpPr>
              <a:cxnSpLocks/>
            </p:cNvCxnSpPr>
            <p:nvPr/>
          </p:nvCxnSpPr>
          <p:spPr>
            <a:xfrm>
              <a:off x="9855211" y="2508546"/>
              <a:ext cx="0" cy="110419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6FC3FBE1-BB97-4E39-8997-BDE6A51EEFD3}"/>
                </a:ext>
              </a:extLst>
            </p:cNvPr>
            <p:cNvCxnSpPr>
              <a:cxnSpLocks/>
              <a:stCxn id="12" idx="3"/>
            </p:cNvCxnSpPr>
            <p:nvPr/>
          </p:nvCxnSpPr>
          <p:spPr>
            <a:xfrm flipH="1">
              <a:off x="8595226" y="2637745"/>
              <a:ext cx="1004946" cy="1049085"/>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19AC88E3-6203-4C76-B0F1-B8A63D4D41E5}"/>
                </a:ext>
              </a:extLst>
            </p:cNvPr>
            <p:cNvCxnSpPr>
              <a:cxnSpLocks/>
            </p:cNvCxnSpPr>
            <p:nvPr/>
          </p:nvCxnSpPr>
          <p:spPr>
            <a:xfrm flipH="1">
              <a:off x="7818060" y="3984088"/>
              <a:ext cx="594515" cy="895353"/>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DB6B334D-4FC0-478D-8A2C-11ED4E291316}"/>
                </a:ext>
              </a:extLst>
            </p:cNvPr>
            <p:cNvCxnSpPr>
              <a:cxnSpLocks/>
            </p:cNvCxnSpPr>
            <p:nvPr/>
          </p:nvCxnSpPr>
          <p:spPr>
            <a:xfrm>
              <a:off x="10038536" y="2534866"/>
              <a:ext cx="931169" cy="107787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2" name="Elipse 11">
              <a:extLst>
                <a:ext uri="{FF2B5EF4-FFF2-40B4-BE49-F238E27FC236}">
                  <a16:creationId xmlns:a16="http://schemas.microsoft.com/office/drawing/2014/main" id="{C56F2428-72BA-409A-8B49-6F6244348288}"/>
                </a:ext>
              </a:extLst>
            </p:cNvPr>
            <p:cNvSpPr>
              <a:spLocks noChangeAspect="1"/>
            </p:cNvSpPr>
            <p:nvPr/>
          </p:nvSpPr>
          <p:spPr>
            <a:xfrm>
              <a:off x="9494532" y="2023187"/>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Elipse 17">
              <a:extLst>
                <a:ext uri="{FF2B5EF4-FFF2-40B4-BE49-F238E27FC236}">
                  <a16:creationId xmlns:a16="http://schemas.microsoft.com/office/drawing/2014/main" id="{54A27ED1-D4F8-41E8-8DF0-7AF0BE6D6C52}"/>
                </a:ext>
              </a:extLst>
            </p:cNvPr>
            <p:cNvSpPr>
              <a:spLocks noChangeAspect="1"/>
            </p:cNvSpPr>
            <p:nvPr/>
          </p:nvSpPr>
          <p:spPr>
            <a:xfrm>
              <a:off x="9494531" y="3394814"/>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Elipse 19">
              <a:extLst>
                <a:ext uri="{FF2B5EF4-FFF2-40B4-BE49-F238E27FC236}">
                  <a16:creationId xmlns:a16="http://schemas.microsoft.com/office/drawing/2014/main" id="{F7D76E06-6E69-40A0-9532-AD538922A889}"/>
                </a:ext>
              </a:extLst>
            </p:cNvPr>
            <p:cNvSpPr>
              <a:spLocks noChangeAspect="1"/>
            </p:cNvSpPr>
            <p:nvPr/>
          </p:nvSpPr>
          <p:spPr>
            <a:xfrm>
              <a:off x="10739164" y="340360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Elipse 15">
              <a:extLst>
                <a:ext uri="{FF2B5EF4-FFF2-40B4-BE49-F238E27FC236}">
                  <a16:creationId xmlns:a16="http://schemas.microsoft.com/office/drawing/2014/main" id="{B0F787CD-6A4F-401A-AD49-545EF024455D}"/>
                </a:ext>
              </a:extLst>
            </p:cNvPr>
            <p:cNvSpPr>
              <a:spLocks noChangeAspect="1"/>
            </p:cNvSpPr>
            <p:nvPr/>
          </p:nvSpPr>
          <p:spPr>
            <a:xfrm>
              <a:off x="739651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Elipse 14">
              <a:extLst>
                <a:ext uri="{FF2B5EF4-FFF2-40B4-BE49-F238E27FC236}">
                  <a16:creationId xmlns:a16="http://schemas.microsoft.com/office/drawing/2014/main" id="{32640E7A-84DA-4082-A41C-C4CFE958D488}"/>
                </a:ext>
              </a:extLst>
            </p:cNvPr>
            <p:cNvSpPr>
              <a:spLocks noChangeAspect="1"/>
            </p:cNvSpPr>
            <p:nvPr/>
          </p:nvSpPr>
          <p:spPr>
            <a:xfrm>
              <a:off x="8161038" y="34036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Medium"/>
                </a:rPr>
                <a:t>Model validy</a:t>
              </a:r>
              <a:endParaRPr sz="16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233298" y="3363930"/>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Symbolic regression</a:t>
              </a: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2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2964486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8</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570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691EAF7C-DEB8-8ED8-A804-BAF33CE67949}"/>
              </a:ext>
            </a:extLst>
          </p:cNvPr>
          <p:cNvSpPr txBox="1"/>
          <p:nvPr/>
        </p:nvSpPr>
        <p:spPr>
          <a:xfrm>
            <a:off x="2394857" y="1987475"/>
            <a:ext cx="7402286" cy="390876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Model</a:t>
            </a: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Validity</a:t>
            </a: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a:p>
            <a:pPr algn="ctr">
              <a:defRPr/>
            </a:pPr>
            <a:r>
              <a:rPr lang="es-ES_tradnl" sz="4400" i="1" dirty="0" err="1">
                <a:solidFill>
                  <a:schemeClr val="bg1"/>
                </a:solidFill>
                <a:latin typeface="Source Sans Pro Light" panose="020B0403030403020204" pitchFamily="34" charset="0"/>
                <a:ea typeface="Source Sans Pro Light" panose="020B0403030403020204" pitchFamily="34" charset="0"/>
              </a:rPr>
              <a:t>Parameter</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ranges</a:t>
            </a:r>
            <a:r>
              <a:rPr lang="es-ES_tradnl" sz="4400" i="1" dirty="0">
                <a:solidFill>
                  <a:schemeClr val="bg1"/>
                </a:solidFill>
                <a:latin typeface="Source Sans Pro Light" panose="020B0403030403020204" pitchFamily="34" charset="0"/>
                <a:ea typeface="Source Sans Pro Light" panose="020B0403030403020204" pitchFamily="34" charset="0"/>
              </a:rPr>
              <a:t> in </a:t>
            </a:r>
            <a:r>
              <a:rPr lang="es-ES_tradnl" sz="4400" i="1" dirty="0" err="1">
                <a:solidFill>
                  <a:schemeClr val="bg1"/>
                </a:solidFill>
                <a:latin typeface="Source Sans Pro Light" panose="020B0403030403020204" pitchFamily="34" charset="0"/>
                <a:ea typeface="Source Sans Pro Light" panose="020B0403030403020204" pitchFamily="34" charset="0"/>
              </a:rPr>
              <a:t>which</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the</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model</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is</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valid</a:t>
            </a:r>
            <a:endParaRPr lang="es-ES_tradnl" sz="4400" i="1" dirty="0">
              <a:solidFill>
                <a:schemeClr val="bg1"/>
              </a:solidFill>
              <a:latin typeface="Source Sans Pro Light" panose="020B0403030403020204" pitchFamily="34" charset="0"/>
              <a:ea typeface="Source Sans Pro Light" panose="020B0403030403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p:txBody>
      </p:sp>
    </p:spTree>
    <p:extLst>
      <p:ext uri="{BB962C8B-B14F-4D97-AF65-F5344CB8AC3E}">
        <p14:creationId xmlns:p14="http://schemas.microsoft.com/office/powerpoint/2010/main" val="3906295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2CDCC-F76B-D5F7-8AAD-E7918566015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7EF77FF5-D912-86DB-3F6F-F150DC05B127}"/>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65" name="CuadroTexto 64">
            <a:extLst>
              <a:ext uri="{FF2B5EF4-FFF2-40B4-BE49-F238E27FC236}">
                <a16:creationId xmlns:a16="http://schemas.microsoft.com/office/drawing/2014/main" id="{B9BB76F1-5464-1CBE-E52A-963781B4C9A9}"/>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4B4DFDD7-2EED-5054-A658-59252B5630EE}"/>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DD8D6550-D2F2-A95B-166F-014E4EC7865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F1ECB713-AC16-ADB5-1934-8AF5CEA2938D}"/>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Asessing the Model Validity of AlphaPEM</a:t>
            </a:r>
          </a:p>
        </p:txBody>
      </p:sp>
      <p:grpSp>
        <p:nvGrpSpPr>
          <p:cNvPr id="69" name="Grupo 68">
            <a:extLst>
              <a:ext uri="{FF2B5EF4-FFF2-40B4-BE49-F238E27FC236}">
                <a16:creationId xmlns:a16="http://schemas.microsoft.com/office/drawing/2014/main" id="{188D39AA-B791-FD45-D6CB-5555F2B5D71D}"/>
              </a:ext>
            </a:extLst>
          </p:cNvPr>
          <p:cNvGrpSpPr/>
          <p:nvPr/>
        </p:nvGrpSpPr>
        <p:grpSpPr>
          <a:xfrm>
            <a:off x="4510007" y="1711656"/>
            <a:ext cx="6843793" cy="1453151"/>
            <a:chOff x="4773478" y="1975849"/>
            <a:chExt cx="6871269" cy="1453151"/>
          </a:xfrm>
        </p:grpSpPr>
        <p:sp>
          <p:nvSpPr>
            <p:cNvPr id="70" name="Rectángulo: esquinas redondeadas 69">
              <a:extLst>
                <a:ext uri="{FF2B5EF4-FFF2-40B4-BE49-F238E27FC236}">
                  <a16:creationId xmlns:a16="http://schemas.microsoft.com/office/drawing/2014/main" id="{46072DE8-5D89-EBCA-FB8F-C320AA9CDEDA}"/>
                </a:ext>
              </a:extLst>
            </p:cNvPr>
            <p:cNvSpPr/>
            <p:nvPr/>
          </p:nvSpPr>
          <p:spPr>
            <a:xfrm>
              <a:off x="4773478" y="1975849"/>
              <a:ext cx="6871269" cy="1453151"/>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1" name="CuadroTexto 70">
              <a:extLst>
                <a:ext uri="{FF2B5EF4-FFF2-40B4-BE49-F238E27FC236}">
                  <a16:creationId xmlns:a16="http://schemas.microsoft.com/office/drawing/2014/main" id="{13BD7E42-4724-11F5-870E-78101370722F}"/>
                </a:ext>
              </a:extLst>
            </p:cNvPr>
            <p:cNvSpPr txBox="1"/>
            <p:nvPr/>
          </p:nvSpPr>
          <p:spPr>
            <a:xfrm>
              <a:off x="4889715" y="2656859"/>
              <a:ext cx="6638794" cy="615553"/>
            </a:xfrm>
            <a:prstGeom prst="rect">
              <a:avLst/>
            </a:prstGeom>
            <a:noFill/>
          </p:spPr>
          <p:txBody>
            <a:bodyPr wrap="square" rtlCol="0">
              <a:spAutoFit/>
            </a:bodyPr>
            <a:lstStyle/>
            <a:p>
              <a:r>
                <a:rPr lang="en-US" sz="1700" i="1" dirty="0"/>
                <a:t>Finding the region of the input hyperspace where </a:t>
              </a:r>
              <a:r>
                <a:rPr lang="en-US" sz="1700" i="1" dirty="0" err="1"/>
                <a:t>AlphaPEM</a:t>
              </a:r>
              <a:r>
                <a:rPr lang="en-US" sz="1700" i="1" dirty="0"/>
                <a:t> leads to a physically meaningful, simulation-successful polarization curve.</a:t>
              </a:r>
              <a:endParaRPr lang="en" sz="1700" i="1" dirty="0"/>
            </a:p>
          </p:txBody>
        </p:sp>
        <p:sp>
          <p:nvSpPr>
            <p:cNvPr id="72" name="CuadroTexto 71">
              <a:extLst>
                <a:ext uri="{FF2B5EF4-FFF2-40B4-BE49-F238E27FC236}">
                  <a16:creationId xmlns:a16="http://schemas.microsoft.com/office/drawing/2014/main" id="{D14EC212-E561-396D-6124-D9596393E6DD}"/>
                </a:ext>
              </a:extLst>
            </p:cNvPr>
            <p:cNvSpPr txBox="1"/>
            <p:nvPr/>
          </p:nvSpPr>
          <p:spPr>
            <a:xfrm>
              <a:off x="5005953" y="2146610"/>
              <a:ext cx="368113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What’s</a:t>
              </a:r>
              <a:r>
                <a:rPr lang="es-ES_tradnl" sz="2400" b="1" i="1" dirty="0">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model</a:t>
              </a:r>
              <a:r>
                <a:rPr lang="es-ES_tradnl" sz="2400" b="1" i="1" dirty="0">
                  <a:solidFill>
                    <a:srgbClr val="B278E6"/>
                  </a:solidFill>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validity</a:t>
              </a:r>
              <a:r>
                <a:rPr lang="es-ES_tradnl" sz="2400" b="1" dirty="0">
                  <a:latin typeface="Source Sans Pro Black" panose="020B0803030403020204" pitchFamily="34" charset="0"/>
                  <a:ea typeface="Source Sans Pro Black" panose="020B0803030403020204" pitchFamily="34" charset="0"/>
                </a:rPr>
                <a:t>?</a:t>
              </a:r>
            </a:p>
          </p:txBody>
        </p:sp>
      </p:grpSp>
      <p:grpSp>
        <p:nvGrpSpPr>
          <p:cNvPr id="73" name="Grupo 72">
            <a:extLst>
              <a:ext uri="{FF2B5EF4-FFF2-40B4-BE49-F238E27FC236}">
                <a16:creationId xmlns:a16="http://schemas.microsoft.com/office/drawing/2014/main" id="{151A8F6A-5B6B-725A-A8FF-B950F8395E1D}"/>
              </a:ext>
            </a:extLst>
          </p:cNvPr>
          <p:cNvGrpSpPr/>
          <p:nvPr/>
        </p:nvGrpSpPr>
        <p:grpSpPr>
          <a:xfrm>
            <a:off x="911832" y="3488251"/>
            <a:ext cx="8276771" cy="2844607"/>
            <a:chOff x="1212256" y="3599761"/>
            <a:chExt cx="8276771" cy="2844607"/>
          </a:xfrm>
        </p:grpSpPr>
        <p:sp>
          <p:nvSpPr>
            <p:cNvPr id="74" name="CuadroTexto 73">
              <a:extLst>
                <a:ext uri="{FF2B5EF4-FFF2-40B4-BE49-F238E27FC236}">
                  <a16:creationId xmlns:a16="http://schemas.microsoft.com/office/drawing/2014/main" id="{ED023DA6-253A-49B4-8DAF-9C1A71054FCD}"/>
                </a:ext>
              </a:extLst>
            </p:cNvPr>
            <p:cNvSpPr txBox="1"/>
            <p:nvPr/>
          </p:nvSpPr>
          <p:spPr>
            <a:xfrm>
              <a:off x="1622413" y="3895408"/>
              <a:ext cx="768324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Sampling</a:t>
              </a:r>
              <a:r>
                <a:rPr lang="es-ES_tradnl" sz="2400" b="1" dirty="0">
                  <a:latin typeface="Source Sans Pro Black" panose="020B0803030403020204" pitchFamily="34" charset="0"/>
                  <a:ea typeface="Source Sans Pro Black" panose="020B0803030403020204" pitchFamily="34" charset="0"/>
                </a:rPr>
                <a:t> in </a:t>
              </a:r>
              <a:r>
                <a:rPr lang="es-ES_tradnl" sz="2400" b="1" dirty="0" err="1">
                  <a:latin typeface="Source Sans Pro Black" panose="020B0803030403020204" pitchFamily="34" charset="0"/>
                  <a:ea typeface="Source Sans Pro Black" panose="020B0803030403020204" pitchFamily="34" charset="0"/>
                </a:rPr>
                <a:t>high</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dimensions</a:t>
              </a:r>
              <a:r>
                <a:rPr lang="es-ES_tradnl" sz="2400" b="1" dirty="0">
                  <a:latin typeface="Source Sans Pro Black" panose="020B0803030403020204" pitchFamily="34" charset="0"/>
                  <a:ea typeface="Source Sans Pro Black" panose="020B0803030403020204" pitchFamily="34" charset="0"/>
                </a:rPr>
                <a:t>: </a:t>
              </a:r>
              <a:r>
                <a:rPr lang="es-ES_tradnl" sz="2400" i="1" dirty="0" err="1">
                  <a:latin typeface="Source Sans Pro Light" panose="020B0403030403020204" pitchFamily="34" charset="0"/>
                  <a:ea typeface="Source Sans Pro Light" panose="020B0403030403020204" pitchFamily="34" charset="0"/>
                </a:rPr>
                <a:t>Why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model</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validity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matters</a:t>
              </a:r>
              <a:endParaRPr lang="es-ES_tradnl" sz="2400" i="1" dirty="0">
                <a:latin typeface="Source Sans Pro Light" panose="020B0403030403020204" pitchFamily="34" charset="0"/>
                <a:ea typeface="Source Sans Pro Light" panose="020B0403030403020204" pitchFamily="34" charset="0"/>
              </a:endParaRPr>
            </a:p>
          </p:txBody>
        </p:sp>
        <p:sp>
          <p:nvSpPr>
            <p:cNvPr id="75" name="CuadroTexto 74">
              <a:extLst>
                <a:ext uri="{FF2B5EF4-FFF2-40B4-BE49-F238E27FC236}">
                  <a16:creationId xmlns:a16="http://schemas.microsoft.com/office/drawing/2014/main" id="{A0A49C04-159C-512B-42A1-6AFBB327BB8C}"/>
                </a:ext>
              </a:extLst>
            </p:cNvPr>
            <p:cNvSpPr txBox="1"/>
            <p:nvPr/>
          </p:nvSpPr>
          <p:spPr>
            <a:xfrm>
              <a:off x="1439041" y="4469668"/>
              <a:ext cx="8049986" cy="1661993"/>
            </a:xfrm>
            <a:prstGeom prst="rect">
              <a:avLst/>
            </a:prstGeom>
            <a:noFill/>
          </p:spPr>
          <p:txBody>
            <a:bodyPr wrap="square" rtlCol="0">
              <a:spAutoFit/>
            </a:bodyPr>
            <a:lstStyle/>
            <a:p>
              <a:pPr marL="285750" indent="-285750">
                <a:buFont typeface="Arial" panose="020B0604020202020204" pitchFamily="34" charset="0"/>
                <a:buChar char="•"/>
              </a:pPr>
              <a:r>
                <a:rPr lang="es-CO" sz="1700" dirty="0" err="1">
                  <a:latin typeface="+mj-lt"/>
                  <a:ea typeface="Source Sans Pro" panose="020B0503030403020204" pitchFamily="34" charset="0"/>
                </a:rPr>
                <a:t>We</a:t>
              </a:r>
              <a:r>
                <a:rPr lang="es-CO" sz="1700" dirty="0">
                  <a:latin typeface="+mj-lt"/>
                  <a:ea typeface="Source Sans Pro" panose="020B0503030403020204" pitchFamily="34" charset="0"/>
                </a:rPr>
                <a:t> </a:t>
              </a:r>
              <a:r>
                <a:rPr lang="es-CO" sz="1700" i="1" dirty="0">
                  <a:latin typeface="+mj-lt"/>
                  <a:ea typeface="Source Sans Pro" panose="020B0503030403020204" pitchFamily="34" charset="0"/>
                </a:rPr>
                <a:t>“</a:t>
              </a:r>
              <a:r>
                <a:rPr lang="es-CO" sz="1700" i="1" dirty="0" err="1">
                  <a:latin typeface="+mj-lt"/>
                  <a:ea typeface="Source Sans Pro" panose="020B0503030403020204" pitchFamily="34" charset="0"/>
                </a:rPr>
                <a:t>sample</a:t>
              </a:r>
              <a:r>
                <a:rPr lang="es-CO" sz="1700" i="1" dirty="0">
                  <a:latin typeface="+mj-lt"/>
                  <a:ea typeface="Source Sans Pro" panose="020B0503030403020204" pitchFamily="34" charset="0"/>
                </a:rPr>
                <a:t>”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by</a:t>
              </a:r>
              <a:r>
                <a:rPr lang="es-CO" sz="1700" dirty="0">
                  <a:latin typeface="+mj-lt"/>
                  <a:ea typeface="Source Sans Pro" panose="020B0503030403020204" pitchFamily="34" charset="0"/>
                </a:rPr>
                <a:t> </a:t>
              </a:r>
              <a:r>
                <a:rPr lang="es-CO" sz="1700" b="1" dirty="0" err="1">
                  <a:solidFill>
                    <a:srgbClr val="008B2E"/>
                  </a:solidFill>
                  <a:latin typeface="+mj-lt"/>
                  <a:ea typeface="Source Sans Pro" panose="020B0503030403020204" pitchFamily="34" charset="0"/>
                </a:rPr>
                <a:t>varying</a:t>
              </a:r>
              <a:r>
                <a:rPr lang="es-CO" sz="1700" b="1" dirty="0">
                  <a:solidFill>
                    <a:srgbClr val="008B2E"/>
                  </a:solidFill>
                  <a:latin typeface="+mj-lt"/>
                  <a:ea typeface="Source Sans Pro" panose="020B0503030403020204" pitchFamily="34" charset="0"/>
                </a:rPr>
                <a:t> 19 input </a:t>
              </a:r>
              <a:r>
                <a:rPr lang="es-CO" sz="1700" b="1" dirty="0" err="1">
                  <a:solidFill>
                    <a:srgbClr val="008B2E"/>
                  </a:solidFill>
                  <a:latin typeface="+mj-lt"/>
                  <a:ea typeface="Source Sans Pro" panose="020B0503030403020204" pitchFamily="34" charset="0"/>
                </a:rPr>
                <a:t>parameters</a:t>
              </a:r>
              <a:r>
                <a:rPr lang="es-CO" sz="1700" b="1" dirty="0">
                  <a:solidFill>
                    <a:srgbClr val="008B2E"/>
                  </a:solidFill>
                  <a:latin typeface="+mj-lt"/>
                  <a:ea typeface="Source Sans Pro" panose="020B0503030403020204" pitchFamily="34" charset="0"/>
                </a:rPr>
                <a:t> </a:t>
              </a:r>
              <a:r>
                <a:rPr lang="es-CO" sz="1700" b="1" u="sng" dirty="0" err="1">
                  <a:solidFill>
                    <a:srgbClr val="008B2E"/>
                  </a:solidFill>
                  <a:latin typeface="+mj-lt"/>
                  <a:ea typeface="Source Sans Pro" panose="020B0503030403020204" pitchFamily="34" charset="0"/>
                </a:rPr>
                <a:t>independently</a:t>
              </a:r>
              <a:endParaRPr lang="es-CO" sz="1700" b="1" u="sng" dirty="0">
                <a:solidFill>
                  <a:srgbClr val="008B2E"/>
                </a:solidFill>
                <a:latin typeface="+mj-lt"/>
                <a:ea typeface="Source Sans Pro" panose="020B0503030403020204" pitchFamily="34" charset="0"/>
              </a:endParaRPr>
            </a:p>
            <a:p>
              <a:pPr marL="285750" indent="-285750">
                <a:buFont typeface="Arial" panose="020B0604020202020204" pitchFamily="34" charset="0"/>
                <a:buChar char="•"/>
              </a:pPr>
              <a:r>
                <a:rPr lang="es-CO" sz="1700" dirty="0">
                  <a:latin typeface="+mj-lt"/>
                  <a:ea typeface="Source Sans Pro" panose="020B0503030403020204" pitchFamily="34" charset="0"/>
                </a:rPr>
                <a:t>Project </a:t>
              </a:r>
              <a:r>
                <a:rPr lang="es-CO" sz="1700" dirty="0" err="1">
                  <a:latin typeface="+mj-lt"/>
                  <a:ea typeface="Source Sans Pro" panose="020B0503030403020204" pitchFamily="34" charset="0"/>
                </a:rPr>
                <a:t>partners</a:t>
              </a:r>
              <a:r>
                <a:rPr lang="es-CO" sz="1700" dirty="0">
                  <a:latin typeface="+mj-lt"/>
                  <a:ea typeface="Source Sans Pro" panose="020B0503030403020204" pitchFamily="34" charset="0"/>
                </a:rPr>
                <a:t> and </a:t>
              </a:r>
              <a:r>
                <a:rPr lang="es-CO" sz="1700" dirty="0" err="1">
                  <a:latin typeface="+mj-lt"/>
                  <a:ea typeface="Source Sans Pro" panose="020B0503030403020204" pitchFamily="34" charset="0"/>
                </a:rPr>
                <a:t>author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Gass</a:t>
              </a:r>
              <a:r>
                <a:rPr lang="es-CO" sz="1700" dirty="0">
                  <a:latin typeface="+mj-lt"/>
                  <a:ea typeface="Source Sans Pro" panose="020B0503030403020204" pitchFamily="34" charset="0"/>
                </a:rPr>
                <a:t>, 2025) </a:t>
              </a:r>
              <a:r>
                <a:rPr lang="es-CO" sz="1700" dirty="0" err="1">
                  <a:latin typeface="+mj-lt"/>
                  <a:ea typeface="Source Sans Pro" panose="020B0503030403020204" pitchFamily="34" charset="0"/>
                </a:rPr>
                <a:t>provided</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wide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ranges</a:t>
              </a:r>
              <a:endParaRPr lang="es-CO" sz="1700" dirty="0">
                <a:latin typeface="+mj-lt"/>
                <a:ea typeface="Source Sans Pro" panose="020B0503030403020204" pitchFamily="34" charset="0"/>
              </a:endParaRPr>
            </a:p>
            <a:p>
              <a:endParaRPr lang="es-CO" sz="1700" dirty="0">
                <a:latin typeface="+mj-lt"/>
                <a:ea typeface="Source Sans Pro" panose="020B0503030403020204" pitchFamily="34" charset="0"/>
              </a:endParaRPr>
            </a:p>
            <a:p>
              <a:r>
                <a:rPr lang="es-CO" sz="1700" dirty="0" err="1">
                  <a:latin typeface="+mj-lt"/>
                  <a:ea typeface="Source Sans Pro" panose="020B0503030403020204" pitchFamily="34" charset="0"/>
                </a:rPr>
                <a:t>However</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Many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configurations</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yield</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invalid</a:t>
              </a:r>
              <a:r>
                <a:rPr lang="es-CO" sz="1700" b="1" dirty="0">
                  <a:solidFill>
                    <a:srgbClr val="B278E6"/>
                  </a:solidFill>
                  <a:latin typeface="+mj-lt"/>
                  <a:ea typeface="Source Sans Pro" panose="020B0503030403020204" pitchFamily="34" charset="0"/>
                </a:rPr>
                <a:t> outputs </a:t>
              </a:r>
              <a:r>
                <a:rPr lang="es-CO" sz="1700" dirty="0">
                  <a:latin typeface="+mj-lt"/>
                  <a:ea typeface="Source Sans Pro" panose="020B0503030403020204" pitchFamily="34" charset="0"/>
                </a:rPr>
                <a:t>(</a:t>
              </a:r>
              <a:r>
                <a:rPr lang="es-CO" sz="1700" dirty="0" err="1">
                  <a:latin typeface="+mj-lt"/>
                  <a:ea typeface="Source Sans Pro" panose="020B0503030403020204" pitchFamily="34" charset="0"/>
                </a:rPr>
                <a:t>e.g</a:t>
              </a:r>
              <a:r>
                <a:rPr lang="es-CO" sz="1700" dirty="0">
                  <a:latin typeface="+mj-lt"/>
                  <a:ea typeface="Source Sans Pro" panose="020B0503030403020204" pitchFamily="34" charset="0"/>
                </a:rPr>
                <a:t>. negative </a:t>
              </a:r>
              <a:r>
                <a:rPr lang="es-CO" sz="1700" dirty="0" err="1">
                  <a:latin typeface="+mj-lt"/>
                  <a:ea typeface="Source Sans Pro" panose="020B0503030403020204" pitchFamily="34" charset="0"/>
                </a:rPr>
                <a:t>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excessive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voltages</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is</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expensive</a:t>
              </a:r>
              <a:r>
                <a:rPr lang="es-CO" sz="1700" dirty="0">
                  <a:latin typeface="+mj-lt"/>
                  <a:ea typeface="Source Sans Pro" panose="020B0503030403020204" pitchFamily="34" charset="0"/>
                </a:rPr>
                <a:t> (≈1.5 min per run) → </a:t>
              </a:r>
              <a:r>
                <a:rPr lang="es-CO" sz="1700" dirty="0" err="1">
                  <a:latin typeface="+mj-lt"/>
                  <a:ea typeface="Source Sans Pro" panose="020B0503030403020204" pitchFamily="34" charset="0"/>
                </a:rPr>
                <a:t>computationally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wasteful</a:t>
              </a:r>
              <a:endParaRPr lang="en" sz="1700" dirty="0">
                <a:latin typeface="+mj-lt"/>
                <a:ea typeface="Source Sans Pro" panose="020B0503030403020204" pitchFamily="34" charset="0"/>
              </a:endParaRPr>
            </a:p>
          </p:txBody>
        </p:sp>
        <p:sp>
          <p:nvSpPr>
            <p:cNvPr id="76" name="Rectángulo: esquinas redondeadas 75">
              <a:extLst>
                <a:ext uri="{FF2B5EF4-FFF2-40B4-BE49-F238E27FC236}">
                  <a16:creationId xmlns:a16="http://schemas.microsoft.com/office/drawing/2014/main" id="{1EE06E23-CB08-64EE-5ED5-B69D8489626B}"/>
                </a:ext>
              </a:extLst>
            </p:cNvPr>
            <p:cNvSpPr/>
            <p:nvPr/>
          </p:nvSpPr>
          <p:spPr>
            <a:xfrm>
              <a:off x="1212256" y="3599761"/>
              <a:ext cx="8276771" cy="2844607"/>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77" name="Google Shape;1789;p36">
            <a:extLst>
              <a:ext uri="{FF2B5EF4-FFF2-40B4-BE49-F238E27FC236}">
                <a16:creationId xmlns:a16="http://schemas.microsoft.com/office/drawing/2014/main" id="{73614292-3FCA-FEA7-08D2-6CE3A9FD41BD}"/>
              </a:ext>
            </a:extLst>
          </p:cNvPr>
          <p:cNvGrpSpPr/>
          <p:nvPr/>
        </p:nvGrpSpPr>
        <p:grpSpPr>
          <a:xfrm flipH="1">
            <a:off x="9917880" y="4245563"/>
            <a:ext cx="1128532" cy="1706079"/>
            <a:chOff x="3346589" y="1035541"/>
            <a:chExt cx="2550136" cy="3687818"/>
          </a:xfrm>
        </p:grpSpPr>
        <p:grpSp>
          <p:nvGrpSpPr>
            <p:cNvPr id="78" name="Google Shape;1790;p36">
              <a:extLst>
                <a:ext uri="{FF2B5EF4-FFF2-40B4-BE49-F238E27FC236}">
                  <a16:creationId xmlns:a16="http://schemas.microsoft.com/office/drawing/2014/main" id="{9D02E398-AD7B-1105-301C-493F67CDB6E3}"/>
                </a:ext>
              </a:extLst>
            </p:cNvPr>
            <p:cNvGrpSpPr/>
            <p:nvPr/>
          </p:nvGrpSpPr>
          <p:grpSpPr>
            <a:xfrm>
              <a:off x="3346589" y="1035541"/>
              <a:ext cx="2450802" cy="3687818"/>
              <a:chOff x="3409938" y="1035450"/>
              <a:chExt cx="2324137" cy="3497219"/>
            </a:xfrm>
          </p:grpSpPr>
          <p:sp>
            <p:nvSpPr>
              <p:cNvPr id="82" name="Google Shape;1791;p36">
                <a:extLst>
                  <a:ext uri="{FF2B5EF4-FFF2-40B4-BE49-F238E27FC236}">
                    <a16:creationId xmlns:a16="http://schemas.microsoft.com/office/drawing/2014/main" id="{8ADD4BBC-9C63-E61A-4D22-777026491A06}"/>
                  </a:ext>
                </a:extLst>
              </p:cNvPr>
              <p:cNvSpPr/>
              <p:nvPr/>
            </p:nvSpPr>
            <p:spPr>
              <a:xfrm>
                <a:off x="4164193" y="1113566"/>
                <a:ext cx="263849" cy="519204"/>
              </a:xfrm>
              <a:custGeom>
                <a:avLst/>
                <a:gdLst/>
                <a:ahLst/>
                <a:cxnLst/>
                <a:rect l="l" t="t" r="r" b="b"/>
                <a:pathLst>
                  <a:path w="5188" h="10209" extrusionOk="0">
                    <a:moveTo>
                      <a:pt x="731" y="1"/>
                    </a:moveTo>
                    <a:lnTo>
                      <a:pt x="590" y="14"/>
                    </a:lnTo>
                    <a:lnTo>
                      <a:pt x="449" y="52"/>
                    </a:lnTo>
                    <a:lnTo>
                      <a:pt x="321" y="116"/>
                    </a:lnTo>
                    <a:lnTo>
                      <a:pt x="218" y="206"/>
                    </a:lnTo>
                    <a:lnTo>
                      <a:pt x="129" y="321"/>
                    </a:lnTo>
                    <a:lnTo>
                      <a:pt x="65" y="436"/>
                    </a:lnTo>
                    <a:lnTo>
                      <a:pt x="13" y="577"/>
                    </a:lnTo>
                    <a:lnTo>
                      <a:pt x="1" y="731"/>
                    </a:lnTo>
                    <a:lnTo>
                      <a:pt x="1" y="4253"/>
                    </a:lnTo>
                    <a:lnTo>
                      <a:pt x="13" y="4394"/>
                    </a:lnTo>
                    <a:lnTo>
                      <a:pt x="65" y="4535"/>
                    </a:lnTo>
                    <a:lnTo>
                      <a:pt x="129" y="4650"/>
                    </a:lnTo>
                    <a:lnTo>
                      <a:pt x="218" y="4765"/>
                    </a:lnTo>
                    <a:lnTo>
                      <a:pt x="321" y="4855"/>
                    </a:lnTo>
                    <a:lnTo>
                      <a:pt x="449" y="4919"/>
                    </a:lnTo>
                    <a:lnTo>
                      <a:pt x="590" y="4958"/>
                    </a:lnTo>
                    <a:lnTo>
                      <a:pt x="731" y="4970"/>
                    </a:lnTo>
                    <a:lnTo>
                      <a:pt x="3728" y="4970"/>
                    </a:lnTo>
                    <a:lnTo>
                      <a:pt x="3728" y="9479"/>
                    </a:lnTo>
                    <a:lnTo>
                      <a:pt x="3740" y="9632"/>
                    </a:lnTo>
                    <a:lnTo>
                      <a:pt x="3792" y="9761"/>
                    </a:lnTo>
                    <a:lnTo>
                      <a:pt x="3856" y="9889"/>
                    </a:lnTo>
                    <a:lnTo>
                      <a:pt x="3945" y="10004"/>
                    </a:lnTo>
                    <a:lnTo>
                      <a:pt x="4048" y="10081"/>
                    </a:lnTo>
                    <a:lnTo>
                      <a:pt x="4176" y="10158"/>
                    </a:lnTo>
                    <a:lnTo>
                      <a:pt x="4317" y="10196"/>
                    </a:lnTo>
                    <a:lnTo>
                      <a:pt x="4458" y="10209"/>
                    </a:lnTo>
                    <a:lnTo>
                      <a:pt x="4611" y="10196"/>
                    </a:lnTo>
                    <a:lnTo>
                      <a:pt x="4739" y="10158"/>
                    </a:lnTo>
                    <a:lnTo>
                      <a:pt x="4868" y="10081"/>
                    </a:lnTo>
                    <a:lnTo>
                      <a:pt x="4970" y="10004"/>
                    </a:lnTo>
                    <a:lnTo>
                      <a:pt x="5060" y="9889"/>
                    </a:lnTo>
                    <a:lnTo>
                      <a:pt x="5137" y="9761"/>
                    </a:lnTo>
                    <a:lnTo>
                      <a:pt x="5175" y="9632"/>
                    </a:lnTo>
                    <a:lnTo>
                      <a:pt x="5188" y="9479"/>
                    </a:lnTo>
                    <a:lnTo>
                      <a:pt x="5188" y="4253"/>
                    </a:lnTo>
                    <a:lnTo>
                      <a:pt x="5175" y="4099"/>
                    </a:lnTo>
                    <a:lnTo>
                      <a:pt x="5137" y="3959"/>
                    </a:lnTo>
                    <a:lnTo>
                      <a:pt x="5060" y="3843"/>
                    </a:lnTo>
                    <a:lnTo>
                      <a:pt x="4970" y="3728"/>
                    </a:lnTo>
                    <a:lnTo>
                      <a:pt x="4868" y="3638"/>
                    </a:lnTo>
                    <a:lnTo>
                      <a:pt x="4739" y="3574"/>
                    </a:lnTo>
                    <a:lnTo>
                      <a:pt x="4611" y="3536"/>
                    </a:lnTo>
                    <a:lnTo>
                      <a:pt x="4458" y="3523"/>
                    </a:lnTo>
                    <a:lnTo>
                      <a:pt x="1461" y="3523"/>
                    </a:lnTo>
                    <a:lnTo>
                      <a:pt x="1461" y="731"/>
                    </a:lnTo>
                    <a:lnTo>
                      <a:pt x="1448" y="577"/>
                    </a:lnTo>
                    <a:lnTo>
                      <a:pt x="1409" y="436"/>
                    </a:lnTo>
                    <a:lnTo>
                      <a:pt x="1333" y="321"/>
                    </a:lnTo>
                    <a:lnTo>
                      <a:pt x="1243" y="206"/>
                    </a:lnTo>
                    <a:lnTo>
                      <a:pt x="1140" y="116"/>
                    </a:lnTo>
                    <a:lnTo>
                      <a:pt x="1012" y="52"/>
                    </a:lnTo>
                    <a:lnTo>
                      <a:pt x="884" y="14"/>
                    </a:lnTo>
                    <a:lnTo>
                      <a:pt x="73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3" name="Google Shape;1792;p36">
                <a:extLst>
                  <a:ext uri="{FF2B5EF4-FFF2-40B4-BE49-F238E27FC236}">
                    <a16:creationId xmlns:a16="http://schemas.microsoft.com/office/drawing/2014/main" id="{42408452-3B64-EF63-BDA6-DB2F5A0D14A7}"/>
                  </a:ext>
                </a:extLst>
              </p:cNvPr>
              <p:cNvSpPr/>
              <p:nvPr/>
            </p:nvSpPr>
            <p:spPr>
              <a:xfrm>
                <a:off x="4535497" y="1224993"/>
                <a:ext cx="73642" cy="407775"/>
              </a:xfrm>
              <a:custGeom>
                <a:avLst/>
                <a:gdLst/>
                <a:ahLst/>
                <a:cxnLst/>
                <a:rect l="l" t="t" r="r" b="b"/>
                <a:pathLst>
                  <a:path w="1448" h="8018" extrusionOk="0">
                    <a:moveTo>
                      <a:pt x="717" y="0"/>
                    </a:moveTo>
                    <a:lnTo>
                      <a:pt x="576" y="13"/>
                    </a:lnTo>
                    <a:lnTo>
                      <a:pt x="436" y="51"/>
                    </a:lnTo>
                    <a:lnTo>
                      <a:pt x="320" y="115"/>
                    </a:lnTo>
                    <a:lnTo>
                      <a:pt x="205" y="205"/>
                    </a:lnTo>
                    <a:lnTo>
                      <a:pt x="115" y="320"/>
                    </a:lnTo>
                    <a:lnTo>
                      <a:pt x="51" y="436"/>
                    </a:lnTo>
                    <a:lnTo>
                      <a:pt x="13" y="576"/>
                    </a:lnTo>
                    <a:lnTo>
                      <a:pt x="0" y="717"/>
                    </a:lnTo>
                    <a:lnTo>
                      <a:pt x="0" y="7288"/>
                    </a:lnTo>
                    <a:lnTo>
                      <a:pt x="13" y="7441"/>
                    </a:lnTo>
                    <a:lnTo>
                      <a:pt x="51" y="7570"/>
                    </a:lnTo>
                    <a:lnTo>
                      <a:pt x="115" y="7698"/>
                    </a:lnTo>
                    <a:lnTo>
                      <a:pt x="205" y="7813"/>
                    </a:lnTo>
                    <a:lnTo>
                      <a:pt x="320" y="7890"/>
                    </a:lnTo>
                    <a:lnTo>
                      <a:pt x="436" y="7967"/>
                    </a:lnTo>
                    <a:lnTo>
                      <a:pt x="576" y="8005"/>
                    </a:lnTo>
                    <a:lnTo>
                      <a:pt x="717" y="8018"/>
                    </a:lnTo>
                    <a:lnTo>
                      <a:pt x="871" y="8005"/>
                    </a:lnTo>
                    <a:lnTo>
                      <a:pt x="1012" y="7967"/>
                    </a:lnTo>
                    <a:lnTo>
                      <a:pt x="1127" y="7890"/>
                    </a:lnTo>
                    <a:lnTo>
                      <a:pt x="1242" y="7813"/>
                    </a:lnTo>
                    <a:lnTo>
                      <a:pt x="1332" y="7698"/>
                    </a:lnTo>
                    <a:lnTo>
                      <a:pt x="1396" y="7570"/>
                    </a:lnTo>
                    <a:lnTo>
                      <a:pt x="1435" y="7441"/>
                    </a:lnTo>
                    <a:lnTo>
                      <a:pt x="1447" y="7288"/>
                    </a:lnTo>
                    <a:lnTo>
                      <a:pt x="1447" y="717"/>
                    </a:lnTo>
                    <a:lnTo>
                      <a:pt x="1435" y="576"/>
                    </a:lnTo>
                    <a:lnTo>
                      <a:pt x="1396" y="436"/>
                    </a:lnTo>
                    <a:lnTo>
                      <a:pt x="1332" y="320"/>
                    </a:lnTo>
                    <a:lnTo>
                      <a:pt x="1242" y="205"/>
                    </a:lnTo>
                    <a:lnTo>
                      <a:pt x="1127" y="115"/>
                    </a:lnTo>
                    <a:lnTo>
                      <a:pt x="1012" y="51"/>
                    </a:lnTo>
                    <a:lnTo>
                      <a:pt x="871" y="13"/>
                    </a:lnTo>
                    <a:lnTo>
                      <a:pt x="717"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4" name="Google Shape;1793;p36">
                <a:extLst>
                  <a:ext uri="{FF2B5EF4-FFF2-40B4-BE49-F238E27FC236}">
                    <a16:creationId xmlns:a16="http://schemas.microsoft.com/office/drawing/2014/main" id="{372C65A4-1BDE-EAA9-0B86-38E74FE4A32A}"/>
                  </a:ext>
                </a:extLst>
              </p:cNvPr>
              <p:cNvSpPr/>
              <p:nvPr/>
            </p:nvSpPr>
            <p:spPr>
              <a:xfrm>
                <a:off x="4707443" y="1069931"/>
                <a:ext cx="216297" cy="562840"/>
              </a:xfrm>
              <a:custGeom>
                <a:avLst/>
                <a:gdLst/>
                <a:ahLst/>
                <a:cxnLst/>
                <a:rect l="l" t="t" r="r" b="b"/>
                <a:pathLst>
                  <a:path w="4253" h="11067" extrusionOk="0">
                    <a:moveTo>
                      <a:pt x="3522" y="1"/>
                    </a:moveTo>
                    <a:lnTo>
                      <a:pt x="3369" y="14"/>
                    </a:lnTo>
                    <a:lnTo>
                      <a:pt x="3241" y="52"/>
                    </a:lnTo>
                    <a:lnTo>
                      <a:pt x="3113" y="116"/>
                    </a:lnTo>
                    <a:lnTo>
                      <a:pt x="3010" y="206"/>
                    </a:lnTo>
                    <a:lnTo>
                      <a:pt x="2921" y="321"/>
                    </a:lnTo>
                    <a:lnTo>
                      <a:pt x="2856" y="436"/>
                    </a:lnTo>
                    <a:lnTo>
                      <a:pt x="2805" y="577"/>
                    </a:lnTo>
                    <a:lnTo>
                      <a:pt x="2792" y="731"/>
                    </a:lnTo>
                    <a:lnTo>
                      <a:pt x="2792" y="6200"/>
                    </a:lnTo>
                    <a:lnTo>
                      <a:pt x="128" y="9914"/>
                    </a:lnTo>
                    <a:lnTo>
                      <a:pt x="64" y="10042"/>
                    </a:lnTo>
                    <a:lnTo>
                      <a:pt x="13" y="10183"/>
                    </a:lnTo>
                    <a:lnTo>
                      <a:pt x="0" y="10324"/>
                    </a:lnTo>
                    <a:lnTo>
                      <a:pt x="13" y="10465"/>
                    </a:lnTo>
                    <a:lnTo>
                      <a:pt x="39" y="10593"/>
                    </a:lnTo>
                    <a:lnTo>
                      <a:pt x="103" y="10721"/>
                    </a:lnTo>
                    <a:lnTo>
                      <a:pt x="192" y="10836"/>
                    </a:lnTo>
                    <a:lnTo>
                      <a:pt x="308" y="10939"/>
                    </a:lnTo>
                    <a:lnTo>
                      <a:pt x="397" y="10990"/>
                    </a:lnTo>
                    <a:lnTo>
                      <a:pt x="513" y="11041"/>
                    </a:lnTo>
                    <a:lnTo>
                      <a:pt x="615" y="11067"/>
                    </a:lnTo>
                    <a:lnTo>
                      <a:pt x="807" y="11067"/>
                    </a:lnTo>
                    <a:lnTo>
                      <a:pt x="897" y="11054"/>
                    </a:lnTo>
                    <a:lnTo>
                      <a:pt x="974" y="11028"/>
                    </a:lnTo>
                    <a:lnTo>
                      <a:pt x="1051" y="10990"/>
                    </a:lnTo>
                    <a:lnTo>
                      <a:pt x="1127" y="10952"/>
                    </a:lnTo>
                    <a:lnTo>
                      <a:pt x="1204" y="10900"/>
                    </a:lnTo>
                    <a:lnTo>
                      <a:pt x="1268" y="10836"/>
                    </a:lnTo>
                    <a:lnTo>
                      <a:pt x="1320" y="10759"/>
                    </a:lnTo>
                    <a:lnTo>
                      <a:pt x="4112" y="6866"/>
                    </a:lnTo>
                    <a:lnTo>
                      <a:pt x="4176" y="6763"/>
                    </a:lnTo>
                    <a:lnTo>
                      <a:pt x="4214" y="6661"/>
                    </a:lnTo>
                    <a:lnTo>
                      <a:pt x="4240" y="6546"/>
                    </a:lnTo>
                    <a:lnTo>
                      <a:pt x="4253" y="6443"/>
                    </a:lnTo>
                    <a:lnTo>
                      <a:pt x="4253" y="731"/>
                    </a:lnTo>
                    <a:lnTo>
                      <a:pt x="4240" y="577"/>
                    </a:lnTo>
                    <a:lnTo>
                      <a:pt x="4189" y="436"/>
                    </a:lnTo>
                    <a:lnTo>
                      <a:pt x="4124" y="321"/>
                    </a:lnTo>
                    <a:lnTo>
                      <a:pt x="4035" y="206"/>
                    </a:lnTo>
                    <a:lnTo>
                      <a:pt x="3932" y="116"/>
                    </a:lnTo>
                    <a:lnTo>
                      <a:pt x="3804" y="52"/>
                    </a:lnTo>
                    <a:lnTo>
                      <a:pt x="3663" y="14"/>
                    </a:lnTo>
                    <a:lnTo>
                      <a:pt x="3522"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5" name="Google Shape;1794;p36">
                <a:extLst>
                  <a:ext uri="{FF2B5EF4-FFF2-40B4-BE49-F238E27FC236}">
                    <a16:creationId xmlns:a16="http://schemas.microsoft.com/office/drawing/2014/main" id="{E3D89AB9-22D4-CA68-4ACD-FFA641897DEC}"/>
                  </a:ext>
                </a:extLst>
              </p:cNvPr>
              <p:cNvSpPr/>
              <p:nvPr/>
            </p:nvSpPr>
            <p:spPr>
              <a:xfrm>
                <a:off x="4620784" y="3791379"/>
                <a:ext cx="1030526" cy="508117"/>
              </a:xfrm>
              <a:custGeom>
                <a:avLst/>
                <a:gdLst/>
                <a:ahLst/>
                <a:cxnLst/>
                <a:rect l="l" t="t" r="r" b="b"/>
                <a:pathLst>
                  <a:path w="20263" h="9991" extrusionOk="0">
                    <a:moveTo>
                      <a:pt x="731" y="0"/>
                    </a:moveTo>
                    <a:lnTo>
                      <a:pt x="590" y="13"/>
                    </a:lnTo>
                    <a:lnTo>
                      <a:pt x="449" y="51"/>
                    </a:lnTo>
                    <a:lnTo>
                      <a:pt x="321" y="128"/>
                    </a:lnTo>
                    <a:lnTo>
                      <a:pt x="219" y="218"/>
                    </a:lnTo>
                    <a:lnTo>
                      <a:pt x="129" y="320"/>
                    </a:lnTo>
                    <a:lnTo>
                      <a:pt x="65" y="448"/>
                    </a:lnTo>
                    <a:lnTo>
                      <a:pt x="14" y="577"/>
                    </a:lnTo>
                    <a:lnTo>
                      <a:pt x="1" y="730"/>
                    </a:lnTo>
                    <a:lnTo>
                      <a:pt x="1" y="9260"/>
                    </a:lnTo>
                    <a:lnTo>
                      <a:pt x="14" y="9401"/>
                    </a:lnTo>
                    <a:lnTo>
                      <a:pt x="65" y="9542"/>
                    </a:lnTo>
                    <a:lnTo>
                      <a:pt x="129" y="9670"/>
                    </a:lnTo>
                    <a:lnTo>
                      <a:pt x="219" y="9773"/>
                    </a:lnTo>
                    <a:lnTo>
                      <a:pt x="321" y="9862"/>
                    </a:lnTo>
                    <a:lnTo>
                      <a:pt x="449" y="9926"/>
                    </a:lnTo>
                    <a:lnTo>
                      <a:pt x="590" y="9978"/>
                    </a:lnTo>
                    <a:lnTo>
                      <a:pt x="731" y="9990"/>
                    </a:lnTo>
                    <a:lnTo>
                      <a:pt x="19533" y="9990"/>
                    </a:lnTo>
                    <a:lnTo>
                      <a:pt x="19674" y="9978"/>
                    </a:lnTo>
                    <a:lnTo>
                      <a:pt x="19815" y="9926"/>
                    </a:lnTo>
                    <a:lnTo>
                      <a:pt x="19943" y="9862"/>
                    </a:lnTo>
                    <a:lnTo>
                      <a:pt x="20045" y="9773"/>
                    </a:lnTo>
                    <a:lnTo>
                      <a:pt x="20135" y="9670"/>
                    </a:lnTo>
                    <a:lnTo>
                      <a:pt x="20199" y="9542"/>
                    </a:lnTo>
                    <a:lnTo>
                      <a:pt x="20237" y="9401"/>
                    </a:lnTo>
                    <a:lnTo>
                      <a:pt x="20263" y="9260"/>
                    </a:lnTo>
                    <a:lnTo>
                      <a:pt x="20237" y="9107"/>
                    </a:lnTo>
                    <a:lnTo>
                      <a:pt x="20199" y="8979"/>
                    </a:lnTo>
                    <a:lnTo>
                      <a:pt x="20135" y="8850"/>
                    </a:lnTo>
                    <a:lnTo>
                      <a:pt x="20045" y="8748"/>
                    </a:lnTo>
                    <a:lnTo>
                      <a:pt x="19943" y="8658"/>
                    </a:lnTo>
                    <a:lnTo>
                      <a:pt x="19815" y="8582"/>
                    </a:lnTo>
                    <a:lnTo>
                      <a:pt x="19674" y="8543"/>
                    </a:lnTo>
                    <a:lnTo>
                      <a:pt x="19533" y="8530"/>
                    </a:lnTo>
                    <a:lnTo>
                      <a:pt x="1461" y="8530"/>
                    </a:lnTo>
                    <a:lnTo>
                      <a:pt x="1461" y="730"/>
                    </a:lnTo>
                    <a:lnTo>
                      <a:pt x="1448" y="577"/>
                    </a:lnTo>
                    <a:lnTo>
                      <a:pt x="1410" y="448"/>
                    </a:lnTo>
                    <a:lnTo>
                      <a:pt x="1333" y="320"/>
                    </a:lnTo>
                    <a:lnTo>
                      <a:pt x="1243" y="218"/>
                    </a:lnTo>
                    <a:lnTo>
                      <a:pt x="1141" y="128"/>
                    </a:lnTo>
                    <a:lnTo>
                      <a:pt x="1013" y="51"/>
                    </a:lnTo>
                    <a:lnTo>
                      <a:pt x="885" y="13"/>
                    </a:lnTo>
                    <a:lnTo>
                      <a:pt x="731"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6" name="Google Shape;1795;p36">
                <a:extLst>
                  <a:ext uri="{FF2B5EF4-FFF2-40B4-BE49-F238E27FC236}">
                    <a16:creationId xmlns:a16="http://schemas.microsoft.com/office/drawing/2014/main" id="{8478E394-76CB-26DE-80D5-ACD281B88B94}"/>
                  </a:ext>
                </a:extLst>
              </p:cNvPr>
              <p:cNvSpPr/>
              <p:nvPr/>
            </p:nvSpPr>
            <p:spPr>
              <a:xfrm>
                <a:off x="4449498" y="3807653"/>
                <a:ext cx="1201814" cy="691153"/>
              </a:xfrm>
              <a:custGeom>
                <a:avLst/>
                <a:gdLst/>
                <a:ahLst/>
                <a:cxnLst/>
                <a:rect l="l" t="t" r="r" b="b"/>
                <a:pathLst>
                  <a:path w="23631" h="13590" extrusionOk="0">
                    <a:moveTo>
                      <a:pt x="730" y="0"/>
                    </a:moveTo>
                    <a:lnTo>
                      <a:pt x="577" y="13"/>
                    </a:lnTo>
                    <a:lnTo>
                      <a:pt x="449" y="52"/>
                    </a:lnTo>
                    <a:lnTo>
                      <a:pt x="321" y="128"/>
                    </a:lnTo>
                    <a:lnTo>
                      <a:pt x="205" y="218"/>
                    </a:lnTo>
                    <a:lnTo>
                      <a:pt x="129" y="321"/>
                    </a:lnTo>
                    <a:lnTo>
                      <a:pt x="52" y="449"/>
                    </a:lnTo>
                    <a:lnTo>
                      <a:pt x="13" y="577"/>
                    </a:lnTo>
                    <a:lnTo>
                      <a:pt x="0" y="730"/>
                    </a:lnTo>
                    <a:lnTo>
                      <a:pt x="0" y="12860"/>
                    </a:lnTo>
                    <a:lnTo>
                      <a:pt x="13" y="13000"/>
                    </a:lnTo>
                    <a:lnTo>
                      <a:pt x="52" y="13141"/>
                    </a:lnTo>
                    <a:lnTo>
                      <a:pt x="129" y="13269"/>
                    </a:lnTo>
                    <a:lnTo>
                      <a:pt x="205" y="13372"/>
                    </a:lnTo>
                    <a:lnTo>
                      <a:pt x="321" y="13462"/>
                    </a:lnTo>
                    <a:lnTo>
                      <a:pt x="449" y="13526"/>
                    </a:lnTo>
                    <a:lnTo>
                      <a:pt x="577" y="13577"/>
                    </a:lnTo>
                    <a:lnTo>
                      <a:pt x="730" y="13590"/>
                    </a:lnTo>
                    <a:lnTo>
                      <a:pt x="22901" y="13590"/>
                    </a:lnTo>
                    <a:lnTo>
                      <a:pt x="23042" y="13577"/>
                    </a:lnTo>
                    <a:lnTo>
                      <a:pt x="23183" y="13526"/>
                    </a:lnTo>
                    <a:lnTo>
                      <a:pt x="23311" y="13462"/>
                    </a:lnTo>
                    <a:lnTo>
                      <a:pt x="23413" y="13372"/>
                    </a:lnTo>
                    <a:lnTo>
                      <a:pt x="23503" y="13269"/>
                    </a:lnTo>
                    <a:lnTo>
                      <a:pt x="23567" y="13141"/>
                    </a:lnTo>
                    <a:lnTo>
                      <a:pt x="23605" y="13000"/>
                    </a:lnTo>
                    <a:lnTo>
                      <a:pt x="23631" y="12860"/>
                    </a:lnTo>
                    <a:lnTo>
                      <a:pt x="23605" y="12706"/>
                    </a:lnTo>
                    <a:lnTo>
                      <a:pt x="23567" y="12578"/>
                    </a:lnTo>
                    <a:lnTo>
                      <a:pt x="23503" y="12450"/>
                    </a:lnTo>
                    <a:lnTo>
                      <a:pt x="23413" y="12347"/>
                    </a:lnTo>
                    <a:lnTo>
                      <a:pt x="23311" y="12258"/>
                    </a:lnTo>
                    <a:lnTo>
                      <a:pt x="23183" y="12181"/>
                    </a:lnTo>
                    <a:lnTo>
                      <a:pt x="23042" y="12142"/>
                    </a:lnTo>
                    <a:lnTo>
                      <a:pt x="22901" y="12129"/>
                    </a:lnTo>
                    <a:lnTo>
                      <a:pt x="1461" y="12129"/>
                    </a:lnTo>
                    <a:lnTo>
                      <a:pt x="1461" y="730"/>
                    </a:lnTo>
                    <a:lnTo>
                      <a:pt x="1435" y="577"/>
                    </a:lnTo>
                    <a:lnTo>
                      <a:pt x="1396" y="449"/>
                    </a:lnTo>
                    <a:lnTo>
                      <a:pt x="1332" y="321"/>
                    </a:lnTo>
                    <a:lnTo>
                      <a:pt x="1243" y="218"/>
                    </a:lnTo>
                    <a:lnTo>
                      <a:pt x="1128" y="128"/>
                    </a:lnTo>
                    <a:lnTo>
                      <a:pt x="1012" y="52"/>
                    </a:lnTo>
                    <a:lnTo>
                      <a:pt x="871" y="13"/>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7" name="Google Shape;1796;p36">
                <a:extLst>
                  <a:ext uri="{FF2B5EF4-FFF2-40B4-BE49-F238E27FC236}">
                    <a16:creationId xmlns:a16="http://schemas.microsoft.com/office/drawing/2014/main" id="{EF988558-03B4-47A0-D036-FB450607C102}"/>
                  </a:ext>
                </a:extLst>
              </p:cNvPr>
              <p:cNvSpPr/>
              <p:nvPr/>
            </p:nvSpPr>
            <p:spPr>
              <a:xfrm>
                <a:off x="4792781" y="3791379"/>
                <a:ext cx="858525" cy="308807"/>
              </a:xfrm>
              <a:custGeom>
                <a:avLst/>
                <a:gdLst/>
                <a:ahLst/>
                <a:cxnLst/>
                <a:rect l="l" t="t" r="r" b="b"/>
                <a:pathLst>
                  <a:path w="16881" h="6072" extrusionOk="0">
                    <a:moveTo>
                      <a:pt x="730" y="0"/>
                    </a:moveTo>
                    <a:lnTo>
                      <a:pt x="577" y="26"/>
                    </a:lnTo>
                    <a:lnTo>
                      <a:pt x="436" y="64"/>
                    </a:lnTo>
                    <a:lnTo>
                      <a:pt x="320" y="128"/>
                    </a:lnTo>
                    <a:lnTo>
                      <a:pt x="205" y="218"/>
                    </a:lnTo>
                    <a:lnTo>
                      <a:pt x="115" y="333"/>
                    </a:lnTo>
                    <a:lnTo>
                      <a:pt x="51" y="448"/>
                    </a:lnTo>
                    <a:lnTo>
                      <a:pt x="13" y="589"/>
                    </a:lnTo>
                    <a:lnTo>
                      <a:pt x="0" y="730"/>
                    </a:lnTo>
                    <a:lnTo>
                      <a:pt x="0" y="5341"/>
                    </a:lnTo>
                    <a:lnTo>
                      <a:pt x="13" y="5482"/>
                    </a:lnTo>
                    <a:lnTo>
                      <a:pt x="51" y="5623"/>
                    </a:lnTo>
                    <a:lnTo>
                      <a:pt x="115" y="5751"/>
                    </a:lnTo>
                    <a:lnTo>
                      <a:pt x="205" y="5853"/>
                    </a:lnTo>
                    <a:lnTo>
                      <a:pt x="320" y="5943"/>
                    </a:lnTo>
                    <a:lnTo>
                      <a:pt x="436" y="6007"/>
                    </a:lnTo>
                    <a:lnTo>
                      <a:pt x="577" y="6058"/>
                    </a:lnTo>
                    <a:lnTo>
                      <a:pt x="730" y="6071"/>
                    </a:lnTo>
                    <a:lnTo>
                      <a:pt x="16151" y="6071"/>
                    </a:lnTo>
                    <a:lnTo>
                      <a:pt x="16292" y="6058"/>
                    </a:lnTo>
                    <a:lnTo>
                      <a:pt x="16433" y="6007"/>
                    </a:lnTo>
                    <a:lnTo>
                      <a:pt x="16561" y="5943"/>
                    </a:lnTo>
                    <a:lnTo>
                      <a:pt x="16663" y="5853"/>
                    </a:lnTo>
                    <a:lnTo>
                      <a:pt x="16753" y="5751"/>
                    </a:lnTo>
                    <a:lnTo>
                      <a:pt x="16817" y="5623"/>
                    </a:lnTo>
                    <a:lnTo>
                      <a:pt x="16855" y="5482"/>
                    </a:lnTo>
                    <a:lnTo>
                      <a:pt x="16881" y="5341"/>
                    </a:lnTo>
                    <a:lnTo>
                      <a:pt x="16855" y="5187"/>
                    </a:lnTo>
                    <a:lnTo>
                      <a:pt x="16817" y="5059"/>
                    </a:lnTo>
                    <a:lnTo>
                      <a:pt x="16753" y="4931"/>
                    </a:lnTo>
                    <a:lnTo>
                      <a:pt x="16663" y="4829"/>
                    </a:lnTo>
                    <a:lnTo>
                      <a:pt x="16561" y="4739"/>
                    </a:lnTo>
                    <a:lnTo>
                      <a:pt x="16433" y="4662"/>
                    </a:lnTo>
                    <a:lnTo>
                      <a:pt x="16292" y="4624"/>
                    </a:lnTo>
                    <a:lnTo>
                      <a:pt x="16151" y="4611"/>
                    </a:lnTo>
                    <a:lnTo>
                      <a:pt x="1460" y="4611"/>
                    </a:lnTo>
                    <a:lnTo>
                      <a:pt x="1460" y="730"/>
                    </a:lnTo>
                    <a:lnTo>
                      <a:pt x="1435" y="589"/>
                    </a:lnTo>
                    <a:lnTo>
                      <a:pt x="1396" y="448"/>
                    </a:lnTo>
                    <a:lnTo>
                      <a:pt x="1332" y="333"/>
                    </a:lnTo>
                    <a:lnTo>
                      <a:pt x="1243" y="218"/>
                    </a:lnTo>
                    <a:lnTo>
                      <a:pt x="1127" y="128"/>
                    </a:lnTo>
                    <a:lnTo>
                      <a:pt x="1012" y="64"/>
                    </a:lnTo>
                    <a:lnTo>
                      <a:pt x="871" y="26"/>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8" name="Google Shape;1797;p36">
                <a:extLst>
                  <a:ext uri="{FF2B5EF4-FFF2-40B4-BE49-F238E27FC236}">
                    <a16:creationId xmlns:a16="http://schemas.microsoft.com/office/drawing/2014/main" id="{47FE7778-6EC6-BD53-8DCE-01DDC6DA5590}"/>
                  </a:ext>
                </a:extLst>
              </p:cNvPr>
              <p:cNvSpPr/>
              <p:nvPr/>
            </p:nvSpPr>
            <p:spPr>
              <a:xfrm>
                <a:off x="3409938" y="1689417"/>
                <a:ext cx="2324137" cy="1839516"/>
              </a:xfrm>
              <a:custGeom>
                <a:avLst/>
                <a:gdLst/>
                <a:ahLst/>
                <a:cxnLst/>
                <a:rect l="l" t="t" r="r" b="b"/>
                <a:pathLst>
                  <a:path w="45699" h="36170" extrusionOk="0">
                    <a:moveTo>
                      <a:pt x="0" y="0"/>
                    </a:moveTo>
                    <a:lnTo>
                      <a:pt x="0" y="36170"/>
                    </a:lnTo>
                    <a:lnTo>
                      <a:pt x="45699" y="36170"/>
                    </a:lnTo>
                    <a:lnTo>
                      <a:pt x="45699"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9" name="Google Shape;1798;p36">
                <a:extLst>
                  <a:ext uri="{FF2B5EF4-FFF2-40B4-BE49-F238E27FC236}">
                    <a16:creationId xmlns:a16="http://schemas.microsoft.com/office/drawing/2014/main" id="{E4B77A21-C012-3C09-D3EC-BF5488FEA842}"/>
                  </a:ext>
                </a:extLst>
              </p:cNvPr>
              <p:cNvSpPr/>
              <p:nvPr/>
            </p:nvSpPr>
            <p:spPr>
              <a:xfrm>
                <a:off x="3604007" y="1882876"/>
                <a:ext cx="1936603" cy="1452592"/>
              </a:xfrm>
              <a:custGeom>
                <a:avLst/>
                <a:gdLst/>
                <a:ahLst/>
                <a:cxnLst/>
                <a:rect l="l" t="t" r="r" b="b"/>
                <a:pathLst>
                  <a:path w="38079" h="28562" extrusionOk="0">
                    <a:moveTo>
                      <a:pt x="1" y="0"/>
                    </a:moveTo>
                    <a:lnTo>
                      <a:pt x="1" y="28562"/>
                    </a:lnTo>
                    <a:lnTo>
                      <a:pt x="38079" y="28562"/>
                    </a:lnTo>
                    <a:lnTo>
                      <a:pt x="38079"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0" name="Google Shape;1799;p36">
                <a:extLst>
                  <a:ext uri="{FF2B5EF4-FFF2-40B4-BE49-F238E27FC236}">
                    <a16:creationId xmlns:a16="http://schemas.microsoft.com/office/drawing/2014/main" id="{607C201B-8D4B-9A2D-4308-F0E0767BD776}"/>
                  </a:ext>
                </a:extLst>
              </p:cNvPr>
              <p:cNvSpPr/>
              <p:nvPr/>
            </p:nvSpPr>
            <p:spPr>
              <a:xfrm>
                <a:off x="3681512" y="1936276"/>
                <a:ext cx="1781589" cy="1345791"/>
              </a:xfrm>
              <a:custGeom>
                <a:avLst/>
                <a:gdLst/>
                <a:ahLst/>
                <a:cxnLst/>
                <a:rect l="l" t="t" r="r" b="b"/>
                <a:pathLst>
                  <a:path w="35031" h="26462" extrusionOk="0">
                    <a:moveTo>
                      <a:pt x="1" y="0"/>
                    </a:moveTo>
                    <a:lnTo>
                      <a:pt x="1" y="26461"/>
                    </a:lnTo>
                    <a:lnTo>
                      <a:pt x="35030" y="26461"/>
                    </a:lnTo>
                    <a:lnTo>
                      <a:pt x="35030" y="0"/>
                    </a:lnTo>
                    <a:close/>
                  </a:path>
                </a:pathLst>
              </a:custGeom>
              <a:solidFill>
                <a:srgbClr val="FFFF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1" name="Google Shape;1800;p36">
                <a:extLst>
                  <a:ext uri="{FF2B5EF4-FFF2-40B4-BE49-F238E27FC236}">
                    <a16:creationId xmlns:a16="http://schemas.microsoft.com/office/drawing/2014/main" id="{67EA8568-88F9-0B92-A174-CBC22634A801}"/>
                  </a:ext>
                </a:extLst>
              </p:cNvPr>
              <p:cNvSpPr/>
              <p:nvPr/>
            </p:nvSpPr>
            <p:spPr>
              <a:xfrm>
                <a:off x="4155750" y="3528856"/>
                <a:ext cx="833148" cy="89306"/>
              </a:xfrm>
              <a:custGeom>
                <a:avLst/>
                <a:gdLst/>
                <a:ahLst/>
                <a:cxnLst/>
                <a:rect l="l" t="t" r="r" b="b"/>
                <a:pathLst>
                  <a:path w="16382" h="1756" extrusionOk="0">
                    <a:moveTo>
                      <a:pt x="0" y="1"/>
                    </a:moveTo>
                    <a:lnTo>
                      <a:pt x="3433" y="1755"/>
                    </a:lnTo>
                    <a:lnTo>
                      <a:pt x="12949" y="1755"/>
                    </a:lnTo>
                    <a:lnTo>
                      <a:pt x="1638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2" name="Google Shape;1801;p36">
                <a:extLst>
                  <a:ext uri="{FF2B5EF4-FFF2-40B4-BE49-F238E27FC236}">
                    <a16:creationId xmlns:a16="http://schemas.microsoft.com/office/drawing/2014/main" id="{3B318E51-B613-F666-4A38-00FBDAED40FA}"/>
                  </a:ext>
                </a:extLst>
              </p:cNvPr>
              <p:cNvSpPr/>
              <p:nvPr/>
            </p:nvSpPr>
            <p:spPr>
              <a:xfrm>
                <a:off x="4233256" y="3699531"/>
                <a:ext cx="678134" cy="89255"/>
              </a:xfrm>
              <a:custGeom>
                <a:avLst/>
                <a:gdLst/>
                <a:ahLst/>
                <a:cxnLst/>
                <a:rect l="l" t="t" r="r" b="b"/>
                <a:pathLst>
                  <a:path w="13334" h="1755" extrusionOk="0">
                    <a:moveTo>
                      <a:pt x="1909" y="0"/>
                    </a:moveTo>
                    <a:lnTo>
                      <a:pt x="0" y="1755"/>
                    </a:lnTo>
                    <a:lnTo>
                      <a:pt x="13333" y="1755"/>
                    </a:lnTo>
                    <a:lnTo>
                      <a:pt x="11425"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3" name="Google Shape;1802;p36">
                <a:extLst>
                  <a:ext uri="{FF2B5EF4-FFF2-40B4-BE49-F238E27FC236}">
                    <a16:creationId xmlns:a16="http://schemas.microsoft.com/office/drawing/2014/main" id="{39E2EB65-DB68-8738-4F66-6876055A3920}"/>
                  </a:ext>
                </a:extLst>
              </p:cNvPr>
              <p:cNvSpPr/>
              <p:nvPr/>
            </p:nvSpPr>
            <p:spPr>
              <a:xfrm>
                <a:off x="4330290" y="3618110"/>
                <a:ext cx="483401" cy="81474"/>
              </a:xfrm>
              <a:custGeom>
                <a:avLst/>
                <a:gdLst/>
                <a:ahLst/>
                <a:cxnLst/>
                <a:rect l="l" t="t" r="r" b="b"/>
                <a:pathLst>
                  <a:path w="9505" h="1602" extrusionOk="0">
                    <a:moveTo>
                      <a:pt x="1" y="0"/>
                    </a:moveTo>
                    <a:lnTo>
                      <a:pt x="1" y="1601"/>
                    </a:lnTo>
                    <a:lnTo>
                      <a:pt x="9504" y="1601"/>
                    </a:lnTo>
                    <a:lnTo>
                      <a:pt x="9504"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4" name="Google Shape;1803;p36">
                <a:extLst>
                  <a:ext uri="{FF2B5EF4-FFF2-40B4-BE49-F238E27FC236}">
                    <a16:creationId xmlns:a16="http://schemas.microsoft.com/office/drawing/2014/main" id="{9719A7A0-21A1-DE32-224D-1D265EE35B6A}"/>
                  </a:ext>
                </a:extLst>
              </p:cNvPr>
              <p:cNvSpPr/>
              <p:nvPr/>
            </p:nvSpPr>
            <p:spPr>
              <a:xfrm>
                <a:off x="4255379" y="1595587"/>
                <a:ext cx="633837" cy="93883"/>
              </a:xfrm>
              <a:custGeom>
                <a:avLst/>
                <a:gdLst/>
                <a:ahLst/>
                <a:cxnLst/>
                <a:rect l="l" t="t" r="r" b="b"/>
                <a:pathLst>
                  <a:path w="12463" h="1846" extrusionOk="0">
                    <a:moveTo>
                      <a:pt x="1704" y="1"/>
                    </a:moveTo>
                    <a:lnTo>
                      <a:pt x="1538" y="14"/>
                    </a:lnTo>
                    <a:lnTo>
                      <a:pt x="1358" y="39"/>
                    </a:lnTo>
                    <a:lnTo>
                      <a:pt x="1205" y="78"/>
                    </a:lnTo>
                    <a:lnTo>
                      <a:pt x="1038" y="142"/>
                    </a:lnTo>
                    <a:lnTo>
                      <a:pt x="897" y="206"/>
                    </a:lnTo>
                    <a:lnTo>
                      <a:pt x="756" y="295"/>
                    </a:lnTo>
                    <a:lnTo>
                      <a:pt x="615" y="398"/>
                    </a:lnTo>
                    <a:lnTo>
                      <a:pt x="500" y="500"/>
                    </a:lnTo>
                    <a:lnTo>
                      <a:pt x="385" y="628"/>
                    </a:lnTo>
                    <a:lnTo>
                      <a:pt x="295" y="756"/>
                    </a:lnTo>
                    <a:lnTo>
                      <a:pt x="206" y="897"/>
                    </a:lnTo>
                    <a:lnTo>
                      <a:pt x="129" y="1051"/>
                    </a:lnTo>
                    <a:lnTo>
                      <a:pt x="78" y="1205"/>
                    </a:lnTo>
                    <a:lnTo>
                      <a:pt x="39" y="1371"/>
                    </a:lnTo>
                    <a:lnTo>
                      <a:pt x="13" y="1538"/>
                    </a:lnTo>
                    <a:lnTo>
                      <a:pt x="1" y="1717"/>
                    </a:lnTo>
                    <a:lnTo>
                      <a:pt x="1" y="1845"/>
                    </a:lnTo>
                    <a:lnTo>
                      <a:pt x="12463" y="1845"/>
                    </a:lnTo>
                    <a:lnTo>
                      <a:pt x="12463" y="1717"/>
                    </a:lnTo>
                    <a:lnTo>
                      <a:pt x="12450" y="1538"/>
                    </a:lnTo>
                    <a:lnTo>
                      <a:pt x="12424" y="1371"/>
                    </a:lnTo>
                    <a:lnTo>
                      <a:pt x="12386" y="1205"/>
                    </a:lnTo>
                    <a:lnTo>
                      <a:pt x="12322" y="1051"/>
                    </a:lnTo>
                    <a:lnTo>
                      <a:pt x="12258" y="897"/>
                    </a:lnTo>
                    <a:lnTo>
                      <a:pt x="12168" y="756"/>
                    </a:lnTo>
                    <a:lnTo>
                      <a:pt x="12066" y="628"/>
                    </a:lnTo>
                    <a:lnTo>
                      <a:pt x="11963" y="500"/>
                    </a:lnTo>
                    <a:lnTo>
                      <a:pt x="11835" y="398"/>
                    </a:lnTo>
                    <a:lnTo>
                      <a:pt x="11707" y="295"/>
                    </a:lnTo>
                    <a:lnTo>
                      <a:pt x="11566" y="206"/>
                    </a:lnTo>
                    <a:lnTo>
                      <a:pt x="11412" y="142"/>
                    </a:lnTo>
                    <a:lnTo>
                      <a:pt x="11259" y="78"/>
                    </a:lnTo>
                    <a:lnTo>
                      <a:pt x="11092" y="39"/>
                    </a:lnTo>
                    <a:lnTo>
                      <a:pt x="10926" y="14"/>
                    </a:lnTo>
                    <a:lnTo>
                      <a:pt x="10746" y="1"/>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5" name="Google Shape;1804;p36">
                <a:extLst>
                  <a:ext uri="{FF2B5EF4-FFF2-40B4-BE49-F238E27FC236}">
                    <a16:creationId xmlns:a16="http://schemas.microsoft.com/office/drawing/2014/main" id="{F1AC2D7B-2FA7-5C90-3199-0E8B2C9B0A65}"/>
                  </a:ext>
                </a:extLst>
              </p:cNvPr>
              <p:cNvSpPr/>
              <p:nvPr/>
            </p:nvSpPr>
            <p:spPr>
              <a:xfrm>
                <a:off x="4714614" y="2808470"/>
                <a:ext cx="323759" cy="233232"/>
              </a:xfrm>
              <a:custGeom>
                <a:avLst/>
                <a:gdLst/>
                <a:ahLst/>
                <a:cxnLst/>
                <a:rect l="l" t="t" r="r" b="b"/>
                <a:pathLst>
                  <a:path w="6366" h="4586" extrusionOk="0">
                    <a:moveTo>
                      <a:pt x="487" y="0"/>
                    </a:moveTo>
                    <a:lnTo>
                      <a:pt x="384" y="13"/>
                    </a:lnTo>
                    <a:lnTo>
                      <a:pt x="295" y="39"/>
                    </a:lnTo>
                    <a:lnTo>
                      <a:pt x="218" y="90"/>
                    </a:lnTo>
                    <a:lnTo>
                      <a:pt x="141" y="141"/>
                    </a:lnTo>
                    <a:lnTo>
                      <a:pt x="90" y="218"/>
                    </a:lnTo>
                    <a:lnTo>
                      <a:pt x="39" y="295"/>
                    </a:lnTo>
                    <a:lnTo>
                      <a:pt x="13" y="397"/>
                    </a:lnTo>
                    <a:lnTo>
                      <a:pt x="0" y="487"/>
                    </a:lnTo>
                    <a:lnTo>
                      <a:pt x="0" y="4099"/>
                    </a:lnTo>
                    <a:lnTo>
                      <a:pt x="13" y="4201"/>
                    </a:lnTo>
                    <a:lnTo>
                      <a:pt x="39" y="4291"/>
                    </a:lnTo>
                    <a:lnTo>
                      <a:pt x="90" y="4368"/>
                    </a:lnTo>
                    <a:lnTo>
                      <a:pt x="141" y="4444"/>
                    </a:lnTo>
                    <a:lnTo>
                      <a:pt x="218" y="4496"/>
                    </a:lnTo>
                    <a:lnTo>
                      <a:pt x="295" y="4547"/>
                    </a:lnTo>
                    <a:lnTo>
                      <a:pt x="384" y="4573"/>
                    </a:lnTo>
                    <a:lnTo>
                      <a:pt x="487" y="4585"/>
                    </a:lnTo>
                    <a:lnTo>
                      <a:pt x="5879" y="4585"/>
                    </a:lnTo>
                    <a:lnTo>
                      <a:pt x="5981" y="4573"/>
                    </a:lnTo>
                    <a:lnTo>
                      <a:pt x="6071" y="4547"/>
                    </a:lnTo>
                    <a:lnTo>
                      <a:pt x="6148" y="4496"/>
                    </a:lnTo>
                    <a:lnTo>
                      <a:pt x="6225" y="4444"/>
                    </a:lnTo>
                    <a:lnTo>
                      <a:pt x="6289" y="4368"/>
                    </a:lnTo>
                    <a:lnTo>
                      <a:pt x="6327" y="4291"/>
                    </a:lnTo>
                    <a:lnTo>
                      <a:pt x="6353" y="4201"/>
                    </a:lnTo>
                    <a:lnTo>
                      <a:pt x="6366" y="4099"/>
                    </a:lnTo>
                    <a:lnTo>
                      <a:pt x="6353" y="3996"/>
                    </a:lnTo>
                    <a:lnTo>
                      <a:pt x="6327" y="3907"/>
                    </a:lnTo>
                    <a:lnTo>
                      <a:pt x="6289" y="3830"/>
                    </a:lnTo>
                    <a:lnTo>
                      <a:pt x="6225" y="3753"/>
                    </a:lnTo>
                    <a:lnTo>
                      <a:pt x="6148" y="3689"/>
                    </a:lnTo>
                    <a:lnTo>
                      <a:pt x="6071" y="3650"/>
                    </a:lnTo>
                    <a:lnTo>
                      <a:pt x="5981" y="3625"/>
                    </a:lnTo>
                    <a:lnTo>
                      <a:pt x="5879" y="3612"/>
                    </a:lnTo>
                    <a:lnTo>
                      <a:pt x="974" y="3612"/>
                    </a:lnTo>
                    <a:lnTo>
                      <a:pt x="974" y="487"/>
                    </a:lnTo>
                    <a:lnTo>
                      <a:pt x="961" y="397"/>
                    </a:lnTo>
                    <a:lnTo>
                      <a:pt x="935" y="295"/>
                    </a:lnTo>
                    <a:lnTo>
                      <a:pt x="897" y="218"/>
                    </a:lnTo>
                    <a:lnTo>
                      <a:pt x="833" y="141"/>
                    </a:lnTo>
                    <a:lnTo>
                      <a:pt x="756" y="90"/>
                    </a:lnTo>
                    <a:lnTo>
                      <a:pt x="679" y="39"/>
                    </a:lnTo>
                    <a:lnTo>
                      <a:pt x="589" y="13"/>
                    </a:lnTo>
                    <a:lnTo>
                      <a:pt x="487" y="0"/>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6" name="Google Shape;1805;p36">
                <a:extLst>
                  <a:ext uri="{FF2B5EF4-FFF2-40B4-BE49-F238E27FC236}">
                    <a16:creationId xmlns:a16="http://schemas.microsoft.com/office/drawing/2014/main" id="{398C9C8D-517B-0946-89BC-E42801AA068C}"/>
                  </a:ext>
                </a:extLst>
              </p:cNvPr>
              <p:cNvSpPr/>
              <p:nvPr/>
            </p:nvSpPr>
            <p:spPr>
              <a:xfrm>
                <a:off x="4691169" y="2173370"/>
                <a:ext cx="356359" cy="147232"/>
              </a:xfrm>
              <a:custGeom>
                <a:avLst/>
                <a:gdLst/>
                <a:ahLst/>
                <a:cxnLst/>
                <a:rect l="l" t="t" r="r" b="b"/>
                <a:pathLst>
                  <a:path w="7007" h="2895" extrusionOk="0">
                    <a:moveTo>
                      <a:pt x="2318" y="0"/>
                    </a:moveTo>
                    <a:lnTo>
                      <a:pt x="2229" y="26"/>
                    </a:lnTo>
                    <a:lnTo>
                      <a:pt x="2139" y="77"/>
                    </a:lnTo>
                    <a:lnTo>
                      <a:pt x="2075" y="141"/>
                    </a:lnTo>
                    <a:lnTo>
                      <a:pt x="141" y="2062"/>
                    </a:lnTo>
                    <a:lnTo>
                      <a:pt x="77" y="2139"/>
                    </a:lnTo>
                    <a:lnTo>
                      <a:pt x="39" y="2229"/>
                    </a:lnTo>
                    <a:lnTo>
                      <a:pt x="0" y="2319"/>
                    </a:lnTo>
                    <a:lnTo>
                      <a:pt x="0" y="2408"/>
                    </a:lnTo>
                    <a:lnTo>
                      <a:pt x="0" y="2498"/>
                    </a:lnTo>
                    <a:lnTo>
                      <a:pt x="39" y="2588"/>
                    </a:lnTo>
                    <a:lnTo>
                      <a:pt x="77" y="2677"/>
                    </a:lnTo>
                    <a:lnTo>
                      <a:pt x="141" y="2754"/>
                    </a:lnTo>
                    <a:lnTo>
                      <a:pt x="218" y="2818"/>
                    </a:lnTo>
                    <a:lnTo>
                      <a:pt x="295" y="2857"/>
                    </a:lnTo>
                    <a:lnTo>
                      <a:pt x="384" y="2882"/>
                    </a:lnTo>
                    <a:lnTo>
                      <a:pt x="487" y="2895"/>
                    </a:lnTo>
                    <a:lnTo>
                      <a:pt x="576" y="2882"/>
                    </a:lnTo>
                    <a:lnTo>
                      <a:pt x="666" y="2857"/>
                    </a:lnTo>
                    <a:lnTo>
                      <a:pt x="743" y="2818"/>
                    </a:lnTo>
                    <a:lnTo>
                      <a:pt x="820" y="2754"/>
                    </a:lnTo>
                    <a:lnTo>
                      <a:pt x="2613" y="961"/>
                    </a:lnTo>
                    <a:lnTo>
                      <a:pt x="6609" y="961"/>
                    </a:lnTo>
                    <a:lnTo>
                      <a:pt x="6699" y="923"/>
                    </a:lnTo>
                    <a:lnTo>
                      <a:pt x="6788" y="884"/>
                    </a:lnTo>
                    <a:lnTo>
                      <a:pt x="6852" y="820"/>
                    </a:lnTo>
                    <a:lnTo>
                      <a:pt x="6916" y="756"/>
                    </a:lnTo>
                    <a:lnTo>
                      <a:pt x="6968" y="666"/>
                    </a:lnTo>
                    <a:lnTo>
                      <a:pt x="6993" y="577"/>
                    </a:lnTo>
                    <a:lnTo>
                      <a:pt x="7006" y="487"/>
                    </a:lnTo>
                    <a:lnTo>
                      <a:pt x="6993" y="385"/>
                    </a:lnTo>
                    <a:lnTo>
                      <a:pt x="6968" y="295"/>
                    </a:lnTo>
                    <a:lnTo>
                      <a:pt x="6916" y="205"/>
                    </a:lnTo>
                    <a:lnTo>
                      <a:pt x="6852" y="141"/>
                    </a:lnTo>
                    <a:lnTo>
                      <a:pt x="6788" y="77"/>
                    </a:lnTo>
                    <a:lnTo>
                      <a:pt x="6699" y="39"/>
                    </a:lnTo>
                    <a:lnTo>
                      <a:pt x="6609"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7" name="Google Shape;1806;p36">
                <a:extLst>
                  <a:ext uri="{FF2B5EF4-FFF2-40B4-BE49-F238E27FC236}">
                    <a16:creationId xmlns:a16="http://schemas.microsoft.com/office/drawing/2014/main" id="{7C640725-8FD3-BBCC-9F67-9ED4B7823488}"/>
                  </a:ext>
                </a:extLst>
              </p:cNvPr>
              <p:cNvSpPr/>
              <p:nvPr/>
            </p:nvSpPr>
            <p:spPr>
              <a:xfrm>
                <a:off x="3827420" y="2347911"/>
                <a:ext cx="323810" cy="313384"/>
              </a:xfrm>
              <a:custGeom>
                <a:avLst/>
                <a:gdLst/>
                <a:ahLst/>
                <a:cxnLst/>
                <a:rect l="l" t="t" r="r" b="b"/>
                <a:pathLst>
                  <a:path w="6367" h="6162" extrusionOk="0">
                    <a:moveTo>
                      <a:pt x="3088" y="1"/>
                    </a:moveTo>
                    <a:lnTo>
                      <a:pt x="2985" y="14"/>
                    </a:lnTo>
                    <a:lnTo>
                      <a:pt x="2896" y="39"/>
                    </a:lnTo>
                    <a:lnTo>
                      <a:pt x="2819" y="91"/>
                    </a:lnTo>
                    <a:lnTo>
                      <a:pt x="2742" y="155"/>
                    </a:lnTo>
                    <a:lnTo>
                      <a:pt x="2678" y="219"/>
                    </a:lnTo>
                    <a:lnTo>
                      <a:pt x="2639" y="308"/>
                    </a:lnTo>
                    <a:lnTo>
                      <a:pt x="2614" y="398"/>
                    </a:lnTo>
                    <a:lnTo>
                      <a:pt x="2601" y="488"/>
                    </a:lnTo>
                    <a:lnTo>
                      <a:pt x="2601" y="1320"/>
                    </a:lnTo>
                    <a:lnTo>
                      <a:pt x="488" y="1320"/>
                    </a:lnTo>
                    <a:lnTo>
                      <a:pt x="385" y="1333"/>
                    </a:lnTo>
                    <a:lnTo>
                      <a:pt x="296" y="1359"/>
                    </a:lnTo>
                    <a:lnTo>
                      <a:pt x="206" y="1410"/>
                    </a:lnTo>
                    <a:lnTo>
                      <a:pt x="142" y="1461"/>
                    </a:lnTo>
                    <a:lnTo>
                      <a:pt x="78" y="1538"/>
                    </a:lnTo>
                    <a:lnTo>
                      <a:pt x="39" y="1615"/>
                    </a:lnTo>
                    <a:lnTo>
                      <a:pt x="1" y="1717"/>
                    </a:lnTo>
                    <a:lnTo>
                      <a:pt x="1" y="1807"/>
                    </a:lnTo>
                    <a:lnTo>
                      <a:pt x="1" y="4163"/>
                    </a:lnTo>
                    <a:lnTo>
                      <a:pt x="1" y="4253"/>
                    </a:lnTo>
                    <a:lnTo>
                      <a:pt x="39" y="4343"/>
                    </a:lnTo>
                    <a:lnTo>
                      <a:pt x="78" y="4432"/>
                    </a:lnTo>
                    <a:lnTo>
                      <a:pt x="142" y="4496"/>
                    </a:lnTo>
                    <a:lnTo>
                      <a:pt x="206" y="4561"/>
                    </a:lnTo>
                    <a:lnTo>
                      <a:pt x="296" y="4599"/>
                    </a:lnTo>
                    <a:lnTo>
                      <a:pt x="385" y="4637"/>
                    </a:lnTo>
                    <a:lnTo>
                      <a:pt x="1141" y="4637"/>
                    </a:lnTo>
                    <a:lnTo>
                      <a:pt x="1141" y="5675"/>
                    </a:lnTo>
                    <a:lnTo>
                      <a:pt x="1154" y="5777"/>
                    </a:lnTo>
                    <a:lnTo>
                      <a:pt x="1179" y="5867"/>
                    </a:lnTo>
                    <a:lnTo>
                      <a:pt x="1218" y="5957"/>
                    </a:lnTo>
                    <a:lnTo>
                      <a:pt x="1282" y="6021"/>
                    </a:lnTo>
                    <a:lnTo>
                      <a:pt x="1359" y="6085"/>
                    </a:lnTo>
                    <a:lnTo>
                      <a:pt x="1435" y="6123"/>
                    </a:lnTo>
                    <a:lnTo>
                      <a:pt x="1525" y="6162"/>
                    </a:lnTo>
                    <a:lnTo>
                      <a:pt x="5982" y="6162"/>
                    </a:lnTo>
                    <a:lnTo>
                      <a:pt x="6072" y="6123"/>
                    </a:lnTo>
                    <a:lnTo>
                      <a:pt x="6162" y="6085"/>
                    </a:lnTo>
                    <a:lnTo>
                      <a:pt x="6226" y="6021"/>
                    </a:lnTo>
                    <a:lnTo>
                      <a:pt x="6290" y="5957"/>
                    </a:lnTo>
                    <a:lnTo>
                      <a:pt x="6328" y="5867"/>
                    </a:lnTo>
                    <a:lnTo>
                      <a:pt x="6354" y="5777"/>
                    </a:lnTo>
                    <a:lnTo>
                      <a:pt x="6366" y="5675"/>
                    </a:lnTo>
                    <a:lnTo>
                      <a:pt x="6354" y="5585"/>
                    </a:lnTo>
                    <a:lnTo>
                      <a:pt x="6328" y="5496"/>
                    </a:lnTo>
                    <a:lnTo>
                      <a:pt x="6290" y="5406"/>
                    </a:lnTo>
                    <a:lnTo>
                      <a:pt x="6226" y="5342"/>
                    </a:lnTo>
                    <a:lnTo>
                      <a:pt x="6162" y="5278"/>
                    </a:lnTo>
                    <a:lnTo>
                      <a:pt x="6072" y="5239"/>
                    </a:lnTo>
                    <a:lnTo>
                      <a:pt x="5982" y="5201"/>
                    </a:lnTo>
                    <a:lnTo>
                      <a:pt x="2114" y="5201"/>
                    </a:lnTo>
                    <a:lnTo>
                      <a:pt x="2114" y="4163"/>
                    </a:lnTo>
                    <a:lnTo>
                      <a:pt x="2101" y="4061"/>
                    </a:lnTo>
                    <a:lnTo>
                      <a:pt x="2076" y="3971"/>
                    </a:lnTo>
                    <a:lnTo>
                      <a:pt x="2025" y="3882"/>
                    </a:lnTo>
                    <a:lnTo>
                      <a:pt x="1973" y="3818"/>
                    </a:lnTo>
                    <a:lnTo>
                      <a:pt x="1896" y="3754"/>
                    </a:lnTo>
                    <a:lnTo>
                      <a:pt x="1820" y="3715"/>
                    </a:lnTo>
                    <a:lnTo>
                      <a:pt x="1717" y="3677"/>
                    </a:lnTo>
                    <a:lnTo>
                      <a:pt x="962" y="3677"/>
                    </a:lnTo>
                    <a:lnTo>
                      <a:pt x="962" y="2294"/>
                    </a:lnTo>
                    <a:lnTo>
                      <a:pt x="3088" y="2294"/>
                    </a:lnTo>
                    <a:lnTo>
                      <a:pt x="3177" y="2281"/>
                    </a:lnTo>
                    <a:lnTo>
                      <a:pt x="3280" y="2255"/>
                    </a:lnTo>
                    <a:lnTo>
                      <a:pt x="3357" y="2217"/>
                    </a:lnTo>
                    <a:lnTo>
                      <a:pt x="3433" y="2153"/>
                    </a:lnTo>
                    <a:lnTo>
                      <a:pt x="3485" y="2076"/>
                    </a:lnTo>
                    <a:lnTo>
                      <a:pt x="3536" y="1999"/>
                    </a:lnTo>
                    <a:lnTo>
                      <a:pt x="3562" y="1909"/>
                    </a:lnTo>
                    <a:lnTo>
                      <a:pt x="3574" y="1807"/>
                    </a:lnTo>
                    <a:lnTo>
                      <a:pt x="3574" y="488"/>
                    </a:lnTo>
                    <a:lnTo>
                      <a:pt x="3562" y="398"/>
                    </a:lnTo>
                    <a:lnTo>
                      <a:pt x="3536" y="308"/>
                    </a:lnTo>
                    <a:lnTo>
                      <a:pt x="3485" y="219"/>
                    </a:lnTo>
                    <a:lnTo>
                      <a:pt x="3433" y="155"/>
                    </a:lnTo>
                    <a:lnTo>
                      <a:pt x="3357" y="91"/>
                    </a:lnTo>
                    <a:lnTo>
                      <a:pt x="3280" y="39"/>
                    </a:lnTo>
                    <a:lnTo>
                      <a:pt x="3177" y="14"/>
                    </a:lnTo>
                    <a:lnTo>
                      <a:pt x="3088"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8" name="Google Shape;1807;p36">
                <a:extLst>
                  <a:ext uri="{FF2B5EF4-FFF2-40B4-BE49-F238E27FC236}">
                    <a16:creationId xmlns:a16="http://schemas.microsoft.com/office/drawing/2014/main" id="{88B76334-B3B7-12F5-3CDC-E45CDE7D4810}"/>
                  </a:ext>
                </a:extLst>
              </p:cNvPr>
              <p:cNvSpPr/>
              <p:nvPr/>
            </p:nvSpPr>
            <p:spPr>
              <a:xfrm>
                <a:off x="4130322" y="1079085"/>
                <a:ext cx="142045" cy="142706"/>
              </a:xfrm>
              <a:custGeom>
                <a:avLst/>
                <a:gdLst/>
                <a:ahLst/>
                <a:cxnLst/>
                <a:rect l="l" t="t" r="r" b="b"/>
                <a:pathLst>
                  <a:path w="2793" h="2806" extrusionOk="0">
                    <a:moveTo>
                      <a:pt x="1397" y="0"/>
                    </a:moveTo>
                    <a:lnTo>
                      <a:pt x="1256" y="13"/>
                    </a:lnTo>
                    <a:lnTo>
                      <a:pt x="1115" y="26"/>
                    </a:lnTo>
                    <a:lnTo>
                      <a:pt x="987" y="64"/>
                    </a:lnTo>
                    <a:lnTo>
                      <a:pt x="859" y="115"/>
                    </a:lnTo>
                    <a:lnTo>
                      <a:pt x="731" y="167"/>
                    </a:lnTo>
                    <a:lnTo>
                      <a:pt x="615" y="243"/>
                    </a:lnTo>
                    <a:lnTo>
                      <a:pt x="513" y="320"/>
                    </a:lnTo>
                    <a:lnTo>
                      <a:pt x="410" y="410"/>
                    </a:lnTo>
                    <a:lnTo>
                      <a:pt x="321" y="512"/>
                    </a:lnTo>
                    <a:lnTo>
                      <a:pt x="231" y="615"/>
                    </a:lnTo>
                    <a:lnTo>
                      <a:pt x="167" y="730"/>
                    </a:lnTo>
                    <a:lnTo>
                      <a:pt x="103" y="858"/>
                    </a:lnTo>
                    <a:lnTo>
                      <a:pt x="65" y="986"/>
                    </a:lnTo>
                    <a:lnTo>
                      <a:pt x="26" y="1114"/>
                    </a:lnTo>
                    <a:lnTo>
                      <a:pt x="1" y="1255"/>
                    </a:lnTo>
                    <a:lnTo>
                      <a:pt x="1" y="1409"/>
                    </a:lnTo>
                    <a:lnTo>
                      <a:pt x="1" y="1550"/>
                    </a:lnTo>
                    <a:lnTo>
                      <a:pt x="26" y="1691"/>
                    </a:lnTo>
                    <a:lnTo>
                      <a:pt x="65" y="1819"/>
                    </a:lnTo>
                    <a:lnTo>
                      <a:pt x="103" y="1947"/>
                    </a:lnTo>
                    <a:lnTo>
                      <a:pt x="167" y="2075"/>
                    </a:lnTo>
                    <a:lnTo>
                      <a:pt x="231" y="2190"/>
                    </a:lnTo>
                    <a:lnTo>
                      <a:pt x="321" y="2293"/>
                    </a:lnTo>
                    <a:lnTo>
                      <a:pt x="410" y="2395"/>
                    </a:lnTo>
                    <a:lnTo>
                      <a:pt x="513" y="2485"/>
                    </a:lnTo>
                    <a:lnTo>
                      <a:pt x="615" y="2562"/>
                    </a:lnTo>
                    <a:lnTo>
                      <a:pt x="731" y="2639"/>
                    </a:lnTo>
                    <a:lnTo>
                      <a:pt x="859" y="2690"/>
                    </a:lnTo>
                    <a:lnTo>
                      <a:pt x="987" y="2741"/>
                    </a:lnTo>
                    <a:lnTo>
                      <a:pt x="1115" y="2779"/>
                    </a:lnTo>
                    <a:lnTo>
                      <a:pt x="1256" y="2792"/>
                    </a:lnTo>
                    <a:lnTo>
                      <a:pt x="1397" y="2805"/>
                    </a:lnTo>
                    <a:lnTo>
                      <a:pt x="1538" y="2792"/>
                    </a:lnTo>
                    <a:lnTo>
                      <a:pt x="1678" y="2779"/>
                    </a:lnTo>
                    <a:lnTo>
                      <a:pt x="1819" y="2741"/>
                    </a:lnTo>
                    <a:lnTo>
                      <a:pt x="1947" y="2690"/>
                    </a:lnTo>
                    <a:lnTo>
                      <a:pt x="2063" y="2639"/>
                    </a:lnTo>
                    <a:lnTo>
                      <a:pt x="2178" y="2562"/>
                    </a:lnTo>
                    <a:lnTo>
                      <a:pt x="2293" y="2485"/>
                    </a:lnTo>
                    <a:lnTo>
                      <a:pt x="2383" y="2395"/>
                    </a:lnTo>
                    <a:lnTo>
                      <a:pt x="2472" y="2293"/>
                    </a:lnTo>
                    <a:lnTo>
                      <a:pt x="2562" y="2190"/>
                    </a:lnTo>
                    <a:lnTo>
                      <a:pt x="2626" y="2075"/>
                    </a:lnTo>
                    <a:lnTo>
                      <a:pt x="2690" y="1947"/>
                    </a:lnTo>
                    <a:lnTo>
                      <a:pt x="2741" y="1819"/>
                    </a:lnTo>
                    <a:lnTo>
                      <a:pt x="2767" y="1691"/>
                    </a:lnTo>
                    <a:lnTo>
                      <a:pt x="2793" y="1550"/>
                    </a:lnTo>
                    <a:lnTo>
                      <a:pt x="2793" y="1409"/>
                    </a:lnTo>
                    <a:lnTo>
                      <a:pt x="2793" y="1255"/>
                    </a:lnTo>
                    <a:lnTo>
                      <a:pt x="2767" y="1114"/>
                    </a:lnTo>
                    <a:lnTo>
                      <a:pt x="2741" y="986"/>
                    </a:lnTo>
                    <a:lnTo>
                      <a:pt x="2690" y="858"/>
                    </a:lnTo>
                    <a:lnTo>
                      <a:pt x="2626" y="730"/>
                    </a:lnTo>
                    <a:lnTo>
                      <a:pt x="2562" y="615"/>
                    </a:lnTo>
                    <a:lnTo>
                      <a:pt x="2472" y="512"/>
                    </a:lnTo>
                    <a:lnTo>
                      <a:pt x="2383" y="410"/>
                    </a:lnTo>
                    <a:lnTo>
                      <a:pt x="2293" y="320"/>
                    </a:lnTo>
                    <a:lnTo>
                      <a:pt x="2178" y="243"/>
                    </a:lnTo>
                    <a:lnTo>
                      <a:pt x="2063" y="167"/>
                    </a:lnTo>
                    <a:lnTo>
                      <a:pt x="1947" y="115"/>
                    </a:lnTo>
                    <a:lnTo>
                      <a:pt x="1819"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9" name="Google Shape;1808;p36">
                <a:extLst>
                  <a:ext uri="{FF2B5EF4-FFF2-40B4-BE49-F238E27FC236}">
                    <a16:creationId xmlns:a16="http://schemas.microsoft.com/office/drawing/2014/main" id="{50A8DB44-579C-D734-36FF-3AAB9E796DD1}"/>
                  </a:ext>
                </a:extLst>
              </p:cNvPr>
              <p:cNvSpPr/>
              <p:nvPr/>
            </p:nvSpPr>
            <p:spPr>
              <a:xfrm>
                <a:off x="4500965" y="1190461"/>
                <a:ext cx="142706" cy="142706"/>
              </a:xfrm>
              <a:custGeom>
                <a:avLst/>
                <a:gdLst/>
                <a:ahLst/>
                <a:cxnLst/>
                <a:rect l="l" t="t" r="r" b="b"/>
                <a:pathLst>
                  <a:path w="2806" h="2806" extrusionOk="0">
                    <a:moveTo>
                      <a:pt x="1396" y="0"/>
                    </a:moveTo>
                    <a:lnTo>
                      <a:pt x="1255" y="13"/>
                    </a:lnTo>
                    <a:lnTo>
                      <a:pt x="1115" y="26"/>
                    </a:lnTo>
                    <a:lnTo>
                      <a:pt x="986" y="64"/>
                    </a:lnTo>
                    <a:lnTo>
                      <a:pt x="858" y="116"/>
                    </a:lnTo>
                    <a:lnTo>
                      <a:pt x="730" y="167"/>
                    </a:lnTo>
                    <a:lnTo>
                      <a:pt x="615" y="244"/>
                    </a:lnTo>
                    <a:lnTo>
                      <a:pt x="513" y="320"/>
                    </a:lnTo>
                    <a:lnTo>
                      <a:pt x="410" y="410"/>
                    </a:lnTo>
                    <a:lnTo>
                      <a:pt x="320" y="513"/>
                    </a:lnTo>
                    <a:lnTo>
                      <a:pt x="244" y="615"/>
                    </a:lnTo>
                    <a:lnTo>
                      <a:pt x="167" y="730"/>
                    </a:lnTo>
                    <a:lnTo>
                      <a:pt x="116" y="858"/>
                    </a:lnTo>
                    <a:lnTo>
                      <a:pt x="64" y="986"/>
                    </a:lnTo>
                    <a:lnTo>
                      <a:pt x="26" y="1115"/>
                    </a:lnTo>
                    <a:lnTo>
                      <a:pt x="13" y="1255"/>
                    </a:lnTo>
                    <a:lnTo>
                      <a:pt x="0" y="1396"/>
                    </a:lnTo>
                    <a:lnTo>
                      <a:pt x="13" y="1550"/>
                    </a:lnTo>
                    <a:lnTo>
                      <a:pt x="26" y="1691"/>
                    </a:lnTo>
                    <a:lnTo>
                      <a:pt x="64" y="1819"/>
                    </a:lnTo>
                    <a:lnTo>
                      <a:pt x="116" y="1947"/>
                    </a:lnTo>
                    <a:lnTo>
                      <a:pt x="167" y="2075"/>
                    </a:lnTo>
                    <a:lnTo>
                      <a:pt x="244" y="2190"/>
                    </a:lnTo>
                    <a:lnTo>
                      <a:pt x="320" y="2293"/>
                    </a:lnTo>
                    <a:lnTo>
                      <a:pt x="410" y="2395"/>
                    </a:lnTo>
                    <a:lnTo>
                      <a:pt x="513" y="2485"/>
                    </a:lnTo>
                    <a:lnTo>
                      <a:pt x="615" y="2562"/>
                    </a:lnTo>
                    <a:lnTo>
                      <a:pt x="730" y="2639"/>
                    </a:lnTo>
                    <a:lnTo>
                      <a:pt x="858" y="2690"/>
                    </a:lnTo>
                    <a:lnTo>
                      <a:pt x="986" y="2741"/>
                    </a:lnTo>
                    <a:lnTo>
                      <a:pt x="1115" y="2780"/>
                    </a:lnTo>
                    <a:lnTo>
                      <a:pt x="1255" y="2792"/>
                    </a:lnTo>
                    <a:lnTo>
                      <a:pt x="1396" y="2805"/>
                    </a:lnTo>
                    <a:lnTo>
                      <a:pt x="1550" y="2792"/>
                    </a:lnTo>
                    <a:lnTo>
                      <a:pt x="1678" y="2780"/>
                    </a:lnTo>
                    <a:lnTo>
                      <a:pt x="1819" y="2741"/>
                    </a:lnTo>
                    <a:lnTo>
                      <a:pt x="1947" y="2690"/>
                    </a:lnTo>
                    <a:lnTo>
                      <a:pt x="2075" y="2639"/>
                    </a:lnTo>
                    <a:lnTo>
                      <a:pt x="2190" y="2562"/>
                    </a:lnTo>
                    <a:lnTo>
                      <a:pt x="2293" y="2485"/>
                    </a:lnTo>
                    <a:lnTo>
                      <a:pt x="2395" y="2395"/>
                    </a:lnTo>
                    <a:lnTo>
                      <a:pt x="2485" y="2293"/>
                    </a:lnTo>
                    <a:lnTo>
                      <a:pt x="2562" y="2190"/>
                    </a:lnTo>
                    <a:lnTo>
                      <a:pt x="2639" y="2075"/>
                    </a:lnTo>
                    <a:lnTo>
                      <a:pt x="2690" y="1947"/>
                    </a:lnTo>
                    <a:lnTo>
                      <a:pt x="2741" y="1819"/>
                    </a:lnTo>
                    <a:lnTo>
                      <a:pt x="2780" y="1691"/>
                    </a:lnTo>
                    <a:lnTo>
                      <a:pt x="2792" y="1550"/>
                    </a:lnTo>
                    <a:lnTo>
                      <a:pt x="2805" y="1396"/>
                    </a:lnTo>
                    <a:lnTo>
                      <a:pt x="2792" y="1255"/>
                    </a:lnTo>
                    <a:lnTo>
                      <a:pt x="2780" y="1115"/>
                    </a:lnTo>
                    <a:lnTo>
                      <a:pt x="2741" y="986"/>
                    </a:lnTo>
                    <a:lnTo>
                      <a:pt x="2690" y="858"/>
                    </a:lnTo>
                    <a:lnTo>
                      <a:pt x="2639" y="730"/>
                    </a:lnTo>
                    <a:lnTo>
                      <a:pt x="2562" y="615"/>
                    </a:lnTo>
                    <a:lnTo>
                      <a:pt x="2485" y="513"/>
                    </a:lnTo>
                    <a:lnTo>
                      <a:pt x="2395" y="410"/>
                    </a:lnTo>
                    <a:lnTo>
                      <a:pt x="2293" y="320"/>
                    </a:lnTo>
                    <a:lnTo>
                      <a:pt x="2190" y="244"/>
                    </a:lnTo>
                    <a:lnTo>
                      <a:pt x="2075" y="167"/>
                    </a:lnTo>
                    <a:lnTo>
                      <a:pt x="1947" y="116"/>
                    </a:lnTo>
                    <a:lnTo>
                      <a:pt x="1819" y="64"/>
                    </a:lnTo>
                    <a:lnTo>
                      <a:pt x="1678" y="26"/>
                    </a:lnTo>
                    <a:lnTo>
                      <a:pt x="1550" y="13"/>
                    </a:lnTo>
                    <a:lnTo>
                      <a:pt x="1396"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0" name="Google Shape;1809;p36">
                <a:extLst>
                  <a:ext uri="{FF2B5EF4-FFF2-40B4-BE49-F238E27FC236}">
                    <a16:creationId xmlns:a16="http://schemas.microsoft.com/office/drawing/2014/main" id="{0C16654E-BF18-9122-37A2-4158B59EB17A}"/>
                  </a:ext>
                </a:extLst>
              </p:cNvPr>
              <p:cNvSpPr/>
              <p:nvPr/>
            </p:nvSpPr>
            <p:spPr>
              <a:xfrm>
                <a:off x="4818158" y="1035450"/>
                <a:ext cx="142045" cy="142655"/>
              </a:xfrm>
              <a:custGeom>
                <a:avLst/>
                <a:gdLst/>
                <a:ahLst/>
                <a:cxnLst/>
                <a:rect l="l" t="t" r="r" b="b"/>
                <a:pathLst>
                  <a:path w="2793" h="2805" extrusionOk="0">
                    <a:moveTo>
                      <a:pt x="1397" y="0"/>
                    </a:moveTo>
                    <a:lnTo>
                      <a:pt x="1256" y="13"/>
                    </a:lnTo>
                    <a:lnTo>
                      <a:pt x="1115" y="26"/>
                    </a:lnTo>
                    <a:lnTo>
                      <a:pt x="974" y="64"/>
                    </a:lnTo>
                    <a:lnTo>
                      <a:pt x="846" y="115"/>
                    </a:lnTo>
                    <a:lnTo>
                      <a:pt x="731" y="167"/>
                    </a:lnTo>
                    <a:lnTo>
                      <a:pt x="615" y="243"/>
                    </a:lnTo>
                    <a:lnTo>
                      <a:pt x="500" y="320"/>
                    </a:lnTo>
                    <a:lnTo>
                      <a:pt x="411" y="410"/>
                    </a:lnTo>
                    <a:lnTo>
                      <a:pt x="321" y="512"/>
                    </a:lnTo>
                    <a:lnTo>
                      <a:pt x="231" y="615"/>
                    </a:lnTo>
                    <a:lnTo>
                      <a:pt x="167" y="730"/>
                    </a:lnTo>
                    <a:lnTo>
                      <a:pt x="103" y="858"/>
                    </a:lnTo>
                    <a:lnTo>
                      <a:pt x="65" y="986"/>
                    </a:lnTo>
                    <a:lnTo>
                      <a:pt x="26" y="1127"/>
                    </a:lnTo>
                    <a:lnTo>
                      <a:pt x="1" y="1255"/>
                    </a:lnTo>
                    <a:lnTo>
                      <a:pt x="1" y="1409"/>
                    </a:lnTo>
                    <a:lnTo>
                      <a:pt x="1" y="1550"/>
                    </a:lnTo>
                    <a:lnTo>
                      <a:pt x="26" y="1691"/>
                    </a:lnTo>
                    <a:lnTo>
                      <a:pt x="65" y="1819"/>
                    </a:lnTo>
                    <a:lnTo>
                      <a:pt x="103" y="1947"/>
                    </a:lnTo>
                    <a:lnTo>
                      <a:pt x="167" y="2075"/>
                    </a:lnTo>
                    <a:lnTo>
                      <a:pt x="231" y="2190"/>
                    </a:lnTo>
                    <a:lnTo>
                      <a:pt x="321" y="2293"/>
                    </a:lnTo>
                    <a:lnTo>
                      <a:pt x="411" y="2395"/>
                    </a:lnTo>
                    <a:lnTo>
                      <a:pt x="500" y="2485"/>
                    </a:lnTo>
                    <a:lnTo>
                      <a:pt x="615" y="2562"/>
                    </a:lnTo>
                    <a:lnTo>
                      <a:pt x="731" y="2638"/>
                    </a:lnTo>
                    <a:lnTo>
                      <a:pt x="846" y="2690"/>
                    </a:lnTo>
                    <a:lnTo>
                      <a:pt x="974" y="2741"/>
                    </a:lnTo>
                    <a:lnTo>
                      <a:pt x="1115" y="2779"/>
                    </a:lnTo>
                    <a:lnTo>
                      <a:pt x="1256" y="2792"/>
                    </a:lnTo>
                    <a:lnTo>
                      <a:pt x="1397" y="2805"/>
                    </a:lnTo>
                    <a:lnTo>
                      <a:pt x="1538" y="2792"/>
                    </a:lnTo>
                    <a:lnTo>
                      <a:pt x="1678" y="2779"/>
                    </a:lnTo>
                    <a:lnTo>
                      <a:pt x="1807" y="2741"/>
                    </a:lnTo>
                    <a:lnTo>
                      <a:pt x="1947" y="2690"/>
                    </a:lnTo>
                    <a:lnTo>
                      <a:pt x="2063" y="2638"/>
                    </a:lnTo>
                    <a:lnTo>
                      <a:pt x="2178" y="2562"/>
                    </a:lnTo>
                    <a:lnTo>
                      <a:pt x="2293" y="2485"/>
                    </a:lnTo>
                    <a:lnTo>
                      <a:pt x="2383" y="2395"/>
                    </a:lnTo>
                    <a:lnTo>
                      <a:pt x="2473" y="2293"/>
                    </a:lnTo>
                    <a:lnTo>
                      <a:pt x="2562" y="2190"/>
                    </a:lnTo>
                    <a:lnTo>
                      <a:pt x="2626" y="2075"/>
                    </a:lnTo>
                    <a:lnTo>
                      <a:pt x="2690" y="1947"/>
                    </a:lnTo>
                    <a:lnTo>
                      <a:pt x="2729" y="1819"/>
                    </a:lnTo>
                    <a:lnTo>
                      <a:pt x="2767" y="1691"/>
                    </a:lnTo>
                    <a:lnTo>
                      <a:pt x="2793" y="1550"/>
                    </a:lnTo>
                    <a:lnTo>
                      <a:pt x="2793" y="1409"/>
                    </a:lnTo>
                    <a:lnTo>
                      <a:pt x="2793" y="1255"/>
                    </a:lnTo>
                    <a:lnTo>
                      <a:pt x="2767" y="1127"/>
                    </a:lnTo>
                    <a:lnTo>
                      <a:pt x="2729" y="986"/>
                    </a:lnTo>
                    <a:lnTo>
                      <a:pt x="2690" y="858"/>
                    </a:lnTo>
                    <a:lnTo>
                      <a:pt x="2626" y="730"/>
                    </a:lnTo>
                    <a:lnTo>
                      <a:pt x="2562" y="615"/>
                    </a:lnTo>
                    <a:lnTo>
                      <a:pt x="2473" y="512"/>
                    </a:lnTo>
                    <a:lnTo>
                      <a:pt x="2383" y="410"/>
                    </a:lnTo>
                    <a:lnTo>
                      <a:pt x="2293" y="320"/>
                    </a:lnTo>
                    <a:lnTo>
                      <a:pt x="2178" y="243"/>
                    </a:lnTo>
                    <a:lnTo>
                      <a:pt x="2063" y="167"/>
                    </a:lnTo>
                    <a:lnTo>
                      <a:pt x="1947" y="115"/>
                    </a:lnTo>
                    <a:lnTo>
                      <a:pt x="1807"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1" name="Google Shape;1810;p36">
                <a:extLst>
                  <a:ext uri="{FF2B5EF4-FFF2-40B4-BE49-F238E27FC236}">
                    <a16:creationId xmlns:a16="http://schemas.microsoft.com/office/drawing/2014/main" id="{39C70E0B-EC0F-BC1E-B2BB-8E9E8A8311B8}"/>
                  </a:ext>
                </a:extLst>
              </p:cNvPr>
              <p:cNvSpPr/>
              <p:nvPr/>
            </p:nvSpPr>
            <p:spPr>
              <a:xfrm>
                <a:off x="5542510" y="3991348"/>
                <a:ext cx="142655" cy="142706"/>
              </a:xfrm>
              <a:custGeom>
                <a:avLst/>
                <a:gdLst/>
                <a:ahLst/>
                <a:cxnLst/>
                <a:rect l="l" t="t" r="r" b="b"/>
                <a:pathLst>
                  <a:path w="2805" h="2806" extrusionOk="0">
                    <a:moveTo>
                      <a:pt x="1409" y="0"/>
                    </a:moveTo>
                    <a:lnTo>
                      <a:pt x="1268" y="13"/>
                    </a:lnTo>
                    <a:lnTo>
                      <a:pt x="1127" y="39"/>
                    </a:lnTo>
                    <a:lnTo>
                      <a:pt x="986" y="64"/>
                    </a:lnTo>
                    <a:lnTo>
                      <a:pt x="858" y="116"/>
                    </a:lnTo>
                    <a:lnTo>
                      <a:pt x="743" y="180"/>
                    </a:lnTo>
                    <a:lnTo>
                      <a:pt x="628" y="244"/>
                    </a:lnTo>
                    <a:lnTo>
                      <a:pt x="512" y="320"/>
                    </a:lnTo>
                    <a:lnTo>
                      <a:pt x="410" y="423"/>
                    </a:lnTo>
                    <a:lnTo>
                      <a:pt x="320" y="513"/>
                    </a:lnTo>
                    <a:lnTo>
                      <a:pt x="243" y="628"/>
                    </a:lnTo>
                    <a:lnTo>
                      <a:pt x="179" y="743"/>
                    </a:lnTo>
                    <a:lnTo>
                      <a:pt x="115" y="858"/>
                    </a:lnTo>
                    <a:lnTo>
                      <a:pt x="64" y="986"/>
                    </a:lnTo>
                    <a:lnTo>
                      <a:pt x="38" y="1127"/>
                    </a:lnTo>
                    <a:lnTo>
                      <a:pt x="13" y="1268"/>
                    </a:lnTo>
                    <a:lnTo>
                      <a:pt x="0" y="1409"/>
                    </a:lnTo>
                    <a:lnTo>
                      <a:pt x="13" y="1550"/>
                    </a:lnTo>
                    <a:lnTo>
                      <a:pt x="38" y="1691"/>
                    </a:lnTo>
                    <a:lnTo>
                      <a:pt x="64" y="1819"/>
                    </a:lnTo>
                    <a:lnTo>
                      <a:pt x="115" y="1947"/>
                    </a:lnTo>
                    <a:lnTo>
                      <a:pt x="179" y="2075"/>
                    </a:lnTo>
                    <a:lnTo>
                      <a:pt x="243" y="2190"/>
                    </a:lnTo>
                    <a:lnTo>
                      <a:pt x="320" y="2293"/>
                    </a:lnTo>
                    <a:lnTo>
                      <a:pt x="410" y="2395"/>
                    </a:lnTo>
                    <a:lnTo>
                      <a:pt x="512" y="2485"/>
                    </a:lnTo>
                    <a:lnTo>
                      <a:pt x="628" y="2575"/>
                    </a:lnTo>
                    <a:lnTo>
                      <a:pt x="743" y="2639"/>
                    </a:lnTo>
                    <a:lnTo>
                      <a:pt x="858" y="2703"/>
                    </a:lnTo>
                    <a:lnTo>
                      <a:pt x="986" y="2741"/>
                    </a:lnTo>
                    <a:lnTo>
                      <a:pt x="1127" y="2780"/>
                    </a:lnTo>
                    <a:lnTo>
                      <a:pt x="1268" y="2805"/>
                    </a:lnTo>
                    <a:lnTo>
                      <a:pt x="1550" y="2805"/>
                    </a:lnTo>
                    <a:lnTo>
                      <a:pt x="1691" y="2780"/>
                    </a:lnTo>
                    <a:lnTo>
                      <a:pt x="1819" y="2741"/>
                    </a:lnTo>
                    <a:lnTo>
                      <a:pt x="1947" y="2703"/>
                    </a:lnTo>
                    <a:lnTo>
                      <a:pt x="2075" y="2639"/>
                    </a:lnTo>
                    <a:lnTo>
                      <a:pt x="2190" y="2575"/>
                    </a:lnTo>
                    <a:lnTo>
                      <a:pt x="2293" y="2485"/>
                    </a:lnTo>
                    <a:lnTo>
                      <a:pt x="2395" y="2395"/>
                    </a:lnTo>
                    <a:lnTo>
                      <a:pt x="2485" y="2293"/>
                    </a:lnTo>
                    <a:lnTo>
                      <a:pt x="2562" y="2190"/>
                    </a:lnTo>
                    <a:lnTo>
                      <a:pt x="2638" y="2075"/>
                    </a:lnTo>
                    <a:lnTo>
                      <a:pt x="2702" y="1947"/>
                    </a:lnTo>
                    <a:lnTo>
                      <a:pt x="2741" y="1819"/>
                    </a:lnTo>
                    <a:lnTo>
                      <a:pt x="2779" y="1691"/>
                    </a:lnTo>
                    <a:lnTo>
                      <a:pt x="2805" y="1550"/>
                    </a:lnTo>
                    <a:lnTo>
                      <a:pt x="2805" y="1409"/>
                    </a:lnTo>
                    <a:lnTo>
                      <a:pt x="2805" y="1268"/>
                    </a:lnTo>
                    <a:lnTo>
                      <a:pt x="2779" y="1127"/>
                    </a:lnTo>
                    <a:lnTo>
                      <a:pt x="2741" y="986"/>
                    </a:lnTo>
                    <a:lnTo>
                      <a:pt x="2702" y="858"/>
                    </a:lnTo>
                    <a:lnTo>
                      <a:pt x="2638" y="743"/>
                    </a:lnTo>
                    <a:lnTo>
                      <a:pt x="2562" y="628"/>
                    </a:lnTo>
                    <a:lnTo>
                      <a:pt x="2485" y="513"/>
                    </a:lnTo>
                    <a:lnTo>
                      <a:pt x="2395" y="423"/>
                    </a:lnTo>
                    <a:lnTo>
                      <a:pt x="2293" y="320"/>
                    </a:lnTo>
                    <a:lnTo>
                      <a:pt x="2190" y="244"/>
                    </a:lnTo>
                    <a:lnTo>
                      <a:pt x="2075" y="180"/>
                    </a:lnTo>
                    <a:lnTo>
                      <a:pt x="1947" y="116"/>
                    </a:lnTo>
                    <a:lnTo>
                      <a:pt x="1819" y="64"/>
                    </a:lnTo>
                    <a:lnTo>
                      <a:pt x="1691" y="39"/>
                    </a:lnTo>
                    <a:lnTo>
                      <a:pt x="1550" y="13"/>
                    </a:lnTo>
                    <a:lnTo>
                      <a:pt x="1409"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2" name="Google Shape;1811;p36">
                <a:extLst>
                  <a:ext uri="{FF2B5EF4-FFF2-40B4-BE49-F238E27FC236}">
                    <a16:creationId xmlns:a16="http://schemas.microsoft.com/office/drawing/2014/main" id="{EBC06DF5-343F-FC79-ACF3-9599590DB56D}"/>
                  </a:ext>
                </a:extLst>
              </p:cNvPr>
              <p:cNvSpPr/>
              <p:nvPr/>
            </p:nvSpPr>
            <p:spPr>
              <a:xfrm>
                <a:off x="5542510" y="4191317"/>
                <a:ext cx="142655" cy="142045"/>
              </a:xfrm>
              <a:custGeom>
                <a:avLst/>
                <a:gdLst/>
                <a:ahLst/>
                <a:cxnLst/>
                <a:rect l="l" t="t" r="r" b="b"/>
                <a:pathLst>
                  <a:path w="2805" h="2793" extrusionOk="0">
                    <a:moveTo>
                      <a:pt x="1268" y="0"/>
                    </a:moveTo>
                    <a:lnTo>
                      <a:pt x="1127" y="26"/>
                    </a:lnTo>
                    <a:lnTo>
                      <a:pt x="986" y="51"/>
                    </a:lnTo>
                    <a:lnTo>
                      <a:pt x="858" y="103"/>
                    </a:lnTo>
                    <a:lnTo>
                      <a:pt x="743" y="167"/>
                    </a:lnTo>
                    <a:lnTo>
                      <a:pt x="628" y="231"/>
                    </a:lnTo>
                    <a:lnTo>
                      <a:pt x="512" y="308"/>
                    </a:lnTo>
                    <a:lnTo>
                      <a:pt x="410" y="410"/>
                    </a:lnTo>
                    <a:lnTo>
                      <a:pt x="320" y="500"/>
                    </a:lnTo>
                    <a:lnTo>
                      <a:pt x="243" y="615"/>
                    </a:lnTo>
                    <a:lnTo>
                      <a:pt x="179" y="730"/>
                    </a:lnTo>
                    <a:lnTo>
                      <a:pt x="115" y="846"/>
                    </a:lnTo>
                    <a:lnTo>
                      <a:pt x="64" y="974"/>
                    </a:lnTo>
                    <a:lnTo>
                      <a:pt x="38" y="1115"/>
                    </a:lnTo>
                    <a:lnTo>
                      <a:pt x="13" y="1255"/>
                    </a:lnTo>
                    <a:lnTo>
                      <a:pt x="0" y="1396"/>
                    </a:lnTo>
                    <a:lnTo>
                      <a:pt x="13" y="1537"/>
                    </a:lnTo>
                    <a:lnTo>
                      <a:pt x="38" y="1678"/>
                    </a:lnTo>
                    <a:lnTo>
                      <a:pt x="64" y="1806"/>
                    </a:lnTo>
                    <a:lnTo>
                      <a:pt x="115" y="1934"/>
                    </a:lnTo>
                    <a:lnTo>
                      <a:pt x="179" y="2062"/>
                    </a:lnTo>
                    <a:lnTo>
                      <a:pt x="243" y="2178"/>
                    </a:lnTo>
                    <a:lnTo>
                      <a:pt x="320" y="2280"/>
                    </a:lnTo>
                    <a:lnTo>
                      <a:pt x="410" y="2383"/>
                    </a:lnTo>
                    <a:lnTo>
                      <a:pt x="512" y="2472"/>
                    </a:lnTo>
                    <a:lnTo>
                      <a:pt x="628" y="2562"/>
                    </a:lnTo>
                    <a:lnTo>
                      <a:pt x="743" y="2626"/>
                    </a:lnTo>
                    <a:lnTo>
                      <a:pt x="858" y="2690"/>
                    </a:lnTo>
                    <a:lnTo>
                      <a:pt x="986" y="2728"/>
                    </a:lnTo>
                    <a:lnTo>
                      <a:pt x="1127" y="2767"/>
                    </a:lnTo>
                    <a:lnTo>
                      <a:pt x="1268" y="2792"/>
                    </a:lnTo>
                    <a:lnTo>
                      <a:pt x="1550" y="2792"/>
                    </a:lnTo>
                    <a:lnTo>
                      <a:pt x="1691" y="2767"/>
                    </a:lnTo>
                    <a:lnTo>
                      <a:pt x="1819" y="2728"/>
                    </a:lnTo>
                    <a:lnTo>
                      <a:pt x="1947" y="2690"/>
                    </a:lnTo>
                    <a:lnTo>
                      <a:pt x="2075" y="2626"/>
                    </a:lnTo>
                    <a:lnTo>
                      <a:pt x="2190" y="2562"/>
                    </a:lnTo>
                    <a:lnTo>
                      <a:pt x="2293" y="2472"/>
                    </a:lnTo>
                    <a:lnTo>
                      <a:pt x="2395" y="2383"/>
                    </a:lnTo>
                    <a:lnTo>
                      <a:pt x="2485" y="2280"/>
                    </a:lnTo>
                    <a:lnTo>
                      <a:pt x="2562" y="2178"/>
                    </a:lnTo>
                    <a:lnTo>
                      <a:pt x="2638" y="2062"/>
                    </a:lnTo>
                    <a:lnTo>
                      <a:pt x="2702" y="1934"/>
                    </a:lnTo>
                    <a:lnTo>
                      <a:pt x="2741" y="1806"/>
                    </a:lnTo>
                    <a:lnTo>
                      <a:pt x="2779" y="1678"/>
                    </a:lnTo>
                    <a:lnTo>
                      <a:pt x="2805" y="1537"/>
                    </a:lnTo>
                    <a:lnTo>
                      <a:pt x="2805" y="1396"/>
                    </a:lnTo>
                    <a:lnTo>
                      <a:pt x="2805" y="1255"/>
                    </a:lnTo>
                    <a:lnTo>
                      <a:pt x="2779" y="1115"/>
                    </a:lnTo>
                    <a:lnTo>
                      <a:pt x="2741" y="974"/>
                    </a:lnTo>
                    <a:lnTo>
                      <a:pt x="2702" y="846"/>
                    </a:lnTo>
                    <a:lnTo>
                      <a:pt x="2638" y="730"/>
                    </a:lnTo>
                    <a:lnTo>
                      <a:pt x="2562" y="615"/>
                    </a:lnTo>
                    <a:lnTo>
                      <a:pt x="2485" y="500"/>
                    </a:lnTo>
                    <a:lnTo>
                      <a:pt x="2395" y="410"/>
                    </a:lnTo>
                    <a:lnTo>
                      <a:pt x="2293" y="308"/>
                    </a:lnTo>
                    <a:lnTo>
                      <a:pt x="2190" y="231"/>
                    </a:lnTo>
                    <a:lnTo>
                      <a:pt x="2075" y="167"/>
                    </a:lnTo>
                    <a:lnTo>
                      <a:pt x="1947" y="103"/>
                    </a:lnTo>
                    <a:lnTo>
                      <a:pt x="1819" y="51"/>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3" name="Google Shape;1812;p36">
                <a:extLst>
                  <a:ext uri="{FF2B5EF4-FFF2-40B4-BE49-F238E27FC236}">
                    <a16:creationId xmlns:a16="http://schemas.microsoft.com/office/drawing/2014/main" id="{7CE9938E-537C-61DA-7406-DF90E5C14546}"/>
                  </a:ext>
                </a:extLst>
              </p:cNvPr>
              <p:cNvSpPr/>
              <p:nvPr/>
            </p:nvSpPr>
            <p:spPr>
              <a:xfrm>
                <a:off x="5542510" y="4390624"/>
                <a:ext cx="142655" cy="142045"/>
              </a:xfrm>
              <a:custGeom>
                <a:avLst/>
                <a:gdLst/>
                <a:ahLst/>
                <a:cxnLst/>
                <a:rect l="l" t="t" r="r" b="b"/>
                <a:pathLst>
                  <a:path w="2805" h="2793" extrusionOk="0">
                    <a:moveTo>
                      <a:pt x="1268" y="0"/>
                    </a:moveTo>
                    <a:lnTo>
                      <a:pt x="1127" y="26"/>
                    </a:lnTo>
                    <a:lnTo>
                      <a:pt x="986" y="52"/>
                    </a:lnTo>
                    <a:lnTo>
                      <a:pt x="858" y="103"/>
                    </a:lnTo>
                    <a:lnTo>
                      <a:pt x="743" y="167"/>
                    </a:lnTo>
                    <a:lnTo>
                      <a:pt x="628" y="231"/>
                    </a:lnTo>
                    <a:lnTo>
                      <a:pt x="512" y="308"/>
                    </a:lnTo>
                    <a:lnTo>
                      <a:pt x="410" y="410"/>
                    </a:lnTo>
                    <a:lnTo>
                      <a:pt x="320" y="500"/>
                    </a:lnTo>
                    <a:lnTo>
                      <a:pt x="243" y="615"/>
                    </a:lnTo>
                    <a:lnTo>
                      <a:pt x="179" y="731"/>
                    </a:lnTo>
                    <a:lnTo>
                      <a:pt x="115" y="846"/>
                    </a:lnTo>
                    <a:lnTo>
                      <a:pt x="64" y="974"/>
                    </a:lnTo>
                    <a:lnTo>
                      <a:pt x="38" y="1115"/>
                    </a:lnTo>
                    <a:lnTo>
                      <a:pt x="13" y="1256"/>
                    </a:lnTo>
                    <a:lnTo>
                      <a:pt x="0" y="1397"/>
                    </a:lnTo>
                    <a:lnTo>
                      <a:pt x="13" y="1537"/>
                    </a:lnTo>
                    <a:lnTo>
                      <a:pt x="38" y="1678"/>
                    </a:lnTo>
                    <a:lnTo>
                      <a:pt x="64" y="1806"/>
                    </a:lnTo>
                    <a:lnTo>
                      <a:pt x="115" y="1934"/>
                    </a:lnTo>
                    <a:lnTo>
                      <a:pt x="179" y="2063"/>
                    </a:lnTo>
                    <a:lnTo>
                      <a:pt x="243" y="2178"/>
                    </a:lnTo>
                    <a:lnTo>
                      <a:pt x="320" y="2280"/>
                    </a:lnTo>
                    <a:lnTo>
                      <a:pt x="410" y="2383"/>
                    </a:lnTo>
                    <a:lnTo>
                      <a:pt x="512" y="2472"/>
                    </a:lnTo>
                    <a:lnTo>
                      <a:pt x="628" y="2562"/>
                    </a:lnTo>
                    <a:lnTo>
                      <a:pt x="743" y="2626"/>
                    </a:lnTo>
                    <a:lnTo>
                      <a:pt x="858" y="2690"/>
                    </a:lnTo>
                    <a:lnTo>
                      <a:pt x="986" y="2729"/>
                    </a:lnTo>
                    <a:lnTo>
                      <a:pt x="1127" y="2767"/>
                    </a:lnTo>
                    <a:lnTo>
                      <a:pt x="1268" y="2793"/>
                    </a:lnTo>
                    <a:lnTo>
                      <a:pt x="1550" y="2793"/>
                    </a:lnTo>
                    <a:lnTo>
                      <a:pt x="1691" y="2767"/>
                    </a:lnTo>
                    <a:lnTo>
                      <a:pt x="1819" y="2729"/>
                    </a:lnTo>
                    <a:lnTo>
                      <a:pt x="1947" y="2690"/>
                    </a:lnTo>
                    <a:lnTo>
                      <a:pt x="2075" y="2626"/>
                    </a:lnTo>
                    <a:lnTo>
                      <a:pt x="2190" y="2562"/>
                    </a:lnTo>
                    <a:lnTo>
                      <a:pt x="2293" y="2472"/>
                    </a:lnTo>
                    <a:lnTo>
                      <a:pt x="2395" y="2383"/>
                    </a:lnTo>
                    <a:lnTo>
                      <a:pt x="2485" y="2280"/>
                    </a:lnTo>
                    <a:lnTo>
                      <a:pt x="2562" y="2178"/>
                    </a:lnTo>
                    <a:lnTo>
                      <a:pt x="2638" y="2063"/>
                    </a:lnTo>
                    <a:lnTo>
                      <a:pt x="2702" y="1934"/>
                    </a:lnTo>
                    <a:lnTo>
                      <a:pt x="2741" y="1806"/>
                    </a:lnTo>
                    <a:lnTo>
                      <a:pt x="2779" y="1678"/>
                    </a:lnTo>
                    <a:lnTo>
                      <a:pt x="2805" y="1537"/>
                    </a:lnTo>
                    <a:lnTo>
                      <a:pt x="2805" y="1397"/>
                    </a:lnTo>
                    <a:lnTo>
                      <a:pt x="2805" y="1256"/>
                    </a:lnTo>
                    <a:lnTo>
                      <a:pt x="2779" y="1115"/>
                    </a:lnTo>
                    <a:lnTo>
                      <a:pt x="2741" y="974"/>
                    </a:lnTo>
                    <a:lnTo>
                      <a:pt x="2702" y="846"/>
                    </a:lnTo>
                    <a:lnTo>
                      <a:pt x="2638" y="731"/>
                    </a:lnTo>
                    <a:lnTo>
                      <a:pt x="2562" y="615"/>
                    </a:lnTo>
                    <a:lnTo>
                      <a:pt x="2485" y="500"/>
                    </a:lnTo>
                    <a:lnTo>
                      <a:pt x="2395" y="410"/>
                    </a:lnTo>
                    <a:lnTo>
                      <a:pt x="2293" y="308"/>
                    </a:lnTo>
                    <a:lnTo>
                      <a:pt x="2190" y="231"/>
                    </a:lnTo>
                    <a:lnTo>
                      <a:pt x="2075" y="167"/>
                    </a:lnTo>
                    <a:lnTo>
                      <a:pt x="1947" y="103"/>
                    </a:lnTo>
                    <a:lnTo>
                      <a:pt x="1819" y="52"/>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4" name="Google Shape;1813;p36">
                <a:extLst>
                  <a:ext uri="{FF2B5EF4-FFF2-40B4-BE49-F238E27FC236}">
                    <a16:creationId xmlns:a16="http://schemas.microsoft.com/office/drawing/2014/main" id="{48272DDC-E262-666F-CDA2-1638ECBAE75F}"/>
                  </a:ext>
                </a:extLst>
              </p:cNvPr>
              <p:cNvSpPr/>
              <p:nvPr/>
            </p:nvSpPr>
            <p:spPr>
              <a:xfrm>
                <a:off x="3805297" y="2157096"/>
                <a:ext cx="282768" cy="215636"/>
              </a:xfrm>
              <a:custGeom>
                <a:avLst/>
                <a:gdLst/>
                <a:ahLst/>
                <a:cxnLst/>
                <a:rect l="l" t="t" r="r" b="b"/>
                <a:pathLst>
                  <a:path w="5560" h="4240" extrusionOk="0">
                    <a:moveTo>
                      <a:pt x="0" y="0"/>
                    </a:moveTo>
                    <a:lnTo>
                      <a:pt x="0" y="4240"/>
                    </a:lnTo>
                    <a:lnTo>
                      <a:pt x="5559" y="4240"/>
                    </a:lnTo>
                    <a:lnTo>
                      <a:pt x="5559" y="0"/>
                    </a:lnTo>
                    <a:close/>
                  </a:path>
                </a:pathLst>
              </a:custGeom>
              <a:solidFill>
                <a:srgbClr val="70FFD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5" name="Google Shape;1814;p36">
                <a:extLst>
                  <a:ext uri="{FF2B5EF4-FFF2-40B4-BE49-F238E27FC236}">
                    <a16:creationId xmlns:a16="http://schemas.microsoft.com/office/drawing/2014/main" id="{2CD4DDAC-87EE-B8D6-BD8A-618DCA5CB472}"/>
                  </a:ext>
                </a:extLst>
              </p:cNvPr>
              <p:cNvSpPr/>
              <p:nvPr/>
            </p:nvSpPr>
            <p:spPr>
              <a:xfrm>
                <a:off x="4126406" y="2230686"/>
                <a:ext cx="891125" cy="756963"/>
              </a:xfrm>
              <a:custGeom>
                <a:avLst/>
                <a:gdLst/>
                <a:ahLst/>
                <a:cxnLst/>
                <a:rect l="l" t="t" r="r" b="b"/>
                <a:pathLst>
                  <a:path w="17522" h="14884" extrusionOk="0">
                    <a:moveTo>
                      <a:pt x="8684" y="0"/>
                    </a:moveTo>
                    <a:lnTo>
                      <a:pt x="8377" y="13"/>
                    </a:lnTo>
                    <a:lnTo>
                      <a:pt x="8082" y="52"/>
                    </a:lnTo>
                    <a:lnTo>
                      <a:pt x="7788" y="103"/>
                    </a:lnTo>
                    <a:lnTo>
                      <a:pt x="7506" y="180"/>
                    </a:lnTo>
                    <a:lnTo>
                      <a:pt x="7224" y="282"/>
                    </a:lnTo>
                    <a:lnTo>
                      <a:pt x="6955" y="398"/>
                    </a:lnTo>
                    <a:lnTo>
                      <a:pt x="6712" y="538"/>
                    </a:lnTo>
                    <a:lnTo>
                      <a:pt x="6469" y="692"/>
                    </a:lnTo>
                    <a:lnTo>
                      <a:pt x="6238" y="859"/>
                    </a:lnTo>
                    <a:lnTo>
                      <a:pt x="6020" y="1038"/>
                    </a:lnTo>
                    <a:lnTo>
                      <a:pt x="5815" y="1243"/>
                    </a:lnTo>
                    <a:lnTo>
                      <a:pt x="5623" y="1461"/>
                    </a:lnTo>
                    <a:lnTo>
                      <a:pt x="5444" y="1691"/>
                    </a:lnTo>
                    <a:lnTo>
                      <a:pt x="5290" y="1934"/>
                    </a:lnTo>
                    <a:lnTo>
                      <a:pt x="5149" y="2178"/>
                    </a:lnTo>
                    <a:lnTo>
                      <a:pt x="5034" y="2447"/>
                    </a:lnTo>
                    <a:lnTo>
                      <a:pt x="4906" y="2370"/>
                    </a:lnTo>
                    <a:lnTo>
                      <a:pt x="4778" y="2293"/>
                    </a:lnTo>
                    <a:lnTo>
                      <a:pt x="4637" y="2229"/>
                    </a:lnTo>
                    <a:lnTo>
                      <a:pt x="4483" y="2178"/>
                    </a:lnTo>
                    <a:lnTo>
                      <a:pt x="4343" y="2139"/>
                    </a:lnTo>
                    <a:lnTo>
                      <a:pt x="4189" y="2101"/>
                    </a:lnTo>
                    <a:lnTo>
                      <a:pt x="4022" y="2088"/>
                    </a:lnTo>
                    <a:lnTo>
                      <a:pt x="3869" y="2075"/>
                    </a:lnTo>
                    <a:lnTo>
                      <a:pt x="3651" y="2088"/>
                    </a:lnTo>
                    <a:lnTo>
                      <a:pt x="3446" y="2127"/>
                    </a:lnTo>
                    <a:lnTo>
                      <a:pt x="3254" y="2178"/>
                    </a:lnTo>
                    <a:lnTo>
                      <a:pt x="3062" y="2242"/>
                    </a:lnTo>
                    <a:lnTo>
                      <a:pt x="2882" y="2332"/>
                    </a:lnTo>
                    <a:lnTo>
                      <a:pt x="2716" y="2434"/>
                    </a:lnTo>
                    <a:lnTo>
                      <a:pt x="2562" y="2549"/>
                    </a:lnTo>
                    <a:lnTo>
                      <a:pt x="2409" y="2690"/>
                    </a:lnTo>
                    <a:lnTo>
                      <a:pt x="2281" y="2831"/>
                    </a:lnTo>
                    <a:lnTo>
                      <a:pt x="2165" y="2985"/>
                    </a:lnTo>
                    <a:lnTo>
                      <a:pt x="2050" y="3164"/>
                    </a:lnTo>
                    <a:lnTo>
                      <a:pt x="1973" y="3343"/>
                    </a:lnTo>
                    <a:lnTo>
                      <a:pt x="1896" y="3523"/>
                    </a:lnTo>
                    <a:lnTo>
                      <a:pt x="1845" y="3728"/>
                    </a:lnTo>
                    <a:lnTo>
                      <a:pt x="1819" y="3933"/>
                    </a:lnTo>
                    <a:lnTo>
                      <a:pt x="1807" y="4137"/>
                    </a:lnTo>
                    <a:lnTo>
                      <a:pt x="1819" y="4317"/>
                    </a:lnTo>
                    <a:lnTo>
                      <a:pt x="1845" y="4483"/>
                    </a:lnTo>
                    <a:lnTo>
                      <a:pt x="1883" y="4650"/>
                    </a:lnTo>
                    <a:lnTo>
                      <a:pt x="1922" y="4803"/>
                    </a:lnTo>
                    <a:lnTo>
                      <a:pt x="1717" y="4893"/>
                    </a:lnTo>
                    <a:lnTo>
                      <a:pt x="1525" y="5008"/>
                    </a:lnTo>
                    <a:lnTo>
                      <a:pt x="1333" y="5136"/>
                    </a:lnTo>
                    <a:lnTo>
                      <a:pt x="1153" y="5265"/>
                    </a:lnTo>
                    <a:lnTo>
                      <a:pt x="987" y="5418"/>
                    </a:lnTo>
                    <a:lnTo>
                      <a:pt x="820" y="5572"/>
                    </a:lnTo>
                    <a:lnTo>
                      <a:pt x="680" y="5751"/>
                    </a:lnTo>
                    <a:lnTo>
                      <a:pt x="539" y="5931"/>
                    </a:lnTo>
                    <a:lnTo>
                      <a:pt x="423" y="6123"/>
                    </a:lnTo>
                    <a:lnTo>
                      <a:pt x="321" y="6328"/>
                    </a:lnTo>
                    <a:lnTo>
                      <a:pt x="218" y="6533"/>
                    </a:lnTo>
                    <a:lnTo>
                      <a:pt x="142" y="6750"/>
                    </a:lnTo>
                    <a:lnTo>
                      <a:pt x="90" y="6981"/>
                    </a:lnTo>
                    <a:lnTo>
                      <a:pt x="39" y="7211"/>
                    </a:lnTo>
                    <a:lnTo>
                      <a:pt x="14" y="7442"/>
                    </a:lnTo>
                    <a:lnTo>
                      <a:pt x="1" y="7685"/>
                    </a:lnTo>
                    <a:lnTo>
                      <a:pt x="14" y="7916"/>
                    </a:lnTo>
                    <a:lnTo>
                      <a:pt x="39" y="8159"/>
                    </a:lnTo>
                    <a:lnTo>
                      <a:pt x="78" y="8377"/>
                    </a:lnTo>
                    <a:lnTo>
                      <a:pt x="142" y="8607"/>
                    </a:lnTo>
                    <a:lnTo>
                      <a:pt x="218" y="8812"/>
                    </a:lnTo>
                    <a:lnTo>
                      <a:pt x="308" y="9030"/>
                    </a:lnTo>
                    <a:lnTo>
                      <a:pt x="411" y="9222"/>
                    </a:lnTo>
                    <a:lnTo>
                      <a:pt x="526" y="9414"/>
                    </a:lnTo>
                    <a:lnTo>
                      <a:pt x="667" y="9594"/>
                    </a:lnTo>
                    <a:lnTo>
                      <a:pt x="808" y="9760"/>
                    </a:lnTo>
                    <a:lnTo>
                      <a:pt x="961" y="9927"/>
                    </a:lnTo>
                    <a:lnTo>
                      <a:pt x="1128" y="10080"/>
                    </a:lnTo>
                    <a:lnTo>
                      <a:pt x="1307" y="10208"/>
                    </a:lnTo>
                    <a:lnTo>
                      <a:pt x="1486" y="10336"/>
                    </a:lnTo>
                    <a:lnTo>
                      <a:pt x="1679" y="10452"/>
                    </a:lnTo>
                    <a:lnTo>
                      <a:pt x="1883" y="10541"/>
                    </a:lnTo>
                    <a:lnTo>
                      <a:pt x="1858" y="10669"/>
                    </a:lnTo>
                    <a:lnTo>
                      <a:pt x="1832" y="10810"/>
                    </a:lnTo>
                    <a:lnTo>
                      <a:pt x="1819" y="10938"/>
                    </a:lnTo>
                    <a:lnTo>
                      <a:pt x="1807" y="11079"/>
                    </a:lnTo>
                    <a:lnTo>
                      <a:pt x="1819" y="11284"/>
                    </a:lnTo>
                    <a:lnTo>
                      <a:pt x="1845" y="11489"/>
                    </a:lnTo>
                    <a:lnTo>
                      <a:pt x="1896" y="11694"/>
                    </a:lnTo>
                    <a:lnTo>
                      <a:pt x="1973" y="11873"/>
                    </a:lnTo>
                    <a:lnTo>
                      <a:pt x="2050" y="12066"/>
                    </a:lnTo>
                    <a:lnTo>
                      <a:pt x="2165" y="12232"/>
                    </a:lnTo>
                    <a:lnTo>
                      <a:pt x="2281" y="12386"/>
                    </a:lnTo>
                    <a:lnTo>
                      <a:pt x="2409" y="12539"/>
                    </a:lnTo>
                    <a:lnTo>
                      <a:pt x="2562" y="12668"/>
                    </a:lnTo>
                    <a:lnTo>
                      <a:pt x="2716" y="12783"/>
                    </a:lnTo>
                    <a:lnTo>
                      <a:pt x="2882" y="12885"/>
                    </a:lnTo>
                    <a:lnTo>
                      <a:pt x="3062" y="12975"/>
                    </a:lnTo>
                    <a:lnTo>
                      <a:pt x="3254" y="13039"/>
                    </a:lnTo>
                    <a:lnTo>
                      <a:pt x="3446" y="13090"/>
                    </a:lnTo>
                    <a:lnTo>
                      <a:pt x="3651" y="13129"/>
                    </a:lnTo>
                    <a:lnTo>
                      <a:pt x="3869" y="13141"/>
                    </a:lnTo>
                    <a:lnTo>
                      <a:pt x="4022" y="13129"/>
                    </a:lnTo>
                    <a:lnTo>
                      <a:pt x="4176" y="13103"/>
                    </a:lnTo>
                    <a:lnTo>
                      <a:pt x="4330" y="13077"/>
                    </a:lnTo>
                    <a:lnTo>
                      <a:pt x="4471" y="13039"/>
                    </a:lnTo>
                    <a:lnTo>
                      <a:pt x="4548" y="13231"/>
                    </a:lnTo>
                    <a:lnTo>
                      <a:pt x="4637" y="13423"/>
                    </a:lnTo>
                    <a:lnTo>
                      <a:pt x="4752" y="13602"/>
                    </a:lnTo>
                    <a:lnTo>
                      <a:pt x="4868" y="13782"/>
                    </a:lnTo>
                    <a:lnTo>
                      <a:pt x="4996" y="13935"/>
                    </a:lnTo>
                    <a:lnTo>
                      <a:pt x="5137" y="14089"/>
                    </a:lnTo>
                    <a:lnTo>
                      <a:pt x="5290" y="14230"/>
                    </a:lnTo>
                    <a:lnTo>
                      <a:pt x="5457" y="14358"/>
                    </a:lnTo>
                    <a:lnTo>
                      <a:pt x="5623" y="14473"/>
                    </a:lnTo>
                    <a:lnTo>
                      <a:pt x="5815" y="14576"/>
                    </a:lnTo>
                    <a:lnTo>
                      <a:pt x="6008" y="14666"/>
                    </a:lnTo>
                    <a:lnTo>
                      <a:pt x="6200" y="14742"/>
                    </a:lnTo>
                    <a:lnTo>
                      <a:pt x="6405" y="14806"/>
                    </a:lnTo>
                    <a:lnTo>
                      <a:pt x="6622" y="14845"/>
                    </a:lnTo>
                    <a:lnTo>
                      <a:pt x="6840" y="14870"/>
                    </a:lnTo>
                    <a:lnTo>
                      <a:pt x="7058" y="14883"/>
                    </a:lnTo>
                    <a:lnTo>
                      <a:pt x="7327" y="14870"/>
                    </a:lnTo>
                    <a:lnTo>
                      <a:pt x="7596" y="14832"/>
                    </a:lnTo>
                    <a:lnTo>
                      <a:pt x="7852" y="14768"/>
                    </a:lnTo>
                    <a:lnTo>
                      <a:pt x="8108" y="14678"/>
                    </a:lnTo>
                    <a:lnTo>
                      <a:pt x="8339" y="14563"/>
                    </a:lnTo>
                    <a:lnTo>
                      <a:pt x="8556" y="14435"/>
                    </a:lnTo>
                    <a:lnTo>
                      <a:pt x="8761" y="14281"/>
                    </a:lnTo>
                    <a:lnTo>
                      <a:pt x="8966" y="14102"/>
                    </a:lnTo>
                    <a:lnTo>
                      <a:pt x="9133" y="13923"/>
                    </a:lnTo>
                    <a:lnTo>
                      <a:pt x="9299" y="13718"/>
                    </a:lnTo>
                    <a:lnTo>
                      <a:pt x="9427" y="13500"/>
                    </a:lnTo>
                    <a:lnTo>
                      <a:pt x="9543" y="13269"/>
                    </a:lnTo>
                    <a:lnTo>
                      <a:pt x="9645" y="13026"/>
                    </a:lnTo>
                    <a:lnTo>
                      <a:pt x="9722" y="12770"/>
                    </a:lnTo>
                    <a:lnTo>
                      <a:pt x="9760" y="12501"/>
                    </a:lnTo>
                    <a:lnTo>
                      <a:pt x="9786" y="12232"/>
                    </a:lnTo>
                    <a:lnTo>
                      <a:pt x="9888" y="12296"/>
                    </a:lnTo>
                    <a:lnTo>
                      <a:pt x="9991" y="12347"/>
                    </a:lnTo>
                    <a:lnTo>
                      <a:pt x="10106" y="12386"/>
                    </a:lnTo>
                    <a:lnTo>
                      <a:pt x="10221" y="12424"/>
                    </a:lnTo>
                    <a:lnTo>
                      <a:pt x="10337" y="12463"/>
                    </a:lnTo>
                    <a:lnTo>
                      <a:pt x="10452" y="12488"/>
                    </a:lnTo>
                    <a:lnTo>
                      <a:pt x="10580" y="12501"/>
                    </a:lnTo>
                    <a:lnTo>
                      <a:pt x="10708" y="12501"/>
                    </a:lnTo>
                    <a:lnTo>
                      <a:pt x="10913" y="12488"/>
                    </a:lnTo>
                    <a:lnTo>
                      <a:pt x="11105" y="12450"/>
                    </a:lnTo>
                    <a:lnTo>
                      <a:pt x="11284" y="12399"/>
                    </a:lnTo>
                    <a:lnTo>
                      <a:pt x="11464" y="12322"/>
                    </a:lnTo>
                    <a:lnTo>
                      <a:pt x="11630" y="12232"/>
                    </a:lnTo>
                    <a:lnTo>
                      <a:pt x="11784" y="12117"/>
                    </a:lnTo>
                    <a:lnTo>
                      <a:pt x="11925" y="11989"/>
                    </a:lnTo>
                    <a:lnTo>
                      <a:pt x="12053" y="11848"/>
                    </a:lnTo>
                    <a:lnTo>
                      <a:pt x="12168" y="11950"/>
                    </a:lnTo>
                    <a:lnTo>
                      <a:pt x="12283" y="12027"/>
                    </a:lnTo>
                    <a:lnTo>
                      <a:pt x="12412" y="12104"/>
                    </a:lnTo>
                    <a:lnTo>
                      <a:pt x="12552" y="12168"/>
                    </a:lnTo>
                    <a:lnTo>
                      <a:pt x="12693" y="12206"/>
                    </a:lnTo>
                    <a:lnTo>
                      <a:pt x="12834" y="12245"/>
                    </a:lnTo>
                    <a:lnTo>
                      <a:pt x="12988" y="12270"/>
                    </a:lnTo>
                    <a:lnTo>
                      <a:pt x="13308" y="12270"/>
                    </a:lnTo>
                    <a:lnTo>
                      <a:pt x="13462" y="12245"/>
                    </a:lnTo>
                    <a:lnTo>
                      <a:pt x="13603" y="12206"/>
                    </a:lnTo>
                    <a:lnTo>
                      <a:pt x="13744" y="12155"/>
                    </a:lnTo>
                    <a:lnTo>
                      <a:pt x="13884" y="12104"/>
                    </a:lnTo>
                    <a:lnTo>
                      <a:pt x="14013" y="12027"/>
                    </a:lnTo>
                    <a:lnTo>
                      <a:pt x="14128" y="11937"/>
                    </a:lnTo>
                    <a:lnTo>
                      <a:pt x="14243" y="11848"/>
                    </a:lnTo>
                    <a:lnTo>
                      <a:pt x="14346" y="11733"/>
                    </a:lnTo>
                    <a:lnTo>
                      <a:pt x="14448" y="11617"/>
                    </a:lnTo>
                    <a:lnTo>
                      <a:pt x="14525" y="11502"/>
                    </a:lnTo>
                    <a:lnTo>
                      <a:pt x="14602" y="11361"/>
                    </a:lnTo>
                    <a:lnTo>
                      <a:pt x="14653" y="11233"/>
                    </a:lnTo>
                    <a:lnTo>
                      <a:pt x="14704" y="11079"/>
                    </a:lnTo>
                    <a:lnTo>
                      <a:pt x="14743" y="10938"/>
                    </a:lnTo>
                    <a:lnTo>
                      <a:pt x="14755" y="10785"/>
                    </a:lnTo>
                    <a:lnTo>
                      <a:pt x="15050" y="10734"/>
                    </a:lnTo>
                    <a:lnTo>
                      <a:pt x="15319" y="10657"/>
                    </a:lnTo>
                    <a:lnTo>
                      <a:pt x="15588" y="10567"/>
                    </a:lnTo>
                    <a:lnTo>
                      <a:pt x="15844" y="10452"/>
                    </a:lnTo>
                    <a:lnTo>
                      <a:pt x="16087" y="10311"/>
                    </a:lnTo>
                    <a:lnTo>
                      <a:pt x="16318" y="10144"/>
                    </a:lnTo>
                    <a:lnTo>
                      <a:pt x="16536" y="9965"/>
                    </a:lnTo>
                    <a:lnTo>
                      <a:pt x="16728" y="9773"/>
                    </a:lnTo>
                    <a:lnTo>
                      <a:pt x="16907" y="9555"/>
                    </a:lnTo>
                    <a:lnTo>
                      <a:pt x="17061" y="9325"/>
                    </a:lnTo>
                    <a:lnTo>
                      <a:pt x="17202" y="9081"/>
                    </a:lnTo>
                    <a:lnTo>
                      <a:pt x="17317" y="8812"/>
                    </a:lnTo>
                    <a:lnTo>
                      <a:pt x="17407" y="8543"/>
                    </a:lnTo>
                    <a:lnTo>
                      <a:pt x="17471" y="8274"/>
                    </a:lnTo>
                    <a:lnTo>
                      <a:pt x="17509" y="7980"/>
                    </a:lnTo>
                    <a:lnTo>
                      <a:pt x="17522" y="7685"/>
                    </a:lnTo>
                    <a:lnTo>
                      <a:pt x="17522" y="7429"/>
                    </a:lnTo>
                    <a:lnTo>
                      <a:pt x="17483" y="7186"/>
                    </a:lnTo>
                    <a:lnTo>
                      <a:pt x="17445" y="6955"/>
                    </a:lnTo>
                    <a:lnTo>
                      <a:pt x="17381" y="6725"/>
                    </a:lnTo>
                    <a:lnTo>
                      <a:pt x="17291" y="6494"/>
                    </a:lnTo>
                    <a:lnTo>
                      <a:pt x="17202" y="6289"/>
                    </a:lnTo>
                    <a:lnTo>
                      <a:pt x="17086" y="6084"/>
                    </a:lnTo>
                    <a:lnTo>
                      <a:pt x="16958" y="5879"/>
                    </a:lnTo>
                    <a:lnTo>
                      <a:pt x="16817" y="5700"/>
                    </a:lnTo>
                    <a:lnTo>
                      <a:pt x="16664" y="5521"/>
                    </a:lnTo>
                    <a:lnTo>
                      <a:pt x="16497" y="5367"/>
                    </a:lnTo>
                    <a:lnTo>
                      <a:pt x="16318" y="5213"/>
                    </a:lnTo>
                    <a:lnTo>
                      <a:pt x="16126" y="5085"/>
                    </a:lnTo>
                    <a:lnTo>
                      <a:pt x="15921" y="4957"/>
                    </a:lnTo>
                    <a:lnTo>
                      <a:pt x="15716" y="4855"/>
                    </a:lnTo>
                    <a:lnTo>
                      <a:pt x="15498" y="4765"/>
                    </a:lnTo>
                    <a:lnTo>
                      <a:pt x="15549" y="4509"/>
                    </a:lnTo>
                    <a:lnTo>
                      <a:pt x="15562" y="4368"/>
                    </a:lnTo>
                    <a:lnTo>
                      <a:pt x="15575" y="4240"/>
                    </a:lnTo>
                    <a:lnTo>
                      <a:pt x="15562" y="4022"/>
                    </a:lnTo>
                    <a:lnTo>
                      <a:pt x="15524" y="3817"/>
                    </a:lnTo>
                    <a:lnTo>
                      <a:pt x="15473" y="3625"/>
                    </a:lnTo>
                    <a:lnTo>
                      <a:pt x="15409" y="3433"/>
                    </a:lnTo>
                    <a:lnTo>
                      <a:pt x="15319" y="3254"/>
                    </a:lnTo>
                    <a:lnTo>
                      <a:pt x="15216" y="3087"/>
                    </a:lnTo>
                    <a:lnTo>
                      <a:pt x="15101" y="2921"/>
                    </a:lnTo>
                    <a:lnTo>
                      <a:pt x="14973" y="2780"/>
                    </a:lnTo>
                    <a:lnTo>
                      <a:pt x="14819" y="2652"/>
                    </a:lnTo>
                    <a:lnTo>
                      <a:pt x="14666" y="2524"/>
                    </a:lnTo>
                    <a:lnTo>
                      <a:pt x="14499" y="2421"/>
                    </a:lnTo>
                    <a:lnTo>
                      <a:pt x="14307" y="2332"/>
                    </a:lnTo>
                    <a:lnTo>
                      <a:pt x="14128" y="2267"/>
                    </a:lnTo>
                    <a:lnTo>
                      <a:pt x="13923" y="2216"/>
                    </a:lnTo>
                    <a:lnTo>
                      <a:pt x="13718" y="2191"/>
                    </a:lnTo>
                    <a:lnTo>
                      <a:pt x="13513" y="2178"/>
                    </a:lnTo>
                    <a:lnTo>
                      <a:pt x="13359" y="2178"/>
                    </a:lnTo>
                    <a:lnTo>
                      <a:pt x="13193" y="2203"/>
                    </a:lnTo>
                    <a:lnTo>
                      <a:pt x="13052" y="2229"/>
                    </a:lnTo>
                    <a:lnTo>
                      <a:pt x="12898" y="2267"/>
                    </a:lnTo>
                    <a:lnTo>
                      <a:pt x="12757" y="2319"/>
                    </a:lnTo>
                    <a:lnTo>
                      <a:pt x="12616" y="2383"/>
                    </a:lnTo>
                    <a:lnTo>
                      <a:pt x="12488" y="2447"/>
                    </a:lnTo>
                    <a:lnTo>
                      <a:pt x="12360" y="2524"/>
                    </a:lnTo>
                    <a:lnTo>
                      <a:pt x="12245" y="2255"/>
                    </a:lnTo>
                    <a:lnTo>
                      <a:pt x="12104" y="1999"/>
                    </a:lnTo>
                    <a:lnTo>
                      <a:pt x="11950" y="1742"/>
                    </a:lnTo>
                    <a:lnTo>
                      <a:pt x="11784" y="1512"/>
                    </a:lnTo>
                    <a:lnTo>
                      <a:pt x="11592" y="1281"/>
                    </a:lnTo>
                    <a:lnTo>
                      <a:pt x="11387" y="1076"/>
                    </a:lnTo>
                    <a:lnTo>
                      <a:pt x="11169" y="884"/>
                    </a:lnTo>
                    <a:lnTo>
                      <a:pt x="10939" y="705"/>
                    </a:lnTo>
                    <a:lnTo>
                      <a:pt x="10695" y="551"/>
                    </a:lnTo>
                    <a:lnTo>
                      <a:pt x="10439" y="410"/>
                    </a:lnTo>
                    <a:lnTo>
                      <a:pt x="10170" y="295"/>
                    </a:lnTo>
                    <a:lnTo>
                      <a:pt x="9888" y="193"/>
                    </a:lnTo>
                    <a:lnTo>
                      <a:pt x="9594" y="103"/>
                    </a:lnTo>
                    <a:lnTo>
                      <a:pt x="9299" y="52"/>
                    </a:lnTo>
                    <a:lnTo>
                      <a:pt x="8992" y="13"/>
                    </a:lnTo>
                    <a:lnTo>
                      <a:pt x="8684" y="0"/>
                    </a:lnTo>
                    <a:close/>
                  </a:path>
                </a:pathLst>
              </a:custGeom>
              <a:solidFill>
                <a:srgbClr val="EA4827">
                  <a:alpha val="37650"/>
                </a:srgbClr>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6" name="Google Shape;1815;p36">
                <a:extLst>
                  <a:ext uri="{FF2B5EF4-FFF2-40B4-BE49-F238E27FC236}">
                    <a16:creationId xmlns:a16="http://schemas.microsoft.com/office/drawing/2014/main" id="{5B1D41B7-6E66-7B3B-E68F-6C7C6F2E1BBD}"/>
                  </a:ext>
                </a:extLst>
              </p:cNvPr>
              <p:cNvSpPr/>
              <p:nvPr/>
            </p:nvSpPr>
            <p:spPr>
              <a:xfrm>
                <a:off x="5022704" y="2108884"/>
                <a:ext cx="341356" cy="237149"/>
              </a:xfrm>
              <a:custGeom>
                <a:avLst/>
                <a:gdLst/>
                <a:ahLst/>
                <a:cxnLst/>
                <a:rect l="l" t="t" r="r" b="b"/>
                <a:pathLst>
                  <a:path w="6712" h="4663" extrusionOk="0">
                    <a:moveTo>
                      <a:pt x="0" y="0"/>
                    </a:moveTo>
                    <a:lnTo>
                      <a:pt x="0" y="4662"/>
                    </a:lnTo>
                    <a:lnTo>
                      <a:pt x="6712" y="4662"/>
                    </a:lnTo>
                    <a:lnTo>
                      <a:pt x="6712" y="0"/>
                    </a:lnTo>
                    <a:close/>
                  </a:path>
                </a:pathLst>
              </a:custGeom>
              <a:solidFill>
                <a:srgbClr val="FFA59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7" name="Google Shape;1816;p36">
                <a:extLst>
                  <a:ext uri="{FF2B5EF4-FFF2-40B4-BE49-F238E27FC236}">
                    <a16:creationId xmlns:a16="http://schemas.microsoft.com/office/drawing/2014/main" id="{B22013DB-31A1-9F9B-22E1-29C989B8054A}"/>
                  </a:ext>
                </a:extLst>
              </p:cNvPr>
              <p:cNvSpPr/>
              <p:nvPr/>
            </p:nvSpPr>
            <p:spPr>
              <a:xfrm>
                <a:off x="5022704" y="2108884"/>
                <a:ext cx="341356" cy="58028"/>
              </a:xfrm>
              <a:custGeom>
                <a:avLst/>
                <a:gdLst/>
                <a:ahLst/>
                <a:cxnLst/>
                <a:rect l="l" t="t" r="r" b="b"/>
                <a:pathLst>
                  <a:path w="6712" h="1141" extrusionOk="0">
                    <a:moveTo>
                      <a:pt x="0" y="0"/>
                    </a:moveTo>
                    <a:lnTo>
                      <a:pt x="0" y="1140"/>
                    </a:lnTo>
                    <a:lnTo>
                      <a:pt x="6712" y="1140"/>
                    </a:lnTo>
                    <a:lnTo>
                      <a:pt x="6712"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8" name="Google Shape;1817;p36">
                <a:extLst>
                  <a:ext uri="{FF2B5EF4-FFF2-40B4-BE49-F238E27FC236}">
                    <a16:creationId xmlns:a16="http://schemas.microsoft.com/office/drawing/2014/main" id="{E3FE577E-7204-8C60-DEB7-FB088E4022E1}"/>
                  </a:ext>
                </a:extLst>
              </p:cNvPr>
              <p:cNvSpPr/>
              <p:nvPr/>
            </p:nvSpPr>
            <p:spPr>
              <a:xfrm>
                <a:off x="5013601" y="2917863"/>
                <a:ext cx="308146" cy="198090"/>
              </a:xfrm>
              <a:custGeom>
                <a:avLst/>
                <a:gdLst/>
                <a:ahLst/>
                <a:cxnLst/>
                <a:rect l="l" t="t" r="r" b="b"/>
                <a:pathLst>
                  <a:path w="6059" h="3895" extrusionOk="0">
                    <a:moveTo>
                      <a:pt x="0" y="1"/>
                    </a:moveTo>
                    <a:lnTo>
                      <a:pt x="0" y="3894"/>
                    </a:lnTo>
                    <a:lnTo>
                      <a:pt x="6058" y="3894"/>
                    </a:lnTo>
                    <a:lnTo>
                      <a:pt x="6058" y="1"/>
                    </a:lnTo>
                    <a:close/>
                  </a:path>
                </a:pathLst>
              </a:custGeom>
              <a:solidFill>
                <a:srgbClr val="C99B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9" name="Google Shape;1818;p36">
                <a:extLst>
                  <a:ext uri="{FF2B5EF4-FFF2-40B4-BE49-F238E27FC236}">
                    <a16:creationId xmlns:a16="http://schemas.microsoft.com/office/drawing/2014/main" id="{EE303D81-809B-532D-1823-FC314AC380AB}"/>
                  </a:ext>
                </a:extLst>
              </p:cNvPr>
              <p:cNvSpPr/>
              <p:nvPr/>
            </p:nvSpPr>
            <p:spPr>
              <a:xfrm>
                <a:off x="5013601" y="2917863"/>
                <a:ext cx="308146" cy="69776"/>
              </a:xfrm>
              <a:custGeom>
                <a:avLst/>
                <a:gdLst/>
                <a:ahLst/>
                <a:cxnLst/>
                <a:rect l="l" t="t" r="r" b="b"/>
                <a:pathLst>
                  <a:path w="6059" h="1372" extrusionOk="0">
                    <a:moveTo>
                      <a:pt x="0" y="1"/>
                    </a:moveTo>
                    <a:lnTo>
                      <a:pt x="0" y="1371"/>
                    </a:lnTo>
                    <a:lnTo>
                      <a:pt x="6058" y="1371"/>
                    </a:lnTo>
                    <a:lnTo>
                      <a:pt x="6058" y="1"/>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819;p36">
                <a:extLst>
                  <a:ext uri="{FF2B5EF4-FFF2-40B4-BE49-F238E27FC236}">
                    <a16:creationId xmlns:a16="http://schemas.microsoft.com/office/drawing/2014/main" id="{94ACA20F-B82E-3D04-077A-ABAA33A2F5F1}"/>
                  </a:ext>
                </a:extLst>
              </p:cNvPr>
              <p:cNvSpPr/>
              <p:nvPr/>
            </p:nvSpPr>
            <p:spPr>
              <a:xfrm>
                <a:off x="4490540" y="2398717"/>
                <a:ext cx="148555" cy="53502"/>
              </a:xfrm>
              <a:custGeom>
                <a:avLst/>
                <a:gdLst/>
                <a:ahLst/>
                <a:cxnLst/>
                <a:rect l="l" t="t" r="r" b="b"/>
                <a:pathLst>
                  <a:path w="2921" h="1052" extrusionOk="0">
                    <a:moveTo>
                      <a:pt x="1460" y="1"/>
                    </a:moveTo>
                    <a:lnTo>
                      <a:pt x="1268" y="14"/>
                    </a:lnTo>
                    <a:lnTo>
                      <a:pt x="1076" y="52"/>
                    </a:lnTo>
                    <a:lnTo>
                      <a:pt x="884" y="116"/>
                    </a:lnTo>
                    <a:lnTo>
                      <a:pt x="705" y="206"/>
                    </a:lnTo>
                    <a:lnTo>
                      <a:pt x="525" y="308"/>
                    </a:lnTo>
                    <a:lnTo>
                      <a:pt x="359" y="436"/>
                    </a:lnTo>
                    <a:lnTo>
                      <a:pt x="192" y="590"/>
                    </a:lnTo>
                    <a:lnTo>
                      <a:pt x="39" y="757"/>
                    </a:lnTo>
                    <a:lnTo>
                      <a:pt x="13" y="821"/>
                    </a:lnTo>
                    <a:lnTo>
                      <a:pt x="0" y="897"/>
                    </a:lnTo>
                    <a:lnTo>
                      <a:pt x="26" y="962"/>
                    </a:lnTo>
                    <a:lnTo>
                      <a:pt x="77" y="1013"/>
                    </a:lnTo>
                    <a:lnTo>
                      <a:pt x="141" y="1051"/>
                    </a:lnTo>
                    <a:lnTo>
                      <a:pt x="205" y="1051"/>
                    </a:lnTo>
                    <a:lnTo>
                      <a:pt x="269" y="1038"/>
                    </a:lnTo>
                    <a:lnTo>
                      <a:pt x="333" y="987"/>
                    </a:lnTo>
                    <a:lnTo>
                      <a:pt x="449" y="846"/>
                    </a:lnTo>
                    <a:lnTo>
                      <a:pt x="577" y="731"/>
                    </a:lnTo>
                    <a:lnTo>
                      <a:pt x="718" y="629"/>
                    </a:lnTo>
                    <a:lnTo>
                      <a:pt x="858" y="539"/>
                    </a:lnTo>
                    <a:lnTo>
                      <a:pt x="1012" y="475"/>
                    </a:lnTo>
                    <a:lnTo>
                      <a:pt x="1153" y="424"/>
                    </a:lnTo>
                    <a:lnTo>
                      <a:pt x="1307" y="398"/>
                    </a:lnTo>
                    <a:lnTo>
                      <a:pt x="1460" y="385"/>
                    </a:lnTo>
                    <a:lnTo>
                      <a:pt x="1614" y="398"/>
                    </a:lnTo>
                    <a:lnTo>
                      <a:pt x="1768" y="424"/>
                    </a:lnTo>
                    <a:lnTo>
                      <a:pt x="1921" y="475"/>
                    </a:lnTo>
                    <a:lnTo>
                      <a:pt x="2062" y="539"/>
                    </a:lnTo>
                    <a:lnTo>
                      <a:pt x="2203" y="629"/>
                    </a:lnTo>
                    <a:lnTo>
                      <a:pt x="2344" y="731"/>
                    </a:lnTo>
                    <a:lnTo>
                      <a:pt x="2472" y="846"/>
                    </a:lnTo>
                    <a:lnTo>
                      <a:pt x="2588" y="987"/>
                    </a:lnTo>
                    <a:lnTo>
                      <a:pt x="2626" y="1013"/>
                    </a:lnTo>
                    <a:lnTo>
                      <a:pt x="2664" y="1038"/>
                    </a:lnTo>
                    <a:lnTo>
                      <a:pt x="2690" y="1051"/>
                    </a:lnTo>
                    <a:lnTo>
                      <a:pt x="2792" y="1051"/>
                    </a:lnTo>
                    <a:lnTo>
                      <a:pt x="2844" y="1013"/>
                    </a:lnTo>
                    <a:lnTo>
                      <a:pt x="2895" y="962"/>
                    </a:lnTo>
                    <a:lnTo>
                      <a:pt x="2921" y="897"/>
                    </a:lnTo>
                    <a:lnTo>
                      <a:pt x="2908" y="821"/>
                    </a:lnTo>
                    <a:lnTo>
                      <a:pt x="2882" y="757"/>
                    </a:lnTo>
                    <a:lnTo>
                      <a:pt x="2728" y="590"/>
                    </a:lnTo>
                    <a:lnTo>
                      <a:pt x="2575" y="436"/>
                    </a:lnTo>
                    <a:lnTo>
                      <a:pt x="2395" y="308"/>
                    </a:lnTo>
                    <a:lnTo>
                      <a:pt x="2229" y="206"/>
                    </a:lnTo>
                    <a:lnTo>
                      <a:pt x="2037" y="116"/>
                    </a:lnTo>
                    <a:lnTo>
                      <a:pt x="1857" y="52"/>
                    </a:lnTo>
                    <a:lnTo>
                      <a:pt x="1653" y="14"/>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1" name="Google Shape;1820;p36">
                <a:extLst>
                  <a:ext uri="{FF2B5EF4-FFF2-40B4-BE49-F238E27FC236}">
                    <a16:creationId xmlns:a16="http://schemas.microsoft.com/office/drawing/2014/main" id="{D7B65218-F5D2-DDEA-AB45-76B434CA45D9}"/>
                  </a:ext>
                </a:extLst>
              </p:cNvPr>
              <p:cNvSpPr/>
              <p:nvPr/>
            </p:nvSpPr>
            <p:spPr>
              <a:xfrm>
                <a:off x="4670318" y="2510144"/>
                <a:ext cx="147894" cy="53451"/>
              </a:xfrm>
              <a:custGeom>
                <a:avLst/>
                <a:gdLst/>
                <a:ahLst/>
                <a:cxnLst/>
                <a:rect l="l" t="t" r="r" b="b"/>
                <a:pathLst>
                  <a:path w="2908" h="1051" extrusionOk="0">
                    <a:moveTo>
                      <a:pt x="1460" y="0"/>
                    </a:moveTo>
                    <a:lnTo>
                      <a:pt x="1255" y="13"/>
                    </a:lnTo>
                    <a:lnTo>
                      <a:pt x="1063" y="51"/>
                    </a:lnTo>
                    <a:lnTo>
                      <a:pt x="884" y="115"/>
                    </a:lnTo>
                    <a:lnTo>
                      <a:pt x="692" y="192"/>
                    </a:lnTo>
                    <a:lnTo>
                      <a:pt x="513" y="307"/>
                    </a:lnTo>
                    <a:lnTo>
                      <a:pt x="346" y="436"/>
                    </a:lnTo>
                    <a:lnTo>
                      <a:pt x="192" y="589"/>
                    </a:lnTo>
                    <a:lnTo>
                      <a:pt x="39" y="756"/>
                    </a:lnTo>
                    <a:lnTo>
                      <a:pt x="0" y="820"/>
                    </a:lnTo>
                    <a:lnTo>
                      <a:pt x="0" y="884"/>
                    </a:lnTo>
                    <a:lnTo>
                      <a:pt x="26" y="961"/>
                    </a:lnTo>
                    <a:lnTo>
                      <a:pt x="64" y="1012"/>
                    </a:lnTo>
                    <a:lnTo>
                      <a:pt x="128" y="1050"/>
                    </a:lnTo>
                    <a:lnTo>
                      <a:pt x="205" y="1050"/>
                    </a:lnTo>
                    <a:lnTo>
                      <a:pt x="269" y="1025"/>
                    </a:lnTo>
                    <a:lnTo>
                      <a:pt x="320" y="986"/>
                    </a:lnTo>
                    <a:lnTo>
                      <a:pt x="449" y="845"/>
                    </a:lnTo>
                    <a:lnTo>
                      <a:pt x="577" y="717"/>
                    </a:lnTo>
                    <a:lnTo>
                      <a:pt x="718" y="615"/>
                    </a:lnTo>
                    <a:lnTo>
                      <a:pt x="858" y="538"/>
                    </a:lnTo>
                    <a:lnTo>
                      <a:pt x="999" y="474"/>
                    </a:lnTo>
                    <a:lnTo>
                      <a:pt x="1153" y="423"/>
                    </a:lnTo>
                    <a:lnTo>
                      <a:pt x="1307" y="397"/>
                    </a:lnTo>
                    <a:lnTo>
                      <a:pt x="1460" y="384"/>
                    </a:lnTo>
                    <a:lnTo>
                      <a:pt x="1614" y="397"/>
                    </a:lnTo>
                    <a:lnTo>
                      <a:pt x="1768" y="423"/>
                    </a:lnTo>
                    <a:lnTo>
                      <a:pt x="1909" y="474"/>
                    </a:lnTo>
                    <a:lnTo>
                      <a:pt x="2062" y="538"/>
                    </a:lnTo>
                    <a:lnTo>
                      <a:pt x="2203" y="615"/>
                    </a:lnTo>
                    <a:lnTo>
                      <a:pt x="2331" y="717"/>
                    </a:lnTo>
                    <a:lnTo>
                      <a:pt x="2472" y="845"/>
                    </a:lnTo>
                    <a:lnTo>
                      <a:pt x="2587" y="986"/>
                    </a:lnTo>
                    <a:lnTo>
                      <a:pt x="2613" y="1012"/>
                    </a:lnTo>
                    <a:lnTo>
                      <a:pt x="2652" y="1038"/>
                    </a:lnTo>
                    <a:lnTo>
                      <a:pt x="2690" y="1050"/>
                    </a:lnTo>
                    <a:lnTo>
                      <a:pt x="2728" y="1050"/>
                    </a:lnTo>
                    <a:lnTo>
                      <a:pt x="2792" y="1038"/>
                    </a:lnTo>
                    <a:lnTo>
                      <a:pt x="2844" y="1012"/>
                    </a:lnTo>
                    <a:lnTo>
                      <a:pt x="2895" y="961"/>
                    </a:lnTo>
                    <a:lnTo>
                      <a:pt x="2908" y="884"/>
                    </a:lnTo>
                    <a:lnTo>
                      <a:pt x="2908" y="820"/>
                    </a:lnTo>
                    <a:lnTo>
                      <a:pt x="2869" y="756"/>
                    </a:lnTo>
                    <a:lnTo>
                      <a:pt x="2728" y="589"/>
                    </a:lnTo>
                    <a:lnTo>
                      <a:pt x="2562" y="436"/>
                    </a:lnTo>
                    <a:lnTo>
                      <a:pt x="2395" y="307"/>
                    </a:lnTo>
                    <a:lnTo>
                      <a:pt x="2216" y="192"/>
                    </a:lnTo>
                    <a:lnTo>
                      <a:pt x="2037" y="115"/>
                    </a:lnTo>
                    <a:lnTo>
                      <a:pt x="1845" y="51"/>
                    </a:lnTo>
                    <a:lnTo>
                      <a:pt x="1653" y="13"/>
                    </a:lnTo>
                    <a:lnTo>
                      <a:pt x="1460"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2" name="Google Shape;1821;p36">
                <a:extLst>
                  <a:ext uri="{FF2B5EF4-FFF2-40B4-BE49-F238E27FC236}">
                    <a16:creationId xmlns:a16="http://schemas.microsoft.com/office/drawing/2014/main" id="{11B9ADB1-4CB0-5394-ED0D-7CBEC84CC0C8}"/>
                  </a:ext>
                </a:extLst>
              </p:cNvPr>
              <p:cNvSpPr/>
              <p:nvPr/>
            </p:nvSpPr>
            <p:spPr>
              <a:xfrm>
                <a:off x="4280146" y="2495802"/>
                <a:ext cx="147894" cy="53451"/>
              </a:xfrm>
              <a:custGeom>
                <a:avLst/>
                <a:gdLst/>
                <a:ahLst/>
                <a:cxnLst/>
                <a:rect l="l" t="t" r="r" b="b"/>
                <a:pathLst>
                  <a:path w="2908" h="1051" extrusionOk="0">
                    <a:moveTo>
                      <a:pt x="1448" y="0"/>
                    </a:moveTo>
                    <a:lnTo>
                      <a:pt x="1256" y="13"/>
                    </a:lnTo>
                    <a:lnTo>
                      <a:pt x="1063" y="52"/>
                    </a:lnTo>
                    <a:lnTo>
                      <a:pt x="871" y="116"/>
                    </a:lnTo>
                    <a:lnTo>
                      <a:pt x="692" y="192"/>
                    </a:lnTo>
                    <a:lnTo>
                      <a:pt x="513" y="308"/>
                    </a:lnTo>
                    <a:lnTo>
                      <a:pt x="346" y="436"/>
                    </a:lnTo>
                    <a:lnTo>
                      <a:pt x="180" y="589"/>
                    </a:lnTo>
                    <a:lnTo>
                      <a:pt x="39" y="756"/>
                    </a:lnTo>
                    <a:lnTo>
                      <a:pt x="0" y="820"/>
                    </a:lnTo>
                    <a:lnTo>
                      <a:pt x="0" y="897"/>
                    </a:lnTo>
                    <a:lnTo>
                      <a:pt x="13" y="961"/>
                    </a:lnTo>
                    <a:lnTo>
                      <a:pt x="64" y="1012"/>
                    </a:lnTo>
                    <a:lnTo>
                      <a:pt x="128" y="1051"/>
                    </a:lnTo>
                    <a:lnTo>
                      <a:pt x="193" y="1051"/>
                    </a:lnTo>
                    <a:lnTo>
                      <a:pt x="269" y="1025"/>
                    </a:lnTo>
                    <a:lnTo>
                      <a:pt x="321" y="987"/>
                    </a:lnTo>
                    <a:lnTo>
                      <a:pt x="436" y="846"/>
                    </a:lnTo>
                    <a:lnTo>
                      <a:pt x="577" y="718"/>
                    </a:lnTo>
                    <a:lnTo>
                      <a:pt x="705" y="615"/>
                    </a:lnTo>
                    <a:lnTo>
                      <a:pt x="846" y="538"/>
                    </a:lnTo>
                    <a:lnTo>
                      <a:pt x="999" y="474"/>
                    </a:lnTo>
                    <a:lnTo>
                      <a:pt x="1140" y="423"/>
                    </a:lnTo>
                    <a:lnTo>
                      <a:pt x="1294" y="397"/>
                    </a:lnTo>
                    <a:lnTo>
                      <a:pt x="1448" y="385"/>
                    </a:lnTo>
                    <a:lnTo>
                      <a:pt x="1601" y="397"/>
                    </a:lnTo>
                    <a:lnTo>
                      <a:pt x="1755" y="423"/>
                    </a:lnTo>
                    <a:lnTo>
                      <a:pt x="1909" y="474"/>
                    </a:lnTo>
                    <a:lnTo>
                      <a:pt x="2050" y="538"/>
                    </a:lnTo>
                    <a:lnTo>
                      <a:pt x="2191" y="615"/>
                    </a:lnTo>
                    <a:lnTo>
                      <a:pt x="2331" y="718"/>
                    </a:lnTo>
                    <a:lnTo>
                      <a:pt x="2459" y="846"/>
                    </a:lnTo>
                    <a:lnTo>
                      <a:pt x="2588" y="987"/>
                    </a:lnTo>
                    <a:lnTo>
                      <a:pt x="2613" y="1012"/>
                    </a:lnTo>
                    <a:lnTo>
                      <a:pt x="2652" y="1038"/>
                    </a:lnTo>
                    <a:lnTo>
                      <a:pt x="2690" y="1051"/>
                    </a:lnTo>
                    <a:lnTo>
                      <a:pt x="2728" y="1051"/>
                    </a:lnTo>
                    <a:lnTo>
                      <a:pt x="2780" y="1038"/>
                    </a:lnTo>
                    <a:lnTo>
                      <a:pt x="2844" y="1012"/>
                    </a:lnTo>
                    <a:lnTo>
                      <a:pt x="2882" y="961"/>
                    </a:lnTo>
                    <a:lnTo>
                      <a:pt x="2908" y="897"/>
                    </a:lnTo>
                    <a:lnTo>
                      <a:pt x="2908" y="820"/>
                    </a:lnTo>
                    <a:lnTo>
                      <a:pt x="2869" y="756"/>
                    </a:lnTo>
                    <a:lnTo>
                      <a:pt x="2716" y="589"/>
                    </a:lnTo>
                    <a:lnTo>
                      <a:pt x="2562" y="436"/>
                    </a:lnTo>
                    <a:lnTo>
                      <a:pt x="2395" y="308"/>
                    </a:lnTo>
                    <a:lnTo>
                      <a:pt x="2216" y="192"/>
                    </a:lnTo>
                    <a:lnTo>
                      <a:pt x="2024" y="116"/>
                    </a:lnTo>
                    <a:lnTo>
                      <a:pt x="1845" y="52"/>
                    </a:lnTo>
                    <a:lnTo>
                      <a:pt x="1653" y="13"/>
                    </a:lnTo>
                    <a:lnTo>
                      <a:pt x="1448"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3" name="Google Shape;1822;p36">
                <a:extLst>
                  <a:ext uri="{FF2B5EF4-FFF2-40B4-BE49-F238E27FC236}">
                    <a16:creationId xmlns:a16="http://schemas.microsoft.com/office/drawing/2014/main" id="{2AF5660D-3777-C992-8F1D-904D22160114}"/>
                  </a:ext>
                </a:extLst>
              </p:cNvPr>
              <p:cNvSpPr/>
              <p:nvPr/>
            </p:nvSpPr>
            <p:spPr>
              <a:xfrm>
                <a:off x="4353735" y="2661239"/>
                <a:ext cx="148555" cy="53451"/>
              </a:xfrm>
              <a:custGeom>
                <a:avLst/>
                <a:gdLst/>
                <a:ahLst/>
                <a:cxnLst/>
                <a:rect l="l" t="t" r="r" b="b"/>
                <a:pathLst>
                  <a:path w="2921" h="1051" extrusionOk="0">
                    <a:moveTo>
                      <a:pt x="1461" y="1"/>
                    </a:moveTo>
                    <a:lnTo>
                      <a:pt x="1269" y="13"/>
                    </a:lnTo>
                    <a:lnTo>
                      <a:pt x="1077" y="52"/>
                    </a:lnTo>
                    <a:lnTo>
                      <a:pt x="884" y="116"/>
                    </a:lnTo>
                    <a:lnTo>
                      <a:pt x="705" y="205"/>
                    </a:lnTo>
                    <a:lnTo>
                      <a:pt x="526" y="308"/>
                    </a:lnTo>
                    <a:lnTo>
                      <a:pt x="359" y="436"/>
                    </a:lnTo>
                    <a:lnTo>
                      <a:pt x="193" y="590"/>
                    </a:lnTo>
                    <a:lnTo>
                      <a:pt x="39" y="756"/>
                    </a:lnTo>
                    <a:lnTo>
                      <a:pt x="13" y="820"/>
                    </a:lnTo>
                    <a:lnTo>
                      <a:pt x="1" y="897"/>
                    </a:lnTo>
                    <a:lnTo>
                      <a:pt x="26" y="961"/>
                    </a:lnTo>
                    <a:lnTo>
                      <a:pt x="78" y="1012"/>
                    </a:lnTo>
                    <a:lnTo>
                      <a:pt x="142" y="1051"/>
                    </a:lnTo>
                    <a:lnTo>
                      <a:pt x="206" y="1051"/>
                    </a:lnTo>
                    <a:lnTo>
                      <a:pt x="270" y="1038"/>
                    </a:lnTo>
                    <a:lnTo>
                      <a:pt x="334" y="987"/>
                    </a:lnTo>
                    <a:lnTo>
                      <a:pt x="449" y="846"/>
                    </a:lnTo>
                    <a:lnTo>
                      <a:pt x="577" y="731"/>
                    </a:lnTo>
                    <a:lnTo>
                      <a:pt x="718" y="628"/>
                    </a:lnTo>
                    <a:lnTo>
                      <a:pt x="859" y="538"/>
                    </a:lnTo>
                    <a:lnTo>
                      <a:pt x="1012" y="474"/>
                    </a:lnTo>
                    <a:lnTo>
                      <a:pt x="1153" y="423"/>
                    </a:lnTo>
                    <a:lnTo>
                      <a:pt x="1307" y="398"/>
                    </a:lnTo>
                    <a:lnTo>
                      <a:pt x="1461" y="385"/>
                    </a:lnTo>
                    <a:lnTo>
                      <a:pt x="1614" y="398"/>
                    </a:lnTo>
                    <a:lnTo>
                      <a:pt x="1768" y="423"/>
                    </a:lnTo>
                    <a:lnTo>
                      <a:pt x="1922" y="474"/>
                    </a:lnTo>
                    <a:lnTo>
                      <a:pt x="2063" y="538"/>
                    </a:lnTo>
                    <a:lnTo>
                      <a:pt x="2204" y="628"/>
                    </a:lnTo>
                    <a:lnTo>
                      <a:pt x="2345" y="731"/>
                    </a:lnTo>
                    <a:lnTo>
                      <a:pt x="2473" y="846"/>
                    </a:lnTo>
                    <a:lnTo>
                      <a:pt x="2588" y="987"/>
                    </a:lnTo>
                    <a:lnTo>
                      <a:pt x="2626" y="1012"/>
                    </a:lnTo>
                    <a:lnTo>
                      <a:pt x="2652" y="1038"/>
                    </a:lnTo>
                    <a:lnTo>
                      <a:pt x="2690" y="1051"/>
                    </a:lnTo>
                    <a:lnTo>
                      <a:pt x="2793" y="1051"/>
                    </a:lnTo>
                    <a:lnTo>
                      <a:pt x="2844" y="1012"/>
                    </a:lnTo>
                    <a:lnTo>
                      <a:pt x="2895" y="961"/>
                    </a:lnTo>
                    <a:lnTo>
                      <a:pt x="2921" y="897"/>
                    </a:lnTo>
                    <a:lnTo>
                      <a:pt x="2908" y="820"/>
                    </a:lnTo>
                    <a:lnTo>
                      <a:pt x="2882" y="756"/>
                    </a:lnTo>
                    <a:lnTo>
                      <a:pt x="2729" y="590"/>
                    </a:lnTo>
                    <a:lnTo>
                      <a:pt x="2562" y="436"/>
                    </a:lnTo>
                    <a:lnTo>
                      <a:pt x="2396" y="308"/>
                    </a:lnTo>
                    <a:lnTo>
                      <a:pt x="2229" y="205"/>
                    </a:lnTo>
                    <a:lnTo>
                      <a:pt x="2037" y="116"/>
                    </a:lnTo>
                    <a:lnTo>
                      <a:pt x="1845" y="52"/>
                    </a:lnTo>
                    <a:lnTo>
                      <a:pt x="1653" y="13"/>
                    </a:lnTo>
                    <a:lnTo>
                      <a:pt x="1461"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4" name="Google Shape;1823;p36">
                <a:extLst>
                  <a:ext uri="{FF2B5EF4-FFF2-40B4-BE49-F238E27FC236}">
                    <a16:creationId xmlns:a16="http://schemas.microsoft.com/office/drawing/2014/main" id="{6F847174-239F-BA06-607C-D9D0881C0FD3}"/>
                  </a:ext>
                </a:extLst>
              </p:cNvPr>
              <p:cNvSpPr/>
              <p:nvPr/>
            </p:nvSpPr>
            <p:spPr>
              <a:xfrm>
                <a:off x="4596067" y="2661239"/>
                <a:ext cx="148555" cy="53451"/>
              </a:xfrm>
              <a:custGeom>
                <a:avLst/>
                <a:gdLst/>
                <a:ahLst/>
                <a:cxnLst/>
                <a:rect l="l" t="t" r="r" b="b"/>
                <a:pathLst>
                  <a:path w="2921" h="1051" extrusionOk="0">
                    <a:moveTo>
                      <a:pt x="1460" y="1"/>
                    </a:moveTo>
                    <a:lnTo>
                      <a:pt x="1268" y="13"/>
                    </a:lnTo>
                    <a:lnTo>
                      <a:pt x="1076" y="52"/>
                    </a:lnTo>
                    <a:lnTo>
                      <a:pt x="884" y="116"/>
                    </a:lnTo>
                    <a:lnTo>
                      <a:pt x="692" y="205"/>
                    </a:lnTo>
                    <a:lnTo>
                      <a:pt x="525" y="308"/>
                    </a:lnTo>
                    <a:lnTo>
                      <a:pt x="346" y="436"/>
                    </a:lnTo>
                    <a:lnTo>
                      <a:pt x="192" y="590"/>
                    </a:lnTo>
                    <a:lnTo>
                      <a:pt x="39" y="756"/>
                    </a:lnTo>
                    <a:lnTo>
                      <a:pt x="13" y="820"/>
                    </a:lnTo>
                    <a:lnTo>
                      <a:pt x="0" y="897"/>
                    </a:lnTo>
                    <a:lnTo>
                      <a:pt x="26" y="961"/>
                    </a:lnTo>
                    <a:lnTo>
                      <a:pt x="77" y="1012"/>
                    </a:lnTo>
                    <a:lnTo>
                      <a:pt x="141" y="1051"/>
                    </a:lnTo>
                    <a:lnTo>
                      <a:pt x="205" y="1051"/>
                    </a:lnTo>
                    <a:lnTo>
                      <a:pt x="269" y="1038"/>
                    </a:lnTo>
                    <a:lnTo>
                      <a:pt x="333" y="987"/>
                    </a:lnTo>
                    <a:lnTo>
                      <a:pt x="448" y="846"/>
                    </a:lnTo>
                    <a:lnTo>
                      <a:pt x="577" y="731"/>
                    </a:lnTo>
                    <a:lnTo>
                      <a:pt x="717" y="628"/>
                    </a:lnTo>
                    <a:lnTo>
                      <a:pt x="858" y="538"/>
                    </a:lnTo>
                    <a:lnTo>
                      <a:pt x="999" y="474"/>
                    </a:lnTo>
                    <a:lnTo>
                      <a:pt x="1153" y="423"/>
                    </a:lnTo>
                    <a:lnTo>
                      <a:pt x="1307" y="398"/>
                    </a:lnTo>
                    <a:lnTo>
                      <a:pt x="1460" y="385"/>
                    </a:lnTo>
                    <a:lnTo>
                      <a:pt x="1614" y="398"/>
                    </a:lnTo>
                    <a:lnTo>
                      <a:pt x="1768" y="423"/>
                    </a:lnTo>
                    <a:lnTo>
                      <a:pt x="1909" y="474"/>
                    </a:lnTo>
                    <a:lnTo>
                      <a:pt x="2062" y="538"/>
                    </a:lnTo>
                    <a:lnTo>
                      <a:pt x="2203" y="628"/>
                    </a:lnTo>
                    <a:lnTo>
                      <a:pt x="2344" y="731"/>
                    </a:lnTo>
                    <a:lnTo>
                      <a:pt x="2472" y="846"/>
                    </a:lnTo>
                    <a:lnTo>
                      <a:pt x="2587" y="987"/>
                    </a:lnTo>
                    <a:lnTo>
                      <a:pt x="2626" y="1012"/>
                    </a:lnTo>
                    <a:lnTo>
                      <a:pt x="2651" y="1038"/>
                    </a:lnTo>
                    <a:lnTo>
                      <a:pt x="2690" y="1051"/>
                    </a:lnTo>
                    <a:lnTo>
                      <a:pt x="2792" y="1051"/>
                    </a:lnTo>
                    <a:lnTo>
                      <a:pt x="2844" y="1012"/>
                    </a:lnTo>
                    <a:lnTo>
                      <a:pt x="2895" y="961"/>
                    </a:lnTo>
                    <a:lnTo>
                      <a:pt x="2920" y="897"/>
                    </a:lnTo>
                    <a:lnTo>
                      <a:pt x="2908" y="820"/>
                    </a:lnTo>
                    <a:lnTo>
                      <a:pt x="2882" y="756"/>
                    </a:lnTo>
                    <a:lnTo>
                      <a:pt x="2728" y="590"/>
                    </a:lnTo>
                    <a:lnTo>
                      <a:pt x="2562" y="436"/>
                    </a:lnTo>
                    <a:lnTo>
                      <a:pt x="2395" y="308"/>
                    </a:lnTo>
                    <a:lnTo>
                      <a:pt x="2216" y="205"/>
                    </a:lnTo>
                    <a:lnTo>
                      <a:pt x="2037" y="116"/>
                    </a:lnTo>
                    <a:lnTo>
                      <a:pt x="1845" y="52"/>
                    </a:lnTo>
                    <a:lnTo>
                      <a:pt x="1652" y="13"/>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5" name="Google Shape;1824;p36">
                <a:extLst>
                  <a:ext uri="{FF2B5EF4-FFF2-40B4-BE49-F238E27FC236}">
                    <a16:creationId xmlns:a16="http://schemas.microsoft.com/office/drawing/2014/main" id="{345CE01A-4E04-D2AD-4C8D-95333658C0F1}"/>
                  </a:ext>
                </a:extLst>
              </p:cNvPr>
              <p:cNvSpPr/>
              <p:nvPr/>
            </p:nvSpPr>
            <p:spPr>
              <a:xfrm>
                <a:off x="3805297" y="2135584"/>
                <a:ext cx="282768" cy="62606"/>
              </a:xfrm>
              <a:custGeom>
                <a:avLst/>
                <a:gdLst/>
                <a:ahLst/>
                <a:cxnLst/>
                <a:rect l="l" t="t" r="r" b="b"/>
                <a:pathLst>
                  <a:path w="5560" h="1231" extrusionOk="0">
                    <a:moveTo>
                      <a:pt x="0" y="1"/>
                    </a:moveTo>
                    <a:lnTo>
                      <a:pt x="0" y="1230"/>
                    </a:lnTo>
                    <a:lnTo>
                      <a:pt x="5559" y="1230"/>
                    </a:lnTo>
                    <a:lnTo>
                      <a:pt x="5559"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6" name="Google Shape;1825;p36">
                <a:extLst>
                  <a:ext uri="{FF2B5EF4-FFF2-40B4-BE49-F238E27FC236}">
                    <a16:creationId xmlns:a16="http://schemas.microsoft.com/office/drawing/2014/main" id="{4BD3DE76-51BC-C53C-1B8C-DA4791C4679B}"/>
                  </a:ext>
                </a:extLst>
              </p:cNvPr>
              <p:cNvSpPr/>
              <p:nvPr/>
            </p:nvSpPr>
            <p:spPr>
              <a:xfrm>
                <a:off x="3976582" y="3788734"/>
                <a:ext cx="1190778" cy="100393"/>
              </a:xfrm>
              <a:custGeom>
                <a:avLst/>
                <a:gdLst/>
                <a:ahLst/>
                <a:cxnLst/>
                <a:rect l="l" t="t" r="r" b="b"/>
                <a:pathLst>
                  <a:path w="23414" h="1974" extrusionOk="0">
                    <a:moveTo>
                      <a:pt x="1551" y="1"/>
                    </a:moveTo>
                    <a:lnTo>
                      <a:pt x="1371" y="27"/>
                    </a:lnTo>
                    <a:lnTo>
                      <a:pt x="1218" y="78"/>
                    </a:lnTo>
                    <a:lnTo>
                      <a:pt x="1051" y="129"/>
                    </a:lnTo>
                    <a:lnTo>
                      <a:pt x="910" y="206"/>
                    </a:lnTo>
                    <a:lnTo>
                      <a:pt x="769" y="296"/>
                    </a:lnTo>
                    <a:lnTo>
                      <a:pt x="629" y="385"/>
                    </a:lnTo>
                    <a:lnTo>
                      <a:pt x="513" y="500"/>
                    </a:lnTo>
                    <a:lnTo>
                      <a:pt x="398" y="616"/>
                    </a:lnTo>
                    <a:lnTo>
                      <a:pt x="296" y="757"/>
                    </a:lnTo>
                    <a:lnTo>
                      <a:pt x="219" y="898"/>
                    </a:lnTo>
                    <a:lnTo>
                      <a:pt x="142" y="1038"/>
                    </a:lnTo>
                    <a:lnTo>
                      <a:pt x="78" y="1205"/>
                    </a:lnTo>
                    <a:lnTo>
                      <a:pt x="39" y="1371"/>
                    </a:lnTo>
                    <a:lnTo>
                      <a:pt x="14" y="1538"/>
                    </a:lnTo>
                    <a:lnTo>
                      <a:pt x="1" y="1717"/>
                    </a:lnTo>
                    <a:lnTo>
                      <a:pt x="1" y="1973"/>
                    </a:lnTo>
                    <a:lnTo>
                      <a:pt x="23414" y="1973"/>
                    </a:lnTo>
                    <a:lnTo>
                      <a:pt x="23414" y="1717"/>
                    </a:lnTo>
                    <a:lnTo>
                      <a:pt x="23414" y="1538"/>
                    </a:lnTo>
                    <a:lnTo>
                      <a:pt x="23388" y="1371"/>
                    </a:lnTo>
                    <a:lnTo>
                      <a:pt x="23337" y="1205"/>
                    </a:lnTo>
                    <a:lnTo>
                      <a:pt x="23286" y="1038"/>
                    </a:lnTo>
                    <a:lnTo>
                      <a:pt x="23209" y="898"/>
                    </a:lnTo>
                    <a:lnTo>
                      <a:pt x="23119" y="757"/>
                    </a:lnTo>
                    <a:lnTo>
                      <a:pt x="23029" y="616"/>
                    </a:lnTo>
                    <a:lnTo>
                      <a:pt x="22914" y="500"/>
                    </a:lnTo>
                    <a:lnTo>
                      <a:pt x="22799" y="385"/>
                    </a:lnTo>
                    <a:lnTo>
                      <a:pt x="22658" y="296"/>
                    </a:lnTo>
                    <a:lnTo>
                      <a:pt x="22517" y="206"/>
                    </a:lnTo>
                    <a:lnTo>
                      <a:pt x="22376" y="129"/>
                    </a:lnTo>
                    <a:lnTo>
                      <a:pt x="22210" y="78"/>
                    </a:lnTo>
                    <a:lnTo>
                      <a:pt x="22043" y="27"/>
                    </a:lnTo>
                    <a:lnTo>
                      <a:pt x="21877"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79" name="Google Shape;1826;p36">
              <a:extLst>
                <a:ext uri="{FF2B5EF4-FFF2-40B4-BE49-F238E27FC236}">
                  <a16:creationId xmlns:a16="http://schemas.microsoft.com/office/drawing/2014/main" id="{8A895559-07F2-E5F3-82C1-73FEF556ED2A}"/>
                </a:ext>
              </a:extLst>
            </p:cNvPr>
            <p:cNvSpPr/>
            <p:nvPr/>
          </p:nvSpPr>
          <p:spPr>
            <a:xfrm>
              <a:off x="3954300" y="28083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1" name="Google Shape;1827;p36">
              <a:extLst>
                <a:ext uri="{FF2B5EF4-FFF2-40B4-BE49-F238E27FC236}">
                  <a16:creationId xmlns:a16="http://schemas.microsoft.com/office/drawing/2014/main" id="{3A4F4A66-D104-1914-04CD-C63D895E7F9B}"/>
                </a:ext>
              </a:extLst>
            </p:cNvPr>
            <p:cNvSpPr/>
            <p:nvPr/>
          </p:nvSpPr>
          <p:spPr>
            <a:xfrm>
              <a:off x="5754525" y="43704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17" name="Google Shape;2018;p39">
            <a:extLst>
              <a:ext uri="{FF2B5EF4-FFF2-40B4-BE49-F238E27FC236}">
                <a16:creationId xmlns:a16="http://schemas.microsoft.com/office/drawing/2014/main" id="{8F217D34-F391-5D86-62F9-822B215CC0CE}"/>
              </a:ext>
            </a:extLst>
          </p:cNvPr>
          <p:cNvGrpSpPr/>
          <p:nvPr/>
        </p:nvGrpSpPr>
        <p:grpSpPr>
          <a:xfrm>
            <a:off x="2304653" y="1763506"/>
            <a:ext cx="1224787" cy="1258319"/>
            <a:chOff x="5234624" y="2105013"/>
            <a:chExt cx="771000" cy="771000"/>
          </a:xfrm>
        </p:grpSpPr>
        <p:sp>
          <p:nvSpPr>
            <p:cNvPr id="118" name="Google Shape;2019;p39">
              <a:extLst>
                <a:ext uri="{FF2B5EF4-FFF2-40B4-BE49-F238E27FC236}">
                  <a16:creationId xmlns:a16="http://schemas.microsoft.com/office/drawing/2014/main" id="{55D71992-071F-2263-66EA-70E1610D87F5}"/>
                </a:ext>
              </a:extLst>
            </p:cNvPr>
            <p:cNvSpPr/>
            <p:nvPr/>
          </p:nvSpPr>
          <p:spPr>
            <a:xfrm>
              <a:off x="5234624" y="2105013"/>
              <a:ext cx="771000" cy="771000"/>
            </a:xfrm>
            <a:prstGeom prst="ellipse">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b="1">
                <a:solidFill>
                  <a:schemeClr val="lt1"/>
                </a:solidFill>
                <a:latin typeface="Fira Sans Extra Condensed"/>
                <a:ea typeface="Fira Sans Extra Condensed"/>
                <a:cs typeface="Fira Sans Extra Condensed"/>
                <a:sym typeface="Fira Sans Extra Condensed"/>
              </a:endParaRPr>
            </a:p>
          </p:txBody>
        </p:sp>
        <p:grpSp>
          <p:nvGrpSpPr>
            <p:cNvPr id="119" name="Google Shape;2020;p39">
              <a:extLst>
                <a:ext uri="{FF2B5EF4-FFF2-40B4-BE49-F238E27FC236}">
                  <a16:creationId xmlns:a16="http://schemas.microsoft.com/office/drawing/2014/main" id="{EF271A3C-268D-3B7D-FE17-F8D4406099E1}"/>
                </a:ext>
              </a:extLst>
            </p:cNvPr>
            <p:cNvGrpSpPr/>
            <p:nvPr/>
          </p:nvGrpSpPr>
          <p:grpSpPr>
            <a:xfrm>
              <a:off x="5442832" y="2312784"/>
              <a:ext cx="354599" cy="355453"/>
              <a:chOff x="-3771675" y="3971775"/>
              <a:chExt cx="291300" cy="292025"/>
            </a:xfrm>
          </p:grpSpPr>
          <p:sp>
            <p:nvSpPr>
              <p:cNvPr id="120" name="Google Shape;2021;p39">
                <a:extLst>
                  <a:ext uri="{FF2B5EF4-FFF2-40B4-BE49-F238E27FC236}">
                    <a16:creationId xmlns:a16="http://schemas.microsoft.com/office/drawing/2014/main" id="{C95FC1F9-E7D0-93D7-36D6-0D8D9D29AD0A}"/>
                  </a:ext>
                </a:extLst>
              </p:cNvPr>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022;p39">
                <a:extLst>
                  <a:ext uri="{FF2B5EF4-FFF2-40B4-BE49-F238E27FC236}">
                    <a16:creationId xmlns:a16="http://schemas.microsoft.com/office/drawing/2014/main" id="{87552077-1195-959E-F558-3CDC40AE5B96}"/>
                  </a:ext>
                </a:extLst>
              </p:cNvPr>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023;p39">
                <a:extLst>
                  <a:ext uri="{FF2B5EF4-FFF2-40B4-BE49-F238E27FC236}">
                    <a16:creationId xmlns:a16="http://schemas.microsoft.com/office/drawing/2014/main" id="{4A09901E-11B9-DAF6-70C5-68644A0E9C37}"/>
                  </a:ext>
                </a:extLst>
              </p:cNvPr>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024;p39">
                <a:extLst>
                  <a:ext uri="{FF2B5EF4-FFF2-40B4-BE49-F238E27FC236}">
                    <a16:creationId xmlns:a16="http://schemas.microsoft.com/office/drawing/2014/main" id="{B2C15021-B552-682F-18CE-386C416DF0CE}"/>
                  </a:ext>
                </a:extLst>
              </p:cNvPr>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025;p39">
                <a:extLst>
                  <a:ext uri="{FF2B5EF4-FFF2-40B4-BE49-F238E27FC236}">
                    <a16:creationId xmlns:a16="http://schemas.microsoft.com/office/drawing/2014/main" id="{872C76E3-92E6-7009-D854-03326FABA16A}"/>
                  </a:ext>
                </a:extLst>
              </p:cNvPr>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558958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FA176-B999-C858-EA6C-ADAC77EB9DFA}"/>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13D9DAA-65EC-B187-032A-BA12AE1A1C0D}"/>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65" name="CuadroTexto 64">
            <a:extLst>
              <a:ext uri="{FF2B5EF4-FFF2-40B4-BE49-F238E27FC236}">
                <a16:creationId xmlns:a16="http://schemas.microsoft.com/office/drawing/2014/main" id="{7A8EAE6D-96CF-A003-4896-E26C39698536}"/>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C171FCBB-413C-A389-29FA-CAE5F635BB60}"/>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E747C6-92A2-F116-96AD-5E51BD25497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5CC035A8-D4B9-A1AD-E6D3-6A0E455EF627}"/>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Goal: Finding a valid hyperbox</a:t>
            </a:r>
          </a:p>
        </p:txBody>
      </p:sp>
      <p:grpSp>
        <p:nvGrpSpPr>
          <p:cNvPr id="2" name="Grupo 1">
            <a:extLst>
              <a:ext uri="{FF2B5EF4-FFF2-40B4-BE49-F238E27FC236}">
                <a16:creationId xmlns:a16="http://schemas.microsoft.com/office/drawing/2014/main" id="{1E92CC7B-0DAE-C0C8-7630-6A4D3304BCE7}"/>
              </a:ext>
            </a:extLst>
          </p:cNvPr>
          <p:cNvGrpSpPr/>
          <p:nvPr/>
        </p:nvGrpSpPr>
        <p:grpSpPr>
          <a:xfrm>
            <a:off x="1255133" y="3165793"/>
            <a:ext cx="4422154" cy="3008277"/>
            <a:chOff x="838200" y="1963496"/>
            <a:chExt cx="4749800" cy="2271883"/>
          </a:xfrm>
        </p:grpSpPr>
        <p:sp>
          <p:nvSpPr>
            <p:cNvPr id="3" name="Google Shape;1857;p37">
              <a:extLst>
                <a:ext uri="{FF2B5EF4-FFF2-40B4-BE49-F238E27FC236}">
                  <a16:creationId xmlns:a16="http://schemas.microsoft.com/office/drawing/2014/main" id="{7B43459C-78C4-9FC8-E074-85895B5B518E}"/>
                </a:ext>
              </a:extLst>
            </p:cNvPr>
            <p:cNvSpPr/>
            <p:nvPr/>
          </p:nvSpPr>
          <p:spPr>
            <a:xfrm>
              <a:off x="838200" y="2232971"/>
              <a:ext cx="4749800" cy="2002408"/>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5" name="Google Shape;1859;p37">
              <a:extLst>
                <a:ext uri="{FF2B5EF4-FFF2-40B4-BE49-F238E27FC236}">
                  <a16:creationId xmlns:a16="http://schemas.microsoft.com/office/drawing/2014/main" id="{B7505F8C-86FC-EF1B-37DD-5EC1295FBE67}"/>
                </a:ext>
              </a:extLst>
            </p:cNvPr>
            <p:cNvSpPr/>
            <p:nvPr/>
          </p:nvSpPr>
          <p:spPr>
            <a:xfrm>
              <a:off x="838200" y="1963496"/>
              <a:ext cx="4749800" cy="558476"/>
            </a:xfrm>
            <a:prstGeom prst="roundRect">
              <a:avLst>
                <a:gd name="adj" fmla="val 50000"/>
              </a:avLst>
            </a:pr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6" name="Google Shape;1862;p37">
              <a:extLst>
                <a:ext uri="{FF2B5EF4-FFF2-40B4-BE49-F238E27FC236}">
                  <a16:creationId xmlns:a16="http://schemas.microsoft.com/office/drawing/2014/main" id="{EAE55658-A5E5-642E-E142-40EFE10045E0}"/>
                </a:ext>
              </a:extLst>
            </p:cNvPr>
            <p:cNvGrpSpPr/>
            <p:nvPr/>
          </p:nvGrpSpPr>
          <p:grpSpPr>
            <a:xfrm>
              <a:off x="1052316" y="2077873"/>
              <a:ext cx="4366928" cy="2073214"/>
              <a:chOff x="688875" y="1376475"/>
              <a:chExt cx="2337055" cy="2086276"/>
            </a:xfrm>
          </p:grpSpPr>
          <p:sp>
            <p:nvSpPr>
              <p:cNvPr id="7" name="Google Shape;1863;p37">
                <a:extLst>
                  <a:ext uri="{FF2B5EF4-FFF2-40B4-BE49-F238E27FC236}">
                    <a16:creationId xmlns:a16="http://schemas.microsoft.com/office/drawing/2014/main" id="{5586007E-0C2A-7714-D981-9BE28F343134}"/>
                  </a:ext>
                </a:extLst>
              </p:cNvPr>
              <p:cNvSpPr txBox="1"/>
              <p:nvPr/>
            </p:nvSpPr>
            <p:spPr>
              <a:xfrm>
                <a:off x="782632" y="1376475"/>
                <a:ext cx="2146643" cy="323037"/>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What’s</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 </a:t>
                </a: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valid</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t>
                </a:r>
              </a:p>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polarization</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curve?</a:t>
                </a:r>
                <a:endParaRPr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8" name="Google Shape;1866;p37">
                <a:extLst>
                  <a:ext uri="{FF2B5EF4-FFF2-40B4-BE49-F238E27FC236}">
                    <a16:creationId xmlns:a16="http://schemas.microsoft.com/office/drawing/2014/main" id="{B3396A2C-3E5A-6F41-2618-0AA194185DC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9" name="Google Shape;1869;p37">
                <a:extLst>
                  <a:ext uri="{FF2B5EF4-FFF2-40B4-BE49-F238E27FC236}">
                    <a16:creationId xmlns:a16="http://schemas.microsoft.com/office/drawing/2014/main" id="{71E28EC4-4D5D-0BBD-BCCA-2266157BA981}"/>
                  </a:ext>
                </a:extLst>
              </p:cNvPr>
              <p:cNvSpPr txBox="1"/>
              <p:nvPr/>
            </p:nvSpPr>
            <p:spPr>
              <a:xfrm>
                <a:off x="688875" y="1938470"/>
                <a:ext cx="2337055" cy="1492066"/>
              </a:xfrm>
              <a:prstGeom prst="rect">
                <a:avLst/>
              </a:prstGeom>
              <a:noFill/>
              <a:ln>
                <a:noFill/>
              </a:ln>
            </p:spPr>
            <p:txBody>
              <a:bodyPr spcFirstLastPara="1" wrap="square" lIns="91425" tIns="91425" rIns="91425" bIns="91425" anchor="t" anchorCtr="0">
                <a:noAutofit/>
              </a:bodyPr>
              <a:lstStyle/>
              <a:p>
                <a:pPr marL="285750" lvl="0" indent="-285750" eaLnBrk="0" fontAlgn="base" hangingPunct="0">
                  <a:spcBef>
                    <a:spcPct val="0"/>
                  </a:spcBef>
                  <a:spcAft>
                    <a:spcPct val="0"/>
                  </a:spcAft>
                  <a:buFont typeface="Wingdings" panose="05000000000000000000" pitchFamily="2" charset="2"/>
                  <a:buChar char="ü"/>
                </a:pPr>
                <a:r>
                  <a:rPr lang="es-ES_tradnl" dirty="0">
                    <a:latin typeface="+mj-lt"/>
                  </a:rPr>
                  <a:t> </a:t>
                </a:r>
                <a:r>
                  <a:rPr lang="es-CO" altLang="es-CO" dirty="0" err="1">
                    <a:latin typeface="+mj-lt"/>
                  </a:rPr>
                  <a:t>It</a:t>
                </a:r>
                <a:r>
                  <a:rPr lang="es-CO" altLang="es-CO" dirty="0">
                    <a:latin typeface="+mj-lt"/>
                  </a:rPr>
                  <a:t> </a:t>
                </a:r>
                <a:r>
                  <a:rPr lang="es-CO" altLang="es-CO" dirty="0" err="1">
                    <a:latin typeface="+mj-lt"/>
                  </a:rPr>
                  <a:t>starts</a:t>
                </a:r>
                <a:r>
                  <a:rPr lang="es-CO" altLang="es-CO" dirty="0">
                    <a:latin typeface="+mj-lt"/>
                  </a:rPr>
                  <a:t> </a:t>
                </a:r>
                <a:r>
                  <a:rPr lang="es-CO" altLang="es-CO" dirty="0" err="1">
                    <a:latin typeface="+mj-lt"/>
                  </a:rPr>
                  <a:t>within</a:t>
                </a:r>
                <a:r>
                  <a:rPr lang="es-CO" altLang="es-CO" dirty="0">
                    <a:latin typeface="+mj-lt"/>
                  </a:rPr>
                  <a:t> </a:t>
                </a:r>
                <a:r>
                  <a:rPr lang="es-CO" altLang="es-CO" dirty="0" err="1">
                    <a:latin typeface="+mj-lt"/>
                  </a:rPr>
                  <a:t>the</a:t>
                </a:r>
                <a:r>
                  <a:rPr lang="es-CO" altLang="es-CO" dirty="0">
                    <a:latin typeface="+mj-lt"/>
                  </a:rPr>
                  <a:t> </a:t>
                </a:r>
                <a:r>
                  <a:rPr lang="es-CO" altLang="es-CO" dirty="0" err="1">
                    <a:latin typeface="+mj-lt"/>
                  </a:rPr>
                  <a:t>expected</a:t>
                </a:r>
                <a:r>
                  <a:rPr lang="es-CO" altLang="es-CO" dirty="0">
                    <a:latin typeface="+mj-lt"/>
                  </a:rPr>
                  <a:t> </a:t>
                </a:r>
                <a:r>
                  <a:rPr lang="es-CO" altLang="es-CO" dirty="0" err="1">
                    <a:latin typeface="+mj-lt"/>
                  </a:rPr>
                  <a:t>voltage</a:t>
                </a:r>
                <a:r>
                  <a:rPr lang="es-CO" altLang="es-CO" dirty="0">
                    <a:latin typeface="+mj-lt"/>
                  </a:rPr>
                  <a:t> </a:t>
                </a:r>
                <a:r>
                  <a:rPr lang="es-CO" altLang="es-CO" dirty="0" err="1">
                    <a:latin typeface="+mj-lt"/>
                  </a:rPr>
                  <a:t>range</a:t>
                </a:r>
                <a:r>
                  <a:rPr lang="es-CO" altLang="es-CO" dirty="0">
                    <a:latin typeface="+mj-lt"/>
                  </a:rPr>
                  <a:t> (0.0–1.23 V)</a:t>
                </a:r>
              </a:p>
              <a:p>
                <a:pPr marL="285750" lvl="0" indent="-285750" eaLnBrk="0" fontAlgn="base" hangingPunct="0">
                  <a:spcBef>
                    <a:spcPct val="0"/>
                  </a:spcBef>
                  <a:spcAft>
                    <a:spcPct val="0"/>
                  </a:spcAft>
                  <a:buFont typeface="Wingdings" panose="05000000000000000000" pitchFamily="2" charset="2"/>
                  <a:buChar char="ü"/>
                </a:pPr>
                <a:r>
                  <a:rPr lang="en-US" dirty="0">
                    <a:solidFill>
                      <a:srgbClr val="000000"/>
                    </a:solidFill>
                    <a:latin typeface="+mj-lt"/>
                  </a:rPr>
                  <a:t>Decreases monotonically (within a 5 mV tolerance) with current density</a:t>
                </a:r>
                <a:r>
                  <a:rPr lang="es-ES_tradnl" dirty="0">
                    <a:latin typeface="+mj-lt"/>
                  </a:rPr>
                  <a:t> </a:t>
                </a:r>
              </a:p>
              <a:p>
                <a:pPr marL="285750" lvl="0" indent="-285750" eaLnBrk="0" fontAlgn="base" hangingPunct="0">
                  <a:spcBef>
                    <a:spcPct val="0"/>
                  </a:spcBef>
                  <a:spcAft>
                    <a:spcPct val="0"/>
                  </a:spcAft>
                  <a:buFont typeface="Wingdings" panose="05000000000000000000" pitchFamily="2" charset="2"/>
                  <a:buChar char="ü"/>
                </a:pPr>
                <a:r>
                  <a:rPr lang="es-CO" altLang="es-CO" dirty="0" err="1">
                    <a:latin typeface="+mj-lt"/>
                  </a:rPr>
                  <a:t>It</a:t>
                </a:r>
                <a:r>
                  <a:rPr lang="es-CO" altLang="es-CO" dirty="0">
                    <a:latin typeface="+mj-lt"/>
                  </a:rPr>
                  <a:t> </a:t>
                </a:r>
                <a:r>
                  <a:rPr lang="es-CO" altLang="es-CO" dirty="0" err="1">
                    <a:latin typeface="+mj-lt"/>
                  </a:rPr>
                  <a:t>maintains</a:t>
                </a:r>
                <a:r>
                  <a:rPr lang="es-CO" altLang="es-CO" dirty="0">
                    <a:latin typeface="+mj-lt"/>
                  </a:rPr>
                  <a:t> positive </a:t>
                </a:r>
                <a:r>
                  <a:rPr lang="es-CO" altLang="es-CO" dirty="0" err="1">
                    <a:latin typeface="+mj-lt"/>
                  </a:rPr>
                  <a:t>voltage</a:t>
                </a:r>
                <a:r>
                  <a:rPr lang="es-CO" altLang="es-CO" dirty="0">
                    <a:latin typeface="+mj-lt"/>
                  </a:rPr>
                  <a:t> at and </a:t>
                </a:r>
                <a:r>
                  <a:rPr lang="es-CO" altLang="es-CO" dirty="0" err="1">
                    <a:latin typeface="+mj-lt"/>
                  </a:rPr>
                  <a:t>mid</a:t>
                </a:r>
                <a:r>
                  <a:rPr lang="es-CO" altLang="es-CO" dirty="0">
                    <a:latin typeface="+mj-lt"/>
                  </a:rPr>
                  <a:t> </a:t>
                </a:r>
                <a:r>
                  <a:rPr lang="es-CO" altLang="es-CO" dirty="0" err="1">
                    <a:latin typeface="+mj-lt"/>
                  </a:rPr>
                  <a:t>current</a:t>
                </a:r>
                <a:r>
                  <a:rPr lang="es-CO" altLang="es-CO" dirty="0">
                    <a:latin typeface="+mj-lt"/>
                  </a:rPr>
                  <a:t> </a:t>
                </a:r>
                <a:r>
                  <a:rPr lang="es-CO" altLang="es-CO" dirty="0" err="1">
                    <a:latin typeface="+mj-lt"/>
                  </a:rPr>
                  <a:t>densities</a:t>
                </a:r>
                <a:r>
                  <a:rPr lang="es-CO" altLang="es-CO" dirty="0">
                    <a:latin typeface="+mj-lt"/>
                  </a:rPr>
                  <a:t> (</a:t>
                </a:r>
                <a:r>
                  <a:rPr lang="es-CO" altLang="es-CO" dirty="0" err="1">
                    <a:latin typeface="+mj-lt"/>
                  </a:rPr>
                  <a:t>until</a:t>
                </a:r>
                <a:r>
                  <a:rPr lang="es-CO" altLang="es-CO" dirty="0">
                    <a:latin typeface="+mj-lt"/>
                  </a:rPr>
                  <a:t> 2.0 A/cm²)</a:t>
                </a:r>
                <a:endParaRPr lang="en-US" dirty="0">
                  <a:latin typeface="+mj-lt"/>
                </a:endParaRPr>
              </a:p>
            </p:txBody>
          </p:sp>
        </p:grpSp>
      </p:grpSp>
      <p:sp>
        <p:nvSpPr>
          <p:cNvPr id="12" name="CuadroTexto 11">
            <a:extLst>
              <a:ext uri="{FF2B5EF4-FFF2-40B4-BE49-F238E27FC236}">
                <a16:creationId xmlns:a16="http://schemas.microsoft.com/office/drawing/2014/main" id="{F1C82784-0C5B-5396-FC1B-3833B38538D8}"/>
              </a:ext>
            </a:extLst>
          </p:cNvPr>
          <p:cNvSpPr txBox="1"/>
          <p:nvPr/>
        </p:nvSpPr>
        <p:spPr>
          <a:xfrm>
            <a:off x="1550516" y="1900172"/>
            <a:ext cx="9480396" cy="707886"/>
          </a:xfrm>
          <a:prstGeom prst="rect">
            <a:avLst/>
          </a:prstGeom>
          <a:noFill/>
        </p:spPr>
        <p:txBody>
          <a:bodyPr wrap="square">
            <a:spAutoFit/>
          </a:bodyPr>
          <a:lstStyle/>
          <a:p>
            <a:r>
              <a:rPr lang="en-US" sz="2000" dirty="0"/>
              <a:t>Find a region (</a:t>
            </a:r>
            <a:r>
              <a:rPr lang="en-US" sz="2000" dirty="0" err="1"/>
              <a:t>hyperbox</a:t>
            </a:r>
            <a:r>
              <a:rPr lang="en-US" sz="2000" dirty="0"/>
              <a:t>) where sampled configurations are </a:t>
            </a:r>
            <a:r>
              <a:rPr lang="en-US" sz="2000" b="1" dirty="0">
                <a:solidFill>
                  <a:srgbClr val="008B2E"/>
                </a:solidFill>
              </a:rPr>
              <a:t>consistently valid</a:t>
            </a:r>
            <a:r>
              <a:rPr lang="en-US" sz="2000" dirty="0"/>
              <a:t>. That is, the probability of finding a valid polarization curve is very high (&gt;0.9)</a:t>
            </a:r>
            <a:endParaRPr lang="en" sz="2000" dirty="0"/>
          </a:p>
        </p:txBody>
      </p:sp>
      <p:grpSp>
        <p:nvGrpSpPr>
          <p:cNvPr id="18" name="Grupo 17">
            <a:extLst>
              <a:ext uri="{FF2B5EF4-FFF2-40B4-BE49-F238E27FC236}">
                <a16:creationId xmlns:a16="http://schemas.microsoft.com/office/drawing/2014/main" id="{7FFC1BA9-6BDF-D890-1A5D-19468F78809F}"/>
              </a:ext>
            </a:extLst>
          </p:cNvPr>
          <p:cNvGrpSpPr/>
          <p:nvPr/>
        </p:nvGrpSpPr>
        <p:grpSpPr>
          <a:xfrm>
            <a:off x="6318145" y="2879593"/>
            <a:ext cx="4419376" cy="3408660"/>
            <a:chOff x="6318145" y="2879593"/>
            <a:chExt cx="4419376" cy="3408660"/>
          </a:xfrm>
        </p:grpSpPr>
        <p:pic>
          <p:nvPicPr>
            <p:cNvPr id="16" name="Imagen 15">
              <a:extLst>
                <a:ext uri="{FF2B5EF4-FFF2-40B4-BE49-F238E27FC236}">
                  <a16:creationId xmlns:a16="http://schemas.microsoft.com/office/drawing/2014/main" id="{AE53F4B2-C81F-979C-0F47-83A99A0D75E5}"/>
                </a:ext>
              </a:extLst>
            </p:cNvPr>
            <p:cNvPicPr>
              <a:picLocks noChangeAspect="1"/>
            </p:cNvPicPr>
            <p:nvPr/>
          </p:nvPicPr>
          <p:blipFill>
            <a:blip r:embed="rId3"/>
            <a:stretch>
              <a:fillRect/>
            </a:stretch>
          </p:blipFill>
          <p:spPr>
            <a:xfrm>
              <a:off x="6318145" y="2879593"/>
              <a:ext cx="4164002" cy="2586580"/>
            </a:xfrm>
            <a:prstGeom prst="rect">
              <a:avLst/>
            </a:prstGeom>
          </p:spPr>
        </p:pic>
        <p:sp>
          <p:nvSpPr>
            <p:cNvPr id="17" name="CuadroTexto 16">
              <a:extLst>
                <a:ext uri="{FF2B5EF4-FFF2-40B4-BE49-F238E27FC236}">
                  <a16:creationId xmlns:a16="http://schemas.microsoft.com/office/drawing/2014/main" id="{650D80A1-4117-EBD1-7923-4CD65007A772}"/>
                </a:ext>
              </a:extLst>
            </p:cNvPr>
            <p:cNvSpPr txBox="1"/>
            <p:nvPr/>
          </p:nvSpPr>
          <p:spPr>
            <a:xfrm>
              <a:off x="6318145" y="5503423"/>
              <a:ext cx="4419376" cy="784830"/>
            </a:xfrm>
            <a:prstGeom prst="rect">
              <a:avLst/>
            </a:prstGeom>
            <a:noFill/>
          </p:spPr>
          <p:txBody>
            <a:bodyPr wrap="square" rtlCol="0">
              <a:spAutoFit/>
            </a:bodyPr>
            <a:lstStyle/>
            <a:p>
              <a:r>
                <a:rPr lang="en" sz="1500" b="1" dirty="0"/>
                <a:t>Figure 3:  </a:t>
              </a:r>
              <a:r>
                <a:rPr lang="en-US" sz="1500" dirty="0"/>
                <a:t>Valid polarization curve: within 0–1.23 V, monotonic, and positive up to 2.0 A/cm².</a:t>
              </a:r>
              <a:br>
                <a:rPr lang="en-US" sz="1500" dirty="0"/>
              </a:br>
              <a:r>
                <a:rPr lang="en-US" sz="1500" i="1" dirty="0"/>
                <a:t>Source: </a:t>
              </a:r>
              <a:r>
                <a:rPr lang="en-US" sz="1500" i="1" dirty="0">
                  <a:hlinkClick r:id="rId4"/>
                </a:rPr>
                <a:t>ResearchGate</a:t>
              </a:r>
              <a:endParaRPr lang="en" sz="1500" b="1" dirty="0"/>
            </a:p>
          </p:txBody>
        </p:sp>
      </p:grpSp>
    </p:spTree>
    <p:extLst>
      <p:ext uri="{BB962C8B-B14F-4D97-AF65-F5344CB8AC3E}">
        <p14:creationId xmlns:p14="http://schemas.microsoft.com/office/powerpoint/2010/main" val="252099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F9424-E158-FD74-C601-E3DA07A214A3}"/>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7CC46AF-05CF-B86C-284F-213DF627D182}"/>
              </a:ext>
            </a:extLst>
          </p:cNvPr>
          <p:cNvSpPr>
            <a:spLocks noGrp="1"/>
          </p:cNvSpPr>
          <p:nvPr>
            <p:ph type="sldNum" sz="quarter" idx="12"/>
          </p:nvPr>
        </p:nvSpPr>
        <p:spPr/>
        <p:txBody>
          <a:bodyPr/>
          <a:lstStyle/>
          <a:p>
            <a:fld id="{B75BC28E-972B-EC47-BE79-29D89D46B9CA}" type="slidenum">
              <a:rPr lang="es-ES_tradnl" b="1" smtClean="0">
                <a:solidFill>
                  <a:schemeClr val="bg1"/>
                </a:solidFill>
              </a:rPr>
              <a:t>12</a:t>
            </a:fld>
            <a:endParaRPr lang="es-ES_tradnl" b="1" dirty="0">
              <a:solidFill>
                <a:schemeClr val="bg1"/>
              </a:solidFill>
            </a:endParaRPr>
          </a:p>
        </p:txBody>
      </p:sp>
      <p:sp>
        <p:nvSpPr>
          <p:cNvPr id="65" name="CuadroTexto 64">
            <a:extLst>
              <a:ext uri="{FF2B5EF4-FFF2-40B4-BE49-F238E27FC236}">
                <a16:creationId xmlns:a16="http://schemas.microsoft.com/office/drawing/2014/main" id="{0A985406-6EF7-FDFF-5ECE-0A584D387050}"/>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7D2F5897-0E14-42DB-FA74-BF6DADB4FDDD}"/>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E724A434-A0E6-017D-8E1A-C5BC163D1C3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pSp>
        <p:nvGrpSpPr>
          <p:cNvPr id="148" name="Google Shape;2026;p39">
            <a:extLst>
              <a:ext uri="{FF2B5EF4-FFF2-40B4-BE49-F238E27FC236}">
                <a16:creationId xmlns:a16="http://schemas.microsoft.com/office/drawing/2014/main" id="{2F0DC7DB-E0A4-AD9B-1E82-FF1F2925A221}"/>
              </a:ext>
            </a:extLst>
          </p:cNvPr>
          <p:cNvGrpSpPr/>
          <p:nvPr/>
        </p:nvGrpSpPr>
        <p:grpSpPr>
          <a:xfrm>
            <a:off x="9210952" y="4361702"/>
            <a:ext cx="2124886" cy="1997035"/>
            <a:chOff x="6846366" y="3042675"/>
            <a:chExt cx="2124886" cy="1997035"/>
          </a:xfrm>
        </p:grpSpPr>
        <p:sp>
          <p:nvSpPr>
            <p:cNvPr id="149" name="Google Shape;2027;p39">
              <a:extLst>
                <a:ext uri="{FF2B5EF4-FFF2-40B4-BE49-F238E27FC236}">
                  <a16:creationId xmlns:a16="http://schemas.microsoft.com/office/drawing/2014/main" id="{6EE84C04-4DBE-D52B-5E70-121CEFF5393E}"/>
                </a:ext>
              </a:extLst>
            </p:cNvPr>
            <p:cNvSpPr/>
            <p:nvPr/>
          </p:nvSpPr>
          <p:spPr>
            <a:xfrm>
              <a:off x="7514630" y="3042675"/>
              <a:ext cx="604500" cy="604500"/>
            </a:xfrm>
            <a:prstGeom prst="ellipse">
              <a:avLst/>
            </a:prstGeom>
            <a:solidFill>
              <a:srgbClr val="B278E6"/>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04</a:t>
              </a:r>
              <a:endParaRPr kumimoji="0"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0" name="Google Shape;2028;p39">
              <a:extLst>
                <a:ext uri="{FF2B5EF4-FFF2-40B4-BE49-F238E27FC236}">
                  <a16:creationId xmlns:a16="http://schemas.microsoft.com/office/drawing/2014/main" id="{6C6B4040-3498-5474-5511-931BA6B0CE1D}"/>
                </a:ext>
              </a:extLst>
            </p:cNvPr>
            <p:cNvSpPr txBox="1"/>
            <p:nvPr/>
          </p:nvSpPr>
          <p:spPr>
            <a:xfrm>
              <a:off x="6846374"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Valid hyperbox</a:t>
              </a:r>
              <a:endParaRPr kumimoji="0" sz="1800" b="1" i="0"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1" name="Google Shape;2029;p39">
              <a:extLst>
                <a:ext uri="{FF2B5EF4-FFF2-40B4-BE49-F238E27FC236}">
                  <a16:creationId xmlns:a16="http://schemas.microsoft.com/office/drawing/2014/main" id="{EA302AF1-FD7F-DC3A-0692-B901F2C3E234}"/>
                </a:ext>
              </a:extLst>
            </p:cNvPr>
            <p:cNvSpPr txBox="1"/>
            <p:nvPr/>
          </p:nvSpPr>
          <p:spPr>
            <a:xfrm>
              <a:off x="6846366" y="4120382"/>
              <a:ext cx="2124886" cy="919328"/>
            </a:xfrm>
            <a:prstGeom prst="rect">
              <a:avLst/>
            </a:prstGeom>
            <a:noFill/>
            <a:ln>
              <a:noFill/>
            </a:ln>
          </p:spPr>
          <p:txBody>
            <a:bodyPr spcFirstLastPara="1" wrap="square" lIns="91425" tIns="91425" rIns="91425" bIns="91425" anchor="ctr" anchorCtr="0">
              <a:noAutofit/>
            </a:bodyPr>
            <a:lstStyle/>
            <a:p>
              <a:pPr lvl="0" algn="ctr">
                <a:buClr>
                  <a:srgbClr val="000000"/>
                </a:buClr>
              </a:pPr>
              <a:r>
                <a:rPr lang="en-US" sz="1400" dirty="0"/>
                <a:t>A box-constrained region where </a:t>
              </a:r>
              <a:r>
                <a:rPr lang="en-US" sz="1400" dirty="0" err="1"/>
                <a:t>AlphaPEM</a:t>
              </a:r>
              <a:r>
                <a:rPr lang="en-US" sz="1400" dirty="0"/>
                <a:t> simulations are likely valid</a:t>
              </a:r>
              <a:endParaRPr kumimoji="0" sz="1400" i="0" strike="noStrike" kern="0" cap="none" spc="0" normalizeH="0" baseline="0" noProof="0" dirty="0">
                <a:ln>
                  <a:noFill/>
                </a:ln>
                <a:solidFill>
                  <a:srgbClr val="000000"/>
                </a:solidFill>
                <a:effectLst/>
                <a:uLnTx/>
                <a:uFillTx/>
                <a:ea typeface="Roboto"/>
                <a:cs typeface="Roboto"/>
                <a:sym typeface="Roboto"/>
              </a:endParaRPr>
            </a:p>
          </p:txBody>
        </p:sp>
      </p:grpSp>
      <p:grpSp>
        <p:nvGrpSpPr>
          <p:cNvPr id="152" name="Google Shape;2030;p39">
            <a:extLst>
              <a:ext uri="{FF2B5EF4-FFF2-40B4-BE49-F238E27FC236}">
                <a16:creationId xmlns:a16="http://schemas.microsoft.com/office/drawing/2014/main" id="{1662F6B9-642F-0373-90D4-EC47CE1E8E1D}"/>
              </a:ext>
            </a:extLst>
          </p:cNvPr>
          <p:cNvGrpSpPr/>
          <p:nvPr/>
        </p:nvGrpSpPr>
        <p:grpSpPr>
          <a:xfrm>
            <a:off x="3696050" y="4361702"/>
            <a:ext cx="2434266" cy="2372275"/>
            <a:chOff x="2429227" y="2990360"/>
            <a:chExt cx="2434266" cy="2372275"/>
          </a:xfrm>
        </p:grpSpPr>
        <p:sp>
          <p:nvSpPr>
            <p:cNvPr id="153" name="Google Shape;2031;p39">
              <a:extLst>
                <a:ext uri="{FF2B5EF4-FFF2-40B4-BE49-F238E27FC236}">
                  <a16:creationId xmlns:a16="http://schemas.microsoft.com/office/drawing/2014/main" id="{5836AC66-09CE-2E4F-17FA-AAD90BDB68A6}"/>
                </a:ext>
              </a:extLst>
            </p:cNvPr>
            <p:cNvSpPr/>
            <p:nvPr/>
          </p:nvSpPr>
          <p:spPr>
            <a:xfrm>
              <a:off x="3204055" y="2990360"/>
              <a:ext cx="604500" cy="604500"/>
            </a:xfrm>
            <a:prstGeom prst="ellipse">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rPr>
                <a:t>02</a:t>
              </a: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4" name="Google Shape;2032;p39">
              <a:extLst>
                <a:ext uri="{FF2B5EF4-FFF2-40B4-BE49-F238E27FC236}">
                  <a16:creationId xmlns:a16="http://schemas.microsoft.com/office/drawing/2014/main" id="{3219642F-F112-F841-5349-0EDD99321F47}"/>
                </a:ext>
              </a:extLst>
            </p:cNvPr>
            <p:cNvSpPr txBox="1"/>
            <p:nvPr/>
          </p:nvSpPr>
          <p:spPr>
            <a:xfrm>
              <a:off x="2512375" y="3799048"/>
              <a:ext cx="2119657"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Training a classifier</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5" name="Google Shape;2033;p39">
              <a:extLst>
                <a:ext uri="{FF2B5EF4-FFF2-40B4-BE49-F238E27FC236}">
                  <a16:creationId xmlns:a16="http://schemas.microsoft.com/office/drawing/2014/main" id="{09EB7797-3399-AF3D-3509-A4C6639030EE}"/>
                </a:ext>
              </a:extLst>
            </p:cNvPr>
            <p:cNvSpPr txBox="1"/>
            <p:nvPr/>
          </p:nvSpPr>
          <p:spPr>
            <a:xfrm>
              <a:off x="2429227" y="4378431"/>
              <a:ext cx="2434266" cy="984204"/>
            </a:xfrm>
            <a:prstGeom prst="rect">
              <a:avLst/>
            </a:prstGeom>
            <a:noFill/>
            <a:ln>
              <a:noFill/>
            </a:ln>
          </p:spPr>
          <p:txBody>
            <a:bodyPr spcFirstLastPara="1" wrap="square" lIns="91425" tIns="91425" rIns="91425" bIns="91425" anchor="ctr" anchorCtr="0">
              <a:noAutofit/>
            </a:bodyPr>
            <a:lstStyle/>
            <a:p>
              <a:pPr lvl="0">
                <a:buClr>
                  <a:srgbClr val="000000"/>
                </a:buClr>
              </a:pPr>
              <a:r>
                <a:rPr lang="en-US" sz="1400" b="1" dirty="0"/>
                <a:t>Model: </a:t>
              </a:r>
              <a:r>
                <a:rPr lang="en-US" sz="1400" dirty="0"/>
                <a:t>Random Forest</a:t>
              </a:r>
            </a:p>
            <a:p>
              <a:pPr lvl="0">
                <a:buClr>
                  <a:srgbClr val="000000"/>
                </a:buClr>
              </a:pPr>
              <a:r>
                <a:rPr lang="en-US" sz="1400" dirty="0"/>
                <a:t>→ Predicts the </a:t>
              </a:r>
              <a:r>
                <a:rPr lang="en-US" sz="1400" b="1" dirty="0">
                  <a:solidFill>
                    <a:srgbClr val="B278E6"/>
                  </a:solidFill>
                </a:rPr>
                <a:t>prob. </a:t>
              </a:r>
              <a:r>
                <a:rPr lang="en-US" sz="1400" dirty="0"/>
                <a:t>a config will yield a </a:t>
              </a:r>
              <a:r>
                <a:rPr lang="en-US" sz="1400" b="1" dirty="0">
                  <a:solidFill>
                    <a:srgbClr val="B278E6"/>
                  </a:solidFill>
                </a:rPr>
                <a:t>valid output</a:t>
              </a:r>
            </a:p>
            <a:p>
              <a:pPr lvl="0">
                <a:buClr>
                  <a:srgbClr val="000000"/>
                </a:buClr>
              </a:pPr>
              <a:r>
                <a:rPr lang="en-US" sz="1400" dirty="0"/>
                <a:t>→ Metrics (test set): Precision = 0.91, F1-score = 0.94</a:t>
              </a:r>
            </a:p>
            <a:p>
              <a:pPr lvl="0" algn="ctr">
                <a:buClr>
                  <a:srgbClr val="000000"/>
                </a:buClr>
              </a:pPr>
              <a:endParaRPr lang="en-US" sz="1400" dirty="0"/>
            </a:p>
            <a:p>
              <a:pPr lvl="0" algn="ctr">
                <a:buClr>
                  <a:srgbClr val="000000"/>
                </a:buClr>
              </a:pPr>
              <a:endParaRPr kumimoji="0"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56" name="Google Shape;2034;p39">
            <a:extLst>
              <a:ext uri="{FF2B5EF4-FFF2-40B4-BE49-F238E27FC236}">
                <a16:creationId xmlns:a16="http://schemas.microsoft.com/office/drawing/2014/main" id="{AA3EE53D-36A0-50F9-EDB8-EF8575AC3C36}"/>
              </a:ext>
            </a:extLst>
          </p:cNvPr>
          <p:cNvGrpSpPr/>
          <p:nvPr/>
        </p:nvGrpSpPr>
        <p:grpSpPr>
          <a:xfrm>
            <a:off x="875077" y="4361702"/>
            <a:ext cx="2564204" cy="2007501"/>
            <a:chOff x="349574" y="3148560"/>
            <a:chExt cx="2564204" cy="2007501"/>
          </a:xfrm>
        </p:grpSpPr>
        <p:sp>
          <p:nvSpPr>
            <p:cNvPr id="157" name="Google Shape;2035;p39">
              <a:extLst>
                <a:ext uri="{FF2B5EF4-FFF2-40B4-BE49-F238E27FC236}">
                  <a16:creationId xmlns:a16="http://schemas.microsoft.com/office/drawing/2014/main" id="{043B30FD-6218-4F6B-794F-B351F4835B33}"/>
                </a:ext>
              </a:extLst>
            </p:cNvPr>
            <p:cNvSpPr/>
            <p:nvPr/>
          </p:nvSpPr>
          <p:spPr>
            <a:xfrm>
              <a:off x="1125453" y="3148560"/>
              <a:ext cx="604500" cy="604500"/>
            </a:xfrm>
            <a:prstGeom prst="ellipse">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8" name="Google Shape;2036;p39">
              <a:extLst>
                <a:ext uri="{FF2B5EF4-FFF2-40B4-BE49-F238E27FC236}">
                  <a16:creationId xmlns:a16="http://schemas.microsoft.com/office/drawing/2014/main" id="{B3B5D1C8-F990-8FD4-EC05-DC22FBCAC351}"/>
                </a:ext>
              </a:extLst>
            </p:cNvPr>
            <p:cNvSpPr txBox="1"/>
            <p:nvPr/>
          </p:nvSpPr>
          <p:spPr>
            <a:xfrm>
              <a:off x="457200" y="393175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Labeled</a:t>
              </a:r>
              <a:r>
                <a:rPr kumimoji="0" lang="es-MX"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configs</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9" name="Google Shape;2037;p39">
              <a:extLst>
                <a:ext uri="{FF2B5EF4-FFF2-40B4-BE49-F238E27FC236}">
                  <a16:creationId xmlns:a16="http://schemas.microsoft.com/office/drawing/2014/main" id="{CAE82938-E0F7-2FD0-5E51-0DC12EDD9F7B}"/>
                </a:ext>
              </a:extLst>
            </p:cNvPr>
            <p:cNvSpPr txBox="1"/>
            <p:nvPr/>
          </p:nvSpPr>
          <p:spPr>
            <a:xfrm>
              <a:off x="349574" y="4265562"/>
              <a:ext cx="2564204" cy="890499"/>
            </a:xfrm>
            <a:prstGeom prst="rect">
              <a:avLst/>
            </a:prstGeom>
            <a:noFill/>
            <a:ln>
              <a:noFill/>
            </a:ln>
          </p:spPr>
          <p:txBody>
            <a:bodyPr spcFirstLastPara="1" wrap="square" lIns="91425" tIns="91425" rIns="91425" bIns="91425" anchor="ctr" anchorCtr="0">
              <a:noAutofit/>
            </a:bodyPr>
            <a:lstStyle/>
            <a:p>
              <a:pPr lvl="0">
                <a:buClr>
                  <a:srgbClr val="000000"/>
                </a:buClr>
                <a:defRPr/>
              </a:pPr>
              <a:r>
                <a:rPr lang="en-US" sz="1400" b="1" dirty="0"/>
                <a:t>Input: </a:t>
              </a:r>
              <a:r>
                <a:rPr lang="en-US" sz="1400" dirty="0"/>
                <a:t>2000+ configs labeled as </a:t>
              </a:r>
              <a:r>
                <a:rPr lang="en-US" sz="1400" b="1" dirty="0">
                  <a:solidFill>
                    <a:srgbClr val="008B2E"/>
                  </a:solidFill>
                </a:rPr>
                <a:t>valid</a:t>
              </a:r>
              <a:r>
                <a:rPr lang="en-US" sz="1400" dirty="0"/>
                <a:t> or </a:t>
              </a:r>
              <a:r>
                <a:rPr lang="en-US" sz="1400" b="1" dirty="0">
                  <a:solidFill>
                    <a:srgbClr val="8879F5"/>
                  </a:solidFill>
                </a:rPr>
                <a:t>invalid</a:t>
              </a:r>
              <a:r>
                <a:rPr lang="en-US" sz="1400" dirty="0"/>
                <a:t> based on resulting PCs </a:t>
              </a:r>
            </a:p>
            <a:p>
              <a:pPr marL="285750" lvl="0" indent="-285750">
                <a:buClr>
                  <a:srgbClr val="000000"/>
                </a:buClr>
                <a:buFont typeface="Aptos" panose="020B0004020202020204" pitchFamily="34" charset="0"/>
                <a:buChar char="→"/>
                <a:defRPr/>
              </a:pPr>
              <a:r>
                <a:rPr lang="en-US" sz="1400" b="1" dirty="0"/>
                <a:t>Roughly balanced </a:t>
              </a:r>
              <a:r>
                <a:rPr lang="en-US" sz="1400" dirty="0"/>
                <a:t>dataset</a:t>
              </a:r>
              <a:endParaRPr kumimoji="0" lang="en-US"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60" name="Google Shape;2038;p39">
            <a:extLst>
              <a:ext uri="{FF2B5EF4-FFF2-40B4-BE49-F238E27FC236}">
                <a16:creationId xmlns:a16="http://schemas.microsoft.com/office/drawing/2014/main" id="{E80683CB-C281-A520-ED1A-FD217DD8BA28}"/>
              </a:ext>
            </a:extLst>
          </p:cNvPr>
          <p:cNvGrpSpPr/>
          <p:nvPr/>
        </p:nvGrpSpPr>
        <p:grpSpPr>
          <a:xfrm>
            <a:off x="6238771" y="4461607"/>
            <a:ext cx="2564203" cy="2197974"/>
            <a:chOff x="5032336" y="3123648"/>
            <a:chExt cx="2045581" cy="2197974"/>
          </a:xfrm>
        </p:grpSpPr>
        <p:sp>
          <p:nvSpPr>
            <p:cNvPr id="161" name="Google Shape;2039;p39">
              <a:extLst>
                <a:ext uri="{FF2B5EF4-FFF2-40B4-BE49-F238E27FC236}">
                  <a16:creationId xmlns:a16="http://schemas.microsoft.com/office/drawing/2014/main" id="{1E0E1584-8A3A-E943-2D0E-512EEA748206}"/>
                </a:ext>
              </a:extLst>
            </p:cNvPr>
            <p:cNvSpPr/>
            <p:nvPr/>
          </p:nvSpPr>
          <p:spPr>
            <a:xfrm>
              <a:off x="5850500" y="3123648"/>
              <a:ext cx="482237" cy="604500"/>
            </a:xfrm>
            <a:prstGeom prst="ellipse">
              <a:avLst/>
            </a:prstGeom>
            <a:solidFill>
              <a:srgbClr val="FFB903"/>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03</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62" name="Google Shape;2040;p39">
              <a:extLst>
                <a:ext uri="{FF2B5EF4-FFF2-40B4-BE49-F238E27FC236}">
                  <a16:creationId xmlns:a16="http://schemas.microsoft.com/office/drawing/2014/main" id="{837F82A6-E696-4B27-FCAF-706FD10A536F}"/>
                </a:ext>
              </a:extLst>
            </p:cNvPr>
            <p:cNvSpPr txBox="1"/>
            <p:nvPr/>
          </p:nvSpPr>
          <p:spPr>
            <a:xfrm>
              <a:off x="5111775"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Find valid region</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63" name="Google Shape;2041;p39">
              <a:extLst>
                <a:ext uri="{FF2B5EF4-FFF2-40B4-BE49-F238E27FC236}">
                  <a16:creationId xmlns:a16="http://schemas.microsoft.com/office/drawing/2014/main" id="{62C5AF06-BB3B-B142-62A7-9F6BF83E3F14}"/>
                </a:ext>
              </a:extLst>
            </p:cNvPr>
            <p:cNvSpPr txBox="1"/>
            <p:nvPr/>
          </p:nvSpPr>
          <p:spPr>
            <a:xfrm>
              <a:off x="5032336" y="4108774"/>
              <a:ext cx="2045581" cy="1212848"/>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400" b="0" i="0" u="none" strike="noStrike" kern="0" cap="none" spc="0" normalizeH="0" baseline="0" noProof="0" dirty="0" err="1">
                  <a:ln>
                    <a:noFill/>
                  </a:ln>
                  <a:solidFill>
                    <a:srgbClr val="000000"/>
                  </a:solidFill>
                  <a:effectLst/>
                  <a:uLnTx/>
                  <a:uFillTx/>
                  <a:ea typeface="Roboto"/>
                  <a:cs typeface="Roboto"/>
                  <a:sym typeface="Roboto"/>
                </a:rPr>
                <a:t>Method</a:t>
              </a:r>
              <a:r>
                <a:rPr kumimoji="0" lang="es-MX" sz="1400" b="0" i="0" u="none" strike="noStrike" kern="0" cap="none" spc="0" normalizeH="0" baseline="0" noProof="0" dirty="0">
                  <a:ln>
                    <a:noFill/>
                  </a:ln>
                  <a:solidFill>
                    <a:srgbClr val="000000"/>
                  </a:solidFill>
                  <a:effectLst/>
                  <a:uLnTx/>
                  <a:uFillTx/>
                  <a:ea typeface="Roboto"/>
                  <a:cs typeface="Roboto"/>
                  <a:sym typeface="Roboto"/>
                </a:rPr>
                <a:t>: PRIM </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s-MX" sz="1400" kern="0" dirty="0">
                  <a:solidFill>
                    <a:srgbClr val="000000"/>
                  </a:solidFill>
                  <a:ea typeface="Roboto"/>
                  <a:cs typeface="Roboto"/>
                  <a:sym typeface="Roboto"/>
                </a:rPr>
                <a:t>(peeling &amp; </a:t>
              </a:r>
              <a:r>
                <a:rPr lang="es-MX" sz="1400" kern="0" dirty="0" err="1">
                  <a:solidFill>
                    <a:srgbClr val="000000"/>
                  </a:solidFill>
                  <a:ea typeface="Roboto"/>
                  <a:cs typeface="Roboto"/>
                  <a:sym typeface="Roboto"/>
                </a:rPr>
                <a:t>pasting</a:t>
              </a:r>
              <a:r>
                <a:rPr lang="es-MX" sz="1400" kern="0" dirty="0">
                  <a:solidFill>
                    <a:srgbClr val="000000"/>
                  </a:solidFill>
                  <a:ea typeface="Roboto"/>
                  <a:cs typeface="Roboto"/>
                  <a:sym typeface="Roboto"/>
                </a:rPr>
                <a:t>)</a:t>
              </a:r>
            </a:p>
            <a:p>
              <a:pPr lvl="0" algn="ctr">
                <a:buClr>
                  <a:srgbClr val="000000"/>
                </a:buClr>
              </a:pPr>
              <a:r>
                <a:rPr lang="en-US" sz="1400" dirty="0"/>
                <a:t>Goal: find </a:t>
              </a:r>
              <a:r>
                <a:rPr lang="en-US" sz="1400" b="1" dirty="0">
                  <a:solidFill>
                    <a:srgbClr val="008B2E"/>
                  </a:solidFill>
                </a:rPr>
                <a:t>largest </a:t>
              </a:r>
              <a:r>
                <a:rPr lang="en-US" sz="1400" b="1" dirty="0" err="1">
                  <a:solidFill>
                    <a:srgbClr val="008B2E"/>
                  </a:solidFill>
                </a:rPr>
                <a:t>hyperbox</a:t>
              </a:r>
              <a:r>
                <a:rPr lang="en-US" sz="1400" b="1" dirty="0">
                  <a:solidFill>
                    <a:srgbClr val="008B2E"/>
                  </a:solidFill>
                </a:rPr>
                <a:t> </a:t>
              </a:r>
              <a:r>
                <a:rPr lang="en-US" sz="1400" dirty="0"/>
                <a:t>around a reference valid config with </a:t>
              </a:r>
              <a:r>
                <a:rPr lang="en-US" sz="1400" b="1" dirty="0">
                  <a:solidFill>
                    <a:srgbClr val="008B2E"/>
                  </a:solidFill>
                </a:rPr>
                <a:t>≥90% validity rate</a:t>
              </a:r>
              <a:endParaRPr kumimoji="0" sz="1400" b="1" i="0" u="none" strike="noStrike" kern="0" cap="none" spc="0" normalizeH="0" baseline="0" noProof="0" dirty="0">
                <a:ln>
                  <a:noFill/>
                </a:ln>
                <a:solidFill>
                  <a:srgbClr val="008B2E"/>
                </a:solidFill>
                <a:effectLst/>
                <a:uLnTx/>
                <a:uFillTx/>
                <a:ea typeface="Roboto"/>
                <a:cs typeface="Roboto"/>
                <a:sym typeface="Roboto"/>
              </a:endParaRPr>
            </a:p>
          </p:txBody>
        </p:sp>
      </p:grpSp>
      <p:cxnSp>
        <p:nvCxnSpPr>
          <p:cNvPr id="164" name="Google Shape;2042;p39">
            <a:extLst>
              <a:ext uri="{FF2B5EF4-FFF2-40B4-BE49-F238E27FC236}">
                <a16:creationId xmlns:a16="http://schemas.microsoft.com/office/drawing/2014/main" id="{A50C19B3-21CC-C4F1-F483-D1A1A8DA0783}"/>
              </a:ext>
            </a:extLst>
          </p:cNvPr>
          <p:cNvCxnSpPr>
            <a:cxnSpLocks/>
          </p:cNvCxnSpPr>
          <p:nvPr/>
        </p:nvCxnSpPr>
        <p:spPr>
          <a:xfrm>
            <a:off x="2501353" y="3926973"/>
            <a:ext cx="716730" cy="0"/>
          </a:xfrm>
          <a:prstGeom prst="straightConnector1">
            <a:avLst/>
          </a:prstGeom>
          <a:noFill/>
          <a:ln w="9525" cap="flat" cmpd="sng">
            <a:solidFill>
              <a:srgbClr val="666666"/>
            </a:solidFill>
            <a:prstDash val="solid"/>
            <a:round/>
            <a:headEnd type="none" w="med" len="med"/>
            <a:tailEnd type="triangle" w="med" len="med"/>
          </a:ln>
        </p:spPr>
      </p:cxnSp>
      <p:grpSp>
        <p:nvGrpSpPr>
          <p:cNvPr id="178" name="Google Shape;2010;p39">
            <a:extLst>
              <a:ext uri="{FF2B5EF4-FFF2-40B4-BE49-F238E27FC236}">
                <a16:creationId xmlns:a16="http://schemas.microsoft.com/office/drawing/2014/main" id="{867DAD54-4F89-ED7D-7D1C-652C40C40C6C}"/>
              </a:ext>
            </a:extLst>
          </p:cNvPr>
          <p:cNvGrpSpPr/>
          <p:nvPr/>
        </p:nvGrpSpPr>
        <p:grpSpPr>
          <a:xfrm>
            <a:off x="1527554" y="3390188"/>
            <a:ext cx="973799" cy="904561"/>
            <a:chOff x="3146974" y="2105013"/>
            <a:chExt cx="771000" cy="771000"/>
          </a:xfrm>
        </p:grpSpPr>
        <p:sp>
          <p:nvSpPr>
            <p:cNvPr id="179" name="Google Shape;2011;p39">
              <a:extLst>
                <a:ext uri="{FF2B5EF4-FFF2-40B4-BE49-F238E27FC236}">
                  <a16:creationId xmlns:a16="http://schemas.microsoft.com/office/drawing/2014/main" id="{B7841C48-2C31-4425-22C7-1DE16F27B3DB}"/>
                </a:ext>
              </a:extLst>
            </p:cNvPr>
            <p:cNvSpPr/>
            <p:nvPr/>
          </p:nvSpPr>
          <p:spPr>
            <a:xfrm>
              <a:off x="3146974" y="2105013"/>
              <a:ext cx="771000" cy="771000"/>
            </a:xfrm>
            <a:prstGeom prst="ellipse">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grpSp>
          <p:nvGrpSpPr>
            <p:cNvPr id="180" name="Google Shape;2012;p39">
              <a:extLst>
                <a:ext uri="{FF2B5EF4-FFF2-40B4-BE49-F238E27FC236}">
                  <a16:creationId xmlns:a16="http://schemas.microsoft.com/office/drawing/2014/main" id="{126DDC39-5DFA-6839-B31C-A614D39D645E}"/>
                </a:ext>
              </a:extLst>
            </p:cNvPr>
            <p:cNvGrpSpPr/>
            <p:nvPr/>
          </p:nvGrpSpPr>
          <p:grpSpPr>
            <a:xfrm>
              <a:off x="3355185" y="2313339"/>
              <a:ext cx="354586" cy="354343"/>
              <a:chOff x="-34004625" y="3585850"/>
              <a:chExt cx="292225" cy="292025"/>
            </a:xfrm>
          </p:grpSpPr>
          <p:sp>
            <p:nvSpPr>
              <p:cNvPr id="181" name="Google Shape;2013;p39">
                <a:extLst>
                  <a:ext uri="{FF2B5EF4-FFF2-40B4-BE49-F238E27FC236}">
                    <a16:creationId xmlns:a16="http://schemas.microsoft.com/office/drawing/2014/main" id="{682CDA21-9861-36FD-5A12-790257AF621E}"/>
                  </a:ext>
                </a:extLst>
              </p:cNvPr>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2" name="Google Shape;2014;p39">
                <a:extLst>
                  <a:ext uri="{FF2B5EF4-FFF2-40B4-BE49-F238E27FC236}">
                    <a16:creationId xmlns:a16="http://schemas.microsoft.com/office/drawing/2014/main" id="{ADBCC336-5405-2A7E-0774-8854E332AA54}"/>
                  </a:ext>
                </a:extLst>
              </p:cNvPr>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3" name="Google Shape;2015;p39">
                <a:extLst>
                  <a:ext uri="{FF2B5EF4-FFF2-40B4-BE49-F238E27FC236}">
                    <a16:creationId xmlns:a16="http://schemas.microsoft.com/office/drawing/2014/main" id="{C5584021-8B76-C27A-FDBB-6A82DF794CA0}"/>
                  </a:ext>
                </a:extLst>
              </p:cNvPr>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4" name="Google Shape;2016;p39">
                <a:extLst>
                  <a:ext uri="{FF2B5EF4-FFF2-40B4-BE49-F238E27FC236}">
                    <a16:creationId xmlns:a16="http://schemas.microsoft.com/office/drawing/2014/main" id="{34D12DE8-EF7D-88FD-27DB-1D3E620349CD}"/>
                  </a:ext>
                </a:extLst>
              </p:cNvPr>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5" name="Google Shape;2017;p39">
                <a:extLst>
                  <a:ext uri="{FF2B5EF4-FFF2-40B4-BE49-F238E27FC236}">
                    <a16:creationId xmlns:a16="http://schemas.microsoft.com/office/drawing/2014/main" id="{15875421-A1A0-95C3-6B7F-3FAFB7A0E465}"/>
                  </a:ext>
                </a:extLst>
              </p:cNvPr>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cxnSp>
        <p:nvCxnSpPr>
          <p:cNvPr id="187" name="Google Shape;2044;p39">
            <a:extLst>
              <a:ext uri="{FF2B5EF4-FFF2-40B4-BE49-F238E27FC236}">
                <a16:creationId xmlns:a16="http://schemas.microsoft.com/office/drawing/2014/main" id="{4DAFB54D-21D2-F268-4CB0-5E8521EE68F4}"/>
              </a:ext>
            </a:extLst>
          </p:cNvPr>
          <p:cNvCxnSpPr>
            <a:cxnSpLocks/>
            <a:endCxn id="190" idx="1"/>
          </p:cNvCxnSpPr>
          <p:nvPr/>
        </p:nvCxnSpPr>
        <p:spPr>
          <a:xfrm flipV="1">
            <a:off x="4287845" y="3673884"/>
            <a:ext cx="612004" cy="244377"/>
          </a:xfrm>
          <a:prstGeom prst="straightConnector1">
            <a:avLst/>
          </a:prstGeom>
          <a:noFill/>
          <a:ln w="9525" cap="flat" cmpd="sng">
            <a:solidFill>
              <a:schemeClr val="dk2"/>
            </a:solidFill>
            <a:prstDash val="solid"/>
            <a:round/>
            <a:headEnd type="none" w="med" len="med"/>
            <a:tailEnd type="triangle" w="med" len="med"/>
          </a:ln>
        </p:spPr>
      </p:cxnSp>
      <p:cxnSp>
        <p:nvCxnSpPr>
          <p:cNvPr id="188" name="Google Shape;2046;p39">
            <a:extLst>
              <a:ext uri="{FF2B5EF4-FFF2-40B4-BE49-F238E27FC236}">
                <a16:creationId xmlns:a16="http://schemas.microsoft.com/office/drawing/2014/main" id="{012C0D13-A249-BFE5-C677-5BD995E479B0}"/>
              </a:ext>
            </a:extLst>
          </p:cNvPr>
          <p:cNvCxnSpPr>
            <a:cxnSpLocks/>
            <a:endCxn id="195" idx="1"/>
          </p:cNvCxnSpPr>
          <p:nvPr/>
        </p:nvCxnSpPr>
        <p:spPr>
          <a:xfrm>
            <a:off x="4287845" y="4005684"/>
            <a:ext cx="612004" cy="203208"/>
          </a:xfrm>
          <a:prstGeom prst="straightConnector1">
            <a:avLst/>
          </a:prstGeom>
          <a:noFill/>
          <a:ln w="9525" cap="flat" cmpd="sng">
            <a:solidFill>
              <a:schemeClr val="dk2"/>
            </a:solidFill>
            <a:prstDash val="solid"/>
            <a:round/>
            <a:headEnd type="none" w="med" len="med"/>
            <a:tailEnd type="triangle" w="med" len="med"/>
          </a:ln>
        </p:spPr>
      </p:cxnSp>
      <p:grpSp>
        <p:nvGrpSpPr>
          <p:cNvPr id="189" name="Google Shape;2048;p39">
            <a:extLst>
              <a:ext uri="{FF2B5EF4-FFF2-40B4-BE49-F238E27FC236}">
                <a16:creationId xmlns:a16="http://schemas.microsoft.com/office/drawing/2014/main" id="{58FEA6FC-F6CD-6CA0-C0F5-4862E6DA29AD}"/>
              </a:ext>
            </a:extLst>
          </p:cNvPr>
          <p:cNvGrpSpPr/>
          <p:nvPr/>
        </p:nvGrpSpPr>
        <p:grpSpPr>
          <a:xfrm>
            <a:off x="4899849" y="3483461"/>
            <a:ext cx="999006" cy="356323"/>
            <a:chOff x="7229475" y="2020202"/>
            <a:chExt cx="999006" cy="356323"/>
          </a:xfrm>
        </p:grpSpPr>
        <p:sp>
          <p:nvSpPr>
            <p:cNvPr id="190" name="Google Shape;2045;p39">
              <a:extLst>
                <a:ext uri="{FF2B5EF4-FFF2-40B4-BE49-F238E27FC236}">
                  <a16:creationId xmlns:a16="http://schemas.microsoft.com/office/drawing/2014/main" id="{2AC74B63-B412-A85D-5181-955758D7054C}"/>
                </a:ext>
              </a:extLst>
            </p:cNvPr>
            <p:cNvSpPr txBox="1"/>
            <p:nvPr/>
          </p:nvSpPr>
          <p:spPr>
            <a:xfrm>
              <a:off x="7229475" y="2044725"/>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s-MX" sz="1600" dirty="0" err="1">
                  <a:solidFill>
                    <a:srgbClr val="000000"/>
                  </a:solidFill>
                  <a:ea typeface="Roboto"/>
                  <a:cs typeface="Roboto"/>
                  <a:sym typeface="Roboto"/>
                </a:rPr>
                <a:t>Valid</a:t>
              </a:r>
              <a:endParaRPr dirty="0">
                <a:solidFill>
                  <a:srgbClr val="000000"/>
                </a:solidFill>
                <a:ea typeface="Roboto"/>
                <a:cs typeface="Roboto"/>
                <a:sym typeface="Roboto"/>
              </a:endParaRPr>
            </a:p>
          </p:txBody>
        </p:sp>
        <p:grpSp>
          <p:nvGrpSpPr>
            <p:cNvPr id="191" name="Google Shape;2049;p39">
              <a:extLst>
                <a:ext uri="{FF2B5EF4-FFF2-40B4-BE49-F238E27FC236}">
                  <a16:creationId xmlns:a16="http://schemas.microsoft.com/office/drawing/2014/main" id="{EFE40475-FAC6-10AE-A248-471849C0CF0F}"/>
                </a:ext>
              </a:extLst>
            </p:cNvPr>
            <p:cNvGrpSpPr/>
            <p:nvPr/>
          </p:nvGrpSpPr>
          <p:grpSpPr>
            <a:xfrm>
              <a:off x="7889228" y="2020202"/>
              <a:ext cx="339253" cy="339253"/>
              <a:chOff x="1046638" y="4962598"/>
              <a:chExt cx="481825" cy="481825"/>
            </a:xfrm>
          </p:grpSpPr>
          <p:sp>
            <p:nvSpPr>
              <p:cNvPr id="192" name="Google Shape;2050;p39">
                <a:extLst>
                  <a:ext uri="{FF2B5EF4-FFF2-40B4-BE49-F238E27FC236}">
                    <a16:creationId xmlns:a16="http://schemas.microsoft.com/office/drawing/2014/main" id="{FEC4CA20-A6B3-B8FC-7AC0-B74486379B65}"/>
                  </a:ext>
                </a:extLst>
              </p:cNvPr>
              <p:cNvSpPr/>
              <p:nvPr/>
            </p:nvSpPr>
            <p:spPr>
              <a:xfrm>
                <a:off x="1046638" y="4962598"/>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sp>
            <p:nvSpPr>
              <p:cNvPr id="193" name="Google Shape;2051;p39">
                <a:extLst>
                  <a:ext uri="{FF2B5EF4-FFF2-40B4-BE49-F238E27FC236}">
                    <a16:creationId xmlns:a16="http://schemas.microsoft.com/office/drawing/2014/main" id="{18C5D734-0B0F-B82D-71F7-38348FF4D10F}"/>
                  </a:ext>
                </a:extLst>
              </p:cNvPr>
              <p:cNvSpPr/>
              <p:nvPr/>
            </p:nvSpPr>
            <p:spPr>
              <a:xfrm>
                <a:off x="1192499" y="5140634"/>
                <a:ext cx="190101"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grpSp>
        <p:nvGrpSpPr>
          <p:cNvPr id="194" name="Google Shape;2052;p39">
            <a:extLst>
              <a:ext uri="{FF2B5EF4-FFF2-40B4-BE49-F238E27FC236}">
                <a16:creationId xmlns:a16="http://schemas.microsoft.com/office/drawing/2014/main" id="{4FB24951-37A8-9B04-05AA-425B84E7CE2F}"/>
              </a:ext>
            </a:extLst>
          </p:cNvPr>
          <p:cNvGrpSpPr/>
          <p:nvPr/>
        </p:nvGrpSpPr>
        <p:grpSpPr>
          <a:xfrm>
            <a:off x="4899849" y="4023778"/>
            <a:ext cx="1085488" cy="351014"/>
            <a:chOff x="7229475" y="2585249"/>
            <a:chExt cx="1085488" cy="351014"/>
          </a:xfrm>
        </p:grpSpPr>
        <p:sp>
          <p:nvSpPr>
            <p:cNvPr id="195" name="Google Shape;2047;p39">
              <a:extLst>
                <a:ext uri="{FF2B5EF4-FFF2-40B4-BE49-F238E27FC236}">
                  <a16:creationId xmlns:a16="http://schemas.microsoft.com/office/drawing/2014/main" id="{65AAFEC8-9E91-018B-9495-71B09D2528BA}"/>
                </a:ext>
              </a:extLst>
            </p:cNvPr>
            <p:cNvSpPr txBox="1"/>
            <p:nvPr/>
          </p:nvSpPr>
          <p:spPr>
            <a:xfrm>
              <a:off x="7229475" y="2604463"/>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dirty="0">
                  <a:solidFill>
                    <a:srgbClr val="000000"/>
                  </a:solidFill>
                  <a:ea typeface="Roboto"/>
                  <a:cs typeface="Roboto"/>
                  <a:sym typeface="Roboto"/>
                </a:rPr>
                <a:t>Invalid</a:t>
              </a:r>
              <a:endParaRPr sz="1600" dirty="0">
                <a:solidFill>
                  <a:srgbClr val="000000"/>
                </a:solidFill>
                <a:ea typeface="Roboto"/>
                <a:cs typeface="Roboto"/>
                <a:sym typeface="Roboto"/>
              </a:endParaRPr>
            </a:p>
          </p:txBody>
        </p:sp>
        <p:grpSp>
          <p:nvGrpSpPr>
            <p:cNvPr id="196" name="Google Shape;2053;p39">
              <a:extLst>
                <a:ext uri="{FF2B5EF4-FFF2-40B4-BE49-F238E27FC236}">
                  <a16:creationId xmlns:a16="http://schemas.microsoft.com/office/drawing/2014/main" id="{4E61C8A9-F84E-50C1-B2C8-6FA306816F72}"/>
                </a:ext>
              </a:extLst>
            </p:cNvPr>
            <p:cNvGrpSpPr/>
            <p:nvPr/>
          </p:nvGrpSpPr>
          <p:grpSpPr>
            <a:xfrm>
              <a:off x="7975710" y="2585249"/>
              <a:ext cx="339253" cy="339253"/>
              <a:chOff x="1762325" y="4970121"/>
              <a:chExt cx="481825" cy="481825"/>
            </a:xfrm>
          </p:grpSpPr>
          <p:sp>
            <p:nvSpPr>
              <p:cNvPr id="197" name="Google Shape;2054;p39">
                <a:extLst>
                  <a:ext uri="{FF2B5EF4-FFF2-40B4-BE49-F238E27FC236}">
                    <a16:creationId xmlns:a16="http://schemas.microsoft.com/office/drawing/2014/main" id="{6734A6AE-6D06-0F7B-9C87-D0FBC63F9975}"/>
                  </a:ext>
                </a:extLst>
              </p:cNvPr>
              <p:cNvSpPr/>
              <p:nvPr/>
            </p:nvSpPr>
            <p:spPr>
              <a:xfrm>
                <a:off x="1920987" y="513057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dirty="0">
                  <a:solidFill>
                    <a:srgbClr val="435D74"/>
                  </a:solidFill>
                </a:endParaRPr>
              </a:p>
            </p:txBody>
          </p:sp>
          <p:sp>
            <p:nvSpPr>
              <p:cNvPr id="198" name="Google Shape;2055;p39">
                <a:extLst>
                  <a:ext uri="{FF2B5EF4-FFF2-40B4-BE49-F238E27FC236}">
                    <a16:creationId xmlns:a16="http://schemas.microsoft.com/office/drawing/2014/main" id="{8EE8F7D9-CF6E-DDBA-0B9E-4B97663FFD5E}"/>
                  </a:ext>
                </a:extLst>
              </p:cNvPr>
              <p:cNvSpPr/>
              <p:nvPr/>
            </p:nvSpPr>
            <p:spPr>
              <a:xfrm>
                <a:off x="1762325" y="4970121"/>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a:solidFill>
                    <a:srgbClr val="435D74"/>
                  </a:solidFill>
                </a:endParaRPr>
              </a:p>
            </p:txBody>
          </p:sp>
        </p:grpSp>
      </p:grpSp>
      <p:pic>
        <p:nvPicPr>
          <p:cNvPr id="202" name="Imagen 201">
            <a:extLst>
              <a:ext uri="{FF2B5EF4-FFF2-40B4-BE49-F238E27FC236}">
                <a16:creationId xmlns:a16="http://schemas.microsoft.com/office/drawing/2014/main" id="{94938CCE-2811-60CE-E87F-FDE59FDD1532}"/>
              </a:ext>
            </a:extLst>
          </p:cNvPr>
          <p:cNvPicPr>
            <a:picLocks noChangeAspect="1"/>
          </p:cNvPicPr>
          <p:nvPr/>
        </p:nvPicPr>
        <p:blipFill>
          <a:blip r:embed="rId3"/>
          <a:stretch>
            <a:fillRect/>
          </a:stretch>
        </p:blipFill>
        <p:spPr>
          <a:xfrm>
            <a:off x="3590778" y="3630452"/>
            <a:ext cx="525429" cy="525429"/>
          </a:xfrm>
          <a:prstGeom prst="rect">
            <a:avLst/>
          </a:prstGeom>
        </p:spPr>
      </p:pic>
      <p:cxnSp>
        <p:nvCxnSpPr>
          <p:cNvPr id="203" name="Google Shape;2042;p39">
            <a:extLst>
              <a:ext uri="{FF2B5EF4-FFF2-40B4-BE49-F238E27FC236}">
                <a16:creationId xmlns:a16="http://schemas.microsoft.com/office/drawing/2014/main" id="{DE89E5CE-E2E8-4048-82B3-32A3AD34DB2E}"/>
              </a:ext>
            </a:extLst>
          </p:cNvPr>
          <p:cNvCxnSpPr>
            <a:cxnSpLocks/>
          </p:cNvCxnSpPr>
          <p:nvPr/>
        </p:nvCxnSpPr>
        <p:spPr>
          <a:xfrm>
            <a:off x="6309454" y="3905586"/>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5" name="Imagen 204">
            <a:extLst>
              <a:ext uri="{FF2B5EF4-FFF2-40B4-BE49-F238E27FC236}">
                <a16:creationId xmlns:a16="http://schemas.microsoft.com/office/drawing/2014/main" id="{C27E0D5F-569E-1C28-E221-2F564FB66C7A}"/>
              </a:ext>
            </a:extLst>
          </p:cNvPr>
          <p:cNvPicPr>
            <a:picLocks noChangeAspect="1"/>
          </p:cNvPicPr>
          <p:nvPr/>
        </p:nvPicPr>
        <p:blipFill>
          <a:blip r:embed="rId4">
            <a:duotone>
              <a:schemeClr val="accent5">
                <a:shade val="45000"/>
                <a:satMod val="135000"/>
              </a:schemeClr>
              <a:prstClr val="white"/>
            </a:duotone>
          </a:blip>
          <a:stretch>
            <a:fillRect/>
          </a:stretch>
        </p:blipFill>
        <p:spPr>
          <a:xfrm>
            <a:off x="9912813" y="3628081"/>
            <a:ext cx="539935" cy="539935"/>
          </a:xfrm>
          <a:prstGeom prst="rect">
            <a:avLst/>
          </a:prstGeom>
        </p:spPr>
      </p:pic>
      <p:cxnSp>
        <p:nvCxnSpPr>
          <p:cNvPr id="206" name="Google Shape;2042;p39">
            <a:extLst>
              <a:ext uri="{FF2B5EF4-FFF2-40B4-BE49-F238E27FC236}">
                <a16:creationId xmlns:a16="http://schemas.microsoft.com/office/drawing/2014/main" id="{5F8D057C-8F76-8E2C-CA8B-F9813F586132}"/>
              </a:ext>
            </a:extLst>
          </p:cNvPr>
          <p:cNvCxnSpPr>
            <a:cxnSpLocks/>
          </p:cNvCxnSpPr>
          <p:nvPr/>
        </p:nvCxnSpPr>
        <p:spPr>
          <a:xfrm>
            <a:off x="8640626" y="3915978"/>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9" name="Imagen 208">
            <a:extLst>
              <a:ext uri="{FF2B5EF4-FFF2-40B4-BE49-F238E27FC236}">
                <a16:creationId xmlns:a16="http://schemas.microsoft.com/office/drawing/2014/main" id="{643D8A4B-800F-A78A-BAFE-655545579395}"/>
              </a:ext>
            </a:extLst>
          </p:cNvPr>
          <p:cNvPicPr>
            <a:picLocks noChangeAspect="1"/>
          </p:cNvPicPr>
          <p:nvPr/>
        </p:nvPicPr>
        <p:blipFill>
          <a:blip r:embed="rId5"/>
          <a:stretch>
            <a:fillRect/>
          </a:stretch>
        </p:blipFill>
        <p:spPr>
          <a:xfrm>
            <a:off x="7370466" y="3521486"/>
            <a:ext cx="716731" cy="716731"/>
          </a:xfrm>
          <a:prstGeom prst="rect">
            <a:avLst/>
          </a:prstGeom>
        </p:spPr>
      </p:pic>
      <p:sp>
        <p:nvSpPr>
          <p:cNvPr id="213" name="CuadroTexto 212">
            <a:extLst>
              <a:ext uri="{FF2B5EF4-FFF2-40B4-BE49-F238E27FC236}">
                <a16:creationId xmlns:a16="http://schemas.microsoft.com/office/drawing/2014/main" id="{F6D2847B-1AFE-CE91-0813-21FE3C35B9EE}"/>
              </a:ext>
            </a:extLst>
          </p:cNvPr>
          <p:cNvSpPr txBox="1"/>
          <p:nvPr/>
        </p:nvSpPr>
        <p:spPr>
          <a:xfrm>
            <a:off x="1085752" y="1174315"/>
            <a:ext cx="6096000" cy="707886"/>
          </a:xfrm>
          <a:prstGeom prst="rect">
            <a:avLst/>
          </a:prstGeom>
          <a:noFill/>
        </p:spPr>
        <p:txBody>
          <a:bodyPr wrap="square">
            <a:spAutoFit/>
          </a:bodyPr>
          <a:lstStyle/>
          <a:p>
            <a:r>
              <a:rPr lang="en-US" sz="2000" b="1" dirty="0"/>
              <a:t>Interpretable Regional Descriptors (IRD)</a:t>
            </a:r>
            <a:br>
              <a:rPr lang="en-US" sz="2000" dirty="0"/>
            </a:br>
            <a:r>
              <a:rPr lang="en-US" sz="2000" i="1" dirty="0" err="1"/>
              <a:t>Hyperbox</a:t>
            </a:r>
            <a:r>
              <a:rPr lang="en-US" sz="2000" i="1" dirty="0"/>
              <a:t>-based local explanations</a:t>
            </a:r>
            <a:endParaRPr lang="en" sz="2000" dirty="0"/>
          </a:p>
        </p:txBody>
      </p:sp>
      <p:sp>
        <p:nvSpPr>
          <p:cNvPr id="216" name="CuadroTexto 215">
            <a:extLst>
              <a:ext uri="{FF2B5EF4-FFF2-40B4-BE49-F238E27FC236}">
                <a16:creationId xmlns:a16="http://schemas.microsoft.com/office/drawing/2014/main" id="{F19C622D-2963-9BED-AD27-C80F322C5B80}"/>
              </a:ext>
            </a:extLst>
          </p:cNvPr>
          <p:cNvSpPr txBox="1"/>
          <p:nvPr/>
        </p:nvSpPr>
        <p:spPr>
          <a:xfrm>
            <a:off x="1063945" y="1954207"/>
            <a:ext cx="3201067" cy="1138773"/>
          </a:xfrm>
          <a:prstGeom prst="rect">
            <a:avLst/>
          </a:prstGeom>
          <a:noFill/>
        </p:spPr>
        <p:txBody>
          <a:bodyPr wrap="square">
            <a:spAutoFit/>
          </a:bodyPr>
          <a:lstStyle/>
          <a:p>
            <a:pPr marL="285750" indent="-285750" algn="ctr">
              <a:buFont typeface="Arial" panose="020B0604020202020204" pitchFamily="34" charset="0"/>
              <a:buChar char="•"/>
            </a:pPr>
            <a:r>
              <a:rPr lang="en" sz="1700" dirty="0"/>
              <a:t>IRDs are interpretable hyperboxes in input space where a model’s prediction remains stable</a:t>
            </a:r>
          </a:p>
        </p:txBody>
      </p:sp>
      <p:sp>
        <p:nvSpPr>
          <p:cNvPr id="218" name="CuadroTexto 217">
            <a:extLst>
              <a:ext uri="{FF2B5EF4-FFF2-40B4-BE49-F238E27FC236}">
                <a16:creationId xmlns:a16="http://schemas.microsoft.com/office/drawing/2014/main" id="{5B62A879-0C30-57FF-DA71-9FEE852912A0}"/>
              </a:ext>
            </a:extLst>
          </p:cNvPr>
          <p:cNvSpPr txBox="1"/>
          <p:nvPr/>
        </p:nvSpPr>
        <p:spPr>
          <a:xfrm>
            <a:off x="4456234" y="1986640"/>
            <a:ext cx="3389799" cy="1138773"/>
          </a:xfrm>
          <a:prstGeom prst="rect">
            <a:avLst/>
          </a:prstGeom>
          <a:noFill/>
        </p:spPr>
        <p:txBody>
          <a:bodyPr wrap="square">
            <a:spAutoFit/>
          </a:bodyPr>
          <a:lstStyle/>
          <a:p>
            <a:pPr marL="285750" indent="-285750">
              <a:buFont typeface="Arial" panose="020B0604020202020204" pitchFamily="34" charset="0"/>
              <a:buChar char="•"/>
            </a:pPr>
            <a:r>
              <a:rPr lang="en" sz="1700" dirty="0"/>
              <a:t>Originally used for model explanation, here applied to find regions yielding valid simulation outputs</a:t>
            </a:r>
          </a:p>
        </p:txBody>
      </p:sp>
      <p:sp>
        <p:nvSpPr>
          <p:cNvPr id="220" name="CuadroTexto 219">
            <a:extLst>
              <a:ext uri="{FF2B5EF4-FFF2-40B4-BE49-F238E27FC236}">
                <a16:creationId xmlns:a16="http://schemas.microsoft.com/office/drawing/2014/main" id="{A4E0504D-B896-2812-058F-852AAFC6FF79}"/>
              </a:ext>
            </a:extLst>
          </p:cNvPr>
          <p:cNvSpPr txBox="1"/>
          <p:nvPr/>
        </p:nvSpPr>
        <p:spPr>
          <a:xfrm>
            <a:off x="7926990" y="1955415"/>
            <a:ext cx="2995744" cy="1138773"/>
          </a:xfrm>
          <a:prstGeom prst="rect">
            <a:avLst/>
          </a:prstGeom>
          <a:noFill/>
        </p:spPr>
        <p:txBody>
          <a:bodyPr wrap="square">
            <a:spAutoFit/>
          </a:bodyPr>
          <a:lstStyle/>
          <a:p>
            <a:pPr marL="285750" indent="-285750">
              <a:buFont typeface="Arial" panose="020B0604020202020204" pitchFamily="34" charset="0"/>
              <a:buChar char="•"/>
            </a:pPr>
            <a:r>
              <a:rPr lang="en" sz="1700" dirty="0"/>
              <a:t>We used the PRIM method, adapted to return a hyperbox with high validity precision</a:t>
            </a:r>
          </a:p>
        </p:txBody>
      </p:sp>
      <p:sp>
        <p:nvSpPr>
          <p:cNvPr id="221" name="Rectángulo: esquinas redondeadas 220">
            <a:extLst>
              <a:ext uri="{FF2B5EF4-FFF2-40B4-BE49-F238E27FC236}">
                <a16:creationId xmlns:a16="http://schemas.microsoft.com/office/drawing/2014/main" id="{73379DCB-CEC3-1BC9-7402-FAEAC54E92A7}"/>
              </a:ext>
            </a:extLst>
          </p:cNvPr>
          <p:cNvSpPr/>
          <p:nvPr/>
        </p:nvSpPr>
        <p:spPr>
          <a:xfrm>
            <a:off x="852244" y="932883"/>
            <a:ext cx="10460767"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2" name="Google Shape;1860;p37">
            <a:extLst>
              <a:ext uri="{FF2B5EF4-FFF2-40B4-BE49-F238E27FC236}">
                <a16:creationId xmlns:a16="http://schemas.microsoft.com/office/drawing/2014/main" id="{C5792B35-4381-46AB-55B6-D214B61E5A86}"/>
              </a:ext>
            </a:extLst>
          </p:cNvPr>
          <p:cNvSpPr/>
          <p:nvPr/>
        </p:nvSpPr>
        <p:spPr bwMode="auto">
          <a:xfrm>
            <a:off x="6765949" y="1305040"/>
            <a:ext cx="2238292" cy="297015"/>
          </a:xfrm>
          <a:prstGeom prst="roundRect">
            <a:avLst>
              <a:gd name="adj" fmla="val 50000"/>
            </a:avLst>
          </a:prstGeom>
          <a:solidFill>
            <a:schemeClr val="bg1">
              <a:lumMod val="65000"/>
            </a:schemeClr>
          </a:solidFill>
          <a:ln>
            <a:noFill/>
          </a:ln>
        </p:spPr>
        <p:txBody>
          <a:bodyPr spcFirstLastPara="1" wrap="square" lIns="121900" tIns="121900" rIns="121900" bIns="121900" anchor="ctr" anchorCtr="0">
            <a:noAutofit/>
          </a:bodyPr>
          <a:lstStyle/>
          <a:p>
            <a:pPr defTabSz="1219140">
              <a:buClr>
                <a:srgbClr val="000000"/>
              </a:buClr>
              <a:defRPr/>
            </a:pPr>
            <a:r>
              <a:rPr lang="es-MX" sz="1851" b="1" kern="0" dirty="0" err="1">
                <a:solidFill>
                  <a:schemeClr val="bg1"/>
                </a:solidFill>
                <a:cs typeface="Arial"/>
                <a:sym typeface="Arial"/>
                <a:hlinkClick r:id="rId6">
                  <a:extLst>
                    <a:ext uri="{A12FA001-AC4F-418D-AE19-62706E023703}">
                      <ahyp:hlinkClr xmlns:ahyp="http://schemas.microsoft.com/office/drawing/2018/hyperlinkcolor" val="tx"/>
                    </a:ext>
                  </a:extLst>
                </a:hlinkClick>
              </a:rPr>
              <a:t>Dandl</a:t>
            </a:r>
            <a:r>
              <a:rPr lang="es-MX" sz="1851" b="1" kern="0" dirty="0">
                <a:solidFill>
                  <a:schemeClr val="bg1"/>
                </a:solidFill>
                <a:cs typeface="Arial"/>
                <a:sym typeface="Arial"/>
                <a:hlinkClick r:id="rId6">
                  <a:extLst>
                    <a:ext uri="{A12FA001-AC4F-418D-AE19-62706E023703}">
                      <ahyp:hlinkClr xmlns:ahyp="http://schemas.microsoft.com/office/drawing/2018/hyperlinkcolor" val="tx"/>
                    </a:ext>
                  </a:extLst>
                </a:hlinkClick>
              </a:rPr>
              <a:t> et al. (2022)</a:t>
            </a:r>
            <a:endParaRPr sz="1851" b="1" kern="0" dirty="0">
              <a:solidFill>
                <a:schemeClr val="bg1"/>
              </a:solidFill>
              <a:cs typeface="Arial"/>
              <a:sym typeface="Arial"/>
            </a:endParaRPr>
          </a:p>
        </p:txBody>
      </p:sp>
    </p:spTree>
    <p:extLst>
      <p:ext uri="{BB962C8B-B14F-4D97-AF65-F5344CB8AC3E}">
        <p14:creationId xmlns:p14="http://schemas.microsoft.com/office/powerpoint/2010/main" val="1759056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BC8F-4435-1EBB-3643-8B8BF078274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F20ABBC8-E4DD-5519-11D6-17B6B0FDE974}"/>
              </a:ext>
            </a:extLst>
          </p:cNvPr>
          <p:cNvSpPr>
            <a:spLocks noGrp="1"/>
          </p:cNvSpPr>
          <p:nvPr>
            <p:ph type="sldNum" sz="quarter" idx="12"/>
          </p:nvPr>
        </p:nvSpPr>
        <p:spPr/>
        <p:txBody>
          <a:bodyPr/>
          <a:lstStyle/>
          <a:p>
            <a:fld id="{B75BC28E-972B-EC47-BE79-29D89D46B9CA}" type="slidenum">
              <a:rPr lang="es-ES_tradnl" b="1" smtClean="0">
                <a:solidFill>
                  <a:schemeClr val="bg1"/>
                </a:solidFill>
              </a:rPr>
              <a:t>13</a:t>
            </a:fld>
            <a:endParaRPr lang="es-ES_tradnl" b="1" dirty="0">
              <a:solidFill>
                <a:schemeClr val="bg1"/>
              </a:solidFill>
            </a:endParaRPr>
          </a:p>
        </p:txBody>
      </p:sp>
      <p:sp>
        <p:nvSpPr>
          <p:cNvPr id="65" name="CuadroTexto 64">
            <a:extLst>
              <a:ext uri="{FF2B5EF4-FFF2-40B4-BE49-F238E27FC236}">
                <a16:creationId xmlns:a16="http://schemas.microsoft.com/office/drawing/2014/main" id="{4483E89F-DE85-85AD-B529-A0D358DFE694}"/>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05E4A4FC-943F-AD57-A93C-658D674619B8}"/>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751AC224-8616-CC4D-A3FC-11CC6B8D98F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aphicFrame>
        <p:nvGraphicFramePr>
          <p:cNvPr id="10" name="Tabla 9">
            <a:extLst>
              <a:ext uri="{FF2B5EF4-FFF2-40B4-BE49-F238E27FC236}">
                <a16:creationId xmlns:a16="http://schemas.microsoft.com/office/drawing/2014/main" id="{46272652-1FBA-B9CC-C864-8883A94479DC}"/>
              </a:ext>
            </a:extLst>
          </p:cNvPr>
          <p:cNvGraphicFramePr>
            <a:graphicFrameLocks noGrp="1"/>
          </p:cNvGraphicFramePr>
          <p:nvPr>
            <p:extLst>
              <p:ext uri="{D42A27DB-BD31-4B8C-83A1-F6EECF244321}">
                <p14:modId xmlns:p14="http://schemas.microsoft.com/office/powerpoint/2010/main" val="3894207014"/>
              </p:ext>
            </p:extLst>
          </p:nvPr>
        </p:nvGraphicFramePr>
        <p:xfrm>
          <a:off x="1211417" y="1558992"/>
          <a:ext cx="6873667" cy="4340189"/>
        </p:xfrm>
        <a:graphic>
          <a:graphicData uri="http://schemas.openxmlformats.org/drawingml/2006/table">
            <a:tbl>
              <a:tblPr/>
              <a:tblGrid>
                <a:gridCol w="760572">
                  <a:extLst>
                    <a:ext uri="{9D8B030D-6E8A-4147-A177-3AD203B41FA5}">
                      <a16:colId xmlns:a16="http://schemas.microsoft.com/office/drawing/2014/main" val="2628369485"/>
                    </a:ext>
                  </a:extLst>
                </a:gridCol>
                <a:gridCol w="925363">
                  <a:extLst>
                    <a:ext uri="{9D8B030D-6E8A-4147-A177-3AD203B41FA5}">
                      <a16:colId xmlns:a16="http://schemas.microsoft.com/office/drawing/2014/main" val="285976851"/>
                    </a:ext>
                  </a:extLst>
                </a:gridCol>
                <a:gridCol w="1052125">
                  <a:extLst>
                    <a:ext uri="{9D8B030D-6E8A-4147-A177-3AD203B41FA5}">
                      <a16:colId xmlns:a16="http://schemas.microsoft.com/office/drawing/2014/main" val="1704646176"/>
                    </a:ext>
                  </a:extLst>
                </a:gridCol>
                <a:gridCol w="798600">
                  <a:extLst>
                    <a:ext uri="{9D8B030D-6E8A-4147-A177-3AD203B41FA5}">
                      <a16:colId xmlns:a16="http://schemas.microsoft.com/office/drawing/2014/main" val="1024389949"/>
                    </a:ext>
                  </a:extLst>
                </a:gridCol>
                <a:gridCol w="798600">
                  <a:extLst>
                    <a:ext uri="{9D8B030D-6E8A-4147-A177-3AD203B41FA5}">
                      <a16:colId xmlns:a16="http://schemas.microsoft.com/office/drawing/2014/main" val="2756437490"/>
                    </a:ext>
                  </a:extLst>
                </a:gridCol>
                <a:gridCol w="798600">
                  <a:extLst>
                    <a:ext uri="{9D8B030D-6E8A-4147-A177-3AD203B41FA5}">
                      <a16:colId xmlns:a16="http://schemas.microsoft.com/office/drawing/2014/main" val="139106321"/>
                    </a:ext>
                  </a:extLst>
                </a:gridCol>
                <a:gridCol w="798600">
                  <a:extLst>
                    <a:ext uri="{9D8B030D-6E8A-4147-A177-3AD203B41FA5}">
                      <a16:colId xmlns:a16="http://schemas.microsoft.com/office/drawing/2014/main" val="1161415831"/>
                    </a:ext>
                  </a:extLst>
                </a:gridCol>
                <a:gridCol w="941207">
                  <a:extLst>
                    <a:ext uri="{9D8B030D-6E8A-4147-A177-3AD203B41FA5}">
                      <a16:colId xmlns:a16="http://schemas.microsoft.com/office/drawing/2014/main" val="2736985868"/>
                    </a:ext>
                  </a:extLst>
                </a:gridCol>
              </a:tblGrid>
              <a:tr h="183465">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a:noFill/>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w="12700" cap="flat" cmpd="sng" algn="ctr">
                      <a:solidFill>
                        <a:srgbClr val="000000"/>
                      </a:solidFill>
                      <a:prstDash val="solid"/>
                      <a:round/>
                      <a:headEnd type="none" w="med" len="med"/>
                      <a:tailEnd type="none" w="med" len="med"/>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gridSpan="2">
                  <a:txBody>
                    <a:bodyPr/>
                    <a:lstStyle/>
                    <a:p>
                      <a:pPr algn="ctr" fontAlgn="b"/>
                      <a:r>
                        <a:rPr lang="en-US" sz="1200" b="1" i="0" u="none" strike="noStrike" dirty="0">
                          <a:solidFill>
                            <a:srgbClr val="FFFFFF"/>
                          </a:solidFill>
                          <a:effectLst/>
                          <a:latin typeface="Aptos Narrow" panose="020B0004020202020204" pitchFamily="34" charset="0"/>
                        </a:rPr>
                        <a:t>Original range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gridSpan="2">
                  <a:txBody>
                    <a:bodyPr/>
                    <a:lstStyle/>
                    <a:p>
                      <a:pPr algn="ctr" fontAlgn="b"/>
                      <a:r>
                        <a:rPr lang="en-US" sz="1200" b="1" i="0" u="none" strike="noStrike">
                          <a:solidFill>
                            <a:srgbClr val="FFFFFF"/>
                          </a:solidFill>
                          <a:effectLst/>
                          <a:latin typeface="Aptos Narrow" panose="020B0004020202020204" pitchFamily="34" charset="0"/>
                        </a:rPr>
                        <a:t>Regional descriptor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3471901"/>
                  </a:ext>
                </a:extLst>
              </a:tr>
              <a:tr h="501289">
                <a:tc>
                  <a:txBody>
                    <a:bodyPr/>
                    <a:lstStyle/>
                    <a:p>
                      <a:pPr algn="ctr" fontAlgn="ctr"/>
                      <a:endParaRPr lang="en-US" sz="1200" b="1" i="0" u="none" strike="noStrike">
                        <a:solidFill>
                          <a:srgbClr val="FFFFFF"/>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ctr"/>
                      <a:r>
                        <a:rPr lang="en-US" sz="1200" b="1" i="0" u="none" strike="noStrike" dirty="0">
                          <a:solidFill>
                            <a:srgbClr val="FFFFFF"/>
                          </a:solidFill>
                          <a:effectLst/>
                          <a:latin typeface="Aptos Narrow" panose="020B0004020202020204" pitchFamily="34" charset="0"/>
                        </a:rPr>
                        <a:t>Feature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Reference configuration</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Range reduction (%)</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extLst>
                  <a:ext uri="{0D108BD9-81ED-4DB2-BD59-A6C34878D82A}">
                    <a16:rowId xmlns:a16="http://schemas.microsoft.com/office/drawing/2014/main" val="1828738473"/>
                  </a:ext>
                </a:extLst>
              </a:tr>
              <a:tr h="183465">
                <a:tc rowSpan="7">
                  <a:txBody>
                    <a:bodyPr/>
                    <a:lstStyle/>
                    <a:p>
                      <a:pPr algn="ctr" fontAlgn="ctr"/>
                      <a:r>
                        <a:rPr lang="en-US" sz="1200" b="0" i="0" u="none" strike="noStrike">
                          <a:solidFill>
                            <a:srgbClr val="000000"/>
                          </a:solidFill>
                          <a:effectLst/>
                          <a:latin typeface="Aptos Narrow" panose="020B0004020202020204" pitchFamily="34" charset="0"/>
                        </a:rPr>
                        <a:t>Operational Condition</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Tfc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347.15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333.02</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362.97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339.01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357.17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138257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Pa_des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299920.00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138530.00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282930.00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101303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297510.00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119410.00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269390.00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54480426"/>
                  </a:ext>
                </a:extLst>
              </a:tr>
              <a:tr h="183465">
                <a:tc vMerge="1">
                  <a:txBody>
                    <a:bodyPr/>
                    <a:lstStyle/>
                    <a:p>
                      <a:endParaRPr lang="en"/>
                    </a:p>
                  </a:txBody>
                  <a:tcPr/>
                </a:tc>
                <a:tc>
                  <a:txBody>
                    <a:bodyPr/>
                    <a:lstStyle/>
                    <a:p>
                      <a:pPr algn="ctr" fontAlgn="b"/>
                      <a:r>
                        <a:rPr lang="en-US" sz="1200" b="1" i="0" u="none" strike="noStrike" dirty="0">
                          <a:solidFill>
                            <a:srgbClr val="FFFFFF"/>
                          </a:solidFill>
                          <a:effectLst/>
                          <a:latin typeface="Aptos Narrow" panose="020B0004020202020204" pitchFamily="34" charset="0"/>
                        </a:rPr>
                        <a:t>Sa</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483467210"/>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Sc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199226540"/>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Phi_a_des</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2792827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Phi_c_des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0.66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696227839"/>
                  </a:ext>
                </a:extLst>
              </a:tr>
              <a:tr h="183465">
                <a:tc rowSpan="12">
                  <a:txBody>
                    <a:bodyPr/>
                    <a:lstStyle/>
                    <a:p>
                      <a:pPr algn="ctr" fontAlgn="ctr"/>
                      <a:r>
                        <a:rPr lang="en-US" sz="1200" b="0" i="0" u="none" strike="noStrike">
                          <a:solidFill>
                            <a:srgbClr val="000000"/>
                          </a:solidFill>
                          <a:effectLst/>
                          <a:latin typeface="Aptos Narrow" panose="020B0004020202020204" pitchFamily="34" charset="0"/>
                        </a:rPr>
                        <a:t>Undetermined Physical Parameter</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epsilon_gdl</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0.80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0.76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73959622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tau</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1.02</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45624311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epsilon_mc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0.16</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399506245"/>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669377961"/>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52586982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Re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5.70E-07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5.0E-06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4.8E-06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38358584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i0_c_ref</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499.5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82.3</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84%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5877457"/>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kappa_co</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17.9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1" i="0" u="none" strike="noStrike">
                          <a:solidFill>
                            <a:srgbClr val="FF0000"/>
                          </a:solidFill>
                          <a:effectLst/>
                          <a:latin typeface="Aptos Narrow" panose="020B0004020202020204" pitchFamily="34" charset="0"/>
                        </a:rPr>
                        <a:t>45%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27445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1.61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2.2</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98%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078854495"/>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a_slim</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513592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b_slim</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0.11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78388021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a_switch</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324779307"/>
                  </a:ext>
                </a:extLst>
              </a:tr>
            </a:tbl>
          </a:graphicData>
        </a:graphic>
      </p:graphicFrame>
      <p:sp>
        <p:nvSpPr>
          <p:cNvPr id="12" name="CuadroTexto 11">
            <a:extLst>
              <a:ext uri="{FF2B5EF4-FFF2-40B4-BE49-F238E27FC236}">
                <a16:creationId xmlns:a16="http://schemas.microsoft.com/office/drawing/2014/main" id="{65E50FEE-1255-7C6D-C678-7664FB1F34CA}"/>
              </a:ext>
            </a:extLst>
          </p:cNvPr>
          <p:cNvSpPr txBox="1"/>
          <p:nvPr/>
        </p:nvSpPr>
        <p:spPr>
          <a:xfrm>
            <a:off x="1151446" y="6007889"/>
            <a:ext cx="7131676" cy="646331"/>
          </a:xfrm>
          <a:prstGeom prst="rect">
            <a:avLst/>
          </a:prstGeom>
          <a:noFill/>
        </p:spPr>
        <p:txBody>
          <a:bodyPr wrap="square">
            <a:spAutoFit/>
          </a:bodyPr>
          <a:lstStyle/>
          <a:p>
            <a:r>
              <a:rPr lang="en-US" sz="1200" b="1" dirty="0"/>
              <a:t>Table 1:</a:t>
            </a:r>
            <a:r>
              <a:rPr lang="en-US" sz="1200" dirty="0"/>
              <a:t> Comparison of the original parameter ranges and the validated input region (IRD-derived </a:t>
            </a:r>
            <a:r>
              <a:rPr lang="en-US" sz="1200" dirty="0" err="1"/>
              <a:t>hyperbox</a:t>
            </a:r>
            <a:r>
              <a:rPr lang="en-US" sz="1200" dirty="0"/>
              <a:t>) identified using the PRIM method. The "IRD range" corresponds to the largest subregion where ≥90% of sampled configurations lead to valid, physically meaningful outputs from </a:t>
            </a:r>
            <a:r>
              <a:rPr lang="en-US" sz="1200" dirty="0" err="1"/>
              <a:t>AlphaPEM</a:t>
            </a:r>
            <a:r>
              <a:rPr lang="en-US" sz="1200" dirty="0"/>
              <a:t>. </a:t>
            </a:r>
            <a:r>
              <a:rPr lang="en" sz="1200" dirty="0"/>
              <a:t> </a:t>
            </a:r>
            <a:endParaRPr lang="en-US" sz="1200" dirty="0"/>
          </a:p>
        </p:txBody>
      </p:sp>
      <p:sp>
        <p:nvSpPr>
          <p:cNvPr id="13" name="Cerrar llave 12">
            <a:extLst>
              <a:ext uri="{FF2B5EF4-FFF2-40B4-BE49-F238E27FC236}">
                <a16:creationId xmlns:a16="http://schemas.microsoft.com/office/drawing/2014/main" id="{1C0B1EB5-5FE8-4BC4-33C7-53A789BE339B}"/>
              </a:ext>
            </a:extLst>
          </p:cNvPr>
          <p:cNvSpPr/>
          <p:nvPr/>
        </p:nvSpPr>
        <p:spPr>
          <a:xfrm>
            <a:off x="8283122" y="4718049"/>
            <a:ext cx="217716" cy="580572"/>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
          </a:p>
        </p:txBody>
      </p:sp>
      <p:sp>
        <p:nvSpPr>
          <p:cNvPr id="17" name="CuadroTexto 16">
            <a:extLst>
              <a:ext uri="{FF2B5EF4-FFF2-40B4-BE49-F238E27FC236}">
                <a16:creationId xmlns:a16="http://schemas.microsoft.com/office/drawing/2014/main" id="{1A63B7FE-6FCA-34A1-7F7D-727C5A15B291}"/>
              </a:ext>
            </a:extLst>
          </p:cNvPr>
          <p:cNvSpPr txBox="1"/>
          <p:nvPr/>
        </p:nvSpPr>
        <p:spPr>
          <a:xfrm>
            <a:off x="8588763" y="4592836"/>
            <a:ext cx="3190309" cy="830997"/>
          </a:xfrm>
          <a:prstGeom prst="rect">
            <a:avLst/>
          </a:prstGeom>
          <a:noFill/>
        </p:spPr>
        <p:txBody>
          <a:bodyPr wrap="square">
            <a:spAutoFit/>
          </a:bodyPr>
          <a:lstStyle/>
          <a:p>
            <a:r>
              <a:rPr lang="en" sz="1200" dirty="0"/>
              <a:t>Large range reductions for </a:t>
            </a:r>
            <a:r>
              <a:rPr lang="en" sz="1200" i="1" dirty="0"/>
              <a:t>i0_c_ref</a:t>
            </a:r>
            <a:r>
              <a:rPr lang="en" sz="1200" dirty="0"/>
              <a:t>, </a:t>
            </a:r>
            <a:r>
              <a:rPr lang="en" sz="1200" i="1" dirty="0"/>
              <a:t>kappa_co</a:t>
            </a:r>
            <a:r>
              <a:rPr lang="en" sz="1200" dirty="0"/>
              <a:t>, and </a:t>
            </a:r>
            <a:r>
              <a:rPr lang="en" sz="1200" i="1" dirty="0"/>
              <a:t>kappa_c</a:t>
            </a:r>
            <a:r>
              <a:rPr lang="en" sz="1200" dirty="0"/>
              <a:t> indicate these parameters must be </a:t>
            </a:r>
            <a:r>
              <a:rPr lang="en" sz="1200" dirty="0">
                <a:solidFill>
                  <a:srgbClr val="008B2E"/>
                </a:solidFill>
              </a:rPr>
              <a:t>tightly constrained </a:t>
            </a:r>
            <a:r>
              <a:rPr lang="en" sz="1200" dirty="0"/>
              <a:t>to ensure valid polarization curves</a:t>
            </a:r>
          </a:p>
        </p:txBody>
      </p:sp>
      <p:sp>
        <p:nvSpPr>
          <p:cNvPr id="20" name="Título 1">
            <a:extLst>
              <a:ext uri="{FF2B5EF4-FFF2-40B4-BE49-F238E27FC236}">
                <a16:creationId xmlns:a16="http://schemas.microsoft.com/office/drawing/2014/main" id="{109423F5-686B-E050-3F80-B242253213A0}"/>
              </a:ext>
            </a:extLst>
          </p:cNvPr>
          <p:cNvSpPr>
            <a:spLocks noGrp="1"/>
          </p:cNvSpPr>
          <p:nvPr>
            <p:ph type="title"/>
          </p:nvPr>
        </p:nvSpPr>
        <p:spPr>
          <a:xfrm>
            <a:off x="2204894" y="794668"/>
            <a:ext cx="7945761" cy="518126"/>
          </a:xfrm>
        </p:spPr>
        <p:txBody>
          <a:bodyPr/>
          <a:lstStyle/>
          <a:p>
            <a:pPr algn="ctr"/>
            <a:r>
              <a:rPr lang="en-US" sz="2800" b="1" dirty="0">
                <a:latin typeface="Source Sans Pro" panose="020B0503030403020204" pitchFamily="34" charset="0"/>
                <a:ea typeface="Source Sans Pro" panose="020B0503030403020204" pitchFamily="34" charset="0"/>
              </a:rPr>
              <a:t>Resulting </a:t>
            </a:r>
            <a:r>
              <a:rPr lang="en-US" sz="2800" b="1" dirty="0" err="1">
                <a:latin typeface="Source Sans Pro" panose="020B0503030403020204" pitchFamily="34" charset="0"/>
                <a:ea typeface="Source Sans Pro" panose="020B0503030403020204" pitchFamily="34" charset="0"/>
              </a:rPr>
              <a:t>hyperbox</a:t>
            </a:r>
            <a:r>
              <a:rPr lang="en-US" sz="2800" b="1" dirty="0">
                <a:latin typeface="Source Sans Pro" panose="020B0503030403020204" pitchFamily="34" charset="0"/>
                <a:ea typeface="Source Sans Pro" panose="020B0503030403020204" pitchFamily="34" charset="0"/>
              </a:rPr>
              <a:t> from IRD</a:t>
            </a:r>
            <a:endParaRPr lang="en" sz="2800" b="1" dirty="0">
              <a:latin typeface="Source Sans Pro" panose="020B0503030403020204" pitchFamily="34" charset="0"/>
              <a:ea typeface="Source Sans Pro" panose="020B0503030403020204" pitchFamily="34" charset="0"/>
            </a:endParaRPr>
          </a:p>
        </p:txBody>
      </p:sp>
      <p:grpSp>
        <p:nvGrpSpPr>
          <p:cNvPr id="24" name="Grupo 23">
            <a:extLst>
              <a:ext uri="{FF2B5EF4-FFF2-40B4-BE49-F238E27FC236}">
                <a16:creationId xmlns:a16="http://schemas.microsoft.com/office/drawing/2014/main" id="{4718D5CB-D380-BB7A-1517-8C8205FF1B34}"/>
              </a:ext>
            </a:extLst>
          </p:cNvPr>
          <p:cNvGrpSpPr/>
          <p:nvPr/>
        </p:nvGrpSpPr>
        <p:grpSpPr>
          <a:xfrm>
            <a:off x="8567830" y="1683907"/>
            <a:ext cx="3255550" cy="1344151"/>
            <a:chOff x="8468217" y="1465149"/>
            <a:chExt cx="3255550" cy="1344151"/>
          </a:xfrm>
        </p:grpSpPr>
        <p:sp>
          <p:nvSpPr>
            <p:cNvPr id="21" name="Google Shape;1857;p37">
              <a:extLst>
                <a:ext uri="{FF2B5EF4-FFF2-40B4-BE49-F238E27FC236}">
                  <a16:creationId xmlns:a16="http://schemas.microsoft.com/office/drawing/2014/main" id="{ABFCD99B-5185-9C68-45CA-92839AFC89CC}"/>
                </a:ext>
              </a:extLst>
            </p:cNvPr>
            <p:cNvSpPr/>
            <p:nvPr/>
          </p:nvSpPr>
          <p:spPr bwMode="auto">
            <a:xfrm>
              <a:off x="8500838" y="1605976"/>
              <a:ext cx="3190309" cy="1203324"/>
            </a:xfrm>
            <a:prstGeom prst="rect">
              <a:avLst/>
            </a:prstGeom>
            <a:solidFill>
              <a:srgbClr val="FFC000">
                <a:alpha val="10000"/>
              </a:srgbClr>
            </a:solidFill>
            <a:ln>
              <a:noFill/>
            </a:ln>
          </p:spPr>
          <p:txBody>
            <a:bodyPr spcFirstLastPara="1" wrap="square" lIns="121900" tIns="121900" rIns="121900" bIns="121900" anchor="ctr" anchorCtr="0">
              <a:noAutofit/>
            </a:bodyPr>
            <a:lstStyle/>
            <a:p>
              <a:pPr defTabSz="1219140">
                <a:buClr>
                  <a:srgbClr val="000000"/>
                </a:buClr>
                <a:defRPr/>
              </a:pPr>
              <a:endParaRPr lang="en-US" sz="1200" i="1" kern="0" dirty="0">
                <a:solidFill>
                  <a:srgbClr val="000000"/>
                </a:solidFill>
                <a:cs typeface="Arial"/>
                <a:sym typeface="Arial"/>
              </a:endParaRPr>
            </a:p>
            <a:p>
              <a:pPr defTabSz="1219140">
                <a:buClr>
                  <a:srgbClr val="000000"/>
                </a:buClr>
                <a:defRPr/>
              </a:pPr>
              <a:r>
                <a:rPr lang="en-US" sz="1200" i="1" kern="0" dirty="0" err="1">
                  <a:solidFill>
                    <a:srgbClr val="008B2E"/>
                  </a:solidFill>
                  <a:cs typeface="Arial"/>
                  <a:sym typeface="Arial"/>
                </a:rPr>
                <a:t>x_interest</a:t>
              </a:r>
              <a:r>
                <a:rPr lang="en-US" sz="1200" i="1" kern="0" dirty="0">
                  <a:solidFill>
                    <a:srgbClr val="008B2E"/>
                  </a:solidFill>
                  <a:cs typeface="Arial"/>
                  <a:sym typeface="Arial"/>
                </a:rPr>
                <a:t> </a:t>
              </a:r>
              <a:r>
                <a:rPr lang="en-US" sz="1200" kern="0" dirty="0">
                  <a:solidFill>
                    <a:srgbClr val="000000"/>
                  </a:solidFill>
                  <a:cs typeface="Arial"/>
                  <a:sym typeface="Arial"/>
                </a:rPr>
                <a:t>is taken from Tables 3.3 and 3.4 of Gass' thesis and corresponds to a validated polarization curve from the EH-31 experimental fuel cell</a:t>
              </a:r>
              <a:endParaRPr sz="1200" kern="0" dirty="0">
                <a:solidFill>
                  <a:srgbClr val="000000"/>
                </a:solidFill>
                <a:cs typeface="Arial"/>
                <a:sym typeface="Arial"/>
              </a:endParaRPr>
            </a:p>
          </p:txBody>
        </p:sp>
        <p:sp>
          <p:nvSpPr>
            <p:cNvPr id="23" name="Google Shape;1859;p37">
              <a:extLst>
                <a:ext uri="{FF2B5EF4-FFF2-40B4-BE49-F238E27FC236}">
                  <a16:creationId xmlns:a16="http://schemas.microsoft.com/office/drawing/2014/main" id="{D0AF52C0-DB29-8C40-A301-5D6DC0EC6103}"/>
                </a:ext>
              </a:extLst>
            </p:cNvPr>
            <p:cNvSpPr/>
            <p:nvPr/>
          </p:nvSpPr>
          <p:spPr bwMode="auto">
            <a:xfrm>
              <a:off x="8468217" y="1465149"/>
              <a:ext cx="3255550" cy="387234"/>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a:solidFill>
                    <a:schemeClr val="bg1"/>
                  </a:solidFill>
                  <a:latin typeface="+mj-lt"/>
                  <a:cs typeface="Arial"/>
                  <a:sym typeface="Arial"/>
                </a:rPr>
                <a:t>Reference </a:t>
              </a:r>
              <a:r>
                <a:rPr lang="es-MX" sz="1400" b="1" kern="0" dirty="0" err="1">
                  <a:solidFill>
                    <a:schemeClr val="bg1"/>
                  </a:solidFill>
                  <a:latin typeface="+mj-lt"/>
                  <a:cs typeface="Arial"/>
                  <a:sym typeface="Arial"/>
                </a:rPr>
                <a:t>configuration</a:t>
              </a:r>
              <a:endParaRPr sz="1400" b="1" kern="0" dirty="0">
                <a:solidFill>
                  <a:schemeClr val="bg1"/>
                </a:solidFill>
                <a:latin typeface="+mj-lt"/>
                <a:cs typeface="Arial"/>
                <a:sym typeface="Arial"/>
              </a:endParaRPr>
            </a:p>
          </p:txBody>
        </p:sp>
      </p:grpSp>
      <p:cxnSp>
        <p:nvCxnSpPr>
          <p:cNvPr id="25" name="Google Shape;2044;p39">
            <a:extLst>
              <a:ext uri="{FF2B5EF4-FFF2-40B4-BE49-F238E27FC236}">
                <a16:creationId xmlns:a16="http://schemas.microsoft.com/office/drawing/2014/main" id="{C534B2E3-3E8F-D3BD-4307-F718C55CDCBF}"/>
              </a:ext>
            </a:extLst>
          </p:cNvPr>
          <p:cNvCxnSpPr>
            <a:cxnSpLocks/>
            <a:stCxn id="31" idx="1"/>
            <a:endCxn id="38" idx="4"/>
          </p:cNvCxnSpPr>
          <p:nvPr/>
        </p:nvCxnSpPr>
        <p:spPr>
          <a:xfrm flipH="1" flipV="1">
            <a:off x="8173009" y="2887613"/>
            <a:ext cx="676171" cy="841475"/>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28" name="Google Shape;2044;p39">
            <a:extLst>
              <a:ext uri="{FF2B5EF4-FFF2-40B4-BE49-F238E27FC236}">
                <a16:creationId xmlns:a16="http://schemas.microsoft.com/office/drawing/2014/main" id="{A96AEFC8-807F-84ED-5F44-1532BD531900}"/>
              </a:ext>
            </a:extLst>
          </p:cNvPr>
          <p:cNvCxnSpPr>
            <a:cxnSpLocks/>
            <a:stCxn id="31" idx="1"/>
            <a:endCxn id="39" idx="4"/>
          </p:cNvCxnSpPr>
          <p:nvPr/>
        </p:nvCxnSpPr>
        <p:spPr>
          <a:xfrm flipH="1" flipV="1">
            <a:off x="8173009" y="3282051"/>
            <a:ext cx="676171" cy="447037"/>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1" name="CuadroTexto 30">
            <a:extLst>
              <a:ext uri="{FF2B5EF4-FFF2-40B4-BE49-F238E27FC236}">
                <a16:creationId xmlns:a16="http://schemas.microsoft.com/office/drawing/2014/main" id="{AD1DC969-DFB1-A56B-1BE9-C1D0C590504A}"/>
              </a:ext>
            </a:extLst>
          </p:cNvPr>
          <p:cNvSpPr txBox="1"/>
          <p:nvPr/>
        </p:nvSpPr>
        <p:spPr>
          <a:xfrm>
            <a:off x="8849180" y="3498255"/>
            <a:ext cx="1999150" cy="461665"/>
          </a:xfrm>
          <a:prstGeom prst="rect">
            <a:avLst/>
          </a:prstGeom>
          <a:noFill/>
        </p:spPr>
        <p:txBody>
          <a:bodyPr wrap="square">
            <a:spAutoFit/>
          </a:bodyPr>
          <a:lstStyle/>
          <a:p>
            <a:r>
              <a:rPr lang="en" sz="1200" b="1" dirty="0">
                <a:solidFill>
                  <a:srgbClr val="B278E6"/>
                </a:solidFill>
              </a:rPr>
              <a:t>Immutable features</a:t>
            </a:r>
            <a:r>
              <a:rPr lang="en" sz="1200" dirty="0"/>
              <a:t>: fixed to reference value</a:t>
            </a:r>
          </a:p>
        </p:txBody>
      </p:sp>
      <p:sp>
        <p:nvSpPr>
          <p:cNvPr id="38" name="Elipse 37">
            <a:extLst>
              <a:ext uri="{FF2B5EF4-FFF2-40B4-BE49-F238E27FC236}">
                <a16:creationId xmlns:a16="http://schemas.microsoft.com/office/drawing/2014/main" id="{9182F66F-802B-EE23-CAE2-32221462C411}"/>
              </a:ext>
            </a:extLst>
          </p:cNvPr>
          <p:cNvSpPr/>
          <p:nvPr/>
        </p:nvSpPr>
        <p:spPr>
          <a:xfrm>
            <a:off x="8139435" y="2789869"/>
            <a:ext cx="67148" cy="97744"/>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9" name="Elipse 38">
            <a:extLst>
              <a:ext uri="{FF2B5EF4-FFF2-40B4-BE49-F238E27FC236}">
                <a16:creationId xmlns:a16="http://schemas.microsoft.com/office/drawing/2014/main" id="{35BA39AC-50BF-93CE-3B72-E6022D316E86}"/>
              </a:ext>
            </a:extLst>
          </p:cNvPr>
          <p:cNvSpPr/>
          <p:nvPr/>
        </p:nvSpPr>
        <p:spPr>
          <a:xfrm>
            <a:off x="8139435" y="3184307"/>
            <a:ext cx="67148" cy="97744"/>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Tree>
    <p:extLst>
      <p:ext uri="{BB962C8B-B14F-4D97-AF65-F5344CB8AC3E}">
        <p14:creationId xmlns:p14="http://schemas.microsoft.com/office/powerpoint/2010/main" val="1504349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C7016-D32F-564B-F15C-ED5FD1CA3C89}"/>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4D49E669-0B02-2837-F112-3E7388063E14}"/>
              </a:ext>
            </a:extLst>
          </p:cNvPr>
          <p:cNvSpPr>
            <a:spLocks noGrp="1"/>
          </p:cNvSpPr>
          <p:nvPr>
            <p:ph type="sldNum" sz="quarter" idx="12"/>
          </p:nvPr>
        </p:nvSpPr>
        <p:spPr/>
        <p:txBody>
          <a:bodyPr/>
          <a:lstStyle/>
          <a:p>
            <a:fld id="{B75BC28E-972B-EC47-BE79-29D89D46B9CA}" type="slidenum">
              <a:rPr lang="es-ES_tradnl" b="1" smtClean="0">
                <a:solidFill>
                  <a:schemeClr val="bg1"/>
                </a:solidFill>
              </a:rPr>
              <a:t>14</a:t>
            </a:fld>
            <a:endParaRPr lang="es-ES_tradnl" b="1" dirty="0">
              <a:solidFill>
                <a:schemeClr val="bg1"/>
              </a:solidFill>
            </a:endParaRPr>
          </a:p>
        </p:txBody>
      </p:sp>
      <p:sp>
        <p:nvSpPr>
          <p:cNvPr id="65" name="CuadroTexto 64">
            <a:extLst>
              <a:ext uri="{FF2B5EF4-FFF2-40B4-BE49-F238E27FC236}">
                <a16:creationId xmlns:a16="http://schemas.microsoft.com/office/drawing/2014/main" id="{6B93DCD2-CACB-A950-865A-2E03AB5BC993}"/>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29319995-5A34-678C-98F1-A4316C27A674}"/>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F7B27F-C24E-DA7E-B2C5-23A90300A30E}"/>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5" name="Título 1">
            <a:extLst>
              <a:ext uri="{FF2B5EF4-FFF2-40B4-BE49-F238E27FC236}">
                <a16:creationId xmlns:a16="http://schemas.microsoft.com/office/drawing/2014/main" id="{7AD9E350-E1CB-B4AC-CE6A-C6FB685CE22C}"/>
              </a:ext>
            </a:extLst>
          </p:cNvPr>
          <p:cNvSpPr>
            <a:spLocks noGrp="1"/>
          </p:cNvSpPr>
          <p:nvPr>
            <p:ph type="title"/>
          </p:nvPr>
        </p:nvSpPr>
        <p:spPr>
          <a:xfrm>
            <a:off x="1479778" y="871878"/>
            <a:ext cx="9002368" cy="518126"/>
          </a:xfrm>
        </p:spPr>
        <p:txBody>
          <a:bodyPr/>
          <a:lstStyle/>
          <a:p>
            <a:pPr algn="ctr"/>
            <a:r>
              <a:rPr lang="en" sz="2800" b="1" dirty="0">
                <a:latin typeface="Source Sans Pro" panose="020B0503030403020204" pitchFamily="34" charset="0"/>
                <a:ea typeface="Source Sans Pro" panose="020B0503030403020204" pitchFamily="34" charset="0"/>
              </a:rPr>
              <a:t>Final set of input parameters for sampling of AlphaPEM</a:t>
            </a:r>
          </a:p>
        </p:txBody>
      </p:sp>
      <p:graphicFrame>
        <p:nvGraphicFramePr>
          <p:cNvPr id="7" name="Tabla 6">
            <a:extLst>
              <a:ext uri="{FF2B5EF4-FFF2-40B4-BE49-F238E27FC236}">
                <a16:creationId xmlns:a16="http://schemas.microsoft.com/office/drawing/2014/main" id="{6C21B11C-2547-F5D5-E6B0-B7A1B72D5AB3}"/>
              </a:ext>
            </a:extLst>
          </p:cNvPr>
          <p:cNvGraphicFramePr>
            <a:graphicFrameLocks noGrp="1"/>
          </p:cNvGraphicFramePr>
          <p:nvPr>
            <p:extLst>
              <p:ext uri="{D42A27DB-BD31-4B8C-83A1-F6EECF244321}">
                <p14:modId xmlns:p14="http://schemas.microsoft.com/office/powerpoint/2010/main" val="3418877925"/>
              </p:ext>
            </p:extLst>
          </p:nvPr>
        </p:nvGraphicFramePr>
        <p:xfrm>
          <a:off x="855366" y="1682079"/>
          <a:ext cx="7736052" cy="3326400"/>
        </p:xfrm>
        <a:graphic>
          <a:graphicData uri="http://schemas.openxmlformats.org/drawingml/2006/table">
            <a:tbl>
              <a:tblPr/>
              <a:tblGrid>
                <a:gridCol w="467518">
                  <a:extLst>
                    <a:ext uri="{9D8B030D-6E8A-4147-A177-3AD203B41FA5}">
                      <a16:colId xmlns:a16="http://schemas.microsoft.com/office/drawing/2014/main" val="1532098"/>
                    </a:ext>
                  </a:extLst>
                </a:gridCol>
                <a:gridCol w="1130048">
                  <a:extLst>
                    <a:ext uri="{9D8B030D-6E8A-4147-A177-3AD203B41FA5}">
                      <a16:colId xmlns:a16="http://schemas.microsoft.com/office/drawing/2014/main" val="2553486490"/>
                    </a:ext>
                  </a:extLst>
                </a:gridCol>
                <a:gridCol w="4632597">
                  <a:extLst>
                    <a:ext uri="{9D8B030D-6E8A-4147-A177-3AD203B41FA5}">
                      <a16:colId xmlns:a16="http://schemas.microsoft.com/office/drawing/2014/main" val="3273686214"/>
                    </a:ext>
                  </a:extLst>
                </a:gridCol>
                <a:gridCol w="1505889">
                  <a:extLst>
                    <a:ext uri="{9D8B030D-6E8A-4147-A177-3AD203B41FA5}">
                      <a16:colId xmlns:a16="http://schemas.microsoft.com/office/drawing/2014/main" val="1983710068"/>
                    </a:ext>
                  </a:extLst>
                </a:gridCol>
              </a:tblGrid>
              <a:tr h="237600">
                <a:tc>
                  <a:txBody>
                    <a:bodyPr/>
                    <a:lstStyle/>
                    <a:p>
                      <a:pPr algn="ctr" fontAlgn="ctr"/>
                      <a:r>
                        <a:rPr lang="en-US" sz="1400" b="1" i="0" u="none" strike="noStrike" dirty="0">
                          <a:solidFill>
                            <a:srgbClr val="FFFFFF"/>
                          </a:solidFill>
                          <a:effectLst/>
                          <a:latin typeface="+mn-lt"/>
                        </a:rPr>
                        <a:t>#</a:t>
                      </a:r>
                    </a:p>
                  </a:txBody>
                  <a:tcPr marL="9525" marR="9525" marT="9525"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a:solidFill>
                            <a:srgbClr val="FFFFFF"/>
                          </a:solidFill>
                          <a:effectLst/>
                          <a:latin typeface="+mn-lt"/>
                        </a:rPr>
                        <a:t>Parameter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Description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Range</a:t>
                      </a:r>
                    </a:p>
                  </a:txBody>
                  <a:tcPr marL="9525" marR="9525" marT="9525"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B278E6"/>
                    </a:solidFill>
                  </a:tcPr>
                </a:tc>
                <a:extLst>
                  <a:ext uri="{0D108BD9-81ED-4DB2-BD59-A6C34878D82A}">
                    <a16:rowId xmlns:a16="http://schemas.microsoft.com/office/drawing/2014/main" val="2178601372"/>
                  </a:ext>
                </a:extLst>
              </a:tr>
              <a:tr h="237600">
                <a:tc>
                  <a:txBody>
                    <a:bodyPr/>
                    <a:lstStyle/>
                    <a:p>
                      <a:pPr algn="ctr" fontAlgn="ctr"/>
                      <a:r>
                        <a:rPr lang="en-US" sz="1400" b="1" i="0" u="none" strike="noStrike" dirty="0">
                          <a:solidFill>
                            <a:srgbClr val="FFFFFF"/>
                          </a:solidFill>
                          <a:effectLst/>
                          <a:latin typeface="+mn-lt"/>
                        </a:rPr>
                        <a:t>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Tfc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Desired fuel cell temperature (K)</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[333, 363]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1258663555"/>
                  </a:ext>
                </a:extLst>
              </a:tr>
              <a:tr h="237600">
                <a:tc>
                  <a:txBody>
                    <a:bodyPr/>
                    <a:lstStyle/>
                    <a:p>
                      <a:pPr algn="ctr" fontAlgn="ctr"/>
                      <a:r>
                        <a:rPr lang="en-US" sz="1400" b="1" i="0" u="none" strike="noStrike" dirty="0">
                          <a:solidFill>
                            <a:srgbClr val="FFFFFF"/>
                          </a:solidFill>
                          <a:effectLst/>
                          <a:latin typeface="+mn-lt"/>
                        </a:rPr>
                        <a:t>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Pa_des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anode pressure (Pa)</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[130000, 300000]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302557485"/>
                  </a:ext>
                </a:extLst>
              </a:tr>
              <a:tr h="237600">
                <a:tc>
                  <a:txBody>
                    <a:bodyPr/>
                    <a:lstStyle/>
                    <a:p>
                      <a:pPr algn="ctr" fontAlgn="ctr"/>
                      <a:r>
                        <a:rPr lang="en-US" sz="1400" b="1" i="0" u="none" strike="noStrike" dirty="0">
                          <a:solidFill>
                            <a:srgbClr val="FFFFFF"/>
                          </a:solidFill>
                          <a:effectLst/>
                          <a:latin typeface="+mn-lt"/>
                        </a:rPr>
                        <a:t>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Sc</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Stoichiometric ratio of oxygen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[1.1, 3.0]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735003018"/>
                  </a:ext>
                </a:extLst>
              </a:tr>
              <a:tr h="237600">
                <a:tc>
                  <a:txBody>
                    <a:bodyPr/>
                    <a:lstStyle/>
                    <a:p>
                      <a:pPr algn="ctr" fontAlgn="ctr"/>
                      <a:r>
                        <a:rPr lang="en-US" sz="1400" b="1" i="0" u="none" strike="noStrike" dirty="0">
                          <a:solidFill>
                            <a:srgbClr val="FFFFFF"/>
                          </a:solidFill>
                          <a:effectLst/>
                          <a:latin typeface="+mn-lt"/>
                        </a:rPr>
                        <a:t>4</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Phi_c_des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cathode relative humidity</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[0.1, 0.7]</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2497596716"/>
                  </a:ext>
                </a:extLst>
              </a:tr>
              <a:tr h="237600">
                <a:tc>
                  <a:txBody>
                    <a:bodyPr/>
                    <a:lstStyle/>
                    <a:p>
                      <a:pPr algn="ctr" fontAlgn="ctr"/>
                      <a:r>
                        <a:rPr lang="en-US" sz="1400" b="1" i="0" u="none" strike="noStrike" dirty="0">
                          <a:solidFill>
                            <a:srgbClr val="FFFFFF"/>
                          </a:solidFill>
                          <a:effectLst/>
                          <a:latin typeface="+mn-lt"/>
                        </a:rPr>
                        <a:t>5</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epsilon_gdl</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GDL porosity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[0.55, 0.8]</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606358842"/>
                  </a:ext>
                </a:extLst>
              </a:tr>
              <a:tr h="237600">
                <a:tc>
                  <a:txBody>
                    <a:bodyPr/>
                    <a:lstStyle/>
                    <a:p>
                      <a:pPr algn="ctr" fontAlgn="ctr"/>
                      <a:r>
                        <a:rPr lang="en-US" sz="1400" b="1" i="0" u="none" strike="noStrike" dirty="0">
                          <a:solidFill>
                            <a:srgbClr val="FFFFFF"/>
                          </a:solidFill>
                          <a:effectLst/>
                          <a:latin typeface="+mn-lt"/>
                        </a:rPr>
                        <a:t>6</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tau</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Pore structure coefficient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[1.0,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593754063"/>
                  </a:ext>
                </a:extLst>
              </a:tr>
              <a:tr h="237600">
                <a:tc>
                  <a:txBody>
                    <a:bodyPr/>
                    <a:lstStyle/>
                    <a:p>
                      <a:pPr algn="ctr" fontAlgn="ctr"/>
                      <a:r>
                        <a:rPr lang="en-US" sz="1400" b="1" i="0" u="none" strike="noStrike" dirty="0">
                          <a:solidFill>
                            <a:srgbClr val="FFFFFF"/>
                          </a:solidFill>
                          <a:effectLst/>
                          <a:latin typeface="+mn-lt"/>
                        </a:rPr>
                        <a:t>7</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epsilon_mc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Volume fraction of ionomer in catalyst layer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[0.15, 0.4]</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290349736"/>
                  </a:ext>
                </a:extLst>
              </a:tr>
              <a:tr h="237600">
                <a:tc>
                  <a:txBody>
                    <a:bodyPr/>
                    <a:lstStyle/>
                    <a:p>
                      <a:pPr algn="ctr" fontAlgn="ctr"/>
                      <a:r>
                        <a:rPr lang="en-US" sz="1400" b="1" i="0" u="none" strike="noStrike" dirty="0">
                          <a:solidFill>
                            <a:srgbClr val="FFFFFF"/>
                          </a:solidFill>
                          <a:effectLst/>
                          <a:latin typeface="+mn-lt"/>
                        </a:rPr>
                        <a:t>8</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Compression ratio of GDL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a:solidFill>
                            <a:srgbClr val="000000"/>
                          </a:solidFill>
                          <a:effectLst/>
                          <a:latin typeface="+mn-lt"/>
                        </a:rPr>
                        <a:t>[0.15, 0.3]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702110497"/>
                  </a:ext>
                </a:extLst>
              </a:tr>
              <a:tr h="237600">
                <a:tc>
                  <a:txBody>
                    <a:bodyPr/>
                    <a:lstStyle/>
                    <a:p>
                      <a:pPr algn="ctr" fontAlgn="ctr"/>
                      <a:r>
                        <a:rPr lang="en-US" sz="1400" b="1" i="0" u="none" strike="noStrike" dirty="0">
                          <a:solidFill>
                            <a:srgbClr val="FFFFFF"/>
                          </a:solidFill>
                          <a:effectLst/>
                          <a:latin typeface="+mn-lt"/>
                        </a:rPr>
                        <a:t>9</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Capillary exponent (integer)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 4, 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9910064"/>
                  </a:ext>
                </a:extLst>
              </a:tr>
              <a:tr h="237600">
                <a:tc>
                  <a:txBody>
                    <a:bodyPr/>
                    <a:lstStyle/>
                    <a:p>
                      <a:pPr algn="ctr" fontAlgn="ctr"/>
                      <a:r>
                        <a:rPr lang="en-US" sz="1400" b="1" i="0" u="none" strike="noStrike" dirty="0">
                          <a:solidFill>
                            <a:srgbClr val="FFFFFF"/>
                          </a:solidFill>
                          <a:effectLst/>
                          <a:latin typeface="+mn-lt"/>
                        </a:rPr>
                        <a:t>10</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Re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Electron conduction resistance (</a:t>
                      </a:r>
                      <a:r>
                        <a:rPr lang="el-GR" sz="1400" b="0" i="0" u="none" strike="noStrike" dirty="0">
                          <a:solidFill>
                            <a:srgbClr val="000000"/>
                          </a:solidFill>
                          <a:effectLst/>
                          <a:latin typeface="+mn-lt"/>
                        </a:rPr>
                        <a:t>Ω·</a:t>
                      </a:r>
                      <a:r>
                        <a:rPr lang="en-US" sz="1400" b="0" i="0" u="none" strike="noStrike" dirty="0">
                          <a:solidFill>
                            <a:srgbClr val="000000"/>
                          </a:solidFill>
                          <a:effectLst/>
                          <a:latin typeface="+mn-lt"/>
                        </a:rPr>
                        <a:t>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[5.0e-7, 5.0e-6]</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189373911"/>
                  </a:ext>
                </a:extLst>
              </a:tr>
              <a:tr h="237600">
                <a:tc>
                  <a:txBody>
                    <a:bodyPr/>
                    <a:lstStyle/>
                    <a:p>
                      <a:pPr algn="ctr" fontAlgn="ctr"/>
                      <a:r>
                        <a:rPr lang="en-US" sz="1400" b="1" i="0" u="none" strike="noStrike" dirty="0">
                          <a:solidFill>
                            <a:srgbClr val="FFFFFF"/>
                          </a:solidFill>
                          <a:effectLst/>
                          <a:latin typeface="+mn-lt"/>
                        </a:rPr>
                        <a:t>11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i0_c_ref</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Cathode exchange current density (A/m²)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[0.001, 80]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627107602"/>
                  </a:ext>
                </a:extLst>
              </a:tr>
              <a:tr h="237600">
                <a:tc>
                  <a:txBody>
                    <a:bodyPr/>
                    <a:lstStyle/>
                    <a:p>
                      <a:pPr algn="ctr" fontAlgn="ctr"/>
                      <a:r>
                        <a:rPr lang="en-US" sz="1400" b="1" i="0" u="none" strike="noStrike" dirty="0">
                          <a:solidFill>
                            <a:srgbClr val="FFFFFF"/>
                          </a:solidFill>
                          <a:effectLst/>
                          <a:latin typeface="+mn-lt"/>
                        </a:rPr>
                        <a:t>12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kappa_co</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Crossover correction coefficient (mol/(</a:t>
                      </a:r>
                      <a:r>
                        <a:rPr lang="en-US" sz="1400" b="0" i="0" u="none" strike="noStrike" dirty="0" err="1">
                          <a:solidFill>
                            <a:srgbClr val="000000"/>
                          </a:solidFill>
                          <a:effectLst/>
                          <a:latin typeface="+mn-lt"/>
                        </a:rPr>
                        <a:t>m·s·Pa</a:t>
                      </a:r>
                      <a:r>
                        <a:rPr lang="en-US" sz="1400" b="0" i="0" u="none" strike="noStrike" dirty="0">
                          <a:solidFill>
                            <a:srgbClr val="000000"/>
                          </a:solidFill>
                          <a:effectLst/>
                          <a:latin typeface="+mn-lt"/>
                        </a:rPr>
                        <a:t>))</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[15,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878611149"/>
                  </a:ext>
                </a:extLst>
              </a:tr>
              <a:tr h="237600">
                <a:tc>
                  <a:txBody>
                    <a:bodyPr/>
                    <a:lstStyle/>
                    <a:p>
                      <a:pPr algn="ctr" fontAlgn="ctr"/>
                      <a:r>
                        <a:rPr lang="en-US" sz="1400" b="1" i="0" u="none" strike="noStrike" dirty="0">
                          <a:solidFill>
                            <a:srgbClr val="FFFFFF"/>
                          </a:solidFill>
                          <a:effectLst/>
                          <a:latin typeface="+mn-lt"/>
                        </a:rPr>
                        <a:t>13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solidFill>
                  </a:tcPr>
                </a:tc>
                <a:tc>
                  <a:txBody>
                    <a:bodyPr/>
                    <a:lstStyle/>
                    <a:p>
                      <a:pPr algn="ctr" fontAlgn="ctr"/>
                      <a:r>
                        <a:rPr lang="en-US" sz="1400" b="1" i="1" u="none" strike="noStrike" dirty="0" err="1">
                          <a:solidFill>
                            <a:srgbClr val="000000"/>
                          </a:solidFill>
                          <a:effectLst/>
                          <a:latin typeface="+mn-lt"/>
                        </a:rPr>
                        <a:t>kappa_c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Overpotential correction exponent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[0, 2.5]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a:noFill/>
                    </a:lnB>
                    <a:solidFill>
                      <a:srgbClr val="B278E6">
                        <a:alpha val="10000"/>
                      </a:srgbClr>
                    </a:solidFill>
                  </a:tcPr>
                </a:tc>
                <a:extLst>
                  <a:ext uri="{0D108BD9-81ED-4DB2-BD59-A6C34878D82A}">
                    <a16:rowId xmlns:a16="http://schemas.microsoft.com/office/drawing/2014/main" val="2957950070"/>
                  </a:ext>
                </a:extLst>
              </a:tr>
            </a:tbl>
          </a:graphicData>
        </a:graphic>
      </p:graphicFrame>
      <p:sp>
        <p:nvSpPr>
          <p:cNvPr id="9" name="CuadroTexto 8">
            <a:extLst>
              <a:ext uri="{FF2B5EF4-FFF2-40B4-BE49-F238E27FC236}">
                <a16:creationId xmlns:a16="http://schemas.microsoft.com/office/drawing/2014/main" id="{68DD7EE7-7EF2-DD6E-7F56-6FA8A48C6ED2}"/>
              </a:ext>
            </a:extLst>
          </p:cNvPr>
          <p:cNvSpPr txBox="1"/>
          <p:nvPr/>
        </p:nvSpPr>
        <p:spPr>
          <a:xfrm>
            <a:off x="855366" y="5175921"/>
            <a:ext cx="7736052" cy="954107"/>
          </a:xfrm>
          <a:prstGeom prst="rect">
            <a:avLst/>
          </a:prstGeom>
          <a:noFill/>
        </p:spPr>
        <p:txBody>
          <a:bodyPr wrap="square">
            <a:spAutoFit/>
          </a:bodyPr>
          <a:lstStyle/>
          <a:p>
            <a:r>
              <a:rPr lang="en-US" sz="1400" b="1" dirty="0"/>
              <a:t>Table 2:</a:t>
            </a:r>
            <a:r>
              <a:rPr lang="en-US" sz="1400" dirty="0"/>
              <a:t> Final </a:t>
            </a:r>
            <a:r>
              <a:rPr lang="en-US" sz="1400" b="1" dirty="0">
                <a:solidFill>
                  <a:srgbClr val="008B2E"/>
                </a:solidFill>
              </a:rPr>
              <a:t>13 input parameters </a:t>
            </a:r>
            <a:r>
              <a:rPr lang="en-US" sz="1400" dirty="0"/>
              <a:t>for valid </a:t>
            </a:r>
            <a:r>
              <a:rPr lang="en-US" sz="1400" dirty="0" err="1"/>
              <a:t>AlphaPEM</a:t>
            </a:r>
            <a:r>
              <a:rPr lang="en-US" sz="1400" dirty="0"/>
              <a:t> simulations, selected in collaboration with project partners and </a:t>
            </a:r>
            <a:r>
              <a:rPr lang="en-US" sz="1400" dirty="0" err="1"/>
              <a:t>AlphaPEM’s</a:t>
            </a:r>
            <a:r>
              <a:rPr lang="en-US" sz="1400" dirty="0"/>
              <a:t> author Raphael Gass. Operating conditions were intentionally left </a:t>
            </a:r>
            <a:r>
              <a:rPr lang="en-US" sz="1400" b="1" dirty="0">
                <a:solidFill>
                  <a:srgbClr val="B278E6"/>
                </a:solidFill>
              </a:rPr>
              <a:t>unrestricted</a:t>
            </a:r>
            <a:r>
              <a:rPr lang="en-US" sz="1400" dirty="0"/>
              <a:t>; undetermined physical parameters were</a:t>
            </a:r>
            <a:r>
              <a:rPr lang="en-US" sz="1400" b="1" dirty="0"/>
              <a:t> </a:t>
            </a:r>
            <a:r>
              <a:rPr lang="en-US" sz="1400" b="1" dirty="0">
                <a:solidFill>
                  <a:srgbClr val="B278E6"/>
                </a:solidFill>
              </a:rPr>
              <a:t>fixed</a:t>
            </a:r>
            <a:r>
              <a:rPr lang="en-US" sz="1400" b="1" dirty="0"/>
              <a:t> </a:t>
            </a:r>
            <a:r>
              <a:rPr lang="en-US" sz="1400" dirty="0"/>
              <a:t>or constrained based on </a:t>
            </a:r>
            <a:r>
              <a:rPr lang="en-US" sz="1400" b="1" dirty="0">
                <a:solidFill>
                  <a:srgbClr val="B278E6"/>
                </a:solidFill>
              </a:rPr>
              <a:t>IRD-guided</a:t>
            </a:r>
            <a:r>
              <a:rPr lang="en-US" sz="1400" dirty="0"/>
              <a:t> model validity analysis.</a:t>
            </a:r>
            <a:endParaRPr lang="en" sz="1400" dirty="0"/>
          </a:p>
        </p:txBody>
      </p:sp>
      <p:sp>
        <p:nvSpPr>
          <p:cNvPr id="11" name="Rectángulo 10">
            <a:extLst>
              <a:ext uri="{FF2B5EF4-FFF2-40B4-BE49-F238E27FC236}">
                <a16:creationId xmlns:a16="http://schemas.microsoft.com/office/drawing/2014/main" id="{C2B6ED62-5EAF-AB14-4526-91463449E6F8}"/>
              </a:ext>
            </a:extLst>
          </p:cNvPr>
          <p:cNvSpPr/>
          <p:nvPr/>
        </p:nvSpPr>
        <p:spPr>
          <a:xfrm>
            <a:off x="8761128" y="1919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4" name="Rectángulo 13">
            <a:extLst>
              <a:ext uri="{FF2B5EF4-FFF2-40B4-BE49-F238E27FC236}">
                <a16:creationId xmlns:a16="http://schemas.microsoft.com/office/drawing/2014/main" id="{C17BA819-D8D0-F7B9-5273-6B72A2293B6F}"/>
              </a:ext>
            </a:extLst>
          </p:cNvPr>
          <p:cNvSpPr/>
          <p:nvPr/>
        </p:nvSpPr>
        <p:spPr>
          <a:xfrm>
            <a:off x="8761128" y="2157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5" name="Rectángulo 14">
            <a:extLst>
              <a:ext uri="{FF2B5EF4-FFF2-40B4-BE49-F238E27FC236}">
                <a16:creationId xmlns:a16="http://schemas.microsoft.com/office/drawing/2014/main" id="{DF3DBF5E-910C-C5D5-A03C-92427BDE66E2}"/>
              </a:ext>
            </a:extLst>
          </p:cNvPr>
          <p:cNvSpPr/>
          <p:nvPr/>
        </p:nvSpPr>
        <p:spPr>
          <a:xfrm>
            <a:off x="8761128" y="2394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6" name="Rectángulo 15">
            <a:extLst>
              <a:ext uri="{FF2B5EF4-FFF2-40B4-BE49-F238E27FC236}">
                <a16:creationId xmlns:a16="http://schemas.microsoft.com/office/drawing/2014/main" id="{00B2299D-9C7A-381A-B021-9B05D2824FC8}"/>
              </a:ext>
            </a:extLst>
          </p:cNvPr>
          <p:cNvSpPr/>
          <p:nvPr/>
        </p:nvSpPr>
        <p:spPr>
          <a:xfrm>
            <a:off x="8761128" y="26324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8" name="Rectángulo 17">
            <a:extLst>
              <a:ext uri="{FF2B5EF4-FFF2-40B4-BE49-F238E27FC236}">
                <a16:creationId xmlns:a16="http://schemas.microsoft.com/office/drawing/2014/main" id="{6B539AAC-6A3E-E552-74F5-EB9CBF7CF323}"/>
              </a:ext>
            </a:extLst>
          </p:cNvPr>
          <p:cNvSpPr/>
          <p:nvPr/>
        </p:nvSpPr>
        <p:spPr>
          <a:xfrm>
            <a:off x="8761128" y="28700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9" name="Rectángulo 18">
            <a:extLst>
              <a:ext uri="{FF2B5EF4-FFF2-40B4-BE49-F238E27FC236}">
                <a16:creationId xmlns:a16="http://schemas.microsoft.com/office/drawing/2014/main" id="{A5DD2148-8B4E-8699-E83A-1D3082E2B741}"/>
              </a:ext>
            </a:extLst>
          </p:cNvPr>
          <p:cNvSpPr/>
          <p:nvPr/>
        </p:nvSpPr>
        <p:spPr>
          <a:xfrm>
            <a:off x="8761128" y="31076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2" name="Rectángulo 21">
            <a:extLst>
              <a:ext uri="{FF2B5EF4-FFF2-40B4-BE49-F238E27FC236}">
                <a16:creationId xmlns:a16="http://schemas.microsoft.com/office/drawing/2014/main" id="{A94A2C68-8433-94A1-DB0A-B4E04EBAA8BA}"/>
              </a:ext>
            </a:extLst>
          </p:cNvPr>
          <p:cNvSpPr/>
          <p:nvPr/>
        </p:nvSpPr>
        <p:spPr>
          <a:xfrm>
            <a:off x="8761128" y="33452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6" name="Rectángulo 25">
            <a:extLst>
              <a:ext uri="{FF2B5EF4-FFF2-40B4-BE49-F238E27FC236}">
                <a16:creationId xmlns:a16="http://schemas.microsoft.com/office/drawing/2014/main" id="{EC7DD859-EC6C-5E0C-0755-49B0AEBA7677}"/>
              </a:ext>
            </a:extLst>
          </p:cNvPr>
          <p:cNvSpPr/>
          <p:nvPr/>
        </p:nvSpPr>
        <p:spPr>
          <a:xfrm>
            <a:off x="8761128" y="35828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7" name="Rectángulo 26">
            <a:extLst>
              <a:ext uri="{FF2B5EF4-FFF2-40B4-BE49-F238E27FC236}">
                <a16:creationId xmlns:a16="http://schemas.microsoft.com/office/drawing/2014/main" id="{3DD4ECB2-7013-3F1A-F66B-40169B5078E5}"/>
              </a:ext>
            </a:extLst>
          </p:cNvPr>
          <p:cNvSpPr/>
          <p:nvPr/>
        </p:nvSpPr>
        <p:spPr>
          <a:xfrm>
            <a:off x="8761128" y="38204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9" name="Rectángulo 28">
            <a:extLst>
              <a:ext uri="{FF2B5EF4-FFF2-40B4-BE49-F238E27FC236}">
                <a16:creationId xmlns:a16="http://schemas.microsoft.com/office/drawing/2014/main" id="{142B4758-6F3E-78BB-723A-3A57DE6EFB07}"/>
              </a:ext>
            </a:extLst>
          </p:cNvPr>
          <p:cNvSpPr/>
          <p:nvPr/>
        </p:nvSpPr>
        <p:spPr>
          <a:xfrm>
            <a:off x="8761128" y="40580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0" name="Rectángulo 29">
            <a:extLst>
              <a:ext uri="{FF2B5EF4-FFF2-40B4-BE49-F238E27FC236}">
                <a16:creationId xmlns:a16="http://schemas.microsoft.com/office/drawing/2014/main" id="{591172B9-A4B9-538A-77EB-8A82E62A8FBA}"/>
              </a:ext>
            </a:extLst>
          </p:cNvPr>
          <p:cNvSpPr/>
          <p:nvPr/>
        </p:nvSpPr>
        <p:spPr>
          <a:xfrm>
            <a:off x="8761128" y="4295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2" name="Rectángulo 31">
            <a:extLst>
              <a:ext uri="{FF2B5EF4-FFF2-40B4-BE49-F238E27FC236}">
                <a16:creationId xmlns:a16="http://schemas.microsoft.com/office/drawing/2014/main" id="{C0DE23D1-6D5F-7DC3-9E90-B37EE123B264}"/>
              </a:ext>
            </a:extLst>
          </p:cNvPr>
          <p:cNvSpPr/>
          <p:nvPr/>
        </p:nvSpPr>
        <p:spPr>
          <a:xfrm>
            <a:off x="8761128" y="4533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3" name="Rectángulo 32">
            <a:extLst>
              <a:ext uri="{FF2B5EF4-FFF2-40B4-BE49-F238E27FC236}">
                <a16:creationId xmlns:a16="http://schemas.microsoft.com/office/drawing/2014/main" id="{70EC3FE6-32CB-9091-303D-BB326E726F91}"/>
              </a:ext>
            </a:extLst>
          </p:cNvPr>
          <p:cNvSpPr/>
          <p:nvPr/>
        </p:nvSpPr>
        <p:spPr>
          <a:xfrm>
            <a:off x="8761128" y="4770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cxnSp>
        <p:nvCxnSpPr>
          <p:cNvPr id="36" name="Conector: curvado 35">
            <a:extLst>
              <a:ext uri="{FF2B5EF4-FFF2-40B4-BE49-F238E27FC236}">
                <a16:creationId xmlns:a16="http://schemas.microsoft.com/office/drawing/2014/main" id="{28E2DC67-B499-4FE7-1146-46B49732527B}"/>
              </a:ext>
            </a:extLst>
          </p:cNvPr>
          <p:cNvCxnSpPr>
            <a:cxnSpLocks/>
            <a:stCxn id="11" idx="0"/>
            <a:endCxn id="37" idx="1"/>
          </p:cNvCxnSpPr>
          <p:nvPr/>
        </p:nvCxnSpPr>
        <p:spPr>
          <a:xfrm rot="5400000" flipH="1" flipV="1">
            <a:off x="9207162" y="1492473"/>
            <a:ext cx="131277" cy="72313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CuadroTexto 36">
            <a:extLst>
              <a:ext uri="{FF2B5EF4-FFF2-40B4-BE49-F238E27FC236}">
                <a16:creationId xmlns:a16="http://schemas.microsoft.com/office/drawing/2014/main" id="{882E20A1-A2C4-3499-549C-F22C93519D66}"/>
              </a:ext>
            </a:extLst>
          </p:cNvPr>
          <p:cNvSpPr txBox="1"/>
          <p:nvPr/>
        </p:nvSpPr>
        <p:spPr>
          <a:xfrm>
            <a:off x="9634368" y="1526792"/>
            <a:ext cx="1702266" cy="523220"/>
          </a:xfrm>
          <a:prstGeom prst="rect">
            <a:avLst/>
          </a:prstGeom>
          <a:noFill/>
        </p:spPr>
        <p:txBody>
          <a:bodyPr wrap="square" rtlCol="0">
            <a:spAutoFit/>
          </a:bodyPr>
          <a:lstStyle/>
          <a:p>
            <a:r>
              <a:rPr lang="en" sz="1400" dirty="0"/>
              <a:t>Color palette for visualizations</a:t>
            </a:r>
          </a:p>
        </p:txBody>
      </p:sp>
      <p:grpSp>
        <p:nvGrpSpPr>
          <p:cNvPr id="40" name="Grupo 39">
            <a:extLst>
              <a:ext uri="{FF2B5EF4-FFF2-40B4-BE49-F238E27FC236}">
                <a16:creationId xmlns:a16="http://schemas.microsoft.com/office/drawing/2014/main" id="{71804780-1444-96F1-A8EB-277FFC770E28}"/>
              </a:ext>
            </a:extLst>
          </p:cNvPr>
          <p:cNvGrpSpPr/>
          <p:nvPr/>
        </p:nvGrpSpPr>
        <p:grpSpPr>
          <a:xfrm>
            <a:off x="9355604" y="2751279"/>
            <a:ext cx="2253084" cy="3326400"/>
            <a:chOff x="8435596" y="1657710"/>
            <a:chExt cx="3255550" cy="1691834"/>
          </a:xfrm>
        </p:grpSpPr>
        <p:sp>
          <p:nvSpPr>
            <p:cNvPr id="41" name="Google Shape;1857;p37">
              <a:extLst>
                <a:ext uri="{FF2B5EF4-FFF2-40B4-BE49-F238E27FC236}">
                  <a16:creationId xmlns:a16="http://schemas.microsoft.com/office/drawing/2014/main" id="{A7DCB7AB-7D95-1E5B-1E47-E5462A92FA35}"/>
                </a:ext>
              </a:extLst>
            </p:cNvPr>
            <p:cNvSpPr/>
            <p:nvPr/>
          </p:nvSpPr>
          <p:spPr bwMode="auto">
            <a:xfrm>
              <a:off x="8500838" y="1738194"/>
              <a:ext cx="3190308" cy="1611350"/>
            </a:xfrm>
            <a:prstGeom prst="rect">
              <a:avLst/>
            </a:prstGeom>
            <a:solidFill>
              <a:srgbClr val="008B2E">
                <a:alpha val="10000"/>
              </a:srgbClr>
            </a:solidFill>
            <a:ln>
              <a:noFill/>
            </a:ln>
          </p:spPr>
          <p:txBody>
            <a:bodyPr spcFirstLastPara="1" wrap="square" lIns="121900" tIns="121900" rIns="121900" bIns="121900" anchor="ctr" anchorCtr="0">
              <a:noAutofit/>
            </a:bodyPr>
            <a:lstStyle/>
            <a:p>
              <a:endParaRPr lang="en-US" sz="800" dirty="0"/>
            </a:p>
            <a:p>
              <a:endParaRPr lang="en-US" sz="1200" dirty="0"/>
            </a:p>
            <a:p>
              <a:r>
                <a:rPr lang="en-US" sz="1300" dirty="0"/>
                <a:t>The following parameters were fixed to simplify the model:</a:t>
              </a:r>
            </a:p>
            <a:p>
              <a:endParaRPr lang="en-US" sz="1300" dirty="0"/>
            </a:p>
            <a:p>
              <a:pPr marL="171450" indent="-171450">
                <a:buFont typeface="Arial" panose="020B0604020202020204" pitchFamily="34" charset="0"/>
                <a:buChar char="•"/>
              </a:pPr>
              <a:r>
                <a:rPr lang="en-US" sz="1300" i="1" dirty="0"/>
                <a:t>Sa</a:t>
              </a:r>
              <a:r>
                <a:rPr lang="en-US" sz="1300" dirty="0"/>
                <a:t> = 1.3</a:t>
              </a:r>
            </a:p>
            <a:p>
              <a:pPr marL="171450" indent="-171450">
                <a:buFont typeface="Arial" panose="020B0604020202020204" pitchFamily="34" charset="0"/>
                <a:buChar char="•"/>
              </a:pPr>
              <a:r>
                <a:rPr lang="en-US" sz="1300" i="1" dirty="0" err="1"/>
                <a:t>Phi_a_des</a:t>
              </a:r>
              <a:r>
                <a:rPr lang="en-US" sz="1300" dirty="0"/>
                <a:t> = 0.5</a:t>
              </a:r>
            </a:p>
            <a:p>
              <a:endParaRPr lang="en-US" sz="1300" dirty="0"/>
            </a:p>
            <a:p>
              <a:pPr marL="171450" indent="-171450">
                <a:buFont typeface="Arial" panose="020B0604020202020204" pitchFamily="34" charset="0"/>
                <a:buChar char="•"/>
              </a:pPr>
              <a:r>
                <a:rPr lang="en-US" sz="1300" i="1" dirty="0"/>
                <a:t> </a:t>
              </a:r>
              <a:r>
                <a:rPr lang="en-US" sz="1300" i="1" dirty="0" err="1"/>
                <a:t>a_slim</a:t>
              </a:r>
              <a:r>
                <a:rPr lang="en-US" sz="1300" i="1" dirty="0"/>
                <a:t> </a:t>
              </a:r>
              <a:r>
                <a:rPr lang="en-US" sz="1300" dirty="0"/>
                <a:t>= 0</a:t>
              </a:r>
            </a:p>
            <a:p>
              <a:pPr marL="171450" indent="-171450">
                <a:buFont typeface="Arial" panose="020B0604020202020204" pitchFamily="34" charset="0"/>
                <a:buChar char="•"/>
              </a:pPr>
              <a:r>
                <a:rPr lang="en-US" sz="1300" dirty="0"/>
                <a:t> </a:t>
              </a:r>
              <a:r>
                <a:rPr lang="en-US" sz="1300" i="1" dirty="0" err="1"/>
                <a:t>b_slim</a:t>
              </a:r>
              <a:r>
                <a:rPr lang="en-US" sz="1300" i="1" dirty="0"/>
                <a:t> </a:t>
              </a:r>
              <a:r>
                <a:rPr lang="en-US" sz="1300" dirty="0"/>
                <a:t>= 1</a:t>
              </a:r>
            </a:p>
            <a:p>
              <a:pPr marL="171450" indent="-171450">
                <a:buFont typeface="Arial" panose="020B0604020202020204" pitchFamily="34" charset="0"/>
                <a:buChar char="•"/>
              </a:pPr>
              <a:r>
                <a:rPr lang="en-US" sz="1300" dirty="0" err="1"/>
                <a:t>a_switch</a:t>
              </a:r>
              <a:r>
                <a:rPr lang="en-US" sz="1300" dirty="0"/>
                <a:t> = 0.99</a:t>
              </a:r>
            </a:p>
            <a:p>
              <a:endParaRPr lang="en-US" sz="1300" dirty="0"/>
            </a:p>
            <a:p>
              <a:pPr marL="171450" indent="-171450">
                <a:buFont typeface="Arial" panose="020B0604020202020204" pitchFamily="34" charset="0"/>
                <a:buChar char="•"/>
              </a:pPr>
              <a:r>
                <a:rPr lang="en-US" sz="1300" i="1" dirty="0"/>
                <a:t>    </a:t>
              </a:r>
              <a:r>
                <a:rPr lang="en-US" sz="1300" i="1" dirty="0" err="1"/>
                <a:t>Pc_des</a:t>
              </a:r>
              <a:r>
                <a:rPr lang="en-US" sz="1300" i="1" dirty="0"/>
                <a:t> </a:t>
              </a:r>
              <a:r>
                <a:rPr lang="en-US" sz="1300" dirty="0"/>
                <a:t>is derived from </a:t>
              </a:r>
              <a:r>
                <a:rPr lang="en-US" sz="1300" i="1" dirty="0" err="1"/>
                <a:t>Pa_des</a:t>
              </a:r>
              <a:r>
                <a:rPr lang="en-US" sz="1300" i="1" dirty="0"/>
                <a:t> </a:t>
              </a:r>
              <a:r>
                <a:rPr lang="en-US" sz="1300" dirty="0"/>
                <a:t>− 20000 Pa</a:t>
              </a:r>
              <a:endParaRPr sz="1300" kern="0" dirty="0">
                <a:solidFill>
                  <a:srgbClr val="000000"/>
                </a:solidFill>
                <a:cs typeface="Arial"/>
                <a:sym typeface="Arial"/>
              </a:endParaRPr>
            </a:p>
          </p:txBody>
        </p:sp>
        <p:sp>
          <p:nvSpPr>
            <p:cNvPr id="42" name="Google Shape;1859;p37">
              <a:extLst>
                <a:ext uri="{FF2B5EF4-FFF2-40B4-BE49-F238E27FC236}">
                  <a16:creationId xmlns:a16="http://schemas.microsoft.com/office/drawing/2014/main" id="{C90E7DCB-D298-F8B4-CE05-F2C6385D4913}"/>
                </a:ext>
              </a:extLst>
            </p:cNvPr>
            <p:cNvSpPr/>
            <p:nvPr/>
          </p:nvSpPr>
          <p:spPr bwMode="auto">
            <a:xfrm>
              <a:off x="8435596" y="1657710"/>
              <a:ext cx="3255550" cy="273044"/>
            </a:xfrm>
            <a:prstGeom prst="roundRect">
              <a:avLst>
                <a:gd name="adj" fmla="val 50000"/>
              </a:avLst>
            </a:prstGeom>
            <a:solidFill>
              <a:srgbClr val="008B2E"/>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err="1">
                  <a:solidFill>
                    <a:schemeClr val="bg1"/>
                  </a:solidFill>
                  <a:latin typeface="+mj-lt"/>
                  <a:cs typeface="Arial"/>
                  <a:sym typeface="Arial"/>
                </a:rPr>
                <a:t>Fixed</a:t>
              </a:r>
              <a:r>
                <a:rPr lang="es-MX" sz="1400" b="1" kern="0" dirty="0">
                  <a:solidFill>
                    <a:schemeClr val="bg1"/>
                  </a:solidFill>
                  <a:latin typeface="+mj-lt"/>
                  <a:cs typeface="Arial"/>
                  <a:sym typeface="Arial"/>
                </a:rPr>
                <a:t> </a:t>
              </a:r>
              <a:r>
                <a:rPr lang="es-MX" sz="1400" b="1" kern="0" dirty="0" err="1">
                  <a:solidFill>
                    <a:schemeClr val="bg1"/>
                  </a:solidFill>
                  <a:latin typeface="+mj-lt"/>
                  <a:cs typeface="Arial"/>
                  <a:sym typeface="Arial"/>
                </a:rPr>
                <a:t>parameters</a:t>
              </a:r>
              <a:endParaRPr sz="1400" b="1" kern="0" dirty="0">
                <a:solidFill>
                  <a:schemeClr val="bg1"/>
                </a:solidFill>
                <a:latin typeface="+mj-lt"/>
                <a:cs typeface="Arial"/>
                <a:sym typeface="Arial"/>
              </a:endParaRPr>
            </a:p>
          </p:txBody>
        </p:sp>
      </p:grpSp>
    </p:spTree>
    <p:extLst>
      <p:ext uri="{BB962C8B-B14F-4D97-AF65-F5344CB8AC3E}">
        <p14:creationId xmlns:p14="http://schemas.microsoft.com/office/powerpoint/2010/main" val="1468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15</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50798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5027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16</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 (validity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3109463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17</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3809016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3. </a:t>
            </a:r>
            <a:r>
              <a:rPr lang="es-CO" sz="9600" i="1" dirty="0" err="1">
                <a:solidFill>
                  <a:schemeClr val="bg1"/>
                </a:solidFill>
                <a:latin typeface="Source Sans Pro Light" panose="020B0503030403020204" pitchFamily="34" charset="0"/>
                <a:ea typeface="Source Sans Pro Light" panose="020B0503030403020204" pitchFamily="34" charset="0"/>
              </a:rPr>
              <a:t>Sensitivity</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analysis</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FB09FBE8-A3D0-487B-A360-154FA7270443}"/>
              </a:ext>
            </a:extLst>
          </p:cNvPr>
          <p:cNvSpPr txBox="1"/>
          <p:nvPr/>
        </p:nvSpPr>
        <p:spPr>
          <a:xfrm>
            <a:off x="4924472" y="1079439"/>
            <a:ext cx="2439366" cy="830997"/>
          </a:xfrm>
          <a:prstGeom prst="rect">
            <a:avLst/>
          </a:prstGeom>
          <a:solidFill>
            <a:schemeClr val="bg1">
              <a:lumMod val="95000"/>
            </a:schemeClr>
          </a:solidFill>
        </p:spPr>
        <p:txBody>
          <a:bodyPr wrap="square" rtlCol="0">
            <a:spAutoFit/>
          </a:bodyPr>
          <a:lstStyle/>
          <a:p>
            <a:pPr algn="ctr"/>
            <a:r>
              <a:rPr lang="es-ES" sz="4800" b="1" dirty="0">
                <a:solidFill>
                  <a:srgbClr val="FF0000"/>
                </a:solidFill>
              </a:rPr>
              <a:t>Camila</a:t>
            </a:r>
            <a:endParaRPr lang="es-CO" sz="4800" b="1" dirty="0">
              <a:solidFill>
                <a:srgbClr val="FF0000"/>
              </a:solidFill>
            </a:endParaRPr>
          </a:p>
        </p:txBody>
      </p:sp>
    </p:spTree>
    <p:extLst>
      <p:ext uri="{BB962C8B-B14F-4D97-AF65-F5344CB8AC3E}">
        <p14:creationId xmlns:p14="http://schemas.microsoft.com/office/powerpoint/2010/main" val="221692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887663" y="2700095"/>
            <a:ext cx="5016376" cy="8315810"/>
          </a:xfrm>
          <a:prstGeom prst="roundRect">
            <a:avLst/>
          </a:prstGeom>
          <a:solidFill>
            <a:srgbClr val="B278E6">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19</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1066630" y="1053077"/>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rgbClr val="004617"/>
                </a:solidFill>
                <a:latin typeface="Source Sans Pro" panose="020B0503030403020204" pitchFamily="34" charset="0"/>
                <a:ea typeface="Source Sans Pro" panose="020B0503030403020204" pitchFamily="34" charset="0"/>
              </a:rPr>
              <a:t>What</a:t>
            </a:r>
            <a:r>
              <a:rPr lang="es-CO" sz="3200" dirty="0">
                <a:solidFill>
                  <a:srgbClr val="004617"/>
                </a:solidFill>
                <a:latin typeface="Source Sans Pro" panose="020B0503030403020204" pitchFamily="34" charset="0"/>
                <a:ea typeface="Source Sans Pro" panose="020B0503030403020204" pitchFamily="34" charset="0"/>
              </a:rPr>
              <a:t> </a:t>
            </a:r>
            <a:r>
              <a:rPr lang="es-CO" sz="3200" dirty="0" err="1">
                <a:solidFill>
                  <a:srgbClr val="004617"/>
                </a:solidFill>
                <a:latin typeface="Source Sans Pro" panose="020B0503030403020204" pitchFamily="34" charset="0"/>
                <a:ea typeface="Source Sans Pro" panose="020B0503030403020204" pitchFamily="34" charset="0"/>
              </a:rPr>
              <a:t>is</a:t>
            </a:r>
            <a:r>
              <a:rPr lang="es-CO" sz="3200" dirty="0">
                <a:solidFill>
                  <a:srgbClr val="004617"/>
                </a:solidFill>
                <a:latin typeface="Source Sans Pro" panose="020B0503030403020204" pitchFamily="34" charset="0"/>
                <a:ea typeface="Source Sans Pro" panose="020B0503030403020204" pitchFamily="34" charset="0"/>
              </a:rPr>
              <a:t> </a:t>
            </a:r>
            <a:r>
              <a:rPr lang="es-CO" sz="3200" b="1" dirty="0">
                <a:solidFill>
                  <a:srgbClr val="004617"/>
                </a:solidFill>
                <a:latin typeface="Source Sans Pro" panose="020B0503030403020204" pitchFamily="34" charset="0"/>
                <a:ea typeface="Source Sans Pro" panose="020B0503030403020204" pitchFamily="34" charset="0"/>
              </a:rPr>
              <a:t>a </a:t>
            </a:r>
            <a:r>
              <a:rPr lang="es-CO" sz="3200" b="1" dirty="0" err="1">
                <a:solidFill>
                  <a:srgbClr val="004617"/>
                </a:solidFill>
                <a:latin typeface="Source Sans Pro" panose="020B0503030403020204" pitchFamily="34" charset="0"/>
                <a:ea typeface="Source Sans Pro" panose="020B0503030403020204" pitchFamily="34" charset="0"/>
              </a:rPr>
              <a:t>sensitivity</a:t>
            </a:r>
            <a:r>
              <a:rPr lang="es-CO" sz="3200" b="1" dirty="0">
                <a:solidFill>
                  <a:srgbClr val="004617"/>
                </a:solidFill>
                <a:latin typeface="Source Sans Pro" panose="020B0503030403020204" pitchFamily="34" charset="0"/>
                <a:ea typeface="Source Sans Pro" panose="020B0503030403020204" pitchFamily="34" charset="0"/>
              </a:rPr>
              <a:t> </a:t>
            </a:r>
            <a:r>
              <a:rPr lang="es-CO" sz="3200" b="1" dirty="0" err="1">
                <a:solidFill>
                  <a:srgbClr val="004617"/>
                </a:solidFill>
                <a:latin typeface="Source Sans Pro" panose="020B0503030403020204" pitchFamily="34" charset="0"/>
                <a:ea typeface="Source Sans Pro" panose="020B0503030403020204" pitchFamily="34" charset="0"/>
              </a:rPr>
              <a:t>analysis</a:t>
            </a:r>
            <a:r>
              <a:rPr lang="es-CO" sz="3200" dirty="0">
                <a:solidFill>
                  <a:srgbClr val="004617"/>
                </a:solidFill>
                <a:latin typeface="Source Sans Pro" panose="020B0503030403020204" pitchFamily="34" charset="0"/>
                <a:ea typeface="Source Sans Pro" panose="020B0503030403020204" pitchFamily="34" charset="0"/>
              </a:rPr>
              <a:t>?</a:t>
            </a:r>
          </a:p>
          <a:p>
            <a:pPr marL="701675" indent="-342900">
              <a:buFont typeface="Wingdings" panose="05000000000000000000" pitchFamily="2" charset="2"/>
              <a:buChar char="§"/>
            </a:pPr>
            <a:r>
              <a:rPr lang="en-US" sz="2000" dirty="0">
                <a:solidFill>
                  <a:schemeClr val="tx1"/>
                </a:solidFill>
              </a:rPr>
              <a:t>It is a method used to determine </a:t>
            </a:r>
            <a:r>
              <a:rPr lang="en-US" sz="2000" b="1" dirty="0">
                <a:solidFill>
                  <a:schemeClr val="tx1"/>
                </a:solidFill>
              </a:rPr>
              <a:t>how changes in input variables influence the output of a model. </a:t>
            </a:r>
          </a:p>
          <a:p>
            <a:pPr marL="701675" indent="-342900">
              <a:buFont typeface="Wingdings" panose="05000000000000000000" pitchFamily="2" charset="2"/>
              <a:buChar char="§"/>
            </a:pPr>
            <a:r>
              <a:rPr lang="en-US" sz="2000" dirty="0">
                <a:solidFill>
                  <a:schemeClr val="tx1"/>
                </a:solidFill>
              </a:rPr>
              <a:t>It helps identify which </a:t>
            </a:r>
            <a:r>
              <a:rPr lang="en-US" sz="2000" b="1" dirty="0">
                <a:solidFill>
                  <a:schemeClr val="tx1"/>
                </a:solidFill>
              </a:rPr>
              <a:t>inputs</a:t>
            </a:r>
            <a:r>
              <a:rPr lang="en-US" sz="2000" dirty="0">
                <a:solidFill>
                  <a:schemeClr val="tx1"/>
                </a:solidFill>
              </a:rPr>
              <a:t> have the </a:t>
            </a:r>
            <a:r>
              <a:rPr lang="en-US" sz="2000" u="sng" dirty="0">
                <a:solidFill>
                  <a:schemeClr val="tx1"/>
                </a:solidFill>
              </a:rPr>
              <a:t>most significant effect on the results </a:t>
            </a:r>
            <a:r>
              <a:rPr lang="en-US" sz="2000" dirty="0">
                <a:solidFill>
                  <a:schemeClr val="tx1"/>
                </a:solidFill>
              </a:rPr>
              <a:t>and how robust the model is to variations or uncertainty in those inputs.</a:t>
            </a:r>
          </a:p>
          <a:p>
            <a:pPr marL="358775"/>
            <a:endParaRPr lang="en-US" sz="2000" dirty="0">
              <a:solidFill>
                <a:schemeClr val="tx1">
                  <a:lumMod val="75000"/>
                  <a:lumOff val="25000"/>
                </a:schemeClr>
              </a:solidFill>
            </a:endParaRPr>
          </a:p>
          <a:p>
            <a:pPr marL="358775"/>
            <a:endParaRPr lang="en-US" sz="2000" dirty="0">
              <a:solidFill>
                <a:schemeClr val="tx1">
                  <a:lumMod val="75000"/>
                  <a:lumOff val="25000"/>
                </a:schemeClr>
              </a:solidFill>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8191728" y="3159373"/>
            <a:ext cx="3817392" cy="3231654"/>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What is the Goal?</a:t>
            </a:r>
          </a:p>
          <a:p>
            <a:pPr>
              <a:buFont typeface="Arial" panose="020B0604020202020204" pitchFamily="34" charset="0"/>
              <a:buChar char="•"/>
            </a:pPr>
            <a:endParaRPr lang="en-US" b="1" dirty="0"/>
          </a:p>
          <a:p>
            <a:pPr marL="285750" indent="-285750">
              <a:buFont typeface="Arial" panose="020B0604020202020204" pitchFamily="34" charset="0"/>
              <a:buChar char="•"/>
            </a:pPr>
            <a:r>
              <a:rPr lang="en-US" b="1" dirty="0"/>
              <a:t>Quantify</a:t>
            </a:r>
            <a:r>
              <a:rPr lang="en-US" dirty="0"/>
              <a:t> the influence of each input on the output.</a:t>
            </a:r>
          </a:p>
          <a:p>
            <a:pPr marL="285750" indent="-285750">
              <a:buFont typeface="Arial" panose="020B0604020202020204" pitchFamily="34" charset="0"/>
              <a:buChar char="•"/>
            </a:pPr>
            <a:r>
              <a:rPr lang="en-US" b="1" dirty="0"/>
              <a:t>Prioritize</a:t>
            </a:r>
            <a:r>
              <a:rPr lang="en-US" dirty="0"/>
              <a:t> the most impactful variables.</a:t>
            </a:r>
          </a:p>
          <a:p>
            <a:pPr marL="285750" indent="-285750">
              <a:buFont typeface="Arial" panose="020B0604020202020204" pitchFamily="34" charset="0"/>
              <a:buChar char="•"/>
            </a:pPr>
            <a:r>
              <a:rPr lang="en-US" b="1" dirty="0"/>
              <a:t>Guide</a:t>
            </a:r>
            <a:r>
              <a:rPr lang="en-US" dirty="0"/>
              <a:t> model simplification, optimization.</a:t>
            </a:r>
          </a:p>
          <a:p>
            <a:pPr marL="285750" indent="-285750">
              <a:buFont typeface="Arial" panose="020B0604020202020204" pitchFamily="34" charset="0"/>
              <a:buChar char="•"/>
            </a:pPr>
            <a:r>
              <a:rPr lang="en-US" dirty="0"/>
              <a:t>I</a:t>
            </a:r>
            <a:r>
              <a:rPr lang="en-US" b="1" dirty="0"/>
              <a:t>ncrease understanding</a:t>
            </a:r>
            <a:r>
              <a:rPr lang="en-US" dirty="0"/>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20</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Sobol</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Indices</a:t>
            </a:r>
            <a:endParaRPr lang="es-ES_tradnl" sz="4000" b="1" dirty="0">
              <a:latin typeface="Source Sans Pro Light" panose="020B0403030403020204" pitchFamily="34" charset="0"/>
              <a:ea typeface="Source Sans Pro Light" panose="020B0403030403020204" pitchFamily="34" charset="0"/>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eaLnBrk="0" fontAlgn="base" hangingPunct="0">
              <a:lnSpc>
                <a:spcPct val="150000"/>
              </a:lnSpc>
              <a:spcBef>
                <a:spcPct val="0"/>
              </a:spcBef>
              <a:spcAft>
                <a:spcPct val="0"/>
              </a:spcAft>
            </a:pPr>
            <a:r>
              <a:rPr lang="en-US" sz="2000" dirty="0"/>
              <a:t>Sobol analysis assumes the model can be </a:t>
            </a:r>
            <a:r>
              <a:rPr lang="en-US" sz="2000" b="1" dirty="0"/>
              <a:t>decomposed additively</a:t>
            </a:r>
            <a:endParaRPr lang="en-US" sz="2000" dirty="0"/>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eaLnBrk="0" fontAlgn="base" hangingPunct="0">
              <a:spcBef>
                <a:spcPct val="0"/>
              </a:spcBef>
              <a:spcAft>
                <a:spcPct val="0"/>
              </a:spcAft>
            </a:pPr>
            <a:r>
              <a:rPr lang="en-US" sz="1800" b="1" dirty="0"/>
              <a:t> First-order (S1)</a:t>
            </a:r>
            <a:r>
              <a:rPr lang="en-US" sz="1800" dirty="0"/>
              <a:t> : </a:t>
            </a:r>
            <a:r>
              <a:rPr lang="en-US" sz="1600" dirty="0"/>
              <a:t>Individual effect</a:t>
            </a:r>
            <a:endParaRPr lang="en-US" sz="1800" dirty="0"/>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eaLnBrk="0" fontAlgn="base" hangingPunct="0">
              <a:spcBef>
                <a:spcPct val="0"/>
              </a:spcBef>
              <a:spcAft>
                <a:spcPct val="0"/>
              </a:spcAft>
            </a:pPr>
            <a:r>
              <a:rPr lang="en-US" sz="2000" dirty="0"/>
              <a:t>Since the model is decomposed this way, the </a:t>
            </a:r>
            <a:r>
              <a:rPr lang="en-US" sz="2000" b="1" dirty="0"/>
              <a:t>total variance </a:t>
            </a:r>
            <a:r>
              <a:rPr lang="en-US" sz="2000" dirty="0"/>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indent="-342900" eaLnBrk="0" fontAlgn="base" hangingPunct="0">
              <a:spcBef>
                <a:spcPct val="0"/>
              </a:spcBef>
              <a:spcAft>
                <a:spcPct val="0"/>
              </a:spcAft>
              <a:buFont typeface="Wingdings" panose="05000000000000000000" pitchFamily="2" charset="2"/>
              <a:buChar char="ü"/>
            </a:pPr>
            <a:r>
              <a:rPr lang="en-US" sz="1800" b="1" dirty="0">
                <a:solidFill>
                  <a:srgbClr val="8879F5"/>
                </a:solidFill>
              </a:rPr>
              <a:t>Sobol indices </a:t>
            </a:r>
            <a:r>
              <a:rPr lang="en-US" sz="1800" dirty="0"/>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eaLnBrk="0" fontAlgn="base" hangingPunct="0">
              <a:spcBef>
                <a:spcPct val="0"/>
              </a:spcBef>
              <a:spcAft>
                <a:spcPct val="0"/>
              </a:spcAft>
            </a:pPr>
            <a:r>
              <a:rPr lang="en-US" sz="1800" b="1" dirty="0"/>
              <a:t>Total-order (ST)</a:t>
            </a:r>
            <a:r>
              <a:rPr lang="en-US" b="1" dirty="0"/>
              <a:t>: </a:t>
            </a:r>
            <a:r>
              <a:rPr lang="en-US" sz="1600" dirty="0"/>
              <a:t>Total effect including interactions</a:t>
            </a:r>
            <a:endParaRPr lang="es-CO" sz="1800" dirty="0"/>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𝑆</m:t>
                          </m:r>
                        </m:e>
                        <m:sub>
                          <m:r>
                            <a:rPr lang="es-ES" sz="1600" b="0" i="1" smtClean="0">
                              <a:latin typeface="Cambria Math" panose="02040503050406030204" pitchFamily="18" charset="0"/>
                            </a:rPr>
                            <m:t>𝑖</m:t>
                          </m:r>
                        </m:sub>
                      </m:sSub>
                      <m:r>
                        <a:rPr lang="es-CO" sz="1600" i="1" smtClean="0">
                          <a:latin typeface="Cambria Math" panose="02040503050406030204" pitchFamily="18" charset="0"/>
                        </a:rPr>
                        <m:t>=</m:t>
                      </m:r>
                      <m:f>
                        <m:fPr>
                          <m:ctrlPr>
                            <a:rPr lang="es-CO" sz="1600" i="1" smtClean="0">
                              <a:latin typeface="Cambria Math" panose="02040503050406030204" pitchFamily="18" charset="0"/>
                            </a:rPr>
                          </m:ctrlPr>
                        </m:fPr>
                        <m:num>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𝑉</m:t>
                              </m:r>
                            </m:e>
                            <m:sub>
                              <m:r>
                                <a:rPr lang="es-ES" sz="1600" b="0" i="1" smtClean="0">
                                  <a:latin typeface="Cambria Math" panose="02040503050406030204" pitchFamily="18" charset="0"/>
                                </a:rPr>
                                <m:t>𝑖</m:t>
                              </m:r>
                            </m:sub>
                          </m:sSub>
                        </m:num>
                        <m:den>
                          <m:r>
                            <a:rPr lang="es-ES" sz="1600" b="0" i="1" smtClean="0">
                              <a:latin typeface="Cambria Math" panose="02040503050406030204" pitchFamily="18" charset="0"/>
                            </a:rPr>
                            <m:t>𝑉𝑎𝑟</m:t>
                          </m:r>
                          <m:r>
                            <a:rPr lang="es-ES" sz="1600" b="0" i="1" smtClean="0">
                              <a:latin typeface="Cambria Math" panose="02040503050406030204" pitchFamily="18" charset="0"/>
                            </a:rPr>
                            <m:t>(</m:t>
                          </m:r>
                          <m:r>
                            <a:rPr lang="es-ES" sz="1600" b="0" i="1" smtClean="0">
                              <a:latin typeface="Cambria Math" panose="02040503050406030204" pitchFamily="18" charset="0"/>
                            </a:rPr>
                            <m:t>𝑓</m:t>
                          </m:r>
                          <m:r>
                            <a:rPr lang="es-ES" sz="1600" b="0" i="1" smtClean="0">
                              <a:latin typeface="Cambria Math" panose="02040503050406030204" pitchFamily="18" charset="0"/>
                            </a:rPr>
                            <m:t>)</m:t>
                          </m:r>
                        </m:den>
                      </m:f>
                    </m:oMath>
                  </m:oMathPara>
                </a14:m>
                <a:endParaRPr lang="es-CO" sz="1600" dirty="0"/>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eaLnBrk="0" fontAlgn="base" hangingPunct="0">
              <a:spcBef>
                <a:spcPct val="0"/>
              </a:spcBef>
              <a:spcAft>
                <a:spcPct val="0"/>
              </a:spcAft>
            </a:pPr>
            <a:r>
              <a:rPr lang="en-US" sz="1800" b="1" dirty="0"/>
              <a:t>Second-order (S2)</a:t>
            </a:r>
            <a:r>
              <a:rPr lang="en-US" b="1" dirty="0"/>
              <a:t>:</a:t>
            </a:r>
            <a:r>
              <a:rPr lang="en-US" sz="1800" dirty="0"/>
              <a:t> </a:t>
            </a:r>
          </a:p>
          <a:p>
            <a:pPr eaLnBrk="0" fontAlgn="base" hangingPunct="0">
              <a:spcBef>
                <a:spcPct val="0"/>
              </a:spcBef>
              <a:spcAft>
                <a:spcPct val="0"/>
              </a:spcAft>
            </a:pPr>
            <a:r>
              <a:rPr lang="en-US" sz="1600" dirty="0"/>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𝑆</m:t>
                          </m:r>
                        </m:e>
                        <m:sub>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𝑇</m:t>
                              </m:r>
                            </m:e>
                            <m:sub>
                              <m:r>
                                <a:rPr lang="es-ES" sz="1200" b="0" i="1" smtClean="0">
                                  <a:latin typeface="Cambria Math" panose="02040503050406030204" pitchFamily="18" charset="0"/>
                                </a:rPr>
                                <m:t>𝑖</m:t>
                              </m:r>
                            </m:sub>
                          </m:sSub>
                        </m:sub>
                      </m:sSub>
                      <m:r>
                        <a:rPr lang="es-ES" sz="1200" b="0" i="1" smtClean="0">
                          <a:latin typeface="Cambria Math" panose="02040503050406030204" pitchFamily="18" charset="0"/>
                        </a:rPr>
                        <m:t>=</m:t>
                      </m:r>
                      <m:f>
                        <m:fPr>
                          <m:ctrlPr>
                            <a:rPr lang="es-ES" sz="1200" b="0" i="1" smtClean="0">
                              <a:latin typeface="Cambria Math" panose="02040503050406030204" pitchFamily="18" charset="0"/>
                            </a:rPr>
                          </m:ctrlPr>
                        </m:fPr>
                        <m:num>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𝑉</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m:t>
                          </m:r>
                          <m:r>
                            <m:rPr>
                              <m:nor/>
                            </m:rPr>
                            <a:rPr lang="es-CO" sz="1200"/>
                            <m:t>all</m:t>
                          </m:r>
                          <m:r>
                            <m:rPr>
                              <m:nor/>
                            </m:rPr>
                            <a:rPr lang="es-CO" sz="1200"/>
                            <m:t> </m:t>
                          </m:r>
                          <m:r>
                            <m:rPr>
                              <m:nor/>
                            </m:rPr>
                            <a:rPr lang="es-CO" sz="1200"/>
                            <m:t>interaction</m:t>
                          </m:r>
                          <m:r>
                            <m:rPr>
                              <m:nor/>
                            </m:rPr>
                            <a:rPr lang="es-CO" sz="1200"/>
                            <m:t> </m:t>
                          </m:r>
                          <m:r>
                            <m:rPr>
                              <m:nor/>
                            </m:rPr>
                            <a:rPr lang="es-CO" sz="1200"/>
                            <m:t>terms</m:t>
                          </m:r>
                          <m:r>
                            <m:rPr>
                              <m:nor/>
                            </m:rPr>
                            <a:rPr lang="es-CO" sz="1200"/>
                            <m:t> </m:t>
                          </m:r>
                          <m:r>
                            <m:rPr>
                              <m:nor/>
                            </m:rPr>
                            <a:rPr lang="es-CO" sz="1200"/>
                            <m:t>involving</m:t>
                          </m:r>
                          <m:r>
                            <a:rPr lang="es-ES" sz="1200" b="0" i="1" smtClean="0">
                              <a:latin typeface="Cambria Math" panose="02040503050406030204" pitchFamily="18" charset="0"/>
                            </a:rPr>
                            <m:t> </m:t>
                          </m:r>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𝑥</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 </m:t>
                          </m:r>
                        </m:num>
                        <m:den>
                          <m:r>
                            <a:rPr lang="es-ES" sz="1200" b="0" i="1" smtClean="0">
                              <a:latin typeface="Cambria Math" panose="02040503050406030204" pitchFamily="18" charset="0"/>
                            </a:rPr>
                            <m:t>𝑉𝑎𝑟</m:t>
                          </m:r>
                          <m:r>
                            <a:rPr lang="es-ES" sz="1200" b="0" i="1" smtClean="0">
                              <a:latin typeface="Cambria Math" panose="02040503050406030204" pitchFamily="18" charset="0"/>
                            </a:rPr>
                            <m:t>(</m:t>
                          </m:r>
                          <m:r>
                            <a:rPr lang="es-ES" sz="1200" b="0" i="1" smtClean="0">
                              <a:latin typeface="Cambria Math" panose="02040503050406030204" pitchFamily="18" charset="0"/>
                            </a:rPr>
                            <m:t>𝑓</m:t>
                          </m:r>
                          <m:r>
                            <a:rPr lang="es-ES" sz="1200" b="0" i="1" smtClean="0">
                              <a:latin typeface="Cambria Math" panose="02040503050406030204" pitchFamily="18" charset="0"/>
                            </a:rPr>
                            <m:t>)</m:t>
                          </m:r>
                        </m:den>
                      </m:f>
                    </m:oMath>
                  </m:oMathPara>
                </a14:m>
                <a:endParaRPr lang="es-CO" sz="1200" dirty="0"/>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Tree>
    <p:extLst>
      <p:ext uri="{BB962C8B-B14F-4D97-AF65-F5344CB8AC3E}">
        <p14:creationId xmlns:p14="http://schemas.microsoft.com/office/powerpoint/2010/main" val="36004392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alpha val="30000"/>
          </a:schemeClr>
        </a:solidFill>
        <a:effectLst/>
      </p:bgPr>
    </p:bg>
    <p:spTree>
      <p:nvGrpSpPr>
        <p:cNvPr id="1" name=""/>
        <p:cNvGrpSpPr/>
        <p:nvPr/>
      </p:nvGrpSpPr>
      <p:grpSpPr>
        <a:xfrm>
          <a:off x="0" y="0"/>
          <a:ext cx="0" cy="0"/>
          <a:chOff x="0" y="0"/>
          <a:chExt cx="0" cy="0"/>
        </a:xfrm>
      </p:grpSpPr>
      <p:sp>
        <p:nvSpPr>
          <p:cNvPr id="81" name="Rectángulo 80">
            <a:extLst>
              <a:ext uri="{FF2B5EF4-FFF2-40B4-BE49-F238E27FC236}">
                <a16:creationId xmlns:a16="http://schemas.microsoft.com/office/drawing/2014/main" id="{156BE44C-AB83-469C-A425-1960DBE927BC}"/>
              </a:ext>
            </a:extLst>
          </p:cNvPr>
          <p:cNvSpPr/>
          <p:nvPr/>
        </p:nvSpPr>
        <p:spPr>
          <a:xfrm>
            <a:off x="-108383" y="4621696"/>
            <a:ext cx="664973" cy="2236304"/>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80" name="Rectángulo 79">
            <a:extLst>
              <a:ext uri="{FF2B5EF4-FFF2-40B4-BE49-F238E27FC236}">
                <a16:creationId xmlns:a16="http://schemas.microsoft.com/office/drawing/2014/main" id="{46D7FABA-C002-43F7-A1B0-4910F913276A}"/>
              </a:ext>
            </a:extLst>
          </p:cNvPr>
          <p:cNvSpPr/>
          <p:nvPr/>
        </p:nvSpPr>
        <p:spPr>
          <a:xfrm>
            <a:off x="556590" y="2927309"/>
            <a:ext cx="11635409" cy="3930691"/>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2" name="Google Shape;358;p19">
            <a:extLst>
              <a:ext uri="{FF2B5EF4-FFF2-40B4-BE49-F238E27FC236}">
                <a16:creationId xmlns:a16="http://schemas.microsoft.com/office/drawing/2014/main" id="{FFA2ADF4-D4F8-4C70-9BEC-ACECAFB7502B}"/>
              </a:ext>
            </a:extLst>
          </p:cNvPr>
          <p:cNvSpPr/>
          <p:nvPr/>
        </p:nvSpPr>
        <p:spPr>
          <a:xfrm>
            <a:off x="-164032" y="4326948"/>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fld id="{B75BC28E-972B-EC47-BE79-29D89D46B9CA}" type="slidenum">
              <a:rPr lang="es-ES_tradnl" smtClean="0"/>
              <a:pPr/>
              <a:t>21</a:t>
            </a:fld>
            <a:endParaRPr lang="es-ES_tradnl" dirty="0"/>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9" name="Google Shape;355;p19">
            <a:extLst>
              <a:ext uri="{FF2B5EF4-FFF2-40B4-BE49-F238E27FC236}">
                <a16:creationId xmlns:a16="http://schemas.microsoft.com/office/drawing/2014/main" id="{B84D31D7-2B28-4594-9C4C-CFDF12D1C852}"/>
              </a:ext>
            </a:extLst>
          </p:cNvPr>
          <p:cNvSpPr/>
          <p:nvPr/>
        </p:nvSpPr>
        <p:spPr>
          <a:xfrm>
            <a:off x="7460268" y="4309245"/>
            <a:ext cx="1658098" cy="801159"/>
          </a:xfrm>
          <a:custGeom>
            <a:avLst/>
            <a:gdLst/>
            <a:ahLst/>
            <a:cxnLst/>
            <a:rect l="l" t="t" r="r" b="b"/>
            <a:pathLst>
              <a:path w="53388" h="25796" extrusionOk="0">
                <a:moveTo>
                  <a:pt x="2535" y="0"/>
                </a:moveTo>
                <a:cubicBezTo>
                  <a:pt x="2341" y="0"/>
                  <a:pt x="2221" y="5"/>
                  <a:pt x="2179" y="7"/>
                </a:cubicBezTo>
                <a:cubicBezTo>
                  <a:pt x="953" y="55"/>
                  <a:pt x="0" y="1102"/>
                  <a:pt x="48" y="2341"/>
                </a:cubicBezTo>
                <a:cubicBezTo>
                  <a:pt x="106" y="3530"/>
                  <a:pt x="1083" y="4463"/>
                  <a:pt x="2272" y="4463"/>
                </a:cubicBezTo>
                <a:cubicBezTo>
                  <a:pt x="2308" y="4463"/>
                  <a:pt x="2345" y="4462"/>
                  <a:pt x="2382" y="4460"/>
                </a:cubicBezTo>
                <a:cubicBezTo>
                  <a:pt x="2384" y="4460"/>
                  <a:pt x="2418"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2"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356;p19">
            <a:extLst>
              <a:ext uri="{FF2B5EF4-FFF2-40B4-BE49-F238E27FC236}">
                <a16:creationId xmlns:a16="http://schemas.microsoft.com/office/drawing/2014/main" id="{A4FBB60B-0245-47E0-8307-3825BB164945}"/>
              </a:ext>
            </a:extLst>
          </p:cNvPr>
          <p:cNvSpPr/>
          <p:nvPr/>
        </p:nvSpPr>
        <p:spPr>
          <a:xfrm>
            <a:off x="5946028" y="4309245"/>
            <a:ext cx="1658098" cy="801159"/>
          </a:xfrm>
          <a:custGeom>
            <a:avLst/>
            <a:gdLst/>
            <a:ahLst/>
            <a:cxnLst/>
            <a:rect l="l" t="t" r="r" b="b"/>
            <a:pathLst>
              <a:path w="53388" h="25796" extrusionOk="0">
                <a:moveTo>
                  <a:pt x="50844" y="0"/>
                </a:moveTo>
                <a:cubicBezTo>
                  <a:pt x="48771" y="0"/>
                  <a:pt x="38252" y="543"/>
                  <a:pt x="26587" y="10770"/>
                </a:cubicBezTo>
                <a:cubicBezTo>
                  <a:pt x="23610" y="13390"/>
                  <a:pt x="14538" y="21331"/>
                  <a:pt x="2227" y="21331"/>
                </a:cubicBezTo>
                <a:cubicBezTo>
                  <a:pt x="988" y="21331"/>
                  <a:pt x="0" y="22331"/>
                  <a:pt x="0" y="23569"/>
                </a:cubicBezTo>
                <a:cubicBezTo>
                  <a:pt x="0" y="24796"/>
                  <a:pt x="988" y="25796"/>
                  <a:pt x="2227" y="25796"/>
                </a:cubicBezTo>
                <a:cubicBezTo>
                  <a:pt x="3786" y="25796"/>
                  <a:pt x="7418" y="25796"/>
                  <a:pt x="12252" y="24296"/>
                </a:cubicBezTo>
                <a:cubicBezTo>
                  <a:pt x="18098" y="22486"/>
                  <a:pt x="23908" y="19057"/>
                  <a:pt x="29528" y="14128"/>
                </a:cubicBezTo>
                <a:cubicBezTo>
                  <a:pt x="35445" y="8949"/>
                  <a:pt x="40970" y="6591"/>
                  <a:pt x="44565" y="5531"/>
                </a:cubicBezTo>
                <a:cubicBezTo>
                  <a:pt x="48005" y="4515"/>
                  <a:pt x="50381" y="4459"/>
                  <a:pt x="50900" y="4459"/>
                </a:cubicBezTo>
                <a:cubicBezTo>
                  <a:pt x="50965" y="4459"/>
                  <a:pt x="51001" y="4460"/>
                  <a:pt x="51007" y="4460"/>
                </a:cubicBezTo>
                <a:cubicBezTo>
                  <a:pt x="51043" y="4462"/>
                  <a:pt x="51079" y="4463"/>
                  <a:pt x="51115" y="4463"/>
                </a:cubicBezTo>
                <a:cubicBezTo>
                  <a:pt x="52294" y="4463"/>
                  <a:pt x="53270" y="3530"/>
                  <a:pt x="53328" y="2341"/>
                </a:cubicBezTo>
                <a:cubicBezTo>
                  <a:pt x="53388" y="1102"/>
                  <a:pt x="52435" y="55"/>
                  <a:pt x="51197" y="7"/>
                </a:cubicBezTo>
                <a:cubicBezTo>
                  <a:pt x="51156" y="5"/>
                  <a:pt x="51037" y="0"/>
                  <a:pt x="50844"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278E6"/>
              </a:solidFill>
            </a:endParaRPr>
          </a:p>
        </p:txBody>
      </p:sp>
      <p:sp>
        <p:nvSpPr>
          <p:cNvPr id="11" name="Google Shape;357;p19">
            <a:extLst>
              <a:ext uri="{FF2B5EF4-FFF2-40B4-BE49-F238E27FC236}">
                <a16:creationId xmlns:a16="http://schemas.microsoft.com/office/drawing/2014/main" id="{463A3464-23E4-412E-B6C2-6F069107C53E}"/>
              </a:ext>
            </a:extLst>
          </p:cNvPr>
          <p:cNvSpPr/>
          <p:nvPr/>
        </p:nvSpPr>
        <p:spPr>
          <a:xfrm>
            <a:off x="4278227" y="4329123"/>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58;p19">
            <a:extLst>
              <a:ext uri="{FF2B5EF4-FFF2-40B4-BE49-F238E27FC236}">
                <a16:creationId xmlns:a16="http://schemas.microsoft.com/office/drawing/2014/main" id="{BE8104D5-4961-400B-ACE0-784DD69F315A}"/>
              </a:ext>
            </a:extLst>
          </p:cNvPr>
          <p:cNvSpPr/>
          <p:nvPr/>
        </p:nvSpPr>
        <p:spPr>
          <a:xfrm>
            <a:off x="2913822" y="4309245"/>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59;p19">
            <a:extLst>
              <a:ext uri="{FF2B5EF4-FFF2-40B4-BE49-F238E27FC236}">
                <a16:creationId xmlns:a16="http://schemas.microsoft.com/office/drawing/2014/main" id="{ACF877ED-FFCB-4FC9-9D91-D3DEE71F8270}"/>
              </a:ext>
            </a:extLst>
          </p:cNvPr>
          <p:cNvSpPr/>
          <p:nvPr/>
        </p:nvSpPr>
        <p:spPr>
          <a:xfrm>
            <a:off x="1395514" y="4309245"/>
            <a:ext cx="1658502" cy="801159"/>
          </a:xfrm>
          <a:custGeom>
            <a:avLst/>
            <a:gdLst/>
            <a:ahLst/>
            <a:cxnLst/>
            <a:rect l="l" t="t" r="r" b="b"/>
            <a:pathLst>
              <a:path w="53401" h="25796" extrusionOk="0">
                <a:moveTo>
                  <a:pt x="2548" y="0"/>
                </a:moveTo>
                <a:cubicBezTo>
                  <a:pt x="2354" y="0"/>
                  <a:pt x="2233" y="5"/>
                  <a:pt x="2192" y="7"/>
                </a:cubicBezTo>
                <a:cubicBezTo>
                  <a:pt x="965" y="55"/>
                  <a:pt x="1" y="1102"/>
                  <a:pt x="60" y="2341"/>
                </a:cubicBezTo>
                <a:cubicBezTo>
                  <a:pt x="118" y="3530"/>
                  <a:pt x="1095" y="4463"/>
                  <a:pt x="2284" y="4463"/>
                </a:cubicBezTo>
                <a:cubicBezTo>
                  <a:pt x="2321" y="4463"/>
                  <a:pt x="2357" y="4462"/>
                  <a:pt x="2394" y="4460"/>
                </a:cubicBezTo>
                <a:cubicBezTo>
                  <a:pt x="2397" y="4460"/>
                  <a:pt x="2430" y="4459"/>
                  <a:pt x="2493" y="4459"/>
                </a:cubicBezTo>
                <a:cubicBezTo>
                  <a:pt x="2996" y="4459"/>
                  <a:pt x="5375" y="4515"/>
                  <a:pt x="8835" y="5531"/>
                </a:cubicBezTo>
                <a:cubicBezTo>
                  <a:pt x="12431" y="6591"/>
                  <a:pt x="17944" y="8949"/>
                  <a:pt x="23861" y="14128"/>
                </a:cubicBezTo>
                <a:cubicBezTo>
                  <a:pt x="29493" y="19057"/>
                  <a:pt x="35303" y="22486"/>
                  <a:pt x="41149" y="24296"/>
                </a:cubicBezTo>
                <a:cubicBezTo>
                  <a:pt x="45983" y="25796"/>
                  <a:pt x="49614" y="25796"/>
                  <a:pt x="51174" y="25796"/>
                </a:cubicBezTo>
                <a:cubicBezTo>
                  <a:pt x="52400" y="25796"/>
                  <a:pt x="53400" y="24796"/>
                  <a:pt x="53400" y="23569"/>
                </a:cubicBezTo>
                <a:cubicBezTo>
                  <a:pt x="53400" y="22331"/>
                  <a:pt x="52400" y="21331"/>
                  <a:pt x="51174" y="21331"/>
                </a:cubicBezTo>
                <a:cubicBezTo>
                  <a:pt x="48126" y="21331"/>
                  <a:pt x="38851" y="21331"/>
                  <a:pt x="26802" y="10770"/>
                </a:cubicBezTo>
                <a:cubicBezTo>
                  <a:pt x="15137" y="543"/>
                  <a:pt x="4628" y="0"/>
                  <a:pt x="2548"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362;p19">
            <a:extLst>
              <a:ext uri="{FF2B5EF4-FFF2-40B4-BE49-F238E27FC236}">
                <a16:creationId xmlns:a16="http://schemas.microsoft.com/office/drawing/2014/main" id="{D397218E-0235-4665-953A-D6F7274A1383}"/>
              </a:ext>
            </a:extLst>
          </p:cNvPr>
          <p:cNvSpPr/>
          <p:nvPr/>
        </p:nvSpPr>
        <p:spPr>
          <a:xfrm>
            <a:off x="2783384" y="4900641"/>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63;p19">
            <a:extLst>
              <a:ext uri="{FF2B5EF4-FFF2-40B4-BE49-F238E27FC236}">
                <a16:creationId xmlns:a16="http://schemas.microsoft.com/office/drawing/2014/main" id="{273CA452-D853-4D02-89D5-814622D4B21C}"/>
              </a:ext>
            </a:extLst>
          </p:cNvPr>
          <p:cNvSpPr/>
          <p:nvPr/>
        </p:nvSpPr>
        <p:spPr>
          <a:xfrm>
            <a:off x="2850604" y="4968209"/>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371;p19">
            <a:extLst>
              <a:ext uri="{FF2B5EF4-FFF2-40B4-BE49-F238E27FC236}">
                <a16:creationId xmlns:a16="http://schemas.microsoft.com/office/drawing/2014/main" id="{894BA05A-EEBD-42A7-B94C-16E5E949C29E}"/>
              </a:ext>
            </a:extLst>
          </p:cNvPr>
          <p:cNvSpPr/>
          <p:nvPr/>
        </p:nvSpPr>
        <p:spPr>
          <a:xfrm>
            <a:off x="4333460" y="4227523"/>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372;p19">
            <a:extLst>
              <a:ext uri="{FF2B5EF4-FFF2-40B4-BE49-F238E27FC236}">
                <a16:creationId xmlns:a16="http://schemas.microsoft.com/office/drawing/2014/main" id="{179FDC69-670C-4B04-89DD-FD211FE45CAE}"/>
              </a:ext>
            </a:extLst>
          </p:cNvPr>
          <p:cNvSpPr/>
          <p:nvPr/>
        </p:nvSpPr>
        <p:spPr>
          <a:xfrm>
            <a:off x="4400679" y="4295124"/>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78;p19">
            <a:extLst>
              <a:ext uri="{FF2B5EF4-FFF2-40B4-BE49-F238E27FC236}">
                <a16:creationId xmlns:a16="http://schemas.microsoft.com/office/drawing/2014/main" id="{E52F1264-2100-4234-A69F-F928CAD1DA88}"/>
              </a:ext>
            </a:extLst>
          </p:cNvPr>
          <p:cNvSpPr/>
          <p:nvPr/>
        </p:nvSpPr>
        <p:spPr>
          <a:xfrm>
            <a:off x="5886579" y="4900641"/>
            <a:ext cx="291455" cy="291487"/>
          </a:xfrm>
          <a:custGeom>
            <a:avLst/>
            <a:gdLst/>
            <a:ahLst/>
            <a:cxnLst/>
            <a:rect l="l" t="t" r="r" b="b"/>
            <a:pathLst>
              <a:path w="9192" h="9193" extrusionOk="0">
                <a:moveTo>
                  <a:pt x="4596" y="1"/>
                </a:moveTo>
                <a:cubicBezTo>
                  <a:pt x="2060" y="1"/>
                  <a:pt x="0" y="2061"/>
                  <a:pt x="0" y="4597"/>
                </a:cubicBezTo>
                <a:cubicBezTo>
                  <a:pt x="0" y="7133"/>
                  <a:pt x="2060" y="9192"/>
                  <a:pt x="4596" y="9192"/>
                </a:cubicBezTo>
                <a:cubicBezTo>
                  <a:pt x="7132" y="9192"/>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79;p19">
            <a:extLst>
              <a:ext uri="{FF2B5EF4-FFF2-40B4-BE49-F238E27FC236}">
                <a16:creationId xmlns:a16="http://schemas.microsoft.com/office/drawing/2014/main" id="{212E91F2-4BCC-4815-93AC-120C3289FB36}"/>
              </a:ext>
            </a:extLst>
          </p:cNvPr>
          <p:cNvSpPr/>
          <p:nvPr/>
        </p:nvSpPr>
        <p:spPr>
          <a:xfrm>
            <a:off x="5954148" y="4968209"/>
            <a:ext cx="156318" cy="156350"/>
          </a:xfrm>
          <a:custGeom>
            <a:avLst/>
            <a:gdLst/>
            <a:ahLst/>
            <a:cxnLst/>
            <a:rect l="l" t="t" r="r" b="b"/>
            <a:pathLst>
              <a:path w="4930" h="4931" extrusionOk="0">
                <a:moveTo>
                  <a:pt x="2465" y="1"/>
                </a:moveTo>
                <a:cubicBezTo>
                  <a:pt x="1108" y="1"/>
                  <a:pt x="0" y="1108"/>
                  <a:pt x="0" y="2466"/>
                </a:cubicBezTo>
                <a:cubicBezTo>
                  <a:pt x="0" y="3823"/>
                  <a:pt x="1108" y="4930"/>
                  <a:pt x="2465" y="4930"/>
                </a:cubicBezTo>
                <a:cubicBezTo>
                  <a:pt x="3822" y="4930"/>
                  <a:pt x="4929" y="3823"/>
                  <a:pt x="4929" y="2466"/>
                </a:cubicBezTo>
                <a:cubicBezTo>
                  <a:pt x="4929" y="1108"/>
                  <a:pt x="3822" y="1"/>
                  <a:pt x="2465"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85;p19">
            <a:extLst>
              <a:ext uri="{FF2B5EF4-FFF2-40B4-BE49-F238E27FC236}">
                <a16:creationId xmlns:a16="http://schemas.microsoft.com/office/drawing/2014/main" id="{91F23EA6-9FC7-4A06-AC01-859923254F7F}"/>
              </a:ext>
            </a:extLst>
          </p:cNvPr>
          <p:cNvSpPr/>
          <p:nvPr/>
        </p:nvSpPr>
        <p:spPr>
          <a:xfrm>
            <a:off x="7440048" y="4227523"/>
            <a:ext cx="291455" cy="291487"/>
          </a:xfrm>
          <a:custGeom>
            <a:avLst/>
            <a:gdLst/>
            <a:ahLst/>
            <a:cxnLst/>
            <a:rect l="l" t="t" r="r" b="b"/>
            <a:pathLst>
              <a:path w="9192" h="9193" extrusionOk="0">
                <a:moveTo>
                  <a:pt x="4596" y="1"/>
                </a:moveTo>
                <a:cubicBezTo>
                  <a:pt x="2060" y="1"/>
                  <a:pt x="0" y="2061"/>
                  <a:pt x="0" y="4597"/>
                </a:cubicBezTo>
                <a:cubicBezTo>
                  <a:pt x="0" y="7133"/>
                  <a:pt x="2060" y="9193"/>
                  <a:pt x="4596" y="9193"/>
                </a:cubicBezTo>
                <a:cubicBezTo>
                  <a:pt x="7132" y="9193"/>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386;p19">
            <a:extLst>
              <a:ext uri="{FF2B5EF4-FFF2-40B4-BE49-F238E27FC236}">
                <a16:creationId xmlns:a16="http://schemas.microsoft.com/office/drawing/2014/main" id="{6B340675-44B3-4B07-A675-73661A7E8AD8}"/>
              </a:ext>
            </a:extLst>
          </p:cNvPr>
          <p:cNvSpPr/>
          <p:nvPr/>
        </p:nvSpPr>
        <p:spPr>
          <a:xfrm>
            <a:off x="7507616" y="4295124"/>
            <a:ext cx="156318" cy="156318"/>
          </a:xfrm>
          <a:custGeom>
            <a:avLst/>
            <a:gdLst/>
            <a:ahLst/>
            <a:cxnLst/>
            <a:rect l="l" t="t" r="r" b="b"/>
            <a:pathLst>
              <a:path w="4930" h="4930" extrusionOk="0">
                <a:moveTo>
                  <a:pt x="2465" y="0"/>
                </a:moveTo>
                <a:cubicBezTo>
                  <a:pt x="1108" y="0"/>
                  <a:pt x="1" y="1107"/>
                  <a:pt x="1" y="2465"/>
                </a:cubicBezTo>
                <a:cubicBezTo>
                  <a:pt x="1" y="3822"/>
                  <a:pt x="1108" y="4929"/>
                  <a:pt x="2465" y="4929"/>
                </a:cubicBezTo>
                <a:cubicBezTo>
                  <a:pt x="3822" y="4929"/>
                  <a:pt x="4930" y="3822"/>
                  <a:pt x="4930" y="2465"/>
                </a:cubicBezTo>
                <a:cubicBezTo>
                  <a:pt x="4930" y="1107"/>
                  <a:pt x="3822" y="0"/>
                  <a:pt x="2465"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358;p19">
            <a:extLst>
              <a:ext uri="{FF2B5EF4-FFF2-40B4-BE49-F238E27FC236}">
                <a16:creationId xmlns:a16="http://schemas.microsoft.com/office/drawing/2014/main" id="{6A05E2BF-556D-4660-9A2E-5A6DE58639A9}"/>
              </a:ext>
            </a:extLst>
          </p:cNvPr>
          <p:cNvSpPr/>
          <p:nvPr/>
        </p:nvSpPr>
        <p:spPr>
          <a:xfrm>
            <a:off x="9108023" y="4311367"/>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362;p19">
            <a:extLst>
              <a:ext uri="{FF2B5EF4-FFF2-40B4-BE49-F238E27FC236}">
                <a16:creationId xmlns:a16="http://schemas.microsoft.com/office/drawing/2014/main" id="{4665D97F-24EF-4896-B9C0-B64C09D58791}"/>
              </a:ext>
            </a:extLst>
          </p:cNvPr>
          <p:cNvSpPr/>
          <p:nvPr/>
        </p:nvSpPr>
        <p:spPr>
          <a:xfrm>
            <a:off x="8972987" y="4886486"/>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363;p19">
            <a:extLst>
              <a:ext uri="{FF2B5EF4-FFF2-40B4-BE49-F238E27FC236}">
                <a16:creationId xmlns:a16="http://schemas.microsoft.com/office/drawing/2014/main" id="{D043D805-C80B-45E0-A8BC-3D614FAA84CD}"/>
              </a:ext>
            </a:extLst>
          </p:cNvPr>
          <p:cNvSpPr/>
          <p:nvPr/>
        </p:nvSpPr>
        <p:spPr>
          <a:xfrm>
            <a:off x="9040207" y="4954054"/>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357;p19">
            <a:extLst>
              <a:ext uri="{FF2B5EF4-FFF2-40B4-BE49-F238E27FC236}">
                <a16:creationId xmlns:a16="http://schemas.microsoft.com/office/drawing/2014/main" id="{ABB4FE14-BDE1-463A-9C61-C694CC65C240}"/>
              </a:ext>
            </a:extLst>
          </p:cNvPr>
          <p:cNvSpPr/>
          <p:nvPr/>
        </p:nvSpPr>
        <p:spPr>
          <a:xfrm>
            <a:off x="10711091" y="4312780"/>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71;p19">
            <a:extLst>
              <a:ext uri="{FF2B5EF4-FFF2-40B4-BE49-F238E27FC236}">
                <a16:creationId xmlns:a16="http://schemas.microsoft.com/office/drawing/2014/main" id="{4AF71126-6C4A-4BDB-A192-E3E653FD9C00}"/>
              </a:ext>
            </a:extLst>
          </p:cNvPr>
          <p:cNvSpPr/>
          <p:nvPr/>
        </p:nvSpPr>
        <p:spPr>
          <a:xfrm>
            <a:off x="10616458" y="4231058"/>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72;p19">
            <a:extLst>
              <a:ext uri="{FF2B5EF4-FFF2-40B4-BE49-F238E27FC236}">
                <a16:creationId xmlns:a16="http://schemas.microsoft.com/office/drawing/2014/main" id="{9ADDB8E8-C385-4FD6-922C-4034088E94AC}"/>
              </a:ext>
            </a:extLst>
          </p:cNvPr>
          <p:cNvSpPr/>
          <p:nvPr/>
        </p:nvSpPr>
        <p:spPr>
          <a:xfrm>
            <a:off x="10683677" y="4298659"/>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71;p19">
            <a:extLst>
              <a:ext uri="{FF2B5EF4-FFF2-40B4-BE49-F238E27FC236}">
                <a16:creationId xmlns:a16="http://schemas.microsoft.com/office/drawing/2014/main" id="{0289C750-BE01-4305-8A3C-228D2CF7D267}"/>
              </a:ext>
            </a:extLst>
          </p:cNvPr>
          <p:cNvSpPr/>
          <p:nvPr/>
        </p:nvSpPr>
        <p:spPr>
          <a:xfrm>
            <a:off x="1255606" y="4245226"/>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72;p19">
            <a:extLst>
              <a:ext uri="{FF2B5EF4-FFF2-40B4-BE49-F238E27FC236}">
                <a16:creationId xmlns:a16="http://schemas.microsoft.com/office/drawing/2014/main" id="{DA2451C1-DB2D-4C34-91D9-1511EFD77823}"/>
              </a:ext>
            </a:extLst>
          </p:cNvPr>
          <p:cNvSpPr/>
          <p:nvPr/>
        </p:nvSpPr>
        <p:spPr>
          <a:xfrm>
            <a:off x="1322825" y="4312827"/>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CuadroTexto 56">
            <a:extLst>
              <a:ext uri="{FF2B5EF4-FFF2-40B4-BE49-F238E27FC236}">
                <a16:creationId xmlns:a16="http://schemas.microsoft.com/office/drawing/2014/main" id="{814094F3-D9D0-4A44-BC1F-8BB63F21C2F3}"/>
              </a:ext>
            </a:extLst>
          </p:cNvPr>
          <p:cNvSpPr txBox="1"/>
          <p:nvPr/>
        </p:nvSpPr>
        <p:spPr>
          <a:xfrm>
            <a:off x="2117018" y="3516178"/>
            <a:ext cx="1658129" cy="954107"/>
          </a:xfrm>
          <a:prstGeom prst="rect">
            <a:avLst/>
          </a:prstGeom>
          <a:noFill/>
        </p:spPr>
        <p:txBody>
          <a:bodyPr wrap="square">
            <a:spAutoFit/>
          </a:bodyPr>
          <a:lstStyle/>
          <a:p>
            <a:pPr algn="ctr"/>
            <a:r>
              <a:rPr lang="es-CO" sz="1400" dirty="0">
                <a:solidFill>
                  <a:schemeClr val="tx1">
                    <a:lumMod val="65000"/>
                    <a:lumOff val="35000"/>
                  </a:schemeClr>
                </a:solidFill>
              </a:rPr>
              <a:t>Set a </a:t>
            </a:r>
            <a:r>
              <a:rPr lang="es-CO" sz="1400" dirty="0" err="1">
                <a:solidFill>
                  <a:schemeClr val="tx1">
                    <a:lumMod val="65000"/>
                    <a:lumOff val="35000"/>
                  </a:schemeClr>
                </a:solidFill>
              </a:rPr>
              <a:t>baseline</a:t>
            </a:r>
            <a:r>
              <a:rPr lang="es-CO" sz="1400" dirty="0">
                <a:solidFill>
                  <a:schemeClr val="tx1">
                    <a:lumMod val="65000"/>
                    <a:lumOff val="35000"/>
                  </a:schemeClr>
                </a:solidFill>
              </a:rPr>
              <a:t>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a:p>
            <a:pPr algn="ct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model's</a:t>
            </a:r>
            <a:r>
              <a:rPr lang="es-CO" sz="1400" dirty="0">
                <a:solidFill>
                  <a:schemeClr val="tx1">
                    <a:lumMod val="65000"/>
                    <a:lumOff val="35000"/>
                  </a:schemeClr>
                </a:solidFill>
              </a:rPr>
              <a:t> </a:t>
            </a:r>
            <a:r>
              <a:rPr lang="es-CO" sz="1400" dirty="0" err="1">
                <a:solidFill>
                  <a:schemeClr val="tx1">
                    <a:lumMod val="65000"/>
                    <a:lumOff val="35000"/>
                  </a:schemeClr>
                </a:solidFill>
              </a:rPr>
              <a:t>average</a:t>
            </a:r>
            <a:r>
              <a:rPr lang="es-CO" sz="1400" dirty="0">
                <a:solidFill>
                  <a:schemeClr val="tx1">
                    <a:lumMod val="65000"/>
                    <a:lumOff val="35000"/>
                  </a:schemeClr>
                </a:solidFill>
              </a:rPr>
              <a:t> output.</a:t>
            </a:r>
          </a:p>
        </p:txBody>
      </p:sp>
      <p:sp>
        <p:nvSpPr>
          <p:cNvPr id="59" name="CuadroTexto 58">
            <a:extLst>
              <a:ext uri="{FF2B5EF4-FFF2-40B4-BE49-F238E27FC236}">
                <a16:creationId xmlns:a16="http://schemas.microsoft.com/office/drawing/2014/main" id="{AA3906CC-56F3-4464-B0F5-95BA63E83F1F}"/>
              </a:ext>
            </a:extLst>
          </p:cNvPr>
          <p:cNvSpPr txBox="1"/>
          <p:nvPr/>
        </p:nvSpPr>
        <p:spPr>
          <a:xfrm>
            <a:off x="3287316" y="5141686"/>
            <a:ext cx="2307836" cy="1600438"/>
          </a:xfrm>
          <a:prstGeom prst="rect">
            <a:avLst/>
          </a:prstGeom>
          <a:noFill/>
        </p:spPr>
        <p:txBody>
          <a:bodyPr wrap="square">
            <a:spAutoFit/>
          </a:bodyPr>
          <a:lstStyle/>
          <a:p>
            <a:pPr algn="ctr"/>
            <a:r>
              <a:rPr lang="es-CO" sz="1400" dirty="0" err="1">
                <a:solidFill>
                  <a:schemeClr val="tx1">
                    <a:lumMod val="65000"/>
                    <a:lumOff val="35000"/>
                  </a:schemeClr>
                </a:solidFill>
              </a:rPr>
              <a:t>For</a:t>
            </a:r>
            <a:r>
              <a:rPr lang="es-CO" sz="1400" dirty="0">
                <a:solidFill>
                  <a:schemeClr val="tx1">
                    <a:lumMod val="65000"/>
                    <a:lumOff val="35000"/>
                  </a:schemeClr>
                </a:solidFill>
              </a:rPr>
              <a:t> a </a:t>
            </a:r>
            <a:r>
              <a:rPr lang="es-CO" sz="1400" dirty="0" err="1">
                <a:solidFill>
                  <a:schemeClr val="tx1">
                    <a:lumMod val="65000"/>
                    <a:lumOff val="35000"/>
                  </a:schemeClr>
                </a:solidFill>
              </a:rPr>
              <a:t>specific</a:t>
            </a:r>
            <a:r>
              <a:rPr lang="es-CO" sz="1400" dirty="0">
                <a:solidFill>
                  <a:schemeClr val="tx1">
                    <a:lumMod val="65000"/>
                    <a:lumOff val="35000"/>
                  </a:schemeClr>
                </a:solidFill>
              </a:rPr>
              <a:t> input:</a:t>
            </a:r>
          </a:p>
          <a:p>
            <a:pPr algn="ctr"/>
            <a:r>
              <a:rPr lang="es-CO" sz="1400" dirty="0">
                <a:solidFill>
                  <a:schemeClr val="tx1">
                    <a:lumMod val="65000"/>
                    <a:lumOff val="35000"/>
                  </a:schemeClr>
                </a:solidFill>
              </a:rPr>
              <a:t>1. </a:t>
            </a:r>
            <a:r>
              <a:rPr lang="es-CO" sz="1400" dirty="0" err="1">
                <a:solidFill>
                  <a:schemeClr val="tx1">
                    <a:lumMod val="65000"/>
                    <a:lumOff val="35000"/>
                  </a:schemeClr>
                </a:solidFill>
              </a:rPr>
              <a:t>Traverse</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tree</a:t>
            </a:r>
            <a:r>
              <a:rPr lang="es-CO" sz="1400" dirty="0">
                <a:solidFill>
                  <a:schemeClr val="tx1">
                    <a:lumMod val="65000"/>
                    <a:lumOff val="35000"/>
                  </a:schemeClr>
                </a:solidFill>
              </a:rPr>
              <a:t> </a:t>
            </a:r>
            <a:r>
              <a:rPr lang="es-CO" sz="1400" dirty="0" err="1">
                <a:solidFill>
                  <a:schemeClr val="tx1">
                    <a:lumMod val="65000"/>
                    <a:lumOff val="35000"/>
                  </a:schemeClr>
                </a:solidFill>
              </a:rPr>
              <a:t>using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input's</a:t>
            </a:r>
            <a:r>
              <a:rPr lang="es-CO" sz="1400" dirty="0">
                <a:solidFill>
                  <a:schemeClr val="tx1">
                    <a:lumMod val="65000"/>
                    <a:lumOff val="35000"/>
                  </a:schemeClr>
                </a:solidFill>
              </a:rPr>
              <a:t> </a:t>
            </a:r>
            <a:r>
              <a:rPr lang="es-CO" sz="1400" dirty="0" err="1">
                <a:solidFill>
                  <a:schemeClr val="tx1">
                    <a:lumMod val="65000"/>
                    <a:lumOff val="35000"/>
                  </a:schemeClr>
                </a:solidFill>
              </a:rPr>
              <a:t>feature</a:t>
            </a:r>
            <a:r>
              <a:rPr lang="es-CO" sz="1400" dirty="0">
                <a:solidFill>
                  <a:schemeClr val="tx1">
                    <a:lumMod val="65000"/>
                    <a:lumOff val="35000"/>
                  </a:schemeClr>
                </a:solidFill>
              </a:rPr>
              <a:t> </a:t>
            </a:r>
            <a:r>
              <a:rPr lang="es-CO" sz="1400" dirty="0" err="1">
                <a:solidFill>
                  <a:schemeClr val="tx1">
                    <a:lumMod val="65000"/>
                    <a:lumOff val="35000"/>
                  </a:schemeClr>
                </a:solidFill>
              </a:rPr>
              <a:t>values</a:t>
            </a:r>
            <a:r>
              <a:rPr lang="es-CO" sz="1400" dirty="0">
                <a:solidFill>
                  <a:schemeClr val="tx1">
                    <a:lumMod val="65000"/>
                    <a:lumOff val="35000"/>
                  </a:schemeClr>
                </a:solidFill>
              </a:rPr>
              <a:t>.</a:t>
            </a:r>
          </a:p>
          <a:p>
            <a:pPr algn="ctr"/>
            <a:r>
              <a:rPr lang="es-CO" sz="1400" dirty="0">
                <a:solidFill>
                  <a:schemeClr val="tx1">
                    <a:lumMod val="65000"/>
                    <a:lumOff val="35000"/>
                  </a:schemeClr>
                </a:solidFill>
              </a:rPr>
              <a:t>2. </a:t>
            </a:r>
            <a:r>
              <a:rPr lang="es-CO" sz="1400" dirty="0" err="1">
                <a:solidFill>
                  <a:schemeClr val="tx1">
                    <a:lumMod val="65000"/>
                    <a:lumOff val="35000"/>
                  </a:schemeClr>
                </a:solidFill>
              </a:rPr>
              <a:t>Track</a:t>
            </a:r>
            <a:r>
              <a:rPr lang="es-CO" sz="1400" dirty="0">
                <a:solidFill>
                  <a:schemeClr val="tx1">
                    <a:lumMod val="65000"/>
                    <a:lumOff val="35000"/>
                  </a:schemeClr>
                </a:solidFill>
              </a:rPr>
              <a:t> </a:t>
            </a:r>
            <a:r>
              <a:rPr lang="es-CO" sz="1400" dirty="0" err="1">
                <a:solidFill>
                  <a:schemeClr val="tx1">
                    <a:lumMod val="65000"/>
                    <a:lumOff val="35000"/>
                  </a:schemeClr>
                </a:solidFill>
              </a:rPr>
              <a:t>which</a:t>
            </a:r>
            <a:r>
              <a:rPr lang="es-CO" sz="1400" dirty="0">
                <a:solidFill>
                  <a:schemeClr val="tx1">
                    <a:lumMod val="65000"/>
                    <a:lumOff val="35000"/>
                  </a:schemeClr>
                </a:solidFill>
              </a:rPr>
              <a:t> </a:t>
            </a:r>
            <a:r>
              <a:rPr lang="es-CO" sz="1400" dirty="0" err="1">
                <a:solidFill>
                  <a:schemeClr val="tx1">
                    <a:lumMod val="65000"/>
                    <a:lumOff val="35000"/>
                  </a:schemeClr>
                </a:solidFill>
              </a:rPr>
              <a:t>features</a:t>
            </a:r>
            <a:r>
              <a:rPr lang="es-CO" sz="1400" dirty="0">
                <a:solidFill>
                  <a:schemeClr val="tx1">
                    <a:lumMod val="65000"/>
                    <a:lumOff val="35000"/>
                  </a:schemeClr>
                </a:solidFill>
              </a:rPr>
              <a:t> are </a:t>
            </a:r>
            <a:r>
              <a:rPr lang="es-CO" sz="1400" dirty="0" err="1">
                <a:solidFill>
                  <a:schemeClr val="tx1">
                    <a:lumMod val="65000"/>
                    <a:lumOff val="35000"/>
                  </a:schemeClr>
                </a:solidFill>
              </a:rPr>
              <a:t>used</a:t>
            </a:r>
            <a:r>
              <a:rPr lang="es-CO" sz="1400" dirty="0">
                <a:solidFill>
                  <a:schemeClr val="tx1">
                    <a:lumMod val="65000"/>
                    <a:lumOff val="35000"/>
                  </a:schemeClr>
                </a:solidFill>
              </a:rPr>
              <a:t> </a:t>
            </a:r>
            <a:r>
              <a:rPr lang="es-CO" sz="1400" dirty="0" err="1">
                <a:solidFill>
                  <a:schemeClr val="tx1">
                    <a:lumMod val="65000"/>
                    <a:lumOff val="35000"/>
                  </a:schemeClr>
                </a:solidFill>
              </a:rPr>
              <a:t>along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decision</a:t>
            </a:r>
            <a:r>
              <a:rPr lang="es-CO" sz="1400" dirty="0">
                <a:solidFill>
                  <a:schemeClr val="tx1">
                    <a:lumMod val="65000"/>
                    <a:lumOff val="35000"/>
                  </a:schemeClr>
                </a:solidFill>
              </a:rPr>
              <a:t> </a:t>
            </a:r>
            <a:r>
              <a:rPr lang="es-CO" sz="1400" dirty="0" err="1">
                <a:solidFill>
                  <a:schemeClr val="tx1">
                    <a:lumMod val="65000"/>
                    <a:lumOff val="35000"/>
                  </a:schemeClr>
                </a:solidFill>
              </a:rPr>
              <a:t>path</a:t>
            </a:r>
            <a:r>
              <a:rPr lang="es-CO" sz="1400" dirty="0">
                <a:solidFill>
                  <a:schemeClr val="tx1">
                    <a:lumMod val="65000"/>
                    <a:lumOff val="35000"/>
                  </a:schemeClr>
                </a:solidFill>
              </a:rPr>
              <a:t>.</a:t>
            </a:r>
          </a:p>
          <a:p>
            <a:pPr algn="ctr"/>
            <a:r>
              <a:rPr lang="es-CO" sz="1400" dirty="0">
                <a:solidFill>
                  <a:schemeClr val="tx1">
                    <a:lumMod val="65000"/>
                    <a:lumOff val="35000"/>
                  </a:schemeClr>
                </a:solidFill>
              </a:rPr>
              <a:t>3. </a:t>
            </a:r>
            <a:r>
              <a:rPr lang="es-CO" sz="1400" dirty="0" err="1">
                <a:solidFill>
                  <a:schemeClr val="tx1">
                    <a:lumMod val="65000"/>
                    <a:lumOff val="35000"/>
                  </a:schemeClr>
                </a:solidFill>
              </a:rPr>
              <a:t>Reach</a:t>
            </a:r>
            <a:r>
              <a:rPr lang="es-CO" sz="1400" dirty="0">
                <a:solidFill>
                  <a:schemeClr val="tx1">
                    <a:lumMod val="65000"/>
                    <a:lumOff val="35000"/>
                  </a:schemeClr>
                </a:solidFill>
              </a:rPr>
              <a:t> a </a:t>
            </a:r>
            <a:r>
              <a:rPr lang="es-CO" sz="1400" dirty="0" err="1">
                <a:solidFill>
                  <a:schemeClr val="tx1">
                    <a:lumMod val="65000"/>
                    <a:lumOff val="35000"/>
                  </a:schemeClr>
                </a:solidFill>
              </a:rPr>
              <a:t>leaf</a:t>
            </a:r>
            <a:r>
              <a:rPr lang="es-CO" sz="1400" dirty="0">
                <a:solidFill>
                  <a:schemeClr val="tx1">
                    <a:lumMod val="65000"/>
                    <a:lumOff val="35000"/>
                  </a:schemeClr>
                </a:solidFill>
              </a:rPr>
              <a:t> and </a:t>
            </a:r>
            <a:r>
              <a:rPr lang="es-CO" sz="1400" dirty="0" err="1">
                <a:solidFill>
                  <a:schemeClr val="tx1">
                    <a:lumMod val="65000"/>
                    <a:lumOff val="35000"/>
                  </a:schemeClr>
                </a:solidFill>
              </a:rPr>
              <a:t>get</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final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p:txBody>
      </p:sp>
      <p:sp>
        <p:nvSpPr>
          <p:cNvPr id="60" name="Google Shape;387;p19">
            <a:extLst>
              <a:ext uri="{FF2B5EF4-FFF2-40B4-BE49-F238E27FC236}">
                <a16:creationId xmlns:a16="http://schemas.microsoft.com/office/drawing/2014/main" id="{96DE41BB-8E6F-4511-8833-611A129B26D6}"/>
              </a:ext>
            </a:extLst>
          </p:cNvPr>
          <p:cNvSpPr>
            <a:spLocks noChangeAspect="1"/>
          </p:cNvSpPr>
          <p:nvPr/>
        </p:nvSpPr>
        <p:spPr>
          <a:xfrm>
            <a:off x="2826975" y="3203408"/>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88;p19">
            <a:extLst>
              <a:ext uri="{FF2B5EF4-FFF2-40B4-BE49-F238E27FC236}">
                <a16:creationId xmlns:a16="http://schemas.microsoft.com/office/drawing/2014/main" id="{999081CE-4BE0-4CFD-8E7B-BA9CC40FB85C}"/>
              </a:ext>
            </a:extLst>
          </p:cNvPr>
          <p:cNvSpPr>
            <a:spLocks noChangeAspect="1"/>
          </p:cNvSpPr>
          <p:nvPr/>
        </p:nvSpPr>
        <p:spPr>
          <a:xfrm>
            <a:off x="2880969" y="3257408"/>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1</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62" name="Google Shape;387;p19">
            <a:extLst>
              <a:ext uri="{FF2B5EF4-FFF2-40B4-BE49-F238E27FC236}">
                <a16:creationId xmlns:a16="http://schemas.microsoft.com/office/drawing/2014/main" id="{A8B7D838-A41A-4E9C-8839-732D22004896}"/>
              </a:ext>
            </a:extLst>
          </p:cNvPr>
          <p:cNvSpPr>
            <a:spLocks noChangeAspect="1"/>
          </p:cNvSpPr>
          <p:nvPr/>
        </p:nvSpPr>
        <p:spPr>
          <a:xfrm>
            <a:off x="4262357" y="4720641"/>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88;p19">
            <a:extLst>
              <a:ext uri="{FF2B5EF4-FFF2-40B4-BE49-F238E27FC236}">
                <a16:creationId xmlns:a16="http://schemas.microsoft.com/office/drawing/2014/main" id="{A7070F9B-A7FA-4C8C-B23A-5337C795882C}"/>
              </a:ext>
            </a:extLst>
          </p:cNvPr>
          <p:cNvSpPr>
            <a:spLocks noChangeAspect="1"/>
          </p:cNvSpPr>
          <p:nvPr/>
        </p:nvSpPr>
        <p:spPr>
          <a:xfrm>
            <a:off x="4316351" y="4774641"/>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2</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nvGrpSpPr>
          <p:cNvPr id="66" name="Grupo 65">
            <a:extLst>
              <a:ext uri="{FF2B5EF4-FFF2-40B4-BE49-F238E27FC236}">
                <a16:creationId xmlns:a16="http://schemas.microsoft.com/office/drawing/2014/main" id="{A09C5D3E-0195-4B7A-9D5B-1F9252F31693}"/>
              </a:ext>
            </a:extLst>
          </p:cNvPr>
          <p:cNvGrpSpPr/>
          <p:nvPr/>
        </p:nvGrpSpPr>
        <p:grpSpPr>
          <a:xfrm>
            <a:off x="5774202" y="3003346"/>
            <a:ext cx="359892" cy="360000"/>
            <a:chOff x="6015693" y="2188627"/>
            <a:chExt cx="359892" cy="360000"/>
          </a:xfrm>
        </p:grpSpPr>
        <p:sp>
          <p:nvSpPr>
            <p:cNvPr id="64" name="Google Shape;387;p19">
              <a:extLst>
                <a:ext uri="{FF2B5EF4-FFF2-40B4-BE49-F238E27FC236}">
                  <a16:creationId xmlns:a16="http://schemas.microsoft.com/office/drawing/2014/main" id="{F850DE74-BA6A-4D7B-9423-76275DB4B9F2}"/>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388;p19">
              <a:extLst>
                <a:ext uri="{FF2B5EF4-FFF2-40B4-BE49-F238E27FC236}">
                  <a16:creationId xmlns:a16="http://schemas.microsoft.com/office/drawing/2014/main" id="{DDE2051E-F540-48E3-9607-A14B9E13ABFA}"/>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3</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68" name="CuadroTexto 67">
            <a:extLst>
              <a:ext uri="{FF2B5EF4-FFF2-40B4-BE49-F238E27FC236}">
                <a16:creationId xmlns:a16="http://schemas.microsoft.com/office/drawing/2014/main" id="{01C577BB-F5F3-46F4-B9F0-CE22AF0F770D}"/>
              </a:ext>
            </a:extLst>
          </p:cNvPr>
          <p:cNvSpPr txBox="1"/>
          <p:nvPr/>
        </p:nvSpPr>
        <p:spPr>
          <a:xfrm>
            <a:off x="4888885" y="3373285"/>
            <a:ext cx="1957316" cy="1169551"/>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s-CO" dirty="0"/>
              <a:t>Compute </a:t>
            </a:r>
            <a:r>
              <a:rPr lang="es-CO" dirty="0" err="1"/>
              <a:t>the</a:t>
            </a:r>
            <a:r>
              <a:rPr lang="es-CO" dirty="0"/>
              <a:t> </a:t>
            </a:r>
            <a:r>
              <a:rPr lang="es-CO" dirty="0" err="1"/>
              <a:t>difference</a:t>
            </a:r>
            <a:r>
              <a:rPr lang="es-CO" dirty="0"/>
              <a:t> </a:t>
            </a:r>
            <a:r>
              <a:rPr lang="es-CO" dirty="0" err="1"/>
              <a:t>between</a:t>
            </a:r>
            <a:r>
              <a:rPr lang="es-CO" dirty="0"/>
              <a:t> </a:t>
            </a:r>
            <a:r>
              <a:rPr lang="es-CO" dirty="0" err="1"/>
              <a:t>the</a:t>
            </a:r>
            <a:r>
              <a:rPr lang="es-CO" dirty="0"/>
              <a:t> </a:t>
            </a:r>
            <a:r>
              <a:rPr lang="es-CO" dirty="0" err="1"/>
              <a:t>leaf</a:t>
            </a:r>
            <a:r>
              <a:rPr lang="es-CO" dirty="0"/>
              <a:t> </a:t>
            </a:r>
            <a:r>
              <a:rPr lang="es-CO" dirty="0" err="1"/>
              <a:t>prediction</a:t>
            </a:r>
            <a:r>
              <a:rPr lang="es-CO" dirty="0"/>
              <a:t> and </a:t>
            </a:r>
            <a:r>
              <a:rPr lang="es-CO" dirty="0" err="1"/>
              <a:t>the</a:t>
            </a:r>
            <a:r>
              <a:rPr lang="es-CO" dirty="0"/>
              <a:t> </a:t>
            </a:r>
            <a:r>
              <a:rPr lang="es-CO" dirty="0" err="1"/>
              <a:t>baseline</a:t>
            </a:r>
            <a:r>
              <a:rPr lang="es-CO" dirty="0"/>
              <a:t>. </a:t>
            </a:r>
            <a:r>
              <a:rPr lang="es-CO" i="1" dirty="0" err="1"/>
              <a:t>This</a:t>
            </a:r>
            <a:r>
              <a:rPr lang="es-CO" i="1" dirty="0"/>
              <a:t> </a:t>
            </a:r>
            <a:r>
              <a:rPr lang="es-CO" i="1" dirty="0" err="1"/>
              <a:t>is</a:t>
            </a:r>
            <a:r>
              <a:rPr lang="es-CO" i="1" dirty="0"/>
              <a:t> </a:t>
            </a:r>
            <a:r>
              <a:rPr lang="es-CO" i="1" dirty="0" err="1"/>
              <a:t>what</a:t>
            </a:r>
            <a:r>
              <a:rPr lang="es-CO" i="1" dirty="0"/>
              <a:t> </a:t>
            </a:r>
            <a:r>
              <a:rPr lang="es-CO" i="1" dirty="0" err="1"/>
              <a:t>needs</a:t>
            </a:r>
            <a:r>
              <a:rPr lang="es-CO" i="1" dirty="0"/>
              <a:t> </a:t>
            </a:r>
            <a:r>
              <a:rPr lang="es-CO" i="1" dirty="0" err="1"/>
              <a:t>to</a:t>
            </a:r>
            <a:r>
              <a:rPr lang="es-CO" i="1" dirty="0"/>
              <a:t> be </a:t>
            </a:r>
            <a:r>
              <a:rPr lang="es-CO" i="1" dirty="0" err="1"/>
              <a:t>explained</a:t>
            </a:r>
            <a:r>
              <a:rPr lang="es-CO" i="1" dirty="0"/>
              <a:t>.</a:t>
            </a:r>
          </a:p>
        </p:txBody>
      </p:sp>
      <p:sp>
        <p:nvSpPr>
          <p:cNvPr id="70" name="CuadroTexto 69">
            <a:extLst>
              <a:ext uri="{FF2B5EF4-FFF2-40B4-BE49-F238E27FC236}">
                <a16:creationId xmlns:a16="http://schemas.microsoft.com/office/drawing/2014/main" id="{D8B5229D-38AB-496C-AB2F-CAE75F1322BE}"/>
              </a:ext>
            </a:extLst>
          </p:cNvPr>
          <p:cNvSpPr txBox="1"/>
          <p:nvPr/>
        </p:nvSpPr>
        <p:spPr>
          <a:xfrm>
            <a:off x="6420379" y="5141686"/>
            <a:ext cx="2307837" cy="1384995"/>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n-US" dirty="0"/>
              <a:t>Distribute the difference fairly among features using SHAP values, which reflect each feature’s influence by considering all possible combinations.</a:t>
            </a:r>
            <a:endParaRPr lang="es-CO" dirty="0"/>
          </a:p>
        </p:txBody>
      </p:sp>
      <p:grpSp>
        <p:nvGrpSpPr>
          <p:cNvPr id="71" name="Grupo 70">
            <a:extLst>
              <a:ext uri="{FF2B5EF4-FFF2-40B4-BE49-F238E27FC236}">
                <a16:creationId xmlns:a16="http://schemas.microsoft.com/office/drawing/2014/main" id="{AA6EFDB9-86F8-40BA-9AA0-F0A0536D796D}"/>
              </a:ext>
            </a:extLst>
          </p:cNvPr>
          <p:cNvGrpSpPr/>
          <p:nvPr/>
        </p:nvGrpSpPr>
        <p:grpSpPr>
          <a:xfrm>
            <a:off x="7394352" y="4715434"/>
            <a:ext cx="359892" cy="360000"/>
            <a:chOff x="6015693" y="2188627"/>
            <a:chExt cx="359892" cy="360000"/>
          </a:xfrm>
        </p:grpSpPr>
        <p:sp>
          <p:nvSpPr>
            <p:cNvPr id="72" name="Google Shape;387;p19">
              <a:extLst>
                <a:ext uri="{FF2B5EF4-FFF2-40B4-BE49-F238E27FC236}">
                  <a16:creationId xmlns:a16="http://schemas.microsoft.com/office/drawing/2014/main" id="{E7449075-4945-49B8-92E1-CDAC60CDEE55}"/>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388;p19">
              <a:extLst>
                <a:ext uri="{FF2B5EF4-FFF2-40B4-BE49-F238E27FC236}">
                  <a16:creationId xmlns:a16="http://schemas.microsoft.com/office/drawing/2014/main" id="{5FA16CA6-CEB1-4459-97FF-7BC2E63CDF7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4</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5" name="CuadroTexto 74">
            <a:extLst>
              <a:ext uri="{FF2B5EF4-FFF2-40B4-BE49-F238E27FC236}">
                <a16:creationId xmlns:a16="http://schemas.microsoft.com/office/drawing/2014/main" id="{A0FFA421-03D8-4DC1-9C3B-2CDD3B24FC2D}"/>
              </a:ext>
            </a:extLst>
          </p:cNvPr>
          <p:cNvSpPr txBox="1"/>
          <p:nvPr/>
        </p:nvSpPr>
        <p:spPr>
          <a:xfrm>
            <a:off x="7937579" y="3318591"/>
            <a:ext cx="2463022" cy="1169551"/>
          </a:xfrm>
          <a:prstGeom prst="rect">
            <a:avLst/>
          </a:prstGeom>
          <a:noFill/>
        </p:spPr>
        <p:txBody>
          <a:bodyPr wrap="square">
            <a:spAutoFit/>
          </a:bodyPr>
          <a:lstStyle/>
          <a:p>
            <a:pPr algn="ct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ensembles</a:t>
            </a:r>
            <a:r>
              <a:rPr lang="es-CO" sz="1400" dirty="0">
                <a:solidFill>
                  <a:schemeClr val="tx1">
                    <a:lumMod val="50000"/>
                    <a:lumOff val="50000"/>
                  </a:schemeClr>
                </a:solidFill>
              </a:rPr>
              <a:t> (</a:t>
            </a:r>
            <a:r>
              <a:rPr lang="es-CO" sz="1400" dirty="0" err="1">
                <a:solidFill>
                  <a:schemeClr val="tx1">
                    <a:lumMod val="50000"/>
                    <a:lumOff val="50000"/>
                  </a:schemeClr>
                </a:solidFill>
              </a:rPr>
              <a:t>like</a:t>
            </a:r>
            <a:r>
              <a:rPr lang="es-CO" sz="1400" dirty="0">
                <a:solidFill>
                  <a:schemeClr val="tx1">
                    <a:lumMod val="50000"/>
                    <a:lumOff val="50000"/>
                  </a:schemeClr>
                </a:solidFill>
              </a:rPr>
              <a:t> </a:t>
            </a:r>
            <a:r>
              <a:rPr lang="es-CO" sz="1400" dirty="0" err="1">
                <a:solidFill>
                  <a:schemeClr val="tx1">
                    <a:lumMod val="50000"/>
                    <a:lumOff val="50000"/>
                  </a:schemeClr>
                </a:solidFill>
              </a:rPr>
              <a:t>random</a:t>
            </a:r>
            <a:r>
              <a:rPr lang="es-CO" sz="1400" dirty="0">
                <a:solidFill>
                  <a:schemeClr val="tx1">
                    <a:lumMod val="50000"/>
                    <a:lumOff val="50000"/>
                  </a:schemeClr>
                </a:solidFill>
              </a:rPr>
              <a:t> </a:t>
            </a:r>
            <a:r>
              <a:rPr lang="es-CO" sz="1400" dirty="0" err="1">
                <a:solidFill>
                  <a:schemeClr val="tx1">
                    <a:lumMod val="50000"/>
                    <a:lumOff val="50000"/>
                  </a:schemeClr>
                </a:solidFill>
              </a:rPr>
              <a:t>forests</a:t>
            </a:r>
            <a:r>
              <a:rPr lang="es-CO" sz="1400" dirty="0">
                <a:solidFill>
                  <a:schemeClr val="tx1">
                    <a:lumMod val="50000"/>
                    <a:lumOff val="50000"/>
                  </a:schemeClr>
                </a:solidFill>
              </a:rPr>
              <a:t> </a:t>
            </a:r>
            <a:r>
              <a:rPr lang="es-CO" sz="1400" dirty="0" err="1">
                <a:solidFill>
                  <a:schemeClr val="tx1">
                    <a:lumMod val="50000"/>
                    <a:lumOff val="50000"/>
                  </a:schemeClr>
                </a:solidFill>
              </a:rPr>
              <a:t>or</a:t>
            </a:r>
            <a:r>
              <a:rPr lang="es-CO" sz="1400" dirty="0">
                <a:solidFill>
                  <a:schemeClr val="tx1">
                    <a:lumMod val="50000"/>
                    <a:lumOff val="50000"/>
                  </a:schemeClr>
                </a:solidFill>
              </a:rPr>
              <a:t> </a:t>
            </a:r>
            <a:r>
              <a:rPr lang="es-CO" sz="1400" dirty="0" err="1">
                <a:solidFill>
                  <a:schemeClr val="tx1">
                    <a:lumMod val="50000"/>
                    <a:lumOff val="50000"/>
                  </a:schemeClr>
                </a:solidFill>
              </a:rPr>
              <a:t>gradient</a:t>
            </a:r>
            <a:r>
              <a:rPr lang="es-CO" sz="1400" dirty="0">
                <a:solidFill>
                  <a:schemeClr val="tx1">
                    <a:lumMod val="50000"/>
                    <a:lumOff val="50000"/>
                  </a:schemeClr>
                </a:solidFill>
              </a:rPr>
              <a:t> </a:t>
            </a:r>
            <a:r>
              <a:rPr lang="es-CO" sz="1400" dirty="0" err="1">
                <a:solidFill>
                  <a:schemeClr val="tx1">
                    <a:lumMod val="50000"/>
                    <a:lumOff val="50000"/>
                  </a:schemeClr>
                </a:solidFill>
              </a:rPr>
              <a:t>boosting</a:t>
            </a:r>
            <a:r>
              <a:rPr lang="es-CO" sz="1400" dirty="0">
                <a:solidFill>
                  <a:schemeClr val="tx1">
                    <a:lumMod val="50000"/>
                    <a:lumOff val="50000"/>
                  </a:schemeClr>
                </a:solidFill>
              </a:rPr>
              <a:t>):</a:t>
            </a:r>
          </a:p>
          <a:p>
            <a:pPr algn="ctr"/>
            <a:r>
              <a:rPr lang="es-CO" sz="1400" dirty="0" err="1">
                <a:solidFill>
                  <a:schemeClr val="tx1">
                    <a:lumMod val="50000"/>
                    <a:lumOff val="50000"/>
                  </a:schemeClr>
                </a:solidFill>
              </a:rPr>
              <a:t>Repeat</a:t>
            </a:r>
            <a:r>
              <a:rPr lang="es-CO" sz="1400" dirty="0">
                <a:solidFill>
                  <a:schemeClr val="tx1">
                    <a:lumMod val="50000"/>
                    <a:lumOff val="50000"/>
                  </a:schemeClr>
                </a:solidFill>
              </a:rPr>
              <a:t> las </a:t>
            </a:r>
            <a:r>
              <a:rPr lang="es-CO" sz="1400" dirty="0" err="1">
                <a:solidFill>
                  <a:schemeClr val="tx1">
                    <a:lumMod val="50000"/>
                    <a:lumOff val="50000"/>
                  </a:schemeClr>
                </a:solidFill>
              </a:rPr>
              <a:t>steps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tree</a:t>
            </a:r>
            <a:r>
              <a:rPr lang="es-CO" sz="1400" dirty="0">
                <a:solidFill>
                  <a:schemeClr val="tx1">
                    <a:lumMod val="50000"/>
                    <a:lumOff val="50000"/>
                  </a:schemeClr>
                </a:solidFill>
              </a:rPr>
              <a:t>.</a:t>
            </a:r>
          </a:p>
          <a:p>
            <a:pPr algn="ctr"/>
            <a:r>
              <a:rPr lang="es-CO" sz="1400" dirty="0">
                <a:solidFill>
                  <a:schemeClr val="tx1">
                    <a:lumMod val="50000"/>
                    <a:lumOff val="50000"/>
                  </a:schemeClr>
                </a:solidFill>
              </a:rPr>
              <a:t>Sum SHAP </a:t>
            </a:r>
            <a:r>
              <a:rPr lang="es-CO" sz="1400" dirty="0" err="1">
                <a:solidFill>
                  <a:schemeClr val="tx1">
                    <a:lumMod val="50000"/>
                    <a:lumOff val="50000"/>
                  </a:schemeClr>
                </a:solidFill>
              </a:rPr>
              <a:t>values</a:t>
            </a:r>
            <a:r>
              <a:rPr lang="es-CO" sz="1400" dirty="0">
                <a:solidFill>
                  <a:schemeClr val="tx1">
                    <a:lumMod val="50000"/>
                    <a:lumOff val="50000"/>
                  </a:schemeClr>
                </a:solidFill>
              </a:rPr>
              <a:t> </a:t>
            </a:r>
            <a:r>
              <a:rPr lang="es-CO" sz="1400" dirty="0" err="1">
                <a:solidFill>
                  <a:schemeClr val="tx1">
                    <a:lumMod val="50000"/>
                    <a:lumOff val="50000"/>
                  </a:schemeClr>
                </a:solidFill>
              </a:rPr>
              <a:t>across</a:t>
            </a:r>
            <a:r>
              <a:rPr lang="es-CO" sz="1400" dirty="0">
                <a:solidFill>
                  <a:schemeClr val="tx1">
                    <a:lumMod val="50000"/>
                    <a:lumOff val="50000"/>
                  </a:schemeClr>
                </a:solidFill>
              </a:rPr>
              <a:t> </a:t>
            </a:r>
            <a:r>
              <a:rPr lang="es-CO" sz="1400" dirty="0" err="1">
                <a:solidFill>
                  <a:schemeClr val="tx1">
                    <a:lumMod val="50000"/>
                    <a:lumOff val="50000"/>
                  </a:schemeClr>
                </a:solidFill>
              </a:rPr>
              <a:t>all</a:t>
            </a:r>
            <a:r>
              <a:rPr lang="es-CO" sz="1400" dirty="0">
                <a:solidFill>
                  <a:schemeClr val="tx1">
                    <a:lumMod val="50000"/>
                    <a:lumOff val="50000"/>
                  </a:schemeClr>
                </a:solidFill>
              </a:rPr>
              <a:t> </a:t>
            </a:r>
            <a:r>
              <a:rPr lang="es-CO" sz="1400" dirty="0" err="1">
                <a:solidFill>
                  <a:schemeClr val="tx1">
                    <a:lumMod val="50000"/>
                    <a:lumOff val="50000"/>
                  </a:schemeClr>
                </a:solidFill>
              </a:rPr>
              <a:t>trees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feature</a:t>
            </a:r>
            <a:r>
              <a:rPr lang="es-CO" sz="1400" dirty="0">
                <a:solidFill>
                  <a:schemeClr val="tx1">
                    <a:lumMod val="65000"/>
                    <a:lumOff val="35000"/>
                  </a:schemeClr>
                </a:solidFill>
              </a:rPr>
              <a:t>.</a:t>
            </a:r>
          </a:p>
        </p:txBody>
      </p:sp>
      <p:grpSp>
        <p:nvGrpSpPr>
          <p:cNvPr id="76" name="Grupo 75">
            <a:extLst>
              <a:ext uri="{FF2B5EF4-FFF2-40B4-BE49-F238E27FC236}">
                <a16:creationId xmlns:a16="http://schemas.microsoft.com/office/drawing/2014/main" id="{047F1D69-0366-47CC-B18B-493F3855E46A}"/>
              </a:ext>
            </a:extLst>
          </p:cNvPr>
          <p:cNvGrpSpPr/>
          <p:nvPr/>
        </p:nvGrpSpPr>
        <p:grpSpPr>
          <a:xfrm>
            <a:off x="8923439" y="2927309"/>
            <a:ext cx="359892" cy="360000"/>
            <a:chOff x="6015693" y="2188627"/>
            <a:chExt cx="359892" cy="360000"/>
          </a:xfrm>
        </p:grpSpPr>
        <p:sp>
          <p:nvSpPr>
            <p:cNvPr id="77" name="Google Shape;387;p19">
              <a:extLst>
                <a:ext uri="{FF2B5EF4-FFF2-40B4-BE49-F238E27FC236}">
                  <a16:creationId xmlns:a16="http://schemas.microsoft.com/office/drawing/2014/main" id="{55949FA1-1FC6-4340-8591-739FE9FA5664}"/>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chemeClr val="tx1">
                <a:lumMod val="65000"/>
                <a:lumOff val="3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388;p19">
              <a:extLst>
                <a:ext uri="{FF2B5EF4-FFF2-40B4-BE49-F238E27FC236}">
                  <a16:creationId xmlns:a16="http://schemas.microsoft.com/office/drawing/2014/main" id="{E2D81B9B-CB94-4434-BB3E-193CD4FECE4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5</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9" name="CuadroTexto 78">
            <a:extLst>
              <a:ext uri="{FF2B5EF4-FFF2-40B4-BE49-F238E27FC236}">
                <a16:creationId xmlns:a16="http://schemas.microsoft.com/office/drawing/2014/main" id="{5BBF6A24-290B-4A56-832E-2001D9E597B5}"/>
              </a:ext>
            </a:extLst>
          </p:cNvPr>
          <p:cNvSpPr txBox="1"/>
          <p:nvPr/>
        </p:nvSpPr>
        <p:spPr>
          <a:xfrm>
            <a:off x="665032" y="2396367"/>
            <a:ext cx="3476012" cy="523220"/>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How </a:t>
            </a:r>
            <a:r>
              <a:rPr lang="en-US" sz="2400" b="1" dirty="0" err="1">
                <a:latin typeface="Source Sans Pro" panose="020B0503030403020204" pitchFamily="34" charset="0"/>
                <a:ea typeface="Source Sans Pro" panose="020B0503030403020204" pitchFamily="34" charset="0"/>
              </a:rPr>
              <a:t>TreeSHAP</a:t>
            </a:r>
            <a:r>
              <a:rPr lang="en-US" sz="2400" b="1" dirty="0">
                <a:latin typeface="Source Sans Pro" panose="020B0503030403020204" pitchFamily="34" charset="0"/>
                <a:ea typeface="Source Sans Pro" panose="020B0503030403020204" pitchFamily="34" charset="0"/>
              </a:rPr>
              <a:t> Works?</a:t>
            </a:r>
            <a:r>
              <a:rPr lang="en-US" sz="2800" i="1" dirty="0">
                <a:latin typeface="Source Sans Pro Light" panose="020B0403030403020204" pitchFamily="34" charset="0"/>
                <a:ea typeface="Source Sans Pro Light" panose="020B0403030403020204" pitchFamily="34" charset="0"/>
              </a:rPr>
              <a:t> </a:t>
            </a:r>
            <a:endParaRPr lang="es-CO" sz="3600" i="1" dirty="0">
              <a:latin typeface="Source Sans Pro Light" panose="020B0403030403020204" pitchFamily="34" charset="0"/>
              <a:ea typeface="Source Sans Pro Light" panose="020B0403030403020204" pitchFamily="34" charset="0"/>
            </a:endParaRPr>
          </a:p>
        </p:txBody>
      </p:sp>
      <p:sp>
        <p:nvSpPr>
          <p:cNvPr id="82" name="CuadroTexto 81">
            <a:extLst>
              <a:ext uri="{FF2B5EF4-FFF2-40B4-BE49-F238E27FC236}">
                <a16:creationId xmlns:a16="http://schemas.microsoft.com/office/drawing/2014/main" id="{AAF7C981-3516-41A3-BFEF-521B0F6A27AD}"/>
              </a:ext>
            </a:extLst>
          </p:cNvPr>
          <p:cNvSpPr txBox="1"/>
          <p:nvPr/>
        </p:nvSpPr>
        <p:spPr>
          <a:xfrm>
            <a:off x="673045" y="1053235"/>
            <a:ext cx="3481844" cy="769441"/>
          </a:xfrm>
          <a:prstGeom prst="rect">
            <a:avLst/>
          </a:prstGeom>
          <a:noFill/>
        </p:spPr>
        <p:txBody>
          <a:bodyPr wrap="square">
            <a:spAutoFit/>
          </a:bodyPr>
          <a:lstStyle/>
          <a:p>
            <a:r>
              <a:rPr lang="es-ES_tradnl" sz="3200" b="1" dirty="0">
                <a:latin typeface="Source Sans Pro" panose="020B0503030403020204" pitchFamily="34" charset="0"/>
                <a:ea typeface="Source Sans Pro" panose="020B0503030403020204" pitchFamily="34" charset="0"/>
              </a:rPr>
              <a:t>SHAP</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Values</a:t>
            </a:r>
            <a:endParaRPr lang="es-ES_tradnl" sz="4000" b="1" dirty="0">
              <a:latin typeface="Source Sans Pro Light" panose="020B0403030403020204" pitchFamily="34" charset="0"/>
              <a:ea typeface="Source Sans Pro Light" panose="020B0403030403020204" pitchFamily="34" charset="0"/>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3775147" y="1234755"/>
            <a:ext cx="7183609" cy="707886"/>
          </a:xfrm>
          <a:prstGeom prst="rect">
            <a:avLst/>
          </a:prstGeom>
          <a:noFill/>
        </p:spPr>
        <p:txBody>
          <a:bodyPr wrap="square">
            <a:spAutoFit/>
          </a:bodyPr>
          <a:lstStyle/>
          <a:p>
            <a:pPr rtl="0">
              <a:spcBef>
                <a:spcPts val="0"/>
              </a:spcBef>
              <a:spcAft>
                <a:spcPts val="0"/>
              </a:spcAft>
            </a:pPr>
            <a:r>
              <a:rPr lang="en-US" sz="2000" i="1" u="sng" dirty="0"/>
              <a:t>SHAP (</a:t>
            </a:r>
            <a:r>
              <a:rPr lang="en-US" sz="2000" b="1" i="1" u="sng" dirty="0" err="1"/>
              <a:t>SH</a:t>
            </a:r>
            <a:r>
              <a:rPr lang="en-US" sz="2000" i="1" u="sng" dirty="0" err="1"/>
              <a:t>apley</a:t>
            </a:r>
            <a:r>
              <a:rPr lang="en-US" sz="2000" i="1" u="sng" dirty="0"/>
              <a:t> </a:t>
            </a:r>
            <a:r>
              <a:rPr lang="en-US" sz="2000" b="1" i="1" u="sng" dirty="0"/>
              <a:t>A</a:t>
            </a:r>
            <a:r>
              <a:rPr lang="en-US" sz="2000" i="1" u="sng" dirty="0"/>
              <a:t>dditive </a:t>
            </a:r>
            <a:r>
              <a:rPr lang="en-US" sz="2000" i="1" u="sng" dirty="0" err="1"/>
              <a:t>ex</a:t>
            </a:r>
            <a:r>
              <a:rPr lang="en-US" sz="2000" b="1" i="1" u="sng" dirty="0" err="1"/>
              <a:t>P</a:t>
            </a:r>
            <a:r>
              <a:rPr lang="en-US" sz="2000" i="1" u="sng" dirty="0" err="1"/>
              <a:t>lanations</a:t>
            </a:r>
            <a:r>
              <a:rPr lang="en-US" sz="2000" i="1" u="sng" dirty="0"/>
              <a:t>) values </a:t>
            </a:r>
            <a:r>
              <a:rPr lang="en-US" sz="2000" dirty="0"/>
              <a:t>explain how much each feature contributes to a model’s prediction.</a:t>
            </a:r>
          </a:p>
        </p:txBody>
      </p:sp>
      <p:sp>
        <p:nvSpPr>
          <p:cNvPr id="85" name="CuadroTexto 84">
            <a:extLst>
              <a:ext uri="{FF2B5EF4-FFF2-40B4-BE49-F238E27FC236}">
                <a16:creationId xmlns:a16="http://schemas.microsoft.com/office/drawing/2014/main" id="{58695020-6416-4FBB-97A5-8FF031D99A6F}"/>
              </a:ext>
            </a:extLst>
          </p:cNvPr>
          <p:cNvSpPr txBox="1"/>
          <p:nvPr/>
        </p:nvSpPr>
        <p:spPr>
          <a:xfrm>
            <a:off x="3823189" y="2487831"/>
            <a:ext cx="2195789" cy="369332"/>
          </a:xfrm>
          <a:prstGeom prst="rect">
            <a:avLst/>
          </a:prstGeom>
          <a:noFill/>
        </p:spPr>
        <p:txBody>
          <a:bodyPr wrap="square">
            <a:spAutoFit/>
          </a:bodyPr>
          <a:lstStyle/>
          <a:p>
            <a:r>
              <a:rPr lang="en-US" sz="1800" i="1" dirty="0">
                <a:latin typeface="Source Sans Pro Light" panose="020B0403030403020204" pitchFamily="34" charset="0"/>
                <a:ea typeface="Source Sans Pro Light" panose="020B0403030403020204" pitchFamily="34" charset="0"/>
              </a:rPr>
              <a:t>(for Trees and Forests)</a:t>
            </a:r>
            <a:endParaRPr lang="es-CO" dirty="0"/>
          </a:p>
        </p:txBody>
      </p:sp>
    </p:spTree>
    <p:extLst>
      <p:ext uri="{BB962C8B-B14F-4D97-AF65-F5344CB8AC3E}">
        <p14:creationId xmlns:p14="http://schemas.microsoft.com/office/powerpoint/2010/main" val="24592223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22</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400" b="1" dirty="0">
                <a:latin typeface="Source Sans Pro" panose="020B0503030403020204" pitchFamily="34" charset="0"/>
                <a:ea typeface="Source Sans Pro" panose="020B0503030403020204" pitchFamily="34" charset="0"/>
                <a:sym typeface="Fira Sans Extra Condensed Medium"/>
              </a:rPr>
              <a:t>Pros &amp; cons</a:t>
            </a:r>
            <a:endParaRPr sz="2400" b="1" dirty="0">
              <a:latin typeface="Source Sans Pro" panose="020B0503030403020204" pitchFamily="34" charset="0"/>
              <a:ea typeface="Source Sans Pro" panose="020B0503030403020204" pitchFamily="34" charset="0"/>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r>
                <a:rPr lang="es-ES_tradnl" sz="2400" i="1" dirty="0" err="1">
                  <a:latin typeface="Source Sans Pro Light" panose="020B0403030403020204" pitchFamily="34" charset="0"/>
                  <a:ea typeface="Source Sans Pro Light" panose="020B0403030403020204" pitchFamily="34" charset="0"/>
                </a:rPr>
                <a:t>Sobol</a:t>
              </a:r>
              <a:r>
                <a:rPr lang="es-ES_tradnl" sz="2400" i="1" dirty="0">
                  <a:latin typeface="Source Sans Pro Light" panose="020B0403030403020204" pitchFamily="34" charset="0"/>
                  <a:ea typeface="Source Sans Pro Light" panose="020B0403030403020204" pitchFamily="34" charset="0"/>
                </a:rPr>
                <a:t> </a:t>
              </a:r>
              <a:r>
                <a:rPr lang="es-ES" sz="2400" i="1" dirty="0" err="1">
                  <a:latin typeface="Source Sans Pro Light" panose="020B0403030403020204" pitchFamily="34" charset="0"/>
                  <a:ea typeface="Source Sans Pro Light" panose="020B0403030403020204" pitchFamily="34" charset="0"/>
                </a:rPr>
                <a:t>Indices</a:t>
              </a:r>
              <a:endParaRPr lang="es-ES_tradnl" sz="2800" b="1" dirty="0">
                <a:latin typeface="Source Sans Pro Light" panose="020B0403030403020204" pitchFamily="34" charset="0"/>
                <a:ea typeface="Source Sans Pro Light" panose="020B0403030403020204" pitchFamily="34" charset="0"/>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r>
                <a:rPr lang="es-ES_tradnl" sz="2400" i="1" dirty="0">
                  <a:latin typeface="Source Sans Pro Light" panose="020B0403030403020204" pitchFamily="34" charset="0"/>
                  <a:ea typeface="Source Sans Pro Light" panose="020B0403030403020204" pitchFamily="34" charset="0"/>
                </a:rPr>
                <a:t>SHAP</a:t>
              </a:r>
              <a:r>
                <a:rPr lang="es-ES_tradnl" sz="1600" b="1" dirty="0">
                  <a:latin typeface="Source Sans Pro" panose="020B0503030403020204" pitchFamily="34" charset="0"/>
                  <a:ea typeface="Source Sans Pro" panose="020B0503030403020204" pitchFamily="34" charset="0"/>
                </a:rPr>
                <a:t> </a:t>
              </a:r>
              <a:r>
                <a:rPr lang="es-ES" sz="2400" i="1" dirty="0" err="1">
                  <a:latin typeface="Source Sans Pro Light" panose="020B0403030403020204" pitchFamily="34" charset="0"/>
                  <a:ea typeface="Source Sans Pro Light" panose="020B0403030403020204" pitchFamily="34" charset="0"/>
                </a:rPr>
                <a:t>Values</a:t>
              </a:r>
              <a:endParaRPr lang="es-ES_tradnl" sz="2800" b="1" dirty="0">
                <a:latin typeface="Source Sans Pro Light" panose="020B0403030403020204" pitchFamily="34" charset="0"/>
                <a:ea typeface="Source Sans Pro Light" panose="020B0403030403020204" pitchFamily="34" charset="0"/>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indent="-285750">
              <a:buFont typeface="Wingdings" panose="05000000000000000000" pitchFamily="2" charset="2"/>
              <a:buChar char="§"/>
            </a:pPr>
            <a:r>
              <a:rPr lang="en-US" sz="1600" dirty="0"/>
              <a:t>Global sensitivity quantifies how inputs influence output variance.</a:t>
            </a:r>
          </a:p>
          <a:p>
            <a:pPr marL="285750" indent="-285750">
              <a:buFont typeface="Wingdings" panose="05000000000000000000" pitchFamily="2" charset="2"/>
              <a:buChar char="§"/>
            </a:pPr>
            <a:r>
              <a:rPr lang="en-US" sz="1600" dirty="0"/>
              <a:t>Accounts for interactions.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s-CO" sz="1600" dirty="0" err="1"/>
              <a:t>Offers</a:t>
            </a:r>
            <a:r>
              <a:rPr lang="es-CO" sz="1600" dirty="0"/>
              <a:t> a </a:t>
            </a:r>
            <a:r>
              <a:rPr lang="es-CO" sz="1600" dirty="0" err="1"/>
              <a:t>clear</a:t>
            </a:r>
            <a:r>
              <a:rPr lang="es-CO" sz="1600" dirty="0"/>
              <a:t> </a:t>
            </a:r>
            <a:r>
              <a:rPr lang="es-CO" sz="1600" dirty="0" err="1"/>
              <a:t>variance</a:t>
            </a:r>
            <a:r>
              <a:rPr lang="es-CO" sz="1600" dirty="0"/>
              <a:t> </a:t>
            </a:r>
            <a:r>
              <a:rPr lang="es-CO" sz="1600" dirty="0" err="1"/>
              <a:t>decomposition</a:t>
            </a:r>
            <a:r>
              <a:rPr lang="es-CO" sz="1600" dirty="0"/>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indent="-285750">
              <a:buFont typeface="Wingdings" panose="05000000000000000000" pitchFamily="2" charset="2"/>
              <a:buChar char="§"/>
            </a:pPr>
            <a:r>
              <a:rPr lang="en-US" sz="1600" dirty="0"/>
              <a:t>Local explanations clarify individual predictions.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n-US" sz="1600" dirty="0"/>
              <a:t>Handle interactions.</a:t>
            </a:r>
          </a:p>
          <a:p>
            <a:pPr marL="285750" indent="-285750">
              <a:buFont typeface="Wingdings" panose="05000000000000000000" pitchFamily="2" charset="2"/>
              <a:buChar char="§"/>
            </a:pPr>
            <a:r>
              <a:rPr lang="en-US" sz="1600" dirty="0"/>
              <a:t>They are grounded in fair game-theoretic principles, with </a:t>
            </a:r>
            <a:r>
              <a:rPr lang="es-CO" sz="1600" b="0" dirty="0" err="1"/>
              <a:t>guarantees</a:t>
            </a:r>
            <a:r>
              <a:rPr lang="es-CO" sz="1600" b="0" dirty="0"/>
              <a:t> </a:t>
            </a:r>
            <a:r>
              <a:rPr lang="es-CO" sz="1600" b="0" dirty="0" err="1"/>
              <a:t>of</a:t>
            </a:r>
            <a:r>
              <a:rPr lang="es-CO" sz="1600" b="0" dirty="0"/>
              <a:t> </a:t>
            </a:r>
            <a:r>
              <a:rPr lang="es-CO" sz="1600" b="0" dirty="0" err="1"/>
              <a:t>fairness</a:t>
            </a:r>
            <a:r>
              <a:rPr lang="es-CO" sz="1600" b="0" dirty="0"/>
              <a:t> and </a:t>
            </a:r>
            <a:r>
              <a:rPr lang="es-CO" sz="1600" b="0" dirty="0" err="1"/>
              <a:t>consistency</a:t>
            </a:r>
            <a:r>
              <a:rPr lang="es-CO" sz="1600" b="0" dirty="0"/>
              <a:t>.</a:t>
            </a:r>
            <a:endParaRPr lang="es-CO" sz="1600" dirty="0"/>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n-US" dirty="0"/>
              <a:t>High computational cost.</a:t>
            </a:r>
          </a:p>
          <a:p>
            <a:r>
              <a:rPr lang="en-US" dirty="0"/>
              <a:t>Assumes input independence. </a:t>
            </a:r>
          </a:p>
          <a:p>
            <a:r>
              <a:rPr lang="en-US" dirty="0"/>
              <a:t>Provides only global insights. </a:t>
            </a:r>
          </a:p>
          <a:p>
            <a:r>
              <a:rPr lang="en-US" dirty="0"/>
              <a:t>Struggles with high-dimensional data.</a:t>
            </a:r>
            <a:endParaRPr lang="es-CO" dirty="0"/>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s-CO" dirty="0" err="1"/>
              <a:t>Computationally</a:t>
            </a:r>
            <a:r>
              <a:rPr lang="es-CO" dirty="0"/>
              <a:t> intensive.</a:t>
            </a:r>
          </a:p>
          <a:p>
            <a:r>
              <a:rPr lang="es-CO" dirty="0"/>
              <a:t>May </a:t>
            </a:r>
            <a:r>
              <a:rPr lang="es-CO" dirty="0" err="1"/>
              <a:t>give</a:t>
            </a:r>
            <a:r>
              <a:rPr lang="es-CO" dirty="0"/>
              <a:t> </a:t>
            </a:r>
            <a:r>
              <a:rPr lang="es-CO" dirty="0" err="1"/>
              <a:t>misleading</a:t>
            </a:r>
            <a:r>
              <a:rPr lang="es-CO" dirty="0"/>
              <a:t> </a:t>
            </a:r>
            <a:r>
              <a:rPr lang="es-CO" dirty="0" err="1"/>
              <a:t>results</a:t>
            </a:r>
            <a:r>
              <a:rPr lang="es-CO" dirty="0"/>
              <a:t> </a:t>
            </a:r>
            <a:r>
              <a:rPr lang="es-CO" dirty="0" err="1"/>
              <a:t>if</a:t>
            </a:r>
            <a:r>
              <a:rPr lang="es-CO" dirty="0"/>
              <a:t> </a:t>
            </a:r>
            <a:r>
              <a:rPr lang="es-CO" dirty="0" err="1"/>
              <a:t>feature</a:t>
            </a:r>
            <a:r>
              <a:rPr lang="es-CO" dirty="0"/>
              <a:t> </a:t>
            </a:r>
            <a:r>
              <a:rPr lang="es-CO" dirty="0" err="1"/>
              <a:t>dependence</a:t>
            </a:r>
            <a:r>
              <a:rPr lang="es-CO" dirty="0"/>
              <a:t> </a:t>
            </a:r>
            <a:r>
              <a:rPr lang="es-CO" dirty="0" err="1"/>
              <a:t>isn't</a:t>
            </a:r>
            <a:r>
              <a:rPr lang="es-CO" dirty="0"/>
              <a:t> </a:t>
            </a:r>
            <a:r>
              <a:rPr lang="es-CO" dirty="0" err="1"/>
              <a:t>handled</a:t>
            </a:r>
            <a:r>
              <a:rPr lang="es-CO" dirty="0"/>
              <a:t> </a:t>
            </a:r>
            <a:r>
              <a:rPr lang="es-CO" dirty="0" err="1"/>
              <a:t>well</a:t>
            </a:r>
            <a:r>
              <a:rPr lang="es-CO" dirty="0"/>
              <a:t>.</a:t>
            </a:r>
          </a:p>
        </p:txBody>
      </p:sp>
    </p:spTree>
    <p:extLst>
      <p:ext uri="{BB962C8B-B14F-4D97-AF65-F5344CB8AC3E}">
        <p14:creationId xmlns:p14="http://schemas.microsoft.com/office/powerpoint/2010/main" val="38192164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23</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CuadroTexto 1">
            <a:extLst>
              <a:ext uri="{FF2B5EF4-FFF2-40B4-BE49-F238E27FC236}">
                <a16:creationId xmlns:a16="http://schemas.microsoft.com/office/drawing/2014/main" id="{4E095097-9C3A-474F-8236-7F73FECE2F38}"/>
              </a:ext>
            </a:extLst>
          </p:cNvPr>
          <p:cNvSpPr txBox="1"/>
          <p:nvPr/>
        </p:nvSpPr>
        <p:spPr>
          <a:xfrm>
            <a:off x="1235414" y="2018510"/>
            <a:ext cx="10627781" cy="523220"/>
          </a:xfrm>
          <a:prstGeom prst="rect">
            <a:avLst/>
          </a:prstGeom>
          <a:noFill/>
        </p:spPr>
        <p:txBody>
          <a:bodyPr wrap="none" rtlCol="0">
            <a:spAutoFit/>
          </a:bodyPr>
          <a:lstStyle/>
          <a:p>
            <a:r>
              <a:rPr lang="es-ES" sz="2800" b="1" dirty="0">
                <a:solidFill>
                  <a:srgbClr val="FF0000"/>
                </a:solidFill>
              </a:rPr>
              <a:t> </a:t>
            </a:r>
            <a:r>
              <a:rPr lang="es-ES" sz="2800" b="1" dirty="0" err="1">
                <a:solidFill>
                  <a:srgbClr val="FF0000"/>
                </a:solidFill>
              </a:rPr>
              <a:t>what</a:t>
            </a:r>
            <a:r>
              <a:rPr lang="es-ES" sz="2800" b="1" dirty="0">
                <a:solidFill>
                  <a:srgbClr val="FF0000"/>
                </a:solidFill>
              </a:rPr>
              <a:t> </a:t>
            </a:r>
            <a:r>
              <a:rPr lang="es-ES" sz="2800" b="1" dirty="0" err="1">
                <a:solidFill>
                  <a:srgbClr val="FF0000"/>
                </a:solidFill>
              </a:rPr>
              <a:t>we</a:t>
            </a:r>
            <a:r>
              <a:rPr lang="es-ES" sz="2800" b="1" dirty="0">
                <a:solidFill>
                  <a:srgbClr val="FF0000"/>
                </a:solidFill>
              </a:rPr>
              <a:t> </a:t>
            </a:r>
            <a:r>
              <a:rPr lang="es-ES" sz="2800" b="1" dirty="0" err="1">
                <a:solidFill>
                  <a:srgbClr val="FF0000"/>
                </a:solidFill>
              </a:rPr>
              <a:t>tried</a:t>
            </a:r>
            <a:r>
              <a:rPr lang="es-ES" sz="2800" b="1" dirty="0">
                <a:solidFill>
                  <a:srgbClr val="FF0000"/>
                </a:solidFill>
              </a:rPr>
              <a:t> -&gt; </a:t>
            </a:r>
            <a:r>
              <a:rPr lang="es-ES" sz="2800" b="1" dirty="0" err="1">
                <a:solidFill>
                  <a:srgbClr val="FF0000"/>
                </a:solidFill>
              </a:rPr>
              <a:t>Sobol</a:t>
            </a:r>
            <a:r>
              <a:rPr lang="es-ES" sz="2800" b="1" dirty="0">
                <a:solidFill>
                  <a:srgbClr val="FF0000"/>
                </a:solidFill>
              </a:rPr>
              <a:t> Alpha PEM- </a:t>
            </a:r>
            <a:r>
              <a:rPr lang="es-ES" sz="2800" b="1" dirty="0" err="1">
                <a:solidFill>
                  <a:srgbClr val="FF0000"/>
                </a:solidFill>
              </a:rPr>
              <a:t>Sobol</a:t>
            </a:r>
            <a:r>
              <a:rPr lang="es-ES" sz="2800" b="1" dirty="0">
                <a:solidFill>
                  <a:srgbClr val="FF0000"/>
                </a:solidFill>
              </a:rPr>
              <a:t> in </a:t>
            </a:r>
            <a:r>
              <a:rPr lang="es-ES" sz="2800" b="1" dirty="0" err="1">
                <a:solidFill>
                  <a:srgbClr val="FF0000"/>
                </a:solidFill>
              </a:rPr>
              <a:t>XGBoost</a:t>
            </a:r>
            <a:r>
              <a:rPr lang="es-ES" sz="2800" b="1" dirty="0">
                <a:solidFill>
                  <a:srgbClr val="FF0000"/>
                </a:solidFill>
              </a:rPr>
              <a:t>-SHAP </a:t>
            </a:r>
            <a:r>
              <a:rPr lang="es-CO" sz="2800" b="1" dirty="0">
                <a:solidFill>
                  <a:srgbClr val="FF0000"/>
                </a:solidFill>
              </a:rPr>
              <a:t>in </a:t>
            </a:r>
            <a:r>
              <a:rPr lang="es-CO" sz="2800" b="1" dirty="0" err="1">
                <a:solidFill>
                  <a:srgbClr val="FF0000"/>
                </a:solidFill>
              </a:rPr>
              <a:t>XGBoost</a:t>
            </a:r>
            <a:endParaRPr lang="es-ES" sz="2800" b="1" dirty="0">
              <a:solidFill>
                <a:srgbClr val="FF0000"/>
              </a:solidFill>
            </a:endParaRPr>
          </a:p>
        </p:txBody>
      </p:sp>
    </p:spTree>
    <p:extLst>
      <p:ext uri="{BB962C8B-B14F-4D97-AF65-F5344CB8AC3E}">
        <p14:creationId xmlns:p14="http://schemas.microsoft.com/office/powerpoint/2010/main" val="41007415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24</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Rectángulo: esquinas redondeadas 1">
            <a:extLst>
              <a:ext uri="{FF2B5EF4-FFF2-40B4-BE49-F238E27FC236}">
                <a16:creationId xmlns:a16="http://schemas.microsoft.com/office/drawing/2014/main" id="{DB341398-6A4B-4571-A937-2659BF00AA68}"/>
              </a:ext>
            </a:extLst>
          </p:cNvPr>
          <p:cNvSpPr/>
          <p:nvPr/>
        </p:nvSpPr>
        <p:spPr>
          <a:xfrm>
            <a:off x="939478" y="1499981"/>
            <a:ext cx="10613985" cy="2570601"/>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Rectángulo: esquinas redondeadas 13">
            <a:extLst>
              <a:ext uri="{FF2B5EF4-FFF2-40B4-BE49-F238E27FC236}">
                <a16:creationId xmlns:a16="http://schemas.microsoft.com/office/drawing/2014/main" id="{12D32C1F-28DA-49D1-A50A-0EFB1CA48162}"/>
              </a:ext>
            </a:extLst>
          </p:cNvPr>
          <p:cNvSpPr/>
          <p:nvPr/>
        </p:nvSpPr>
        <p:spPr>
          <a:xfrm>
            <a:off x="939478" y="4160169"/>
            <a:ext cx="10613985" cy="2570400"/>
          </a:xfrm>
          <a:prstGeom prst="roundRect">
            <a:avLst/>
          </a:prstGeom>
          <a:solidFill>
            <a:srgbClr val="008B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a:extLst>
              <a:ext uri="{FF2B5EF4-FFF2-40B4-BE49-F238E27FC236}">
                <a16:creationId xmlns:a16="http://schemas.microsoft.com/office/drawing/2014/main" id="{7EBC1E72-7D27-45CD-BD7B-42F4DB7F358A}"/>
              </a:ext>
            </a:extLst>
          </p:cNvPr>
          <p:cNvSpPr txBox="1"/>
          <p:nvPr/>
        </p:nvSpPr>
        <p:spPr>
          <a:xfrm>
            <a:off x="1267570" y="4768719"/>
            <a:ext cx="2181464" cy="1138773"/>
          </a:xfrm>
          <a:prstGeom prst="rect">
            <a:avLst/>
          </a:prstGeom>
          <a:noFill/>
        </p:spPr>
        <p:txBody>
          <a:bodyPr wrap="square">
            <a:spAutoFit/>
          </a:bodyPr>
          <a:lstStyle/>
          <a:p>
            <a:r>
              <a:rPr lang="es-ES_tradnl" sz="2800" b="1" dirty="0">
                <a:latin typeface="Source Sans Pro" panose="020B0503030403020204" pitchFamily="34" charset="0"/>
                <a:ea typeface="Source Sans Pro" panose="020B0503030403020204" pitchFamily="34" charset="0"/>
              </a:rPr>
              <a:t>SHAP</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Values</a:t>
            </a:r>
            <a:endParaRPr lang="es-ES_tradnl" sz="3600" b="1" dirty="0">
              <a:latin typeface="Source Sans Pro Light" panose="020B0403030403020204" pitchFamily="34" charset="0"/>
              <a:ea typeface="Source Sans Pro Light" panose="020B0403030403020204" pitchFamily="34" charset="0"/>
            </a:endParaRPr>
          </a:p>
        </p:txBody>
      </p:sp>
      <p:sp>
        <p:nvSpPr>
          <p:cNvPr id="16" name="CuadroTexto 15">
            <a:extLst>
              <a:ext uri="{FF2B5EF4-FFF2-40B4-BE49-F238E27FC236}">
                <a16:creationId xmlns:a16="http://schemas.microsoft.com/office/drawing/2014/main" id="{6A96AE94-B3D6-4B46-9C09-B5956B690F33}"/>
              </a:ext>
            </a:extLst>
          </p:cNvPr>
          <p:cNvSpPr txBox="1"/>
          <p:nvPr/>
        </p:nvSpPr>
        <p:spPr>
          <a:xfrm>
            <a:off x="1267570" y="2041205"/>
            <a:ext cx="1880473" cy="1138773"/>
          </a:xfrm>
          <a:prstGeom prst="rect">
            <a:avLst/>
          </a:prstGeom>
          <a:noFill/>
        </p:spPr>
        <p:txBody>
          <a:bodyPr wrap="square">
            <a:spAutoFit/>
          </a:bodyPr>
          <a:lstStyle/>
          <a:p>
            <a:r>
              <a:rPr lang="es-ES_tradnl" sz="2800" b="1" dirty="0" err="1">
                <a:latin typeface="Source Sans Pro" panose="020B0503030403020204" pitchFamily="34" charset="0"/>
                <a:ea typeface="Source Sans Pro" panose="020B0503030403020204" pitchFamily="34" charset="0"/>
              </a:rPr>
              <a:t>Sobol</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Indices</a:t>
            </a:r>
            <a:endParaRPr lang="es-ES_tradnl" sz="3600" b="1" dirty="0">
              <a:latin typeface="Source Sans Pro Light" panose="020B0403030403020204" pitchFamily="34" charset="0"/>
              <a:ea typeface="Source Sans Pro Light" panose="020B0403030403020204" pitchFamily="34" charset="0"/>
            </a:endParaRPr>
          </a:p>
        </p:txBody>
      </p:sp>
      <p:sp>
        <p:nvSpPr>
          <p:cNvPr id="18" name="CuadroTexto 17">
            <a:extLst>
              <a:ext uri="{FF2B5EF4-FFF2-40B4-BE49-F238E27FC236}">
                <a16:creationId xmlns:a16="http://schemas.microsoft.com/office/drawing/2014/main" id="{661C957B-EE43-4268-A9B9-3090F18DB587}"/>
              </a:ext>
            </a:extLst>
          </p:cNvPr>
          <p:cNvSpPr txBox="1"/>
          <p:nvPr/>
        </p:nvSpPr>
        <p:spPr>
          <a:xfrm>
            <a:off x="4933427" y="930880"/>
            <a:ext cx="1432367" cy="646331"/>
          </a:xfrm>
          <a:prstGeom prst="rect">
            <a:avLst/>
          </a:prstGeom>
          <a:noFill/>
        </p:spPr>
        <p:txBody>
          <a:bodyPr wrap="square">
            <a:spAutoFit/>
          </a:bodyPr>
          <a:lstStyle/>
          <a:p>
            <a:r>
              <a:rPr lang="es-ES_tradnl" sz="3600" b="1" dirty="0">
                <a:latin typeface="Source Sans Pro" panose="020B0503030403020204" pitchFamily="34" charset="0"/>
                <a:ea typeface="Source Sans Pro" panose="020B0503030403020204" pitchFamily="34" charset="0"/>
              </a:rPr>
              <a:t>Pros</a:t>
            </a:r>
            <a:endParaRPr lang="es-CO" sz="3600" b="1" dirty="0">
              <a:latin typeface="Source Sans Pro" panose="020B0503030403020204" pitchFamily="34" charset="0"/>
              <a:ea typeface="Source Sans Pro" panose="020B0503030403020204" pitchFamily="34" charset="0"/>
            </a:endParaRPr>
          </a:p>
        </p:txBody>
      </p:sp>
      <p:sp>
        <p:nvSpPr>
          <p:cNvPr id="19" name="CuadroTexto 18">
            <a:extLst>
              <a:ext uri="{FF2B5EF4-FFF2-40B4-BE49-F238E27FC236}">
                <a16:creationId xmlns:a16="http://schemas.microsoft.com/office/drawing/2014/main" id="{8AA1BA44-7736-49AA-A4D3-9653AD5F5EC1}"/>
              </a:ext>
            </a:extLst>
          </p:cNvPr>
          <p:cNvSpPr txBox="1"/>
          <p:nvPr/>
        </p:nvSpPr>
        <p:spPr>
          <a:xfrm>
            <a:off x="8665737" y="930880"/>
            <a:ext cx="1432367" cy="646331"/>
          </a:xfrm>
          <a:prstGeom prst="rect">
            <a:avLst/>
          </a:prstGeom>
          <a:noFill/>
        </p:spPr>
        <p:txBody>
          <a:bodyPr wrap="square">
            <a:spAutoFit/>
          </a:bodyPr>
          <a:lstStyle/>
          <a:p>
            <a:r>
              <a:rPr lang="es-ES_tradnl" sz="3600" b="1" dirty="0" err="1">
                <a:latin typeface="Source Sans Pro" panose="020B0503030403020204" pitchFamily="34" charset="0"/>
                <a:ea typeface="Source Sans Pro" panose="020B0503030403020204" pitchFamily="34" charset="0"/>
              </a:rPr>
              <a:t>Cons</a:t>
            </a:r>
            <a:endParaRPr lang="es-CO" sz="3600" b="1" dirty="0">
              <a:latin typeface="Source Sans Pro" panose="020B0503030403020204" pitchFamily="34" charset="0"/>
              <a:ea typeface="Source Sans Pro" panose="020B0503030403020204" pitchFamily="34" charset="0"/>
            </a:endParaRPr>
          </a:p>
        </p:txBody>
      </p:sp>
      <p:cxnSp>
        <p:nvCxnSpPr>
          <p:cNvPr id="9" name="Conector recto 8">
            <a:extLst>
              <a:ext uri="{FF2B5EF4-FFF2-40B4-BE49-F238E27FC236}">
                <a16:creationId xmlns:a16="http://schemas.microsoft.com/office/drawing/2014/main" id="{7297B2D7-3B2A-480F-AA46-5C4E82E26F8F}"/>
              </a:ext>
            </a:extLst>
          </p:cNvPr>
          <p:cNvCxnSpPr>
            <a:cxnSpLocks/>
          </p:cNvCxnSpPr>
          <p:nvPr/>
        </p:nvCxnSpPr>
        <p:spPr>
          <a:xfrm>
            <a:off x="3514167" y="1744029"/>
            <a:ext cx="0"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3C434D8E-E936-4F10-A061-AC9D9E4C3C2E}"/>
              </a:ext>
            </a:extLst>
          </p:cNvPr>
          <p:cNvCxnSpPr>
            <a:cxnSpLocks/>
          </p:cNvCxnSpPr>
          <p:nvPr/>
        </p:nvCxnSpPr>
        <p:spPr>
          <a:xfrm>
            <a:off x="7620001" y="1744029"/>
            <a:ext cx="31186"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CuadroTexto 24">
            <a:extLst>
              <a:ext uri="{FF2B5EF4-FFF2-40B4-BE49-F238E27FC236}">
                <a16:creationId xmlns:a16="http://schemas.microsoft.com/office/drawing/2014/main" id="{5AFF2CA7-5185-4D37-847B-CB5164F0AFAC}"/>
              </a:ext>
            </a:extLst>
          </p:cNvPr>
          <p:cNvSpPr txBox="1"/>
          <p:nvPr/>
        </p:nvSpPr>
        <p:spPr>
          <a:xfrm>
            <a:off x="3567339" y="1654441"/>
            <a:ext cx="4053827" cy="2308324"/>
          </a:xfrm>
          <a:prstGeom prst="rect">
            <a:avLst/>
          </a:prstGeom>
          <a:noFill/>
        </p:spPr>
        <p:txBody>
          <a:bodyPr wrap="square">
            <a:spAutoFit/>
          </a:bodyPr>
          <a:lstStyle/>
          <a:p>
            <a:pPr marL="285750" indent="-285750">
              <a:buFont typeface="Wingdings" panose="05000000000000000000" pitchFamily="2" charset="2"/>
              <a:buChar char="§"/>
            </a:pPr>
            <a:r>
              <a:rPr lang="es-CO" sz="1600" b="1" dirty="0"/>
              <a:t>Global </a:t>
            </a:r>
            <a:r>
              <a:rPr lang="es-CO" sz="1600" b="1" dirty="0" err="1"/>
              <a:t>sensitivity</a:t>
            </a:r>
            <a:r>
              <a:rPr lang="es-CO" sz="1600" b="1" dirty="0"/>
              <a:t>:</a:t>
            </a:r>
            <a:r>
              <a:rPr lang="es-CO" sz="1600" dirty="0"/>
              <a:t> </a:t>
            </a:r>
            <a:r>
              <a:rPr lang="es-CO" sz="1600" dirty="0" err="1"/>
              <a:t>Measures</a:t>
            </a:r>
            <a:r>
              <a:rPr lang="es-CO" sz="1600" dirty="0"/>
              <a:t> </a:t>
            </a:r>
            <a:r>
              <a:rPr lang="es-CO" sz="1600" dirty="0" err="1"/>
              <a:t>how</a:t>
            </a:r>
            <a:r>
              <a:rPr lang="es-CO" sz="1600" dirty="0"/>
              <a:t> </a:t>
            </a:r>
            <a:r>
              <a:rPr lang="es-CO" sz="1600" dirty="0" err="1"/>
              <a:t>each</a:t>
            </a:r>
            <a:r>
              <a:rPr lang="es-CO" sz="1600" dirty="0"/>
              <a:t> input </a:t>
            </a:r>
            <a:r>
              <a:rPr lang="es-CO" sz="1600" dirty="0" err="1"/>
              <a:t>affects</a:t>
            </a:r>
            <a:r>
              <a:rPr lang="es-CO" sz="1600" dirty="0"/>
              <a:t> </a:t>
            </a:r>
            <a:r>
              <a:rPr lang="es-CO" sz="1600" dirty="0" err="1"/>
              <a:t>the</a:t>
            </a:r>
            <a:r>
              <a:rPr lang="es-CO" sz="1600" dirty="0"/>
              <a:t> </a:t>
            </a:r>
            <a:r>
              <a:rPr lang="es-CO" sz="1600" dirty="0" err="1"/>
              <a:t>entire</a:t>
            </a:r>
            <a:r>
              <a:rPr lang="es-CO" sz="1600" dirty="0"/>
              <a:t> output </a:t>
            </a:r>
            <a:r>
              <a:rPr lang="es-CO" sz="1600" dirty="0" err="1"/>
              <a:t>variance</a:t>
            </a:r>
            <a:r>
              <a:rPr lang="es-CO" sz="1600" dirty="0"/>
              <a:t> </a:t>
            </a:r>
            <a:r>
              <a:rPr lang="es-CO" sz="1600" dirty="0" err="1"/>
              <a:t>across</a:t>
            </a:r>
            <a:r>
              <a:rPr lang="es-CO" sz="1600" dirty="0"/>
              <a:t> </a:t>
            </a:r>
            <a:r>
              <a:rPr lang="es-CO" sz="1600" dirty="0" err="1"/>
              <a:t>the</a:t>
            </a:r>
            <a:r>
              <a:rPr lang="es-CO" sz="1600" dirty="0"/>
              <a:t> input </a:t>
            </a:r>
            <a:r>
              <a:rPr lang="es-CO" sz="1600" dirty="0" err="1"/>
              <a:t>space</a:t>
            </a:r>
            <a:r>
              <a:rPr lang="es-CO" sz="1600" dirty="0"/>
              <a:t>.</a:t>
            </a:r>
          </a:p>
          <a:p>
            <a:pPr marL="285750" indent="-285750">
              <a:buFont typeface="Wingdings" panose="05000000000000000000" pitchFamily="2" charset="2"/>
              <a:buChar char="§"/>
            </a:pPr>
            <a:r>
              <a:rPr lang="es-CO" sz="1600" b="1" dirty="0" err="1"/>
              <a:t>Handles</a:t>
            </a:r>
            <a:r>
              <a:rPr lang="es-CO" sz="1600" b="1" dirty="0"/>
              <a:t> </a:t>
            </a:r>
            <a:r>
              <a:rPr lang="es-CO" sz="1600" b="1" dirty="0" err="1"/>
              <a:t>interactions</a:t>
            </a:r>
            <a:endParaRPr lang="es-CO" sz="1600" b="1" dirty="0"/>
          </a:p>
          <a:p>
            <a:pPr marL="285750" indent="-285750">
              <a:buFont typeface="Wingdings" panose="05000000000000000000" pitchFamily="2" charset="2"/>
              <a:buChar char="§"/>
            </a:pPr>
            <a:r>
              <a:rPr lang="es-CO" sz="1600" b="1" dirty="0" err="1"/>
              <a:t>Model-agnostic</a:t>
            </a:r>
            <a:r>
              <a:rPr lang="es-CO" sz="1600" b="1" dirty="0"/>
              <a:t>:</a:t>
            </a:r>
            <a:r>
              <a:rPr lang="es-CO" sz="1600" dirty="0"/>
              <a:t> Can be </a:t>
            </a:r>
            <a:r>
              <a:rPr lang="es-CO" sz="1600" dirty="0" err="1"/>
              <a:t>applied</a:t>
            </a:r>
            <a:r>
              <a:rPr lang="es-CO" sz="1600" dirty="0"/>
              <a:t> </a:t>
            </a:r>
            <a:r>
              <a:rPr lang="es-CO" sz="1600" dirty="0" err="1"/>
              <a:t>to</a:t>
            </a:r>
            <a:r>
              <a:rPr lang="es-CO" sz="1600" dirty="0"/>
              <a:t> </a:t>
            </a:r>
            <a:r>
              <a:rPr lang="es-CO" sz="1600" dirty="0" err="1"/>
              <a:t>any</a:t>
            </a:r>
            <a:r>
              <a:rPr lang="es-CO" sz="1600" dirty="0"/>
              <a:t> </a:t>
            </a:r>
            <a:r>
              <a:rPr lang="es-CO" sz="1600" dirty="0" err="1"/>
              <a:t>model</a:t>
            </a:r>
            <a:r>
              <a:rPr lang="es-CO" sz="1600" dirty="0"/>
              <a:t> </a:t>
            </a:r>
            <a:r>
              <a:rPr lang="es-CO" sz="1600" dirty="0" err="1"/>
              <a:t>or</a:t>
            </a:r>
            <a:r>
              <a:rPr lang="es-CO" sz="1600" dirty="0"/>
              <a:t> </a:t>
            </a:r>
            <a:r>
              <a:rPr lang="es-CO" sz="1600" dirty="0" err="1"/>
              <a:t>function</a:t>
            </a:r>
            <a:r>
              <a:rPr lang="es-CO" sz="1600" dirty="0"/>
              <a:t>.</a:t>
            </a:r>
          </a:p>
          <a:p>
            <a:pPr marL="285750" indent="-285750">
              <a:buFont typeface="Wingdings" panose="05000000000000000000" pitchFamily="2" charset="2"/>
              <a:buChar char="§"/>
            </a:pPr>
            <a:r>
              <a:rPr lang="es-CO" sz="1600" b="1" dirty="0" err="1"/>
              <a:t>Interpretability</a:t>
            </a:r>
            <a:r>
              <a:rPr lang="es-CO" sz="1600" b="1" dirty="0"/>
              <a:t>:</a:t>
            </a:r>
            <a:r>
              <a:rPr lang="es-CO" sz="1600" dirty="0"/>
              <a:t> </a:t>
            </a:r>
            <a:r>
              <a:rPr lang="es-CO" sz="1600" dirty="0" err="1"/>
              <a:t>Offers</a:t>
            </a:r>
            <a:r>
              <a:rPr lang="es-CO" sz="1600" dirty="0"/>
              <a:t> a </a:t>
            </a:r>
            <a:r>
              <a:rPr lang="es-CO" sz="1600" dirty="0" err="1"/>
              <a:t>clear</a:t>
            </a:r>
            <a:r>
              <a:rPr lang="es-CO" sz="1600" dirty="0"/>
              <a:t> </a:t>
            </a:r>
            <a:r>
              <a:rPr lang="es-CO" sz="1600" dirty="0" err="1"/>
              <a:t>decomposition</a:t>
            </a:r>
            <a:r>
              <a:rPr lang="es-CO" sz="1600" dirty="0"/>
              <a:t> </a:t>
            </a:r>
            <a:r>
              <a:rPr lang="es-CO" sz="1600" dirty="0" err="1"/>
              <a:t>of</a:t>
            </a:r>
            <a:r>
              <a:rPr lang="es-CO" sz="1600" dirty="0"/>
              <a:t> </a:t>
            </a:r>
            <a:r>
              <a:rPr lang="es-CO" sz="1600" dirty="0" err="1"/>
              <a:t>variance</a:t>
            </a:r>
            <a:r>
              <a:rPr lang="es-CO" sz="1600" dirty="0"/>
              <a:t> </a:t>
            </a:r>
            <a:r>
              <a:rPr lang="es-CO" sz="1600" dirty="0" err="1"/>
              <a:t>for</a:t>
            </a:r>
            <a:r>
              <a:rPr lang="es-CO" sz="1600" dirty="0"/>
              <a:t> </a:t>
            </a:r>
            <a:r>
              <a:rPr lang="es-CO" sz="1600" dirty="0" err="1"/>
              <a:t>explaining</a:t>
            </a:r>
            <a:r>
              <a:rPr lang="es-CO" sz="1600" dirty="0"/>
              <a:t> </a:t>
            </a:r>
            <a:r>
              <a:rPr lang="es-CO" sz="1600" dirty="0" err="1"/>
              <a:t>uncertainty</a:t>
            </a:r>
            <a:r>
              <a:rPr lang="es-CO" sz="1600" dirty="0"/>
              <a:t>.</a:t>
            </a:r>
          </a:p>
        </p:txBody>
      </p:sp>
      <p:sp>
        <p:nvSpPr>
          <p:cNvPr id="26" name="CuadroTexto 25">
            <a:extLst>
              <a:ext uri="{FF2B5EF4-FFF2-40B4-BE49-F238E27FC236}">
                <a16:creationId xmlns:a16="http://schemas.microsoft.com/office/drawing/2014/main" id="{0EC063AF-8567-4441-8935-AB1FD8D412DE}"/>
              </a:ext>
            </a:extLst>
          </p:cNvPr>
          <p:cNvSpPr txBox="1"/>
          <p:nvPr/>
        </p:nvSpPr>
        <p:spPr>
          <a:xfrm>
            <a:off x="7651187" y="1777552"/>
            <a:ext cx="3889028" cy="2062103"/>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a:t>
            </a:r>
            <a:r>
              <a:rPr lang="es-CO" dirty="0" err="1"/>
              <a:t>expensive</a:t>
            </a:r>
            <a:r>
              <a:rPr lang="es-CO" dirty="0"/>
              <a:t>:</a:t>
            </a:r>
            <a:r>
              <a:rPr lang="es-CO" b="0" dirty="0"/>
              <a:t> </a:t>
            </a:r>
            <a:r>
              <a:rPr lang="es-CO" b="0" dirty="0" err="1"/>
              <a:t>Requires</a:t>
            </a:r>
            <a:r>
              <a:rPr lang="es-CO" b="0" dirty="0"/>
              <a:t> a </a:t>
            </a:r>
            <a:r>
              <a:rPr lang="es-CO" b="0" dirty="0" err="1"/>
              <a:t>large</a:t>
            </a:r>
            <a:r>
              <a:rPr lang="es-CO" b="0" dirty="0"/>
              <a:t> </a:t>
            </a:r>
            <a:r>
              <a:rPr lang="es-CO" b="0" dirty="0" err="1"/>
              <a:t>number</a:t>
            </a:r>
            <a:r>
              <a:rPr lang="es-CO" b="0" dirty="0"/>
              <a:t> </a:t>
            </a:r>
            <a:r>
              <a:rPr lang="es-CO" b="0" dirty="0" err="1"/>
              <a:t>of</a:t>
            </a:r>
            <a:r>
              <a:rPr lang="es-CO" b="0" dirty="0"/>
              <a:t> </a:t>
            </a:r>
            <a:r>
              <a:rPr lang="es-CO" b="0" dirty="0" err="1"/>
              <a:t>model</a:t>
            </a:r>
            <a:r>
              <a:rPr lang="es-CO" b="0" dirty="0"/>
              <a:t> </a:t>
            </a:r>
            <a:r>
              <a:rPr lang="es-CO" b="0" dirty="0" err="1"/>
              <a:t>evaluations</a:t>
            </a:r>
            <a:r>
              <a:rPr lang="es-CO" b="0" dirty="0"/>
              <a:t>.</a:t>
            </a:r>
          </a:p>
          <a:p>
            <a:r>
              <a:rPr lang="es-CO" b="0" dirty="0" err="1"/>
              <a:t>Assumes</a:t>
            </a:r>
            <a:r>
              <a:rPr lang="es-CO" b="0" dirty="0"/>
              <a:t> inputs are </a:t>
            </a:r>
            <a:r>
              <a:rPr lang="es-CO" b="0" dirty="0" err="1"/>
              <a:t>statistically</a:t>
            </a:r>
            <a:r>
              <a:rPr lang="es-CO" b="0" dirty="0"/>
              <a:t> </a:t>
            </a:r>
            <a:r>
              <a:rPr lang="es-CO" dirty="0" err="1"/>
              <a:t>independent</a:t>
            </a:r>
            <a:r>
              <a:rPr lang="es-CO" b="0" dirty="0"/>
              <a:t>.</a:t>
            </a:r>
          </a:p>
          <a:p>
            <a:r>
              <a:rPr lang="es-CO" dirty="0" err="1"/>
              <a:t>Less</a:t>
            </a:r>
            <a:r>
              <a:rPr lang="es-CO" dirty="0"/>
              <a:t> local: </a:t>
            </a:r>
            <a:r>
              <a:rPr lang="es-CO" b="0" dirty="0" err="1"/>
              <a:t>Only</a:t>
            </a:r>
            <a:r>
              <a:rPr lang="es-CO" b="0" dirty="0"/>
              <a:t> </a:t>
            </a:r>
            <a:r>
              <a:rPr lang="es-CO" b="0" dirty="0" err="1"/>
              <a:t>explain</a:t>
            </a:r>
            <a:r>
              <a:rPr lang="es-CO" b="0" dirty="0"/>
              <a:t> </a:t>
            </a:r>
            <a:r>
              <a:rPr lang="es-CO" b="0" dirty="0" err="1"/>
              <a:t>overall</a:t>
            </a:r>
            <a:r>
              <a:rPr lang="es-CO" b="0" dirty="0"/>
              <a:t> variable </a:t>
            </a:r>
            <a:r>
              <a:rPr lang="es-CO" b="0" dirty="0" err="1"/>
              <a:t>influence</a:t>
            </a:r>
            <a:r>
              <a:rPr lang="es-CO" b="0" dirty="0"/>
              <a:t>.</a:t>
            </a:r>
          </a:p>
          <a:p>
            <a:r>
              <a:rPr lang="es-CO" b="0" dirty="0" err="1"/>
              <a:t>Becomes</a:t>
            </a:r>
            <a:r>
              <a:rPr lang="es-CO" b="0" dirty="0"/>
              <a:t> </a:t>
            </a:r>
            <a:r>
              <a:rPr lang="es-CO" b="0" dirty="0" err="1"/>
              <a:t>less</a:t>
            </a:r>
            <a:r>
              <a:rPr lang="es-CO" b="0" dirty="0"/>
              <a:t> </a:t>
            </a:r>
            <a:r>
              <a:rPr lang="es-CO" b="0" dirty="0" err="1"/>
              <a:t>practical</a:t>
            </a:r>
            <a:r>
              <a:rPr lang="es-CO" b="0" dirty="0"/>
              <a:t> </a:t>
            </a:r>
            <a:r>
              <a:rPr lang="es-CO" b="0" dirty="0" err="1"/>
              <a:t>for</a:t>
            </a:r>
            <a:r>
              <a:rPr lang="es-CO" b="0" dirty="0"/>
              <a:t> </a:t>
            </a:r>
            <a:r>
              <a:rPr lang="es-CO" b="0" dirty="0" err="1"/>
              <a:t>high</a:t>
            </a:r>
            <a:r>
              <a:rPr lang="es-CO" b="0" dirty="0"/>
              <a:t>-dimensional </a:t>
            </a:r>
            <a:r>
              <a:rPr lang="es-CO" b="0" dirty="0" err="1"/>
              <a:t>problems</a:t>
            </a:r>
            <a:r>
              <a:rPr lang="es-CO" b="0" dirty="0"/>
              <a:t>.</a:t>
            </a:r>
          </a:p>
        </p:txBody>
      </p:sp>
      <p:sp>
        <p:nvSpPr>
          <p:cNvPr id="30" name="CuadroTexto 29">
            <a:extLst>
              <a:ext uri="{FF2B5EF4-FFF2-40B4-BE49-F238E27FC236}">
                <a16:creationId xmlns:a16="http://schemas.microsoft.com/office/drawing/2014/main" id="{5D87434C-6C02-4D4E-BB66-E16CE30917CB}"/>
              </a:ext>
            </a:extLst>
          </p:cNvPr>
          <p:cNvSpPr txBox="1"/>
          <p:nvPr/>
        </p:nvSpPr>
        <p:spPr>
          <a:xfrm>
            <a:off x="3579301" y="4348153"/>
            <a:ext cx="4040700" cy="2308324"/>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a:t>Local </a:t>
            </a:r>
            <a:r>
              <a:rPr lang="es-CO" dirty="0" err="1"/>
              <a:t>explanations</a:t>
            </a:r>
            <a:r>
              <a:rPr lang="es-CO" b="0" dirty="0"/>
              <a:t>: </a:t>
            </a:r>
            <a:r>
              <a:rPr lang="es-CO" b="0" dirty="0" err="1"/>
              <a:t>Explains</a:t>
            </a:r>
            <a:r>
              <a:rPr lang="es-CO" b="0" dirty="0"/>
              <a:t> individual </a:t>
            </a:r>
            <a:r>
              <a:rPr lang="es-CO" b="0" dirty="0" err="1"/>
              <a:t>predictions</a:t>
            </a:r>
            <a:r>
              <a:rPr lang="es-CO" b="0" dirty="0"/>
              <a:t>.</a:t>
            </a:r>
          </a:p>
          <a:p>
            <a:r>
              <a:rPr lang="es-CO" dirty="0" err="1"/>
              <a:t>Model-agnostic</a:t>
            </a:r>
            <a:r>
              <a:rPr lang="es-CO" dirty="0"/>
              <a:t> </a:t>
            </a:r>
            <a:r>
              <a:rPr lang="es-CO" dirty="0" err="1"/>
              <a:t>or</a:t>
            </a:r>
            <a:r>
              <a:rPr lang="es-CO" dirty="0"/>
              <a:t> </a:t>
            </a:r>
            <a:r>
              <a:rPr lang="es-CO" dirty="0" err="1"/>
              <a:t>model-specific</a:t>
            </a:r>
            <a:r>
              <a:rPr lang="es-CO" dirty="0"/>
              <a:t>:</a:t>
            </a:r>
            <a:r>
              <a:rPr lang="es-CO" b="0" dirty="0"/>
              <a:t> Works </a:t>
            </a:r>
            <a:r>
              <a:rPr lang="es-CO" b="0" dirty="0" err="1"/>
              <a:t>with</a:t>
            </a:r>
            <a:r>
              <a:rPr lang="es-CO" b="0" dirty="0"/>
              <a:t> </a:t>
            </a:r>
            <a:r>
              <a:rPr lang="es-CO" b="0" dirty="0" err="1"/>
              <a:t>any</a:t>
            </a:r>
            <a:r>
              <a:rPr lang="es-CO" b="0" dirty="0"/>
              <a:t> </a:t>
            </a:r>
            <a:r>
              <a:rPr lang="es-CO" b="0" dirty="0" err="1"/>
              <a:t>model</a:t>
            </a:r>
            <a:r>
              <a:rPr lang="es-CO" b="0" dirty="0"/>
              <a:t> (</a:t>
            </a:r>
            <a:r>
              <a:rPr lang="es-CO" b="0" dirty="0" err="1"/>
              <a:t>TreeSHAP</a:t>
            </a:r>
            <a:r>
              <a:rPr lang="es-CO" b="0" dirty="0"/>
              <a:t> </a:t>
            </a:r>
            <a:r>
              <a:rPr lang="es-CO" b="0" dirty="0" err="1"/>
              <a:t>is</a:t>
            </a:r>
            <a:r>
              <a:rPr lang="es-CO" b="0" dirty="0"/>
              <a:t> </a:t>
            </a:r>
            <a:r>
              <a:rPr lang="es-CO" b="0" dirty="0" err="1"/>
              <a:t>efficient</a:t>
            </a:r>
            <a:r>
              <a:rPr lang="es-CO" b="0" dirty="0"/>
              <a:t> </a:t>
            </a:r>
            <a:r>
              <a:rPr lang="es-CO" b="0" dirty="0" err="1"/>
              <a:t>for</a:t>
            </a:r>
            <a:r>
              <a:rPr lang="es-CO" b="0" dirty="0"/>
              <a:t> </a:t>
            </a:r>
            <a:r>
              <a:rPr lang="es-CO" b="0" dirty="0" err="1"/>
              <a:t>tree-based</a:t>
            </a:r>
            <a:r>
              <a:rPr lang="es-CO" b="0" dirty="0"/>
              <a:t> </a:t>
            </a:r>
            <a:r>
              <a:rPr lang="es-CO" b="0" dirty="0" err="1"/>
              <a:t>models</a:t>
            </a:r>
            <a:r>
              <a:rPr lang="es-CO" b="0" dirty="0"/>
              <a:t>).</a:t>
            </a:r>
          </a:p>
          <a:p>
            <a:r>
              <a:rPr lang="es-CO" b="0" dirty="0" err="1"/>
              <a:t>Handles</a:t>
            </a:r>
            <a:r>
              <a:rPr lang="es-CO" b="0" dirty="0"/>
              <a:t> </a:t>
            </a:r>
            <a:r>
              <a:rPr lang="es-CO" b="0" dirty="0" err="1"/>
              <a:t>feature</a:t>
            </a:r>
            <a:r>
              <a:rPr lang="es-CO" b="0" dirty="0"/>
              <a:t> </a:t>
            </a:r>
            <a:r>
              <a:rPr lang="es-CO" b="0" dirty="0" err="1"/>
              <a:t>interactions</a:t>
            </a:r>
            <a:endParaRPr lang="es-CO" b="0" dirty="0"/>
          </a:p>
          <a:p>
            <a:r>
              <a:rPr lang="es-CO" dirty="0" err="1"/>
              <a:t>Theoretically</a:t>
            </a:r>
            <a:r>
              <a:rPr lang="es-CO" dirty="0"/>
              <a:t> </a:t>
            </a:r>
            <a:r>
              <a:rPr lang="es-CO" dirty="0" err="1"/>
              <a:t>grounded</a:t>
            </a:r>
            <a:r>
              <a:rPr lang="es-CO" dirty="0"/>
              <a:t>:</a:t>
            </a:r>
            <a:r>
              <a:rPr lang="es-CO" b="0" dirty="0"/>
              <a:t> </a:t>
            </a:r>
            <a:r>
              <a:rPr lang="es-CO" b="0" dirty="0" err="1"/>
              <a:t>Based</a:t>
            </a:r>
            <a:r>
              <a:rPr lang="es-CO" b="0" dirty="0"/>
              <a:t> </a:t>
            </a:r>
            <a:r>
              <a:rPr lang="es-CO" b="0" dirty="0" err="1"/>
              <a:t>on</a:t>
            </a:r>
            <a:r>
              <a:rPr lang="es-CO" b="0" dirty="0"/>
              <a:t> </a:t>
            </a:r>
            <a:r>
              <a:rPr lang="es-CO" b="0" dirty="0" err="1"/>
              <a:t>game</a:t>
            </a:r>
            <a:r>
              <a:rPr lang="es-CO" b="0" dirty="0"/>
              <a:t> </a:t>
            </a:r>
            <a:r>
              <a:rPr lang="es-CO" b="0" dirty="0" err="1"/>
              <a:t>theory</a:t>
            </a:r>
            <a:r>
              <a:rPr lang="es-CO" b="0" dirty="0"/>
              <a:t>, </a:t>
            </a:r>
            <a:r>
              <a:rPr lang="es-CO" b="0" dirty="0" err="1"/>
              <a:t>with</a:t>
            </a:r>
            <a:r>
              <a:rPr lang="es-CO" b="0" dirty="0"/>
              <a:t> </a:t>
            </a:r>
            <a:r>
              <a:rPr lang="es-CO" b="0" dirty="0" err="1"/>
              <a:t>guarantees</a:t>
            </a:r>
            <a:r>
              <a:rPr lang="es-CO" b="0" dirty="0"/>
              <a:t> </a:t>
            </a:r>
            <a:r>
              <a:rPr lang="es-CO" b="0" dirty="0" err="1"/>
              <a:t>of</a:t>
            </a:r>
            <a:r>
              <a:rPr lang="es-CO" b="0" dirty="0"/>
              <a:t> </a:t>
            </a:r>
            <a:r>
              <a:rPr lang="es-CO" b="0" dirty="0" err="1"/>
              <a:t>fairness</a:t>
            </a:r>
            <a:r>
              <a:rPr lang="es-CO" b="0" dirty="0"/>
              <a:t> and </a:t>
            </a:r>
            <a:r>
              <a:rPr lang="es-CO" b="0" dirty="0" err="1"/>
              <a:t>consistency</a:t>
            </a:r>
            <a:r>
              <a:rPr lang="es-CO" b="0" dirty="0"/>
              <a:t>.</a:t>
            </a:r>
          </a:p>
        </p:txBody>
      </p:sp>
      <p:sp>
        <p:nvSpPr>
          <p:cNvPr id="33" name="CuadroTexto 32">
            <a:extLst>
              <a:ext uri="{FF2B5EF4-FFF2-40B4-BE49-F238E27FC236}">
                <a16:creationId xmlns:a16="http://schemas.microsoft.com/office/drawing/2014/main" id="{BEE66383-A411-4D95-8796-3B87665F2940}"/>
              </a:ext>
            </a:extLst>
          </p:cNvPr>
          <p:cNvSpPr txBox="1"/>
          <p:nvPr/>
        </p:nvSpPr>
        <p:spPr>
          <a:xfrm>
            <a:off x="7707315" y="4547085"/>
            <a:ext cx="3427531"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intensive.</a:t>
            </a:r>
          </a:p>
          <a:p>
            <a:endParaRPr lang="es-CO" b="0" dirty="0"/>
          </a:p>
          <a:p>
            <a:r>
              <a:rPr lang="es-CO" b="0" dirty="0"/>
              <a:t>May </a:t>
            </a:r>
            <a:r>
              <a:rPr lang="es-CO" b="0" dirty="0" err="1"/>
              <a:t>give</a:t>
            </a:r>
            <a:r>
              <a:rPr lang="es-CO" b="0" dirty="0"/>
              <a:t> </a:t>
            </a:r>
            <a:r>
              <a:rPr lang="es-CO" b="0" dirty="0" err="1"/>
              <a:t>misleading</a:t>
            </a:r>
            <a:r>
              <a:rPr lang="es-CO" b="0" dirty="0"/>
              <a:t> </a:t>
            </a:r>
            <a:r>
              <a:rPr lang="es-CO" b="0" dirty="0" err="1"/>
              <a:t>results</a:t>
            </a:r>
            <a:r>
              <a:rPr lang="es-CO" b="0" dirty="0"/>
              <a:t> </a:t>
            </a:r>
            <a:r>
              <a:rPr lang="es-CO" b="0" dirty="0" err="1"/>
              <a:t>if</a:t>
            </a:r>
            <a:r>
              <a:rPr lang="es-CO" b="0" dirty="0"/>
              <a:t> </a:t>
            </a:r>
            <a:r>
              <a:rPr lang="es-CO" b="0" dirty="0" err="1"/>
              <a:t>feature</a:t>
            </a:r>
            <a:r>
              <a:rPr lang="es-CO" b="0" dirty="0"/>
              <a:t> </a:t>
            </a:r>
            <a:r>
              <a:rPr lang="es-CO" b="0" dirty="0" err="1"/>
              <a:t>dependence</a:t>
            </a:r>
            <a:r>
              <a:rPr lang="es-CO" b="0" dirty="0"/>
              <a:t> </a:t>
            </a:r>
            <a:r>
              <a:rPr lang="es-CO" b="0" dirty="0" err="1"/>
              <a:t>isn't</a:t>
            </a:r>
            <a:r>
              <a:rPr lang="es-CO" b="0" dirty="0"/>
              <a:t> </a:t>
            </a:r>
            <a:r>
              <a:rPr lang="es-CO" b="0" dirty="0" err="1"/>
              <a:t>handled</a:t>
            </a:r>
            <a:r>
              <a:rPr lang="es-CO" b="0" dirty="0"/>
              <a:t> </a:t>
            </a:r>
            <a:r>
              <a:rPr lang="es-CO" b="0" dirty="0" err="1"/>
              <a:t>well</a:t>
            </a:r>
            <a:r>
              <a:rPr lang="es-CO" b="0" dirty="0"/>
              <a:t>.</a:t>
            </a:r>
          </a:p>
        </p:txBody>
      </p:sp>
    </p:spTree>
    <p:extLst>
      <p:ext uri="{BB962C8B-B14F-4D97-AF65-F5344CB8AC3E}">
        <p14:creationId xmlns:p14="http://schemas.microsoft.com/office/powerpoint/2010/main" val="14993839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orma libre 19">
            <a:extLst>
              <a:ext uri="{FF2B5EF4-FFF2-40B4-BE49-F238E27FC236}">
                <a16:creationId xmlns:a16="http://schemas.microsoft.com/office/drawing/2014/main" id="{5BC89B38-44C8-4466-94A0-595AA5087592}"/>
              </a:ext>
            </a:extLst>
          </p:cNvPr>
          <p:cNvSpPr>
            <a:spLocks noChangeAspect="1"/>
          </p:cNvSpPr>
          <p:nvPr/>
        </p:nvSpPr>
        <p:spPr>
          <a:xfrm flipH="1">
            <a:off x="8182689" y="1475627"/>
            <a:ext cx="3176558" cy="1061697"/>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sz="1400">
              <a:solidFill>
                <a:srgbClr val="FFB903"/>
              </a:solidFill>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25</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2" name="Forma libre 19">
            <a:extLst>
              <a:ext uri="{FF2B5EF4-FFF2-40B4-BE49-F238E27FC236}">
                <a16:creationId xmlns:a16="http://schemas.microsoft.com/office/drawing/2014/main" id="{C411CBAB-03C4-4FA4-B2AF-8CCB9281E18F}"/>
              </a:ext>
            </a:extLst>
          </p:cNvPr>
          <p:cNvSpPr>
            <a:spLocks noChangeAspect="1"/>
          </p:cNvSpPr>
          <p:nvPr/>
        </p:nvSpPr>
        <p:spPr>
          <a:xfrm>
            <a:off x="6643123" y="1651614"/>
            <a:ext cx="2338731" cy="900000"/>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solidFill>
                <a:srgbClr val="FFB903"/>
              </a:solidFill>
            </a:endParaRPr>
          </a:p>
        </p:txBody>
      </p:sp>
      <p:sp>
        <p:nvSpPr>
          <p:cNvPr id="13" name="CuadroTexto 12">
            <a:extLst>
              <a:ext uri="{FF2B5EF4-FFF2-40B4-BE49-F238E27FC236}">
                <a16:creationId xmlns:a16="http://schemas.microsoft.com/office/drawing/2014/main" id="{FE05A2D9-3A2B-4E7F-9CC9-948E29E0DC8D}"/>
              </a:ext>
            </a:extLst>
          </p:cNvPr>
          <p:cNvSpPr txBox="1"/>
          <p:nvPr/>
        </p:nvSpPr>
        <p:spPr>
          <a:xfrm>
            <a:off x="6873147" y="1650420"/>
            <a:ext cx="2238118" cy="892552"/>
          </a:xfrm>
          <a:prstGeom prst="rect">
            <a:avLst/>
          </a:prstGeom>
          <a:noFill/>
        </p:spPr>
        <p:txBody>
          <a:bodyPr wrap="square" rtlCol="0">
            <a:spAutoFit/>
          </a:bodyPr>
          <a:lstStyle/>
          <a:p>
            <a:r>
              <a:rPr lang="es-ES_tradnl" sz="2800" b="1" dirty="0" err="1">
                <a:latin typeface="Source Sans Pro" panose="020B0503030403020204" pitchFamily="34" charset="0"/>
                <a:ea typeface="Source Sans Pro" panose="020B0503030403020204" pitchFamily="34" charset="0"/>
              </a:rPr>
              <a:t>Regions</a:t>
            </a:r>
            <a:r>
              <a:rPr lang="es-ES_tradnl" sz="2800" b="1" dirty="0">
                <a:latin typeface="Source Sans Pro" panose="020B0503030403020204" pitchFamily="34" charset="0"/>
                <a:ea typeface="Source Sans Pro" panose="020B0503030403020204" pitchFamily="34" charset="0"/>
              </a:rPr>
              <a:t> </a:t>
            </a:r>
          </a:p>
          <a:p>
            <a:r>
              <a:rPr lang="es-ES_tradnl" sz="2400" dirty="0" err="1">
                <a:latin typeface="Source Sans Pro" panose="020B0503030403020204" pitchFamily="34" charset="0"/>
                <a:ea typeface="Source Sans Pro" panose="020B0503030403020204" pitchFamily="34" charset="0"/>
              </a:rPr>
              <a:t>definition</a:t>
            </a:r>
            <a:endParaRPr lang="es-ES_tradnl" sz="2400" dirty="0">
              <a:latin typeface="Source Sans Pro" panose="020B0503030403020204" pitchFamily="34" charset="0"/>
              <a:ea typeface="Source Sans Pro" panose="020B0503030403020204" pitchFamily="34" charset="0"/>
            </a:endParaRPr>
          </a:p>
        </p:txBody>
      </p:sp>
      <p:pic>
        <p:nvPicPr>
          <p:cNvPr id="14" name="Imagen 13">
            <a:extLst>
              <a:ext uri="{FF2B5EF4-FFF2-40B4-BE49-F238E27FC236}">
                <a16:creationId xmlns:a16="http://schemas.microsoft.com/office/drawing/2014/main" id="{1971F1C1-2251-480F-98C3-964944ABB9CC}"/>
              </a:ext>
            </a:extLst>
          </p:cNvPr>
          <p:cNvPicPr>
            <a:picLocks noChangeAspect="1"/>
          </p:cNvPicPr>
          <p:nvPr/>
        </p:nvPicPr>
        <p:blipFill>
          <a:blip r:embed="rId2"/>
          <a:stretch>
            <a:fillRect/>
          </a:stretch>
        </p:blipFill>
        <p:spPr>
          <a:xfrm>
            <a:off x="8654840" y="2109102"/>
            <a:ext cx="468000" cy="468000"/>
          </a:xfrm>
          <a:prstGeom prst="rect">
            <a:avLst/>
          </a:prstGeom>
        </p:spPr>
      </p:pic>
      <p:sp>
        <p:nvSpPr>
          <p:cNvPr id="16" name="CuadroTexto 15">
            <a:extLst>
              <a:ext uri="{FF2B5EF4-FFF2-40B4-BE49-F238E27FC236}">
                <a16:creationId xmlns:a16="http://schemas.microsoft.com/office/drawing/2014/main" id="{F6CBEA47-AF73-4D8C-A41F-05CA35DA57D4}"/>
              </a:ext>
            </a:extLst>
          </p:cNvPr>
          <p:cNvSpPr txBox="1"/>
          <p:nvPr/>
        </p:nvSpPr>
        <p:spPr>
          <a:xfrm>
            <a:off x="9220351" y="1637143"/>
            <a:ext cx="2132816" cy="738664"/>
          </a:xfrm>
          <a:prstGeom prst="rect">
            <a:avLst/>
          </a:prstGeom>
          <a:noFill/>
        </p:spPr>
        <p:txBody>
          <a:bodyPr wrap="square">
            <a:spAutoFit/>
          </a:bodyPr>
          <a:lstStyle/>
          <a:p>
            <a:pPr rtl="0" fontAlgn="base">
              <a:spcBef>
                <a:spcPts val="0"/>
              </a:spcBef>
              <a:spcAft>
                <a:spcPts val="0"/>
              </a:spcAft>
            </a:pPr>
            <a:r>
              <a:rPr lang="es-CO" sz="1400" b="1" i="0" u="none" strike="noStrike" dirty="0" err="1">
                <a:effectLst/>
                <a:latin typeface="Roboto" panose="02000000000000000000" pitchFamily="2" charset="0"/>
              </a:rPr>
              <a:t>Activation</a:t>
            </a:r>
            <a:r>
              <a:rPr lang="es-CO" sz="1400" b="0" i="0" u="none" strike="noStrike" dirty="0">
                <a:solidFill>
                  <a:schemeClr val="tx1">
                    <a:lumMod val="75000"/>
                    <a:lumOff val="25000"/>
                  </a:schemeClr>
                </a:solidFill>
                <a:effectLst/>
                <a:latin typeface="Roboto" panose="02000000000000000000" pitchFamily="2" charset="0"/>
              </a:rPr>
              <a:t> [0;0.4]</a:t>
            </a:r>
          </a:p>
          <a:p>
            <a:pPr rtl="0" fontAlgn="base">
              <a:spcBef>
                <a:spcPts val="0"/>
              </a:spcBef>
              <a:spcAft>
                <a:spcPts val="0"/>
              </a:spcAft>
            </a:pPr>
            <a:r>
              <a:rPr lang="es-CO" sz="1400" b="1" i="0" u="none" strike="noStrike" dirty="0" err="1">
                <a:effectLst/>
                <a:latin typeface="Roboto" panose="02000000000000000000" pitchFamily="2" charset="0"/>
              </a:rPr>
              <a:t>Ohmic</a:t>
            </a:r>
            <a:r>
              <a:rPr lang="es-CO" sz="1400" b="0" i="0" u="none" strike="noStrike" dirty="0">
                <a:solidFill>
                  <a:schemeClr val="tx1">
                    <a:lumMod val="75000"/>
                    <a:lumOff val="25000"/>
                  </a:schemeClr>
                </a:solidFill>
                <a:effectLst/>
                <a:latin typeface="Roboto" panose="02000000000000000000" pitchFamily="2" charset="0"/>
              </a:rPr>
              <a:t> [0.4; 1.6]</a:t>
            </a:r>
          </a:p>
          <a:p>
            <a:r>
              <a:rPr lang="es-CO" sz="1400" b="1" i="0" u="none" strike="noStrike" dirty="0" err="1">
                <a:effectLst/>
                <a:latin typeface="Roboto" panose="02000000000000000000" pitchFamily="2" charset="0"/>
              </a:rPr>
              <a:t>Mass</a:t>
            </a:r>
            <a:r>
              <a:rPr lang="es-CO" sz="1400" b="1" i="0" u="none" strike="noStrike" dirty="0">
                <a:effectLst/>
                <a:latin typeface="Roboto" panose="02000000000000000000" pitchFamily="2" charset="0"/>
              </a:rPr>
              <a:t> </a:t>
            </a:r>
            <a:r>
              <a:rPr lang="es-CO" sz="1400" b="1" i="0" u="none" strike="noStrike" dirty="0" err="1">
                <a:effectLst/>
                <a:latin typeface="Roboto" panose="02000000000000000000" pitchFamily="2" charset="0"/>
              </a:rPr>
              <a:t>transport</a:t>
            </a:r>
            <a:r>
              <a:rPr lang="es-CO" sz="1400" b="0" i="0" u="none" strike="noStrike" dirty="0">
                <a:solidFill>
                  <a:schemeClr val="tx1">
                    <a:lumMod val="75000"/>
                    <a:lumOff val="25000"/>
                  </a:schemeClr>
                </a:solidFill>
                <a:effectLst/>
                <a:latin typeface="Roboto" panose="02000000000000000000" pitchFamily="2" charset="0"/>
              </a:rPr>
              <a:t> [1.6; </a:t>
            </a:r>
            <a:r>
              <a:rPr lang="es-CO" sz="1400" b="0" i="0" u="none" strike="noStrike" dirty="0" err="1">
                <a:solidFill>
                  <a:schemeClr val="tx1">
                    <a:lumMod val="75000"/>
                    <a:lumOff val="25000"/>
                  </a:schemeClr>
                </a:solidFill>
                <a:effectLst/>
                <a:latin typeface="Roboto" panose="02000000000000000000" pitchFamily="2" charset="0"/>
              </a:rPr>
              <a:t>Inf</a:t>
            </a:r>
            <a:r>
              <a:rPr lang="es-CO" sz="1400" b="0" i="0" u="none" strike="noStrike" dirty="0">
                <a:solidFill>
                  <a:schemeClr val="tx1">
                    <a:lumMod val="75000"/>
                    <a:lumOff val="25000"/>
                  </a:schemeClr>
                </a:solidFill>
                <a:effectLst/>
                <a:latin typeface="Roboto" panose="02000000000000000000" pitchFamily="2" charset="0"/>
              </a:rPr>
              <a:t>]</a:t>
            </a:r>
            <a:endParaRPr lang="es-CO" sz="1400" dirty="0">
              <a:solidFill>
                <a:schemeClr val="tx1">
                  <a:lumMod val="75000"/>
                  <a:lumOff val="25000"/>
                </a:schemeClr>
              </a:solidFill>
            </a:endParaRPr>
          </a:p>
        </p:txBody>
      </p:sp>
      <p:pic>
        <p:nvPicPr>
          <p:cNvPr id="19" name="Picture 3" descr="Novel Trends in Proton Exchange Membrane Fuel Cells">
            <a:extLst>
              <a:ext uri="{FF2B5EF4-FFF2-40B4-BE49-F238E27FC236}">
                <a16:creationId xmlns:a16="http://schemas.microsoft.com/office/drawing/2014/main" id="{377CBEF1-98D4-4F27-9C36-9C5206B83C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9655" y="2841919"/>
            <a:ext cx="4026369" cy="2501642"/>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9AE610-AA0A-4B62-8B84-1B1E69B6BFC2}"/>
              </a:ext>
            </a:extLst>
          </p:cNvPr>
          <p:cNvSpPr/>
          <p:nvPr/>
        </p:nvSpPr>
        <p:spPr>
          <a:xfrm>
            <a:off x="928220" y="891249"/>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BF4DA4E9-F098-4C52-A5A6-D2E65EA04D6C}"/>
              </a:ext>
            </a:extLst>
          </p:cNvPr>
          <p:cNvSpPr txBox="1"/>
          <p:nvPr/>
        </p:nvSpPr>
        <p:spPr>
          <a:xfrm>
            <a:off x="1447179" y="1088073"/>
            <a:ext cx="3423922" cy="1508105"/>
          </a:xfrm>
          <a:prstGeom prst="rect">
            <a:avLst/>
          </a:prstGeom>
          <a:noFill/>
        </p:spPr>
        <p:txBody>
          <a:bodyPr wrap="square">
            <a:spAutoFit/>
          </a:bodyPr>
          <a:lstStyle/>
          <a:p>
            <a:r>
              <a:rPr lang="es-CO" sz="3200" b="1" dirty="0" err="1">
                <a:latin typeface="Source Sans Pro" panose="020B0503030403020204" pitchFamily="34" charset="0"/>
                <a:ea typeface="Source Sans Pro" panose="020B0503030403020204" pitchFamily="34" charset="0"/>
              </a:rPr>
              <a:t>Sampling</a:t>
            </a:r>
            <a:r>
              <a:rPr lang="es-CO" sz="3200" b="1" dirty="0">
                <a:latin typeface="Source Sans Pro" panose="020B0503030403020204" pitchFamily="34" charset="0"/>
                <a:ea typeface="Source Sans Pro" panose="020B0503030403020204" pitchFamily="34" charset="0"/>
              </a:rPr>
              <a:t> </a:t>
            </a:r>
            <a:r>
              <a:rPr lang="es-CO" sz="3200" b="1" dirty="0" err="1">
                <a:latin typeface="Source Sans Pro" panose="020B0503030403020204" pitchFamily="34" charset="0"/>
                <a:ea typeface="Source Sans Pro" panose="020B0503030403020204" pitchFamily="34" charset="0"/>
              </a:rPr>
              <a:t>strategy</a:t>
            </a:r>
            <a:r>
              <a:rPr lang="es-CO" sz="3200" b="1" dirty="0">
                <a:latin typeface="Source Sans Pro" panose="020B0503030403020204" pitchFamily="34" charset="0"/>
                <a:ea typeface="Source Sans Pro" panose="020B0503030403020204" pitchFamily="34" charset="0"/>
              </a:rPr>
              <a:t>: </a:t>
            </a:r>
            <a:r>
              <a:rPr lang="es-CO" sz="2800" i="1" dirty="0" err="1">
                <a:latin typeface="Source Sans Pro Light" panose="020B0403030403020204" pitchFamily="34" charset="0"/>
                <a:ea typeface="Source Sans Pro Light" panose="020B0403030403020204" pitchFamily="34" charset="0"/>
              </a:rPr>
              <a:t>Sobol</a:t>
            </a:r>
            <a:r>
              <a:rPr lang="es-CO" sz="2800" i="1" dirty="0">
                <a:latin typeface="Source Sans Pro Light" panose="020B0403030403020204" pitchFamily="34" charset="0"/>
                <a:ea typeface="Source Sans Pro Light" panose="020B0403030403020204" pitchFamily="34" charset="0"/>
              </a:rPr>
              <a:t> </a:t>
            </a:r>
            <a:r>
              <a:rPr lang="es-CO" sz="2800" i="1" dirty="0" err="1">
                <a:latin typeface="Source Sans Pro Light" panose="020B0403030403020204" pitchFamily="34" charset="0"/>
                <a:ea typeface="Source Sans Pro Light" panose="020B0403030403020204" pitchFamily="34" charset="0"/>
              </a:rPr>
              <a:t>sequences</a:t>
            </a:r>
            <a:endParaRPr lang="es-CO" sz="2800" i="1" dirty="0">
              <a:latin typeface="Source Sans Pro Light" panose="020B0403030403020204" pitchFamily="34" charset="0"/>
              <a:ea typeface="Source Sans Pro Light" panose="020B0403030403020204" pitchFamily="34" charset="0"/>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685134" y="2596178"/>
            <a:ext cx="4410865" cy="4001095"/>
          </a:xfrm>
          <a:prstGeom prst="rect">
            <a:avLst/>
          </a:prstGeom>
          <a:noFill/>
        </p:spPr>
        <p:txBody>
          <a:bodyPr wrap="square">
            <a:spAutoFit/>
          </a:bodyPr>
          <a:lstStyle/>
          <a:p>
            <a:pPr rtl="0" fontAlgn="base">
              <a:spcBef>
                <a:spcPts val="0"/>
              </a:spcBef>
              <a:spcAft>
                <a:spcPts val="0"/>
              </a:spcAft>
            </a:pPr>
            <a:r>
              <a:rPr lang="en-US" sz="1600" dirty="0"/>
              <a:t>It generates </a:t>
            </a:r>
            <a:r>
              <a:rPr lang="en-US" sz="1600" b="1" dirty="0"/>
              <a:t>quasi-random sequences </a:t>
            </a:r>
            <a:r>
              <a:rPr lang="en-US" sz="1600" dirty="0"/>
              <a:t>that are uniformly distributed sample points in high-dimensional spaces.</a:t>
            </a:r>
          </a:p>
          <a:p>
            <a:pPr rtl="0" fontAlgn="base">
              <a:spcBef>
                <a:spcPts val="0"/>
              </a:spcBef>
              <a:spcAft>
                <a:spcPts val="0"/>
              </a:spcAft>
            </a:pPr>
            <a:endParaRPr lang="en-US" sz="1600" dirty="0"/>
          </a:p>
          <a:p>
            <a:pPr rtl="0" fontAlgn="base">
              <a:spcBef>
                <a:spcPts val="0"/>
              </a:spcBef>
              <a:spcAft>
                <a:spcPts val="0"/>
              </a:spcAft>
            </a:pPr>
            <a:r>
              <a:rPr lang="en-US" sz="1600" dirty="0"/>
              <a:t>Calculating the Sobol indices over those configurations lead into </a:t>
            </a:r>
            <a:r>
              <a:rPr lang="en-US" sz="1600" b="1" dirty="0"/>
              <a:t>more stable and consistent results</a:t>
            </a:r>
            <a:r>
              <a:rPr lang="en-US" sz="1600" dirty="0"/>
              <a:t>, due to the uniformity of the samples.</a:t>
            </a:r>
          </a:p>
          <a:p>
            <a:pPr rtl="0" fontAlgn="base">
              <a:spcBef>
                <a:spcPts val="0"/>
              </a:spcBef>
              <a:spcAft>
                <a:spcPts val="0"/>
              </a:spcAft>
            </a:pPr>
            <a:r>
              <a:rPr lang="en-US" sz="1600" dirty="0"/>
              <a:t>They allow incrementally increase the sample size, while preserving and building upon previous points saving computing time.</a:t>
            </a:r>
          </a:p>
          <a:p>
            <a:pPr rtl="0" fontAlgn="base">
              <a:spcBef>
                <a:spcPts val="0"/>
              </a:spcBef>
              <a:spcAft>
                <a:spcPts val="0"/>
              </a:spcAft>
            </a:pPr>
            <a:r>
              <a:rPr lang="en-US" sz="1600" dirty="0"/>
              <a:t>Sample size:</a:t>
            </a:r>
          </a:p>
          <a:p>
            <a:pPr marL="742950" lvl="1" indent="-285750" rtl="0" fontAlgn="base">
              <a:spcBef>
                <a:spcPts val="0"/>
              </a:spcBef>
              <a:spcAft>
                <a:spcPts val="0"/>
              </a:spcAft>
              <a:buFont typeface="Arial" panose="020B0604020202020204" pitchFamily="34" charset="0"/>
              <a:buChar char="•"/>
            </a:pPr>
            <a:r>
              <a:rPr lang="en-US" sz="1600" dirty="0"/>
              <a:t>For calculating only first-order indices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S1</a:t>
            </a:r>
            <a:r>
              <a:rPr lang="en-US" sz="1400" b="0" i="0" u="none" strike="noStrike" dirty="0">
                <a:solidFill>
                  <a:srgbClr val="000000"/>
                </a:solidFill>
                <a:effectLst/>
                <a:latin typeface="Roboto" panose="02000000000000000000" pitchFamily="2" charset="0"/>
              </a:rPr>
              <a:t>): </a:t>
            </a:r>
            <a:r>
              <a:rPr lang="en-US" sz="1400" b="1" i="0" u="none" strike="noStrike" dirty="0">
                <a:solidFill>
                  <a:srgbClr val="000000"/>
                </a:solidFill>
                <a:effectLst/>
                <a:latin typeface="Roboto" panose="02000000000000000000" pitchFamily="2" charset="0"/>
              </a:rPr>
              <a:t>N × (D + 2)</a:t>
            </a:r>
            <a:endParaRPr lang="en-US" sz="1400" b="0" i="0" u="none" strike="noStrike" dirty="0">
              <a:solidFill>
                <a:srgbClr val="000000"/>
              </a:solidFill>
              <a:effectLst/>
              <a:latin typeface="Roboto" panose="02000000000000000000" pitchFamily="2" charset="0"/>
            </a:endParaRPr>
          </a:p>
          <a:p>
            <a:pPr marL="742950" lvl="1" indent="-285750" rtl="0" fontAlgn="base">
              <a:spcBef>
                <a:spcPts val="0"/>
              </a:spcBef>
              <a:spcAft>
                <a:spcPts val="0"/>
              </a:spcAft>
              <a:buFont typeface="Arial" panose="020B0604020202020204" pitchFamily="34" charset="0"/>
              <a:buChar char="•"/>
            </a:pPr>
            <a:r>
              <a:rPr lang="en-US" sz="1600" dirty="0"/>
              <a:t>For both first-order (S1) and second-order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S2</a:t>
            </a:r>
            <a:r>
              <a:rPr lang="en-US" sz="1400" b="0" i="0" u="none" strike="noStrike" dirty="0">
                <a:solidFill>
                  <a:srgbClr val="000000"/>
                </a:solidFill>
                <a:effectLst/>
                <a:latin typeface="Roboto" panose="02000000000000000000" pitchFamily="2" charset="0"/>
              </a:rPr>
              <a:t>) indices: </a:t>
            </a:r>
            <a:r>
              <a:rPr lang="en-US" sz="1400" b="1" i="0" u="none" strike="noStrike" dirty="0">
                <a:solidFill>
                  <a:srgbClr val="000000"/>
                </a:solidFill>
                <a:effectLst/>
                <a:latin typeface="Roboto" panose="02000000000000000000" pitchFamily="2" charset="0"/>
              </a:rPr>
              <a:t>N × (2D + 2)</a:t>
            </a:r>
            <a:endParaRPr lang="en-US" sz="1400" b="0" i="0" u="none" strike="noStrike" dirty="0">
              <a:solidFill>
                <a:srgbClr val="000000"/>
              </a:solidFill>
              <a:effectLst/>
              <a:latin typeface="Roboto" panose="02000000000000000000" pitchFamily="2" charset="0"/>
            </a:endParaRPr>
          </a:p>
        </p:txBody>
      </p:sp>
    </p:spTree>
    <p:extLst>
      <p:ext uri="{BB962C8B-B14F-4D97-AF65-F5344CB8AC3E}">
        <p14:creationId xmlns:p14="http://schemas.microsoft.com/office/powerpoint/2010/main" val="3023358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26</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5" name="CuadroTexto 14">
            <a:extLst>
              <a:ext uri="{FF2B5EF4-FFF2-40B4-BE49-F238E27FC236}">
                <a16:creationId xmlns:a16="http://schemas.microsoft.com/office/drawing/2014/main" id="{4E18BD6D-C379-4427-B75C-736E46E91098}"/>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2588396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456BFBA3-950A-448F-9E53-67794D429BA7}"/>
              </a:ext>
            </a:extLst>
          </p:cNvPr>
          <p:cNvSpPr txBox="1"/>
          <p:nvPr/>
        </p:nvSpPr>
        <p:spPr>
          <a:xfrm>
            <a:off x="4924472" y="1079439"/>
            <a:ext cx="1875162"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Dejvis</a:t>
            </a:r>
            <a:endParaRPr lang="es-CO" sz="4800" b="1" dirty="0">
              <a:solidFill>
                <a:srgbClr val="FF0000"/>
              </a:solidFill>
            </a:endParaRPr>
          </a:p>
        </p:txBody>
      </p:sp>
    </p:spTree>
    <p:extLst>
      <p:ext uri="{BB962C8B-B14F-4D97-AF65-F5344CB8AC3E}">
        <p14:creationId xmlns:p14="http://schemas.microsoft.com/office/powerpoint/2010/main" val="13115968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60AA4-A975-A430-DCCB-F63AC73BE8F2}"/>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C39F4E13-3544-4A6F-5638-A6C4AD85EBD0}"/>
              </a:ext>
            </a:extLst>
          </p:cNvPr>
          <p:cNvSpPr>
            <a:spLocks noGrp="1"/>
          </p:cNvSpPr>
          <p:nvPr>
            <p:ph type="sldNum" sz="quarter" idx="12"/>
          </p:nvPr>
        </p:nvSpPr>
        <p:spPr/>
        <p:txBody>
          <a:bodyPr/>
          <a:lstStyle/>
          <a:p>
            <a:fld id="{B75BC28E-972B-EC47-BE79-29D89D46B9CA}" type="slidenum">
              <a:rPr lang="es-ES_tradnl" b="1" smtClean="0"/>
              <a:t>28</a:t>
            </a:fld>
            <a:endParaRPr lang="es-ES_tradnl" b="1" dirty="0"/>
          </a:p>
        </p:txBody>
      </p:sp>
      <p:sp>
        <p:nvSpPr>
          <p:cNvPr id="3" name="CuadroTexto 2">
            <a:extLst>
              <a:ext uri="{FF2B5EF4-FFF2-40B4-BE49-F238E27FC236}">
                <a16:creationId xmlns:a16="http://schemas.microsoft.com/office/drawing/2014/main" id="{3D2A2317-0828-9EF9-C187-8610091C0A3A}"/>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89AF4E0-236C-0CB8-C878-FA1604E998DD}"/>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7E52D42E-E18E-0E20-9C2C-D2FC6A94C07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8" name="CuadroTexto 25">
            <a:extLst>
              <a:ext uri="{FF2B5EF4-FFF2-40B4-BE49-F238E27FC236}">
                <a16:creationId xmlns:a16="http://schemas.microsoft.com/office/drawing/2014/main" id="{B83A4979-3AD8-0732-09B4-B3961E6DD012}"/>
              </a:ext>
            </a:extLst>
          </p:cNvPr>
          <p:cNvSpPr txBox="1"/>
          <p:nvPr/>
        </p:nvSpPr>
        <p:spPr>
          <a:xfrm>
            <a:off x="1477412" y="979888"/>
            <a:ext cx="4618588" cy="400110"/>
          </a:xfrm>
          <a:prstGeom prst="rect">
            <a:avLst/>
          </a:prstGeom>
          <a:noFill/>
        </p:spPr>
        <p:txBody>
          <a:bodyPr wrap="square">
            <a:spAutoFit/>
          </a:bodyPr>
          <a:lstStyle/>
          <a:p>
            <a:pPr rtl="0" fontAlgn="base">
              <a:spcBef>
                <a:spcPts val="0"/>
              </a:spcBef>
              <a:spcAft>
                <a:spcPts val="0"/>
              </a:spcAft>
            </a:pPr>
            <a:r>
              <a:rPr lang="en-US" sz="2000" b="1" dirty="0" err="1"/>
              <a:t>PySR</a:t>
            </a:r>
            <a:r>
              <a:rPr lang="en-US" sz="2000" b="1" dirty="0"/>
              <a:t>: Symbolic Regression in Python</a:t>
            </a:r>
            <a:endParaRPr lang="en-US" sz="2000" b="1" i="0" u="none" strike="noStrike" dirty="0">
              <a:solidFill>
                <a:srgbClr val="000000"/>
              </a:solidFill>
              <a:effectLst/>
              <a:latin typeface="Roboto" panose="02000000000000000000" pitchFamily="2" charset="0"/>
            </a:endParaRPr>
          </a:p>
        </p:txBody>
      </p:sp>
      <p:sp>
        <p:nvSpPr>
          <p:cNvPr id="10" name="CuadroTexto 25">
            <a:extLst>
              <a:ext uri="{FF2B5EF4-FFF2-40B4-BE49-F238E27FC236}">
                <a16:creationId xmlns:a16="http://schemas.microsoft.com/office/drawing/2014/main" id="{DFC1148E-3029-88F3-4718-639847077B80}"/>
              </a:ext>
            </a:extLst>
          </p:cNvPr>
          <p:cNvSpPr txBox="1"/>
          <p:nvPr/>
        </p:nvSpPr>
        <p:spPr>
          <a:xfrm>
            <a:off x="1477412" y="1962965"/>
            <a:ext cx="4618588" cy="2585323"/>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Uses evolutionary algorithms to search for mathematical expressions to fit data</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Discovers both the form and the parameters of the model</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i="0" u="none" strike="noStrike" dirty="0">
                <a:solidFill>
                  <a:srgbClr val="000000"/>
                </a:solidFill>
                <a:effectLst/>
                <a:latin typeface="Roboto" panose="02000000000000000000" pitchFamily="2" charset="0"/>
              </a:rPr>
              <a:t>No assum</a:t>
            </a:r>
            <a:r>
              <a:rPr lang="en-US" dirty="0">
                <a:solidFill>
                  <a:srgbClr val="000000"/>
                </a:solidFill>
                <a:latin typeface="Roboto" panose="02000000000000000000" pitchFamily="2" charset="0"/>
              </a:rPr>
              <a:t>ption on functional form</a:t>
            </a:r>
          </a:p>
          <a:p>
            <a:pPr marL="285750" indent="-285750" rtl="0" fontAlgn="base">
              <a:spcBef>
                <a:spcPts val="0"/>
              </a:spcBef>
              <a:spcAft>
                <a:spcPts val="0"/>
              </a:spcAft>
              <a:buFont typeface="Arial" panose="020B0604020202020204" pitchFamily="34" charset="0"/>
              <a:buChar char="•"/>
            </a:pPr>
            <a:endParaRPr lang="en-US" i="0" u="none" strike="noStrike" dirty="0">
              <a:solidFill>
                <a:srgbClr val="000000"/>
              </a:solidFill>
              <a:effectLst/>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Expressions are represented as trees</a:t>
            </a:r>
            <a:endParaRPr lang="en-US" i="0" u="none" strike="noStrike" dirty="0">
              <a:solidFill>
                <a:srgbClr val="000000"/>
              </a:solidFill>
              <a:effectLst/>
              <a:latin typeface="Roboto" panose="02000000000000000000" pitchFamily="2" charset="0"/>
            </a:endParaRPr>
          </a:p>
        </p:txBody>
      </p:sp>
      <p:pic>
        <p:nvPicPr>
          <p:cNvPr id="1026" name="Picture 2">
            <a:extLst>
              <a:ext uri="{FF2B5EF4-FFF2-40B4-BE49-F238E27FC236}">
                <a16:creationId xmlns:a16="http://schemas.microsoft.com/office/drawing/2014/main" id="{113C3726-A40C-535F-3ED4-55EBB038FF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4997" y="1430870"/>
            <a:ext cx="3417148" cy="364951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476939EA-7759-B216-B420-58F729D144E2}"/>
              </a:ext>
            </a:extLst>
          </p:cNvPr>
          <p:cNvSpPr txBox="1"/>
          <p:nvPr/>
        </p:nvSpPr>
        <p:spPr>
          <a:xfrm>
            <a:off x="1289957" y="5868941"/>
            <a:ext cx="9112137" cy="307777"/>
          </a:xfrm>
          <a:prstGeom prst="rect">
            <a:avLst/>
          </a:prstGeom>
          <a:noFill/>
        </p:spPr>
        <p:txBody>
          <a:bodyPr wrap="square">
            <a:spAutoFit/>
          </a:bodyPr>
          <a:lstStyle/>
          <a:p>
            <a:r>
              <a:rPr lang="en-US" sz="1400" dirty="0">
                <a:solidFill>
                  <a:schemeClr val="bg2">
                    <a:lumMod val="75000"/>
                  </a:schemeClr>
                </a:solidFill>
              </a:rPr>
              <a:t>[Source] Interpretable Machine Learning for Science with </a:t>
            </a:r>
            <a:r>
              <a:rPr lang="en-US" sz="1400" dirty="0" err="1">
                <a:solidFill>
                  <a:schemeClr val="bg2">
                    <a:lumMod val="75000"/>
                  </a:schemeClr>
                </a:solidFill>
              </a:rPr>
              <a:t>PySR</a:t>
            </a:r>
            <a:r>
              <a:rPr lang="en-US" sz="1400" dirty="0">
                <a:solidFill>
                  <a:schemeClr val="bg2">
                    <a:lumMod val="75000"/>
                  </a:schemeClr>
                </a:solidFill>
              </a:rPr>
              <a:t> </a:t>
            </a:r>
            <a:r>
              <a:rPr lang="en-US" sz="1200" dirty="0">
                <a:solidFill>
                  <a:schemeClr val="bg2">
                    <a:lumMod val="75000"/>
                  </a:schemeClr>
                </a:solidFill>
              </a:rPr>
              <a:t>and</a:t>
            </a:r>
            <a:r>
              <a:rPr lang="en-US" sz="1400" dirty="0">
                <a:solidFill>
                  <a:schemeClr val="bg2">
                    <a:lumMod val="75000"/>
                  </a:schemeClr>
                </a:solidFill>
              </a:rPr>
              <a:t> </a:t>
            </a:r>
            <a:r>
              <a:rPr lang="en-US" sz="1400" dirty="0" err="1">
                <a:solidFill>
                  <a:schemeClr val="bg2">
                    <a:lumMod val="75000"/>
                  </a:schemeClr>
                </a:solidFill>
              </a:rPr>
              <a:t>SymbolicRegression.jl</a:t>
            </a:r>
            <a:endParaRPr lang="es-ES_tradnl" sz="1400" dirty="0">
              <a:solidFill>
                <a:schemeClr val="bg2">
                  <a:lumMod val="75000"/>
                </a:schemeClr>
              </a:solidFill>
              <a:latin typeface="Source Sans Pro" panose="020B0503030403020204" pitchFamily="34" charset="0"/>
              <a:ea typeface="Source Sans Pro" panose="020B0503030403020204" pitchFamily="34" charset="0"/>
            </a:endParaRPr>
          </a:p>
        </p:txBody>
      </p:sp>
      <p:sp>
        <p:nvSpPr>
          <p:cNvPr id="7" name="TextBox 6">
            <a:extLst>
              <a:ext uri="{FF2B5EF4-FFF2-40B4-BE49-F238E27FC236}">
                <a16:creationId xmlns:a16="http://schemas.microsoft.com/office/drawing/2014/main" id="{1F5BC65F-4069-77CF-76BB-0C2FA14C25D1}"/>
              </a:ext>
            </a:extLst>
          </p:cNvPr>
          <p:cNvSpPr txBox="1"/>
          <p:nvPr/>
        </p:nvSpPr>
        <p:spPr>
          <a:xfrm>
            <a:off x="6989958" y="5070115"/>
            <a:ext cx="3741548" cy="276999"/>
          </a:xfrm>
          <a:prstGeom prst="rect">
            <a:avLst/>
          </a:prstGeom>
          <a:noFill/>
        </p:spPr>
        <p:txBody>
          <a:bodyPr wrap="square" rtlCol="0">
            <a:spAutoFit/>
          </a:bodyPr>
          <a:lstStyle/>
          <a:p>
            <a:r>
              <a:rPr lang="en-US" sz="1200" dirty="0"/>
              <a:t>Example of how an expression is represented as a tree</a:t>
            </a:r>
            <a:endParaRPr lang="en-DE" sz="1200" dirty="0"/>
          </a:p>
        </p:txBody>
      </p:sp>
    </p:spTree>
    <p:extLst>
      <p:ext uri="{BB962C8B-B14F-4D97-AF65-F5344CB8AC3E}">
        <p14:creationId xmlns:p14="http://schemas.microsoft.com/office/powerpoint/2010/main" val="13918782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3872C-659E-F07E-FA26-9CC4A647F49A}"/>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D70F0D4-DCD1-7B4C-901B-C905A7489308}"/>
              </a:ext>
            </a:extLst>
          </p:cNvPr>
          <p:cNvSpPr>
            <a:spLocks noGrp="1"/>
          </p:cNvSpPr>
          <p:nvPr>
            <p:ph type="sldNum" sz="quarter" idx="12"/>
          </p:nvPr>
        </p:nvSpPr>
        <p:spPr/>
        <p:txBody>
          <a:bodyPr/>
          <a:lstStyle/>
          <a:p>
            <a:fld id="{B75BC28E-972B-EC47-BE79-29D89D46B9CA}" type="slidenum">
              <a:rPr lang="es-ES_tradnl" b="1" smtClean="0"/>
              <a:t>29</a:t>
            </a:fld>
            <a:endParaRPr lang="es-ES_tradnl" b="1" dirty="0"/>
          </a:p>
        </p:txBody>
      </p:sp>
      <p:sp>
        <p:nvSpPr>
          <p:cNvPr id="3" name="CuadroTexto 2">
            <a:extLst>
              <a:ext uri="{FF2B5EF4-FFF2-40B4-BE49-F238E27FC236}">
                <a16:creationId xmlns:a16="http://schemas.microsoft.com/office/drawing/2014/main" id="{568C24E8-F584-636E-0E8A-5D87ED5DB0B4}"/>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7A6AC18C-5608-E641-2339-2D82BDFDC4C2}"/>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0AAD9DF-D8EC-8041-9561-44D98C05A099}"/>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7" name="Picture 6">
            <a:extLst>
              <a:ext uri="{FF2B5EF4-FFF2-40B4-BE49-F238E27FC236}">
                <a16:creationId xmlns:a16="http://schemas.microsoft.com/office/drawing/2014/main" id="{FCB8FF50-C17A-23C8-83C6-CDC320403A8F}"/>
              </a:ext>
            </a:extLst>
          </p:cNvPr>
          <p:cNvPicPr>
            <a:picLocks noChangeAspect="1"/>
          </p:cNvPicPr>
          <p:nvPr/>
        </p:nvPicPr>
        <p:blipFill>
          <a:blip r:embed="rId2"/>
          <a:stretch>
            <a:fillRect/>
          </a:stretch>
        </p:blipFill>
        <p:spPr>
          <a:xfrm>
            <a:off x="1201424" y="2066735"/>
            <a:ext cx="5020376" cy="2724530"/>
          </a:xfrm>
          <a:prstGeom prst="rect">
            <a:avLst/>
          </a:prstGeom>
        </p:spPr>
      </p:pic>
      <p:pic>
        <p:nvPicPr>
          <p:cNvPr id="9" name="Picture 8">
            <a:extLst>
              <a:ext uri="{FF2B5EF4-FFF2-40B4-BE49-F238E27FC236}">
                <a16:creationId xmlns:a16="http://schemas.microsoft.com/office/drawing/2014/main" id="{519D710B-6292-E190-AFA4-B176541917CD}"/>
              </a:ext>
            </a:extLst>
          </p:cNvPr>
          <p:cNvPicPr>
            <a:picLocks noChangeAspect="1"/>
          </p:cNvPicPr>
          <p:nvPr/>
        </p:nvPicPr>
        <p:blipFill>
          <a:blip r:embed="rId3"/>
          <a:stretch>
            <a:fillRect/>
          </a:stretch>
        </p:blipFill>
        <p:spPr>
          <a:xfrm>
            <a:off x="7725033" y="1759027"/>
            <a:ext cx="3333388" cy="3622955"/>
          </a:xfrm>
          <a:prstGeom prst="rect">
            <a:avLst/>
          </a:prstGeom>
        </p:spPr>
      </p:pic>
      <p:sp>
        <p:nvSpPr>
          <p:cNvPr id="11" name="CuadroTexto 25">
            <a:extLst>
              <a:ext uri="{FF2B5EF4-FFF2-40B4-BE49-F238E27FC236}">
                <a16:creationId xmlns:a16="http://schemas.microsoft.com/office/drawing/2014/main" id="{CD77B3C7-7D81-590B-80A3-14DCB6A66E99}"/>
              </a:ext>
            </a:extLst>
          </p:cNvPr>
          <p:cNvSpPr txBox="1"/>
          <p:nvPr/>
        </p:nvSpPr>
        <p:spPr>
          <a:xfrm>
            <a:off x="3090215" y="1177028"/>
            <a:ext cx="1242793" cy="369332"/>
          </a:xfrm>
          <a:prstGeom prst="rect">
            <a:avLst/>
          </a:prstGeom>
          <a:noFill/>
        </p:spPr>
        <p:txBody>
          <a:bodyPr wrap="square">
            <a:spAutoFit/>
          </a:bodyPr>
          <a:lstStyle/>
          <a:p>
            <a:pPr rtl="0" fontAlgn="base">
              <a:spcBef>
                <a:spcPts val="0"/>
              </a:spcBef>
              <a:spcAft>
                <a:spcPts val="0"/>
              </a:spcAft>
            </a:pPr>
            <a:r>
              <a:rPr lang="en-US" b="1" dirty="0"/>
              <a:t>Mutation</a:t>
            </a:r>
            <a:endParaRPr lang="en-US" sz="1400" b="1" i="0" u="none" strike="noStrike" dirty="0">
              <a:solidFill>
                <a:srgbClr val="000000"/>
              </a:solidFill>
              <a:effectLst/>
              <a:latin typeface="Roboto" panose="02000000000000000000" pitchFamily="2" charset="0"/>
            </a:endParaRPr>
          </a:p>
        </p:txBody>
      </p:sp>
      <p:sp>
        <p:nvSpPr>
          <p:cNvPr id="13" name="TextBox 12">
            <a:extLst>
              <a:ext uri="{FF2B5EF4-FFF2-40B4-BE49-F238E27FC236}">
                <a16:creationId xmlns:a16="http://schemas.microsoft.com/office/drawing/2014/main" id="{5343B98C-F1C9-8976-CF39-2BD394CB7AB1}"/>
              </a:ext>
            </a:extLst>
          </p:cNvPr>
          <p:cNvSpPr txBox="1"/>
          <p:nvPr/>
        </p:nvSpPr>
        <p:spPr>
          <a:xfrm>
            <a:off x="8890866" y="1136955"/>
            <a:ext cx="1319934" cy="369332"/>
          </a:xfrm>
          <a:prstGeom prst="rect">
            <a:avLst/>
          </a:prstGeom>
          <a:noFill/>
        </p:spPr>
        <p:txBody>
          <a:bodyPr wrap="square">
            <a:spAutoFit/>
          </a:bodyPr>
          <a:lstStyle/>
          <a:p>
            <a:r>
              <a:rPr lang="en-US" sz="1800" b="1" dirty="0"/>
              <a:t>Crossover</a:t>
            </a:r>
            <a:endParaRPr lang="en-DE" dirty="0"/>
          </a:p>
        </p:txBody>
      </p:sp>
      <p:sp>
        <p:nvSpPr>
          <p:cNvPr id="14" name="CuadroTexto 4">
            <a:extLst>
              <a:ext uri="{FF2B5EF4-FFF2-40B4-BE49-F238E27FC236}">
                <a16:creationId xmlns:a16="http://schemas.microsoft.com/office/drawing/2014/main" id="{C1AD2714-DB70-265D-3AFD-53A2E1221467}"/>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
        <p:nvSpPr>
          <p:cNvPr id="6" name="TextBox 5">
            <a:extLst>
              <a:ext uri="{FF2B5EF4-FFF2-40B4-BE49-F238E27FC236}">
                <a16:creationId xmlns:a16="http://schemas.microsoft.com/office/drawing/2014/main" id="{C3115E89-CBBF-4D36-1B37-1D44EF60C246}"/>
              </a:ext>
            </a:extLst>
          </p:cNvPr>
          <p:cNvSpPr txBox="1"/>
          <p:nvPr/>
        </p:nvSpPr>
        <p:spPr>
          <a:xfrm>
            <a:off x="1745672" y="4747444"/>
            <a:ext cx="4248727" cy="276999"/>
          </a:xfrm>
          <a:prstGeom prst="rect">
            <a:avLst/>
          </a:prstGeom>
          <a:noFill/>
        </p:spPr>
        <p:txBody>
          <a:bodyPr wrap="square" rtlCol="0">
            <a:spAutoFit/>
          </a:bodyPr>
          <a:lstStyle/>
          <a:p>
            <a:r>
              <a:rPr lang="en-US" sz="1200" dirty="0"/>
              <a:t>A mutation operation applied to an expression tree.</a:t>
            </a:r>
            <a:endParaRPr lang="en-DE" sz="1200" dirty="0"/>
          </a:p>
        </p:txBody>
      </p:sp>
      <p:sp>
        <p:nvSpPr>
          <p:cNvPr id="8" name="TextBox 7">
            <a:extLst>
              <a:ext uri="{FF2B5EF4-FFF2-40B4-BE49-F238E27FC236}">
                <a16:creationId xmlns:a16="http://schemas.microsoft.com/office/drawing/2014/main" id="{2F0F7A59-1E8C-4B6C-7DD9-37BB24A7E66E}"/>
              </a:ext>
            </a:extLst>
          </p:cNvPr>
          <p:cNvSpPr txBox="1"/>
          <p:nvPr/>
        </p:nvSpPr>
        <p:spPr>
          <a:xfrm>
            <a:off x="7725033" y="5496222"/>
            <a:ext cx="4248727" cy="276999"/>
          </a:xfrm>
          <a:prstGeom prst="rect">
            <a:avLst/>
          </a:prstGeom>
          <a:noFill/>
        </p:spPr>
        <p:txBody>
          <a:bodyPr wrap="square" rtlCol="0">
            <a:spAutoFit/>
          </a:bodyPr>
          <a:lstStyle/>
          <a:p>
            <a:r>
              <a:rPr lang="en-US" sz="1200" dirty="0"/>
              <a:t>A crossover operation between two expression trees.</a:t>
            </a:r>
            <a:endParaRPr lang="en-DE" sz="1200" dirty="0"/>
          </a:p>
        </p:txBody>
      </p:sp>
    </p:spTree>
    <p:extLst>
      <p:ext uri="{BB962C8B-B14F-4D97-AF65-F5344CB8AC3E}">
        <p14:creationId xmlns:p14="http://schemas.microsoft.com/office/powerpoint/2010/main" val="12709455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BB90E-F0E9-4ED4-2D8F-A5EB8AC3952B}"/>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D2F7C19D-F81A-0DBB-36A6-C2ECCF74A5F4}"/>
              </a:ext>
            </a:extLst>
          </p:cNvPr>
          <p:cNvSpPr>
            <a:spLocks noGrp="1"/>
          </p:cNvSpPr>
          <p:nvPr>
            <p:ph type="sldNum" sz="quarter" idx="12"/>
          </p:nvPr>
        </p:nvSpPr>
        <p:spPr/>
        <p:txBody>
          <a:bodyPr/>
          <a:lstStyle/>
          <a:p>
            <a:fld id="{B75BC28E-972B-EC47-BE79-29D89D46B9CA}" type="slidenum">
              <a:rPr lang="es-ES_tradnl" b="1" smtClean="0"/>
              <a:t>30</a:t>
            </a:fld>
            <a:endParaRPr lang="es-ES_tradnl" b="1" dirty="0"/>
          </a:p>
        </p:txBody>
      </p:sp>
      <p:sp>
        <p:nvSpPr>
          <p:cNvPr id="3" name="CuadroTexto 2">
            <a:extLst>
              <a:ext uri="{FF2B5EF4-FFF2-40B4-BE49-F238E27FC236}">
                <a16:creationId xmlns:a16="http://schemas.microsoft.com/office/drawing/2014/main" id="{045352C2-48C2-C99F-9671-44742B2825F2}"/>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3385EA4-2708-FDF3-DFA6-F5DA41BE5150}"/>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67FE31C-956C-C654-041D-DB9EB3DFEC61}"/>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0" name="Picture 9">
            <a:extLst>
              <a:ext uri="{FF2B5EF4-FFF2-40B4-BE49-F238E27FC236}">
                <a16:creationId xmlns:a16="http://schemas.microsoft.com/office/drawing/2014/main" id="{2D34AA41-23F1-18BF-B737-8BE3382E154F}"/>
              </a:ext>
            </a:extLst>
          </p:cNvPr>
          <p:cNvPicPr>
            <a:picLocks noChangeAspect="1"/>
          </p:cNvPicPr>
          <p:nvPr/>
        </p:nvPicPr>
        <p:blipFill>
          <a:blip r:embed="rId2"/>
          <a:stretch>
            <a:fillRect/>
          </a:stretch>
        </p:blipFill>
        <p:spPr>
          <a:xfrm>
            <a:off x="4082143" y="1589391"/>
            <a:ext cx="7886700" cy="4020111"/>
          </a:xfrm>
          <a:prstGeom prst="rect">
            <a:avLst/>
          </a:prstGeom>
        </p:spPr>
      </p:pic>
      <p:sp>
        <p:nvSpPr>
          <p:cNvPr id="6" name="CuadroTexto 25">
            <a:extLst>
              <a:ext uri="{FF2B5EF4-FFF2-40B4-BE49-F238E27FC236}">
                <a16:creationId xmlns:a16="http://schemas.microsoft.com/office/drawing/2014/main" id="{651F8756-2301-6D30-B92D-13301335A027}"/>
              </a:ext>
            </a:extLst>
          </p:cNvPr>
          <p:cNvSpPr txBox="1"/>
          <p:nvPr/>
        </p:nvSpPr>
        <p:spPr>
          <a:xfrm>
            <a:off x="4868059" y="915233"/>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Inner Loop</a:t>
            </a:r>
            <a:endParaRPr lang="en-US" sz="1400" b="1" i="0" u="none" strike="noStrike" dirty="0">
              <a:solidFill>
                <a:srgbClr val="000000"/>
              </a:solidFill>
              <a:effectLst/>
              <a:latin typeface="Roboto" panose="02000000000000000000" pitchFamily="2" charset="0"/>
            </a:endParaRPr>
          </a:p>
        </p:txBody>
      </p:sp>
      <p:sp>
        <p:nvSpPr>
          <p:cNvPr id="7" name="CuadroTexto 4">
            <a:extLst>
              <a:ext uri="{FF2B5EF4-FFF2-40B4-BE49-F238E27FC236}">
                <a16:creationId xmlns:a16="http://schemas.microsoft.com/office/drawing/2014/main" id="{DB8D5879-6709-E745-2854-9CD1583D13D2}"/>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
        <p:nvSpPr>
          <p:cNvPr id="8" name="Rectángulo: esquinas redondeadas 220">
            <a:extLst>
              <a:ext uri="{FF2B5EF4-FFF2-40B4-BE49-F238E27FC236}">
                <a16:creationId xmlns:a16="http://schemas.microsoft.com/office/drawing/2014/main" id="{54DEB432-AAAA-F87F-34E0-4057FF198D5F}"/>
              </a:ext>
            </a:extLst>
          </p:cNvPr>
          <p:cNvSpPr/>
          <p:nvPr/>
        </p:nvSpPr>
        <p:spPr>
          <a:xfrm>
            <a:off x="755027" y="1557484"/>
            <a:ext cx="3180159" cy="4052017"/>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 name="TextBox 8">
            <a:extLst>
              <a:ext uri="{FF2B5EF4-FFF2-40B4-BE49-F238E27FC236}">
                <a16:creationId xmlns:a16="http://schemas.microsoft.com/office/drawing/2014/main" id="{B4FD1C21-9D72-5D08-4401-72E1FCE4586D}"/>
              </a:ext>
            </a:extLst>
          </p:cNvPr>
          <p:cNvSpPr txBox="1"/>
          <p:nvPr/>
        </p:nvSpPr>
        <p:spPr>
          <a:xfrm>
            <a:off x="960582" y="1717964"/>
            <a:ext cx="2715491" cy="3139321"/>
          </a:xfrm>
          <a:prstGeom prst="rect">
            <a:avLst/>
          </a:prstGeom>
          <a:noFill/>
        </p:spPr>
        <p:txBody>
          <a:bodyPr wrap="square" rtlCol="0">
            <a:spAutoFit/>
          </a:bodyPr>
          <a:lstStyle/>
          <a:p>
            <a:pPr marL="285750" indent="-285750">
              <a:buFont typeface="Arial" panose="020B0604020202020204" pitchFamily="34" charset="0"/>
              <a:buChar char="•"/>
            </a:pPr>
            <a:r>
              <a:rPr lang="en-US" dirty="0"/>
              <a:t>Population of expressions is randomly sampled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Perform tournament</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Winner is selected for breeding</a:t>
            </a:r>
          </a:p>
          <a:p>
            <a:pPr marL="800100" lvl="1" indent="-342900">
              <a:buFont typeface="Courier New" panose="02070309020205020404" pitchFamily="49" charset="0"/>
              <a:buChar char="o"/>
            </a:pPr>
            <a:r>
              <a:rPr lang="en-US" dirty="0"/>
              <a:t>Mutation</a:t>
            </a:r>
          </a:p>
          <a:p>
            <a:pPr marL="800100" lvl="1" indent="-342900">
              <a:buFont typeface="Courier New" panose="02070309020205020404" pitchFamily="49" charset="0"/>
              <a:buChar char="o"/>
            </a:pPr>
            <a:r>
              <a:rPr lang="en-US" dirty="0"/>
              <a:t>Crossover</a:t>
            </a:r>
          </a:p>
          <a:p>
            <a:pPr marL="800100" lvl="1" indent="-342900">
              <a:buFont typeface="Courier New" panose="02070309020205020404" pitchFamily="49" charset="0"/>
              <a:buChar char="o"/>
            </a:pPr>
            <a:r>
              <a:rPr lang="en-US" dirty="0"/>
              <a:t>Simplification</a:t>
            </a:r>
          </a:p>
        </p:txBody>
      </p:sp>
    </p:spTree>
    <p:extLst>
      <p:ext uri="{BB962C8B-B14F-4D97-AF65-F5344CB8AC3E}">
        <p14:creationId xmlns:p14="http://schemas.microsoft.com/office/powerpoint/2010/main" val="16938049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31</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2" name="Picture 11">
            <a:extLst>
              <a:ext uri="{FF2B5EF4-FFF2-40B4-BE49-F238E27FC236}">
                <a16:creationId xmlns:a16="http://schemas.microsoft.com/office/drawing/2014/main" id="{B9BD64DB-8E93-F8B4-E234-F0ABED0DA54D}"/>
              </a:ext>
            </a:extLst>
          </p:cNvPr>
          <p:cNvPicPr>
            <a:picLocks noChangeAspect="1"/>
          </p:cNvPicPr>
          <p:nvPr/>
        </p:nvPicPr>
        <p:blipFill>
          <a:blip r:embed="rId2"/>
          <a:stretch>
            <a:fillRect/>
          </a:stretch>
        </p:blipFill>
        <p:spPr>
          <a:xfrm>
            <a:off x="5036433" y="1121677"/>
            <a:ext cx="6876983" cy="4943319"/>
          </a:xfrm>
          <a:prstGeom prst="rect">
            <a:avLst/>
          </a:prstGeom>
        </p:spPr>
      </p:pic>
      <p:sp>
        <p:nvSpPr>
          <p:cNvPr id="13" name="CuadroTexto 25">
            <a:extLst>
              <a:ext uri="{FF2B5EF4-FFF2-40B4-BE49-F238E27FC236}">
                <a16:creationId xmlns:a16="http://schemas.microsoft.com/office/drawing/2014/main" id="{21686647-B55D-D50B-29B8-42037B047B62}"/>
              </a:ext>
            </a:extLst>
          </p:cNvPr>
          <p:cNvSpPr txBox="1"/>
          <p:nvPr/>
        </p:nvSpPr>
        <p:spPr>
          <a:xfrm>
            <a:off x="4233001" y="766700"/>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Outer Loop</a:t>
            </a:r>
            <a:endParaRPr lang="en-US" sz="1400" b="1" i="0" u="none" strike="noStrike" dirty="0">
              <a:solidFill>
                <a:srgbClr val="000000"/>
              </a:solidFill>
              <a:effectLst/>
              <a:latin typeface="Roboto" panose="02000000000000000000" pitchFamily="2" charset="0"/>
            </a:endParaRPr>
          </a:p>
        </p:txBody>
      </p:sp>
      <p:sp>
        <p:nvSpPr>
          <p:cNvPr id="14" name="CuadroTexto 4">
            <a:extLst>
              <a:ext uri="{FF2B5EF4-FFF2-40B4-BE49-F238E27FC236}">
                <a16:creationId xmlns:a16="http://schemas.microsoft.com/office/drawing/2014/main" id="{3CCA015B-142B-33F6-FA26-7B8021E50F29}"/>
              </a:ext>
            </a:extLst>
          </p:cNvPr>
          <p:cNvSpPr txBox="1"/>
          <p:nvPr/>
        </p:nvSpPr>
        <p:spPr>
          <a:xfrm>
            <a:off x="1651215" y="6091300"/>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
        <p:nvSpPr>
          <p:cNvPr id="6" name="Rectángulo: esquinas redondeadas 220">
            <a:extLst>
              <a:ext uri="{FF2B5EF4-FFF2-40B4-BE49-F238E27FC236}">
                <a16:creationId xmlns:a16="http://schemas.microsoft.com/office/drawing/2014/main" id="{2B609914-1ECE-197B-9FC4-F498AC1F40D6}"/>
              </a:ext>
            </a:extLst>
          </p:cNvPr>
          <p:cNvSpPr/>
          <p:nvPr/>
        </p:nvSpPr>
        <p:spPr>
          <a:xfrm>
            <a:off x="1052842" y="1402991"/>
            <a:ext cx="3180159" cy="4052017"/>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 name="TextBox 6">
            <a:extLst>
              <a:ext uri="{FF2B5EF4-FFF2-40B4-BE49-F238E27FC236}">
                <a16:creationId xmlns:a16="http://schemas.microsoft.com/office/drawing/2014/main" id="{63C13F95-03B0-C030-8E23-AE642A5583D7}"/>
              </a:ext>
            </a:extLst>
          </p:cNvPr>
          <p:cNvSpPr txBox="1"/>
          <p:nvPr/>
        </p:nvSpPr>
        <p:spPr>
          <a:xfrm>
            <a:off x="1258397" y="1563471"/>
            <a:ext cx="2715491" cy="2031325"/>
          </a:xfrm>
          <a:prstGeom prst="rect">
            <a:avLst/>
          </a:prstGeom>
          <a:noFill/>
        </p:spPr>
        <p:txBody>
          <a:bodyPr wrap="square" rtlCol="0">
            <a:spAutoFit/>
          </a:bodyPr>
          <a:lstStyle/>
          <a:p>
            <a:pPr marL="285750" indent="-285750">
              <a:buFont typeface="Arial" panose="020B0604020202020204" pitchFamily="34" charset="0"/>
              <a:buChar char="•"/>
            </a:pPr>
            <a:r>
              <a:rPr lang="en-US" dirty="0"/>
              <a:t>Several populations evolve independently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At the end of the evolution rounds: migration between islands</a:t>
            </a:r>
          </a:p>
        </p:txBody>
      </p:sp>
    </p:spTree>
    <p:extLst>
      <p:ext uri="{BB962C8B-B14F-4D97-AF65-F5344CB8AC3E}">
        <p14:creationId xmlns:p14="http://schemas.microsoft.com/office/powerpoint/2010/main" val="27855271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41A2-A660-859D-5D31-E17DB56772D8}"/>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F232668B-B3B5-C926-2D60-2EFB43D6D155}"/>
              </a:ext>
            </a:extLst>
          </p:cNvPr>
          <p:cNvSpPr>
            <a:spLocks noGrp="1"/>
          </p:cNvSpPr>
          <p:nvPr>
            <p:ph type="sldNum" sz="quarter" idx="12"/>
          </p:nvPr>
        </p:nvSpPr>
        <p:spPr/>
        <p:txBody>
          <a:bodyPr/>
          <a:lstStyle/>
          <a:p>
            <a:fld id="{B75BC28E-972B-EC47-BE79-29D89D46B9CA}" type="slidenum">
              <a:rPr lang="es-ES_tradnl" b="1" smtClean="0"/>
              <a:t>32</a:t>
            </a:fld>
            <a:endParaRPr lang="es-ES_tradnl" b="1" dirty="0"/>
          </a:p>
        </p:txBody>
      </p:sp>
      <p:sp>
        <p:nvSpPr>
          <p:cNvPr id="3" name="CuadroTexto 2">
            <a:extLst>
              <a:ext uri="{FF2B5EF4-FFF2-40B4-BE49-F238E27FC236}">
                <a16:creationId xmlns:a16="http://schemas.microsoft.com/office/drawing/2014/main" id="{F658E3A3-BBBC-81F7-D9A0-0589F393DCCE}"/>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321A54A0-A006-4F29-AEA5-81C40C2CD553}"/>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8E8B53A0-15ED-0218-07E7-A248E00D5013}"/>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pSp>
        <p:nvGrpSpPr>
          <p:cNvPr id="6" name="Grupo 1">
            <a:extLst>
              <a:ext uri="{FF2B5EF4-FFF2-40B4-BE49-F238E27FC236}">
                <a16:creationId xmlns:a16="http://schemas.microsoft.com/office/drawing/2014/main" id="{54CB3497-A63F-BF1D-34A8-D8E61E40DBA6}"/>
              </a:ext>
            </a:extLst>
          </p:cNvPr>
          <p:cNvGrpSpPr/>
          <p:nvPr/>
        </p:nvGrpSpPr>
        <p:grpSpPr>
          <a:xfrm>
            <a:off x="1320145" y="877456"/>
            <a:ext cx="9551710" cy="3140362"/>
            <a:chOff x="838200" y="1963496"/>
            <a:chExt cx="4749800" cy="2271883"/>
          </a:xfrm>
        </p:grpSpPr>
        <p:sp>
          <p:nvSpPr>
            <p:cNvPr id="7" name="Google Shape;1857;p37">
              <a:extLst>
                <a:ext uri="{FF2B5EF4-FFF2-40B4-BE49-F238E27FC236}">
                  <a16:creationId xmlns:a16="http://schemas.microsoft.com/office/drawing/2014/main" id="{E9298FC3-6D59-1FC9-BAC2-D1882B566909}"/>
                </a:ext>
              </a:extLst>
            </p:cNvPr>
            <p:cNvSpPr/>
            <p:nvPr/>
          </p:nvSpPr>
          <p:spPr>
            <a:xfrm>
              <a:off x="838200" y="2232971"/>
              <a:ext cx="4749800" cy="2002408"/>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8" name="Google Shape;1859;p37">
              <a:extLst>
                <a:ext uri="{FF2B5EF4-FFF2-40B4-BE49-F238E27FC236}">
                  <a16:creationId xmlns:a16="http://schemas.microsoft.com/office/drawing/2014/main" id="{BC84A2CF-3476-A82D-724D-EF14C4FDC6BB}"/>
                </a:ext>
              </a:extLst>
            </p:cNvPr>
            <p:cNvSpPr/>
            <p:nvPr/>
          </p:nvSpPr>
          <p:spPr>
            <a:xfrm>
              <a:off x="838200" y="1963496"/>
              <a:ext cx="4749800" cy="558476"/>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9" name="Google Shape;1862;p37">
              <a:extLst>
                <a:ext uri="{FF2B5EF4-FFF2-40B4-BE49-F238E27FC236}">
                  <a16:creationId xmlns:a16="http://schemas.microsoft.com/office/drawing/2014/main" id="{270E26A5-ADAB-3F64-C15C-593B64220DAA}"/>
                </a:ext>
              </a:extLst>
            </p:cNvPr>
            <p:cNvGrpSpPr/>
            <p:nvPr/>
          </p:nvGrpSpPr>
          <p:grpSpPr>
            <a:xfrm>
              <a:off x="1052316" y="2077873"/>
              <a:ext cx="4366928" cy="2073214"/>
              <a:chOff x="688875" y="1376475"/>
              <a:chExt cx="2337055" cy="2086276"/>
            </a:xfrm>
          </p:grpSpPr>
          <p:sp>
            <p:nvSpPr>
              <p:cNvPr id="10" name="Google Shape;1863;p37">
                <a:extLst>
                  <a:ext uri="{FF2B5EF4-FFF2-40B4-BE49-F238E27FC236}">
                    <a16:creationId xmlns:a16="http://schemas.microsoft.com/office/drawing/2014/main" id="{69890A42-272D-B136-2FB8-89A5C471D24D}"/>
                  </a:ext>
                </a:extLst>
              </p:cNvPr>
              <p:cNvSpPr txBox="1"/>
              <p:nvPr/>
            </p:nvSpPr>
            <p:spPr>
              <a:xfrm>
                <a:off x="782632" y="1376475"/>
                <a:ext cx="2146643" cy="323037"/>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sz="2000" b="1" i="1" dirty="0" err="1">
                    <a:latin typeface="Source Sans Pro" panose="020B0503030403020204" pitchFamily="34" charset="0"/>
                    <a:ea typeface="Source Sans Pro" panose="020B0503030403020204" pitchFamily="34" charset="0"/>
                    <a:cs typeface="Fira Sans Extra Condensed"/>
                    <a:sym typeface="Fira Sans Extra Condensed"/>
                  </a:rPr>
                  <a:t>PySR</a:t>
                </a:r>
                <a:r>
                  <a:rPr lang="es-MX" sz="2000" b="1" i="1" dirty="0">
                    <a:latin typeface="Source Sans Pro" panose="020B0503030403020204" pitchFamily="34" charset="0"/>
                    <a:ea typeface="Source Sans Pro" panose="020B0503030403020204" pitchFamily="34" charset="0"/>
                    <a:cs typeface="Fira Sans Extra Condensed"/>
                    <a:sym typeface="Fira Sans Extra Condensed"/>
                  </a:rPr>
                  <a:t> </a:t>
                </a:r>
                <a:r>
                  <a:rPr lang="es-MX" sz="2000" b="1" i="1" dirty="0" err="1">
                    <a:latin typeface="Source Sans Pro" panose="020B0503030403020204" pitchFamily="34" charset="0"/>
                    <a:ea typeface="Source Sans Pro" panose="020B0503030403020204" pitchFamily="34" charset="0"/>
                    <a:cs typeface="Fira Sans Extra Condensed"/>
                    <a:sym typeface="Fira Sans Extra Condensed"/>
                  </a:rPr>
                  <a:t>setup</a:t>
                </a:r>
                <a:endParaRPr sz="2000" b="1" i="1" dirty="0">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11" name="Google Shape;1866;p37">
                <a:extLst>
                  <a:ext uri="{FF2B5EF4-FFF2-40B4-BE49-F238E27FC236}">
                    <a16:creationId xmlns:a16="http://schemas.microsoft.com/office/drawing/2014/main" id="{6E48C69E-CE6A-2089-9FA1-8589E24171CB}"/>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15" name="Google Shape;1869;p37">
                <a:extLst>
                  <a:ext uri="{FF2B5EF4-FFF2-40B4-BE49-F238E27FC236}">
                    <a16:creationId xmlns:a16="http://schemas.microsoft.com/office/drawing/2014/main" id="{06D2AAE3-376A-6717-C5BA-84050B2C6582}"/>
                  </a:ext>
                </a:extLst>
              </p:cNvPr>
              <p:cNvSpPr txBox="1"/>
              <p:nvPr/>
            </p:nvSpPr>
            <p:spPr>
              <a:xfrm>
                <a:off x="688875" y="1938470"/>
                <a:ext cx="2337055" cy="1492066"/>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dirty="0"/>
                  <a:t>Data that was used for the Sensitivity Analysis</a:t>
                </a:r>
              </a:p>
              <a:p>
                <a:pPr marL="285750" indent="-285750">
                  <a:buFont typeface="Arial" panose="020B0604020202020204" pitchFamily="34" charset="0"/>
                  <a:buChar char="•"/>
                </a:pPr>
                <a:r>
                  <a:rPr lang="en-US" dirty="0"/>
                  <a:t>Filtered only polarization curves that have only positive voltage</a:t>
                </a:r>
              </a:p>
              <a:p>
                <a:pPr marL="285750" indent="-285750">
                  <a:buFont typeface="Arial" panose="020B0604020202020204" pitchFamily="34" charset="0"/>
                  <a:buChar char="•"/>
                </a:pPr>
                <a:r>
                  <a:rPr lang="en-US" dirty="0"/>
                  <a:t>80-20 train test split with grouping (each curve in either train or test set)</a:t>
                </a:r>
              </a:p>
              <a:p>
                <a:pPr marL="285750" indent="-285750">
                  <a:buFont typeface="Arial" panose="020B0604020202020204" pitchFamily="34" charset="0"/>
                  <a:buChar char="•"/>
                </a:pPr>
                <a:r>
                  <a:rPr lang="en-US" dirty="0"/>
                  <a:t>Binary operators: +, -, *, /</a:t>
                </a:r>
              </a:p>
              <a:p>
                <a:pPr marL="285750" indent="-285750">
                  <a:buFont typeface="Arial" panose="020B0604020202020204" pitchFamily="34" charset="0"/>
                  <a:buChar char="•"/>
                </a:pPr>
                <a:r>
                  <a:rPr lang="en-US" dirty="0"/>
                  <a:t>Unary operators: exp, log, square, cube, inv, neg</a:t>
                </a:r>
              </a:p>
              <a:p>
                <a:pPr marL="285750" indent="-285750">
                  <a:buFont typeface="Arial" panose="020B0604020202020204" pitchFamily="34" charset="0"/>
                  <a:buChar char="•"/>
                </a:pPr>
                <a:r>
                  <a:rPr lang="en-US" dirty="0"/>
                  <a:t>Loss: L2 Distance Loss</a:t>
                </a:r>
              </a:p>
              <a:p>
                <a:pPr marL="285750" indent="-285750">
                  <a:buFont typeface="Arial" panose="020B0604020202020204" pitchFamily="34" charset="0"/>
                  <a:buChar char="•"/>
                </a:pPr>
                <a:r>
                  <a:rPr lang="en-US" dirty="0"/>
                  <a:t>Training with batches</a:t>
                </a:r>
              </a:p>
            </p:txBody>
          </p:sp>
        </p:grpSp>
      </p:grpSp>
      <p:sp>
        <p:nvSpPr>
          <p:cNvPr id="37" name="Rectángulo: esquinas redondeadas 220">
            <a:extLst>
              <a:ext uri="{FF2B5EF4-FFF2-40B4-BE49-F238E27FC236}">
                <a16:creationId xmlns:a16="http://schemas.microsoft.com/office/drawing/2014/main" id="{D76FD5C5-92BB-CBDD-3951-61EAC1CD84C5}"/>
              </a:ext>
            </a:extLst>
          </p:cNvPr>
          <p:cNvSpPr/>
          <p:nvPr/>
        </p:nvSpPr>
        <p:spPr>
          <a:xfrm>
            <a:off x="985661" y="4135822"/>
            <a:ext cx="5230384"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9" name="Rectángulo: esquinas redondeadas 220">
            <a:extLst>
              <a:ext uri="{FF2B5EF4-FFF2-40B4-BE49-F238E27FC236}">
                <a16:creationId xmlns:a16="http://schemas.microsoft.com/office/drawing/2014/main" id="{937C11DB-8050-BE48-EFCF-71E92722D142}"/>
              </a:ext>
            </a:extLst>
          </p:cNvPr>
          <p:cNvSpPr/>
          <p:nvPr/>
        </p:nvSpPr>
        <p:spPr>
          <a:xfrm>
            <a:off x="6476876" y="4135822"/>
            <a:ext cx="5230384"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0" name="Google Shape;1869;p37">
            <a:extLst>
              <a:ext uri="{FF2B5EF4-FFF2-40B4-BE49-F238E27FC236}">
                <a16:creationId xmlns:a16="http://schemas.microsoft.com/office/drawing/2014/main" id="{9BBCFADC-6FB6-C0E9-E822-597787583951}"/>
              </a:ext>
            </a:extLst>
          </p:cNvPr>
          <p:cNvSpPr txBox="1"/>
          <p:nvPr/>
        </p:nvSpPr>
        <p:spPr>
          <a:xfrm>
            <a:off x="1221378" y="4338174"/>
            <a:ext cx="4738634" cy="2049529"/>
          </a:xfrm>
          <a:prstGeom prst="rect">
            <a:avLst/>
          </a:prstGeom>
          <a:noFill/>
          <a:ln>
            <a:noFill/>
          </a:ln>
        </p:spPr>
        <p:txBody>
          <a:bodyPr spcFirstLastPara="1" wrap="square" lIns="91425" tIns="91425" rIns="91425" bIns="91425" anchor="t" anchorCtr="0">
            <a:noAutofit/>
          </a:bodyPr>
          <a:lstStyle/>
          <a:p>
            <a:pPr algn="ctr"/>
            <a:r>
              <a:rPr lang="en-US" b="1" dirty="0"/>
              <a:t>Unconstrained search space</a:t>
            </a:r>
          </a:p>
          <a:p>
            <a:r>
              <a:rPr lang="en-US" dirty="0"/>
              <a:t>No restriction in the form of the learned equation</a:t>
            </a:r>
          </a:p>
        </p:txBody>
      </p:sp>
      <p:sp>
        <p:nvSpPr>
          <p:cNvPr id="41" name="Google Shape;1869;p37">
            <a:extLst>
              <a:ext uri="{FF2B5EF4-FFF2-40B4-BE49-F238E27FC236}">
                <a16:creationId xmlns:a16="http://schemas.microsoft.com/office/drawing/2014/main" id="{2F509972-AB21-B309-F695-12065253F90A}"/>
              </a:ext>
            </a:extLst>
          </p:cNvPr>
          <p:cNvSpPr txBox="1"/>
          <p:nvPr/>
        </p:nvSpPr>
        <p:spPr>
          <a:xfrm>
            <a:off x="6638505" y="4175919"/>
            <a:ext cx="4957396" cy="2049529"/>
          </a:xfrm>
          <a:prstGeom prst="rect">
            <a:avLst/>
          </a:prstGeom>
          <a:noFill/>
          <a:ln>
            <a:noFill/>
          </a:ln>
        </p:spPr>
        <p:txBody>
          <a:bodyPr spcFirstLastPara="1" wrap="square" lIns="91425" tIns="91425" rIns="91425" bIns="91425" anchor="t" anchorCtr="0">
            <a:noAutofit/>
          </a:bodyPr>
          <a:lstStyle/>
          <a:p>
            <a:pPr algn="ctr"/>
            <a:r>
              <a:rPr lang="en-US" b="1" dirty="0"/>
              <a:t>Constrained search space</a:t>
            </a:r>
          </a:p>
          <a:p>
            <a:pPr algn="ctr"/>
            <a:r>
              <a:rPr lang="en-US" b="1" dirty="0"/>
              <a:t>(Physics-informed)</a:t>
            </a:r>
          </a:p>
          <a:p>
            <a:r>
              <a:rPr lang="en-US" dirty="0"/>
              <a:t>Equations are constrained to look like:</a:t>
            </a:r>
          </a:p>
          <a:p>
            <a:endParaRPr lang="en-US" dirty="0"/>
          </a:p>
          <a:p>
            <a:endParaRPr lang="en-US" dirty="0"/>
          </a:p>
          <a:p>
            <a:r>
              <a:rPr lang="en-US" dirty="0"/>
              <a:t>Where </a:t>
            </a:r>
            <a:r>
              <a:rPr lang="en-US" dirty="0" err="1"/>
              <a:t>a,b,c,d,e</a:t>
            </a:r>
            <a:r>
              <a:rPr lang="en-US" dirty="0"/>
              <a:t> are formulas to be learned by </a:t>
            </a:r>
            <a:r>
              <a:rPr lang="en-US" dirty="0" err="1"/>
              <a:t>PySR</a:t>
            </a:r>
            <a:endParaRPr lang="en-US" dirty="0"/>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B1BDA17F-AA93-23BC-FE76-B4DAB998ACF7}"/>
                  </a:ext>
                </a:extLst>
              </p:cNvPr>
              <p:cNvSpPr txBox="1"/>
              <p:nvPr/>
            </p:nvSpPr>
            <p:spPr>
              <a:xfrm>
                <a:off x="6502682" y="5067359"/>
                <a:ext cx="5067413" cy="52456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𝑐𝑒𝑙𝑙</m:t>
                          </m:r>
                        </m:sub>
                      </m:sSub>
                      <m:r>
                        <a:rPr lang="en-US" b="0" i="1" smtClean="0">
                          <a:latin typeface="Cambria Math" panose="02040503050406030204" pitchFamily="18" charset="0"/>
                        </a:rPr>
                        <m:t>= </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𝑓𝑐</m:t>
                                  </m:r>
                                </m:sub>
                              </m:sSub>
                            </m:e>
                          </m:d>
                        </m:e>
                      </m:func>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𝑖</m:t>
                          </m:r>
                        </m:e>
                        <m:sub>
                          <m:r>
                            <a:rPr lang="en-US" i="1">
                              <a:latin typeface="Cambria Math" panose="02040503050406030204" pitchFamily="18" charset="0"/>
                            </a:rPr>
                            <m:t>𝑓𝑐</m:t>
                          </m:r>
                        </m:sub>
                      </m:sSub>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𝑙𝑜𝑔</m:t>
                      </m:r>
                      <m:r>
                        <a:rPr lang="en-US" b="0" i="1" smtClean="0">
                          <a:latin typeface="Cambria Math" panose="02040503050406030204" pitchFamily="18" charset="0"/>
                        </a:rPr>
                        <m:t>(1−</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𝑖</m:t>
                              </m:r>
                            </m:e>
                            <m:sub>
                              <m:r>
                                <a:rPr lang="en-US" i="1">
                                  <a:latin typeface="Cambria Math" panose="02040503050406030204" pitchFamily="18" charset="0"/>
                                </a:rPr>
                                <m:t>𝑓𝑐</m:t>
                              </m:r>
                            </m:sub>
                          </m:sSub>
                        </m:num>
                        <m:den>
                          <m:r>
                            <a:rPr lang="en-US" b="0" i="1" smtClean="0">
                              <a:latin typeface="Cambria Math" panose="02040503050406030204" pitchFamily="18" charset="0"/>
                            </a:rPr>
                            <m:t>𝑒</m:t>
                          </m:r>
                        </m:den>
                      </m:f>
                      <m:r>
                        <a:rPr lang="en-US" b="0" i="1" smtClean="0">
                          <a:latin typeface="Cambria Math" panose="02040503050406030204" pitchFamily="18" charset="0"/>
                        </a:rPr>
                        <m:t>)</m:t>
                      </m:r>
                    </m:oMath>
                  </m:oMathPara>
                </a14:m>
                <a:endParaRPr lang="en-DE" dirty="0"/>
              </a:p>
            </p:txBody>
          </p:sp>
        </mc:Choice>
        <mc:Fallback xmlns="">
          <p:sp>
            <p:nvSpPr>
              <p:cNvPr id="42" name="TextBox 41">
                <a:extLst>
                  <a:ext uri="{FF2B5EF4-FFF2-40B4-BE49-F238E27FC236}">
                    <a16:creationId xmlns:a16="http://schemas.microsoft.com/office/drawing/2014/main" id="{B1BDA17F-AA93-23BC-FE76-B4DAB998ACF7}"/>
                  </a:ext>
                </a:extLst>
              </p:cNvPr>
              <p:cNvSpPr txBox="1">
                <a:spLocks noRot="1" noChangeAspect="1" noMove="1" noResize="1" noEditPoints="1" noAdjustHandles="1" noChangeArrowheads="1" noChangeShapeType="1" noTextEdit="1"/>
              </p:cNvSpPr>
              <p:nvPr/>
            </p:nvSpPr>
            <p:spPr>
              <a:xfrm>
                <a:off x="6502682" y="5067359"/>
                <a:ext cx="5067413" cy="524567"/>
              </a:xfrm>
              <a:prstGeom prst="rect">
                <a:avLst/>
              </a:prstGeom>
              <a:blipFill>
                <a:blip r:embed="rId2"/>
                <a:stretch>
                  <a:fillRect/>
                </a:stretch>
              </a:blipFill>
            </p:spPr>
            <p:txBody>
              <a:bodyPr/>
              <a:lstStyle/>
              <a:p>
                <a:r>
                  <a:rPr lang="en-DE">
                    <a:noFill/>
                  </a:rPr>
                  <a:t> </a:t>
                </a:r>
              </a:p>
            </p:txBody>
          </p:sp>
        </mc:Fallback>
      </mc:AlternateContent>
    </p:spTree>
    <p:extLst>
      <p:ext uri="{BB962C8B-B14F-4D97-AF65-F5344CB8AC3E}">
        <p14:creationId xmlns:p14="http://schemas.microsoft.com/office/powerpoint/2010/main" val="2960261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CFDC9A-7F51-DC14-3A8B-97B4AE551BCA}"/>
            </a:ext>
          </a:extLst>
        </p:cNvPr>
        <p:cNvGrpSpPr/>
        <p:nvPr/>
      </p:nvGrpSpPr>
      <p:grpSpPr>
        <a:xfrm>
          <a:off x="0" y="0"/>
          <a:ext cx="0" cy="0"/>
          <a:chOff x="0" y="0"/>
          <a:chExt cx="0" cy="0"/>
        </a:xfrm>
      </p:grpSpPr>
      <p:sp>
        <p:nvSpPr>
          <p:cNvPr id="16" name="Rectángulo redondeado 3">
            <a:extLst>
              <a:ext uri="{FF2B5EF4-FFF2-40B4-BE49-F238E27FC236}">
                <a16:creationId xmlns:a16="http://schemas.microsoft.com/office/drawing/2014/main" id="{DC072E31-7439-3E8E-8006-89E82D11392C}"/>
              </a:ext>
            </a:extLst>
          </p:cNvPr>
          <p:cNvSpPr/>
          <p:nvPr/>
        </p:nvSpPr>
        <p:spPr>
          <a:xfrm>
            <a:off x="1166148" y="942553"/>
            <a:ext cx="10020328" cy="527651"/>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2" name="Marcador de número de diapositiva 1">
            <a:extLst>
              <a:ext uri="{FF2B5EF4-FFF2-40B4-BE49-F238E27FC236}">
                <a16:creationId xmlns:a16="http://schemas.microsoft.com/office/drawing/2014/main" id="{8A6092E0-1472-AF89-4D64-2884C4063926}"/>
              </a:ext>
            </a:extLst>
          </p:cNvPr>
          <p:cNvSpPr>
            <a:spLocks noGrp="1"/>
          </p:cNvSpPr>
          <p:nvPr>
            <p:ph type="sldNum" sz="quarter" idx="12"/>
          </p:nvPr>
        </p:nvSpPr>
        <p:spPr/>
        <p:txBody>
          <a:bodyPr/>
          <a:lstStyle/>
          <a:p>
            <a:fld id="{B75BC28E-972B-EC47-BE79-29D89D46B9CA}" type="slidenum">
              <a:rPr lang="es-ES_tradnl" b="1" smtClean="0"/>
              <a:t>33</a:t>
            </a:fld>
            <a:endParaRPr lang="es-ES_tradnl" b="1" dirty="0"/>
          </a:p>
        </p:txBody>
      </p:sp>
      <p:sp>
        <p:nvSpPr>
          <p:cNvPr id="3" name="CuadroTexto 2">
            <a:extLst>
              <a:ext uri="{FF2B5EF4-FFF2-40B4-BE49-F238E27FC236}">
                <a16:creationId xmlns:a16="http://schemas.microsoft.com/office/drawing/2014/main" id="{C5FA0BAE-7809-F73A-A128-1B6016278F2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5BB205A8-C5D2-2D77-358E-EF2C3C0AA1EB}"/>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A8AA5981-93D5-C441-CDB1-F748A24FA813}"/>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12" name="TextBox 11">
            <a:extLst>
              <a:ext uri="{FF2B5EF4-FFF2-40B4-BE49-F238E27FC236}">
                <a16:creationId xmlns:a16="http://schemas.microsoft.com/office/drawing/2014/main" id="{81B9EAC5-BAEF-354B-8F74-281E20B2D5D9}"/>
              </a:ext>
            </a:extLst>
          </p:cNvPr>
          <p:cNvSpPr txBox="1"/>
          <p:nvPr/>
        </p:nvSpPr>
        <p:spPr>
          <a:xfrm>
            <a:off x="2462053" y="1021712"/>
            <a:ext cx="6761018" cy="369332"/>
          </a:xfrm>
          <a:prstGeom prst="rect">
            <a:avLst/>
          </a:prstGeom>
          <a:noFill/>
        </p:spPr>
        <p:txBody>
          <a:bodyPr wrap="square" rtlCol="0">
            <a:spAutoFit/>
          </a:bodyPr>
          <a:lstStyle/>
          <a:p>
            <a:r>
              <a:rPr lang="en-US" b="1" dirty="0"/>
              <a:t>Top 5 Equations for </a:t>
            </a:r>
            <a:r>
              <a:rPr lang="en-US" b="1" dirty="0" err="1"/>
              <a:t>PySR</a:t>
            </a:r>
            <a:r>
              <a:rPr lang="en-US" b="1" dirty="0"/>
              <a:t> with unconstrained search space:</a:t>
            </a:r>
            <a:endParaRPr lang="en-DE" b="1" dirty="0"/>
          </a:p>
        </p:txBody>
      </p:sp>
      <p:pic>
        <p:nvPicPr>
          <p:cNvPr id="13" name="Picture 12" descr="A black background with a black square&#10;&#10;AI-generated content may be incorrect.">
            <a:extLst>
              <a:ext uri="{FF2B5EF4-FFF2-40B4-BE49-F238E27FC236}">
                <a16:creationId xmlns:a16="http://schemas.microsoft.com/office/drawing/2014/main" id="{13F14631-27C3-C856-7DD7-595BEFFA2FF8}"/>
              </a:ext>
            </a:extLst>
          </p:cNvPr>
          <p:cNvPicPr>
            <a:picLocks noChangeAspect="1"/>
          </p:cNvPicPr>
          <p:nvPr/>
        </p:nvPicPr>
        <p:blipFill>
          <a:blip r:embed="rId2"/>
          <a:stretch>
            <a:fillRect/>
          </a:stretch>
        </p:blipFill>
        <p:spPr>
          <a:xfrm>
            <a:off x="1005524" y="1597766"/>
            <a:ext cx="10180952" cy="2609524"/>
          </a:xfrm>
          <a:prstGeom prst="rect">
            <a:avLst/>
          </a:prstGeom>
        </p:spPr>
      </p:pic>
      <p:sp>
        <p:nvSpPr>
          <p:cNvPr id="14" name="Rectángulo: esquinas redondeadas 13">
            <a:extLst>
              <a:ext uri="{FF2B5EF4-FFF2-40B4-BE49-F238E27FC236}">
                <a16:creationId xmlns:a16="http://schemas.microsoft.com/office/drawing/2014/main" id="{84377519-993E-BA36-62E0-6CFCF5D52D1A}"/>
              </a:ext>
            </a:extLst>
          </p:cNvPr>
          <p:cNvSpPr/>
          <p:nvPr/>
        </p:nvSpPr>
        <p:spPr>
          <a:xfrm>
            <a:off x="701800" y="1297524"/>
            <a:ext cx="11111509" cy="3037328"/>
          </a:xfrm>
          <a:prstGeom prst="roundRect">
            <a:avLst/>
          </a:prstGeom>
          <a:solidFill>
            <a:srgbClr val="FFB903">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1809340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594E8-0C21-5C06-5A8A-AE2AA00143D2}"/>
            </a:ext>
          </a:extLst>
        </p:cNvPr>
        <p:cNvGrpSpPr/>
        <p:nvPr/>
      </p:nvGrpSpPr>
      <p:grpSpPr>
        <a:xfrm>
          <a:off x="0" y="0"/>
          <a:ext cx="0" cy="0"/>
          <a:chOff x="0" y="0"/>
          <a:chExt cx="0" cy="0"/>
        </a:xfrm>
      </p:grpSpPr>
      <p:sp>
        <p:nvSpPr>
          <p:cNvPr id="16" name="Rectángulo redondeado 3">
            <a:extLst>
              <a:ext uri="{FF2B5EF4-FFF2-40B4-BE49-F238E27FC236}">
                <a16:creationId xmlns:a16="http://schemas.microsoft.com/office/drawing/2014/main" id="{847CDDEB-D1A4-826F-91D4-ADF3069E1146}"/>
              </a:ext>
            </a:extLst>
          </p:cNvPr>
          <p:cNvSpPr/>
          <p:nvPr/>
        </p:nvSpPr>
        <p:spPr>
          <a:xfrm>
            <a:off x="1166148" y="942553"/>
            <a:ext cx="10020328" cy="527651"/>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2" name="Marcador de número de diapositiva 1">
            <a:extLst>
              <a:ext uri="{FF2B5EF4-FFF2-40B4-BE49-F238E27FC236}">
                <a16:creationId xmlns:a16="http://schemas.microsoft.com/office/drawing/2014/main" id="{B81680BF-3000-9267-C454-5ED93AAB63AE}"/>
              </a:ext>
            </a:extLst>
          </p:cNvPr>
          <p:cNvSpPr>
            <a:spLocks noGrp="1"/>
          </p:cNvSpPr>
          <p:nvPr>
            <p:ph type="sldNum" sz="quarter" idx="12"/>
          </p:nvPr>
        </p:nvSpPr>
        <p:spPr/>
        <p:txBody>
          <a:bodyPr/>
          <a:lstStyle/>
          <a:p>
            <a:fld id="{B75BC28E-972B-EC47-BE79-29D89D46B9CA}" type="slidenum">
              <a:rPr lang="es-ES_tradnl" b="1" smtClean="0"/>
              <a:t>34</a:t>
            </a:fld>
            <a:endParaRPr lang="es-ES_tradnl" b="1" dirty="0"/>
          </a:p>
        </p:txBody>
      </p:sp>
      <p:sp>
        <p:nvSpPr>
          <p:cNvPr id="3" name="CuadroTexto 2">
            <a:extLst>
              <a:ext uri="{FF2B5EF4-FFF2-40B4-BE49-F238E27FC236}">
                <a16:creationId xmlns:a16="http://schemas.microsoft.com/office/drawing/2014/main" id="{122A1702-8F1C-1D90-0B93-A5C86971F985}"/>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79B37DCE-485D-62FB-5EEC-BBCEA6358F86}"/>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AA2BA49-3EBA-3F93-2398-4F4C2F0964C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12" name="TextBox 11">
            <a:extLst>
              <a:ext uri="{FF2B5EF4-FFF2-40B4-BE49-F238E27FC236}">
                <a16:creationId xmlns:a16="http://schemas.microsoft.com/office/drawing/2014/main" id="{CF9FD57C-CB63-1444-44A3-1D994EFA8626}"/>
              </a:ext>
            </a:extLst>
          </p:cNvPr>
          <p:cNvSpPr txBox="1"/>
          <p:nvPr/>
        </p:nvSpPr>
        <p:spPr>
          <a:xfrm>
            <a:off x="2462053" y="1021712"/>
            <a:ext cx="6761018" cy="369332"/>
          </a:xfrm>
          <a:prstGeom prst="rect">
            <a:avLst/>
          </a:prstGeom>
          <a:noFill/>
        </p:spPr>
        <p:txBody>
          <a:bodyPr wrap="square" rtlCol="0">
            <a:spAutoFit/>
          </a:bodyPr>
          <a:lstStyle/>
          <a:p>
            <a:r>
              <a:rPr lang="en-US" b="1" dirty="0"/>
              <a:t>Residuals for the equation with the best R^2</a:t>
            </a:r>
            <a:endParaRPr lang="en-DE" b="1" dirty="0"/>
          </a:p>
        </p:txBody>
      </p:sp>
      <p:pic>
        <p:nvPicPr>
          <p:cNvPr id="13" name="Picture 12" descr="A black background with a black square&#10;&#10;AI-generated content may be incorrect.">
            <a:extLst>
              <a:ext uri="{FF2B5EF4-FFF2-40B4-BE49-F238E27FC236}">
                <a16:creationId xmlns:a16="http://schemas.microsoft.com/office/drawing/2014/main" id="{CAFA6817-E1AD-D4E7-D7FB-26A397BA1E4E}"/>
              </a:ext>
            </a:extLst>
          </p:cNvPr>
          <p:cNvPicPr>
            <a:picLocks noChangeAspect="1"/>
          </p:cNvPicPr>
          <p:nvPr/>
        </p:nvPicPr>
        <p:blipFill>
          <a:blip r:embed="rId2"/>
          <a:srcRect b="85695"/>
          <a:stretch>
            <a:fillRect/>
          </a:stretch>
        </p:blipFill>
        <p:spPr>
          <a:xfrm>
            <a:off x="1005524" y="1597766"/>
            <a:ext cx="10180952" cy="373301"/>
          </a:xfrm>
          <a:prstGeom prst="rect">
            <a:avLst/>
          </a:prstGeom>
        </p:spPr>
      </p:pic>
      <p:sp>
        <p:nvSpPr>
          <p:cNvPr id="14" name="Rectángulo: esquinas redondeadas 13">
            <a:extLst>
              <a:ext uri="{FF2B5EF4-FFF2-40B4-BE49-F238E27FC236}">
                <a16:creationId xmlns:a16="http://schemas.microsoft.com/office/drawing/2014/main" id="{74A8CEB4-F06E-785C-D4EF-B762D7D02D7E}"/>
              </a:ext>
            </a:extLst>
          </p:cNvPr>
          <p:cNvSpPr/>
          <p:nvPr/>
        </p:nvSpPr>
        <p:spPr>
          <a:xfrm>
            <a:off x="669554" y="1344344"/>
            <a:ext cx="11111509" cy="852200"/>
          </a:xfrm>
          <a:prstGeom prst="roundRect">
            <a:avLst/>
          </a:prstGeom>
          <a:solidFill>
            <a:srgbClr val="FFB903">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7" name="Picture 6">
            <a:extLst>
              <a:ext uri="{FF2B5EF4-FFF2-40B4-BE49-F238E27FC236}">
                <a16:creationId xmlns:a16="http://schemas.microsoft.com/office/drawing/2014/main" id="{33D8B354-AD91-42F0-5971-EBEAAF4F8B4E}"/>
              </a:ext>
            </a:extLst>
          </p:cNvPr>
          <p:cNvPicPr>
            <a:picLocks noChangeAspect="1"/>
          </p:cNvPicPr>
          <p:nvPr/>
        </p:nvPicPr>
        <p:blipFill>
          <a:blip r:embed="rId3"/>
          <a:stretch>
            <a:fillRect/>
          </a:stretch>
        </p:blipFill>
        <p:spPr>
          <a:xfrm>
            <a:off x="820796" y="2449966"/>
            <a:ext cx="5069977" cy="2990252"/>
          </a:xfrm>
          <a:prstGeom prst="rect">
            <a:avLst/>
          </a:prstGeom>
        </p:spPr>
      </p:pic>
      <p:pic>
        <p:nvPicPr>
          <p:cNvPr id="9" name="Picture 8">
            <a:extLst>
              <a:ext uri="{FF2B5EF4-FFF2-40B4-BE49-F238E27FC236}">
                <a16:creationId xmlns:a16="http://schemas.microsoft.com/office/drawing/2014/main" id="{44BA31C0-E1EB-DDBD-647B-A57CF0BAF129}"/>
              </a:ext>
            </a:extLst>
          </p:cNvPr>
          <p:cNvPicPr>
            <a:picLocks noChangeAspect="1"/>
          </p:cNvPicPr>
          <p:nvPr/>
        </p:nvPicPr>
        <p:blipFill>
          <a:blip r:embed="rId4"/>
          <a:stretch>
            <a:fillRect/>
          </a:stretch>
        </p:blipFill>
        <p:spPr>
          <a:xfrm>
            <a:off x="5919649" y="2368626"/>
            <a:ext cx="5266827" cy="3266765"/>
          </a:xfrm>
          <a:prstGeom prst="rect">
            <a:avLst/>
          </a:prstGeom>
        </p:spPr>
      </p:pic>
      <p:sp>
        <p:nvSpPr>
          <p:cNvPr id="10" name="TextBox 9">
            <a:extLst>
              <a:ext uri="{FF2B5EF4-FFF2-40B4-BE49-F238E27FC236}">
                <a16:creationId xmlns:a16="http://schemas.microsoft.com/office/drawing/2014/main" id="{867D7F47-C8E2-9A9B-3E79-FF9BDF41DDCE}"/>
              </a:ext>
            </a:extLst>
          </p:cNvPr>
          <p:cNvSpPr txBox="1"/>
          <p:nvPr/>
        </p:nvSpPr>
        <p:spPr>
          <a:xfrm>
            <a:off x="1226802" y="5518436"/>
            <a:ext cx="4257963" cy="461665"/>
          </a:xfrm>
          <a:prstGeom prst="rect">
            <a:avLst/>
          </a:prstGeom>
          <a:noFill/>
        </p:spPr>
        <p:txBody>
          <a:bodyPr wrap="square" rtlCol="0">
            <a:spAutoFit/>
          </a:bodyPr>
          <a:lstStyle/>
          <a:p>
            <a:r>
              <a:rPr lang="en-US" sz="1200" dirty="0"/>
              <a:t>Residuals of the best equation for different current density values</a:t>
            </a:r>
            <a:endParaRPr lang="en-DE" sz="1200" dirty="0"/>
          </a:p>
        </p:txBody>
      </p:sp>
      <p:sp>
        <p:nvSpPr>
          <p:cNvPr id="15" name="TextBox 14">
            <a:extLst>
              <a:ext uri="{FF2B5EF4-FFF2-40B4-BE49-F238E27FC236}">
                <a16:creationId xmlns:a16="http://schemas.microsoft.com/office/drawing/2014/main" id="{8901057F-C8AE-297C-78B1-DE366605092B}"/>
              </a:ext>
            </a:extLst>
          </p:cNvPr>
          <p:cNvSpPr txBox="1"/>
          <p:nvPr/>
        </p:nvSpPr>
        <p:spPr>
          <a:xfrm>
            <a:off x="6175071" y="5610768"/>
            <a:ext cx="6096000" cy="276999"/>
          </a:xfrm>
          <a:prstGeom prst="rect">
            <a:avLst/>
          </a:prstGeom>
          <a:noFill/>
        </p:spPr>
        <p:txBody>
          <a:bodyPr wrap="square">
            <a:spAutoFit/>
          </a:bodyPr>
          <a:lstStyle/>
          <a:p>
            <a:r>
              <a:rPr lang="en-US" sz="1200" dirty="0"/>
              <a:t>Histogram of the residuals of the best equation</a:t>
            </a:r>
            <a:endParaRPr lang="en-DE" sz="1200" dirty="0"/>
          </a:p>
        </p:txBody>
      </p:sp>
    </p:spTree>
    <p:extLst>
      <p:ext uri="{BB962C8B-B14F-4D97-AF65-F5344CB8AC3E}">
        <p14:creationId xmlns:p14="http://schemas.microsoft.com/office/powerpoint/2010/main" val="6766365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35</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389536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36</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38</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39</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40</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43</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44</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45</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46</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1119</TotalTime>
  <Words>4673</Words>
  <Application>Microsoft Office PowerPoint</Application>
  <PresentationFormat>Widescreen</PresentationFormat>
  <Paragraphs>829</Paragraphs>
  <Slides>53</Slides>
  <Notes>16</Notes>
  <HiddenSlides>1</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53</vt:i4>
      </vt:variant>
    </vt:vector>
  </HeadingPairs>
  <TitlesOfParts>
    <vt:vector size="66" baseType="lpstr">
      <vt:lpstr>Aptos</vt:lpstr>
      <vt:lpstr>Aptos Narrow</vt:lpstr>
      <vt:lpstr>Arial</vt:lpstr>
      <vt:lpstr>Cambria Math</vt:lpstr>
      <vt:lpstr>Courier New</vt:lpstr>
      <vt:lpstr>Fira Sans Extra Condensed</vt:lpstr>
      <vt:lpstr>Roboto</vt:lpstr>
      <vt:lpstr>Source Sans Pro</vt:lpstr>
      <vt:lpstr>Source Sans Pro Black</vt:lpstr>
      <vt:lpstr>Source Sans Pro Light</vt:lpstr>
      <vt:lpstr>Source Sans Pro SemiBold</vt:lpstr>
      <vt:lpstr>Wingdings</vt:lpstr>
      <vt:lpstr>Tema de Office</vt:lpstr>
      <vt:lpstr>PowerPoint Presentation</vt:lpstr>
      <vt:lpstr>PowerPoint Presentation</vt:lpstr>
      <vt:lpstr>PowerPoint Presentation</vt:lpstr>
      <vt:lpstr>Understanding PEMFCs through surrogates</vt:lpstr>
      <vt:lpstr>Project goals: From Sensitivities to Surrogates</vt:lpstr>
      <vt:lpstr>Input-Output framework for AlphaPEM</vt:lpstr>
      <vt:lpstr>PowerPoint Presentation</vt:lpstr>
      <vt:lpstr>PowerPoint Presentation</vt:lpstr>
      <vt:lpstr>PowerPoint Presentation</vt:lpstr>
      <vt:lpstr>Asessing the Model Validity of AlphaPEM</vt:lpstr>
      <vt:lpstr>Goal: Finding a valid hyperbox</vt:lpstr>
      <vt:lpstr>PowerPoint Presentation</vt:lpstr>
      <vt:lpstr>Resulting hyperbox from IRD</vt:lpstr>
      <vt:lpstr>Final set of input parameters for sampling of AlphaPEM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Dejvis Toptani</cp:lastModifiedBy>
  <cp:revision>66</cp:revision>
  <dcterms:created xsi:type="dcterms:W3CDTF">2025-07-18T14:40:14Z</dcterms:created>
  <dcterms:modified xsi:type="dcterms:W3CDTF">2025-07-29T14:09:59Z</dcterms:modified>
</cp:coreProperties>
</file>