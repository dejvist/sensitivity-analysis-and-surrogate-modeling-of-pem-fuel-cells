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72"/>
  </p:notesMasterIdLst>
  <p:sldIdLst>
    <p:sldId id="331" r:id="rId2"/>
    <p:sldId id="313" r:id="rId3"/>
    <p:sldId id="314" r:id="rId4"/>
    <p:sldId id="315" r:id="rId5"/>
    <p:sldId id="316" r:id="rId6"/>
    <p:sldId id="317" r:id="rId7"/>
    <p:sldId id="318" r:id="rId8"/>
    <p:sldId id="319" r:id="rId9"/>
    <p:sldId id="320" r:id="rId10"/>
    <p:sldId id="321" r:id="rId11"/>
    <p:sldId id="322" r:id="rId12"/>
    <p:sldId id="323" r:id="rId13"/>
    <p:sldId id="328" r:id="rId14"/>
    <p:sldId id="329" r:id="rId15"/>
    <p:sldId id="325" r:id="rId16"/>
    <p:sldId id="326" r:id="rId17"/>
    <p:sldId id="327" r:id="rId18"/>
    <p:sldId id="284" r:id="rId19"/>
    <p:sldId id="261" r:id="rId20"/>
    <p:sldId id="308" r:id="rId21"/>
    <p:sldId id="299" r:id="rId22"/>
    <p:sldId id="330" r:id="rId23"/>
    <p:sldId id="335" r:id="rId24"/>
    <p:sldId id="336" r:id="rId25"/>
    <p:sldId id="337" r:id="rId26"/>
    <p:sldId id="342" r:id="rId27"/>
    <p:sldId id="343" r:id="rId28"/>
    <p:sldId id="334" r:id="rId29"/>
    <p:sldId id="338" r:id="rId30"/>
    <p:sldId id="352" r:id="rId31"/>
    <p:sldId id="353" r:id="rId32"/>
    <p:sldId id="351" r:id="rId33"/>
    <p:sldId id="340" r:id="rId34"/>
    <p:sldId id="341" r:id="rId35"/>
    <p:sldId id="339" r:id="rId36"/>
    <p:sldId id="345" r:id="rId37"/>
    <p:sldId id="346" r:id="rId38"/>
    <p:sldId id="347" r:id="rId39"/>
    <p:sldId id="348" r:id="rId40"/>
    <p:sldId id="349" r:id="rId41"/>
    <p:sldId id="344" r:id="rId42"/>
    <p:sldId id="285" r:id="rId43"/>
    <p:sldId id="311" r:id="rId44"/>
    <p:sldId id="309" r:id="rId45"/>
    <p:sldId id="310" r:id="rId46"/>
    <p:sldId id="262" r:id="rId47"/>
    <p:sldId id="307" r:id="rId48"/>
    <p:sldId id="289" r:id="rId49"/>
    <p:sldId id="287" r:id="rId50"/>
    <p:sldId id="263" r:id="rId51"/>
    <p:sldId id="290" r:id="rId52"/>
    <p:sldId id="264" r:id="rId53"/>
    <p:sldId id="257" r:id="rId54"/>
    <p:sldId id="275" r:id="rId55"/>
    <p:sldId id="350" r:id="rId56"/>
    <p:sldId id="295" r:id="rId57"/>
    <p:sldId id="271" r:id="rId58"/>
    <p:sldId id="288" r:id="rId59"/>
    <p:sldId id="296" r:id="rId60"/>
    <p:sldId id="302" r:id="rId61"/>
    <p:sldId id="332" r:id="rId62"/>
    <p:sldId id="304" r:id="rId63"/>
    <p:sldId id="298" r:id="rId64"/>
    <p:sldId id="293" r:id="rId65"/>
    <p:sldId id="268" r:id="rId66"/>
    <p:sldId id="277" r:id="rId67"/>
    <p:sldId id="278" r:id="rId68"/>
    <p:sldId id="282" r:id="rId69"/>
    <p:sldId id="280" r:id="rId70"/>
    <p:sldId id="281" r:id="rId71"/>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mila bermudez" initials="cb" lastIdx="1" clrIdx="0">
    <p:extLst>
      <p:ext uri="{19B8F6BF-5375-455C-9EA6-DF929625EA0E}">
        <p15:presenceInfo xmlns:p15="http://schemas.microsoft.com/office/powerpoint/2012/main" userId="748936a443082aa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78E6"/>
    <a:srgbClr val="FFB903"/>
    <a:srgbClr val="8879F5"/>
    <a:srgbClr val="008B2E"/>
    <a:srgbClr val="BBE555"/>
    <a:srgbClr val="F3F3F3"/>
    <a:srgbClr val="004617"/>
    <a:srgbClr val="6350F2"/>
    <a:srgbClr val="BFBFBF"/>
    <a:srgbClr val="F6F6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55" autoAdjust="0"/>
    <p:restoredTop sz="93785" autoAdjust="0"/>
  </p:normalViewPr>
  <p:slideViewPr>
    <p:cSldViewPr snapToGrid="0">
      <p:cViewPr>
        <p:scale>
          <a:sx n="75" d="100"/>
          <a:sy n="75" d="100"/>
        </p:scale>
        <p:origin x="898" y="14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_tradn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A0E0D0-8DE5-6F43-B9D8-8CA0241E112A}" type="datetimeFigureOut">
              <a:rPr lang="es-ES_tradnl" smtClean="0"/>
              <a:t>29/07/2025</a:t>
            </a:fld>
            <a:endParaRPr lang="es-ES_tradn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_tradn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ES_tradn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_tradn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F319AC-7ADF-334A-8FB5-7E11A077CE54}" type="slidenum">
              <a:rPr lang="es-ES_tradnl" smtClean="0"/>
              <a:t>‹Nº›</a:t>
            </a:fld>
            <a:endParaRPr lang="es-ES_tradnl"/>
          </a:p>
        </p:txBody>
      </p:sp>
    </p:spTree>
    <p:extLst>
      <p:ext uri="{BB962C8B-B14F-4D97-AF65-F5344CB8AC3E}">
        <p14:creationId xmlns:p14="http://schemas.microsoft.com/office/powerpoint/2010/main" val="3175200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PEM fuel cells are central to the transition toward clean energy. However, modeling them accurately involves solving complex systems of differential and algebraic equations, which can be computationally expensive. This limits their practical utility in fast design or optimization pipelines. That’s why our project focused on identifying the most influential parameters through sensitivity analysis, and using that insight to build an analytical and interpretable surrogate model, that is, a simplified faster version that retains key behavior.</a:t>
            </a:r>
            <a:endParaRPr lang="en"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3</a:t>
            </a:fld>
            <a:endParaRPr lang="es-ES_tradnl"/>
          </a:p>
        </p:txBody>
      </p:sp>
    </p:spTree>
    <p:extLst>
      <p:ext uri="{BB962C8B-B14F-4D97-AF65-F5344CB8AC3E}">
        <p14:creationId xmlns:p14="http://schemas.microsoft.com/office/powerpoint/2010/main" val="26979471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3622A-F0A5-5B1B-4CEE-9E0FEB882DC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42656F4-4C5A-C545-BD3A-A2D3A55E865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CA7CC1D-98CD-57F2-6C25-5F701D067742}"/>
              </a:ext>
            </a:extLst>
          </p:cNvPr>
          <p:cNvSpPr>
            <a:spLocks noGrp="1"/>
          </p:cNvSpPr>
          <p:nvPr>
            <p:ph type="body" idx="1"/>
          </p:nvPr>
        </p:nvSpPr>
        <p:spPr/>
        <p:txBody>
          <a:bodyPr/>
          <a:lstStyle/>
          <a:p>
            <a:r>
              <a:rPr lang="en-US" b="1" dirty="0"/>
              <a:t>Context:</a:t>
            </a:r>
          </a:p>
          <a:p>
            <a:r>
              <a:rPr lang="en-US" dirty="0"/>
              <a:t>PEM Fuel Cells are modeled via </a:t>
            </a:r>
            <a:r>
              <a:rPr lang="en-US" b="1" dirty="0"/>
              <a:t>high-fidelity physics-based simulations</a:t>
            </a:r>
            <a:r>
              <a:rPr lang="en-US" dirty="0"/>
              <a:t> (e.g., </a:t>
            </a:r>
            <a:r>
              <a:rPr lang="en-US" dirty="0" err="1"/>
              <a:t>AlphaPEM</a:t>
            </a:r>
            <a:r>
              <a:rPr lang="en-US" dirty="0"/>
              <a:t>).</a:t>
            </a:r>
          </a:p>
          <a:p>
            <a:r>
              <a:rPr lang="en-US" dirty="0"/>
              <a:t>These models are </a:t>
            </a:r>
            <a:r>
              <a:rPr lang="en-US" b="1" dirty="0"/>
              <a:t>accurate</a:t>
            </a:r>
            <a:r>
              <a:rPr lang="en-US" dirty="0"/>
              <a:t> but rely on solving complex </a:t>
            </a:r>
            <a:r>
              <a:rPr lang="en-US" b="1" dirty="0"/>
              <a:t>DAEs</a:t>
            </a:r>
            <a:r>
              <a:rPr lang="en-US" dirty="0"/>
              <a:t> and require significant computational time.</a:t>
            </a:r>
          </a:p>
          <a:p>
            <a:r>
              <a:rPr lang="en-US" dirty="0"/>
              <a:t>Model outputs depend on many </a:t>
            </a:r>
            <a:r>
              <a:rPr lang="en-US" b="1" dirty="0"/>
              <a:t>undetermined physical parameters</a:t>
            </a:r>
            <a:r>
              <a:rPr lang="en-US" dirty="0"/>
              <a:t> (e.g., porosity, kinetics) that must be </a:t>
            </a:r>
            <a:r>
              <a:rPr lang="en-US" b="1" dirty="0"/>
              <a:t>calibrated</a:t>
            </a:r>
            <a:r>
              <a:rPr lang="en-US" dirty="0"/>
              <a:t> to match real system behavior.</a:t>
            </a:r>
          </a:p>
          <a:p>
            <a:r>
              <a:rPr lang="en-US" b="1" dirty="0"/>
              <a:t>Challenge:</a:t>
            </a:r>
          </a:p>
          <a:p>
            <a:r>
              <a:rPr lang="en-US" dirty="0"/>
              <a:t>To calibrate these parameters systematically, the team wants to use </a:t>
            </a:r>
            <a:r>
              <a:rPr lang="en-US" b="1" dirty="0"/>
              <a:t>Optimal Experimental Design (OED)</a:t>
            </a:r>
            <a:r>
              <a:rPr lang="en-US" dirty="0"/>
              <a:t> based on the </a:t>
            </a:r>
            <a:r>
              <a:rPr lang="en-US" b="1" dirty="0"/>
              <a:t>Fisher Information Matrix (FIM)</a:t>
            </a:r>
            <a:r>
              <a:rPr lang="en-US" dirty="0"/>
              <a:t>.</a:t>
            </a:r>
          </a:p>
          <a:p>
            <a:r>
              <a:rPr lang="en-US" dirty="0"/>
              <a:t>FIM-based methods </a:t>
            </a:r>
            <a:r>
              <a:rPr lang="en-US" b="1" dirty="0"/>
              <a:t>require efficient access to model derivatives</a:t>
            </a:r>
            <a:r>
              <a:rPr lang="en-US" dirty="0"/>
              <a:t> (∂output/∂parameter).</a:t>
            </a:r>
          </a:p>
          <a:p>
            <a:r>
              <a:rPr lang="en-US" b="1" dirty="0"/>
              <a:t>Problem:</a:t>
            </a:r>
          </a:p>
          <a:p>
            <a:r>
              <a:rPr lang="en-US" dirty="0"/>
              <a:t>Current models are </a:t>
            </a:r>
            <a:r>
              <a:rPr lang="en-US" b="1" dirty="0"/>
              <a:t>black-box</a:t>
            </a:r>
            <a:r>
              <a:rPr lang="en-US" dirty="0"/>
              <a:t> or </a:t>
            </a:r>
            <a:r>
              <a:rPr lang="en-US" b="1" dirty="0"/>
              <a:t>numerical</a:t>
            </a:r>
            <a:r>
              <a:rPr lang="en-US" dirty="0"/>
              <a:t> → No analytical form → Derivatives must be approximated → Expensive, noisy, or unstable.</a:t>
            </a:r>
          </a:p>
          <a:p>
            <a:r>
              <a:rPr lang="en-US" b="1" dirty="0"/>
              <a:t>Goal:</a:t>
            </a:r>
          </a:p>
          <a:p>
            <a:r>
              <a:rPr lang="en-US" b="1" dirty="0"/>
              <a:t>Develop an analytical closed-form surrogate model</a:t>
            </a:r>
            <a:r>
              <a:rPr lang="en-US" dirty="0"/>
              <a:t> of the PEMFC behavior.</a:t>
            </a:r>
          </a:p>
          <a:p>
            <a:r>
              <a:rPr lang="en-US" dirty="0"/>
              <a:t>Use techniques like </a:t>
            </a:r>
            <a:r>
              <a:rPr lang="en-US" b="1" dirty="0"/>
              <a:t>symbolic regression</a:t>
            </a:r>
            <a:r>
              <a:rPr lang="en-US" dirty="0"/>
              <a:t> (e.g., </a:t>
            </a:r>
            <a:r>
              <a:rPr lang="en-US" dirty="0" err="1"/>
              <a:t>PySR</a:t>
            </a:r>
            <a:r>
              <a:rPr lang="en-US" dirty="0"/>
              <a:t>) to derive interpretable, differentiable expressions that:</a:t>
            </a:r>
          </a:p>
          <a:p>
            <a:pPr lvl="1"/>
            <a:r>
              <a:rPr lang="en-US" dirty="0"/>
              <a:t>- Accurately mimic the simulation outputs.</a:t>
            </a:r>
          </a:p>
          <a:p>
            <a:pPr lvl="1"/>
            <a:r>
              <a:rPr lang="en-US" dirty="0"/>
              <a:t>- Enable </a:t>
            </a:r>
            <a:r>
              <a:rPr lang="en-US" b="1" dirty="0"/>
              <a:t>fast and exact computation of derivatives</a:t>
            </a:r>
            <a:r>
              <a:rPr lang="en-US" dirty="0"/>
              <a:t>.</a:t>
            </a:r>
          </a:p>
          <a:p>
            <a:pPr lvl="1"/>
            <a:r>
              <a:rPr lang="en-US" dirty="0"/>
              <a:t>- Serve as a foundation for </a:t>
            </a:r>
            <a:r>
              <a:rPr lang="en-US" b="1" dirty="0"/>
              <a:t>FIM-based OED</a:t>
            </a:r>
            <a:r>
              <a:rPr lang="en-US" dirty="0"/>
              <a:t> and robust parameter calibration.</a:t>
            </a:r>
          </a:p>
          <a:p>
            <a:endParaRPr lang="en" dirty="0"/>
          </a:p>
        </p:txBody>
      </p:sp>
      <p:sp>
        <p:nvSpPr>
          <p:cNvPr id="4" name="Marcador de número de diapositiva 3">
            <a:extLst>
              <a:ext uri="{FF2B5EF4-FFF2-40B4-BE49-F238E27FC236}">
                <a16:creationId xmlns:a16="http://schemas.microsoft.com/office/drawing/2014/main" id="{F30D8F62-82C4-114A-572A-17930AEAD0E4}"/>
              </a:ext>
            </a:extLst>
          </p:cNvPr>
          <p:cNvSpPr>
            <a:spLocks noGrp="1"/>
          </p:cNvSpPr>
          <p:nvPr>
            <p:ph type="sldNum" sz="quarter" idx="5"/>
          </p:nvPr>
        </p:nvSpPr>
        <p:spPr/>
        <p:txBody>
          <a:bodyPr/>
          <a:lstStyle/>
          <a:p>
            <a:fld id="{01F319AC-7ADF-334A-8FB5-7E11A077CE54}" type="slidenum">
              <a:rPr lang="es-ES_tradnl" smtClean="0"/>
              <a:t>4</a:t>
            </a:fld>
            <a:endParaRPr lang="es-ES_tradnl"/>
          </a:p>
        </p:txBody>
      </p:sp>
    </p:spTree>
    <p:extLst>
      <p:ext uri="{BB962C8B-B14F-4D97-AF65-F5344CB8AC3E}">
        <p14:creationId xmlns:p14="http://schemas.microsoft.com/office/powerpoint/2010/main" val="3956789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75290-411B-E041-9CC4-CFD50094D8A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3A632A4-149B-7052-AF1C-62F92CB0C7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754DEAA-795B-732C-DB86-A01F6A136063}"/>
              </a:ext>
            </a:extLst>
          </p:cNvPr>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a:extLst>
              <a:ext uri="{FF2B5EF4-FFF2-40B4-BE49-F238E27FC236}">
                <a16:creationId xmlns:a16="http://schemas.microsoft.com/office/drawing/2014/main" id="{6EB4A087-DF6A-AE9D-C418-973C8897A88F}"/>
              </a:ext>
            </a:extLst>
          </p:cNvPr>
          <p:cNvSpPr>
            <a:spLocks noGrp="1"/>
          </p:cNvSpPr>
          <p:nvPr>
            <p:ph type="sldNum" sz="quarter" idx="5"/>
          </p:nvPr>
        </p:nvSpPr>
        <p:spPr/>
        <p:txBody>
          <a:bodyPr/>
          <a:lstStyle/>
          <a:p>
            <a:fld id="{01F319AC-7ADF-334A-8FB5-7E11A077CE54}" type="slidenum">
              <a:rPr lang="es-ES_tradnl" smtClean="0"/>
              <a:t>5</a:t>
            </a:fld>
            <a:endParaRPr lang="es-ES_tradnl"/>
          </a:p>
        </p:txBody>
      </p:sp>
    </p:spTree>
    <p:extLst>
      <p:ext uri="{BB962C8B-B14F-4D97-AF65-F5344CB8AC3E}">
        <p14:creationId xmlns:p14="http://schemas.microsoft.com/office/powerpoint/2010/main" val="18257319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n"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6</a:t>
            </a:fld>
            <a:endParaRPr lang="es-ES_tradnl"/>
          </a:p>
        </p:txBody>
      </p:sp>
    </p:spTree>
    <p:extLst>
      <p:ext uri="{BB962C8B-B14F-4D97-AF65-F5344CB8AC3E}">
        <p14:creationId xmlns:p14="http://schemas.microsoft.com/office/powerpoint/2010/main" val="14069900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Check</a:t>
            </a:r>
            <a:r>
              <a:rPr lang="es-ES" dirty="0"/>
              <a:t> </a:t>
            </a:r>
            <a:r>
              <a:rPr lang="es-ES" dirty="0" err="1"/>
              <a:t>the</a:t>
            </a:r>
            <a:r>
              <a:rPr lang="es-ES" dirty="0"/>
              <a:t> </a:t>
            </a:r>
            <a:r>
              <a:rPr lang="es-ES" dirty="0" err="1"/>
              <a:t>text</a:t>
            </a:r>
            <a:r>
              <a:rPr lang="es-ES" dirty="0"/>
              <a:t> </a:t>
            </a:r>
            <a:r>
              <a:rPr lang="es-ES" dirty="0" err="1"/>
              <a:t>the</a:t>
            </a:r>
            <a:r>
              <a:rPr lang="es-ES" dirty="0"/>
              <a:t> </a:t>
            </a:r>
            <a:r>
              <a:rPr lang="es-ES" dirty="0" err="1"/>
              <a:t>scheme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7</a:t>
            </a:fld>
            <a:endParaRPr lang="es-ES_tradnl"/>
          </a:p>
        </p:txBody>
      </p:sp>
    </p:spTree>
    <p:extLst>
      <p:ext uri="{BB962C8B-B14F-4D97-AF65-F5344CB8AC3E}">
        <p14:creationId xmlns:p14="http://schemas.microsoft.com/office/powerpoint/2010/main" val="4285604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8</a:t>
            </a:fld>
            <a:endParaRPr lang="es-ES_tradnl"/>
          </a:p>
        </p:txBody>
      </p:sp>
    </p:spTree>
    <p:extLst>
      <p:ext uri="{BB962C8B-B14F-4D97-AF65-F5344CB8AC3E}">
        <p14:creationId xmlns:p14="http://schemas.microsoft.com/office/powerpoint/2010/main" val="2182739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We started by sampling across the full input space defined by expert- and literature-based ranges. However, we quickly noticed that many configurations were invalid — meaning the model produced unphysical results or numerical errors. Since </a:t>
            </a:r>
            <a:r>
              <a:rPr lang="en-US" dirty="0" err="1"/>
              <a:t>AlphaPEM</a:t>
            </a:r>
            <a:r>
              <a:rPr lang="en-US" dirty="0"/>
              <a:t> takes 1.5 minutes per run, this was inefficient. This led us to focus on the concept of </a:t>
            </a:r>
            <a:r>
              <a:rPr lang="en-US" i="1" dirty="0"/>
              <a:t>model validity: </a:t>
            </a:r>
            <a:r>
              <a:rPr lang="en-US" dirty="0"/>
              <a:t>defining which parts of the input space actually yield usable simulation 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9</a:t>
            </a:fld>
            <a:endParaRPr lang="es-ES_tradnl"/>
          </a:p>
        </p:txBody>
      </p:sp>
    </p:spTree>
    <p:extLst>
      <p:ext uri="{BB962C8B-B14F-4D97-AF65-F5344CB8AC3E}">
        <p14:creationId xmlns:p14="http://schemas.microsoft.com/office/powerpoint/2010/main" val="2178621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4D1638-3342-5D87-4525-BD5281F0069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840862E-694A-1BD1-830F-FD19D5031AC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1ADE026-78E5-F3E6-5634-7B4F6C5010B9}"/>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87670840-7618-1475-84D0-523992C1F6D0}"/>
              </a:ext>
            </a:extLst>
          </p:cNvPr>
          <p:cNvSpPr>
            <a:spLocks noGrp="1"/>
          </p:cNvSpPr>
          <p:nvPr>
            <p:ph type="sldNum" sz="quarter" idx="5"/>
          </p:nvPr>
        </p:nvSpPr>
        <p:spPr/>
        <p:txBody>
          <a:bodyPr/>
          <a:lstStyle/>
          <a:p>
            <a:fld id="{01F319AC-7ADF-334A-8FB5-7E11A077CE54}" type="slidenum">
              <a:rPr lang="es-ES_tradnl" smtClean="0"/>
              <a:t>10</a:t>
            </a:fld>
            <a:endParaRPr lang="es-ES_tradnl"/>
          </a:p>
        </p:txBody>
      </p:sp>
    </p:spTree>
    <p:extLst>
      <p:ext uri="{BB962C8B-B14F-4D97-AF65-F5344CB8AC3E}">
        <p14:creationId xmlns:p14="http://schemas.microsoft.com/office/powerpoint/2010/main" val="10800731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74F62-C6DA-1F63-1628-0FA9249831A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19128A-5D12-6470-D163-304BC5CF889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9175E35-1315-A96D-F1A7-6308481A3E0C}"/>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28040446-297D-D55E-DB9D-835A44BAD846}"/>
              </a:ext>
            </a:extLst>
          </p:cNvPr>
          <p:cNvSpPr>
            <a:spLocks noGrp="1"/>
          </p:cNvSpPr>
          <p:nvPr>
            <p:ph type="sldNum" sz="quarter" idx="5"/>
          </p:nvPr>
        </p:nvSpPr>
        <p:spPr/>
        <p:txBody>
          <a:bodyPr/>
          <a:lstStyle/>
          <a:p>
            <a:fld id="{01F319AC-7ADF-334A-8FB5-7E11A077CE54}" type="slidenum">
              <a:rPr lang="es-ES_tradnl" smtClean="0"/>
              <a:t>11</a:t>
            </a:fld>
            <a:endParaRPr lang="es-ES_tradnl"/>
          </a:p>
        </p:txBody>
      </p:sp>
    </p:spTree>
    <p:extLst>
      <p:ext uri="{BB962C8B-B14F-4D97-AF65-F5344CB8AC3E}">
        <p14:creationId xmlns:p14="http://schemas.microsoft.com/office/powerpoint/2010/main" val="42897231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DF50-1851-BF03-D452-B88D17F4767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9C4410C-567C-855F-ADAF-921D2668ED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0D2B5ED-4773-6C68-132A-1F551A8FCBD8}"/>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332F0F93-C217-48F2-63CB-48473FA0A1C5}"/>
              </a:ext>
            </a:extLst>
          </p:cNvPr>
          <p:cNvSpPr>
            <a:spLocks noGrp="1"/>
          </p:cNvSpPr>
          <p:nvPr>
            <p:ph type="sldNum" sz="quarter" idx="5"/>
          </p:nvPr>
        </p:nvSpPr>
        <p:spPr/>
        <p:txBody>
          <a:bodyPr/>
          <a:lstStyle/>
          <a:p>
            <a:fld id="{01F319AC-7ADF-334A-8FB5-7E11A077CE54}" type="slidenum">
              <a:rPr lang="es-ES_tradnl" smtClean="0"/>
              <a:t>12</a:t>
            </a:fld>
            <a:endParaRPr lang="es-ES_tradnl"/>
          </a:p>
        </p:txBody>
      </p:sp>
    </p:spTree>
    <p:extLst>
      <p:ext uri="{BB962C8B-B14F-4D97-AF65-F5344CB8AC3E}">
        <p14:creationId xmlns:p14="http://schemas.microsoft.com/office/powerpoint/2010/main" val="8195996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A93AC-22DC-731C-8650-07C75811389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C22FA76-981D-AC5A-413C-4768CA9DB6E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91FD180-E6B1-75FD-6A12-B4F5694AEB0E}"/>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0A49D727-B0A0-7E29-3EBF-AF845700659D}"/>
              </a:ext>
            </a:extLst>
          </p:cNvPr>
          <p:cNvSpPr>
            <a:spLocks noGrp="1"/>
          </p:cNvSpPr>
          <p:nvPr>
            <p:ph type="sldNum" sz="quarter" idx="5"/>
          </p:nvPr>
        </p:nvSpPr>
        <p:spPr/>
        <p:txBody>
          <a:bodyPr/>
          <a:lstStyle/>
          <a:p>
            <a:fld id="{01F319AC-7ADF-334A-8FB5-7E11A077CE54}" type="slidenum">
              <a:rPr lang="es-ES_tradnl" smtClean="0"/>
              <a:t>13</a:t>
            </a:fld>
            <a:endParaRPr lang="es-ES_tradnl"/>
          </a:p>
        </p:txBody>
      </p:sp>
    </p:spTree>
    <p:extLst>
      <p:ext uri="{BB962C8B-B14F-4D97-AF65-F5344CB8AC3E}">
        <p14:creationId xmlns:p14="http://schemas.microsoft.com/office/powerpoint/2010/main" val="17698994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BB9D1-8BEE-DA29-FDD1-A3F98916B0C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9D715D8-1A8B-C0B3-DD33-3F2A4D708AB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B787E77-19DE-82F6-E10A-810307D4694D}"/>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4E4D66D2-C5CC-8BF7-F49C-980E7CD31F4F}"/>
              </a:ext>
            </a:extLst>
          </p:cNvPr>
          <p:cNvSpPr>
            <a:spLocks noGrp="1"/>
          </p:cNvSpPr>
          <p:nvPr>
            <p:ph type="sldNum" sz="quarter" idx="5"/>
          </p:nvPr>
        </p:nvSpPr>
        <p:spPr/>
        <p:txBody>
          <a:bodyPr/>
          <a:lstStyle/>
          <a:p>
            <a:fld id="{01F319AC-7ADF-334A-8FB5-7E11A077CE54}" type="slidenum">
              <a:rPr lang="es-ES_tradnl" smtClean="0"/>
              <a:t>14</a:t>
            </a:fld>
            <a:endParaRPr lang="es-ES_tradnl"/>
          </a:p>
        </p:txBody>
      </p:sp>
    </p:spTree>
    <p:extLst>
      <p:ext uri="{BB962C8B-B14F-4D97-AF65-F5344CB8AC3E}">
        <p14:creationId xmlns:p14="http://schemas.microsoft.com/office/powerpoint/2010/main" val="42124754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15</a:t>
            </a:fld>
            <a:endParaRPr lang="es-ES_tradnl"/>
          </a:p>
        </p:txBody>
      </p:sp>
    </p:spTree>
    <p:extLst>
      <p:ext uri="{BB962C8B-B14F-4D97-AF65-F5344CB8AC3E}">
        <p14:creationId xmlns:p14="http://schemas.microsoft.com/office/powerpoint/2010/main" val="899705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What</a:t>
            </a:r>
            <a:r>
              <a:rPr lang="es-ES" dirty="0"/>
              <a:t> </a:t>
            </a:r>
            <a:r>
              <a:rPr lang="es-ES" dirty="0" err="1"/>
              <a:t>is</a:t>
            </a:r>
            <a:r>
              <a:rPr lang="es-ES" dirty="0"/>
              <a:t> IRD? </a:t>
            </a:r>
            <a:r>
              <a:rPr lang="es-ES" dirty="0" err="1"/>
              <a:t>How</a:t>
            </a:r>
            <a:r>
              <a:rPr lang="es-ES" dirty="0"/>
              <a:t> </a:t>
            </a:r>
            <a:r>
              <a:rPr lang="es-ES" dirty="0" err="1"/>
              <a:t>does</a:t>
            </a:r>
            <a:r>
              <a:rPr lang="es-ES" dirty="0"/>
              <a:t> </a:t>
            </a:r>
            <a:r>
              <a:rPr lang="es-ES" dirty="0" err="1"/>
              <a:t>it</a:t>
            </a:r>
            <a:r>
              <a:rPr lang="es-ES" dirty="0"/>
              <a:t> </a:t>
            </a:r>
            <a:r>
              <a:rPr lang="es-ES" dirty="0" err="1"/>
              <a:t>work</a:t>
            </a:r>
            <a:r>
              <a:rPr lang="es-ES" dirty="0"/>
              <a:t>? </a:t>
            </a:r>
            <a:r>
              <a:rPr lang="es-ES" dirty="0" err="1"/>
              <a:t>Where</a:t>
            </a:r>
            <a:r>
              <a:rPr lang="es-ES" dirty="0"/>
              <a:t> </a:t>
            </a:r>
            <a:r>
              <a:rPr lang="es-ES" dirty="0" err="1"/>
              <a:t>is</a:t>
            </a:r>
            <a:r>
              <a:rPr lang="es-ES" dirty="0"/>
              <a:t> </a:t>
            </a:r>
            <a:r>
              <a:rPr lang="es-ES" dirty="0" err="1"/>
              <a:t>it</a:t>
            </a:r>
            <a:r>
              <a:rPr lang="es-ES" dirty="0"/>
              <a:t> </a:t>
            </a:r>
            <a:r>
              <a:rPr lang="es-ES" dirty="0" err="1"/>
              <a:t>implemented</a:t>
            </a:r>
            <a:r>
              <a:rPr lang="es-ES" dirty="0"/>
              <a:t>?</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16</a:t>
            </a:fld>
            <a:endParaRPr lang="es-ES_tradnl"/>
          </a:p>
        </p:txBody>
      </p:sp>
    </p:spTree>
    <p:extLst>
      <p:ext uri="{BB962C8B-B14F-4D97-AF65-F5344CB8AC3E}">
        <p14:creationId xmlns:p14="http://schemas.microsoft.com/office/powerpoint/2010/main" val="18914238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Comparison</a:t>
            </a:r>
            <a:r>
              <a:rPr lang="es-ES" dirty="0"/>
              <a:t> </a:t>
            </a:r>
            <a:r>
              <a:rPr lang="es-ES" dirty="0" err="1"/>
              <a:t>of</a:t>
            </a:r>
            <a:r>
              <a:rPr lang="es-ES" dirty="0"/>
              <a:t> </a:t>
            </a:r>
            <a:r>
              <a:rPr lang="es-ES" dirty="0" err="1"/>
              <a:t>the</a:t>
            </a:r>
            <a:r>
              <a:rPr lang="es-ES" dirty="0"/>
              <a:t> </a:t>
            </a:r>
            <a:r>
              <a:rPr lang="es-ES" dirty="0" err="1"/>
              <a:t>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17</a:t>
            </a:fld>
            <a:endParaRPr lang="es-ES_tradnl"/>
          </a:p>
        </p:txBody>
      </p:sp>
    </p:spTree>
    <p:extLst>
      <p:ext uri="{BB962C8B-B14F-4D97-AF65-F5344CB8AC3E}">
        <p14:creationId xmlns:p14="http://schemas.microsoft.com/office/powerpoint/2010/main" val="4670662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F319AC-7ADF-334A-8FB5-7E11A077CE54}" type="slidenum">
              <a:rPr kumimoji="0" lang="es-ES_tradnl"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s-ES_tradnl"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392341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31</a:t>
            </a:fld>
            <a:endParaRPr lang="es-ES_tradnl"/>
          </a:p>
        </p:txBody>
      </p:sp>
    </p:spTree>
    <p:extLst>
      <p:ext uri="{BB962C8B-B14F-4D97-AF65-F5344CB8AC3E}">
        <p14:creationId xmlns:p14="http://schemas.microsoft.com/office/powerpoint/2010/main" val="8537915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34</a:t>
            </a:fld>
            <a:endParaRPr lang="es-ES_tradnl"/>
          </a:p>
        </p:txBody>
      </p:sp>
    </p:spTree>
    <p:extLst>
      <p:ext uri="{BB962C8B-B14F-4D97-AF65-F5344CB8AC3E}">
        <p14:creationId xmlns:p14="http://schemas.microsoft.com/office/powerpoint/2010/main" val="9556115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37</a:t>
            </a:fld>
            <a:endParaRPr lang="es-ES_tradnl"/>
          </a:p>
        </p:txBody>
      </p:sp>
    </p:spTree>
    <p:extLst>
      <p:ext uri="{BB962C8B-B14F-4D97-AF65-F5344CB8AC3E}">
        <p14:creationId xmlns:p14="http://schemas.microsoft.com/office/powerpoint/2010/main" val="18772762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40</a:t>
            </a:fld>
            <a:endParaRPr lang="es-ES_tradnl"/>
          </a:p>
        </p:txBody>
      </p:sp>
    </p:spTree>
    <p:extLst>
      <p:ext uri="{BB962C8B-B14F-4D97-AF65-F5344CB8AC3E}">
        <p14:creationId xmlns:p14="http://schemas.microsoft.com/office/powerpoint/2010/main" val="34058093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41</a:t>
            </a:fld>
            <a:endParaRPr lang="es-ES_tradnl"/>
          </a:p>
        </p:txBody>
      </p:sp>
    </p:spTree>
    <p:extLst>
      <p:ext uri="{BB962C8B-B14F-4D97-AF65-F5344CB8AC3E}">
        <p14:creationId xmlns:p14="http://schemas.microsoft.com/office/powerpoint/2010/main" val="42403961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55</a:t>
            </a:fld>
            <a:endParaRPr lang="es-ES_tradnl"/>
          </a:p>
        </p:txBody>
      </p:sp>
    </p:spTree>
    <p:extLst>
      <p:ext uri="{BB962C8B-B14F-4D97-AF65-F5344CB8AC3E}">
        <p14:creationId xmlns:p14="http://schemas.microsoft.com/office/powerpoint/2010/main" val="367445981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F319AC-7ADF-334A-8FB5-7E11A077CE54}" type="slidenum">
              <a:rPr kumimoji="0" lang="es-ES_tradnl"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s-ES_tradnl"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7172148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9B5761CC-C6EA-489A-8B65-7F07DE61A766}"/>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7BA1685C-9D5F-A238-CC12-359A56F68227}"/>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Source Sans Pro" panose="020B0503030403020204" pitchFamily="34" charset="0"/>
                <a:ea typeface="Source Sans Pro" panose="020B0503030403020204" pitchFamily="34" charset="0"/>
              </a:defRPr>
            </a:lvl1pPr>
          </a:lstStyle>
          <a:p>
            <a:r>
              <a:rPr lang="es-ES"/>
              <a:t>Haga clic para modificar el estilo de título del patrón</a:t>
            </a:r>
            <a:endParaRPr lang="es-ES_tradnl" dirty="0"/>
          </a:p>
        </p:txBody>
      </p:sp>
      <p:sp>
        <p:nvSpPr>
          <p:cNvPr id="3" name="Subtítulo 2">
            <a:extLst>
              <a:ext uri="{FF2B5EF4-FFF2-40B4-BE49-F238E27FC236}">
                <a16:creationId xmlns:a16="http://schemas.microsoft.com/office/drawing/2014/main" id="{ECB7CB63-40B4-605F-AE8D-9B05C5E052DC}"/>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Source Sans Pro" panose="020B0503030403020204" pitchFamily="34" charset="0"/>
                <a:ea typeface="Source Sans Pro" panose="020B0503030403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ES_tradnl"/>
          </a:p>
        </p:txBody>
      </p:sp>
      <p:sp>
        <p:nvSpPr>
          <p:cNvPr id="6" name="Marcador de número de diapositiva 5">
            <a:extLst>
              <a:ext uri="{FF2B5EF4-FFF2-40B4-BE49-F238E27FC236}">
                <a16:creationId xmlns:a16="http://schemas.microsoft.com/office/drawing/2014/main" id="{E8670508-45A6-1DD9-6E72-9DA619DDF01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3968573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4A5141-F947-5ACB-5665-C19D1F476585}"/>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B2D1B2C2-72B0-C774-A042-16D8374F8B52}"/>
              </a:ext>
            </a:extLst>
          </p:cNvPr>
          <p:cNvSpPr>
            <a:spLocks noGrp="1"/>
          </p:cNvSpPr>
          <p:nvPr>
            <p:ph type="title"/>
          </p:nvPr>
        </p:nvSpPr>
        <p:spPr>
          <a:xfrm>
            <a:off x="838200" y="908127"/>
            <a:ext cx="10515600" cy="1325563"/>
          </a:xfrm>
          <a:prstGeom prst="rect">
            <a:avLst/>
          </a:prstGeom>
        </p:spPr>
        <p:txBody>
          <a:bodyPr/>
          <a:lstStyle/>
          <a:p>
            <a:r>
              <a:rPr lang="es-ES"/>
              <a:t>Haga clic para modificar el estilo de título del patrón</a:t>
            </a:r>
            <a:endParaRPr lang="es-ES_tradnl" dirty="0"/>
          </a:p>
        </p:txBody>
      </p:sp>
      <p:sp>
        <p:nvSpPr>
          <p:cNvPr id="3" name="Marcador de contenido 2">
            <a:extLst>
              <a:ext uri="{FF2B5EF4-FFF2-40B4-BE49-F238E27FC236}">
                <a16:creationId xmlns:a16="http://schemas.microsoft.com/office/drawing/2014/main" id="{A8501090-0DF0-0443-DE62-32873BAD30E4}"/>
              </a:ext>
            </a:extLst>
          </p:cNvPr>
          <p:cNvSpPr>
            <a:spLocks noGrp="1"/>
          </p:cNvSpPr>
          <p:nvPr>
            <p:ph idx="1"/>
          </p:nvPr>
        </p:nvSpPr>
        <p:spPr>
          <a:xfrm>
            <a:off x="838200" y="2368627"/>
            <a:ext cx="10515600" cy="4020774"/>
          </a:xfrm>
          <a:prstGeom prst="rect">
            <a:avLst/>
          </a:prstGeo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dirty="0"/>
          </a:p>
        </p:txBody>
      </p:sp>
      <p:sp>
        <p:nvSpPr>
          <p:cNvPr id="6" name="Marcador de número de diapositiva 5">
            <a:extLst>
              <a:ext uri="{FF2B5EF4-FFF2-40B4-BE49-F238E27FC236}">
                <a16:creationId xmlns:a16="http://schemas.microsoft.com/office/drawing/2014/main" id="{43597006-DFCF-FC30-EE7C-B2E04C5BE5E7}"/>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4012886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sección">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C4F47B-A7C1-B80B-C97D-3FD5161C2B3F}"/>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8D63679B-A188-8C46-9173-6FC73C122DD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s-ES"/>
              <a:t>Haga clic para modificar el estilo de título del patrón</a:t>
            </a:r>
            <a:endParaRPr lang="es-ES_tradnl" dirty="0"/>
          </a:p>
        </p:txBody>
      </p:sp>
      <p:sp>
        <p:nvSpPr>
          <p:cNvPr id="3" name="Marcador de texto 2">
            <a:extLst>
              <a:ext uri="{FF2B5EF4-FFF2-40B4-BE49-F238E27FC236}">
                <a16:creationId xmlns:a16="http://schemas.microsoft.com/office/drawing/2014/main" id="{4F107DB8-2B53-C9CC-014B-38123980C3E5}"/>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6" name="Marcador de número de diapositiva 5">
            <a:extLst>
              <a:ext uri="{FF2B5EF4-FFF2-40B4-BE49-F238E27FC236}">
                <a16:creationId xmlns:a16="http://schemas.microsoft.com/office/drawing/2014/main" id="{7F689EF4-BE6E-3254-8190-A088A4D36CFC}"/>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12961883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3EEB2DC1-DC4E-EAD5-EDBC-D1A688A700D7}"/>
              </a:ext>
            </a:extLst>
          </p:cNvPr>
          <p:cNvPicPr>
            <a:picLocks noChangeAspect="1"/>
          </p:cNvPicPr>
          <p:nvPr userDrawn="1"/>
        </p:nvPicPr>
        <p:blipFill>
          <a:blip r:embed="rId2"/>
          <a:srcRect/>
          <a:stretch/>
        </p:blipFill>
        <p:spPr>
          <a:xfrm>
            <a:off x="0" y="0"/>
            <a:ext cx="12192000" cy="6858000"/>
          </a:xfrm>
          <a:prstGeom prst="rect">
            <a:avLst/>
          </a:prstGeom>
        </p:spPr>
      </p:pic>
      <p:sp>
        <p:nvSpPr>
          <p:cNvPr id="3" name="Marcador de contenido 2">
            <a:extLst>
              <a:ext uri="{FF2B5EF4-FFF2-40B4-BE49-F238E27FC236}">
                <a16:creationId xmlns:a16="http://schemas.microsoft.com/office/drawing/2014/main" id="{B61EA6FA-5846-9512-8FD4-C35E48AE74E4}"/>
              </a:ext>
            </a:extLst>
          </p:cNvPr>
          <p:cNvSpPr>
            <a:spLocks noGrp="1"/>
          </p:cNvSpPr>
          <p:nvPr>
            <p:ph sz="half" idx="1"/>
          </p:nvPr>
        </p:nvSpPr>
        <p:spPr>
          <a:xfrm>
            <a:off x="838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contenido 3">
            <a:extLst>
              <a:ext uri="{FF2B5EF4-FFF2-40B4-BE49-F238E27FC236}">
                <a16:creationId xmlns:a16="http://schemas.microsoft.com/office/drawing/2014/main" id="{F4DA5E3E-961A-8D3F-AA7F-D5B06F6F4803}"/>
              </a:ext>
            </a:extLst>
          </p:cNvPr>
          <p:cNvSpPr>
            <a:spLocks noGrp="1"/>
          </p:cNvSpPr>
          <p:nvPr>
            <p:ph sz="half" idx="2"/>
          </p:nvPr>
        </p:nvSpPr>
        <p:spPr>
          <a:xfrm>
            <a:off x="6172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7" name="Marcador de número de diapositiva 6">
            <a:extLst>
              <a:ext uri="{FF2B5EF4-FFF2-40B4-BE49-F238E27FC236}">
                <a16:creationId xmlns:a16="http://schemas.microsoft.com/office/drawing/2014/main" id="{C92BB2FB-0239-B030-AF4E-9961D04D7E8E}"/>
              </a:ext>
            </a:extLst>
          </p:cNvPr>
          <p:cNvSpPr>
            <a:spLocks noGrp="1"/>
          </p:cNvSpPr>
          <p:nvPr>
            <p:ph type="sldNum" sz="quarter" idx="12"/>
          </p:nvPr>
        </p:nvSpPr>
        <p:spPr/>
        <p:txBody>
          <a:bodyPr/>
          <a:lstStyle>
            <a:lvl1pPr>
              <a:defRPr sz="1600" b="1">
                <a:solidFill>
                  <a:schemeClr val="bg1"/>
                </a:solidFill>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39730496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ación">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4AB58D2C-05F6-BF61-5726-5F74A5A475B6}"/>
              </a:ext>
            </a:extLst>
          </p:cNvPr>
          <p:cNvPicPr>
            <a:picLocks noChangeAspect="1"/>
          </p:cNvPicPr>
          <p:nvPr userDrawn="1"/>
        </p:nvPicPr>
        <p:blipFill>
          <a:blip r:embed="rId2"/>
          <a:srcRect/>
          <a:stretch/>
        </p:blipFill>
        <p:spPr>
          <a:xfrm>
            <a:off x="0" y="0"/>
            <a:ext cx="12192000" cy="6858000"/>
          </a:xfrm>
          <a:prstGeom prst="rect">
            <a:avLst/>
          </a:prstGeom>
        </p:spPr>
      </p:pic>
      <p:sp>
        <p:nvSpPr>
          <p:cNvPr id="9" name="Marcador de número de diapositiva 8">
            <a:extLst>
              <a:ext uri="{FF2B5EF4-FFF2-40B4-BE49-F238E27FC236}">
                <a16:creationId xmlns:a16="http://schemas.microsoft.com/office/drawing/2014/main" id="{807BE3F9-55B6-D44B-395A-B634C9511136}"/>
              </a:ext>
            </a:extLst>
          </p:cNvPr>
          <p:cNvSpPr>
            <a:spLocks noGrp="1"/>
          </p:cNvSpPr>
          <p:nvPr>
            <p:ph type="sldNum" sz="quarter" idx="12"/>
          </p:nvPr>
        </p:nvSpPr>
        <p:spPr/>
        <p:txBody>
          <a:bodyPr/>
          <a:lstStyle>
            <a:lvl1pPr>
              <a:defRPr sz="1600" b="1" i="0">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666724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el títul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52159B49-E674-996B-E03F-731B3BB9B8C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Marcador de número de diapositiva 4">
            <a:extLst>
              <a:ext uri="{FF2B5EF4-FFF2-40B4-BE49-F238E27FC236}">
                <a16:creationId xmlns:a16="http://schemas.microsoft.com/office/drawing/2014/main" id="{395446B6-180F-342F-6091-72FFF8C8F872}"/>
              </a:ext>
            </a:extLst>
          </p:cNvPr>
          <p:cNvSpPr>
            <a:spLocks noGrp="1"/>
          </p:cNvSpPr>
          <p:nvPr>
            <p:ph type="sldNum" sz="quarter" idx="12"/>
          </p:nvPr>
        </p:nvSpPr>
        <p:spPr/>
        <p:txBody>
          <a:bodyPr/>
          <a:lstStyle>
            <a:lvl1pPr>
              <a:defRPr sz="1600" b="1"/>
            </a:lvl1pPr>
          </a:lstStyle>
          <a:p>
            <a:fld id="{B75BC28E-972B-EC47-BE79-29D89D46B9CA}" type="slidenum">
              <a:rPr lang="es-ES_tradnl" smtClean="0"/>
              <a:pPr/>
              <a:t>‹Nº›</a:t>
            </a:fld>
            <a:endParaRPr lang="es-ES_tradnl" dirty="0"/>
          </a:p>
        </p:txBody>
      </p:sp>
      <p:sp>
        <p:nvSpPr>
          <p:cNvPr id="7" name="Marcador de fecha 3">
            <a:extLst>
              <a:ext uri="{FF2B5EF4-FFF2-40B4-BE49-F238E27FC236}">
                <a16:creationId xmlns:a16="http://schemas.microsoft.com/office/drawing/2014/main" id="{DADB0165-C448-ED99-FB1F-F82E8BEB33C9}"/>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Tree>
    <p:extLst>
      <p:ext uri="{BB962C8B-B14F-4D97-AF65-F5344CB8AC3E}">
        <p14:creationId xmlns:p14="http://schemas.microsoft.com/office/powerpoint/2010/main" val="28713943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652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ido con título">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903E2ED2-1A82-00C1-BC0B-F909936E0C6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46098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B63AB1-EF4C-4E7C-827C-023121B57D9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s-ES"/>
              <a:t>Haga clic para modificar el estilo de título del patrón</a:t>
            </a:r>
            <a:endParaRPr lang="es-ES_tradnl"/>
          </a:p>
        </p:txBody>
      </p:sp>
      <p:sp>
        <p:nvSpPr>
          <p:cNvPr id="3" name="Marcador de posición de imagen 2">
            <a:extLst>
              <a:ext uri="{FF2B5EF4-FFF2-40B4-BE49-F238E27FC236}">
                <a16:creationId xmlns:a16="http://schemas.microsoft.com/office/drawing/2014/main" id="{3AADAF91-72C1-3190-D484-D5846F7783D8}"/>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s-ES_tradnl"/>
          </a:p>
        </p:txBody>
      </p:sp>
      <p:sp>
        <p:nvSpPr>
          <p:cNvPr id="4" name="Marcador de texto 3">
            <a:extLst>
              <a:ext uri="{FF2B5EF4-FFF2-40B4-BE49-F238E27FC236}">
                <a16:creationId xmlns:a16="http://schemas.microsoft.com/office/drawing/2014/main" id="{C4A9B58B-5EC3-2946-6FB4-8B67A2D8AF0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019B8A5-D950-9B8B-80B0-29817645B255}"/>
              </a:ext>
            </a:extLst>
          </p:cNvPr>
          <p:cNvSpPr>
            <a:spLocks noGrp="1"/>
          </p:cNvSpPr>
          <p:nvPr>
            <p:ph type="dt" sz="half" idx="10"/>
          </p:nvPr>
        </p:nvSpPr>
        <p:spPr/>
        <p:txBody>
          <a:bodyPr/>
          <a:lstStyle/>
          <a:p>
            <a:endParaRPr lang="es-ES_tradnl"/>
          </a:p>
        </p:txBody>
      </p:sp>
      <p:sp>
        <p:nvSpPr>
          <p:cNvPr id="6" name="Marcador de pie de página 5">
            <a:extLst>
              <a:ext uri="{FF2B5EF4-FFF2-40B4-BE49-F238E27FC236}">
                <a16:creationId xmlns:a16="http://schemas.microsoft.com/office/drawing/2014/main" id="{445944F1-8874-715D-E32B-1565486591FE}"/>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7" name="Marcador de número de diapositiva 6">
            <a:extLst>
              <a:ext uri="{FF2B5EF4-FFF2-40B4-BE49-F238E27FC236}">
                <a16:creationId xmlns:a16="http://schemas.microsoft.com/office/drawing/2014/main" id="{7032FE85-0470-FB2D-6D99-EAAA3F5E83A3}"/>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pic>
        <p:nvPicPr>
          <p:cNvPr id="8" name="Imagen 7">
            <a:extLst>
              <a:ext uri="{FF2B5EF4-FFF2-40B4-BE49-F238E27FC236}">
                <a16:creationId xmlns:a16="http://schemas.microsoft.com/office/drawing/2014/main" id="{6F01C95C-7A1F-58BB-DB07-5E158A630505}"/>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770857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403A74-DD00-33F0-C8DF-79D60BA4C35F}"/>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37F9BD6D-ADC1-01D9-E018-7ADA48F77605}"/>
              </a:ext>
            </a:extLst>
          </p:cNvPr>
          <p:cNvSpPr>
            <a:spLocks noGrp="1"/>
          </p:cNvSpPr>
          <p:nvPr>
            <p:ph type="body" orient="vert" idx="1"/>
          </p:nvPr>
        </p:nvSpPr>
        <p:spPr>
          <a:xfrm>
            <a:off x="838200" y="1825625"/>
            <a:ext cx="10515600" cy="43513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3B60209D-6A96-D5AD-DB70-19CFC7B5F6A0}"/>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67A24481-D196-6038-DDA5-467865C9320C}"/>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3DAB0967-B148-5A40-C2FE-948953F9CB47}"/>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16285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B6D25FA-DE20-8CBC-B8A2-3DBEC67C857F}"/>
              </a:ext>
            </a:extLst>
          </p:cNvPr>
          <p:cNvSpPr>
            <a:spLocks noGrp="1"/>
          </p:cNvSpPr>
          <p:nvPr>
            <p:ph type="title" orient="vert"/>
          </p:nvPr>
        </p:nvSpPr>
        <p:spPr>
          <a:xfrm>
            <a:off x="8724900" y="365125"/>
            <a:ext cx="2628900" cy="5811838"/>
          </a:xfrm>
          <a:prstGeom prst="rect">
            <a:avLst/>
          </a:prstGeom>
        </p:spPr>
        <p:txBody>
          <a:bodyPr vert="eaVert"/>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7FE2ADFC-16AB-5F3F-EE19-E4C3B01930A9}"/>
              </a:ext>
            </a:extLst>
          </p:cNvPr>
          <p:cNvSpPr>
            <a:spLocks noGrp="1"/>
          </p:cNvSpPr>
          <p:nvPr>
            <p:ph type="body" orient="vert" idx="1"/>
          </p:nvPr>
        </p:nvSpPr>
        <p:spPr>
          <a:xfrm>
            <a:off x="838200" y="365125"/>
            <a:ext cx="7734300" cy="58118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F34E3FEE-B384-95DE-190A-525CF5839BA4}"/>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BD8BAD7B-2762-B648-23C6-961ACAC0190D}"/>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12F3DCFA-A305-6EFF-5FE2-63984289891A}"/>
              </a:ext>
            </a:extLst>
          </p:cNvPr>
          <p:cNvSpPr>
            <a:spLocks noGrp="1"/>
          </p:cNvSpPr>
          <p:nvPr>
            <p:ph type="sldNum" sz="quarter" idx="12"/>
          </p:nvPr>
        </p:nvSpPr>
        <p:spPr/>
        <p:txBody>
          <a:bodyPr/>
          <a:lstStyle/>
          <a:p>
            <a:fld id="{B75BC28E-972B-EC47-BE79-29D89D46B9CA}" type="slidenum">
              <a:rPr lang="es-ES_tradnl" smtClean="0"/>
              <a:t>‹Nº›</a:t>
            </a:fld>
            <a:endParaRPr lang="es-ES_tradnl"/>
          </a:p>
        </p:txBody>
      </p:sp>
    </p:spTree>
    <p:extLst>
      <p:ext uri="{BB962C8B-B14F-4D97-AF65-F5344CB8AC3E}">
        <p14:creationId xmlns:p14="http://schemas.microsoft.com/office/powerpoint/2010/main" val="379555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ítulo y texto vertical">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3EBDEE6-9A65-5958-9B72-69573BB11997}"/>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5179837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ítulo vertical y text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04A25DE-FE2C-19A5-BC43-06879C3D286B}"/>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89713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Marcador de fecha 3">
            <a:extLst>
              <a:ext uri="{FF2B5EF4-FFF2-40B4-BE49-F238E27FC236}">
                <a16:creationId xmlns:a16="http://schemas.microsoft.com/office/drawing/2014/main" id="{49FBF7CB-67CE-1FE2-01FA-F80ACB649DF3}"/>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
        <p:nvSpPr>
          <p:cNvPr id="6" name="Marcador de número de diapositiva 5">
            <a:extLst>
              <a:ext uri="{FF2B5EF4-FFF2-40B4-BE49-F238E27FC236}">
                <a16:creationId xmlns:a16="http://schemas.microsoft.com/office/drawing/2014/main" id="{53F08964-0D54-C0E7-D45C-4BEC232DA361}"/>
              </a:ext>
            </a:extLst>
          </p:cNvPr>
          <p:cNvSpPr>
            <a:spLocks noGrp="1"/>
          </p:cNvSpPr>
          <p:nvPr>
            <p:ph type="sldNum" sz="quarter" idx="4"/>
          </p:nvPr>
        </p:nvSpPr>
        <p:spPr>
          <a:xfrm>
            <a:off x="39477" y="2368627"/>
            <a:ext cx="445265" cy="440673"/>
          </a:xfrm>
          <a:prstGeom prst="rect">
            <a:avLst/>
          </a:prstGeom>
        </p:spPr>
        <p:txBody>
          <a:bodyPr vert="horz" lIns="91440" tIns="45720" rIns="91440" bIns="45720" rtlCol="0" anchor="ctr"/>
          <a:lstStyle>
            <a:lvl1pPr algn="ctr">
              <a:defRPr sz="1600" b="1">
                <a:solidFill>
                  <a:schemeClr val="tx1"/>
                </a:solidFill>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‹Nº›</a:t>
            </a:fld>
            <a:endParaRPr lang="es-ES_tradnl" dirty="0"/>
          </a:p>
        </p:txBody>
      </p:sp>
    </p:spTree>
    <p:extLst>
      <p:ext uri="{BB962C8B-B14F-4D97-AF65-F5344CB8AC3E}">
        <p14:creationId xmlns:p14="http://schemas.microsoft.com/office/powerpoint/2010/main" val="26648639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en.wikipedia.org/wiki/Proton-exchange_membrane_fuel_cell"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sciencedirect.com/science/article/pii/S2352711024003728"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www.researchgate.net/figure/Polarization-curve-with-the-electric-losses-regions-encountered-with-the-operation-of_fig1_361794399"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hyperlink" Target="https://www.springerprofessional.de/en/interpretable-regional-descriptors-hyperbox-based-local-explanat/26051906"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png"/><Relationship Id="rId1" Type="http://schemas.openxmlformats.org/officeDocument/2006/relationships/slideLayout" Target="../slideLayouts/slideLayout4.xml"/><Relationship Id="rId5" Type="http://schemas.openxmlformats.org/officeDocument/2006/relationships/hyperlink" Target="https://www.researchgate.net/figure/Polarization-curve-with-the-electric-losses-regions-encountered-with-the-operation-of_fig1_361794399" TargetMode="External"/><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slide" Target="slide59.xml"/><Relationship Id="rId7"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image" Target="../media/image22.emf"/><Relationship Id="rId5" Type="http://schemas.openxmlformats.org/officeDocument/2006/relationships/slide" Target="slide63.xml"/><Relationship Id="rId4" Type="http://schemas.openxmlformats.org/officeDocument/2006/relationships/slide" Target="slide60.xml"/></Relationships>
</file>

<file path=ppt/slides/_rels/slide2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4.xml"/><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32.png"/><Relationship Id="rId4" Type="http://schemas.openxmlformats.org/officeDocument/2006/relationships/image" Target="../media/image26.png"/><Relationship Id="rId9"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4.xml"/><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48.png"/><Relationship Id="rId18" Type="http://schemas.openxmlformats.org/officeDocument/2006/relationships/image" Target="../media/image53.png"/><Relationship Id="rId26" Type="http://schemas.openxmlformats.org/officeDocument/2006/relationships/image" Target="../media/image61.png"/><Relationship Id="rId3" Type="http://schemas.openxmlformats.org/officeDocument/2006/relationships/image" Target="../media/image38.png"/><Relationship Id="rId21" Type="http://schemas.openxmlformats.org/officeDocument/2006/relationships/image" Target="../media/image56.png"/><Relationship Id="rId7" Type="http://schemas.openxmlformats.org/officeDocument/2006/relationships/image" Target="../media/image42.png"/><Relationship Id="rId12" Type="http://schemas.openxmlformats.org/officeDocument/2006/relationships/image" Target="../media/image47.png"/><Relationship Id="rId17" Type="http://schemas.openxmlformats.org/officeDocument/2006/relationships/image" Target="../media/image52.png"/><Relationship Id="rId25" Type="http://schemas.openxmlformats.org/officeDocument/2006/relationships/image" Target="../media/image60.png"/><Relationship Id="rId2" Type="http://schemas.openxmlformats.org/officeDocument/2006/relationships/image" Target="../media/image37.png"/><Relationship Id="rId16" Type="http://schemas.openxmlformats.org/officeDocument/2006/relationships/image" Target="../media/image51.png"/><Relationship Id="rId20" Type="http://schemas.openxmlformats.org/officeDocument/2006/relationships/image" Target="../media/image55.png"/><Relationship Id="rId1" Type="http://schemas.openxmlformats.org/officeDocument/2006/relationships/slideLayout" Target="../slideLayouts/slideLayout4.xml"/><Relationship Id="rId6" Type="http://schemas.openxmlformats.org/officeDocument/2006/relationships/image" Target="../media/image41.png"/><Relationship Id="rId11" Type="http://schemas.openxmlformats.org/officeDocument/2006/relationships/image" Target="../media/image46.png"/><Relationship Id="rId24" Type="http://schemas.openxmlformats.org/officeDocument/2006/relationships/image" Target="../media/image59.png"/><Relationship Id="rId5" Type="http://schemas.openxmlformats.org/officeDocument/2006/relationships/image" Target="../media/image40.png"/><Relationship Id="rId15" Type="http://schemas.openxmlformats.org/officeDocument/2006/relationships/image" Target="../media/image50.png"/><Relationship Id="rId23" Type="http://schemas.openxmlformats.org/officeDocument/2006/relationships/image" Target="../media/image58.png"/><Relationship Id="rId10" Type="http://schemas.openxmlformats.org/officeDocument/2006/relationships/image" Target="../media/image45.png"/><Relationship Id="rId19" Type="http://schemas.openxmlformats.org/officeDocument/2006/relationships/image" Target="../media/image54.png"/><Relationship Id="rId4" Type="http://schemas.openxmlformats.org/officeDocument/2006/relationships/image" Target="../media/image39.png"/><Relationship Id="rId9" Type="http://schemas.openxmlformats.org/officeDocument/2006/relationships/image" Target="../media/image44.png"/><Relationship Id="rId14" Type="http://schemas.openxmlformats.org/officeDocument/2006/relationships/image" Target="../media/image49.png"/><Relationship Id="rId22" Type="http://schemas.openxmlformats.org/officeDocument/2006/relationships/image" Target="../media/image57.png"/><Relationship Id="rId27" Type="http://schemas.openxmlformats.org/officeDocument/2006/relationships/image" Target="../media/image62.png"/></Relationships>
</file>

<file path=ppt/slides/_rels/slide30.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48.png"/><Relationship Id="rId18" Type="http://schemas.openxmlformats.org/officeDocument/2006/relationships/image" Target="../media/image66.png"/><Relationship Id="rId26" Type="http://schemas.openxmlformats.org/officeDocument/2006/relationships/image" Target="../media/image61.png"/><Relationship Id="rId3" Type="http://schemas.openxmlformats.org/officeDocument/2006/relationships/image" Target="../media/image38.png"/><Relationship Id="rId21" Type="http://schemas.openxmlformats.org/officeDocument/2006/relationships/image" Target="../media/image69.png"/><Relationship Id="rId7" Type="http://schemas.openxmlformats.org/officeDocument/2006/relationships/image" Target="../media/image42.png"/><Relationship Id="rId12" Type="http://schemas.openxmlformats.org/officeDocument/2006/relationships/image" Target="../media/image47.png"/><Relationship Id="rId17" Type="http://schemas.openxmlformats.org/officeDocument/2006/relationships/image" Target="../media/image65.png"/><Relationship Id="rId25" Type="http://schemas.openxmlformats.org/officeDocument/2006/relationships/image" Target="../media/image60.png"/><Relationship Id="rId2" Type="http://schemas.openxmlformats.org/officeDocument/2006/relationships/image" Target="../media/image63.png"/><Relationship Id="rId16" Type="http://schemas.openxmlformats.org/officeDocument/2006/relationships/image" Target="../media/image51.png"/><Relationship Id="rId20" Type="http://schemas.openxmlformats.org/officeDocument/2006/relationships/image" Target="../media/image68.png"/><Relationship Id="rId1" Type="http://schemas.openxmlformats.org/officeDocument/2006/relationships/slideLayout" Target="../slideLayouts/slideLayout4.xml"/><Relationship Id="rId6" Type="http://schemas.openxmlformats.org/officeDocument/2006/relationships/image" Target="../media/image41.png"/><Relationship Id="rId11" Type="http://schemas.openxmlformats.org/officeDocument/2006/relationships/image" Target="../media/image46.png"/><Relationship Id="rId24" Type="http://schemas.openxmlformats.org/officeDocument/2006/relationships/image" Target="../media/image59.png"/><Relationship Id="rId5" Type="http://schemas.openxmlformats.org/officeDocument/2006/relationships/image" Target="../media/image64.png"/><Relationship Id="rId15" Type="http://schemas.openxmlformats.org/officeDocument/2006/relationships/image" Target="../media/image50.png"/><Relationship Id="rId23" Type="http://schemas.openxmlformats.org/officeDocument/2006/relationships/image" Target="../media/image71.png"/><Relationship Id="rId10" Type="http://schemas.openxmlformats.org/officeDocument/2006/relationships/image" Target="../media/image45.png"/><Relationship Id="rId19" Type="http://schemas.openxmlformats.org/officeDocument/2006/relationships/image" Target="../media/image67.png"/><Relationship Id="rId4" Type="http://schemas.openxmlformats.org/officeDocument/2006/relationships/image" Target="../media/image39.png"/><Relationship Id="rId9" Type="http://schemas.openxmlformats.org/officeDocument/2006/relationships/image" Target="../media/image44.png"/><Relationship Id="rId14" Type="http://schemas.openxmlformats.org/officeDocument/2006/relationships/image" Target="../media/image49.png"/><Relationship Id="rId22" Type="http://schemas.openxmlformats.org/officeDocument/2006/relationships/image" Target="../media/image70.png"/></Relationships>
</file>

<file path=ppt/slides/_rels/slide31.xml.rels><?xml version="1.0" encoding="UTF-8" standalone="yes"?>
<Relationships xmlns="http://schemas.openxmlformats.org/package/2006/relationships"><Relationship Id="rId8" Type="http://schemas.openxmlformats.org/officeDocument/2006/relationships/image" Target="../media/image77.png"/><Relationship Id="rId13" Type="http://schemas.openxmlformats.org/officeDocument/2006/relationships/image" Target="../media/image82.png"/><Relationship Id="rId18" Type="http://schemas.openxmlformats.org/officeDocument/2006/relationships/image" Target="../media/image87.png"/><Relationship Id="rId3" Type="http://schemas.openxmlformats.org/officeDocument/2006/relationships/image" Target="../media/image72.png"/><Relationship Id="rId21" Type="http://schemas.openxmlformats.org/officeDocument/2006/relationships/image" Target="../media/image90.png"/><Relationship Id="rId7" Type="http://schemas.openxmlformats.org/officeDocument/2006/relationships/image" Target="../media/image76.png"/><Relationship Id="rId12" Type="http://schemas.openxmlformats.org/officeDocument/2006/relationships/image" Target="../media/image81.png"/><Relationship Id="rId17" Type="http://schemas.openxmlformats.org/officeDocument/2006/relationships/image" Target="../media/image86.png"/><Relationship Id="rId2" Type="http://schemas.openxmlformats.org/officeDocument/2006/relationships/notesSlide" Target="../notesSlides/notesSlide17.xml"/><Relationship Id="rId16" Type="http://schemas.openxmlformats.org/officeDocument/2006/relationships/image" Target="../media/image85.png"/><Relationship Id="rId20" Type="http://schemas.openxmlformats.org/officeDocument/2006/relationships/image" Target="../media/image89.png"/><Relationship Id="rId1" Type="http://schemas.openxmlformats.org/officeDocument/2006/relationships/slideLayout" Target="../slideLayouts/slideLayout4.xml"/><Relationship Id="rId6" Type="http://schemas.openxmlformats.org/officeDocument/2006/relationships/image" Target="../media/image75.png"/><Relationship Id="rId11" Type="http://schemas.openxmlformats.org/officeDocument/2006/relationships/image" Target="../media/image80.png"/><Relationship Id="rId5" Type="http://schemas.openxmlformats.org/officeDocument/2006/relationships/image" Target="../media/image74.png"/><Relationship Id="rId15" Type="http://schemas.openxmlformats.org/officeDocument/2006/relationships/image" Target="../media/image84.png"/><Relationship Id="rId23" Type="http://schemas.openxmlformats.org/officeDocument/2006/relationships/image" Target="../media/image92.png"/><Relationship Id="rId10" Type="http://schemas.openxmlformats.org/officeDocument/2006/relationships/image" Target="../media/image79.png"/><Relationship Id="rId19" Type="http://schemas.openxmlformats.org/officeDocument/2006/relationships/image" Target="../media/image88.png"/><Relationship Id="rId4" Type="http://schemas.openxmlformats.org/officeDocument/2006/relationships/image" Target="../media/image73.png"/><Relationship Id="rId9" Type="http://schemas.openxmlformats.org/officeDocument/2006/relationships/image" Target="../media/image78.png"/><Relationship Id="rId14" Type="http://schemas.openxmlformats.org/officeDocument/2006/relationships/image" Target="../media/image83.png"/><Relationship Id="rId22" Type="http://schemas.openxmlformats.org/officeDocument/2006/relationships/image" Target="../media/image91.png"/></Relationships>
</file>

<file path=ppt/slides/_rels/slide32.xml.rels><?xml version="1.0" encoding="UTF-8" standalone="yes"?>
<Relationships xmlns="http://schemas.openxmlformats.org/package/2006/relationships"><Relationship Id="rId8" Type="http://schemas.openxmlformats.org/officeDocument/2006/relationships/image" Target="../media/image400.png"/><Relationship Id="rId13" Type="http://schemas.openxmlformats.org/officeDocument/2006/relationships/image" Target="../media/image420.png"/><Relationship Id="rId18" Type="http://schemas.openxmlformats.org/officeDocument/2006/relationships/image" Target="../media/image470.png"/><Relationship Id="rId3" Type="http://schemas.openxmlformats.org/officeDocument/2006/relationships/image" Target="../media/image94.png"/><Relationship Id="rId21" Type="http://schemas.openxmlformats.org/officeDocument/2006/relationships/image" Target="../media/image500.png"/><Relationship Id="rId7" Type="http://schemas.openxmlformats.org/officeDocument/2006/relationships/image" Target="../media/image390.png"/><Relationship Id="rId12" Type="http://schemas.openxmlformats.org/officeDocument/2006/relationships/image" Target="../media/image410.png"/><Relationship Id="rId17" Type="http://schemas.openxmlformats.org/officeDocument/2006/relationships/image" Target="../media/image460.png"/><Relationship Id="rId2" Type="http://schemas.openxmlformats.org/officeDocument/2006/relationships/image" Target="../media/image93.png"/><Relationship Id="rId16" Type="http://schemas.openxmlformats.org/officeDocument/2006/relationships/image" Target="../media/image450.png"/><Relationship Id="rId20" Type="http://schemas.openxmlformats.org/officeDocument/2006/relationships/image" Target="../media/image490.png"/><Relationship Id="rId1" Type="http://schemas.openxmlformats.org/officeDocument/2006/relationships/slideLayout" Target="../slideLayouts/slideLayout4.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5" Type="http://schemas.openxmlformats.org/officeDocument/2006/relationships/image" Target="../media/image440.png"/><Relationship Id="rId10" Type="http://schemas.openxmlformats.org/officeDocument/2006/relationships/image" Target="../media/image30.png"/><Relationship Id="rId19" Type="http://schemas.openxmlformats.org/officeDocument/2006/relationships/image" Target="../media/image480.png"/><Relationship Id="rId4" Type="http://schemas.openxmlformats.org/officeDocument/2006/relationships/image" Target="../media/image24.png"/><Relationship Id="rId9" Type="http://schemas.openxmlformats.org/officeDocument/2006/relationships/image" Target="../media/image29.png"/><Relationship Id="rId14" Type="http://schemas.openxmlformats.org/officeDocument/2006/relationships/image" Target="../media/image430.png"/></Relationships>
</file>

<file path=ppt/slides/_rels/slide33.xml.rels><?xml version="1.0" encoding="UTF-8" standalone="yes"?>
<Relationships xmlns="http://schemas.openxmlformats.org/package/2006/relationships"><Relationship Id="rId8" Type="http://schemas.openxmlformats.org/officeDocument/2006/relationships/image" Target="../media/image570.png"/><Relationship Id="rId13" Type="http://schemas.openxmlformats.org/officeDocument/2006/relationships/image" Target="../media/image620.png"/><Relationship Id="rId3" Type="http://schemas.openxmlformats.org/officeDocument/2006/relationships/image" Target="../media/image520.png"/><Relationship Id="rId7" Type="http://schemas.openxmlformats.org/officeDocument/2006/relationships/image" Target="../media/image560.png"/><Relationship Id="rId12" Type="http://schemas.openxmlformats.org/officeDocument/2006/relationships/image" Target="../media/image610.png"/><Relationship Id="rId2" Type="http://schemas.openxmlformats.org/officeDocument/2006/relationships/image" Target="../media/image510.png"/><Relationship Id="rId1" Type="http://schemas.openxmlformats.org/officeDocument/2006/relationships/slideLayout" Target="../slideLayouts/slideLayout4.xml"/><Relationship Id="rId6" Type="http://schemas.openxmlformats.org/officeDocument/2006/relationships/image" Target="../media/image550.png"/><Relationship Id="rId11" Type="http://schemas.openxmlformats.org/officeDocument/2006/relationships/image" Target="../media/image600.png"/><Relationship Id="rId5" Type="http://schemas.openxmlformats.org/officeDocument/2006/relationships/image" Target="../media/image540.png"/><Relationship Id="rId15" Type="http://schemas.openxmlformats.org/officeDocument/2006/relationships/image" Target="../media/image640.png"/><Relationship Id="rId10" Type="http://schemas.openxmlformats.org/officeDocument/2006/relationships/image" Target="../media/image590.png"/><Relationship Id="rId4" Type="http://schemas.openxmlformats.org/officeDocument/2006/relationships/image" Target="../media/image530.png"/><Relationship Id="rId9" Type="http://schemas.openxmlformats.org/officeDocument/2006/relationships/image" Target="../media/image580.png"/><Relationship Id="rId14" Type="http://schemas.openxmlformats.org/officeDocument/2006/relationships/image" Target="../media/image630.png"/></Relationships>
</file>

<file path=ppt/slides/_rels/slide34.xml.rels><?xml version="1.0" encoding="UTF-8" standalone="yes"?>
<Relationships xmlns="http://schemas.openxmlformats.org/package/2006/relationships"><Relationship Id="rId8" Type="http://schemas.openxmlformats.org/officeDocument/2006/relationships/image" Target="../media/image700.png"/><Relationship Id="rId13" Type="http://schemas.openxmlformats.org/officeDocument/2006/relationships/image" Target="../media/image750.png"/><Relationship Id="rId3" Type="http://schemas.openxmlformats.org/officeDocument/2006/relationships/image" Target="../media/image95.png"/><Relationship Id="rId7" Type="http://schemas.openxmlformats.org/officeDocument/2006/relationships/image" Target="../media/image690.png"/><Relationship Id="rId12" Type="http://schemas.openxmlformats.org/officeDocument/2006/relationships/image" Target="../media/image740.png"/><Relationship Id="rId17" Type="http://schemas.openxmlformats.org/officeDocument/2006/relationships/image" Target="../media/image790.png"/><Relationship Id="rId2" Type="http://schemas.openxmlformats.org/officeDocument/2006/relationships/notesSlide" Target="../notesSlides/notesSlide18.xml"/><Relationship Id="rId16" Type="http://schemas.openxmlformats.org/officeDocument/2006/relationships/image" Target="../media/image780.png"/><Relationship Id="rId1" Type="http://schemas.openxmlformats.org/officeDocument/2006/relationships/slideLayout" Target="../slideLayouts/slideLayout4.xml"/><Relationship Id="rId6" Type="http://schemas.openxmlformats.org/officeDocument/2006/relationships/image" Target="../media/image680.png"/><Relationship Id="rId11" Type="http://schemas.openxmlformats.org/officeDocument/2006/relationships/image" Target="../media/image730.png"/><Relationship Id="rId5" Type="http://schemas.openxmlformats.org/officeDocument/2006/relationships/image" Target="../media/image670.png"/><Relationship Id="rId15" Type="http://schemas.openxmlformats.org/officeDocument/2006/relationships/image" Target="../media/image770.png"/><Relationship Id="rId10" Type="http://schemas.openxmlformats.org/officeDocument/2006/relationships/image" Target="../media/image720.png"/><Relationship Id="rId4" Type="http://schemas.openxmlformats.org/officeDocument/2006/relationships/image" Target="../media/image660.png"/><Relationship Id="rId9" Type="http://schemas.openxmlformats.org/officeDocument/2006/relationships/image" Target="../media/image710.png"/><Relationship Id="rId14" Type="http://schemas.openxmlformats.org/officeDocument/2006/relationships/image" Target="../media/image760.png"/></Relationships>
</file>

<file path=ppt/slides/_rels/slide35.xml.rels><?xml version="1.0" encoding="UTF-8" standalone="yes"?>
<Relationships xmlns="http://schemas.openxmlformats.org/package/2006/relationships"><Relationship Id="rId8" Type="http://schemas.openxmlformats.org/officeDocument/2006/relationships/image" Target="../media/image102.png"/><Relationship Id="rId13" Type="http://schemas.openxmlformats.org/officeDocument/2006/relationships/image" Target="../media/image107.png"/><Relationship Id="rId18" Type="http://schemas.openxmlformats.org/officeDocument/2006/relationships/image" Target="../media/image112.png"/><Relationship Id="rId3" Type="http://schemas.openxmlformats.org/officeDocument/2006/relationships/image" Target="../media/image97.png"/><Relationship Id="rId7" Type="http://schemas.openxmlformats.org/officeDocument/2006/relationships/image" Target="../media/image101.png"/><Relationship Id="rId12" Type="http://schemas.openxmlformats.org/officeDocument/2006/relationships/image" Target="../media/image106.png"/><Relationship Id="rId17" Type="http://schemas.openxmlformats.org/officeDocument/2006/relationships/image" Target="../media/image111.png"/><Relationship Id="rId2" Type="http://schemas.openxmlformats.org/officeDocument/2006/relationships/image" Target="../media/image96.png"/><Relationship Id="rId16" Type="http://schemas.openxmlformats.org/officeDocument/2006/relationships/image" Target="../media/image110.png"/><Relationship Id="rId1" Type="http://schemas.openxmlformats.org/officeDocument/2006/relationships/slideLayout" Target="../slideLayouts/slideLayout4.xml"/><Relationship Id="rId6" Type="http://schemas.openxmlformats.org/officeDocument/2006/relationships/image" Target="../media/image100.png"/><Relationship Id="rId11" Type="http://schemas.openxmlformats.org/officeDocument/2006/relationships/image" Target="../media/image105.png"/><Relationship Id="rId5" Type="http://schemas.openxmlformats.org/officeDocument/2006/relationships/image" Target="../media/image99.png"/><Relationship Id="rId15" Type="http://schemas.openxmlformats.org/officeDocument/2006/relationships/image" Target="../media/image109.png"/><Relationship Id="rId10" Type="http://schemas.openxmlformats.org/officeDocument/2006/relationships/image" Target="../media/image104.png"/><Relationship Id="rId19" Type="http://schemas.openxmlformats.org/officeDocument/2006/relationships/image" Target="../media/image113.png"/><Relationship Id="rId4" Type="http://schemas.openxmlformats.org/officeDocument/2006/relationships/image" Target="../media/image98.png"/><Relationship Id="rId9" Type="http://schemas.openxmlformats.org/officeDocument/2006/relationships/image" Target="../media/image103.png"/><Relationship Id="rId14" Type="http://schemas.openxmlformats.org/officeDocument/2006/relationships/image" Target="../media/image108.png"/></Relationships>
</file>

<file path=ppt/slides/_rels/slide36.xml.rels><?xml version="1.0" encoding="UTF-8" standalone="yes"?>
<Relationships xmlns="http://schemas.openxmlformats.org/package/2006/relationships"><Relationship Id="rId8" Type="http://schemas.openxmlformats.org/officeDocument/2006/relationships/image" Target="../media/image119.png"/><Relationship Id="rId13" Type="http://schemas.openxmlformats.org/officeDocument/2006/relationships/image" Target="../media/image121.png"/><Relationship Id="rId3" Type="http://schemas.openxmlformats.org/officeDocument/2006/relationships/image" Target="../media/image115.png"/><Relationship Id="rId7" Type="http://schemas.openxmlformats.org/officeDocument/2006/relationships/image" Target="../media/image118.png"/><Relationship Id="rId12" Type="http://schemas.openxmlformats.org/officeDocument/2006/relationships/image" Target="../media/image62.png"/><Relationship Id="rId2" Type="http://schemas.openxmlformats.org/officeDocument/2006/relationships/image" Target="../media/image114.png"/><Relationship Id="rId1" Type="http://schemas.openxmlformats.org/officeDocument/2006/relationships/slideLayout" Target="../slideLayouts/slideLayout4.xml"/><Relationship Id="rId6" Type="http://schemas.openxmlformats.org/officeDocument/2006/relationships/image" Target="../media/image117.png"/><Relationship Id="rId11" Type="http://schemas.openxmlformats.org/officeDocument/2006/relationships/image" Target="../media/image120.png"/><Relationship Id="rId5" Type="http://schemas.openxmlformats.org/officeDocument/2006/relationships/image" Target="../media/image67.png"/><Relationship Id="rId15" Type="http://schemas.openxmlformats.org/officeDocument/2006/relationships/image" Target="../media/image61.png"/><Relationship Id="rId10" Type="http://schemas.openxmlformats.org/officeDocument/2006/relationships/image" Target="../media/image71.png"/><Relationship Id="rId4" Type="http://schemas.openxmlformats.org/officeDocument/2006/relationships/image" Target="../media/image116.png"/><Relationship Id="rId9" Type="http://schemas.openxmlformats.org/officeDocument/2006/relationships/image" Target="../media/image57.png"/><Relationship Id="rId14" Type="http://schemas.openxmlformats.org/officeDocument/2006/relationships/image" Target="../media/image122.png"/></Relationships>
</file>

<file path=ppt/slides/_rels/slide37.xml.rels><?xml version="1.0" encoding="UTF-8" standalone="yes"?>
<Relationships xmlns="http://schemas.openxmlformats.org/package/2006/relationships"><Relationship Id="rId8" Type="http://schemas.openxmlformats.org/officeDocument/2006/relationships/image" Target="../media/image42.png"/><Relationship Id="rId13" Type="http://schemas.openxmlformats.org/officeDocument/2006/relationships/image" Target="../media/image47.png"/><Relationship Id="rId3" Type="http://schemas.openxmlformats.org/officeDocument/2006/relationships/image" Target="../media/image123.png"/><Relationship Id="rId7" Type="http://schemas.openxmlformats.org/officeDocument/2006/relationships/image" Target="../media/image41.png"/><Relationship Id="rId12" Type="http://schemas.openxmlformats.org/officeDocument/2006/relationships/image" Target="../media/image46.png"/><Relationship Id="rId17" Type="http://schemas.openxmlformats.org/officeDocument/2006/relationships/image" Target="../media/image51.png"/><Relationship Id="rId2" Type="http://schemas.openxmlformats.org/officeDocument/2006/relationships/notesSlide" Target="../notesSlides/notesSlide19.xml"/><Relationship Id="rId16" Type="http://schemas.openxmlformats.org/officeDocument/2006/relationships/image" Target="../media/image780.png"/><Relationship Id="rId1" Type="http://schemas.openxmlformats.org/officeDocument/2006/relationships/slideLayout" Target="../slideLayouts/slideLayout4.xml"/><Relationship Id="rId6" Type="http://schemas.openxmlformats.org/officeDocument/2006/relationships/image" Target="../media/image125.png"/><Relationship Id="rId11" Type="http://schemas.openxmlformats.org/officeDocument/2006/relationships/image" Target="../media/image45.png"/><Relationship Id="rId5" Type="http://schemas.openxmlformats.org/officeDocument/2006/relationships/image" Target="../media/image39.png"/><Relationship Id="rId15" Type="http://schemas.openxmlformats.org/officeDocument/2006/relationships/image" Target="../media/image49.png"/><Relationship Id="rId10" Type="http://schemas.openxmlformats.org/officeDocument/2006/relationships/image" Target="../media/image720.png"/><Relationship Id="rId4" Type="http://schemas.openxmlformats.org/officeDocument/2006/relationships/image" Target="../media/image124.png"/><Relationship Id="rId9" Type="http://schemas.openxmlformats.org/officeDocument/2006/relationships/image" Target="../media/image43.png"/><Relationship Id="rId14" Type="http://schemas.openxmlformats.org/officeDocument/2006/relationships/image" Target="../media/image48.png"/></Relationships>
</file>

<file path=ppt/slides/_rels/slide38.xml.rels><?xml version="1.0" encoding="UTF-8" standalone="yes"?>
<Relationships xmlns="http://schemas.openxmlformats.org/package/2006/relationships"><Relationship Id="rId8" Type="http://schemas.openxmlformats.org/officeDocument/2006/relationships/image" Target="../media/image102.png"/><Relationship Id="rId13" Type="http://schemas.openxmlformats.org/officeDocument/2006/relationships/image" Target="../media/image107.png"/><Relationship Id="rId18" Type="http://schemas.openxmlformats.org/officeDocument/2006/relationships/image" Target="../media/image128.png"/><Relationship Id="rId3" Type="http://schemas.openxmlformats.org/officeDocument/2006/relationships/image" Target="../media/image127.png"/><Relationship Id="rId21" Type="http://schemas.openxmlformats.org/officeDocument/2006/relationships/image" Target="../media/image130.png"/><Relationship Id="rId7" Type="http://schemas.openxmlformats.org/officeDocument/2006/relationships/image" Target="../media/image101.png"/><Relationship Id="rId12" Type="http://schemas.openxmlformats.org/officeDocument/2006/relationships/image" Target="../media/image106.png"/><Relationship Id="rId17" Type="http://schemas.openxmlformats.org/officeDocument/2006/relationships/image" Target="../media/image111.png"/><Relationship Id="rId2" Type="http://schemas.openxmlformats.org/officeDocument/2006/relationships/image" Target="../media/image126.png"/><Relationship Id="rId16" Type="http://schemas.openxmlformats.org/officeDocument/2006/relationships/image" Target="../media/image110.png"/><Relationship Id="rId20" Type="http://schemas.openxmlformats.org/officeDocument/2006/relationships/image" Target="../media/image129.png"/><Relationship Id="rId1" Type="http://schemas.openxmlformats.org/officeDocument/2006/relationships/slideLayout" Target="../slideLayouts/slideLayout4.xml"/><Relationship Id="rId6" Type="http://schemas.openxmlformats.org/officeDocument/2006/relationships/image" Target="../media/image100.png"/><Relationship Id="rId11" Type="http://schemas.openxmlformats.org/officeDocument/2006/relationships/image" Target="../media/image105.png"/><Relationship Id="rId5" Type="http://schemas.openxmlformats.org/officeDocument/2006/relationships/image" Target="../media/image99.png"/><Relationship Id="rId15" Type="http://schemas.openxmlformats.org/officeDocument/2006/relationships/image" Target="../media/image109.png"/><Relationship Id="rId10" Type="http://schemas.openxmlformats.org/officeDocument/2006/relationships/image" Target="../media/image104.png"/><Relationship Id="rId19" Type="http://schemas.openxmlformats.org/officeDocument/2006/relationships/image" Target="../media/image112.png"/><Relationship Id="rId4" Type="http://schemas.openxmlformats.org/officeDocument/2006/relationships/image" Target="../media/image98.png"/><Relationship Id="rId9" Type="http://schemas.openxmlformats.org/officeDocument/2006/relationships/image" Target="../media/image103.png"/><Relationship Id="rId14" Type="http://schemas.openxmlformats.org/officeDocument/2006/relationships/image" Target="../media/image108.png"/></Relationships>
</file>

<file path=ppt/slides/_rels/slide39.xml.rels><?xml version="1.0" encoding="UTF-8" standalone="yes"?>
<Relationships xmlns="http://schemas.openxmlformats.org/package/2006/relationships"><Relationship Id="rId8" Type="http://schemas.openxmlformats.org/officeDocument/2006/relationships/image" Target="../media/image119.png"/><Relationship Id="rId13" Type="http://schemas.openxmlformats.org/officeDocument/2006/relationships/image" Target="../media/image121.png"/><Relationship Id="rId3" Type="http://schemas.openxmlformats.org/officeDocument/2006/relationships/image" Target="../media/image115.png"/><Relationship Id="rId7" Type="http://schemas.openxmlformats.org/officeDocument/2006/relationships/image" Target="../media/image68.png"/><Relationship Id="rId12" Type="http://schemas.openxmlformats.org/officeDocument/2006/relationships/image" Target="../media/image62.png"/><Relationship Id="rId2" Type="http://schemas.openxmlformats.org/officeDocument/2006/relationships/image" Target="../media/image114.png"/><Relationship Id="rId1" Type="http://schemas.openxmlformats.org/officeDocument/2006/relationships/slideLayout" Target="../slideLayouts/slideLayout4.xml"/><Relationship Id="rId6" Type="http://schemas.openxmlformats.org/officeDocument/2006/relationships/image" Target="../media/image117.png"/><Relationship Id="rId11" Type="http://schemas.openxmlformats.org/officeDocument/2006/relationships/image" Target="../media/image59.png"/><Relationship Id="rId5" Type="http://schemas.openxmlformats.org/officeDocument/2006/relationships/image" Target="../media/image67.png"/><Relationship Id="rId15" Type="http://schemas.openxmlformats.org/officeDocument/2006/relationships/image" Target="../media/image61.png"/><Relationship Id="rId10" Type="http://schemas.openxmlformats.org/officeDocument/2006/relationships/image" Target="../media/image71.png"/><Relationship Id="rId4" Type="http://schemas.openxmlformats.org/officeDocument/2006/relationships/image" Target="../media/image131.png"/><Relationship Id="rId9" Type="http://schemas.openxmlformats.org/officeDocument/2006/relationships/image" Target="../media/image57.png"/><Relationship Id="rId14" Type="http://schemas.openxmlformats.org/officeDocument/2006/relationships/image" Target="../media/image122.png"/></Relationships>
</file>

<file path=ppt/slides/_rels/slide40.xml.rels><?xml version="1.0" encoding="UTF-8" standalone="yes"?>
<Relationships xmlns="http://schemas.openxmlformats.org/package/2006/relationships"><Relationship Id="rId8" Type="http://schemas.openxmlformats.org/officeDocument/2006/relationships/image" Target="../media/image133.png"/><Relationship Id="rId13" Type="http://schemas.openxmlformats.org/officeDocument/2006/relationships/image" Target="../media/image47.png"/><Relationship Id="rId3" Type="http://schemas.openxmlformats.org/officeDocument/2006/relationships/image" Target="../media/image132.png"/><Relationship Id="rId7" Type="http://schemas.openxmlformats.org/officeDocument/2006/relationships/image" Target="../media/image41.png"/><Relationship Id="rId12" Type="http://schemas.openxmlformats.org/officeDocument/2006/relationships/image" Target="../media/image46.png"/><Relationship Id="rId17" Type="http://schemas.openxmlformats.org/officeDocument/2006/relationships/image" Target="../media/image51.png"/><Relationship Id="rId2" Type="http://schemas.openxmlformats.org/officeDocument/2006/relationships/notesSlide" Target="../notesSlides/notesSlide20.xml"/><Relationship Id="rId16" Type="http://schemas.openxmlformats.org/officeDocument/2006/relationships/image" Target="../media/image134.png"/><Relationship Id="rId1" Type="http://schemas.openxmlformats.org/officeDocument/2006/relationships/slideLayout" Target="../slideLayouts/slideLayout4.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39.png"/><Relationship Id="rId15" Type="http://schemas.openxmlformats.org/officeDocument/2006/relationships/image" Target="../media/image49.png"/><Relationship Id="rId10" Type="http://schemas.openxmlformats.org/officeDocument/2006/relationships/image" Target="../media/image44.png"/><Relationship Id="rId4" Type="http://schemas.openxmlformats.org/officeDocument/2006/relationships/image" Target="../media/image38.png"/><Relationship Id="rId9" Type="http://schemas.openxmlformats.org/officeDocument/2006/relationships/image" Target="../media/image43.png"/><Relationship Id="rId14" Type="http://schemas.openxmlformats.org/officeDocument/2006/relationships/image" Target="../media/image48.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png"/><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image" Target="../media/image140.jp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141.jp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141.jp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3" Type="http://schemas.openxmlformats.org/officeDocument/2006/relationships/hyperlink" Target="https://doi.org/10.48550/arXiv.2305.02780"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hyperlink" Target="https://safjan.com/kernelshap-treeshap-two-most-popular-variations-of-the-shap-method/" TargetMode="External"/><Relationship Id="rId4" Type="http://schemas.openxmlformats.org/officeDocument/2006/relationships/hyperlink" Target="https://doi.org/10.48550/arXiv.2407.12373"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3" Type="http://schemas.openxmlformats.org/officeDocument/2006/relationships/image" Target="../media/image143.png"/><Relationship Id="rId7" Type="http://schemas.openxmlformats.org/officeDocument/2006/relationships/slide" Target="slide22.xml"/><Relationship Id="rId2" Type="http://schemas.openxmlformats.org/officeDocument/2006/relationships/image" Target="../media/image142.png"/><Relationship Id="rId1" Type="http://schemas.openxmlformats.org/officeDocument/2006/relationships/slideLayout" Target="../slideLayouts/slideLayout4.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media/image144.png"/></Relationships>
</file>

<file path=ppt/slides/_rels/slide60.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slide" Target="slide22.xml"/><Relationship Id="rId2" Type="http://schemas.openxmlformats.org/officeDocument/2006/relationships/image" Target="../media/image145.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slide" Target="slide22.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8.xml.rels><?xml version="1.0" encoding="UTF-8" standalone="yes"?>
<Relationships xmlns="http://schemas.openxmlformats.org/package/2006/relationships"><Relationship Id="rId2" Type="http://schemas.openxmlformats.org/officeDocument/2006/relationships/image" Target="../media/image140.jp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EC8874D-15CC-1026-FA69-0708366A801D}"/>
              </a:ext>
            </a:extLst>
          </p:cNvPr>
          <p:cNvSpPr txBox="1"/>
          <p:nvPr/>
        </p:nvSpPr>
        <p:spPr>
          <a:xfrm>
            <a:off x="4078516" y="1628078"/>
            <a:ext cx="6626654" cy="212365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Sensitivity</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Analysis</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b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b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and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Surrogate</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Modeling</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of</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PEM Fuel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Cells</a:t>
            </a:r>
            <a:endPar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cxnSp>
        <p:nvCxnSpPr>
          <p:cNvPr id="3" name="Conector recto 2">
            <a:extLst>
              <a:ext uri="{FF2B5EF4-FFF2-40B4-BE49-F238E27FC236}">
                <a16:creationId xmlns:a16="http://schemas.microsoft.com/office/drawing/2014/main" id="{AC770326-B1ED-B283-8A49-958B4107E2E9}"/>
              </a:ext>
            </a:extLst>
          </p:cNvPr>
          <p:cNvCxnSpPr>
            <a:cxnSpLocks/>
          </p:cNvCxnSpPr>
          <p:nvPr/>
        </p:nvCxnSpPr>
        <p:spPr>
          <a:xfrm>
            <a:off x="4181707" y="4059044"/>
            <a:ext cx="0" cy="1407693"/>
          </a:xfrm>
          <a:prstGeom prst="line">
            <a:avLst/>
          </a:prstGeom>
          <a:ln w="28575">
            <a:solidFill>
              <a:srgbClr val="8879F5"/>
            </a:solidFill>
          </a:ln>
        </p:spPr>
        <p:style>
          <a:lnRef idx="2">
            <a:schemeClr val="accent1"/>
          </a:lnRef>
          <a:fillRef idx="0">
            <a:schemeClr val="accent1"/>
          </a:fillRef>
          <a:effectRef idx="1">
            <a:schemeClr val="accent1"/>
          </a:effectRef>
          <a:fontRef idx="minor">
            <a:schemeClr val="tx1"/>
          </a:fontRef>
        </p:style>
      </p:cxnSp>
      <p:sp>
        <p:nvSpPr>
          <p:cNvPr id="4" name="CuadroTexto 3">
            <a:extLst>
              <a:ext uri="{FF2B5EF4-FFF2-40B4-BE49-F238E27FC236}">
                <a16:creationId xmlns:a16="http://schemas.microsoft.com/office/drawing/2014/main" id="{A824276F-1589-0A46-13C0-7944BDBFEF23}"/>
              </a:ext>
            </a:extLst>
          </p:cNvPr>
          <p:cNvSpPr txBox="1"/>
          <p:nvPr/>
        </p:nvSpPr>
        <p:spPr>
          <a:xfrm>
            <a:off x="4404732" y="4059044"/>
            <a:ext cx="4527395" cy="143847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Presented</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by</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Dejvis</a:t>
            </a:r>
            <a:r>
              <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 </a:t>
            </a:r>
            <a:r>
              <a:rPr kumimoji="0" lang="es-ES_tradnl"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Toptani</a:t>
            </a:r>
            <a:endPar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Nathaly</a:t>
            </a:r>
            <a:r>
              <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 Vergel Serrano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Camila Bermudez Valderrama</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August 1st, 2025</a:t>
            </a:r>
          </a:p>
        </p:txBody>
      </p:sp>
      <p:sp>
        <p:nvSpPr>
          <p:cNvPr id="6" name="CuadroTexto 5">
            <a:extLst>
              <a:ext uri="{FF2B5EF4-FFF2-40B4-BE49-F238E27FC236}">
                <a16:creationId xmlns:a16="http://schemas.microsoft.com/office/drawing/2014/main" id="{9D95B33A-A44B-CEB4-084F-FDD0B2E83D8F}"/>
              </a:ext>
            </a:extLst>
          </p:cNvPr>
          <p:cNvSpPr txBox="1"/>
          <p:nvPr/>
        </p:nvSpPr>
        <p:spPr>
          <a:xfrm>
            <a:off x="7467916" y="4054310"/>
            <a:ext cx="2492548"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Supervised</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by</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Dr. Giuseppe </a:t>
            </a:r>
            <a:r>
              <a:rPr kumimoji="0" lang="es-CO"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Casalicchio</a:t>
            </a:r>
            <a:endPar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endParaRPr>
          </a:p>
        </p:txBody>
      </p:sp>
      <p:sp>
        <p:nvSpPr>
          <p:cNvPr id="8" name="CuadroTexto 7">
            <a:extLst>
              <a:ext uri="{FF2B5EF4-FFF2-40B4-BE49-F238E27FC236}">
                <a16:creationId xmlns:a16="http://schemas.microsoft.com/office/drawing/2014/main" id="{D5D4991A-665B-6669-5CE5-9BA884E51343}"/>
              </a:ext>
            </a:extLst>
          </p:cNvPr>
          <p:cNvSpPr txBox="1"/>
          <p:nvPr/>
        </p:nvSpPr>
        <p:spPr>
          <a:xfrm>
            <a:off x="7464265" y="4666518"/>
            <a:ext cx="3060917"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In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collaboration</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with</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Luis Winkler (ZSW Ulm)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Prof. Herbert Palm (UAS </a:t>
            </a:r>
            <a:r>
              <a:rPr kumimoji="0" lang="es-CO"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Munich</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endParaRPr kumimoji="0" lang="en"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10" name="Imagen 9">
            <a:extLst>
              <a:ext uri="{FF2B5EF4-FFF2-40B4-BE49-F238E27FC236}">
                <a16:creationId xmlns:a16="http://schemas.microsoft.com/office/drawing/2014/main" id="{355371D2-9091-CC40-86BF-1B603F46DC9E}"/>
              </a:ext>
            </a:extLst>
          </p:cNvPr>
          <p:cNvPicPr>
            <a:picLocks noChangeAspect="1"/>
          </p:cNvPicPr>
          <p:nvPr/>
        </p:nvPicPr>
        <p:blipFill>
          <a:blip r:embed="rId3"/>
          <a:stretch>
            <a:fillRect/>
          </a:stretch>
        </p:blipFill>
        <p:spPr>
          <a:xfrm>
            <a:off x="7724244" y="5859101"/>
            <a:ext cx="813973" cy="491775"/>
          </a:xfrm>
          <a:prstGeom prst="rect">
            <a:avLst/>
          </a:prstGeom>
        </p:spPr>
      </p:pic>
      <p:pic>
        <p:nvPicPr>
          <p:cNvPr id="11" name="Imagen 10">
            <a:extLst>
              <a:ext uri="{FF2B5EF4-FFF2-40B4-BE49-F238E27FC236}">
                <a16:creationId xmlns:a16="http://schemas.microsoft.com/office/drawing/2014/main" id="{5A14EFE2-BBE2-F746-E47E-B7E47AD52B41}"/>
              </a:ext>
            </a:extLst>
          </p:cNvPr>
          <p:cNvPicPr>
            <a:picLocks noChangeAspect="1"/>
          </p:cNvPicPr>
          <p:nvPr/>
        </p:nvPicPr>
        <p:blipFill>
          <a:blip r:embed="rId4"/>
          <a:stretch>
            <a:fillRect/>
          </a:stretch>
        </p:blipFill>
        <p:spPr>
          <a:xfrm>
            <a:off x="8932127" y="5947881"/>
            <a:ext cx="834194" cy="314213"/>
          </a:xfrm>
          <a:prstGeom prst="rect">
            <a:avLst/>
          </a:prstGeom>
        </p:spPr>
      </p:pic>
    </p:spTree>
    <p:extLst>
      <p:ext uri="{BB962C8B-B14F-4D97-AF65-F5344CB8AC3E}">
        <p14:creationId xmlns:p14="http://schemas.microsoft.com/office/powerpoint/2010/main" val="2843596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392E0E82-DF6C-0E1E-EE06-896853A0EEF1}"/>
              </a:ext>
            </a:extLst>
          </p:cNvPr>
          <p:cNvSpPr txBox="1"/>
          <p:nvPr/>
        </p:nvSpPr>
        <p:spPr>
          <a:xfrm>
            <a:off x="965561" y="256478"/>
            <a:ext cx="2179084" cy="707886"/>
          </a:xfrm>
          <a:prstGeom prst="rect">
            <a:avLst/>
          </a:prstGeom>
          <a:noFill/>
        </p:spPr>
        <p:txBody>
          <a:bodyPr wrap="square" rtlCol="0">
            <a:spAutoFit/>
          </a:bodyPr>
          <a:lstStyle/>
          <a:p>
            <a:r>
              <a:rPr lang="es-ES_tradnl" sz="4000" b="1" dirty="0" err="1">
                <a:latin typeface="Source Sans Pro SemiBold" panose="020B0503030403020204" pitchFamily="34" charset="0"/>
                <a:ea typeface="Source Sans Pro SemiBold" panose="020B0503030403020204" pitchFamily="34" charset="0"/>
              </a:rPr>
              <a:t>Outline</a:t>
            </a:r>
            <a:endParaRPr lang="es-ES_tradnl" sz="4000" b="1" dirty="0">
              <a:latin typeface="Source Sans Pro SemiBold" panose="020B0503030403020204" pitchFamily="34" charset="0"/>
              <a:ea typeface="Source Sans Pro SemiBold" panose="020B0503030403020204" pitchFamily="34" charset="0"/>
            </a:endParaRPr>
          </a:p>
        </p:txBody>
      </p:sp>
      <p:sp>
        <p:nvSpPr>
          <p:cNvPr id="5" name="CuadroTexto 4">
            <a:extLst>
              <a:ext uri="{FF2B5EF4-FFF2-40B4-BE49-F238E27FC236}">
                <a16:creationId xmlns:a16="http://schemas.microsoft.com/office/drawing/2014/main" id="{D897CCB1-0C1B-9746-EE43-81B7532CDAAF}"/>
              </a:ext>
            </a:extLst>
          </p:cNvPr>
          <p:cNvSpPr txBox="1"/>
          <p:nvPr/>
        </p:nvSpPr>
        <p:spPr>
          <a:xfrm>
            <a:off x="3367669" y="1119670"/>
            <a:ext cx="8824331" cy="4167423"/>
          </a:xfrm>
          <a:prstGeom prst="rect">
            <a:avLst/>
          </a:prstGeom>
          <a:noFill/>
        </p:spPr>
        <p:txBody>
          <a:bodyPr wrap="square" rtlCol="0">
            <a:spAutoFit/>
          </a:bodyPr>
          <a:lstStyle/>
          <a:p>
            <a:pPr>
              <a:lnSpc>
                <a:spcPct val="150000"/>
              </a:lnSpc>
            </a:pPr>
            <a:r>
              <a:rPr lang="es-ES_tradnl" sz="3600" b="1" dirty="0">
                <a:solidFill>
                  <a:srgbClr val="8879F5"/>
                </a:solidFill>
              </a:rPr>
              <a:t>1. </a:t>
            </a:r>
            <a:r>
              <a:rPr lang="es-CO" sz="3600" dirty="0" err="1"/>
              <a:t>Motivation</a:t>
            </a:r>
            <a:r>
              <a:rPr lang="es-CO" sz="3600" dirty="0"/>
              <a:t>: </a:t>
            </a:r>
            <a:r>
              <a:rPr lang="es-CO" sz="3600" dirty="0" err="1"/>
              <a:t>Understanding</a:t>
            </a:r>
            <a:r>
              <a:rPr lang="es-CO" sz="3600" dirty="0"/>
              <a:t> PEMFC</a:t>
            </a:r>
            <a:endParaRPr lang="es-ES_tradnl" sz="3600" b="1" dirty="0">
              <a:solidFill>
                <a:srgbClr val="FF0000"/>
              </a:solidFill>
            </a:endParaRPr>
          </a:p>
          <a:p>
            <a:pPr>
              <a:lnSpc>
                <a:spcPct val="150000"/>
              </a:lnSpc>
            </a:pPr>
            <a:r>
              <a:rPr lang="es-ES_tradnl" sz="3600" b="1" dirty="0">
                <a:solidFill>
                  <a:srgbClr val="8879F5"/>
                </a:solidFill>
              </a:rPr>
              <a:t>2. </a:t>
            </a:r>
            <a:r>
              <a:rPr lang="es-CO" sz="3600" dirty="0" err="1">
                <a:effectLst/>
              </a:rPr>
              <a:t>Model</a:t>
            </a:r>
            <a:r>
              <a:rPr lang="es-CO" sz="3600" dirty="0">
                <a:effectLst/>
              </a:rPr>
              <a:t> </a:t>
            </a:r>
            <a:r>
              <a:rPr lang="es-CO" sz="3600" dirty="0" err="1">
                <a:effectLst/>
              </a:rPr>
              <a:t>validity</a:t>
            </a:r>
            <a:endParaRPr lang="es-ES_tradnl" sz="3600" dirty="0"/>
          </a:p>
          <a:p>
            <a:pPr>
              <a:lnSpc>
                <a:spcPct val="150000"/>
              </a:lnSpc>
            </a:pPr>
            <a:r>
              <a:rPr lang="es-ES_tradnl" sz="3600" b="1" dirty="0">
                <a:solidFill>
                  <a:srgbClr val="8879F5"/>
                </a:solidFill>
              </a:rPr>
              <a:t>3. </a:t>
            </a:r>
            <a:r>
              <a:rPr lang="es-CO" sz="3600" dirty="0" err="1">
                <a:effectLst/>
              </a:rPr>
              <a:t>Sensitivity</a:t>
            </a:r>
            <a:r>
              <a:rPr lang="es-CO" sz="3600" dirty="0">
                <a:effectLst/>
              </a:rPr>
              <a:t> </a:t>
            </a:r>
            <a:r>
              <a:rPr lang="es-CO" sz="3600" dirty="0" err="1">
                <a:effectLst/>
              </a:rPr>
              <a:t>analysis</a:t>
            </a:r>
            <a:endParaRPr lang="es-ES_tradnl" sz="3600" dirty="0"/>
          </a:p>
          <a:p>
            <a:pPr>
              <a:lnSpc>
                <a:spcPct val="150000"/>
              </a:lnSpc>
            </a:pPr>
            <a:r>
              <a:rPr lang="es-ES_tradnl" sz="3600" b="1" dirty="0">
                <a:solidFill>
                  <a:srgbClr val="8879F5"/>
                </a:solidFill>
              </a:rPr>
              <a:t>4. </a:t>
            </a:r>
            <a:r>
              <a:rPr lang="es-CO" sz="3600" dirty="0" err="1">
                <a:effectLst/>
              </a:rPr>
              <a:t>Surrogate</a:t>
            </a:r>
            <a:r>
              <a:rPr lang="es-CO" sz="3600" dirty="0">
                <a:effectLst/>
              </a:rPr>
              <a:t> </a:t>
            </a:r>
            <a:r>
              <a:rPr lang="es-CO" sz="3600" dirty="0" err="1">
                <a:effectLst/>
              </a:rPr>
              <a:t>modeling</a:t>
            </a:r>
            <a:endParaRPr lang="es-ES_tradnl" sz="3600" b="1" dirty="0">
              <a:solidFill>
                <a:srgbClr val="FF0000"/>
              </a:solidFill>
            </a:endParaRPr>
          </a:p>
          <a:p>
            <a:pPr>
              <a:lnSpc>
                <a:spcPct val="150000"/>
              </a:lnSpc>
            </a:pPr>
            <a:r>
              <a:rPr lang="es-ES_tradnl" sz="3600" b="1" dirty="0">
                <a:solidFill>
                  <a:srgbClr val="8879F5"/>
                </a:solidFill>
              </a:rPr>
              <a:t>5. </a:t>
            </a:r>
            <a:r>
              <a:rPr lang="es-CO" sz="3600" dirty="0">
                <a:effectLst/>
              </a:rPr>
              <a:t>Future </a:t>
            </a:r>
            <a:r>
              <a:rPr lang="es-CO" sz="3600" dirty="0" err="1">
                <a:effectLst/>
              </a:rPr>
              <a:t>work</a:t>
            </a:r>
            <a:endParaRPr lang="es-ES_tradnl" sz="3600" dirty="0"/>
          </a:p>
        </p:txBody>
      </p:sp>
      <p:cxnSp>
        <p:nvCxnSpPr>
          <p:cNvPr id="8" name="Conector recto 7">
            <a:extLst>
              <a:ext uri="{FF2B5EF4-FFF2-40B4-BE49-F238E27FC236}">
                <a16:creationId xmlns:a16="http://schemas.microsoft.com/office/drawing/2014/main" id="{021F7B6F-990D-9999-558D-A5A44F694F16}"/>
              </a:ext>
            </a:extLst>
          </p:cNvPr>
          <p:cNvCxnSpPr/>
          <p:nvPr/>
        </p:nvCxnSpPr>
        <p:spPr>
          <a:xfrm>
            <a:off x="3367668" y="1996068"/>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7384F6B-E36C-F85B-3E28-77E1C3B1C2EA}"/>
              </a:ext>
            </a:extLst>
          </p:cNvPr>
          <p:cNvCxnSpPr/>
          <p:nvPr/>
        </p:nvCxnSpPr>
        <p:spPr>
          <a:xfrm>
            <a:off x="3367668" y="2826834"/>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Conector recto 9">
            <a:extLst>
              <a:ext uri="{FF2B5EF4-FFF2-40B4-BE49-F238E27FC236}">
                <a16:creationId xmlns:a16="http://schemas.microsoft.com/office/drawing/2014/main" id="{5871B48B-EA7B-094D-32E0-C83DA3906365}"/>
              </a:ext>
            </a:extLst>
          </p:cNvPr>
          <p:cNvCxnSpPr/>
          <p:nvPr/>
        </p:nvCxnSpPr>
        <p:spPr>
          <a:xfrm>
            <a:off x="3367668" y="3657600"/>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B3E70519-F011-BDF8-9B7A-308F1530CB52}"/>
              </a:ext>
            </a:extLst>
          </p:cNvPr>
          <p:cNvCxnSpPr/>
          <p:nvPr/>
        </p:nvCxnSpPr>
        <p:spPr>
          <a:xfrm>
            <a:off x="3367668" y="4488366"/>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Conector recto 11">
            <a:extLst>
              <a:ext uri="{FF2B5EF4-FFF2-40B4-BE49-F238E27FC236}">
                <a16:creationId xmlns:a16="http://schemas.microsoft.com/office/drawing/2014/main" id="{7464BC63-0894-2C89-64CE-115CD3C67031}"/>
              </a:ext>
            </a:extLst>
          </p:cNvPr>
          <p:cNvCxnSpPr/>
          <p:nvPr/>
        </p:nvCxnSpPr>
        <p:spPr>
          <a:xfrm>
            <a:off x="3367668" y="5319132"/>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14" name="Marcador de número de diapositiva 14">
            <a:extLst>
              <a:ext uri="{FF2B5EF4-FFF2-40B4-BE49-F238E27FC236}">
                <a16:creationId xmlns:a16="http://schemas.microsoft.com/office/drawing/2014/main" id="{F5DE518E-7552-0DCA-DEFB-E57544564AB6}"/>
              </a:ext>
            </a:extLst>
          </p:cNvPr>
          <p:cNvSpPr>
            <a:spLocks noGrp="1"/>
          </p:cNvSpPr>
          <p:nvPr>
            <p:ph type="sldNum" sz="quarter" idx="12"/>
          </p:nvPr>
        </p:nvSpPr>
        <p:spPr>
          <a:xfrm>
            <a:off x="39477" y="2368627"/>
            <a:ext cx="445265" cy="440673"/>
          </a:xfrm>
        </p:spPr>
        <p:txBody>
          <a:bodyPr/>
          <a:lstStyle/>
          <a:p>
            <a:fld id="{B75BC28E-972B-EC47-BE79-29D89D46B9CA}" type="slidenum">
              <a:rPr lang="es-ES_tradnl" sz="1600" b="1" smtClean="0"/>
              <a:t>2</a:t>
            </a:fld>
            <a:endParaRPr lang="es-ES_tradnl" sz="1600" b="1" dirty="0"/>
          </a:p>
        </p:txBody>
      </p:sp>
    </p:spTree>
    <p:extLst>
      <p:ext uri="{BB962C8B-B14F-4D97-AF65-F5344CB8AC3E}">
        <p14:creationId xmlns:p14="http://schemas.microsoft.com/office/powerpoint/2010/main" val="2142332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9226A353-50C4-454F-8707-36ED5B10D29B}"/>
              </a:ext>
            </a:extLst>
          </p:cNvPr>
          <p:cNvSpPr txBox="1"/>
          <p:nvPr/>
        </p:nvSpPr>
        <p:spPr>
          <a:xfrm>
            <a:off x="1463187" y="2209784"/>
            <a:ext cx="9582184" cy="2677656"/>
          </a:xfrm>
          <a:prstGeom prst="rect">
            <a:avLst/>
          </a:prstGeom>
          <a:noFill/>
        </p:spPr>
        <p:txBody>
          <a:bodyPr wrap="square" rtlCol="0">
            <a:spAutoFit/>
          </a:bodyPr>
          <a:lstStyle>
            <a:defPPr>
              <a:defRPr lang="es-CO"/>
            </a:defPPr>
            <a:lvl1pPr algn="ctr">
              <a:defRPr sz="9600" i="1">
                <a:solidFill>
                  <a:schemeClr val="bg1"/>
                </a:solidFill>
                <a:latin typeface="Source Sans Pro Light" panose="020B0503030403020204" pitchFamily="34" charset="0"/>
                <a:ea typeface="Source Sans Pro Light" panose="020B0503030403020204" pitchFamily="34" charset="0"/>
              </a:defRPr>
            </a:lvl1pPr>
          </a:lstStyle>
          <a:p>
            <a:r>
              <a:rPr lang="es-ES_tradnl" sz="8000" b="1" dirty="0"/>
              <a:t>1. </a:t>
            </a:r>
            <a:r>
              <a:rPr lang="es-ES_tradnl" sz="8000" b="1" dirty="0" err="1"/>
              <a:t>Motivation</a:t>
            </a:r>
            <a:endParaRPr lang="es-ES_tradnl" sz="8000" b="1" dirty="0"/>
          </a:p>
          <a:p>
            <a:r>
              <a:rPr lang="es-ES_tradnl" sz="4400" dirty="0" err="1"/>
              <a:t>Understanding</a:t>
            </a:r>
            <a:r>
              <a:rPr lang="es-ES_tradnl" sz="4400" dirty="0"/>
              <a:t> </a:t>
            </a:r>
            <a:r>
              <a:rPr lang="es-ES_tradnl" sz="4400" dirty="0" err="1"/>
              <a:t>Proton</a:t>
            </a:r>
            <a:r>
              <a:rPr lang="es-ES_tradnl" sz="4400" dirty="0"/>
              <a:t> </a:t>
            </a:r>
            <a:r>
              <a:rPr lang="en-US" sz="4400" dirty="0">
                <a:ea typeface="Source Sans Pro" panose="020B0503030403020204" pitchFamily="34" charset="0"/>
                <a:cs typeface="Roboto"/>
                <a:sym typeface="Roboto"/>
              </a:rPr>
              <a:t>Exchange Membrane (PEM) Fuel Cells </a:t>
            </a:r>
            <a:endParaRPr lang="es-ES_tradnl" sz="8000" dirty="0"/>
          </a:p>
        </p:txBody>
      </p:sp>
    </p:spTree>
    <p:extLst>
      <p:ext uri="{BB962C8B-B14F-4D97-AF65-F5344CB8AC3E}">
        <p14:creationId xmlns:p14="http://schemas.microsoft.com/office/powerpoint/2010/main" val="935929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3225E-1643-7293-F815-B2BC1CB8885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F47039-4BE2-3F32-D063-AA5431DE90EA}"/>
              </a:ext>
            </a:extLst>
          </p:cNvPr>
          <p:cNvSpPr>
            <a:spLocks noGrp="1"/>
          </p:cNvSpPr>
          <p:nvPr>
            <p:ph type="title"/>
          </p:nvPr>
        </p:nvSpPr>
        <p:spPr>
          <a:xfrm>
            <a:off x="838200" y="908128"/>
            <a:ext cx="10515600" cy="659416"/>
          </a:xfrm>
        </p:spPr>
        <p:txBody>
          <a:bodyPr/>
          <a:lstStyle/>
          <a:p>
            <a:r>
              <a:rPr lang="en" sz="3200" b="1" dirty="0">
                <a:latin typeface="Source Sans Pro" panose="020B0503030403020204" pitchFamily="34" charset="0"/>
                <a:ea typeface="Source Sans Pro" panose="020B0503030403020204" pitchFamily="34" charset="0"/>
              </a:rPr>
              <a:t>Understanding PEMFCs through surrogates</a:t>
            </a:r>
          </a:p>
        </p:txBody>
      </p:sp>
      <p:sp>
        <p:nvSpPr>
          <p:cNvPr id="4" name="Marcador de número de diapositiva 3">
            <a:extLst>
              <a:ext uri="{FF2B5EF4-FFF2-40B4-BE49-F238E27FC236}">
                <a16:creationId xmlns:a16="http://schemas.microsoft.com/office/drawing/2014/main" id="{7980DA40-3643-DFD7-266B-C0417340C771}"/>
              </a:ext>
            </a:extLst>
          </p:cNvPr>
          <p:cNvSpPr>
            <a:spLocks noGrp="1"/>
          </p:cNvSpPr>
          <p:nvPr>
            <p:ph type="sldNum" sz="quarter" idx="12"/>
          </p:nvPr>
        </p:nvSpPr>
        <p:spPr/>
        <p:txBody>
          <a:bodyPr/>
          <a:lstStyle/>
          <a:p>
            <a:fld id="{B75BC28E-972B-EC47-BE79-29D89D46B9CA}" type="slidenum">
              <a:rPr lang="es-ES_tradnl" smtClean="0">
                <a:solidFill>
                  <a:schemeClr val="bg1"/>
                </a:solidFill>
              </a:rPr>
              <a:pPr/>
              <a:t>4</a:t>
            </a:fld>
            <a:endParaRPr lang="es-ES_tradnl" dirty="0">
              <a:solidFill>
                <a:schemeClr val="bg1"/>
              </a:solidFill>
            </a:endParaRPr>
          </a:p>
        </p:txBody>
      </p:sp>
      <p:sp>
        <p:nvSpPr>
          <p:cNvPr id="5" name="CuadroTexto 4">
            <a:extLst>
              <a:ext uri="{FF2B5EF4-FFF2-40B4-BE49-F238E27FC236}">
                <a16:creationId xmlns:a16="http://schemas.microsoft.com/office/drawing/2014/main" id="{A2FEC257-1CDD-28C0-5DDA-254006B3DA96}"/>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6">
            <a:extLst>
              <a:ext uri="{FF2B5EF4-FFF2-40B4-BE49-F238E27FC236}">
                <a16:creationId xmlns:a16="http://schemas.microsoft.com/office/drawing/2014/main" id="{A68FDCDD-B6C9-DE95-517D-E7E07C6DBA6C}"/>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grpSp>
        <p:nvGrpSpPr>
          <p:cNvPr id="9" name="Grupo 8">
            <a:extLst>
              <a:ext uri="{FF2B5EF4-FFF2-40B4-BE49-F238E27FC236}">
                <a16:creationId xmlns:a16="http://schemas.microsoft.com/office/drawing/2014/main" id="{BC8C631A-CB28-A705-6B2A-6005C586EF86}"/>
              </a:ext>
            </a:extLst>
          </p:cNvPr>
          <p:cNvGrpSpPr/>
          <p:nvPr/>
        </p:nvGrpSpPr>
        <p:grpSpPr>
          <a:xfrm>
            <a:off x="8567550" y="2296390"/>
            <a:ext cx="3454885" cy="3831365"/>
            <a:chOff x="8022295" y="2588963"/>
            <a:chExt cx="3460051" cy="3971571"/>
          </a:xfrm>
        </p:grpSpPr>
        <p:pic>
          <p:nvPicPr>
            <p:cNvPr id="7" name="Picture 3" descr="Proton-exchange membrane fuel cell - Wikipedia">
              <a:extLst>
                <a:ext uri="{FF2B5EF4-FFF2-40B4-BE49-F238E27FC236}">
                  <a16:creationId xmlns:a16="http://schemas.microsoft.com/office/drawing/2014/main" id="{8D9D7A67-7568-7DCB-50EF-E69882AECC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67492" y="2588963"/>
              <a:ext cx="2969658" cy="3148201"/>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4D793138-40F3-7440-2CA6-91758F1E6191}"/>
                </a:ext>
              </a:extLst>
            </p:cNvPr>
            <p:cNvSpPr txBox="1"/>
            <p:nvPr/>
          </p:nvSpPr>
          <p:spPr>
            <a:xfrm>
              <a:off x="8022295" y="5914203"/>
              <a:ext cx="3460051" cy="646331"/>
            </a:xfrm>
            <a:prstGeom prst="rect">
              <a:avLst/>
            </a:prstGeom>
            <a:noFill/>
          </p:spPr>
          <p:txBody>
            <a:bodyPr wrap="square" rtlCol="0">
              <a:spAutoFit/>
            </a:bodyPr>
            <a:lstStyle/>
            <a:p>
              <a:r>
                <a:rPr lang="en-US" sz="1200" b="1" dirty="0">
                  <a:ea typeface="Source Sans Pro" panose="020B0503030403020204" pitchFamily="34" charset="0"/>
                </a:rPr>
                <a:t>Figure 1.</a:t>
              </a:r>
              <a:r>
                <a:rPr lang="en-US" sz="1200" dirty="0">
                  <a:ea typeface="Source Sans Pro" panose="020B0503030403020204" pitchFamily="34" charset="0"/>
                </a:rPr>
                <a:t> Operating principle of a PEM fuel cell: hydrogen and oxygen react to produce electricity and water. </a:t>
              </a:r>
              <a:r>
                <a:rPr lang="en-US" sz="1200" i="1" dirty="0">
                  <a:ea typeface="Source Sans Pro" panose="020B0503030403020204" pitchFamily="34" charset="0"/>
                </a:rPr>
                <a:t>Source: </a:t>
              </a:r>
              <a:r>
                <a:rPr lang="en-US" sz="1200" i="1" dirty="0">
                  <a:ea typeface="Source Sans Pro" panose="020B0503030403020204" pitchFamily="34" charset="0"/>
                  <a:hlinkClick r:id="rId4"/>
                </a:rPr>
                <a:t>Wikipedia - PEM fuel cell</a:t>
              </a:r>
              <a:endParaRPr lang="en" sz="1200" dirty="0">
                <a:ea typeface="Source Sans Pro" panose="020B0503030403020204" pitchFamily="34" charset="0"/>
              </a:endParaRPr>
            </a:p>
          </p:txBody>
        </p:sp>
      </p:grpSp>
      <p:grpSp>
        <p:nvGrpSpPr>
          <p:cNvPr id="20" name="Grupo 19">
            <a:extLst>
              <a:ext uri="{FF2B5EF4-FFF2-40B4-BE49-F238E27FC236}">
                <a16:creationId xmlns:a16="http://schemas.microsoft.com/office/drawing/2014/main" id="{5BD7BC5E-99B9-8CD0-C072-E23287287C48}"/>
              </a:ext>
            </a:extLst>
          </p:cNvPr>
          <p:cNvGrpSpPr/>
          <p:nvPr/>
        </p:nvGrpSpPr>
        <p:grpSpPr>
          <a:xfrm>
            <a:off x="4777555" y="1690629"/>
            <a:ext cx="3789995" cy="2888382"/>
            <a:chOff x="838200" y="1963496"/>
            <a:chExt cx="4749800" cy="2623018"/>
          </a:xfrm>
        </p:grpSpPr>
        <p:sp>
          <p:nvSpPr>
            <p:cNvPr id="10" name="Google Shape;1857;p37">
              <a:extLst>
                <a:ext uri="{FF2B5EF4-FFF2-40B4-BE49-F238E27FC236}">
                  <a16:creationId xmlns:a16="http://schemas.microsoft.com/office/drawing/2014/main" id="{298925F0-7F34-53C9-4BA4-0F41B003C13E}"/>
                </a:ext>
              </a:extLst>
            </p:cNvPr>
            <p:cNvSpPr/>
            <p:nvPr/>
          </p:nvSpPr>
          <p:spPr>
            <a:xfrm>
              <a:off x="838200" y="2232971"/>
              <a:ext cx="4749800" cy="2353543"/>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11" name="Google Shape;1859;p37">
              <a:extLst>
                <a:ext uri="{FF2B5EF4-FFF2-40B4-BE49-F238E27FC236}">
                  <a16:creationId xmlns:a16="http://schemas.microsoft.com/office/drawing/2014/main" id="{2479851C-0089-9599-3F0A-EAD394270DD8}"/>
                </a:ext>
              </a:extLst>
            </p:cNvPr>
            <p:cNvSpPr/>
            <p:nvPr/>
          </p:nvSpPr>
          <p:spPr>
            <a:xfrm>
              <a:off x="838200" y="1963496"/>
              <a:ext cx="4749800" cy="558476"/>
            </a:xfrm>
            <a:prstGeom prst="roundRect">
              <a:avLst>
                <a:gd name="adj" fmla="val 50000"/>
              </a:avLst>
            </a:prstGeom>
            <a:solidFill>
              <a:srgbClr val="635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12" name="Google Shape;1862;p37">
              <a:extLst>
                <a:ext uri="{FF2B5EF4-FFF2-40B4-BE49-F238E27FC236}">
                  <a16:creationId xmlns:a16="http://schemas.microsoft.com/office/drawing/2014/main" id="{AD68CE28-58D6-034A-048A-9CF9373C6289}"/>
                </a:ext>
              </a:extLst>
            </p:cNvPr>
            <p:cNvGrpSpPr/>
            <p:nvPr/>
          </p:nvGrpSpPr>
          <p:grpSpPr>
            <a:xfrm>
              <a:off x="1052314" y="2077873"/>
              <a:ext cx="4361515" cy="2450662"/>
              <a:chOff x="688874" y="1376475"/>
              <a:chExt cx="2334158" cy="2466102"/>
            </a:xfrm>
          </p:grpSpPr>
          <p:sp>
            <p:nvSpPr>
              <p:cNvPr id="13" name="Google Shape;1863;p37">
                <a:extLst>
                  <a:ext uri="{FF2B5EF4-FFF2-40B4-BE49-F238E27FC236}">
                    <a16:creationId xmlns:a16="http://schemas.microsoft.com/office/drawing/2014/main" id="{29D39D0F-CA7A-2EE5-A7CF-A250A5601352}"/>
                  </a:ext>
                </a:extLst>
              </p:cNvPr>
              <p:cNvSpPr txBox="1"/>
              <p:nvPr/>
            </p:nvSpPr>
            <p:spPr>
              <a:xfrm>
                <a:off x="782632" y="1376475"/>
                <a:ext cx="2240400" cy="33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b="1" dirty="0" err="1">
                    <a:solidFill>
                      <a:schemeClr val="lt1"/>
                    </a:solidFill>
                    <a:latin typeface="+mj-lt"/>
                    <a:ea typeface="Source Sans Pro" panose="020B0503030403020204" pitchFamily="34" charset="0"/>
                    <a:cs typeface="Fira Sans Extra Condensed"/>
                    <a:sym typeface="Fira Sans Extra Condensed"/>
                  </a:rPr>
                  <a:t>Challenges</a:t>
                </a:r>
                <a:r>
                  <a:rPr lang="es-MX" b="1" dirty="0">
                    <a:solidFill>
                      <a:schemeClr val="lt1"/>
                    </a:solidFill>
                    <a:latin typeface="+mj-lt"/>
                    <a:ea typeface="Source Sans Pro" panose="020B0503030403020204" pitchFamily="34" charset="0"/>
                    <a:cs typeface="Fira Sans Extra Condensed"/>
                    <a:sym typeface="Fira Sans Extra Condensed"/>
                  </a:rPr>
                  <a:t> </a:t>
                </a:r>
                <a:r>
                  <a:rPr lang="es-MX" b="1" dirty="0" err="1">
                    <a:solidFill>
                      <a:schemeClr val="lt1"/>
                    </a:solidFill>
                    <a:latin typeface="+mj-lt"/>
                    <a:ea typeface="Source Sans Pro" panose="020B0503030403020204" pitchFamily="34" charset="0"/>
                    <a:cs typeface="Fira Sans Extra Condensed"/>
                    <a:sym typeface="Fira Sans Extra Condensed"/>
                  </a:rPr>
                  <a:t>with</a:t>
                </a:r>
                <a:r>
                  <a:rPr lang="es-MX" b="1" dirty="0">
                    <a:solidFill>
                      <a:schemeClr val="lt1"/>
                    </a:solidFill>
                    <a:latin typeface="+mj-lt"/>
                    <a:ea typeface="Source Sans Pro" panose="020B0503030403020204" pitchFamily="34" charset="0"/>
                    <a:cs typeface="Fira Sans Extra Condensed"/>
                    <a:sym typeface="Fira Sans Extra Condensed"/>
                  </a:rPr>
                  <a:t> </a:t>
                </a:r>
                <a:r>
                  <a:rPr lang="es-MX" b="1" dirty="0" err="1">
                    <a:solidFill>
                      <a:schemeClr val="lt1"/>
                    </a:solidFill>
                    <a:latin typeface="+mj-lt"/>
                    <a:ea typeface="Source Sans Pro" panose="020B0503030403020204" pitchFamily="34" charset="0"/>
                    <a:cs typeface="Fira Sans Extra Condensed"/>
                    <a:sym typeface="Fira Sans Extra Condensed"/>
                  </a:rPr>
                  <a:t>models</a:t>
                </a:r>
                <a:endParaRPr b="1" dirty="0">
                  <a:solidFill>
                    <a:schemeClr val="lt1"/>
                  </a:solidFill>
                  <a:latin typeface="+mj-lt"/>
                  <a:ea typeface="Source Sans Pro" panose="020B0503030403020204" pitchFamily="34" charset="0"/>
                  <a:cs typeface="Fira Sans Extra Condensed"/>
                  <a:sym typeface="Fira Sans Extra Condensed"/>
                </a:endParaRPr>
              </a:p>
            </p:txBody>
          </p:sp>
          <p:sp>
            <p:nvSpPr>
              <p:cNvPr id="19" name="Google Shape;1866;p37">
                <a:extLst>
                  <a:ext uri="{FF2B5EF4-FFF2-40B4-BE49-F238E27FC236}">
                    <a16:creationId xmlns:a16="http://schemas.microsoft.com/office/drawing/2014/main" id="{4A21895E-F886-D516-2D6A-3BB3FC97B691}"/>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17" name="Google Shape;1869;p37">
                <a:extLst>
                  <a:ext uri="{FF2B5EF4-FFF2-40B4-BE49-F238E27FC236}">
                    <a16:creationId xmlns:a16="http://schemas.microsoft.com/office/drawing/2014/main" id="{9682A930-9818-255B-6CAC-73ABBCA56ADB}"/>
                  </a:ext>
                </a:extLst>
              </p:cNvPr>
              <p:cNvSpPr txBox="1"/>
              <p:nvPr/>
            </p:nvSpPr>
            <p:spPr>
              <a:xfrm>
                <a:off x="688874" y="2002704"/>
                <a:ext cx="2334158" cy="1839873"/>
              </a:xfrm>
              <a:prstGeom prst="rect">
                <a:avLst/>
              </a:prstGeom>
              <a:noFill/>
              <a:ln>
                <a:noFill/>
              </a:ln>
            </p:spPr>
            <p:txBody>
              <a:bodyPr spcFirstLastPara="1" wrap="square" lIns="91425" tIns="91425" rIns="91425" bIns="91425" anchor="t" anchorCtr="0">
                <a:noAutofit/>
              </a:bodyPr>
              <a:lstStyle/>
              <a:p>
                <a:pPr marL="285750" indent="-285750">
                  <a:buFontTx/>
                  <a:buChar char="→"/>
                </a:pPr>
                <a:r>
                  <a:rPr lang="en-US" sz="1600" dirty="0">
                    <a:latin typeface="+mj-lt"/>
                    <a:ea typeface="Source Sans Pro" panose="020B0503030403020204" pitchFamily="34" charset="0"/>
                  </a:rPr>
                  <a:t>PEMFCs’ complex </a:t>
                </a:r>
                <a:r>
                  <a:rPr lang="en-US" sz="1600" dirty="0" err="1">
                    <a:latin typeface="+mj-lt"/>
                    <a:ea typeface="Source Sans Pro" panose="020B0503030403020204" pitchFamily="34" charset="0"/>
                  </a:rPr>
                  <a:t>behaviour</a:t>
                </a:r>
                <a:r>
                  <a:rPr lang="en-US" sz="1600" dirty="0">
                    <a:latin typeface="+mj-lt"/>
                    <a:ea typeface="Source Sans Pro" panose="020B0503030403020204" pitchFamily="34" charset="0"/>
                  </a:rPr>
                  <a:t> is only partially understood</a:t>
                </a:r>
              </a:p>
              <a:p>
                <a:pPr marL="285750" indent="-285750">
                  <a:buFontTx/>
                  <a:buChar char="→"/>
                </a:pPr>
                <a:r>
                  <a:rPr lang="en-US" sz="1600" dirty="0">
                    <a:latin typeface="+mj-lt"/>
                    <a:ea typeface="Source Sans Pro" panose="020B0503030403020204" pitchFamily="34" charset="0"/>
                  </a:rPr>
                  <a:t>Modeled using </a:t>
                </a:r>
                <a:r>
                  <a:rPr lang="en-US" sz="1600" b="1" dirty="0">
                    <a:solidFill>
                      <a:srgbClr val="B278E6"/>
                    </a:solidFill>
                    <a:latin typeface="+mj-lt"/>
                    <a:ea typeface="Source Sans Pro" panose="020B0503030403020204" pitchFamily="34" charset="0"/>
                  </a:rPr>
                  <a:t>accurate but expensive</a:t>
                </a:r>
                <a:r>
                  <a:rPr lang="en-US" sz="1600" dirty="0">
                    <a:solidFill>
                      <a:srgbClr val="B278E6"/>
                    </a:solidFill>
                    <a:latin typeface="+mj-lt"/>
                    <a:ea typeface="Source Sans Pro" panose="020B0503030403020204" pitchFamily="34" charset="0"/>
                  </a:rPr>
                  <a:t> </a:t>
                </a:r>
                <a:r>
                  <a:rPr lang="en-US" sz="1600" dirty="0">
                    <a:latin typeface="+mj-lt"/>
                    <a:ea typeface="Source Sans Pro" panose="020B0503030403020204" pitchFamily="34" charset="0"/>
                  </a:rPr>
                  <a:t>physics-based simulators (e.g. </a:t>
                </a:r>
                <a:r>
                  <a:rPr lang="en-US" sz="1600" dirty="0" err="1">
                    <a:latin typeface="+mj-lt"/>
                    <a:ea typeface="Source Sans Pro" panose="020B0503030403020204" pitchFamily="34" charset="0"/>
                  </a:rPr>
                  <a:t>AlphaPEM</a:t>
                </a:r>
                <a:r>
                  <a:rPr lang="en-US" sz="1600" dirty="0">
                    <a:latin typeface="+mj-lt"/>
                    <a:ea typeface="Source Sans Pro" panose="020B0503030403020204" pitchFamily="34" charset="0"/>
                  </a:rPr>
                  <a:t>)</a:t>
                </a:r>
              </a:p>
              <a:p>
                <a:pPr marL="285750" indent="-285750">
                  <a:buFontTx/>
                  <a:buChar char="→"/>
                </a:pPr>
                <a:r>
                  <a:rPr lang="en-US" sz="1600" dirty="0">
                    <a:latin typeface="+mj-lt"/>
                    <a:ea typeface="Source Sans Pro" panose="020B0503030403020204" pitchFamily="34" charset="0"/>
                  </a:rPr>
                  <a:t>Models have </a:t>
                </a:r>
                <a:r>
                  <a:rPr lang="en-US" sz="1600" b="1" dirty="0">
                    <a:solidFill>
                      <a:srgbClr val="B278E6"/>
                    </a:solidFill>
                    <a:latin typeface="+mj-lt"/>
                    <a:ea typeface="Source Sans Pro" panose="020B0503030403020204" pitchFamily="34" charset="0"/>
                  </a:rPr>
                  <a:t>no closed form</a:t>
                </a:r>
                <a:r>
                  <a:rPr lang="en-US" sz="1600" dirty="0">
                    <a:latin typeface="+mj-lt"/>
                    <a:ea typeface="Source Sans Pro" panose="020B0503030403020204" pitchFamily="34" charset="0"/>
                  </a:rPr>
                  <a:t>: they rely on solving  complex DAEs</a:t>
                </a:r>
              </a:p>
            </p:txBody>
          </p:sp>
        </p:grpSp>
      </p:grpSp>
      <p:sp>
        <p:nvSpPr>
          <p:cNvPr id="26" name="CuadroTexto 25">
            <a:extLst>
              <a:ext uri="{FF2B5EF4-FFF2-40B4-BE49-F238E27FC236}">
                <a16:creationId xmlns:a16="http://schemas.microsoft.com/office/drawing/2014/main" id="{758AEC0B-6460-C449-F9D2-69E67FCF4229}"/>
              </a:ext>
            </a:extLst>
          </p:cNvPr>
          <p:cNvSpPr txBox="1"/>
          <p:nvPr/>
        </p:nvSpPr>
        <p:spPr>
          <a:xfrm>
            <a:off x="838200" y="4828137"/>
            <a:ext cx="7450584" cy="1815882"/>
          </a:xfrm>
          <a:prstGeom prst="rect">
            <a:avLst/>
          </a:prstGeom>
          <a:noFill/>
        </p:spPr>
        <p:txBody>
          <a:bodyPr wrap="square">
            <a:spAutoFit/>
          </a:bodyPr>
          <a:lstStyle/>
          <a:p>
            <a:r>
              <a:rPr lang="en-US" sz="1600" b="1" dirty="0">
                <a:latin typeface="+mj-lt"/>
                <a:ea typeface="Source Sans Pro" panose="020B0503030403020204" pitchFamily="34" charset="0"/>
              </a:rPr>
              <a:t>Goal of project partners</a:t>
            </a:r>
          </a:p>
          <a:p>
            <a:r>
              <a:rPr lang="en-US" sz="1600" dirty="0">
                <a:latin typeface="+mj-lt"/>
                <a:ea typeface="Source Sans Pro" panose="020B0503030403020204" pitchFamily="34" charset="0"/>
              </a:rPr>
              <a:t>Perform </a:t>
            </a:r>
            <a:r>
              <a:rPr lang="en-US" sz="1600" i="1" dirty="0">
                <a:latin typeface="+mj-lt"/>
                <a:ea typeface="Source Sans Pro" panose="020B0503030403020204" pitchFamily="34" charset="0"/>
              </a:rPr>
              <a:t>model calibration </a:t>
            </a:r>
            <a:r>
              <a:rPr lang="en-US" sz="1600" dirty="0">
                <a:latin typeface="+mj-lt"/>
                <a:ea typeface="Source Sans Pro" panose="020B0503030403020204" pitchFamily="34" charset="0"/>
              </a:rPr>
              <a:t>using Fisher Information Matrix-based Optimal Experimental Design (FIM-OED)</a:t>
            </a:r>
          </a:p>
          <a:p>
            <a:endParaRPr lang="en-US" sz="1600" dirty="0">
              <a:latin typeface="+mj-lt"/>
              <a:ea typeface="Source Sans Pro" panose="020B0503030403020204" pitchFamily="34" charset="0"/>
            </a:endParaRPr>
          </a:p>
          <a:p>
            <a:r>
              <a:rPr lang="en-US" sz="1600" dirty="0">
                <a:latin typeface="+mj-lt"/>
                <a:ea typeface="Source Sans Pro" panose="020B0503030403020204" pitchFamily="34" charset="0"/>
              </a:rPr>
              <a:t>They need an analytically </a:t>
            </a:r>
            <a:r>
              <a:rPr lang="en-US" sz="1600" b="1" i="1" dirty="0">
                <a:solidFill>
                  <a:srgbClr val="008B2E"/>
                </a:solidFill>
                <a:latin typeface="+mj-lt"/>
                <a:ea typeface="Source Sans Pro" panose="020B0503030403020204" pitchFamily="34" charset="0"/>
              </a:rPr>
              <a:t>closed-form surrogate model </a:t>
            </a:r>
            <a:r>
              <a:rPr lang="en-US" sz="1600" dirty="0">
                <a:latin typeface="+mj-lt"/>
                <a:ea typeface="Source Sans Pro" panose="020B0503030403020204" pitchFamily="34" charset="0"/>
              </a:rPr>
              <a:t>that</a:t>
            </a:r>
          </a:p>
          <a:p>
            <a:pPr marL="742950" lvl="1" indent="-285750">
              <a:buFontTx/>
              <a:buChar char="→"/>
            </a:pPr>
            <a:r>
              <a:rPr lang="en-US" sz="1600" dirty="0">
                <a:latin typeface="+mj-lt"/>
                <a:ea typeface="Source Sans Pro" panose="020B0503030403020204" pitchFamily="34" charset="0"/>
              </a:rPr>
              <a:t>allows </a:t>
            </a:r>
            <a:r>
              <a:rPr lang="en-US" sz="1600" dirty="0">
                <a:solidFill>
                  <a:srgbClr val="6350F2"/>
                </a:solidFill>
                <a:latin typeface="+mj-lt"/>
                <a:ea typeface="Source Sans Pro" panose="020B0503030403020204" pitchFamily="34" charset="0"/>
              </a:rPr>
              <a:t>faster simulations</a:t>
            </a:r>
          </a:p>
          <a:p>
            <a:pPr marL="742950" lvl="1" indent="-285750">
              <a:buFontTx/>
              <a:buChar char="→"/>
            </a:pPr>
            <a:r>
              <a:rPr lang="en-US" sz="1600" dirty="0">
                <a:latin typeface="+mj-lt"/>
                <a:ea typeface="Source Sans Pro" panose="020B0503030403020204" pitchFamily="34" charset="0"/>
              </a:rPr>
              <a:t>enables exact </a:t>
            </a:r>
            <a:r>
              <a:rPr lang="en-US" sz="1600" dirty="0">
                <a:solidFill>
                  <a:srgbClr val="6350F2"/>
                </a:solidFill>
                <a:latin typeface="+mj-lt"/>
                <a:ea typeface="Source Sans Pro" panose="020B0503030403020204" pitchFamily="34" charset="0"/>
              </a:rPr>
              <a:t>partial derivative </a:t>
            </a:r>
            <a:r>
              <a:rPr lang="en-US" sz="1600" dirty="0">
                <a:latin typeface="+mj-lt"/>
                <a:ea typeface="Source Sans Pro" panose="020B0503030403020204" pitchFamily="34" charset="0"/>
              </a:rPr>
              <a:t>computation</a:t>
            </a:r>
          </a:p>
        </p:txBody>
      </p:sp>
      <p:grpSp>
        <p:nvGrpSpPr>
          <p:cNvPr id="3" name="Grupo 2">
            <a:extLst>
              <a:ext uri="{FF2B5EF4-FFF2-40B4-BE49-F238E27FC236}">
                <a16:creationId xmlns:a16="http://schemas.microsoft.com/office/drawing/2014/main" id="{F91F167D-889E-3DF4-EC02-379965312BD4}"/>
              </a:ext>
            </a:extLst>
          </p:cNvPr>
          <p:cNvGrpSpPr/>
          <p:nvPr/>
        </p:nvGrpSpPr>
        <p:grpSpPr>
          <a:xfrm>
            <a:off x="700193" y="1693997"/>
            <a:ext cx="3789996" cy="2912060"/>
            <a:chOff x="838200" y="1963496"/>
            <a:chExt cx="4749801" cy="2644521"/>
          </a:xfrm>
        </p:grpSpPr>
        <p:sp>
          <p:nvSpPr>
            <p:cNvPr id="14" name="Google Shape;1857;p37">
              <a:extLst>
                <a:ext uri="{FF2B5EF4-FFF2-40B4-BE49-F238E27FC236}">
                  <a16:creationId xmlns:a16="http://schemas.microsoft.com/office/drawing/2014/main" id="{A159F90A-E235-D4C6-CCDD-00B0561A4084}"/>
                </a:ext>
              </a:extLst>
            </p:cNvPr>
            <p:cNvSpPr/>
            <p:nvPr/>
          </p:nvSpPr>
          <p:spPr>
            <a:xfrm>
              <a:off x="838200" y="2232971"/>
              <a:ext cx="4749800" cy="2353543"/>
            </a:xfrm>
            <a:prstGeom prst="rect">
              <a:avLst/>
            </a:prstGeom>
            <a:solidFill>
              <a:srgbClr val="FFB903">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15" name="Google Shape;1859;p37">
              <a:extLst>
                <a:ext uri="{FF2B5EF4-FFF2-40B4-BE49-F238E27FC236}">
                  <a16:creationId xmlns:a16="http://schemas.microsoft.com/office/drawing/2014/main" id="{F7C5E4EB-55F7-7DC8-02F6-430633EBABB6}"/>
                </a:ext>
              </a:extLst>
            </p:cNvPr>
            <p:cNvSpPr/>
            <p:nvPr/>
          </p:nvSpPr>
          <p:spPr>
            <a:xfrm>
              <a:off x="838200" y="1963496"/>
              <a:ext cx="4749800" cy="558476"/>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16" name="Google Shape;1862;p37">
              <a:extLst>
                <a:ext uri="{FF2B5EF4-FFF2-40B4-BE49-F238E27FC236}">
                  <a16:creationId xmlns:a16="http://schemas.microsoft.com/office/drawing/2014/main" id="{DC3D0957-B68D-DCEE-0E6F-C51D6981D35D}"/>
                </a:ext>
              </a:extLst>
            </p:cNvPr>
            <p:cNvGrpSpPr/>
            <p:nvPr/>
          </p:nvGrpSpPr>
          <p:grpSpPr>
            <a:xfrm>
              <a:off x="1052316" y="2077873"/>
              <a:ext cx="4535685" cy="2530144"/>
              <a:chOff x="688875" y="1376475"/>
              <a:chExt cx="2427369" cy="2546084"/>
            </a:xfrm>
          </p:grpSpPr>
          <p:sp>
            <p:nvSpPr>
              <p:cNvPr id="18" name="Google Shape;1863;p37">
                <a:extLst>
                  <a:ext uri="{FF2B5EF4-FFF2-40B4-BE49-F238E27FC236}">
                    <a16:creationId xmlns:a16="http://schemas.microsoft.com/office/drawing/2014/main" id="{8D3D1563-D467-A17E-C389-A1AB2ADA98DA}"/>
                  </a:ext>
                </a:extLst>
              </p:cNvPr>
              <p:cNvSpPr txBox="1"/>
              <p:nvPr/>
            </p:nvSpPr>
            <p:spPr>
              <a:xfrm>
                <a:off x="782632" y="1376475"/>
                <a:ext cx="2240400" cy="33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b="1" dirty="0" err="1">
                    <a:solidFill>
                      <a:schemeClr val="lt1"/>
                    </a:solidFill>
                    <a:latin typeface="+mj-lt"/>
                    <a:ea typeface="Source Sans Pro" panose="020B0503030403020204" pitchFamily="34" charset="0"/>
                    <a:cs typeface="Fira Sans Extra Condensed"/>
                    <a:sym typeface="Fira Sans Extra Condensed"/>
                  </a:rPr>
                  <a:t>What</a:t>
                </a:r>
                <a:r>
                  <a:rPr lang="es-MX" b="1" dirty="0">
                    <a:solidFill>
                      <a:schemeClr val="lt1"/>
                    </a:solidFill>
                    <a:latin typeface="+mj-lt"/>
                    <a:ea typeface="Source Sans Pro" panose="020B0503030403020204" pitchFamily="34" charset="0"/>
                    <a:cs typeface="Fira Sans Extra Condensed"/>
                    <a:sym typeface="Fira Sans Extra Condensed"/>
                  </a:rPr>
                  <a:t> are PEM Fuel </a:t>
                </a:r>
                <a:r>
                  <a:rPr lang="es-MX" b="1" dirty="0" err="1">
                    <a:solidFill>
                      <a:schemeClr val="lt1"/>
                    </a:solidFill>
                    <a:latin typeface="+mj-lt"/>
                    <a:ea typeface="Source Sans Pro" panose="020B0503030403020204" pitchFamily="34" charset="0"/>
                    <a:cs typeface="Fira Sans Extra Condensed"/>
                    <a:sym typeface="Fira Sans Extra Condensed"/>
                  </a:rPr>
                  <a:t>Cells</a:t>
                </a:r>
                <a:r>
                  <a:rPr lang="es-MX" b="1" dirty="0">
                    <a:solidFill>
                      <a:schemeClr val="lt1"/>
                    </a:solidFill>
                    <a:latin typeface="+mj-lt"/>
                    <a:ea typeface="Source Sans Pro" panose="020B0503030403020204" pitchFamily="34" charset="0"/>
                    <a:cs typeface="Fira Sans Extra Condensed"/>
                    <a:sym typeface="Fira Sans Extra Condensed"/>
                  </a:rPr>
                  <a:t>?</a:t>
                </a:r>
                <a:endParaRPr b="1" dirty="0">
                  <a:solidFill>
                    <a:schemeClr val="lt1"/>
                  </a:solidFill>
                  <a:latin typeface="+mj-lt"/>
                  <a:ea typeface="Source Sans Pro" panose="020B0503030403020204" pitchFamily="34" charset="0"/>
                  <a:cs typeface="Fira Sans Extra Condensed"/>
                  <a:sym typeface="Fira Sans Extra Condensed"/>
                </a:endParaRPr>
              </a:p>
            </p:txBody>
          </p:sp>
          <p:sp>
            <p:nvSpPr>
              <p:cNvPr id="21" name="Google Shape;1866;p37">
                <a:extLst>
                  <a:ext uri="{FF2B5EF4-FFF2-40B4-BE49-F238E27FC236}">
                    <a16:creationId xmlns:a16="http://schemas.microsoft.com/office/drawing/2014/main" id="{0E5EBD9F-92E5-3CB3-822F-5DCEED619178}"/>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23" name="Google Shape;1869;p37">
                <a:extLst>
                  <a:ext uri="{FF2B5EF4-FFF2-40B4-BE49-F238E27FC236}">
                    <a16:creationId xmlns:a16="http://schemas.microsoft.com/office/drawing/2014/main" id="{DC51810C-C2F8-0CD4-6FE3-C3001457CBCF}"/>
                  </a:ext>
                </a:extLst>
              </p:cNvPr>
              <p:cNvSpPr txBox="1"/>
              <p:nvPr/>
            </p:nvSpPr>
            <p:spPr>
              <a:xfrm>
                <a:off x="688875" y="1938931"/>
                <a:ext cx="2427369" cy="1983628"/>
              </a:xfrm>
              <a:prstGeom prst="rect">
                <a:avLst/>
              </a:prstGeom>
              <a:noFill/>
              <a:ln>
                <a:noFill/>
              </a:ln>
            </p:spPr>
            <p:txBody>
              <a:bodyPr spcFirstLastPara="1" wrap="square" lIns="91425" tIns="91425" rIns="91425" bIns="91425" anchor="t" anchorCtr="0">
                <a:noAutofit/>
              </a:bodyPr>
              <a:lstStyle/>
              <a:p>
                <a:pPr marL="2540" lvl="0" algn="l" rtl="0">
                  <a:spcBef>
                    <a:spcPts val="0"/>
                  </a:spcBef>
                  <a:spcAft>
                    <a:spcPts val="0"/>
                  </a:spcAft>
                  <a:buSzPts val="1400"/>
                </a:pPr>
                <a:r>
                  <a:rPr lang="en-US" sz="1600" dirty="0">
                    <a:latin typeface="+mj-lt"/>
                    <a:ea typeface="Source Sans Pro" panose="020B0503030403020204" pitchFamily="34" charset="0"/>
                    <a:cs typeface="Roboto"/>
                    <a:sym typeface="Roboto"/>
                  </a:rPr>
                  <a:t>Proton Exchange Membrane (PEM) fuel cells (FC) </a:t>
                </a:r>
                <a:r>
                  <a:rPr lang="en-US" sz="1600" b="1" dirty="0">
                    <a:solidFill>
                      <a:srgbClr val="008B2E"/>
                    </a:solidFill>
                    <a:latin typeface="+mj-lt"/>
                    <a:ea typeface="Source Sans Pro" panose="020B0503030403020204" pitchFamily="34" charset="0"/>
                    <a:cs typeface="Roboto"/>
                    <a:sym typeface="Roboto"/>
                  </a:rPr>
                  <a:t>convert hydrogen and oxygen into electricity</a:t>
                </a:r>
                <a:r>
                  <a:rPr lang="en-US" sz="1600" dirty="0">
                    <a:latin typeface="+mj-lt"/>
                    <a:ea typeface="Source Sans Pro" panose="020B0503030403020204" pitchFamily="34" charset="0"/>
                    <a:cs typeface="Roboto"/>
                    <a:sym typeface="Roboto"/>
                  </a:rPr>
                  <a:t>, emitting only water as subproduct. </a:t>
                </a:r>
              </a:p>
              <a:p>
                <a:pPr marL="2540" lvl="0" algn="l" rtl="0">
                  <a:spcBef>
                    <a:spcPts val="0"/>
                  </a:spcBef>
                  <a:spcAft>
                    <a:spcPts val="0"/>
                  </a:spcAft>
                  <a:buSzPts val="1400"/>
                </a:pPr>
                <a:endParaRPr lang="en-US" sz="800" dirty="0">
                  <a:latin typeface="+mj-lt"/>
                  <a:ea typeface="Source Sans Pro" panose="020B0503030403020204" pitchFamily="34" charset="0"/>
                  <a:cs typeface="Roboto"/>
                  <a:sym typeface="Roboto"/>
                </a:endParaRPr>
              </a:p>
              <a:p>
                <a:pPr marL="288290" lvl="0" indent="-285750">
                  <a:buSzPts val="1400"/>
                  <a:buFont typeface="Arial" panose="020B0604020202020204" pitchFamily="34" charset="0"/>
                  <a:buChar char="•"/>
                </a:pPr>
                <a:r>
                  <a:rPr lang="en-US" sz="1600" dirty="0">
                    <a:latin typeface="+mj-lt"/>
                    <a:ea typeface="Source Sans Pro" panose="020B0503030403020204" pitchFamily="34" charset="0"/>
                  </a:rPr>
                  <a:t>Used in automotive and backup power systems</a:t>
                </a:r>
              </a:p>
              <a:p>
                <a:pPr marL="288290" lvl="0" indent="-285750">
                  <a:buSzPts val="1400"/>
                  <a:buFont typeface="Arial" panose="020B0604020202020204" pitchFamily="34" charset="0"/>
                  <a:buChar char="•"/>
                </a:pPr>
                <a:r>
                  <a:rPr lang="en-US" sz="1600" dirty="0">
                    <a:latin typeface="+mj-lt"/>
                    <a:ea typeface="Source Sans Pro" panose="020B0503030403020204" pitchFamily="34" charset="0"/>
                  </a:rPr>
                  <a:t>Promising for a clean energy future!</a:t>
                </a:r>
              </a:p>
            </p:txBody>
          </p:sp>
        </p:grpSp>
      </p:grpSp>
    </p:spTree>
    <p:extLst>
      <p:ext uri="{BB962C8B-B14F-4D97-AF65-F5344CB8AC3E}">
        <p14:creationId xmlns:p14="http://schemas.microsoft.com/office/powerpoint/2010/main" val="3730791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81801-2015-DDD0-EC44-D9D8FB899A1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BA2C680A-D8B8-48C5-75C3-E5A1AB62229A}"/>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5</a:t>
            </a:fld>
            <a:endParaRPr lang="es-ES_tradnl" sz="1600" b="1" dirty="0">
              <a:solidFill>
                <a:schemeClr val="bg1"/>
              </a:solidFill>
            </a:endParaRPr>
          </a:p>
        </p:txBody>
      </p:sp>
      <p:sp>
        <p:nvSpPr>
          <p:cNvPr id="6" name="CuadroTexto 5">
            <a:extLst>
              <a:ext uri="{FF2B5EF4-FFF2-40B4-BE49-F238E27FC236}">
                <a16:creationId xmlns:a16="http://schemas.microsoft.com/office/drawing/2014/main" id="{664112EB-DBA4-5D97-0690-46FE8E5DB196}"/>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5B291E88-3099-B533-9597-74B0DDCB74A9}"/>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grpSp>
        <p:nvGrpSpPr>
          <p:cNvPr id="1084" name="Google Shape;2338;p45">
            <a:extLst>
              <a:ext uri="{FF2B5EF4-FFF2-40B4-BE49-F238E27FC236}">
                <a16:creationId xmlns:a16="http://schemas.microsoft.com/office/drawing/2014/main" id="{06590317-6325-2F41-FFD7-E699E5645267}"/>
              </a:ext>
            </a:extLst>
          </p:cNvPr>
          <p:cNvGrpSpPr/>
          <p:nvPr/>
        </p:nvGrpSpPr>
        <p:grpSpPr>
          <a:xfrm>
            <a:off x="4727673" y="3041774"/>
            <a:ext cx="3010731" cy="2732554"/>
            <a:chOff x="3124753" y="2097067"/>
            <a:chExt cx="2904005" cy="2684408"/>
          </a:xfrm>
        </p:grpSpPr>
        <p:sp>
          <p:nvSpPr>
            <p:cNvPr id="1085" name="Google Shape;2339;p45">
              <a:extLst>
                <a:ext uri="{FF2B5EF4-FFF2-40B4-BE49-F238E27FC236}">
                  <a16:creationId xmlns:a16="http://schemas.microsoft.com/office/drawing/2014/main" id="{9022AE80-D9AC-69F2-95D7-21559367D0DA}"/>
                </a:ext>
              </a:extLst>
            </p:cNvPr>
            <p:cNvSpPr/>
            <p:nvPr/>
          </p:nvSpPr>
          <p:spPr>
            <a:xfrm>
              <a:off x="3938625" y="4524375"/>
              <a:ext cx="1247700" cy="257100"/>
            </a:xfrm>
            <a:prstGeom prst="ellipse">
              <a:avLst/>
            </a:prstGeom>
            <a:solidFill>
              <a:srgbClr val="666666">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6" name="Google Shape;2340;p45">
              <a:extLst>
                <a:ext uri="{FF2B5EF4-FFF2-40B4-BE49-F238E27FC236}">
                  <a16:creationId xmlns:a16="http://schemas.microsoft.com/office/drawing/2014/main" id="{7669C89A-D367-49D8-EDDB-85A45017FA9F}"/>
                </a:ext>
              </a:extLst>
            </p:cNvPr>
            <p:cNvGrpSpPr/>
            <p:nvPr/>
          </p:nvGrpSpPr>
          <p:grpSpPr>
            <a:xfrm>
              <a:off x="3124761" y="2266506"/>
              <a:ext cx="1173544" cy="1038290"/>
              <a:chOff x="3039603" y="2097081"/>
              <a:chExt cx="1372888" cy="1214659"/>
            </a:xfrm>
          </p:grpSpPr>
          <p:sp>
            <p:nvSpPr>
              <p:cNvPr id="1146" name="Google Shape;2341;p45">
                <a:extLst>
                  <a:ext uri="{FF2B5EF4-FFF2-40B4-BE49-F238E27FC236}">
                    <a16:creationId xmlns:a16="http://schemas.microsoft.com/office/drawing/2014/main" id="{E06F6C9D-DEAC-BB16-A3CD-17678564C775}"/>
                  </a:ext>
                </a:extLst>
              </p:cNvPr>
              <p:cNvSpPr/>
              <p:nvPr/>
            </p:nvSpPr>
            <p:spPr>
              <a:xfrm>
                <a:off x="3039603" y="2097081"/>
                <a:ext cx="1372888" cy="1214659"/>
              </a:xfrm>
              <a:custGeom>
                <a:avLst/>
                <a:gdLst/>
                <a:ahLst/>
                <a:cxnLst/>
                <a:rect l="l" t="t" r="r" b="b"/>
                <a:pathLst>
                  <a:path w="76484" h="67669" extrusionOk="0">
                    <a:moveTo>
                      <a:pt x="0" y="1"/>
                    </a:moveTo>
                    <a:lnTo>
                      <a:pt x="0" y="67668"/>
                    </a:lnTo>
                    <a:lnTo>
                      <a:pt x="76484" y="67668"/>
                    </a:lnTo>
                    <a:lnTo>
                      <a:pt x="76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2342;p45">
                <a:extLst>
                  <a:ext uri="{FF2B5EF4-FFF2-40B4-BE49-F238E27FC236}">
                    <a16:creationId xmlns:a16="http://schemas.microsoft.com/office/drawing/2014/main" id="{8D16DFE5-B7A8-C467-CB8E-4052A2C8A167}"/>
                  </a:ext>
                </a:extLst>
              </p:cNvPr>
              <p:cNvSpPr/>
              <p:nvPr/>
            </p:nvSpPr>
            <p:spPr>
              <a:xfrm>
                <a:off x="3527987" y="2179974"/>
                <a:ext cx="797142" cy="317212"/>
              </a:xfrm>
              <a:custGeom>
                <a:avLst/>
                <a:gdLst/>
                <a:ahLst/>
                <a:cxnLst/>
                <a:rect l="l" t="t" r="r" b="b"/>
                <a:pathLst>
                  <a:path w="44409" h="17672" extrusionOk="0">
                    <a:moveTo>
                      <a:pt x="565" y="0"/>
                    </a:moveTo>
                    <a:lnTo>
                      <a:pt x="447" y="14"/>
                    </a:lnTo>
                    <a:lnTo>
                      <a:pt x="342" y="53"/>
                    </a:lnTo>
                    <a:lnTo>
                      <a:pt x="250" y="105"/>
                    </a:lnTo>
                    <a:lnTo>
                      <a:pt x="171" y="171"/>
                    </a:lnTo>
                    <a:lnTo>
                      <a:pt x="106" y="250"/>
                    </a:lnTo>
                    <a:lnTo>
                      <a:pt x="53" y="342"/>
                    </a:lnTo>
                    <a:lnTo>
                      <a:pt x="14" y="447"/>
                    </a:lnTo>
                    <a:lnTo>
                      <a:pt x="1" y="565"/>
                    </a:lnTo>
                    <a:lnTo>
                      <a:pt x="1" y="17121"/>
                    </a:lnTo>
                    <a:lnTo>
                      <a:pt x="14" y="17226"/>
                    </a:lnTo>
                    <a:lnTo>
                      <a:pt x="53" y="17331"/>
                    </a:lnTo>
                    <a:lnTo>
                      <a:pt x="106" y="17423"/>
                    </a:lnTo>
                    <a:lnTo>
                      <a:pt x="171" y="17514"/>
                    </a:lnTo>
                    <a:lnTo>
                      <a:pt x="250" y="17580"/>
                    </a:lnTo>
                    <a:lnTo>
                      <a:pt x="342" y="17632"/>
                    </a:lnTo>
                    <a:lnTo>
                      <a:pt x="447" y="17659"/>
                    </a:lnTo>
                    <a:lnTo>
                      <a:pt x="565" y="17672"/>
                    </a:lnTo>
                    <a:lnTo>
                      <a:pt x="43844" y="17672"/>
                    </a:lnTo>
                    <a:lnTo>
                      <a:pt x="43962" y="17659"/>
                    </a:lnTo>
                    <a:lnTo>
                      <a:pt x="44067" y="17632"/>
                    </a:lnTo>
                    <a:lnTo>
                      <a:pt x="44159" y="17580"/>
                    </a:lnTo>
                    <a:lnTo>
                      <a:pt x="44238" y="17514"/>
                    </a:lnTo>
                    <a:lnTo>
                      <a:pt x="44317" y="17423"/>
                    </a:lnTo>
                    <a:lnTo>
                      <a:pt x="44356" y="17331"/>
                    </a:lnTo>
                    <a:lnTo>
                      <a:pt x="44395" y="17226"/>
                    </a:lnTo>
                    <a:lnTo>
                      <a:pt x="44408" y="17121"/>
                    </a:lnTo>
                    <a:lnTo>
                      <a:pt x="44408" y="565"/>
                    </a:lnTo>
                    <a:lnTo>
                      <a:pt x="44395" y="447"/>
                    </a:lnTo>
                    <a:lnTo>
                      <a:pt x="44356" y="342"/>
                    </a:lnTo>
                    <a:lnTo>
                      <a:pt x="44317" y="250"/>
                    </a:lnTo>
                    <a:lnTo>
                      <a:pt x="44238" y="171"/>
                    </a:lnTo>
                    <a:lnTo>
                      <a:pt x="44159" y="105"/>
                    </a:lnTo>
                    <a:lnTo>
                      <a:pt x="44067" y="53"/>
                    </a:lnTo>
                    <a:lnTo>
                      <a:pt x="43962" y="14"/>
                    </a:lnTo>
                    <a:lnTo>
                      <a:pt x="43844" y="0"/>
                    </a:ln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2343;p45">
                <a:extLst>
                  <a:ext uri="{FF2B5EF4-FFF2-40B4-BE49-F238E27FC236}">
                    <a16:creationId xmlns:a16="http://schemas.microsoft.com/office/drawing/2014/main" id="{17B3B161-9671-2ACD-63AA-FAF1625F649D}"/>
                  </a:ext>
                </a:extLst>
              </p:cNvPr>
              <p:cNvSpPr/>
              <p:nvPr/>
            </p:nvSpPr>
            <p:spPr>
              <a:xfrm>
                <a:off x="3557425" y="2204943"/>
                <a:ext cx="214538" cy="33441"/>
              </a:xfrm>
              <a:custGeom>
                <a:avLst/>
                <a:gdLst/>
                <a:ahLst/>
                <a:cxnLst/>
                <a:rect l="l" t="t" r="r" b="b"/>
                <a:pathLst>
                  <a:path w="11952" h="1863"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2344;p45">
                <a:extLst>
                  <a:ext uri="{FF2B5EF4-FFF2-40B4-BE49-F238E27FC236}">
                    <a16:creationId xmlns:a16="http://schemas.microsoft.com/office/drawing/2014/main" id="{95C76529-12B3-4911-9AAD-7890182F9D4C}"/>
                  </a:ext>
                </a:extLst>
              </p:cNvPr>
              <p:cNvSpPr/>
              <p:nvPr/>
            </p:nvSpPr>
            <p:spPr>
              <a:xfrm>
                <a:off x="3557425" y="2256746"/>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2345;p45">
                <a:extLst>
                  <a:ext uri="{FF2B5EF4-FFF2-40B4-BE49-F238E27FC236}">
                    <a16:creationId xmlns:a16="http://schemas.microsoft.com/office/drawing/2014/main" id="{CB997637-1AD7-F457-CB40-1F7B242BD0F3}"/>
                  </a:ext>
                </a:extLst>
              </p:cNvPr>
              <p:cNvSpPr/>
              <p:nvPr/>
            </p:nvSpPr>
            <p:spPr>
              <a:xfrm>
                <a:off x="3557425" y="2310435"/>
                <a:ext cx="721303" cy="162035"/>
              </a:xfrm>
              <a:custGeom>
                <a:avLst/>
                <a:gdLst/>
                <a:ahLst/>
                <a:cxnLst/>
                <a:rect l="l" t="t" r="r" b="b"/>
                <a:pathLst>
                  <a:path w="40184" h="9027" extrusionOk="0">
                    <a:moveTo>
                      <a:pt x="1" y="0"/>
                    </a:moveTo>
                    <a:lnTo>
                      <a:pt x="1" y="9026"/>
                    </a:lnTo>
                    <a:lnTo>
                      <a:pt x="40184" y="9026"/>
                    </a:lnTo>
                    <a:lnTo>
                      <a:pt x="40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2346;p45">
                <a:extLst>
                  <a:ext uri="{FF2B5EF4-FFF2-40B4-BE49-F238E27FC236}">
                    <a16:creationId xmlns:a16="http://schemas.microsoft.com/office/drawing/2014/main" id="{2AB345CD-20CB-3094-C389-028E441E18D5}"/>
                  </a:ext>
                </a:extLst>
              </p:cNvPr>
              <p:cNvSpPr/>
              <p:nvPr/>
            </p:nvSpPr>
            <p:spPr>
              <a:xfrm>
                <a:off x="3527987" y="2544270"/>
                <a:ext cx="797142" cy="317212"/>
              </a:xfrm>
              <a:custGeom>
                <a:avLst/>
                <a:gdLst/>
                <a:ahLst/>
                <a:cxnLst/>
                <a:rect l="l" t="t" r="r" b="b"/>
                <a:pathLst>
                  <a:path w="44409" h="17672" extrusionOk="0">
                    <a:moveTo>
                      <a:pt x="565" y="1"/>
                    </a:moveTo>
                    <a:lnTo>
                      <a:pt x="447" y="14"/>
                    </a:lnTo>
                    <a:lnTo>
                      <a:pt x="342" y="40"/>
                    </a:lnTo>
                    <a:lnTo>
                      <a:pt x="250" y="92"/>
                    </a:lnTo>
                    <a:lnTo>
                      <a:pt x="171" y="158"/>
                    </a:lnTo>
                    <a:lnTo>
                      <a:pt x="106" y="250"/>
                    </a:lnTo>
                    <a:lnTo>
                      <a:pt x="53" y="342"/>
                    </a:lnTo>
                    <a:lnTo>
                      <a:pt x="14" y="447"/>
                    </a:lnTo>
                    <a:lnTo>
                      <a:pt x="1" y="552"/>
                    </a:lnTo>
                    <a:lnTo>
                      <a:pt x="1" y="17108"/>
                    </a:lnTo>
                    <a:lnTo>
                      <a:pt x="14" y="17226"/>
                    </a:lnTo>
                    <a:lnTo>
                      <a:pt x="53" y="17331"/>
                    </a:lnTo>
                    <a:lnTo>
                      <a:pt x="106" y="17423"/>
                    </a:lnTo>
                    <a:lnTo>
                      <a:pt x="171" y="17501"/>
                    </a:lnTo>
                    <a:lnTo>
                      <a:pt x="250" y="17580"/>
                    </a:lnTo>
                    <a:lnTo>
                      <a:pt x="342" y="17619"/>
                    </a:lnTo>
                    <a:lnTo>
                      <a:pt x="447" y="17659"/>
                    </a:lnTo>
                    <a:lnTo>
                      <a:pt x="565" y="17672"/>
                    </a:lnTo>
                    <a:lnTo>
                      <a:pt x="43844" y="17672"/>
                    </a:lnTo>
                    <a:lnTo>
                      <a:pt x="43962" y="17659"/>
                    </a:lnTo>
                    <a:lnTo>
                      <a:pt x="44067" y="17619"/>
                    </a:lnTo>
                    <a:lnTo>
                      <a:pt x="44159" y="17580"/>
                    </a:lnTo>
                    <a:lnTo>
                      <a:pt x="44238" y="17501"/>
                    </a:lnTo>
                    <a:lnTo>
                      <a:pt x="44317" y="17423"/>
                    </a:lnTo>
                    <a:lnTo>
                      <a:pt x="44356" y="17331"/>
                    </a:lnTo>
                    <a:lnTo>
                      <a:pt x="44395" y="17226"/>
                    </a:lnTo>
                    <a:lnTo>
                      <a:pt x="44408" y="17108"/>
                    </a:lnTo>
                    <a:lnTo>
                      <a:pt x="44408" y="552"/>
                    </a:lnTo>
                    <a:lnTo>
                      <a:pt x="44395" y="447"/>
                    </a:lnTo>
                    <a:lnTo>
                      <a:pt x="44356" y="342"/>
                    </a:lnTo>
                    <a:lnTo>
                      <a:pt x="44317" y="250"/>
                    </a:lnTo>
                    <a:lnTo>
                      <a:pt x="44238" y="158"/>
                    </a:lnTo>
                    <a:lnTo>
                      <a:pt x="44159" y="92"/>
                    </a:lnTo>
                    <a:lnTo>
                      <a:pt x="44067" y="40"/>
                    </a:lnTo>
                    <a:lnTo>
                      <a:pt x="43962" y="14"/>
                    </a:lnTo>
                    <a:lnTo>
                      <a:pt x="43844" y="1"/>
                    </a:ln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2347;p45">
                <a:extLst>
                  <a:ext uri="{FF2B5EF4-FFF2-40B4-BE49-F238E27FC236}">
                    <a16:creationId xmlns:a16="http://schemas.microsoft.com/office/drawing/2014/main" id="{705683DD-3AAE-0B54-8578-FF9115AE6D2A}"/>
                  </a:ext>
                </a:extLst>
              </p:cNvPr>
              <p:cNvSpPr/>
              <p:nvPr/>
            </p:nvSpPr>
            <p:spPr>
              <a:xfrm>
                <a:off x="3557425" y="2569005"/>
                <a:ext cx="214538" cy="33441"/>
              </a:xfrm>
              <a:custGeom>
                <a:avLst/>
                <a:gdLst/>
                <a:ahLst/>
                <a:cxnLst/>
                <a:rect l="l" t="t" r="r" b="b"/>
                <a:pathLst>
                  <a:path w="11952" h="1863"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2348;p45">
                <a:extLst>
                  <a:ext uri="{FF2B5EF4-FFF2-40B4-BE49-F238E27FC236}">
                    <a16:creationId xmlns:a16="http://schemas.microsoft.com/office/drawing/2014/main" id="{59B91A67-DAD0-69CF-2FD6-BFFC9E4C35E5}"/>
                  </a:ext>
                </a:extLst>
              </p:cNvPr>
              <p:cNvSpPr/>
              <p:nvPr/>
            </p:nvSpPr>
            <p:spPr>
              <a:xfrm>
                <a:off x="3557425" y="2620808"/>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2349;p45">
                <a:extLst>
                  <a:ext uri="{FF2B5EF4-FFF2-40B4-BE49-F238E27FC236}">
                    <a16:creationId xmlns:a16="http://schemas.microsoft.com/office/drawing/2014/main" id="{CF53CBFD-9583-E37B-59A6-1E382FFC66E9}"/>
                  </a:ext>
                </a:extLst>
              </p:cNvPr>
              <p:cNvSpPr/>
              <p:nvPr/>
            </p:nvSpPr>
            <p:spPr>
              <a:xfrm>
                <a:off x="3557425" y="2674730"/>
                <a:ext cx="721303" cy="161801"/>
              </a:xfrm>
              <a:custGeom>
                <a:avLst/>
                <a:gdLst/>
                <a:ahLst/>
                <a:cxnLst/>
                <a:rect l="l" t="t" r="r" b="b"/>
                <a:pathLst>
                  <a:path w="40184" h="9014" extrusionOk="0">
                    <a:moveTo>
                      <a:pt x="1" y="1"/>
                    </a:moveTo>
                    <a:lnTo>
                      <a:pt x="1" y="9013"/>
                    </a:lnTo>
                    <a:lnTo>
                      <a:pt x="40184" y="9013"/>
                    </a:lnTo>
                    <a:lnTo>
                      <a:pt x="401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2350;p45">
                <a:extLst>
                  <a:ext uri="{FF2B5EF4-FFF2-40B4-BE49-F238E27FC236}">
                    <a16:creationId xmlns:a16="http://schemas.microsoft.com/office/drawing/2014/main" id="{C0212461-2AA1-8C59-C401-07DE835FE3B4}"/>
                  </a:ext>
                </a:extLst>
              </p:cNvPr>
              <p:cNvSpPr/>
              <p:nvPr/>
            </p:nvSpPr>
            <p:spPr>
              <a:xfrm>
                <a:off x="3527987" y="2908565"/>
                <a:ext cx="797142" cy="316979"/>
              </a:xfrm>
              <a:custGeom>
                <a:avLst/>
                <a:gdLst/>
                <a:ahLst/>
                <a:cxnLst/>
                <a:rect l="l" t="t" r="r" b="b"/>
                <a:pathLst>
                  <a:path w="44409" h="17659" extrusionOk="0">
                    <a:moveTo>
                      <a:pt x="565" y="1"/>
                    </a:moveTo>
                    <a:lnTo>
                      <a:pt x="447" y="14"/>
                    </a:lnTo>
                    <a:lnTo>
                      <a:pt x="342" y="40"/>
                    </a:lnTo>
                    <a:lnTo>
                      <a:pt x="250" y="93"/>
                    </a:lnTo>
                    <a:lnTo>
                      <a:pt x="171" y="158"/>
                    </a:lnTo>
                    <a:lnTo>
                      <a:pt x="106" y="237"/>
                    </a:lnTo>
                    <a:lnTo>
                      <a:pt x="53" y="342"/>
                    </a:lnTo>
                    <a:lnTo>
                      <a:pt x="14" y="434"/>
                    </a:lnTo>
                    <a:lnTo>
                      <a:pt x="1" y="552"/>
                    </a:lnTo>
                    <a:lnTo>
                      <a:pt x="1" y="17108"/>
                    </a:lnTo>
                    <a:lnTo>
                      <a:pt x="14" y="17226"/>
                    </a:lnTo>
                    <a:lnTo>
                      <a:pt x="53" y="17331"/>
                    </a:lnTo>
                    <a:lnTo>
                      <a:pt x="106" y="17423"/>
                    </a:lnTo>
                    <a:lnTo>
                      <a:pt x="171" y="17501"/>
                    </a:lnTo>
                    <a:lnTo>
                      <a:pt x="250" y="17567"/>
                    </a:lnTo>
                    <a:lnTo>
                      <a:pt x="342" y="17620"/>
                    </a:lnTo>
                    <a:lnTo>
                      <a:pt x="447" y="17659"/>
                    </a:lnTo>
                    <a:lnTo>
                      <a:pt x="43962" y="17659"/>
                    </a:lnTo>
                    <a:lnTo>
                      <a:pt x="44067" y="17620"/>
                    </a:lnTo>
                    <a:lnTo>
                      <a:pt x="44159" y="17567"/>
                    </a:lnTo>
                    <a:lnTo>
                      <a:pt x="44238" y="17501"/>
                    </a:lnTo>
                    <a:lnTo>
                      <a:pt x="44317" y="17423"/>
                    </a:lnTo>
                    <a:lnTo>
                      <a:pt x="44356" y="17331"/>
                    </a:lnTo>
                    <a:lnTo>
                      <a:pt x="44395" y="17226"/>
                    </a:lnTo>
                    <a:lnTo>
                      <a:pt x="44408" y="17108"/>
                    </a:lnTo>
                    <a:lnTo>
                      <a:pt x="44408" y="552"/>
                    </a:lnTo>
                    <a:lnTo>
                      <a:pt x="44395" y="434"/>
                    </a:lnTo>
                    <a:lnTo>
                      <a:pt x="44356" y="342"/>
                    </a:lnTo>
                    <a:lnTo>
                      <a:pt x="44317" y="237"/>
                    </a:lnTo>
                    <a:lnTo>
                      <a:pt x="44238" y="158"/>
                    </a:lnTo>
                    <a:lnTo>
                      <a:pt x="44159" y="93"/>
                    </a:lnTo>
                    <a:lnTo>
                      <a:pt x="44067" y="40"/>
                    </a:lnTo>
                    <a:lnTo>
                      <a:pt x="43962" y="14"/>
                    </a:lnTo>
                    <a:lnTo>
                      <a:pt x="43844" y="1"/>
                    </a:ln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2351;p45">
                <a:extLst>
                  <a:ext uri="{FF2B5EF4-FFF2-40B4-BE49-F238E27FC236}">
                    <a16:creationId xmlns:a16="http://schemas.microsoft.com/office/drawing/2014/main" id="{1F86E7BA-C770-7479-E835-5045CA077FF6}"/>
                  </a:ext>
                </a:extLst>
              </p:cNvPr>
              <p:cNvSpPr/>
              <p:nvPr/>
            </p:nvSpPr>
            <p:spPr>
              <a:xfrm>
                <a:off x="3557425" y="2933300"/>
                <a:ext cx="214538" cy="33459"/>
              </a:xfrm>
              <a:custGeom>
                <a:avLst/>
                <a:gdLst/>
                <a:ahLst/>
                <a:cxnLst/>
                <a:rect l="l" t="t" r="r" b="b"/>
                <a:pathLst>
                  <a:path w="11952" h="1864"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2352;p45">
                <a:extLst>
                  <a:ext uri="{FF2B5EF4-FFF2-40B4-BE49-F238E27FC236}">
                    <a16:creationId xmlns:a16="http://schemas.microsoft.com/office/drawing/2014/main" id="{CEFB4CF4-13E1-A5B9-953E-6BF576A1B7FD}"/>
                  </a:ext>
                </a:extLst>
              </p:cNvPr>
              <p:cNvSpPr/>
              <p:nvPr/>
            </p:nvSpPr>
            <p:spPr>
              <a:xfrm>
                <a:off x="3557425" y="2985104"/>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2353;p45">
                <a:extLst>
                  <a:ext uri="{FF2B5EF4-FFF2-40B4-BE49-F238E27FC236}">
                    <a16:creationId xmlns:a16="http://schemas.microsoft.com/office/drawing/2014/main" id="{C983E73D-BE64-BEDF-FCF3-B37E158C7499}"/>
                  </a:ext>
                </a:extLst>
              </p:cNvPr>
              <p:cNvSpPr/>
              <p:nvPr/>
            </p:nvSpPr>
            <p:spPr>
              <a:xfrm>
                <a:off x="3557425" y="3038792"/>
                <a:ext cx="721303" cy="162035"/>
              </a:xfrm>
              <a:custGeom>
                <a:avLst/>
                <a:gdLst/>
                <a:ahLst/>
                <a:cxnLst/>
                <a:rect l="l" t="t" r="r" b="b"/>
                <a:pathLst>
                  <a:path w="40184" h="9027" extrusionOk="0">
                    <a:moveTo>
                      <a:pt x="1" y="1"/>
                    </a:moveTo>
                    <a:lnTo>
                      <a:pt x="1" y="9026"/>
                    </a:lnTo>
                    <a:lnTo>
                      <a:pt x="40184" y="9026"/>
                    </a:lnTo>
                    <a:lnTo>
                      <a:pt x="401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2354;p45">
                <a:extLst>
                  <a:ext uri="{FF2B5EF4-FFF2-40B4-BE49-F238E27FC236}">
                    <a16:creationId xmlns:a16="http://schemas.microsoft.com/office/drawing/2014/main" id="{F5F9B451-AB24-B124-5D04-0C056CF83EF8}"/>
                  </a:ext>
                </a:extLst>
              </p:cNvPr>
              <p:cNvSpPr/>
              <p:nvPr/>
            </p:nvSpPr>
            <p:spPr>
              <a:xfrm>
                <a:off x="3294386" y="2851825"/>
                <a:ext cx="107395" cy="48285"/>
              </a:xfrm>
              <a:custGeom>
                <a:avLst/>
                <a:gdLst/>
                <a:ahLst/>
                <a:cxnLst/>
                <a:rect l="l" t="t" r="r" b="b"/>
                <a:pathLst>
                  <a:path w="5983" h="2690" extrusionOk="0">
                    <a:moveTo>
                      <a:pt x="1339" y="0"/>
                    </a:moveTo>
                    <a:lnTo>
                      <a:pt x="1208" y="13"/>
                    </a:lnTo>
                    <a:lnTo>
                      <a:pt x="1076" y="26"/>
                    </a:lnTo>
                    <a:lnTo>
                      <a:pt x="945" y="66"/>
                    </a:lnTo>
                    <a:lnTo>
                      <a:pt x="827" y="105"/>
                    </a:lnTo>
                    <a:lnTo>
                      <a:pt x="709" y="157"/>
                    </a:lnTo>
                    <a:lnTo>
                      <a:pt x="591" y="223"/>
                    </a:lnTo>
                    <a:lnTo>
                      <a:pt x="486" y="302"/>
                    </a:lnTo>
                    <a:lnTo>
                      <a:pt x="394" y="394"/>
                    </a:lnTo>
                    <a:lnTo>
                      <a:pt x="302" y="485"/>
                    </a:lnTo>
                    <a:lnTo>
                      <a:pt x="224" y="590"/>
                    </a:lnTo>
                    <a:lnTo>
                      <a:pt x="158" y="708"/>
                    </a:lnTo>
                    <a:lnTo>
                      <a:pt x="106" y="827"/>
                    </a:lnTo>
                    <a:lnTo>
                      <a:pt x="53" y="945"/>
                    </a:lnTo>
                    <a:lnTo>
                      <a:pt x="27" y="1076"/>
                    </a:lnTo>
                    <a:lnTo>
                      <a:pt x="1" y="1207"/>
                    </a:lnTo>
                    <a:lnTo>
                      <a:pt x="1" y="1351"/>
                    </a:lnTo>
                    <a:lnTo>
                      <a:pt x="1" y="1482"/>
                    </a:lnTo>
                    <a:lnTo>
                      <a:pt x="27" y="1614"/>
                    </a:lnTo>
                    <a:lnTo>
                      <a:pt x="53" y="1745"/>
                    </a:lnTo>
                    <a:lnTo>
                      <a:pt x="106" y="1863"/>
                    </a:lnTo>
                    <a:lnTo>
                      <a:pt x="158" y="1981"/>
                    </a:lnTo>
                    <a:lnTo>
                      <a:pt x="224" y="2099"/>
                    </a:lnTo>
                    <a:lnTo>
                      <a:pt x="302" y="2204"/>
                    </a:lnTo>
                    <a:lnTo>
                      <a:pt x="394" y="2296"/>
                    </a:lnTo>
                    <a:lnTo>
                      <a:pt x="486" y="2388"/>
                    </a:lnTo>
                    <a:lnTo>
                      <a:pt x="591" y="2466"/>
                    </a:lnTo>
                    <a:lnTo>
                      <a:pt x="709" y="2532"/>
                    </a:lnTo>
                    <a:lnTo>
                      <a:pt x="827" y="2584"/>
                    </a:lnTo>
                    <a:lnTo>
                      <a:pt x="945" y="2624"/>
                    </a:lnTo>
                    <a:lnTo>
                      <a:pt x="1076" y="2663"/>
                    </a:lnTo>
                    <a:lnTo>
                      <a:pt x="1208" y="2689"/>
                    </a:lnTo>
                    <a:lnTo>
                      <a:pt x="4776" y="2689"/>
                    </a:lnTo>
                    <a:lnTo>
                      <a:pt x="4907" y="2663"/>
                    </a:lnTo>
                    <a:lnTo>
                      <a:pt x="5038" y="2624"/>
                    </a:lnTo>
                    <a:lnTo>
                      <a:pt x="5156" y="2584"/>
                    </a:lnTo>
                    <a:lnTo>
                      <a:pt x="5275" y="2532"/>
                    </a:lnTo>
                    <a:lnTo>
                      <a:pt x="5393" y="2466"/>
                    </a:lnTo>
                    <a:lnTo>
                      <a:pt x="5498" y="2388"/>
                    </a:lnTo>
                    <a:lnTo>
                      <a:pt x="5589" y="2296"/>
                    </a:lnTo>
                    <a:lnTo>
                      <a:pt x="5681" y="2204"/>
                    </a:lnTo>
                    <a:lnTo>
                      <a:pt x="5747" y="2099"/>
                    </a:lnTo>
                    <a:lnTo>
                      <a:pt x="5826" y="1981"/>
                    </a:lnTo>
                    <a:lnTo>
                      <a:pt x="5878" y="1863"/>
                    </a:lnTo>
                    <a:lnTo>
                      <a:pt x="5917" y="1745"/>
                    </a:lnTo>
                    <a:lnTo>
                      <a:pt x="5957" y="1614"/>
                    </a:lnTo>
                    <a:lnTo>
                      <a:pt x="5970" y="1482"/>
                    </a:lnTo>
                    <a:lnTo>
                      <a:pt x="5983" y="1351"/>
                    </a:lnTo>
                    <a:lnTo>
                      <a:pt x="5970" y="1207"/>
                    </a:lnTo>
                    <a:lnTo>
                      <a:pt x="5957" y="1076"/>
                    </a:lnTo>
                    <a:lnTo>
                      <a:pt x="5917" y="945"/>
                    </a:lnTo>
                    <a:lnTo>
                      <a:pt x="5878" y="827"/>
                    </a:lnTo>
                    <a:lnTo>
                      <a:pt x="5826" y="708"/>
                    </a:lnTo>
                    <a:lnTo>
                      <a:pt x="5747" y="590"/>
                    </a:lnTo>
                    <a:lnTo>
                      <a:pt x="5681" y="485"/>
                    </a:lnTo>
                    <a:lnTo>
                      <a:pt x="5589" y="394"/>
                    </a:lnTo>
                    <a:lnTo>
                      <a:pt x="5498" y="302"/>
                    </a:lnTo>
                    <a:lnTo>
                      <a:pt x="5393" y="223"/>
                    </a:lnTo>
                    <a:lnTo>
                      <a:pt x="5275" y="157"/>
                    </a:lnTo>
                    <a:lnTo>
                      <a:pt x="5156" y="105"/>
                    </a:lnTo>
                    <a:lnTo>
                      <a:pt x="5038" y="66"/>
                    </a:lnTo>
                    <a:lnTo>
                      <a:pt x="4907" y="26"/>
                    </a:lnTo>
                    <a:lnTo>
                      <a:pt x="4776" y="13"/>
                    </a:lnTo>
                    <a:lnTo>
                      <a:pt x="463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2355;p45">
                <a:extLst>
                  <a:ext uri="{FF2B5EF4-FFF2-40B4-BE49-F238E27FC236}">
                    <a16:creationId xmlns:a16="http://schemas.microsoft.com/office/drawing/2014/main" id="{ADD36BFB-AB74-2573-6A68-E9697F8F4A73}"/>
                  </a:ext>
                </a:extLst>
              </p:cNvPr>
              <p:cNvSpPr/>
              <p:nvPr/>
            </p:nvSpPr>
            <p:spPr>
              <a:xfrm>
                <a:off x="3300040" y="2857946"/>
                <a:ext cx="36044" cy="36044"/>
              </a:xfrm>
              <a:custGeom>
                <a:avLst/>
                <a:gdLst/>
                <a:ahLst/>
                <a:cxnLst/>
                <a:rect l="l" t="t" r="r" b="b"/>
                <a:pathLst>
                  <a:path w="2008" h="2008" extrusionOk="0">
                    <a:moveTo>
                      <a:pt x="906" y="0"/>
                    </a:moveTo>
                    <a:lnTo>
                      <a:pt x="801" y="13"/>
                    </a:lnTo>
                    <a:lnTo>
                      <a:pt x="709" y="39"/>
                    </a:lnTo>
                    <a:lnTo>
                      <a:pt x="617" y="79"/>
                    </a:lnTo>
                    <a:lnTo>
                      <a:pt x="525" y="118"/>
                    </a:lnTo>
                    <a:lnTo>
                      <a:pt x="447" y="171"/>
                    </a:lnTo>
                    <a:lnTo>
                      <a:pt x="368" y="223"/>
                    </a:lnTo>
                    <a:lnTo>
                      <a:pt x="289" y="289"/>
                    </a:lnTo>
                    <a:lnTo>
                      <a:pt x="224" y="367"/>
                    </a:lnTo>
                    <a:lnTo>
                      <a:pt x="171" y="446"/>
                    </a:lnTo>
                    <a:lnTo>
                      <a:pt x="119" y="525"/>
                    </a:lnTo>
                    <a:lnTo>
                      <a:pt x="79" y="617"/>
                    </a:lnTo>
                    <a:lnTo>
                      <a:pt x="40" y="709"/>
                    </a:lnTo>
                    <a:lnTo>
                      <a:pt x="14" y="800"/>
                    </a:lnTo>
                    <a:lnTo>
                      <a:pt x="1" y="905"/>
                    </a:lnTo>
                    <a:lnTo>
                      <a:pt x="1" y="1010"/>
                    </a:lnTo>
                    <a:lnTo>
                      <a:pt x="1" y="1102"/>
                    </a:lnTo>
                    <a:lnTo>
                      <a:pt x="14" y="1207"/>
                    </a:lnTo>
                    <a:lnTo>
                      <a:pt x="40" y="1299"/>
                    </a:lnTo>
                    <a:lnTo>
                      <a:pt x="79" y="1391"/>
                    </a:lnTo>
                    <a:lnTo>
                      <a:pt x="119" y="1483"/>
                    </a:lnTo>
                    <a:lnTo>
                      <a:pt x="171" y="1561"/>
                    </a:lnTo>
                    <a:lnTo>
                      <a:pt x="224" y="1640"/>
                    </a:lnTo>
                    <a:lnTo>
                      <a:pt x="289" y="1719"/>
                    </a:lnTo>
                    <a:lnTo>
                      <a:pt x="368" y="1784"/>
                    </a:lnTo>
                    <a:lnTo>
                      <a:pt x="447" y="1837"/>
                    </a:lnTo>
                    <a:lnTo>
                      <a:pt x="525" y="1889"/>
                    </a:lnTo>
                    <a:lnTo>
                      <a:pt x="617" y="1929"/>
                    </a:lnTo>
                    <a:lnTo>
                      <a:pt x="709" y="1968"/>
                    </a:lnTo>
                    <a:lnTo>
                      <a:pt x="801" y="1994"/>
                    </a:lnTo>
                    <a:lnTo>
                      <a:pt x="906" y="2007"/>
                    </a:lnTo>
                    <a:lnTo>
                      <a:pt x="1103" y="2007"/>
                    </a:lnTo>
                    <a:lnTo>
                      <a:pt x="1208" y="1994"/>
                    </a:lnTo>
                    <a:lnTo>
                      <a:pt x="1299" y="1968"/>
                    </a:lnTo>
                    <a:lnTo>
                      <a:pt x="1391" y="1929"/>
                    </a:lnTo>
                    <a:lnTo>
                      <a:pt x="1483" y="1889"/>
                    </a:lnTo>
                    <a:lnTo>
                      <a:pt x="1562" y="1837"/>
                    </a:lnTo>
                    <a:lnTo>
                      <a:pt x="1640" y="1784"/>
                    </a:lnTo>
                    <a:lnTo>
                      <a:pt x="1719" y="1719"/>
                    </a:lnTo>
                    <a:lnTo>
                      <a:pt x="1785" y="1640"/>
                    </a:lnTo>
                    <a:lnTo>
                      <a:pt x="1837" y="1561"/>
                    </a:lnTo>
                    <a:lnTo>
                      <a:pt x="1890" y="1483"/>
                    </a:lnTo>
                    <a:lnTo>
                      <a:pt x="1929" y="1391"/>
                    </a:lnTo>
                    <a:lnTo>
                      <a:pt x="1968" y="1299"/>
                    </a:lnTo>
                    <a:lnTo>
                      <a:pt x="1995" y="1207"/>
                    </a:lnTo>
                    <a:lnTo>
                      <a:pt x="2008" y="1102"/>
                    </a:lnTo>
                    <a:lnTo>
                      <a:pt x="2008" y="1010"/>
                    </a:lnTo>
                    <a:lnTo>
                      <a:pt x="2008" y="905"/>
                    </a:lnTo>
                    <a:lnTo>
                      <a:pt x="1995" y="800"/>
                    </a:lnTo>
                    <a:lnTo>
                      <a:pt x="1968" y="709"/>
                    </a:lnTo>
                    <a:lnTo>
                      <a:pt x="1929" y="617"/>
                    </a:lnTo>
                    <a:lnTo>
                      <a:pt x="1890" y="525"/>
                    </a:lnTo>
                    <a:lnTo>
                      <a:pt x="1837" y="446"/>
                    </a:lnTo>
                    <a:lnTo>
                      <a:pt x="1785" y="367"/>
                    </a:lnTo>
                    <a:lnTo>
                      <a:pt x="1719" y="289"/>
                    </a:lnTo>
                    <a:lnTo>
                      <a:pt x="1640" y="223"/>
                    </a:lnTo>
                    <a:lnTo>
                      <a:pt x="1562" y="171"/>
                    </a:lnTo>
                    <a:lnTo>
                      <a:pt x="1483" y="118"/>
                    </a:lnTo>
                    <a:lnTo>
                      <a:pt x="1391" y="79"/>
                    </a:lnTo>
                    <a:lnTo>
                      <a:pt x="1299" y="39"/>
                    </a:lnTo>
                    <a:lnTo>
                      <a:pt x="1208" y="13"/>
                    </a:lnTo>
                    <a:lnTo>
                      <a:pt x="110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2356;p45">
                <a:extLst>
                  <a:ext uri="{FF2B5EF4-FFF2-40B4-BE49-F238E27FC236}">
                    <a16:creationId xmlns:a16="http://schemas.microsoft.com/office/drawing/2014/main" id="{5E6CAF91-BFB2-6ACE-951F-C56E299AE4F3}"/>
                  </a:ext>
                </a:extLst>
              </p:cNvPr>
              <p:cNvSpPr/>
              <p:nvPr/>
            </p:nvSpPr>
            <p:spPr>
              <a:xfrm>
                <a:off x="3304043" y="2861949"/>
                <a:ext cx="28038" cy="28038"/>
              </a:xfrm>
              <a:custGeom>
                <a:avLst/>
                <a:gdLst/>
                <a:ahLst/>
                <a:cxnLst/>
                <a:rect l="l" t="t" r="r" b="b"/>
                <a:pathLst>
                  <a:path w="1562" h="1562" extrusionOk="0">
                    <a:moveTo>
                      <a:pt x="696" y="0"/>
                    </a:moveTo>
                    <a:lnTo>
                      <a:pt x="617" y="13"/>
                    </a:lnTo>
                    <a:lnTo>
                      <a:pt x="473" y="66"/>
                    </a:lnTo>
                    <a:lnTo>
                      <a:pt x="342" y="131"/>
                    </a:lnTo>
                    <a:lnTo>
                      <a:pt x="224" y="223"/>
                    </a:lnTo>
                    <a:lnTo>
                      <a:pt x="132" y="341"/>
                    </a:lnTo>
                    <a:lnTo>
                      <a:pt x="66" y="472"/>
                    </a:lnTo>
                    <a:lnTo>
                      <a:pt x="14" y="630"/>
                    </a:lnTo>
                    <a:lnTo>
                      <a:pt x="1" y="695"/>
                    </a:lnTo>
                    <a:lnTo>
                      <a:pt x="1" y="787"/>
                    </a:lnTo>
                    <a:lnTo>
                      <a:pt x="1" y="866"/>
                    </a:lnTo>
                    <a:lnTo>
                      <a:pt x="14" y="932"/>
                    </a:lnTo>
                    <a:lnTo>
                      <a:pt x="66" y="1089"/>
                    </a:lnTo>
                    <a:lnTo>
                      <a:pt x="132" y="1220"/>
                    </a:lnTo>
                    <a:lnTo>
                      <a:pt x="224" y="1338"/>
                    </a:lnTo>
                    <a:lnTo>
                      <a:pt x="342" y="1430"/>
                    </a:lnTo>
                    <a:lnTo>
                      <a:pt x="473" y="1496"/>
                    </a:lnTo>
                    <a:lnTo>
                      <a:pt x="617" y="1548"/>
                    </a:lnTo>
                    <a:lnTo>
                      <a:pt x="696" y="1561"/>
                    </a:lnTo>
                    <a:lnTo>
                      <a:pt x="866" y="1561"/>
                    </a:lnTo>
                    <a:lnTo>
                      <a:pt x="932" y="1548"/>
                    </a:lnTo>
                    <a:lnTo>
                      <a:pt x="1089" y="1496"/>
                    </a:lnTo>
                    <a:lnTo>
                      <a:pt x="1221" y="1430"/>
                    </a:lnTo>
                    <a:lnTo>
                      <a:pt x="1326" y="1338"/>
                    </a:lnTo>
                    <a:lnTo>
                      <a:pt x="1431" y="1220"/>
                    </a:lnTo>
                    <a:lnTo>
                      <a:pt x="1496" y="1089"/>
                    </a:lnTo>
                    <a:lnTo>
                      <a:pt x="1549" y="932"/>
                    </a:lnTo>
                    <a:lnTo>
                      <a:pt x="1562" y="866"/>
                    </a:lnTo>
                    <a:lnTo>
                      <a:pt x="1562" y="787"/>
                    </a:lnTo>
                    <a:lnTo>
                      <a:pt x="1562" y="695"/>
                    </a:lnTo>
                    <a:lnTo>
                      <a:pt x="1549" y="630"/>
                    </a:lnTo>
                    <a:lnTo>
                      <a:pt x="1496" y="472"/>
                    </a:lnTo>
                    <a:lnTo>
                      <a:pt x="1431" y="341"/>
                    </a:lnTo>
                    <a:lnTo>
                      <a:pt x="1326" y="223"/>
                    </a:lnTo>
                    <a:lnTo>
                      <a:pt x="1221" y="131"/>
                    </a:lnTo>
                    <a:lnTo>
                      <a:pt x="1089" y="66"/>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2357;p45">
                <a:extLst>
                  <a:ext uri="{FF2B5EF4-FFF2-40B4-BE49-F238E27FC236}">
                    <a16:creationId xmlns:a16="http://schemas.microsoft.com/office/drawing/2014/main" id="{A38B1FD7-D5C7-12BF-40FB-B5C06FCAFAFE}"/>
                  </a:ext>
                </a:extLst>
              </p:cNvPr>
              <p:cNvSpPr/>
              <p:nvPr/>
            </p:nvSpPr>
            <p:spPr>
              <a:xfrm>
                <a:off x="3294386" y="2916804"/>
                <a:ext cx="107395" cy="48303"/>
              </a:xfrm>
              <a:custGeom>
                <a:avLst/>
                <a:gdLst/>
                <a:ahLst/>
                <a:cxnLst/>
                <a:rect l="l" t="t" r="r" b="b"/>
                <a:pathLst>
                  <a:path w="5983" h="2691" extrusionOk="0">
                    <a:moveTo>
                      <a:pt x="1339" y="1"/>
                    </a:moveTo>
                    <a:lnTo>
                      <a:pt x="1208" y="14"/>
                    </a:lnTo>
                    <a:lnTo>
                      <a:pt x="1076" y="27"/>
                    </a:lnTo>
                    <a:lnTo>
                      <a:pt x="945" y="66"/>
                    </a:lnTo>
                    <a:lnTo>
                      <a:pt x="827" y="106"/>
                    </a:lnTo>
                    <a:lnTo>
                      <a:pt x="709" y="171"/>
                    </a:lnTo>
                    <a:lnTo>
                      <a:pt x="591" y="237"/>
                    </a:lnTo>
                    <a:lnTo>
                      <a:pt x="486" y="316"/>
                    </a:lnTo>
                    <a:lnTo>
                      <a:pt x="394" y="394"/>
                    </a:lnTo>
                    <a:lnTo>
                      <a:pt x="302" y="499"/>
                    </a:lnTo>
                    <a:lnTo>
                      <a:pt x="224" y="591"/>
                    </a:lnTo>
                    <a:lnTo>
                      <a:pt x="158" y="709"/>
                    </a:lnTo>
                    <a:lnTo>
                      <a:pt x="106" y="827"/>
                    </a:lnTo>
                    <a:lnTo>
                      <a:pt x="53" y="945"/>
                    </a:lnTo>
                    <a:lnTo>
                      <a:pt x="27" y="1077"/>
                    </a:lnTo>
                    <a:lnTo>
                      <a:pt x="1" y="1208"/>
                    </a:lnTo>
                    <a:lnTo>
                      <a:pt x="1" y="1352"/>
                    </a:lnTo>
                    <a:lnTo>
                      <a:pt x="1" y="1483"/>
                    </a:lnTo>
                    <a:lnTo>
                      <a:pt x="27" y="1615"/>
                    </a:lnTo>
                    <a:lnTo>
                      <a:pt x="53" y="1746"/>
                    </a:lnTo>
                    <a:lnTo>
                      <a:pt x="106" y="1877"/>
                    </a:lnTo>
                    <a:lnTo>
                      <a:pt x="158" y="1995"/>
                    </a:lnTo>
                    <a:lnTo>
                      <a:pt x="224" y="2100"/>
                    </a:lnTo>
                    <a:lnTo>
                      <a:pt x="302" y="2205"/>
                    </a:lnTo>
                    <a:lnTo>
                      <a:pt x="394" y="2297"/>
                    </a:lnTo>
                    <a:lnTo>
                      <a:pt x="486" y="2389"/>
                    </a:lnTo>
                    <a:lnTo>
                      <a:pt x="591" y="2467"/>
                    </a:lnTo>
                    <a:lnTo>
                      <a:pt x="709" y="2533"/>
                    </a:lnTo>
                    <a:lnTo>
                      <a:pt x="827" y="2585"/>
                    </a:lnTo>
                    <a:lnTo>
                      <a:pt x="945" y="2638"/>
                    </a:lnTo>
                    <a:lnTo>
                      <a:pt x="1076" y="2664"/>
                    </a:lnTo>
                    <a:lnTo>
                      <a:pt x="1208" y="2690"/>
                    </a:lnTo>
                    <a:lnTo>
                      <a:pt x="4776" y="2690"/>
                    </a:lnTo>
                    <a:lnTo>
                      <a:pt x="4907" y="2664"/>
                    </a:lnTo>
                    <a:lnTo>
                      <a:pt x="5038" y="2638"/>
                    </a:lnTo>
                    <a:lnTo>
                      <a:pt x="5156" y="2585"/>
                    </a:lnTo>
                    <a:lnTo>
                      <a:pt x="5275" y="2533"/>
                    </a:lnTo>
                    <a:lnTo>
                      <a:pt x="5393" y="2467"/>
                    </a:lnTo>
                    <a:lnTo>
                      <a:pt x="5498" y="2389"/>
                    </a:lnTo>
                    <a:lnTo>
                      <a:pt x="5589" y="2297"/>
                    </a:lnTo>
                    <a:lnTo>
                      <a:pt x="5681" y="2205"/>
                    </a:lnTo>
                    <a:lnTo>
                      <a:pt x="5747" y="2100"/>
                    </a:lnTo>
                    <a:lnTo>
                      <a:pt x="5826" y="1995"/>
                    </a:lnTo>
                    <a:lnTo>
                      <a:pt x="5878" y="1877"/>
                    </a:lnTo>
                    <a:lnTo>
                      <a:pt x="5917" y="1746"/>
                    </a:lnTo>
                    <a:lnTo>
                      <a:pt x="5957" y="1615"/>
                    </a:lnTo>
                    <a:lnTo>
                      <a:pt x="5970" y="1483"/>
                    </a:lnTo>
                    <a:lnTo>
                      <a:pt x="5983" y="1352"/>
                    </a:lnTo>
                    <a:lnTo>
                      <a:pt x="5970" y="1208"/>
                    </a:lnTo>
                    <a:lnTo>
                      <a:pt x="5957" y="1077"/>
                    </a:lnTo>
                    <a:lnTo>
                      <a:pt x="5917" y="945"/>
                    </a:lnTo>
                    <a:lnTo>
                      <a:pt x="5878" y="827"/>
                    </a:lnTo>
                    <a:lnTo>
                      <a:pt x="5826" y="709"/>
                    </a:lnTo>
                    <a:lnTo>
                      <a:pt x="5747" y="591"/>
                    </a:lnTo>
                    <a:lnTo>
                      <a:pt x="5681" y="499"/>
                    </a:lnTo>
                    <a:lnTo>
                      <a:pt x="5589" y="394"/>
                    </a:lnTo>
                    <a:lnTo>
                      <a:pt x="5498" y="316"/>
                    </a:lnTo>
                    <a:lnTo>
                      <a:pt x="5393" y="237"/>
                    </a:lnTo>
                    <a:lnTo>
                      <a:pt x="5275" y="171"/>
                    </a:lnTo>
                    <a:lnTo>
                      <a:pt x="5156" y="106"/>
                    </a:lnTo>
                    <a:lnTo>
                      <a:pt x="5038" y="66"/>
                    </a:lnTo>
                    <a:lnTo>
                      <a:pt x="4907" y="27"/>
                    </a:lnTo>
                    <a:lnTo>
                      <a:pt x="4776" y="14"/>
                    </a:lnTo>
                    <a:lnTo>
                      <a:pt x="46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2358;p45">
                <a:extLst>
                  <a:ext uri="{FF2B5EF4-FFF2-40B4-BE49-F238E27FC236}">
                    <a16:creationId xmlns:a16="http://schemas.microsoft.com/office/drawing/2014/main" id="{76FFCF11-95A7-032E-AD23-A089DAB2BF71}"/>
                  </a:ext>
                </a:extLst>
              </p:cNvPr>
              <p:cNvSpPr/>
              <p:nvPr/>
            </p:nvSpPr>
            <p:spPr>
              <a:xfrm>
                <a:off x="3360083" y="2922925"/>
                <a:ext cx="36062" cy="36295"/>
              </a:xfrm>
              <a:custGeom>
                <a:avLst/>
                <a:gdLst/>
                <a:ahLst/>
                <a:cxnLst/>
                <a:rect l="l" t="t" r="r" b="b"/>
                <a:pathLst>
                  <a:path w="2009" h="2022" extrusionOk="0">
                    <a:moveTo>
                      <a:pt x="998" y="1"/>
                    </a:moveTo>
                    <a:lnTo>
                      <a:pt x="906" y="14"/>
                    </a:lnTo>
                    <a:lnTo>
                      <a:pt x="801" y="27"/>
                    </a:lnTo>
                    <a:lnTo>
                      <a:pt x="709" y="53"/>
                    </a:lnTo>
                    <a:lnTo>
                      <a:pt x="617" y="80"/>
                    </a:lnTo>
                    <a:lnTo>
                      <a:pt x="526" y="119"/>
                    </a:lnTo>
                    <a:lnTo>
                      <a:pt x="447" y="172"/>
                    </a:lnTo>
                    <a:lnTo>
                      <a:pt x="368" y="237"/>
                    </a:lnTo>
                    <a:lnTo>
                      <a:pt x="290" y="303"/>
                    </a:lnTo>
                    <a:lnTo>
                      <a:pt x="224" y="368"/>
                    </a:lnTo>
                    <a:lnTo>
                      <a:pt x="171" y="447"/>
                    </a:lnTo>
                    <a:lnTo>
                      <a:pt x="119" y="526"/>
                    </a:lnTo>
                    <a:lnTo>
                      <a:pt x="80" y="618"/>
                    </a:lnTo>
                    <a:lnTo>
                      <a:pt x="40" y="709"/>
                    </a:lnTo>
                    <a:lnTo>
                      <a:pt x="14" y="801"/>
                    </a:lnTo>
                    <a:lnTo>
                      <a:pt x="1" y="906"/>
                    </a:lnTo>
                    <a:lnTo>
                      <a:pt x="1" y="1011"/>
                    </a:lnTo>
                    <a:lnTo>
                      <a:pt x="1" y="1116"/>
                    </a:lnTo>
                    <a:lnTo>
                      <a:pt x="14" y="1208"/>
                    </a:lnTo>
                    <a:lnTo>
                      <a:pt x="40" y="1313"/>
                    </a:lnTo>
                    <a:lnTo>
                      <a:pt x="80" y="1405"/>
                    </a:lnTo>
                    <a:lnTo>
                      <a:pt x="119" y="1483"/>
                    </a:lnTo>
                    <a:lnTo>
                      <a:pt x="171" y="1575"/>
                    </a:lnTo>
                    <a:lnTo>
                      <a:pt x="224" y="1654"/>
                    </a:lnTo>
                    <a:lnTo>
                      <a:pt x="290" y="1720"/>
                    </a:lnTo>
                    <a:lnTo>
                      <a:pt x="368" y="1785"/>
                    </a:lnTo>
                    <a:lnTo>
                      <a:pt x="447" y="1838"/>
                    </a:lnTo>
                    <a:lnTo>
                      <a:pt x="526" y="1890"/>
                    </a:lnTo>
                    <a:lnTo>
                      <a:pt x="617" y="1929"/>
                    </a:lnTo>
                    <a:lnTo>
                      <a:pt x="709" y="1969"/>
                    </a:lnTo>
                    <a:lnTo>
                      <a:pt x="801" y="1995"/>
                    </a:lnTo>
                    <a:lnTo>
                      <a:pt x="906" y="2008"/>
                    </a:lnTo>
                    <a:lnTo>
                      <a:pt x="998" y="2021"/>
                    </a:lnTo>
                    <a:lnTo>
                      <a:pt x="1103" y="2008"/>
                    </a:lnTo>
                    <a:lnTo>
                      <a:pt x="1208" y="1995"/>
                    </a:lnTo>
                    <a:lnTo>
                      <a:pt x="1300" y="1969"/>
                    </a:lnTo>
                    <a:lnTo>
                      <a:pt x="1392" y="1929"/>
                    </a:lnTo>
                    <a:lnTo>
                      <a:pt x="1483" y="1890"/>
                    </a:lnTo>
                    <a:lnTo>
                      <a:pt x="1562" y="1838"/>
                    </a:lnTo>
                    <a:lnTo>
                      <a:pt x="1641" y="1785"/>
                    </a:lnTo>
                    <a:lnTo>
                      <a:pt x="1719" y="1720"/>
                    </a:lnTo>
                    <a:lnTo>
                      <a:pt x="1785" y="1654"/>
                    </a:lnTo>
                    <a:lnTo>
                      <a:pt x="1838" y="1575"/>
                    </a:lnTo>
                    <a:lnTo>
                      <a:pt x="1890" y="1483"/>
                    </a:lnTo>
                    <a:lnTo>
                      <a:pt x="1929" y="1405"/>
                    </a:lnTo>
                    <a:lnTo>
                      <a:pt x="1969" y="1313"/>
                    </a:lnTo>
                    <a:lnTo>
                      <a:pt x="1995" y="1208"/>
                    </a:lnTo>
                    <a:lnTo>
                      <a:pt x="2008" y="1116"/>
                    </a:lnTo>
                    <a:lnTo>
                      <a:pt x="2008" y="1011"/>
                    </a:lnTo>
                    <a:lnTo>
                      <a:pt x="2008" y="906"/>
                    </a:lnTo>
                    <a:lnTo>
                      <a:pt x="1995" y="801"/>
                    </a:lnTo>
                    <a:lnTo>
                      <a:pt x="1969" y="709"/>
                    </a:lnTo>
                    <a:lnTo>
                      <a:pt x="1929" y="618"/>
                    </a:lnTo>
                    <a:lnTo>
                      <a:pt x="1890" y="526"/>
                    </a:lnTo>
                    <a:lnTo>
                      <a:pt x="1838" y="447"/>
                    </a:lnTo>
                    <a:lnTo>
                      <a:pt x="1785" y="368"/>
                    </a:lnTo>
                    <a:lnTo>
                      <a:pt x="1719" y="303"/>
                    </a:lnTo>
                    <a:lnTo>
                      <a:pt x="1641" y="237"/>
                    </a:lnTo>
                    <a:lnTo>
                      <a:pt x="1562" y="172"/>
                    </a:lnTo>
                    <a:lnTo>
                      <a:pt x="1483" y="119"/>
                    </a:lnTo>
                    <a:lnTo>
                      <a:pt x="1392" y="80"/>
                    </a:lnTo>
                    <a:lnTo>
                      <a:pt x="1300" y="53"/>
                    </a:lnTo>
                    <a:lnTo>
                      <a:pt x="1208" y="27"/>
                    </a:lnTo>
                    <a:lnTo>
                      <a:pt x="1103" y="14"/>
                    </a:lnTo>
                    <a:lnTo>
                      <a:pt x="9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2359;p45">
                <a:extLst>
                  <a:ext uri="{FF2B5EF4-FFF2-40B4-BE49-F238E27FC236}">
                    <a16:creationId xmlns:a16="http://schemas.microsoft.com/office/drawing/2014/main" id="{9097E6B3-C1E3-A2C7-7503-BC6EF2B8AF47}"/>
                  </a:ext>
                </a:extLst>
              </p:cNvPr>
              <p:cNvSpPr/>
              <p:nvPr/>
            </p:nvSpPr>
            <p:spPr>
              <a:xfrm>
                <a:off x="3364085" y="2926928"/>
                <a:ext cx="28056" cy="28056"/>
              </a:xfrm>
              <a:custGeom>
                <a:avLst/>
                <a:gdLst/>
                <a:ahLst/>
                <a:cxnLst/>
                <a:rect l="l" t="t" r="r" b="b"/>
                <a:pathLst>
                  <a:path w="1563" h="1563" extrusionOk="0">
                    <a:moveTo>
                      <a:pt x="775" y="1"/>
                    </a:moveTo>
                    <a:lnTo>
                      <a:pt x="696" y="14"/>
                    </a:lnTo>
                    <a:lnTo>
                      <a:pt x="618" y="27"/>
                    </a:lnTo>
                    <a:lnTo>
                      <a:pt x="473" y="67"/>
                    </a:lnTo>
                    <a:lnTo>
                      <a:pt x="342" y="145"/>
                    </a:lnTo>
                    <a:lnTo>
                      <a:pt x="224" y="237"/>
                    </a:lnTo>
                    <a:lnTo>
                      <a:pt x="132" y="355"/>
                    </a:lnTo>
                    <a:lnTo>
                      <a:pt x="67" y="486"/>
                    </a:lnTo>
                    <a:lnTo>
                      <a:pt x="14" y="631"/>
                    </a:lnTo>
                    <a:lnTo>
                      <a:pt x="1" y="709"/>
                    </a:lnTo>
                    <a:lnTo>
                      <a:pt x="1" y="788"/>
                    </a:lnTo>
                    <a:lnTo>
                      <a:pt x="1" y="867"/>
                    </a:lnTo>
                    <a:lnTo>
                      <a:pt x="14" y="946"/>
                    </a:lnTo>
                    <a:lnTo>
                      <a:pt x="67" y="1090"/>
                    </a:lnTo>
                    <a:lnTo>
                      <a:pt x="132" y="1221"/>
                    </a:lnTo>
                    <a:lnTo>
                      <a:pt x="224" y="1339"/>
                    </a:lnTo>
                    <a:lnTo>
                      <a:pt x="342" y="1431"/>
                    </a:lnTo>
                    <a:lnTo>
                      <a:pt x="473" y="1510"/>
                    </a:lnTo>
                    <a:lnTo>
                      <a:pt x="618" y="1549"/>
                    </a:lnTo>
                    <a:lnTo>
                      <a:pt x="696" y="1562"/>
                    </a:lnTo>
                    <a:lnTo>
                      <a:pt x="854" y="1562"/>
                    </a:lnTo>
                    <a:lnTo>
                      <a:pt x="932" y="1549"/>
                    </a:lnTo>
                    <a:lnTo>
                      <a:pt x="1090" y="1510"/>
                    </a:lnTo>
                    <a:lnTo>
                      <a:pt x="1221" y="1431"/>
                    </a:lnTo>
                    <a:lnTo>
                      <a:pt x="1326" y="1339"/>
                    </a:lnTo>
                    <a:lnTo>
                      <a:pt x="1431" y="1221"/>
                    </a:lnTo>
                    <a:lnTo>
                      <a:pt x="1496" y="1090"/>
                    </a:lnTo>
                    <a:lnTo>
                      <a:pt x="1549" y="946"/>
                    </a:lnTo>
                    <a:lnTo>
                      <a:pt x="1562" y="867"/>
                    </a:lnTo>
                    <a:lnTo>
                      <a:pt x="1562" y="788"/>
                    </a:lnTo>
                    <a:lnTo>
                      <a:pt x="1562" y="709"/>
                    </a:lnTo>
                    <a:lnTo>
                      <a:pt x="1549" y="631"/>
                    </a:lnTo>
                    <a:lnTo>
                      <a:pt x="1496" y="486"/>
                    </a:lnTo>
                    <a:lnTo>
                      <a:pt x="1431" y="355"/>
                    </a:lnTo>
                    <a:lnTo>
                      <a:pt x="1326" y="237"/>
                    </a:lnTo>
                    <a:lnTo>
                      <a:pt x="1221" y="145"/>
                    </a:lnTo>
                    <a:lnTo>
                      <a:pt x="1090" y="67"/>
                    </a:lnTo>
                    <a:lnTo>
                      <a:pt x="932" y="27"/>
                    </a:lnTo>
                    <a:lnTo>
                      <a:pt x="854" y="14"/>
                    </a:lnTo>
                    <a:lnTo>
                      <a:pt x="775"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2360;p45">
                <a:extLst>
                  <a:ext uri="{FF2B5EF4-FFF2-40B4-BE49-F238E27FC236}">
                    <a16:creationId xmlns:a16="http://schemas.microsoft.com/office/drawing/2014/main" id="{98BAABDE-1EEA-F8D0-2BF6-E690035B7B01}"/>
                  </a:ext>
                </a:extLst>
              </p:cNvPr>
              <p:cNvSpPr/>
              <p:nvPr/>
            </p:nvSpPr>
            <p:spPr>
              <a:xfrm>
                <a:off x="3294386" y="2982267"/>
                <a:ext cx="107395" cy="48303"/>
              </a:xfrm>
              <a:custGeom>
                <a:avLst/>
                <a:gdLst/>
                <a:ahLst/>
                <a:cxnLst/>
                <a:rect l="l" t="t" r="r" b="b"/>
                <a:pathLst>
                  <a:path w="5983" h="2691" extrusionOk="0">
                    <a:moveTo>
                      <a:pt x="1208" y="1"/>
                    </a:moveTo>
                    <a:lnTo>
                      <a:pt x="1076" y="27"/>
                    </a:lnTo>
                    <a:lnTo>
                      <a:pt x="945" y="53"/>
                    </a:lnTo>
                    <a:lnTo>
                      <a:pt x="827" y="106"/>
                    </a:lnTo>
                    <a:lnTo>
                      <a:pt x="709" y="158"/>
                    </a:lnTo>
                    <a:lnTo>
                      <a:pt x="591" y="224"/>
                    </a:lnTo>
                    <a:lnTo>
                      <a:pt x="486" y="303"/>
                    </a:lnTo>
                    <a:lnTo>
                      <a:pt x="394" y="395"/>
                    </a:lnTo>
                    <a:lnTo>
                      <a:pt x="302" y="486"/>
                    </a:lnTo>
                    <a:lnTo>
                      <a:pt x="224" y="591"/>
                    </a:lnTo>
                    <a:lnTo>
                      <a:pt x="158" y="696"/>
                    </a:lnTo>
                    <a:lnTo>
                      <a:pt x="106" y="814"/>
                    </a:lnTo>
                    <a:lnTo>
                      <a:pt x="53" y="946"/>
                    </a:lnTo>
                    <a:lnTo>
                      <a:pt x="27" y="1077"/>
                    </a:lnTo>
                    <a:lnTo>
                      <a:pt x="1" y="1208"/>
                    </a:lnTo>
                    <a:lnTo>
                      <a:pt x="1" y="1339"/>
                    </a:lnTo>
                    <a:lnTo>
                      <a:pt x="1" y="1483"/>
                    </a:lnTo>
                    <a:lnTo>
                      <a:pt x="27" y="1615"/>
                    </a:lnTo>
                    <a:lnTo>
                      <a:pt x="53" y="1746"/>
                    </a:lnTo>
                    <a:lnTo>
                      <a:pt x="106" y="1864"/>
                    </a:lnTo>
                    <a:lnTo>
                      <a:pt x="158" y="1982"/>
                    </a:lnTo>
                    <a:lnTo>
                      <a:pt x="224" y="2100"/>
                    </a:lnTo>
                    <a:lnTo>
                      <a:pt x="302" y="2205"/>
                    </a:lnTo>
                    <a:lnTo>
                      <a:pt x="394" y="2297"/>
                    </a:lnTo>
                    <a:lnTo>
                      <a:pt x="486" y="2375"/>
                    </a:lnTo>
                    <a:lnTo>
                      <a:pt x="591" y="2454"/>
                    </a:lnTo>
                    <a:lnTo>
                      <a:pt x="709" y="2520"/>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20"/>
                    </a:lnTo>
                    <a:lnTo>
                      <a:pt x="5393" y="2454"/>
                    </a:lnTo>
                    <a:lnTo>
                      <a:pt x="5498" y="2375"/>
                    </a:lnTo>
                    <a:lnTo>
                      <a:pt x="5589" y="2297"/>
                    </a:lnTo>
                    <a:lnTo>
                      <a:pt x="5681" y="2205"/>
                    </a:lnTo>
                    <a:lnTo>
                      <a:pt x="5747" y="2100"/>
                    </a:lnTo>
                    <a:lnTo>
                      <a:pt x="5826" y="1982"/>
                    </a:lnTo>
                    <a:lnTo>
                      <a:pt x="5878" y="1864"/>
                    </a:lnTo>
                    <a:lnTo>
                      <a:pt x="5917" y="1746"/>
                    </a:lnTo>
                    <a:lnTo>
                      <a:pt x="5957" y="1615"/>
                    </a:lnTo>
                    <a:lnTo>
                      <a:pt x="5970" y="1483"/>
                    </a:lnTo>
                    <a:lnTo>
                      <a:pt x="5983" y="1339"/>
                    </a:lnTo>
                    <a:lnTo>
                      <a:pt x="5970" y="1208"/>
                    </a:lnTo>
                    <a:lnTo>
                      <a:pt x="5957" y="1077"/>
                    </a:lnTo>
                    <a:lnTo>
                      <a:pt x="5917" y="946"/>
                    </a:lnTo>
                    <a:lnTo>
                      <a:pt x="5878" y="814"/>
                    </a:lnTo>
                    <a:lnTo>
                      <a:pt x="5826" y="696"/>
                    </a:lnTo>
                    <a:lnTo>
                      <a:pt x="5747" y="591"/>
                    </a:lnTo>
                    <a:lnTo>
                      <a:pt x="5681" y="486"/>
                    </a:lnTo>
                    <a:lnTo>
                      <a:pt x="5589" y="395"/>
                    </a:lnTo>
                    <a:lnTo>
                      <a:pt x="5498" y="303"/>
                    </a:lnTo>
                    <a:lnTo>
                      <a:pt x="5393" y="224"/>
                    </a:lnTo>
                    <a:lnTo>
                      <a:pt x="5275" y="158"/>
                    </a:lnTo>
                    <a:lnTo>
                      <a:pt x="5156" y="106"/>
                    </a:lnTo>
                    <a:lnTo>
                      <a:pt x="5038" y="53"/>
                    </a:lnTo>
                    <a:lnTo>
                      <a:pt x="4907" y="27"/>
                    </a:lnTo>
                    <a:lnTo>
                      <a:pt x="47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2361;p45">
                <a:extLst>
                  <a:ext uri="{FF2B5EF4-FFF2-40B4-BE49-F238E27FC236}">
                    <a16:creationId xmlns:a16="http://schemas.microsoft.com/office/drawing/2014/main" id="{F9A5A1E7-FB85-8064-E439-7FAC30FBF805}"/>
                  </a:ext>
                </a:extLst>
              </p:cNvPr>
              <p:cNvSpPr/>
              <p:nvPr/>
            </p:nvSpPr>
            <p:spPr>
              <a:xfrm>
                <a:off x="3300040" y="2988406"/>
                <a:ext cx="36044" cy="36044"/>
              </a:xfrm>
              <a:custGeom>
                <a:avLst/>
                <a:gdLst/>
                <a:ahLst/>
                <a:cxnLst/>
                <a:rect l="l" t="t" r="r" b="b"/>
                <a:pathLst>
                  <a:path w="2008" h="2008" extrusionOk="0">
                    <a:moveTo>
                      <a:pt x="906" y="0"/>
                    </a:moveTo>
                    <a:lnTo>
                      <a:pt x="801" y="13"/>
                    </a:lnTo>
                    <a:lnTo>
                      <a:pt x="709" y="39"/>
                    </a:lnTo>
                    <a:lnTo>
                      <a:pt x="617" y="79"/>
                    </a:lnTo>
                    <a:lnTo>
                      <a:pt x="525" y="118"/>
                    </a:lnTo>
                    <a:lnTo>
                      <a:pt x="447" y="171"/>
                    </a:lnTo>
                    <a:lnTo>
                      <a:pt x="368" y="223"/>
                    </a:lnTo>
                    <a:lnTo>
                      <a:pt x="289" y="289"/>
                    </a:lnTo>
                    <a:lnTo>
                      <a:pt x="224" y="367"/>
                    </a:lnTo>
                    <a:lnTo>
                      <a:pt x="171" y="433"/>
                    </a:lnTo>
                    <a:lnTo>
                      <a:pt x="119" y="525"/>
                    </a:lnTo>
                    <a:lnTo>
                      <a:pt x="79" y="604"/>
                    </a:lnTo>
                    <a:lnTo>
                      <a:pt x="40" y="708"/>
                    </a:lnTo>
                    <a:lnTo>
                      <a:pt x="14" y="800"/>
                    </a:lnTo>
                    <a:lnTo>
                      <a:pt x="1" y="892"/>
                    </a:lnTo>
                    <a:lnTo>
                      <a:pt x="1" y="997"/>
                    </a:lnTo>
                    <a:lnTo>
                      <a:pt x="1" y="1102"/>
                    </a:lnTo>
                    <a:lnTo>
                      <a:pt x="14" y="1207"/>
                    </a:lnTo>
                    <a:lnTo>
                      <a:pt x="40" y="1299"/>
                    </a:lnTo>
                    <a:lnTo>
                      <a:pt x="79" y="1391"/>
                    </a:lnTo>
                    <a:lnTo>
                      <a:pt x="119" y="1482"/>
                    </a:lnTo>
                    <a:lnTo>
                      <a:pt x="171" y="1561"/>
                    </a:lnTo>
                    <a:lnTo>
                      <a:pt x="224" y="1640"/>
                    </a:lnTo>
                    <a:lnTo>
                      <a:pt x="289" y="1719"/>
                    </a:lnTo>
                    <a:lnTo>
                      <a:pt x="368" y="1771"/>
                    </a:lnTo>
                    <a:lnTo>
                      <a:pt x="447" y="1837"/>
                    </a:lnTo>
                    <a:lnTo>
                      <a:pt x="525" y="1889"/>
                    </a:lnTo>
                    <a:lnTo>
                      <a:pt x="617" y="1929"/>
                    </a:lnTo>
                    <a:lnTo>
                      <a:pt x="709" y="1968"/>
                    </a:lnTo>
                    <a:lnTo>
                      <a:pt x="801" y="1981"/>
                    </a:lnTo>
                    <a:lnTo>
                      <a:pt x="906" y="2007"/>
                    </a:lnTo>
                    <a:lnTo>
                      <a:pt x="1103" y="2007"/>
                    </a:lnTo>
                    <a:lnTo>
                      <a:pt x="1208" y="1981"/>
                    </a:lnTo>
                    <a:lnTo>
                      <a:pt x="1299" y="1968"/>
                    </a:lnTo>
                    <a:lnTo>
                      <a:pt x="1391" y="1929"/>
                    </a:lnTo>
                    <a:lnTo>
                      <a:pt x="1483" y="1889"/>
                    </a:lnTo>
                    <a:lnTo>
                      <a:pt x="1562" y="1837"/>
                    </a:lnTo>
                    <a:lnTo>
                      <a:pt x="1640" y="1771"/>
                    </a:lnTo>
                    <a:lnTo>
                      <a:pt x="1719" y="1719"/>
                    </a:lnTo>
                    <a:lnTo>
                      <a:pt x="1785" y="1640"/>
                    </a:lnTo>
                    <a:lnTo>
                      <a:pt x="1837" y="1561"/>
                    </a:lnTo>
                    <a:lnTo>
                      <a:pt x="1890" y="1482"/>
                    </a:lnTo>
                    <a:lnTo>
                      <a:pt x="1929" y="1391"/>
                    </a:lnTo>
                    <a:lnTo>
                      <a:pt x="1968" y="1299"/>
                    </a:lnTo>
                    <a:lnTo>
                      <a:pt x="1995" y="1207"/>
                    </a:lnTo>
                    <a:lnTo>
                      <a:pt x="2008" y="1102"/>
                    </a:lnTo>
                    <a:lnTo>
                      <a:pt x="2008" y="997"/>
                    </a:lnTo>
                    <a:lnTo>
                      <a:pt x="2008" y="892"/>
                    </a:lnTo>
                    <a:lnTo>
                      <a:pt x="1995" y="800"/>
                    </a:lnTo>
                    <a:lnTo>
                      <a:pt x="1968" y="708"/>
                    </a:lnTo>
                    <a:lnTo>
                      <a:pt x="1929" y="604"/>
                    </a:lnTo>
                    <a:lnTo>
                      <a:pt x="1890" y="525"/>
                    </a:lnTo>
                    <a:lnTo>
                      <a:pt x="1837" y="433"/>
                    </a:lnTo>
                    <a:lnTo>
                      <a:pt x="1785" y="367"/>
                    </a:lnTo>
                    <a:lnTo>
                      <a:pt x="1719" y="289"/>
                    </a:lnTo>
                    <a:lnTo>
                      <a:pt x="1640" y="223"/>
                    </a:lnTo>
                    <a:lnTo>
                      <a:pt x="1562" y="171"/>
                    </a:lnTo>
                    <a:lnTo>
                      <a:pt x="1483" y="118"/>
                    </a:lnTo>
                    <a:lnTo>
                      <a:pt x="1391" y="79"/>
                    </a:lnTo>
                    <a:lnTo>
                      <a:pt x="1299" y="39"/>
                    </a:lnTo>
                    <a:lnTo>
                      <a:pt x="1208" y="13"/>
                    </a:lnTo>
                    <a:lnTo>
                      <a:pt x="110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2362;p45">
                <a:extLst>
                  <a:ext uri="{FF2B5EF4-FFF2-40B4-BE49-F238E27FC236}">
                    <a16:creationId xmlns:a16="http://schemas.microsoft.com/office/drawing/2014/main" id="{F2D19AA5-8A8A-CF40-9EE9-CA927B6EE6EF}"/>
                  </a:ext>
                </a:extLst>
              </p:cNvPr>
              <p:cNvSpPr/>
              <p:nvPr/>
            </p:nvSpPr>
            <p:spPr>
              <a:xfrm>
                <a:off x="3304043" y="2992409"/>
                <a:ext cx="28038" cy="28038"/>
              </a:xfrm>
              <a:custGeom>
                <a:avLst/>
                <a:gdLst/>
                <a:ahLst/>
                <a:cxnLst/>
                <a:rect l="l" t="t" r="r" b="b"/>
                <a:pathLst>
                  <a:path w="1562" h="1562" extrusionOk="0">
                    <a:moveTo>
                      <a:pt x="696" y="0"/>
                    </a:moveTo>
                    <a:lnTo>
                      <a:pt x="617" y="13"/>
                    </a:lnTo>
                    <a:lnTo>
                      <a:pt x="473" y="66"/>
                    </a:lnTo>
                    <a:lnTo>
                      <a:pt x="342" y="131"/>
                    </a:lnTo>
                    <a:lnTo>
                      <a:pt x="224" y="223"/>
                    </a:lnTo>
                    <a:lnTo>
                      <a:pt x="132" y="341"/>
                    </a:lnTo>
                    <a:lnTo>
                      <a:pt x="66" y="472"/>
                    </a:lnTo>
                    <a:lnTo>
                      <a:pt x="14" y="617"/>
                    </a:lnTo>
                    <a:lnTo>
                      <a:pt x="1" y="695"/>
                    </a:lnTo>
                    <a:lnTo>
                      <a:pt x="1" y="774"/>
                    </a:lnTo>
                    <a:lnTo>
                      <a:pt x="1" y="853"/>
                    </a:lnTo>
                    <a:lnTo>
                      <a:pt x="14" y="932"/>
                    </a:lnTo>
                    <a:lnTo>
                      <a:pt x="66" y="1076"/>
                    </a:lnTo>
                    <a:lnTo>
                      <a:pt x="132" y="1220"/>
                    </a:lnTo>
                    <a:lnTo>
                      <a:pt x="224" y="1325"/>
                    </a:lnTo>
                    <a:lnTo>
                      <a:pt x="342" y="1430"/>
                    </a:lnTo>
                    <a:lnTo>
                      <a:pt x="473" y="1496"/>
                    </a:lnTo>
                    <a:lnTo>
                      <a:pt x="617" y="1548"/>
                    </a:lnTo>
                    <a:lnTo>
                      <a:pt x="696" y="1548"/>
                    </a:lnTo>
                    <a:lnTo>
                      <a:pt x="775" y="1561"/>
                    </a:lnTo>
                    <a:lnTo>
                      <a:pt x="866" y="1548"/>
                    </a:lnTo>
                    <a:lnTo>
                      <a:pt x="932" y="1548"/>
                    </a:lnTo>
                    <a:lnTo>
                      <a:pt x="1089" y="1496"/>
                    </a:lnTo>
                    <a:lnTo>
                      <a:pt x="1221" y="1430"/>
                    </a:lnTo>
                    <a:lnTo>
                      <a:pt x="1326" y="1325"/>
                    </a:lnTo>
                    <a:lnTo>
                      <a:pt x="1431" y="1220"/>
                    </a:lnTo>
                    <a:lnTo>
                      <a:pt x="1496" y="1076"/>
                    </a:lnTo>
                    <a:lnTo>
                      <a:pt x="1549" y="932"/>
                    </a:lnTo>
                    <a:lnTo>
                      <a:pt x="1562" y="853"/>
                    </a:lnTo>
                    <a:lnTo>
                      <a:pt x="1562" y="774"/>
                    </a:lnTo>
                    <a:lnTo>
                      <a:pt x="1562" y="695"/>
                    </a:lnTo>
                    <a:lnTo>
                      <a:pt x="1549" y="617"/>
                    </a:lnTo>
                    <a:lnTo>
                      <a:pt x="1496" y="472"/>
                    </a:lnTo>
                    <a:lnTo>
                      <a:pt x="1431" y="341"/>
                    </a:lnTo>
                    <a:lnTo>
                      <a:pt x="1326" y="223"/>
                    </a:lnTo>
                    <a:lnTo>
                      <a:pt x="1221" y="131"/>
                    </a:lnTo>
                    <a:lnTo>
                      <a:pt x="1089" y="66"/>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2363;p45">
                <a:extLst>
                  <a:ext uri="{FF2B5EF4-FFF2-40B4-BE49-F238E27FC236}">
                    <a16:creationId xmlns:a16="http://schemas.microsoft.com/office/drawing/2014/main" id="{B877A833-6C03-2977-C713-D440BB675D00}"/>
                  </a:ext>
                </a:extLst>
              </p:cNvPr>
              <p:cNvSpPr/>
              <p:nvPr/>
            </p:nvSpPr>
            <p:spPr>
              <a:xfrm>
                <a:off x="3294386" y="3047264"/>
                <a:ext cx="107395" cy="48303"/>
              </a:xfrm>
              <a:custGeom>
                <a:avLst/>
                <a:gdLst/>
                <a:ahLst/>
                <a:cxnLst/>
                <a:rect l="l" t="t" r="r" b="b"/>
                <a:pathLst>
                  <a:path w="5983" h="2691" extrusionOk="0">
                    <a:moveTo>
                      <a:pt x="1339" y="1"/>
                    </a:moveTo>
                    <a:lnTo>
                      <a:pt x="1208" y="14"/>
                    </a:lnTo>
                    <a:lnTo>
                      <a:pt x="1076" y="27"/>
                    </a:lnTo>
                    <a:lnTo>
                      <a:pt x="945" y="66"/>
                    </a:lnTo>
                    <a:lnTo>
                      <a:pt x="827" y="106"/>
                    </a:lnTo>
                    <a:lnTo>
                      <a:pt x="709" y="158"/>
                    </a:lnTo>
                    <a:lnTo>
                      <a:pt x="591" y="237"/>
                    </a:lnTo>
                    <a:lnTo>
                      <a:pt x="486" y="316"/>
                    </a:lnTo>
                    <a:lnTo>
                      <a:pt x="394" y="394"/>
                    </a:lnTo>
                    <a:lnTo>
                      <a:pt x="302" y="486"/>
                    </a:lnTo>
                    <a:lnTo>
                      <a:pt x="224" y="591"/>
                    </a:lnTo>
                    <a:lnTo>
                      <a:pt x="158" y="709"/>
                    </a:lnTo>
                    <a:lnTo>
                      <a:pt x="106" y="827"/>
                    </a:lnTo>
                    <a:lnTo>
                      <a:pt x="53" y="945"/>
                    </a:lnTo>
                    <a:lnTo>
                      <a:pt x="27" y="1077"/>
                    </a:lnTo>
                    <a:lnTo>
                      <a:pt x="1" y="1208"/>
                    </a:lnTo>
                    <a:lnTo>
                      <a:pt x="1" y="1352"/>
                    </a:lnTo>
                    <a:lnTo>
                      <a:pt x="1" y="1483"/>
                    </a:lnTo>
                    <a:lnTo>
                      <a:pt x="27" y="1614"/>
                    </a:lnTo>
                    <a:lnTo>
                      <a:pt x="53" y="1746"/>
                    </a:lnTo>
                    <a:lnTo>
                      <a:pt x="106" y="1877"/>
                    </a:lnTo>
                    <a:lnTo>
                      <a:pt x="158" y="1995"/>
                    </a:lnTo>
                    <a:lnTo>
                      <a:pt x="224" y="2100"/>
                    </a:lnTo>
                    <a:lnTo>
                      <a:pt x="302" y="2205"/>
                    </a:lnTo>
                    <a:lnTo>
                      <a:pt x="394" y="2297"/>
                    </a:lnTo>
                    <a:lnTo>
                      <a:pt x="486" y="2388"/>
                    </a:lnTo>
                    <a:lnTo>
                      <a:pt x="591" y="2467"/>
                    </a:lnTo>
                    <a:lnTo>
                      <a:pt x="709" y="2533"/>
                    </a:lnTo>
                    <a:lnTo>
                      <a:pt x="827" y="2585"/>
                    </a:lnTo>
                    <a:lnTo>
                      <a:pt x="945" y="2638"/>
                    </a:lnTo>
                    <a:lnTo>
                      <a:pt x="1076" y="2664"/>
                    </a:lnTo>
                    <a:lnTo>
                      <a:pt x="1208" y="2690"/>
                    </a:lnTo>
                    <a:lnTo>
                      <a:pt x="4776" y="2690"/>
                    </a:lnTo>
                    <a:lnTo>
                      <a:pt x="4907" y="2664"/>
                    </a:lnTo>
                    <a:lnTo>
                      <a:pt x="5038" y="2638"/>
                    </a:lnTo>
                    <a:lnTo>
                      <a:pt x="5156" y="2585"/>
                    </a:lnTo>
                    <a:lnTo>
                      <a:pt x="5275" y="2533"/>
                    </a:lnTo>
                    <a:lnTo>
                      <a:pt x="5393" y="2467"/>
                    </a:lnTo>
                    <a:lnTo>
                      <a:pt x="5498" y="2388"/>
                    </a:lnTo>
                    <a:lnTo>
                      <a:pt x="5589" y="2297"/>
                    </a:lnTo>
                    <a:lnTo>
                      <a:pt x="5681" y="2205"/>
                    </a:lnTo>
                    <a:lnTo>
                      <a:pt x="5747" y="2100"/>
                    </a:lnTo>
                    <a:lnTo>
                      <a:pt x="5826" y="1995"/>
                    </a:lnTo>
                    <a:lnTo>
                      <a:pt x="5878" y="1877"/>
                    </a:lnTo>
                    <a:lnTo>
                      <a:pt x="5917" y="1746"/>
                    </a:lnTo>
                    <a:lnTo>
                      <a:pt x="5957" y="1614"/>
                    </a:lnTo>
                    <a:lnTo>
                      <a:pt x="5970" y="1483"/>
                    </a:lnTo>
                    <a:lnTo>
                      <a:pt x="5983" y="1352"/>
                    </a:lnTo>
                    <a:lnTo>
                      <a:pt x="5970" y="1208"/>
                    </a:lnTo>
                    <a:lnTo>
                      <a:pt x="5957" y="1077"/>
                    </a:lnTo>
                    <a:lnTo>
                      <a:pt x="5917" y="945"/>
                    </a:lnTo>
                    <a:lnTo>
                      <a:pt x="5878" y="827"/>
                    </a:lnTo>
                    <a:lnTo>
                      <a:pt x="5826" y="709"/>
                    </a:lnTo>
                    <a:lnTo>
                      <a:pt x="5747" y="591"/>
                    </a:lnTo>
                    <a:lnTo>
                      <a:pt x="5681" y="486"/>
                    </a:lnTo>
                    <a:lnTo>
                      <a:pt x="5589" y="394"/>
                    </a:lnTo>
                    <a:lnTo>
                      <a:pt x="5498" y="316"/>
                    </a:lnTo>
                    <a:lnTo>
                      <a:pt x="5393" y="237"/>
                    </a:lnTo>
                    <a:lnTo>
                      <a:pt x="5275" y="158"/>
                    </a:lnTo>
                    <a:lnTo>
                      <a:pt x="5156" y="106"/>
                    </a:lnTo>
                    <a:lnTo>
                      <a:pt x="5038" y="66"/>
                    </a:lnTo>
                    <a:lnTo>
                      <a:pt x="4907" y="27"/>
                    </a:lnTo>
                    <a:lnTo>
                      <a:pt x="4776" y="14"/>
                    </a:lnTo>
                    <a:lnTo>
                      <a:pt x="46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2364;p45">
                <a:extLst>
                  <a:ext uri="{FF2B5EF4-FFF2-40B4-BE49-F238E27FC236}">
                    <a16:creationId xmlns:a16="http://schemas.microsoft.com/office/drawing/2014/main" id="{804D1488-693D-49F8-348C-7524489FD650}"/>
                  </a:ext>
                </a:extLst>
              </p:cNvPr>
              <p:cNvSpPr/>
              <p:nvPr/>
            </p:nvSpPr>
            <p:spPr>
              <a:xfrm>
                <a:off x="3360083" y="3053385"/>
                <a:ext cx="36062" cy="36062"/>
              </a:xfrm>
              <a:custGeom>
                <a:avLst/>
                <a:gdLst/>
                <a:ahLst/>
                <a:cxnLst/>
                <a:rect l="l" t="t" r="r" b="b"/>
                <a:pathLst>
                  <a:path w="2009" h="2009" extrusionOk="0">
                    <a:moveTo>
                      <a:pt x="906" y="1"/>
                    </a:moveTo>
                    <a:lnTo>
                      <a:pt x="801" y="14"/>
                    </a:lnTo>
                    <a:lnTo>
                      <a:pt x="709" y="40"/>
                    </a:lnTo>
                    <a:lnTo>
                      <a:pt x="617" y="80"/>
                    </a:lnTo>
                    <a:lnTo>
                      <a:pt x="526" y="119"/>
                    </a:lnTo>
                    <a:lnTo>
                      <a:pt x="447" y="171"/>
                    </a:lnTo>
                    <a:lnTo>
                      <a:pt x="368" y="224"/>
                    </a:lnTo>
                    <a:lnTo>
                      <a:pt x="290" y="290"/>
                    </a:lnTo>
                    <a:lnTo>
                      <a:pt x="224" y="368"/>
                    </a:lnTo>
                    <a:lnTo>
                      <a:pt x="171" y="447"/>
                    </a:lnTo>
                    <a:lnTo>
                      <a:pt x="119" y="526"/>
                    </a:lnTo>
                    <a:lnTo>
                      <a:pt x="80" y="617"/>
                    </a:lnTo>
                    <a:lnTo>
                      <a:pt x="40" y="709"/>
                    </a:lnTo>
                    <a:lnTo>
                      <a:pt x="14" y="801"/>
                    </a:lnTo>
                    <a:lnTo>
                      <a:pt x="1" y="906"/>
                    </a:lnTo>
                    <a:lnTo>
                      <a:pt x="1" y="1011"/>
                    </a:lnTo>
                    <a:lnTo>
                      <a:pt x="1" y="1103"/>
                    </a:lnTo>
                    <a:lnTo>
                      <a:pt x="14" y="1208"/>
                    </a:lnTo>
                    <a:lnTo>
                      <a:pt x="40" y="1300"/>
                    </a:lnTo>
                    <a:lnTo>
                      <a:pt x="80" y="1392"/>
                    </a:lnTo>
                    <a:lnTo>
                      <a:pt x="119" y="1483"/>
                    </a:lnTo>
                    <a:lnTo>
                      <a:pt x="171" y="1575"/>
                    </a:lnTo>
                    <a:lnTo>
                      <a:pt x="224" y="1641"/>
                    </a:lnTo>
                    <a:lnTo>
                      <a:pt x="290" y="1719"/>
                    </a:lnTo>
                    <a:lnTo>
                      <a:pt x="368" y="1785"/>
                    </a:lnTo>
                    <a:lnTo>
                      <a:pt x="447" y="1838"/>
                    </a:lnTo>
                    <a:lnTo>
                      <a:pt x="526" y="1890"/>
                    </a:lnTo>
                    <a:lnTo>
                      <a:pt x="617" y="1929"/>
                    </a:lnTo>
                    <a:lnTo>
                      <a:pt x="709" y="1969"/>
                    </a:lnTo>
                    <a:lnTo>
                      <a:pt x="801" y="1995"/>
                    </a:lnTo>
                    <a:lnTo>
                      <a:pt x="906" y="2008"/>
                    </a:lnTo>
                    <a:lnTo>
                      <a:pt x="1103" y="2008"/>
                    </a:lnTo>
                    <a:lnTo>
                      <a:pt x="1208" y="1995"/>
                    </a:lnTo>
                    <a:lnTo>
                      <a:pt x="1300" y="1969"/>
                    </a:lnTo>
                    <a:lnTo>
                      <a:pt x="1392" y="1929"/>
                    </a:lnTo>
                    <a:lnTo>
                      <a:pt x="1483" y="1890"/>
                    </a:lnTo>
                    <a:lnTo>
                      <a:pt x="1562" y="1838"/>
                    </a:lnTo>
                    <a:lnTo>
                      <a:pt x="1641" y="1785"/>
                    </a:lnTo>
                    <a:lnTo>
                      <a:pt x="1719" y="1719"/>
                    </a:lnTo>
                    <a:lnTo>
                      <a:pt x="1785" y="1641"/>
                    </a:lnTo>
                    <a:lnTo>
                      <a:pt x="1838" y="1575"/>
                    </a:lnTo>
                    <a:lnTo>
                      <a:pt x="1890" y="1483"/>
                    </a:lnTo>
                    <a:lnTo>
                      <a:pt x="1929" y="1392"/>
                    </a:lnTo>
                    <a:lnTo>
                      <a:pt x="1969" y="1300"/>
                    </a:lnTo>
                    <a:lnTo>
                      <a:pt x="1995" y="1208"/>
                    </a:lnTo>
                    <a:lnTo>
                      <a:pt x="2008" y="1103"/>
                    </a:lnTo>
                    <a:lnTo>
                      <a:pt x="2008" y="1011"/>
                    </a:lnTo>
                    <a:lnTo>
                      <a:pt x="2008" y="906"/>
                    </a:lnTo>
                    <a:lnTo>
                      <a:pt x="1995" y="801"/>
                    </a:lnTo>
                    <a:lnTo>
                      <a:pt x="1969" y="709"/>
                    </a:lnTo>
                    <a:lnTo>
                      <a:pt x="1929" y="617"/>
                    </a:lnTo>
                    <a:lnTo>
                      <a:pt x="1890" y="526"/>
                    </a:lnTo>
                    <a:lnTo>
                      <a:pt x="1838" y="447"/>
                    </a:lnTo>
                    <a:lnTo>
                      <a:pt x="1785" y="368"/>
                    </a:lnTo>
                    <a:lnTo>
                      <a:pt x="1719" y="290"/>
                    </a:lnTo>
                    <a:lnTo>
                      <a:pt x="1641" y="224"/>
                    </a:lnTo>
                    <a:lnTo>
                      <a:pt x="1562" y="171"/>
                    </a:lnTo>
                    <a:lnTo>
                      <a:pt x="1483" y="119"/>
                    </a:lnTo>
                    <a:lnTo>
                      <a:pt x="1392" y="80"/>
                    </a:lnTo>
                    <a:lnTo>
                      <a:pt x="1300" y="40"/>
                    </a:lnTo>
                    <a:lnTo>
                      <a:pt x="1208" y="14"/>
                    </a:lnTo>
                    <a:lnTo>
                      <a:pt x="110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2365;p45">
                <a:extLst>
                  <a:ext uri="{FF2B5EF4-FFF2-40B4-BE49-F238E27FC236}">
                    <a16:creationId xmlns:a16="http://schemas.microsoft.com/office/drawing/2014/main" id="{4C3913C7-5DF9-3062-D4B5-C6029AF3653A}"/>
                  </a:ext>
                </a:extLst>
              </p:cNvPr>
              <p:cNvSpPr/>
              <p:nvPr/>
            </p:nvSpPr>
            <p:spPr>
              <a:xfrm>
                <a:off x="3364085" y="3057388"/>
                <a:ext cx="28056" cy="28056"/>
              </a:xfrm>
              <a:custGeom>
                <a:avLst/>
                <a:gdLst/>
                <a:ahLst/>
                <a:cxnLst/>
                <a:rect l="l" t="t" r="r" b="b"/>
                <a:pathLst>
                  <a:path w="1563" h="1563" extrusionOk="0">
                    <a:moveTo>
                      <a:pt x="775" y="1"/>
                    </a:moveTo>
                    <a:lnTo>
                      <a:pt x="696" y="14"/>
                    </a:lnTo>
                    <a:lnTo>
                      <a:pt x="618" y="14"/>
                    </a:lnTo>
                    <a:lnTo>
                      <a:pt x="473" y="67"/>
                    </a:lnTo>
                    <a:lnTo>
                      <a:pt x="342" y="132"/>
                    </a:lnTo>
                    <a:lnTo>
                      <a:pt x="224" y="237"/>
                    </a:lnTo>
                    <a:lnTo>
                      <a:pt x="132" y="342"/>
                    </a:lnTo>
                    <a:lnTo>
                      <a:pt x="67" y="486"/>
                    </a:lnTo>
                    <a:lnTo>
                      <a:pt x="14" y="631"/>
                    </a:lnTo>
                    <a:lnTo>
                      <a:pt x="1" y="709"/>
                    </a:lnTo>
                    <a:lnTo>
                      <a:pt x="1" y="788"/>
                    </a:lnTo>
                    <a:lnTo>
                      <a:pt x="1" y="867"/>
                    </a:lnTo>
                    <a:lnTo>
                      <a:pt x="14" y="945"/>
                    </a:lnTo>
                    <a:lnTo>
                      <a:pt x="67" y="1090"/>
                    </a:lnTo>
                    <a:lnTo>
                      <a:pt x="132" y="1221"/>
                    </a:lnTo>
                    <a:lnTo>
                      <a:pt x="224" y="1339"/>
                    </a:lnTo>
                    <a:lnTo>
                      <a:pt x="342" y="1431"/>
                    </a:lnTo>
                    <a:lnTo>
                      <a:pt x="473" y="1496"/>
                    </a:lnTo>
                    <a:lnTo>
                      <a:pt x="618" y="1549"/>
                    </a:lnTo>
                    <a:lnTo>
                      <a:pt x="696" y="1562"/>
                    </a:lnTo>
                    <a:lnTo>
                      <a:pt x="854" y="1562"/>
                    </a:lnTo>
                    <a:lnTo>
                      <a:pt x="932" y="1549"/>
                    </a:lnTo>
                    <a:lnTo>
                      <a:pt x="1090" y="1496"/>
                    </a:lnTo>
                    <a:lnTo>
                      <a:pt x="1221" y="1431"/>
                    </a:lnTo>
                    <a:lnTo>
                      <a:pt x="1326" y="1339"/>
                    </a:lnTo>
                    <a:lnTo>
                      <a:pt x="1431" y="1221"/>
                    </a:lnTo>
                    <a:lnTo>
                      <a:pt x="1496" y="1090"/>
                    </a:lnTo>
                    <a:lnTo>
                      <a:pt x="1549" y="945"/>
                    </a:lnTo>
                    <a:lnTo>
                      <a:pt x="1562" y="867"/>
                    </a:lnTo>
                    <a:lnTo>
                      <a:pt x="1562" y="788"/>
                    </a:lnTo>
                    <a:lnTo>
                      <a:pt x="1562" y="709"/>
                    </a:lnTo>
                    <a:lnTo>
                      <a:pt x="1549" y="631"/>
                    </a:lnTo>
                    <a:lnTo>
                      <a:pt x="1496" y="486"/>
                    </a:lnTo>
                    <a:lnTo>
                      <a:pt x="1431" y="342"/>
                    </a:lnTo>
                    <a:lnTo>
                      <a:pt x="1326" y="237"/>
                    </a:lnTo>
                    <a:lnTo>
                      <a:pt x="1221" y="132"/>
                    </a:lnTo>
                    <a:lnTo>
                      <a:pt x="1090" y="67"/>
                    </a:lnTo>
                    <a:lnTo>
                      <a:pt x="932" y="14"/>
                    </a:lnTo>
                    <a:lnTo>
                      <a:pt x="854" y="14"/>
                    </a:lnTo>
                    <a:lnTo>
                      <a:pt x="775"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2366;p45">
                <a:extLst>
                  <a:ext uri="{FF2B5EF4-FFF2-40B4-BE49-F238E27FC236}">
                    <a16:creationId xmlns:a16="http://schemas.microsoft.com/office/drawing/2014/main" id="{18AEF967-634F-6639-D5B8-2EF91E5F21F0}"/>
                  </a:ext>
                </a:extLst>
              </p:cNvPr>
              <p:cNvSpPr/>
              <p:nvPr/>
            </p:nvSpPr>
            <p:spPr>
              <a:xfrm>
                <a:off x="3294386" y="3112728"/>
                <a:ext cx="107395" cy="48303"/>
              </a:xfrm>
              <a:custGeom>
                <a:avLst/>
                <a:gdLst/>
                <a:ahLst/>
                <a:cxnLst/>
                <a:rect l="l" t="t" r="r" b="b"/>
                <a:pathLst>
                  <a:path w="5983" h="2691" extrusionOk="0">
                    <a:moveTo>
                      <a:pt x="1208" y="1"/>
                    </a:moveTo>
                    <a:lnTo>
                      <a:pt x="1076" y="27"/>
                    </a:lnTo>
                    <a:lnTo>
                      <a:pt x="945" y="53"/>
                    </a:lnTo>
                    <a:lnTo>
                      <a:pt x="827" y="106"/>
                    </a:lnTo>
                    <a:lnTo>
                      <a:pt x="709" y="158"/>
                    </a:lnTo>
                    <a:lnTo>
                      <a:pt x="591" y="224"/>
                    </a:lnTo>
                    <a:lnTo>
                      <a:pt x="486" y="303"/>
                    </a:lnTo>
                    <a:lnTo>
                      <a:pt x="394" y="394"/>
                    </a:lnTo>
                    <a:lnTo>
                      <a:pt x="302" y="486"/>
                    </a:lnTo>
                    <a:lnTo>
                      <a:pt x="224" y="591"/>
                    </a:lnTo>
                    <a:lnTo>
                      <a:pt x="158" y="696"/>
                    </a:lnTo>
                    <a:lnTo>
                      <a:pt x="106" y="814"/>
                    </a:lnTo>
                    <a:lnTo>
                      <a:pt x="53" y="945"/>
                    </a:lnTo>
                    <a:lnTo>
                      <a:pt x="27" y="1064"/>
                    </a:lnTo>
                    <a:lnTo>
                      <a:pt x="1" y="1208"/>
                    </a:lnTo>
                    <a:lnTo>
                      <a:pt x="1" y="1339"/>
                    </a:lnTo>
                    <a:lnTo>
                      <a:pt x="1" y="1483"/>
                    </a:lnTo>
                    <a:lnTo>
                      <a:pt x="27" y="1615"/>
                    </a:lnTo>
                    <a:lnTo>
                      <a:pt x="53" y="1746"/>
                    </a:lnTo>
                    <a:lnTo>
                      <a:pt x="106" y="1864"/>
                    </a:lnTo>
                    <a:lnTo>
                      <a:pt x="158" y="1982"/>
                    </a:lnTo>
                    <a:lnTo>
                      <a:pt x="224" y="2087"/>
                    </a:lnTo>
                    <a:lnTo>
                      <a:pt x="302" y="2192"/>
                    </a:lnTo>
                    <a:lnTo>
                      <a:pt x="394" y="2297"/>
                    </a:lnTo>
                    <a:lnTo>
                      <a:pt x="486" y="2375"/>
                    </a:lnTo>
                    <a:lnTo>
                      <a:pt x="591" y="2454"/>
                    </a:lnTo>
                    <a:lnTo>
                      <a:pt x="709" y="2520"/>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20"/>
                    </a:lnTo>
                    <a:lnTo>
                      <a:pt x="5393" y="2454"/>
                    </a:lnTo>
                    <a:lnTo>
                      <a:pt x="5498" y="2375"/>
                    </a:lnTo>
                    <a:lnTo>
                      <a:pt x="5589" y="2297"/>
                    </a:lnTo>
                    <a:lnTo>
                      <a:pt x="5681" y="2192"/>
                    </a:lnTo>
                    <a:lnTo>
                      <a:pt x="5747" y="2087"/>
                    </a:lnTo>
                    <a:lnTo>
                      <a:pt x="5826" y="1982"/>
                    </a:lnTo>
                    <a:lnTo>
                      <a:pt x="5878" y="1864"/>
                    </a:lnTo>
                    <a:lnTo>
                      <a:pt x="5917" y="1746"/>
                    </a:lnTo>
                    <a:lnTo>
                      <a:pt x="5957" y="1615"/>
                    </a:lnTo>
                    <a:lnTo>
                      <a:pt x="5970" y="1483"/>
                    </a:lnTo>
                    <a:lnTo>
                      <a:pt x="5983" y="1339"/>
                    </a:lnTo>
                    <a:lnTo>
                      <a:pt x="5970" y="1208"/>
                    </a:lnTo>
                    <a:lnTo>
                      <a:pt x="5957" y="1064"/>
                    </a:lnTo>
                    <a:lnTo>
                      <a:pt x="5917" y="945"/>
                    </a:lnTo>
                    <a:lnTo>
                      <a:pt x="5878" y="814"/>
                    </a:lnTo>
                    <a:lnTo>
                      <a:pt x="5826" y="696"/>
                    </a:lnTo>
                    <a:lnTo>
                      <a:pt x="5747" y="591"/>
                    </a:lnTo>
                    <a:lnTo>
                      <a:pt x="5681" y="486"/>
                    </a:lnTo>
                    <a:lnTo>
                      <a:pt x="5589" y="394"/>
                    </a:lnTo>
                    <a:lnTo>
                      <a:pt x="5498" y="303"/>
                    </a:lnTo>
                    <a:lnTo>
                      <a:pt x="5393" y="224"/>
                    </a:lnTo>
                    <a:lnTo>
                      <a:pt x="5275" y="158"/>
                    </a:lnTo>
                    <a:lnTo>
                      <a:pt x="5156" y="106"/>
                    </a:lnTo>
                    <a:lnTo>
                      <a:pt x="5038" y="53"/>
                    </a:lnTo>
                    <a:lnTo>
                      <a:pt x="4907" y="27"/>
                    </a:lnTo>
                    <a:lnTo>
                      <a:pt x="47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2367;p45">
                <a:extLst>
                  <a:ext uri="{FF2B5EF4-FFF2-40B4-BE49-F238E27FC236}">
                    <a16:creationId xmlns:a16="http://schemas.microsoft.com/office/drawing/2014/main" id="{5C5CB3FC-5B5A-EA02-D62A-E6319A2F18B4}"/>
                  </a:ext>
                </a:extLst>
              </p:cNvPr>
              <p:cNvSpPr/>
              <p:nvPr/>
            </p:nvSpPr>
            <p:spPr>
              <a:xfrm>
                <a:off x="3300040" y="3118616"/>
                <a:ext cx="36044" cy="36295"/>
              </a:xfrm>
              <a:custGeom>
                <a:avLst/>
                <a:gdLst/>
                <a:ahLst/>
                <a:cxnLst/>
                <a:rect l="l" t="t" r="r" b="b"/>
                <a:pathLst>
                  <a:path w="2008" h="2022" extrusionOk="0">
                    <a:moveTo>
                      <a:pt x="998" y="1"/>
                    </a:moveTo>
                    <a:lnTo>
                      <a:pt x="906" y="14"/>
                    </a:lnTo>
                    <a:lnTo>
                      <a:pt x="801" y="27"/>
                    </a:lnTo>
                    <a:lnTo>
                      <a:pt x="709" y="53"/>
                    </a:lnTo>
                    <a:lnTo>
                      <a:pt x="617" y="80"/>
                    </a:lnTo>
                    <a:lnTo>
                      <a:pt x="525" y="132"/>
                    </a:lnTo>
                    <a:lnTo>
                      <a:pt x="447" y="185"/>
                    </a:lnTo>
                    <a:lnTo>
                      <a:pt x="368" y="237"/>
                    </a:lnTo>
                    <a:lnTo>
                      <a:pt x="289" y="303"/>
                    </a:lnTo>
                    <a:lnTo>
                      <a:pt x="224" y="368"/>
                    </a:lnTo>
                    <a:lnTo>
                      <a:pt x="171" y="447"/>
                    </a:lnTo>
                    <a:lnTo>
                      <a:pt x="119" y="539"/>
                    </a:lnTo>
                    <a:lnTo>
                      <a:pt x="79" y="617"/>
                    </a:lnTo>
                    <a:lnTo>
                      <a:pt x="40" y="709"/>
                    </a:lnTo>
                    <a:lnTo>
                      <a:pt x="14" y="814"/>
                    </a:lnTo>
                    <a:lnTo>
                      <a:pt x="1" y="906"/>
                    </a:lnTo>
                    <a:lnTo>
                      <a:pt x="1" y="1011"/>
                    </a:lnTo>
                    <a:lnTo>
                      <a:pt x="1" y="1116"/>
                    </a:lnTo>
                    <a:lnTo>
                      <a:pt x="14" y="1221"/>
                    </a:lnTo>
                    <a:lnTo>
                      <a:pt x="40" y="1313"/>
                    </a:lnTo>
                    <a:lnTo>
                      <a:pt x="79" y="1405"/>
                    </a:lnTo>
                    <a:lnTo>
                      <a:pt x="119" y="1496"/>
                    </a:lnTo>
                    <a:lnTo>
                      <a:pt x="171" y="1575"/>
                    </a:lnTo>
                    <a:lnTo>
                      <a:pt x="224" y="1654"/>
                    </a:lnTo>
                    <a:lnTo>
                      <a:pt x="289" y="1719"/>
                    </a:lnTo>
                    <a:lnTo>
                      <a:pt x="368" y="1785"/>
                    </a:lnTo>
                    <a:lnTo>
                      <a:pt x="447" y="1851"/>
                    </a:lnTo>
                    <a:lnTo>
                      <a:pt x="525" y="1903"/>
                    </a:lnTo>
                    <a:lnTo>
                      <a:pt x="617" y="1942"/>
                    </a:lnTo>
                    <a:lnTo>
                      <a:pt x="709" y="1969"/>
                    </a:lnTo>
                    <a:lnTo>
                      <a:pt x="801" y="1995"/>
                    </a:lnTo>
                    <a:lnTo>
                      <a:pt x="906" y="2008"/>
                    </a:lnTo>
                    <a:lnTo>
                      <a:pt x="998" y="2021"/>
                    </a:lnTo>
                    <a:lnTo>
                      <a:pt x="1103" y="2008"/>
                    </a:lnTo>
                    <a:lnTo>
                      <a:pt x="1208" y="1995"/>
                    </a:lnTo>
                    <a:lnTo>
                      <a:pt x="1299" y="1969"/>
                    </a:lnTo>
                    <a:lnTo>
                      <a:pt x="1391" y="1942"/>
                    </a:lnTo>
                    <a:lnTo>
                      <a:pt x="1483" y="1903"/>
                    </a:lnTo>
                    <a:lnTo>
                      <a:pt x="1562" y="1851"/>
                    </a:lnTo>
                    <a:lnTo>
                      <a:pt x="1640" y="1785"/>
                    </a:lnTo>
                    <a:lnTo>
                      <a:pt x="1719" y="1719"/>
                    </a:lnTo>
                    <a:lnTo>
                      <a:pt x="1785" y="1654"/>
                    </a:lnTo>
                    <a:lnTo>
                      <a:pt x="1837" y="1575"/>
                    </a:lnTo>
                    <a:lnTo>
                      <a:pt x="1890" y="1496"/>
                    </a:lnTo>
                    <a:lnTo>
                      <a:pt x="1929" y="1405"/>
                    </a:lnTo>
                    <a:lnTo>
                      <a:pt x="1968" y="1313"/>
                    </a:lnTo>
                    <a:lnTo>
                      <a:pt x="1995" y="1221"/>
                    </a:lnTo>
                    <a:lnTo>
                      <a:pt x="2008" y="1116"/>
                    </a:lnTo>
                    <a:lnTo>
                      <a:pt x="2008" y="1011"/>
                    </a:lnTo>
                    <a:lnTo>
                      <a:pt x="2008" y="906"/>
                    </a:lnTo>
                    <a:lnTo>
                      <a:pt x="1995" y="814"/>
                    </a:lnTo>
                    <a:lnTo>
                      <a:pt x="1968" y="709"/>
                    </a:lnTo>
                    <a:lnTo>
                      <a:pt x="1929" y="617"/>
                    </a:lnTo>
                    <a:lnTo>
                      <a:pt x="1890" y="539"/>
                    </a:lnTo>
                    <a:lnTo>
                      <a:pt x="1837" y="447"/>
                    </a:lnTo>
                    <a:lnTo>
                      <a:pt x="1785" y="368"/>
                    </a:lnTo>
                    <a:lnTo>
                      <a:pt x="1719" y="303"/>
                    </a:lnTo>
                    <a:lnTo>
                      <a:pt x="1640" y="237"/>
                    </a:lnTo>
                    <a:lnTo>
                      <a:pt x="1562" y="185"/>
                    </a:lnTo>
                    <a:lnTo>
                      <a:pt x="1483" y="132"/>
                    </a:lnTo>
                    <a:lnTo>
                      <a:pt x="1391" y="80"/>
                    </a:lnTo>
                    <a:lnTo>
                      <a:pt x="1299" y="53"/>
                    </a:lnTo>
                    <a:lnTo>
                      <a:pt x="1208" y="27"/>
                    </a:lnTo>
                    <a:lnTo>
                      <a:pt x="1103" y="14"/>
                    </a:lnTo>
                    <a:lnTo>
                      <a:pt x="9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2368;p45">
                <a:extLst>
                  <a:ext uri="{FF2B5EF4-FFF2-40B4-BE49-F238E27FC236}">
                    <a16:creationId xmlns:a16="http://schemas.microsoft.com/office/drawing/2014/main" id="{F7C9F995-B463-5C20-0E67-C891D2389397}"/>
                  </a:ext>
                </a:extLst>
              </p:cNvPr>
              <p:cNvSpPr/>
              <p:nvPr/>
            </p:nvSpPr>
            <p:spPr>
              <a:xfrm>
                <a:off x="3304043" y="3122870"/>
                <a:ext cx="28038" cy="28038"/>
              </a:xfrm>
              <a:custGeom>
                <a:avLst/>
                <a:gdLst/>
                <a:ahLst/>
                <a:cxnLst/>
                <a:rect l="l" t="t" r="r" b="b"/>
                <a:pathLst>
                  <a:path w="1562" h="1562" extrusionOk="0">
                    <a:moveTo>
                      <a:pt x="696" y="0"/>
                    </a:moveTo>
                    <a:lnTo>
                      <a:pt x="617" y="13"/>
                    </a:lnTo>
                    <a:lnTo>
                      <a:pt x="473" y="52"/>
                    </a:lnTo>
                    <a:lnTo>
                      <a:pt x="342" y="131"/>
                    </a:lnTo>
                    <a:lnTo>
                      <a:pt x="224" y="223"/>
                    </a:lnTo>
                    <a:lnTo>
                      <a:pt x="132" y="341"/>
                    </a:lnTo>
                    <a:lnTo>
                      <a:pt x="66" y="472"/>
                    </a:lnTo>
                    <a:lnTo>
                      <a:pt x="14" y="617"/>
                    </a:lnTo>
                    <a:lnTo>
                      <a:pt x="1" y="695"/>
                    </a:lnTo>
                    <a:lnTo>
                      <a:pt x="1" y="774"/>
                    </a:lnTo>
                    <a:lnTo>
                      <a:pt x="1" y="853"/>
                    </a:lnTo>
                    <a:lnTo>
                      <a:pt x="14" y="931"/>
                    </a:lnTo>
                    <a:lnTo>
                      <a:pt x="66" y="1076"/>
                    </a:lnTo>
                    <a:lnTo>
                      <a:pt x="132" y="1207"/>
                    </a:lnTo>
                    <a:lnTo>
                      <a:pt x="224" y="1325"/>
                    </a:lnTo>
                    <a:lnTo>
                      <a:pt x="342" y="1417"/>
                    </a:lnTo>
                    <a:lnTo>
                      <a:pt x="473" y="1496"/>
                    </a:lnTo>
                    <a:lnTo>
                      <a:pt x="617" y="1535"/>
                    </a:lnTo>
                    <a:lnTo>
                      <a:pt x="696" y="1548"/>
                    </a:lnTo>
                    <a:lnTo>
                      <a:pt x="775" y="1561"/>
                    </a:lnTo>
                    <a:lnTo>
                      <a:pt x="866" y="1548"/>
                    </a:lnTo>
                    <a:lnTo>
                      <a:pt x="932" y="1535"/>
                    </a:lnTo>
                    <a:lnTo>
                      <a:pt x="1089" y="1496"/>
                    </a:lnTo>
                    <a:lnTo>
                      <a:pt x="1221" y="1417"/>
                    </a:lnTo>
                    <a:lnTo>
                      <a:pt x="1326" y="1325"/>
                    </a:lnTo>
                    <a:lnTo>
                      <a:pt x="1431" y="1207"/>
                    </a:lnTo>
                    <a:lnTo>
                      <a:pt x="1496" y="1076"/>
                    </a:lnTo>
                    <a:lnTo>
                      <a:pt x="1549" y="931"/>
                    </a:lnTo>
                    <a:lnTo>
                      <a:pt x="1562" y="853"/>
                    </a:lnTo>
                    <a:lnTo>
                      <a:pt x="1562" y="774"/>
                    </a:lnTo>
                    <a:lnTo>
                      <a:pt x="1562" y="695"/>
                    </a:lnTo>
                    <a:lnTo>
                      <a:pt x="1549" y="617"/>
                    </a:lnTo>
                    <a:lnTo>
                      <a:pt x="1496" y="472"/>
                    </a:lnTo>
                    <a:lnTo>
                      <a:pt x="1431" y="341"/>
                    </a:lnTo>
                    <a:lnTo>
                      <a:pt x="1326" y="223"/>
                    </a:lnTo>
                    <a:lnTo>
                      <a:pt x="1221" y="131"/>
                    </a:lnTo>
                    <a:lnTo>
                      <a:pt x="1089" y="52"/>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2369;p45">
                <a:extLst>
                  <a:ext uri="{FF2B5EF4-FFF2-40B4-BE49-F238E27FC236}">
                    <a16:creationId xmlns:a16="http://schemas.microsoft.com/office/drawing/2014/main" id="{3ACFB5C3-47D3-6200-B5D8-1D29C2AA250C}"/>
                  </a:ext>
                </a:extLst>
              </p:cNvPr>
              <p:cNvSpPr/>
              <p:nvPr/>
            </p:nvSpPr>
            <p:spPr>
              <a:xfrm>
                <a:off x="3294386" y="3177725"/>
                <a:ext cx="107395" cy="48303"/>
              </a:xfrm>
              <a:custGeom>
                <a:avLst/>
                <a:gdLst/>
                <a:ahLst/>
                <a:cxnLst/>
                <a:rect l="l" t="t" r="r" b="b"/>
                <a:pathLst>
                  <a:path w="5983" h="2691" extrusionOk="0">
                    <a:moveTo>
                      <a:pt x="1208" y="1"/>
                    </a:moveTo>
                    <a:lnTo>
                      <a:pt x="1076" y="27"/>
                    </a:lnTo>
                    <a:lnTo>
                      <a:pt x="945" y="66"/>
                    </a:lnTo>
                    <a:lnTo>
                      <a:pt x="827" y="106"/>
                    </a:lnTo>
                    <a:lnTo>
                      <a:pt x="709" y="158"/>
                    </a:lnTo>
                    <a:lnTo>
                      <a:pt x="591" y="224"/>
                    </a:lnTo>
                    <a:lnTo>
                      <a:pt x="486" y="302"/>
                    </a:lnTo>
                    <a:lnTo>
                      <a:pt x="394" y="394"/>
                    </a:lnTo>
                    <a:lnTo>
                      <a:pt x="302" y="486"/>
                    </a:lnTo>
                    <a:lnTo>
                      <a:pt x="224" y="591"/>
                    </a:lnTo>
                    <a:lnTo>
                      <a:pt x="158" y="709"/>
                    </a:lnTo>
                    <a:lnTo>
                      <a:pt x="106" y="827"/>
                    </a:lnTo>
                    <a:lnTo>
                      <a:pt x="53" y="945"/>
                    </a:lnTo>
                    <a:lnTo>
                      <a:pt x="27" y="1076"/>
                    </a:lnTo>
                    <a:lnTo>
                      <a:pt x="1" y="1208"/>
                    </a:lnTo>
                    <a:lnTo>
                      <a:pt x="1" y="1339"/>
                    </a:lnTo>
                    <a:lnTo>
                      <a:pt x="1" y="1483"/>
                    </a:lnTo>
                    <a:lnTo>
                      <a:pt x="27" y="1614"/>
                    </a:lnTo>
                    <a:lnTo>
                      <a:pt x="53" y="1746"/>
                    </a:lnTo>
                    <a:lnTo>
                      <a:pt x="106" y="1864"/>
                    </a:lnTo>
                    <a:lnTo>
                      <a:pt x="158" y="1982"/>
                    </a:lnTo>
                    <a:lnTo>
                      <a:pt x="224" y="2100"/>
                    </a:lnTo>
                    <a:lnTo>
                      <a:pt x="302" y="2205"/>
                    </a:lnTo>
                    <a:lnTo>
                      <a:pt x="394" y="2297"/>
                    </a:lnTo>
                    <a:lnTo>
                      <a:pt x="486" y="2388"/>
                    </a:lnTo>
                    <a:lnTo>
                      <a:pt x="591" y="2454"/>
                    </a:lnTo>
                    <a:lnTo>
                      <a:pt x="709" y="2533"/>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33"/>
                    </a:lnTo>
                    <a:lnTo>
                      <a:pt x="5393" y="2454"/>
                    </a:lnTo>
                    <a:lnTo>
                      <a:pt x="5498" y="2388"/>
                    </a:lnTo>
                    <a:lnTo>
                      <a:pt x="5589" y="2297"/>
                    </a:lnTo>
                    <a:lnTo>
                      <a:pt x="5681" y="2205"/>
                    </a:lnTo>
                    <a:lnTo>
                      <a:pt x="5747" y="2100"/>
                    </a:lnTo>
                    <a:lnTo>
                      <a:pt x="5826" y="1982"/>
                    </a:lnTo>
                    <a:lnTo>
                      <a:pt x="5878" y="1864"/>
                    </a:lnTo>
                    <a:lnTo>
                      <a:pt x="5917" y="1746"/>
                    </a:lnTo>
                    <a:lnTo>
                      <a:pt x="5957" y="1614"/>
                    </a:lnTo>
                    <a:lnTo>
                      <a:pt x="5970" y="1483"/>
                    </a:lnTo>
                    <a:lnTo>
                      <a:pt x="5983" y="1339"/>
                    </a:lnTo>
                    <a:lnTo>
                      <a:pt x="5970" y="1208"/>
                    </a:lnTo>
                    <a:lnTo>
                      <a:pt x="5957" y="1076"/>
                    </a:lnTo>
                    <a:lnTo>
                      <a:pt x="5917" y="945"/>
                    </a:lnTo>
                    <a:lnTo>
                      <a:pt x="5878" y="827"/>
                    </a:lnTo>
                    <a:lnTo>
                      <a:pt x="5826" y="709"/>
                    </a:lnTo>
                    <a:lnTo>
                      <a:pt x="5747" y="591"/>
                    </a:lnTo>
                    <a:lnTo>
                      <a:pt x="5681" y="486"/>
                    </a:lnTo>
                    <a:lnTo>
                      <a:pt x="5589" y="394"/>
                    </a:lnTo>
                    <a:lnTo>
                      <a:pt x="5498" y="302"/>
                    </a:lnTo>
                    <a:lnTo>
                      <a:pt x="5393" y="224"/>
                    </a:lnTo>
                    <a:lnTo>
                      <a:pt x="5275" y="158"/>
                    </a:lnTo>
                    <a:lnTo>
                      <a:pt x="5156" y="106"/>
                    </a:lnTo>
                    <a:lnTo>
                      <a:pt x="5038" y="66"/>
                    </a:lnTo>
                    <a:lnTo>
                      <a:pt x="4907" y="27"/>
                    </a:lnTo>
                    <a:lnTo>
                      <a:pt x="477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2370;p45">
                <a:extLst>
                  <a:ext uri="{FF2B5EF4-FFF2-40B4-BE49-F238E27FC236}">
                    <a16:creationId xmlns:a16="http://schemas.microsoft.com/office/drawing/2014/main" id="{6B430B75-7FD2-7206-09D6-0263BEDB7337}"/>
                  </a:ext>
                </a:extLst>
              </p:cNvPr>
              <p:cNvSpPr/>
              <p:nvPr/>
            </p:nvSpPr>
            <p:spPr>
              <a:xfrm>
                <a:off x="3360083" y="3183846"/>
                <a:ext cx="36062" cy="36062"/>
              </a:xfrm>
              <a:custGeom>
                <a:avLst/>
                <a:gdLst/>
                <a:ahLst/>
                <a:cxnLst/>
                <a:rect l="l" t="t" r="r" b="b"/>
                <a:pathLst>
                  <a:path w="2009" h="2009" extrusionOk="0">
                    <a:moveTo>
                      <a:pt x="906" y="1"/>
                    </a:moveTo>
                    <a:lnTo>
                      <a:pt x="801" y="14"/>
                    </a:lnTo>
                    <a:lnTo>
                      <a:pt x="709" y="40"/>
                    </a:lnTo>
                    <a:lnTo>
                      <a:pt x="617" y="80"/>
                    </a:lnTo>
                    <a:lnTo>
                      <a:pt x="526" y="119"/>
                    </a:lnTo>
                    <a:lnTo>
                      <a:pt x="447" y="171"/>
                    </a:lnTo>
                    <a:lnTo>
                      <a:pt x="368" y="224"/>
                    </a:lnTo>
                    <a:lnTo>
                      <a:pt x="290" y="289"/>
                    </a:lnTo>
                    <a:lnTo>
                      <a:pt x="224" y="368"/>
                    </a:lnTo>
                    <a:lnTo>
                      <a:pt x="171" y="447"/>
                    </a:lnTo>
                    <a:lnTo>
                      <a:pt x="119" y="526"/>
                    </a:lnTo>
                    <a:lnTo>
                      <a:pt x="80" y="617"/>
                    </a:lnTo>
                    <a:lnTo>
                      <a:pt x="40" y="709"/>
                    </a:lnTo>
                    <a:lnTo>
                      <a:pt x="14" y="801"/>
                    </a:lnTo>
                    <a:lnTo>
                      <a:pt x="1" y="906"/>
                    </a:lnTo>
                    <a:lnTo>
                      <a:pt x="1" y="998"/>
                    </a:lnTo>
                    <a:lnTo>
                      <a:pt x="1" y="1103"/>
                    </a:lnTo>
                    <a:lnTo>
                      <a:pt x="14" y="1208"/>
                    </a:lnTo>
                    <a:lnTo>
                      <a:pt x="40" y="1300"/>
                    </a:lnTo>
                    <a:lnTo>
                      <a:pt x="80" y="1391"/>
                    </a:lnTo>
                    <a:lnTo>
                      <a:pt x="119" y="1483"/>
                    </a:lnTo>
                    <a:lnTo>
                      <a:pt x="171" y="1562"/>
                    </a:lnTo>
                    <a:lnTo>
                      <a:pt x="224" y="1641"/>
                    </a:lnTo>
                    <a:lnTo>
                      <a:pt x="290" y="1719"/>
                    </a:lnTo>
                    <a:lnTo>
                      <a:pt x="368" y="1785"/>
                    </a:lnTo>
                    <a:lnTo>
                      <a:pt x="447" y="1837"/>
                    </a:lnTo>
                    <a:lnTo>
                      <a:pt x="526" y="1890"/>
                    </a:lnTo>
                    <a:lnTo>
                      <a:pt x="617" y="1929"/>
                    </a:lnTo>
                    <a:lnTo>
                      <a:pt x="709" y="1969"/>
                    </a:lnTo>
                    <a:lnTo>
                      <a:pt x="801" y="1995"/>
                    </a:lnTo>
                    <a:lnTo>
                      <a:pt x="906" y="2008"/>
                    </a:lnTo>
                    <a:lnTo>
                      <a:pt x="1103" y="2008"/>
                    </a:lnTo>
                    <a:lnTo>
                      <a:pt x="1208" y="1995"/>
                    </a:lnTo>
                    <a:lnTo>
                      <a:pt x="1300" y="1969"/>
                    </a:lnTo>
                    <a:lnTo>
                      <a:pt x="1392" y="1929"/>
                    </a:lnTo>
                    <a:lnTo>
                      <a:pt x="1483" y="1890"/>
                    </a:lnTo>
                    <a:lnTo>
                      <a:pt x="1562" y="1837"/>
                    </a:lnTo>
                    <a:lnTo>
                      <a:pt x="1641" y="1785"/>
                    </a:lnTo>
                    <a:lnTo>
                      <a:pt x="1719" y="1719"/>
                    </a:lnTo>
                    <a:lnTo>
                      <a:pt x="1785" y="1641"/>
                    </a:lnTo>
                    <a:lnTo>
                      <a:pt x="1838" y="1562"/>
                    </a:lnTo>
                    <a:lnTo>
                      <a:pt x="1890" y="1483"/>
                    </a:lnTo>
                    <a:lnTo>
                      <a:pt x="1929" y="1391"/>
                    </a:lnTo>
                    <a:lnTo>
                      <a:pt x="1969" y="1300"/>
                    </a:lnTo>
                    <a:lnTo>
                      <a:pt x="1995" y="1208"/>
                    </a:lnTo>
                    <a:lnTo>
                      <a:pt x="2008" y="1103"/>
                    </a:lnTo>
                    <a:lnTo>
                      <a:pt x="2008" y="998"/>
                    </a:lnTo>
                    <a:lnTo>
                      <a:pt x="2008" y="906"/>
                    </a:lnTo>
                    <a:lnTo>
                      <a:pt x="1995" y="801"/>
                    </a:lnTo>
                    <a:lnTo>
                      <a:pt x="1969" y="709"/>
                    </a:lnTo>
                    <a:lnTo>
                      <a:pt x="1929" y="617"/>
                    </a:lnTo>
                    <a:lnTo>
                      <a:pt x="1890" y="526"/>
                    </a:lnTo>
                    <a:lnTo>
                      <a:pt x="1838" y="447"/>
                    </a:lnTo>
                    <a:lnTo>
                      <a:pt x="1785" y="368"/>
                    </a:lnTo>
                    <a:lnTo>
                      <a:pt x="1719" y="289"/>
                    </a:lnTo>
                    <a:lnTo>
                      <a:pt x="1641" y="224"/>
                    </a:lnTo>
                    <a:lnTo>
                      <a:pt x="1562" y="171"/>
                    </a:lnTo>
                    <a:lnTo>
                      <a:pt x="1483" y="119"/>
                    </a:lnTo>
                    <a:lnTo>
                      <a:pt x="1392" y="80"/>
                    </a:lnTo>
                    <a:lnTo>
                      <a:pt x="1300" y="40"/>
                    </a:lnTo>
                    <a:lnTo>
                      <a:pt x="1208" y="14"/>
                    </a:lnTo>
                    <a:lnTo>
                      <a:pt x="110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2371;p45">
                <a:extLst>
                  <a:ext uri="{FF2B5EF4-FFF2-40B4-BE49-F238E27FC236}">
                    <a16:creationId xmlns:a16="http://schemas.microsoft.com/office/drawing/2014/main" id="{537ADF8A-C40E-49AA-BA5B-4B5B223AE885}"/>
                  </a:ext>
                </a:extLst>
              </p:cNvPr>
              <p:cNvSpPr/>
              <p:nvPr/>
            </p:nvSpPr>
            <p:spPr>
              <a:xfrm>
                <a:off x="3364085" y="3187849"/>
                <a:ext cx="28056" cy="28056"/>
              </a:xfrm>
              <a:custGeom>
                <a:avLst/>
                <a:gdLst/>
                <a:ahLst/>
                <a:cxnLst/>
                <a:rect l="l" t="t" r="r" b="b"/>
                <a:pathLst>
                  <a:path w="1563" h="1563" extrusionOk="0">
                    <a:moveTo>
                      <a:pt x="696" y="1"/>
                    </a:moveTo>
                    <a:lnTo>
                      <a:pt x="618" y="14"/>
                    </a:lnTo>
                    <a:lnTo>
                      <a:pt x="473" y="66"/>
                    </a:lnTo>
                    <a:lnTo>
                      <a:pt x="342" y="132"/>
                    </a:lnTo>
                    <a:lnTo>
                      <a:pt x="224" y="224"/>
                    </a:lnTo>
                    <a:lnTo>
                      <a:pt x="132" y="342"/>
                    </a:lnTo>
                    <a:lnTo>
                      <a:pt x="67" y="473"/>
                    </a:lnTo>
                    <a:lnTo>
                      <a:pt x="14" y="617"/>
                    </a:lnTo>
                    <a:lnTo>
                      <a:pt x="1" y="696"/>
                    </a:lnTo>
                    <a:lnTo>
                      <a:pt x="1" y="775"/>
                    </a:lnTo>
                    <a:lnTo>
                      <a:pt x="1" y="867"/>
                    </a:lnTo>
                    <a:lnTo>
                      <a:pt x="14" y="932"/>
                    </a:lnTo>
                    <a:lnTo>
                      <a:pt x="67" y="1090"/>
                    </a:lnTo>
                    <a:lnTo>
                      <a:pt x="132" y="1221"/>
                    </a:lnTo>
                    <a:lnTo>
                      <a:pt x="224" y="1326"/>
                    </a:lnTo>
                    <a:lnTo>
                      <a:pt x="342" y="1431"/>
                    </a:lnTo>
                    <a:lnTo>
                      <a:pt x="473" y="1496"/>
                    </a:lnTo>
                    <a:lnTo>
                      <a:pt x="618" y="1549"/>
                    </a:lnTo>
                    <a:lnTo>
                      <a:pt x="696" y="1562"/>
                    </a:lnTo>
                    <a:lnTo>
                      <a:pt x="854" y="1562"/>
                    </a:lnTo>
                    <a:lnTo>
                      <a:pt x="932" y="1549"/>
                    </a:lnTo>
                    <a:lnTo>
                      <a:pt x="1090" y="1496"/>
                    </a:lnTo>
                    <a:lnTo>
                      <a:pt x="1221" y="1431"/>
                    </a:lnTo>
                    <a:lnTo>
                      <a:pt x="1326" y="1326"/>
                    </a:lnTo>
                    <a:lnTo>
                      <a:pt x="1431" y="1221"/>
                    </a:lnTo>
                    <a:lnTo>
                      <a:pt x="1496" y="1090"/>
                    </a:lnTo>
                    <a:lnTo>
                      <a:pt x="1549" y="932"/>
                    </a:lnTo>
                    <a:lnTo>
                      <a:pt x="1562" y="867"/>
                    </a:lnTo>
                    <a:lnTo>
                      <a:pt x="1562" y="775"/>
                    </a:lnTo>
                    <a:lnTo>
                      <a:pt x="1562" y="696"/>
                    </a:lnTo>
                    <a:lnTo>
                      <a:pt x="1549" y="617"/>
                    </a:lnTo>
                    <a:lnTo>
                      <a:pt x="1496" y="473"/>
                    </a:lnTo>
                    <a:lnTo>
                      <a:pt x="1431" y="342"/>
                    </a:lnTo>
                    <a:lnTo>
                      <a:pt x="1326" y="224"/>
                    </a:lnTo>
                    <a:lnTo>
                      <a:pt x="1221" y="132"/>
                    </a:lnTo>
                    <a:lnTo>
                      <a:pt x="1090" y="66"/>
                    </a:lnTo>
                    <a:lnTo>
                      <a:pt x="932" y="14"/>
                    </a:lnTo>
                    <a:lnTo>
                      <a:pt x="854"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2372;p45">
                <a:extLst>
                  <a:ext uri="{FF2B5EF4-FFF2-40B4-BE49-F238E27FC236}">
                    <a16:creationId xmlns:a16="http://schemas.microsoft.com/office/drawing/2014/main" id="{366C90C5-C6C5-0BBF-BDC0-84B1173E8840}"/>
                  </a:ext>
                </a:extLst>
              </p:cNvPr>
              <p:cNvSpPr/>
              <p:nvPr/>
            </p:nvSpPr>
            <p:spPr>
              <a:xfrm>
                <a:off x="3126248" y="2186095"/>
                <a:ext cx="42183" cy="41931"/>
              </a:xfrm>
              <a:custGeom>
                <a:avLst/>
                <a:gdLst/>
                <a:ahLst/>
                <a:cxnLst/>
                <a:rect l="l" t="t" r="r" b="b"/>
                <a:pathLst>
                  <a:path w="2350" h="2336" extrusionOk="0">
                    <a:moveTo>
                      <a:pt x="1050" y="1"/>
                    </a:moveTo>
                    <a:lnTo>
                      <a:pt x="932" y="14"/>
                    </a:lnTo>
                    <a:lnTo>
                      <a:pt x="814" y="53"/>
                    </a:lnTo>
                    <a:lnTo>
                      <a:pt x="709" y="92"/>
                    </a:lnTo>
                    <a:lnTo>
                      <a:pt x="604" y="132"/>
                    </a:lnTo>
                    <a:lnTo>
                      <a:pt x="512" y="197"/>
                    </a:lnTo>
                    <a:lnTo>
                      <a:pt x="421" y="263"/>
                    </a:lnTo>
                    <a:lnTo>
                      <a:pt x="342" y="342"/>
                    </a:lnTo>
                    <a:lnTo>
                      <a:pt x="263" y="420"/>
                    </a:lnTo>
                    <a:lnTo>
                      <a:pt x="198" y="512"/>
                    </a:lnTo>
                    <a:lnTo>
                      <a:pt x="132" y="604"/>
                    </a:lnTo>
                    <a:lnTo>
                      <a:pt x="93" y="709"/>
                    </a:lnTo>
                    <a:lnTo>
                      <a:pt x="53" y="814"/>
                    </a:lnTo>
                    <a:lnTo>
                      <a:pt x="14" y="932"/>
                    </a:lnTo>
                    <a:lnTo>
                      <a:pt x="1" y="1050"/>
                    </a:lnTo>
                    <a:lnTo>
                      <a:pt x="1" y="1168"/>
                    </a:lnTo>
                    <a:lnTo>
                      <a:pt x="1" y="1286"/>
                    </a:lnTo>
                    <a:lnTo>
                      <a:pt x="14" y="1404"/>
                    </a:lnTo>
                    <a:lnTo>
                      <a:pt x="53" y="1522"/>
                    </a:lnTo>
                    <a:lnTo>
                      <a:pt x="93" y="1627"/>
                    </a:lnTo>
                    <a:lnTo>
                      <a:pt x="132" y="1732"/>
                    </a:lnTo>
                    <a:lnTo>
                      <a:pt x="198" y="1824"/>
                    </a:lnTo>
                    <a:lnTo>
                      <a:pt x="263" y="1916"/>
                    </a:lnTo>
                    <a:lnTo>
                      <a:pt x="342" y="1995"/>
                    </a:lnTo>
                    <a:lnTo>
                      <a:pt x="421" y="2073"/>
                    </a:lnTo>
                    <a:lnTo>
                      <a:pt x="512" y="2139"/>
                    </a:lnTo>
                    <a:lnTo>
                      <a:pt x="604" y="2205"/>
                    </a:lnTo>
                    <a:lnTo>
                      <a:pt x="709" y="2244"/>
                    </a:lnTo>
                    <a:lnTo>
                      <a:pt x="814" y="2283"/>
                    </a:lnTo>
                    <a:lnTo>
                      <a:pt x="932" y="2323"/>
                    </a:lnTo>
                    <a:lnTo>
                      <a:pt x="1050" y="2336"/>
                    </a:lnTo>
                    <a:lnTo>
                      <a:pt x="1286" y="2336"/>
                    </a:lnTo>
                    <a:lnTo>
                      <a:pt x="1405" y="2323"/>
                    </a:lnTo>
                    <a:lnTo>
                      <a:pt x="1523" y="2283"/>
                    </a:lnTo>
                    <a:lnTo>
                      <a:pt x="1628" y="2244"/>
                    </a:lnTo>
                    <a:lnTo>
                      <a:pt x="1732" y="2205"/>
                    </a:lnTo>
                    <a:lnTo>
                      <a:pt x="1824" y="2139"/>
                    </a:lnTo>
                    <a:lnTo>
                      <a:pt x="1916" y="2073"/>
                    </a:lnTo>
                    <a:lnTo>
                      <a:pt x="1995" y="1995"/>
                    </a:lnTo>
                    <a:lnTo>
                      <a:pt x="2074" y="1916"/>
                    </a:lnTo>
                    <a:lnTo>
                      <a:pt x="2139" y="1824"/>
                    </a:lnTo>
                    <a:lnTo>
                      <a:pt x="2205" y="1732"/>
                    </a:lnTo>
                    <a:lnTo>
                      <a:pt x="2244" y="1627"/>
                    </a:lnTo>
                    <a:lnTo>
                      <a:pt x="2283" y="1522"/>
                    </a:lnTo>
                    <a:lnTo>
                      <a:pt x="2323" y="1404"/>
                    </a:lnTo>
                    <a:lnTo>
                      <a:pt x="2336" y="1286"/>
                    </a:lnTo>
                    <a:lnTo>
                      <a:pt x="2349" y="1168"/>
                    </a:lnTo>
                    <a:lnTo>
                      <a:pt x="2336" y="1050"/>
                    </a:lnTo>
                    <a:lnTo>
                      <a:pt x="2323" y="932"/>
                    </a:lnTo>
                    <a:lnTo>
                      <a:pt x="2283" y="814"/>
                    </a:lnTo>
                    <a:lnTo>
                      <a:pt x="2244" y="709"/>
                    </a:lnTo>
                    <a:lnTo>
                      <a:pt x="2205" y="604"/>
                    </a:lnTo>
                    <a:lnTo>
                      <a:pt x="2139" y="512"/>
                    </a:lnTo>
                    <a:lnTo>
                      <a:pt x="2074" y="420"/>
                    </a:lnTo>
                    <a:lnTo>
                      <a:pt x="1995" y="342"/>
                    </a:lnTo>
                    <a:lnTo>
                      <a:pt x="1916" y="263"/>
                    </a:lnTo>
                    <a:lnTo>
                      <a:pt x="1824" y="197"/>
                    </a:lnTo>
                    <a:lnTo>
                      <a:pt x="1732" y="132"/>
                    </a:lnTo>
                    <a:lnTo>
                      <a:pt x="1628" y="92"/>
                    </a:lnTo>
                    <a:lnTo>
                      <a:pt x="1523" y="53"/>
                    </a:lnTo>
                    <a:lnTo>
                      <a:pt x="1405" y="14"/>
                    </a:lnTo>
                    <a:lnTo>
                      <a:pt x="12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2373;p45">
                <a:extLst>
                  <a:ext uri="{FF2B5EF4-FFF2-40B4-BE49-F238E27FC236}">
                    <a16:creationId xmlns:a16="http://schemas.microsoft.com/office/drawing/2014/main" id="{8CF6EB1B-D73D-8AAD-5EE6-3F9F8106B621}"/>
                  </a:ext>
                </a:extLst>
              </p:cNvPr>
              <p:cNvSpPr/>
              <p:nvPr/>
            </p:nvSpPr>
            <p:spPr>
              <a:xfrm>
                <a:off x="3190311" y="2188680"/>
                <a:ext cx="207951" cy="36762"/>
              </a:xfrm>
              <a:custGeom>
                <a:avLst/>
                <a:gdLst/>
                <a:ahLst/>
                <a:cxnLst/>
                <a:rect l="l" t="t" r="r" b="b"/>
                <a:pathLst>
                  <a:path w="11585" h="2048" extrusionOk="0">
                    <a:moveTo>
                      <a:pt x="0" y="1"/>
                    </a:moveTo>
                    <a:lnTo>
                      <a:pt x="0" y="2047"/>
                    </a:lnTo>
                    <a:lnTo>
                      <a:pt x="11584" y="2047"/>
                    </a:lnTo>
                    <a:lnTo>
                      <a:pt x="115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2374;p45">
                <a:extLst>
                  <a:ext uri="{FF2B5EF4-FFF2-40B4-BE49-F238E27FC236}">
                    <a16:creationId xmlns:a16="http://schemas.microsoft.com/office/drawing/2014/main" id="{4F59E1FE-DBFC-6FCF-0111-ED25EF559ED4}"/>
                  </a:ext>
                </a:extLst>
              </p:cNvPr>
              <p:cNvSpPr/>
              <p:nvPr/>
            </p:nvSpPr>
            <p:spPr>
              <a:xfrm>
                <a:off x="3126248" y="2272758"/>
                <a:ext cx="42183" cy="42165"/>
              </a:xfrm>
              <a:custGeom>
                <a:avLst/>
                <a:gdLst/>
                <a:ahLst/>
                <a:cxnLst/>
                <a:rect l="l" t="t" r="r" b="b"/>
                <a:pathLst>
                  <a:path w="2350" h="2349" extrusionOk="0">
                    <a:moveTo>
                      <a:pt x="1168" y="0"/>
                    </a:moveTo>
                    <a:lnTo>
                      <a:pt x="1050" y="13"/>
                    </a:lnTo>
                    <a:lnTo>
                      <a:pt x="932" y="27"/>
                    </a:lnTo>
                    <a:lnTo>
                      <a:pt x="814" y="53"/>
                    </a:lnTo>
                    <a:lnTo>
                      <a:pt x="709" y="92"/>
                    </a:lnTo>
                    <a:lnTo>
                      <a:pt x="604" y="145"/>
                    </a:lnTo>
                    <a:lnTo>
                      <a:pt x="512" y="197"/>
                    </a:lnTo>
                    <a:lnTo>
                      <a:pt x="421" y="263"/>
                    </a:lnTo>
                    <a:lnTo>
                      <a:pt x="342" y="341"/>
                    </a:lnTo>
                    <a:lnTo>
                      <a:pt x="263" y="433"/>
                    </a:lnTo>
                    <a:lnTo>
                      <a:pt x="198" y="512"/>
                    </a:lnTo>
                    <a:lnTo>
                      <a:pt x="132" y="617"/>
                    </a:lnTo>
                    <a:lnTo>
                      <a:pt x="93" y="722"/>
                    </a:lnTo>
                    <a:lnTo>
                      <a:pt x="53" y="827"/>
                    </a:lnTo>
                    <a:lnTo>
                      <a:pt x="14" y="932"/>
                    </a:lnTo>
                    <a:lnTo>
                      <a:pt x="1" y="1050"/>
                    </a:lnTo>
                    <a:lnTo>
                      <a:pt x="1" y="1168"/>
                    </a:lnTo>
                    <a:lnTo>
                      <a:pt x="1" y="1299"/>
                    </a:lnTo>
                    <a:lnTo>
                      <a:pt x="14" y="1417"/>
                    </a:lnTo>
                    <a:lnTo>
                      <a:pt x="53" y="1522"/>
                    </a:lnTo>
                    <a:lnTo>
                      <a:pt x="93" y="1627"/>
                    </a:lnTo>
                    <a:lnTo>
                      <a:pt x="132" y="1732"/>
                    </a:lnTo>
                    <a:lnTo>
                      <a:pt x="198" y="1837"/>
                    </a:lnTo>
                    <a:lnTo>
                      <a:pt x="263" y="1916"/>
                    </a:lnTo>
                    <a:lnTo>
                      <a:pt x="342" y="2008"/>
                    </a:lnTo>
                    <a:lnTo>
                      <a:pt x="421" y="2086"/>
                    </a:lnTo>
                    <a:lnTo>
                      <a:pt x="512" y="2152"/>
                    </a:lnTo>
                    <a:lnTo>
                      <a:pt x="604" y="2204"/>
                    </a:lnTo>
                    <a:lnTo>
                      <a:pt x="709" y="2257"/>
                    </a:lnTo>
                    <a:lnTo>
                      <a:pt x="814" y="2296"/>
                    </a:lnTo>
                    <a:lnTo>
                      <a:pt x="932" y="2322"/>
                    </a:lnTo>
                    <a:lnTo>
                      <a:pt x="1050" y="2336"/>
                    </a:lnTo>
                    <a:lnTo>
                      <a:pt x="1168" y="2349"/>
                    </a:lnTo>
                    <a:lnTo>
                      <a:pt x="1286" y="2336"/>
                    </a:lnTo>
                    <a:lnTo>
                      <a:pt x="1405" y="2322"/>
                    </a:lnTo>
                    <a:lnTo>
                      <a:pt x="1523" y="2296"/>
                    </a:lnTo>
                    <a:lnTo>
                      <a:pt x="1628" y="2257"/>
                    </a:lnTo>
                    <a:lnTo>
                      <a:pt x="1732" y="2204"/>
                    </a:lnTo>
                    <a:lnTo>
                      <a:pt x="1824" y="2152"/>
                    </a:lnTo>
                    <a:lnTo>
                      <a:pt x="1916" y="2086"/>
                    </a:lnTo>
                    <a:lnTo>
                      <a:pt x="1995" y="2008"/>
                    </a:lnTo>
                    <a:lnTo>
                      <a:pt x="2074" y="1916"/>
                    </a:lnTo>
                    <a:lnTo>
                      <a:pt x="2139" y="1837"/>
                    </a:lnTo>
                    <a:lnTo>
                      <a:pt x="2205" y="1732"/>
                    </a:lnTo>
                    <a:lnTo>
                      <a:pt x="2244" y="1627"/>
                    </a:lnTo>
                    <a:lnTo>
                      <a:pt x="2283" y="1522"/>
                    </a:lnTo>
                    <a:lnTo>
                      <a:pt x="2323" y="1417"/>
                    </a:lnTo>
                    <a:lnTo>
                      <a:pt x="2336" y="1299"/>
                    </a:lnTo>
                    <a:lnTo>
                      <a:pt x="2349" y="1168"/>
                    </a:lnTo>
                    <a:lnTo>
                      <a:pt x="2336" y="1050"/>
                    </a:lnTo>
                    <a:lnTo>
                      <a:pt x="2323" y="932"/>
                    </a:lnTo>
                    <a:lnTo>
                      <a:pt x="2283" y="827"/>
                    </a:lnTo>
                    <a:lnTo>
                      <a:pt x="2244" y="722"/>
                    </a:lnTo>
                    <a:lnTo>
                      <a:pt x="2205" y="617"/>
                    </a:lnTo>
                    <a:lnTo>
                      <a:pt x="2139" y="512"/>
                    </a:lnTo>
                    <a:lnTo>
                      <a:pt x="2074" y="433"/>
                    </a:lnTo>
                    <a:lnTo>
                      <a:pt x="1995" y="341"/>
                    </a:lnTo>
                    <a:lnTo>
                      <a:pt x="1916" y="263"/>
                    </a:lnTo>
                    <a:lnTo>
                      <a:pt x="1824" y="197"/>
                    </a:lnTo>
                    <a:lnTo>
                      <a:pt x="1732" y="145"/>
                    </a:lnTo>
                    <a:lnTo>
                      <a:pt x="1628" y="92"/>
                    </a:lnTo>
                    <a:lnTo>
                      <a:pt x="1523" y="53"/>
                    </a:lnTo>
                    <a:lnTo>
                      <a:pt x="1405" y="27"/>
                    </a:lnTo>
                    <a:lnTo>
                      <a:pt x="1286" y="13"/>
                    </a:lnTo>
                    <a:lnTo>
                      <a:pt x="116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2375;p45">
                <a:extLst>
                  <a:ext uri="{FF2B5EF4-FFF2-40B4-BE49-F238E27FC236}">
                    <a16:creationId xmlns:a16="http://schemas.microsoft.com/office/drawing/2014/main" id="{9AF7668B-C55F-942E-0DDC-BCE9D2B0B35B}"/>
                  </a:ext>
                </a:extLst>
              </p:cNvPr>
              <p:cNvSpPr/>
              <p:nvPr/>
            </p:nvSpPr>
            <p:spPr>
              <a:xfrm>
                <a:off x="3190311" y="2275343"/>
                <a:ext cx="207951" cy="36995"/>
              </a:xfrm>
              <a:custGeom>
                <a:avLst/>
                <a:gdLst/>
                <a:ahLst/>
                <a:cxnLst/>
                <a:rect l="l" t="t" r="r" b="b"/>
                <a:pathLst>
                  <a:path w="11585" h="2061" extrusionOk="0">
                    <a:moveTo>
                      <a:pt x="0" y="1"/>
                    </a:moveTo>
                    <a:lnTo>
                      <a:pt x="0" y="2060"/>
                    </a:lnTo>
                    <a:lnTo>
                      <a:pt x="11584" y="2060"/>
                    </a:lnTo>
                    <a:lnTo>
                      <a:pt x="115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2376;p45">
                <a:extLst>
                  <a:ext uri="{FF2B5EF4-FFF2-40B4-BE49-F238E27FC236}">
                    <a16:creationId xmlns:a16="http://schemas.microsoft.com/office/drawing/2014/main" id="{69146C28-C478-28B8-5E6E-AF47B7A49AF2}"/>
                  </a:ext>
                </a:extLst>
              </p:cNvPr>
              <p:cNvSpPr/>
              <p:nvPr/>
            </p:nvSpPr>
            <p:spPr>
              <a:xfrm>
                <a:off x="3126248" y="2416394"/>
                <a:ext cx="42183" cy="42183"/>
              </a:xfrm>
              <a:custGeom>
                <a:avLst/>
                <a:gdLst/>
                <a:ahLst/>
                <a:cxnLst/>
                <a:rect l="l" t="t" r="r" b="b"/>
                <a:pathLst>
                  <a:path w="2350" h="2350" extrusionOk="0">
                    <a:moveTo>
                      <a:pt x="1050" y="1"/>
                    </a:moveTo>
                    <a:lnTo>
                      <a:pt x="932" y="27"/>
                    </a:lnTo>
                    <a:lnTo>
                      <a:pt x="814" y="53"/>
                    </a:lnTo>
                    <a:lnTo>
                      <a:pt x="709" y="93"/>
                    </a:lnTo>
                    <a:lnTo>
                      <a:pt x="604" y="145"/>
                    </a:lnTo>
                    <a:lnTo>
                      <a:pt x="512" y="198"/>
                    </a:lnTo>
                    <a:lnTo>
                      <a:pt x="421" y="263"/>
                    </a:lnTo>
                    <a:lnTo>
                      <a:pt x="342" y="342"/>
                    </a:lnTo>
                    <a:lnTo>
                      <a:pt x="263" y="421"/>
                    </a:lnTo>
                    <a:lnTo>
                      <a:pt x="198" y="513"/>
                    </a:lnTo>
                    <a:lnTo>
                      <a:pt x="132" y="618"/>
                    </a:lnTo>
                    <a:lnTo>
                      <a:pt x="93" y="709"/>
                    </a:lnTo>
                    <a:lnTo>
                      <a:pt x="53" y="827"/>
                    </a:lnTo>
                    <a:lnTo>
                      <a:pt x="14" y="932"/>
                    </a:lnTo>
                    <a:lnTo>
                      <a:pt x="1" y="1050"/>
                    </a:lnTo>
                    <a:lnTo>
                      <a:pt x="1" y="1169"/>
                    </a:lnTo>
                    <a:lnTo>
                      <a:pt x="1" y="1287"/>
                    </a:lnTo>
                    <a:lnTo>
                      <a:pt x="14" y="1405"/>
                    </a:lnTo>
                    <a:lnTo>
                      <a:pt x="53" y="1523"/>
                    </a:lnTo>
                    <a:lnTo>
                      <a:pt x="93" y="1628"/>
                    </a:lnTo>
                    <a:lnTo>
                      <a:pt x="132" y="1733"/>
                    </a:lnTo>
                    <a:lnTo>
                      <a:pt x="198" y="1825"/>
                    </a:lnTo>
                    <a:lnTo>
                      <a:pt x="263" y="1916"/>
                    </a:lnTo>
                    <a:lnTo>
                      <a:pt x="342" y="1995"/>
                    </a:lnTo>
                    <a:lnTo>
                      <a:pt x="421" y="2074"/>
                    </a:lnTo>
                    <a:lnTo>
                      <a:pt x="512" y="2139"/>
                    </a:lnTo>
                    <a:lnTo>
                      <a:pt x="604" y="2205"/>
                    </a:lnTo>
                    <a:lnTo>
                      <a:pt x="709" y="2257"/>
                    </a:lnTo>
                    <a:lnTo>
                      <a:pt x="814" y="2297"/>
                    </a:lnTo>
                    <a:lnTo>
                      <a:pt x="932" y="2323"/>
                    </a:lnTo>
                    <a:lnTo>
                      <a:pt x="1050" y="2336"/>
                    </a:lnTo>
                    <a:lnTo>
                      <a:pt x="1168" y="2349"/>
                    </a:lnTo>
                    <a:lnTo>
                      <a:pt x="1286" y="2336"/>
                    </a:lnTo>
                    <a:lnTo>
                      <a:pt x="1405" y="2323"/>
                    </a:lnTo>
                    <a:lnTo>
                      <a:pt x="1523" y="2297"/>
                    </a:lnTo>
                    <a:lnTo>
                      <a:pt x="1628" y="2257"/>
                    </a:lnTo>
                    <a:lnTo>
                      <a:pt x="1732" y="2205"/>
                    </a:lnTo>
                    <a:lnTo>
                      <a:pt x="1824" y="2139"/>
                    </a:lnTo>
                    <a:lnTo>
                      <a:pt x="1916" y="2074"/>
                    </a:lnTo>
                    <a:lnTo>
                      <a:pt x="1995" y="1995"/>
                    </a:lnTo>
                    <a:lnTo>
                      <a:pt x="2074" y="1916"/>
                    </a:lnTo>
                    <a:lnTo>
                      <a:pt x="2139" y="1825"/>
                    </a:lnTo>
                    <a:lnTo>
                      <a:pt x="2205" y="1733"/>
                    </a:lnTo>
                    <a:lnTo>
                      <a:pt x="2244" y="1628"/>
                    </a:lnTo>
                    <a:lnTo>
                      <a:pt x="2283" y="1523"/>
                    </a:lnTo>
                    <a:lnTo>
                      <a:pt x="2323" y="1405"/>
                    </a:lnTo>
                    <a:lnTo>
                      <a:pt x="2336" y="1287"/>
                    </a:lnTo>
                    <a:lnTo>
                      <a:pt x="2349" y="1169"/>
                    </a:lnTo>
                    <a:lnTo>
                      <a:pt x="2336" y="1050"/>
                    </a:lnTo>
                    <a:lnTo>
                      <a:pt x="2323" y="932"/>
                    </a:lnTo>
                    <a:lnTo>
                      <a:pt x="2283" y="827"/>
                    </a:lnTo>
                    <a:lnTo>
                      <a:pt x="2244" y="709"/>
                    </a:lnTo>
                    <a:lnTo>
                      <a:pt x="2205" y="618"/>
                    </a:lnTo>
                    <a:lnTo>
                      <a:pt x="2139" y="513"/>
                    </a:lnTo>
                    <a:lnTo>
                      <a:pt x="2074" y="421"/>
                    </a:lnTo>
                    <a:lnTo>
                      <a:pt x="1995" y="342"/>
                    </a:lnTo>
                    <a:lnTo>
                      <a:pt x="1916" y="263"/>
                    </a:lnTo>
                    <a:lnTo>
                      <a:pt x="1824" y="198"/>
                    </a:lnTo>
                    <a:lnTo>
                      <a:pt x="1732" y="145"/>
                    </a:lnTo>
                    <a:lnTo>
                      <a:pt x="1628" y="93"/>
                    </a:lnTo>
                    <a:lnTo>
                      <a:pt x="1523" y="53"/>
                    </a:lnTo>
                    <a:lnTo>
                      <a:pt x="1405" y="27"/>
                    </a:lnTo>
                    <a:lnTo>
                      <a:pt x="12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2377;p45">
                <a:extLst>
                  <a:ext uri="{FF2B5EF4-FFF2-40B4-BE49-F238E27FC236}">
                    <a16:creationId xmlns:a16="http://schemas.microsoft.com/office/drawing/2014/main" id="{C79C789D-7C52-71BA-B83B-3ED523B7A2ED}"/>
                  </a:ext>
                </a:extLst>
              </p:cNvPr>
              <p:cNvSpPr/>
              <p:nvPr/>
            </p:nvSpPr>
            <p:spPr>
              <a:xfrm>
                <a:off x="3190311" y="2418996"/>
                <a:ext cx="207951" cy="36744"/>
              </a:xfrm>
              <a:custGeom>
                <a:avLst/>
                <a:gdLst/>
                <a:ahLst/>
                <a:cxnLst/>
                <a:rect l="l" t="t" r="r" b="b"/>
                <a:pathLst>
                  <a:path w="11585" h="2047" extrusionOk="0">
                    <a:moveTo>
                      <a:pt x="0" y="0"/>
                    </a:moveTo>
                    <a:lnTo>
                      <a:pt x="0" y="2047"/>
                    </a:lnTo>
                    <a:lnTo>
                      <a:pt x="11584" y="2047"/>
                    </a:lnTo>
                    <a:lnTo>
                      <a:pt x="1158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2378;p45">
                <a:extLst>
                  <a:ext uri="{FF2B5EF4-FFF2-40B4-BE49-F238E27FC236}">
                    <a16:creationId xmlns:a16="http://schemas.microsoft.com/office/drawing/2014/main" id="{B3AF1A7C-B58C-886B-E529-1D1565ACEEC7}"/>
                  </a:ext>
                </a:extLst>
              </p:cNvPr>
              <p:cNvSpPr/>
              <p:nvPr/>
            </p:nvSpPr>
            <p:spPr>
              <a:xfrm>
                <a:off x="3126248" y="2503056"/>
                <a:ext cx="42183" cy="42183"/>
              </a:xfrm>
              <a:custGeom>
                <a:avLst/>
                <a:gdLst/>
                <a:ahLst/>
                <a:cxnLst/>
                <a:rect l="l" t="t" r="r" b="b"/>
                <a:pathLst>
                  <a:path w="2350" h="2350" extrusionOk="0">
                    <a:moveTo>
                      <a:pt x="1168" y="1"/>
                    </a:moveTo>
                    <a:lnTo>
                      <a:pt x="1050" y="14"/>
                    </a:lnTo>
                    <a:lnTo>
                      <a:pt x="932" y="27"/>
                    </a:lnTo>
                    <a:lnTo>
                      <a:pt x="814" y="53"/>
                    </a:lnTo>
                    <a:lnTo>
                      <a:pt x="709" y="93"/>
                    </a:lnTo>
                    <a:lnTo>
                      <a:pt x="604" y="145"/>
                    </a:lnTo>
                    <a:lnTo>
                      <a:pt x="512" y="211"/>
                    </a:lnTo>
                    <a:lnTo>
                      <a:pt x="421" y="276"/>
                    </a:lnTo>
                    <a:lnTo>
                      <a:pt x="342" y="342"/>
                    </a:lnTo>
                    <a:lnTo>
                      <a:pt x="263" y="434"/>
                    </a:lnTo>
                    <a:lnTo>
                      <a:pt x="198" y="526"/>
                    </a:lnTo>
                    <a:lnTo>
                      <a:pt x="132" y="617"/>
                    </a:lnTo>
                    <a:lnTo>
                      <a:pt x="93" y="722"/>
                    </a:lnTo>
                    <a:lnTo>
                      <a:pt x="53" y="827"/>
                    </a:lnTo>
                    <a:lnTo>
                      <a:pt x="14" y="945"/>
                    </a:lnTo>
                    <a:lnTo>
                      <a:pt x="1" y="1063"/>
                    </a:lnTo>
                    <a:lnTo>
                      <a:pt x="1" y="1181"/>
                    </a:lnTo>
                    <a:lnTo>
                      <a:pt x="1" y="1300"/>
                    </a:lnTo>
                    <a:lnTo>
                      <a:pt x="14" y="1418"/>
                    </a:lnTo>
                    <a:lnTo>
                      <a:pt x="53" y="1523"/>
                    </a:lnTo>
                    <a:lnTo>
                      <a:pt x="93" y="1641"/>
                    </a:lnTo>
                    <a:lnTo>
                      <a:pt x="132" y="1732"/>
                    </a:lnTo>
                    <a:lnTo>
                      <a:pt x="198" y="1837"/>
                    </a:lnTo>
                    <a:lnTo>
                      <a:pt x="263" y="1929"/>
                    </a:lnTo>
                    <a:lnTo>
                      <a:pt x="342" y="2008"/>
                    </a:lnTo>
                    <a:lnTo>
                      <a:pt x="421" y="2087"/>
                    </a:lnTo>
                    <a:lnTo>
                      <a:pt x="512" y="2152"/>
                    </a:lnTo>
                    <a:lnTo>
                      <a:pt x="604" y="2205"/>
                    </a:lnTo>
                    <a:lnTo>
                      <a:pt x="709" y="2257"/>
                    </a:lnTo>
                    <a:lnTo>
                      <a:pt x="814" y="2297"/>
                    </a:lnTo>
                    <a:lnTo>
                      <a:pt x="932" y="2323"/>
                    </a:lnTo>
                    <a:lnTo>
                      <a:pt x="1050" y="2349"/>
                    </a:lnTo>
                    <a:lnTo>
                      <a:pt x="1286" y="2349"/>
                    </a:lnTo>
                    <a:lnTo>
                      <a:pt x="1405" y="2323"/>
                    </a:lnTo>
                    <a:lnTo>
                      <a:pt x="1523" y="2297"/>
                    </a:lnTo>
                    <a:lnTo>
                      <a:pt x="1628" y="2257"/>
                    </a:lnTo>
                    <a:lnTo>
                      <a:pt x="1732" y="2205"/>
                    </a:lnTo>
                    <a:lnTo>
                      <a:pt x="1824" y="2152"/>
                    </a:lnTo>
                    <a:lnTo>
                      <a:pt x="1916" y="2087"/>
                    </a:lnTo>
                    <a:lnTo>
                      <a:pt x="1995" y="2008"/>
                    </a:lnTo>
                    <a:lnTo>
                      <a:pt x="2074" y="1929"/>
                    </a:lnTo>
                    <a:lnTo>
                      <a:pt x="2139" y="1837"/>
                    </a:lnTo>
                    <a:lnTo>
                      <a:pt x="2205" y="1732"/>
                    </a:lnTo>
                    <a:lnTo>
                      <a:pt x="2244" y="1641"/>
                    </a:lnTo>
                    <a:lnTo>
                      <a:pt x="2283" y="1523"/>
                    </a:lnTo>
                    <a:lnTo>
                      <a:pt x="2323" y="1418"/>
                    </a:lnTo>
                    <a:lnTo>
                      <a:pt x="2336" y="1300"/>
                    </a:lnTo>
                    <a:lnTo>
                      <a:pt x="2349" y="1181"/>
                    </a:lnTo>
                    <a:lnTo>
                      <a:pt x="2336" y="1063"/>
                    </a:lnTo>
                    <a:lnTo>
                      <a:pt x="2323" y="945"/>
                    </a:lnTo>
                    <a:lnTo>
                      <a:pt x="2283" y="827"/>
                    </a:lnTo>
                    <a:lnTo>
                      <a:pt x="2244" y="722"/>
                    </a:lnTo>
                    <a:lnTo>
                      <a:pt x="2205" y="617"/>
                    </a:lnTo>
                    <a:lnTo>
                      <a:pt x="2139" y="526"/>
                    </a:lnTo>
                    <a:lnTo>
                      <a:pt x="2074" y="434"/>
                    </a:lnTo>
                    <a:lnTo>
                      <a:pt x="1995" y="342"/>
                    </a:lnTo>
                    <a:lnTo>
                      <a:pt x="1916" y="276"/>
                    </a:lnTo>
                    <a:lnTo>
                      <a:pt x="1824" y="211"/>
                    </a:lnTo>
                    <a:lnTo>
                      <a:pt x="1732" y="145"/>
                    </a:lnTo>
                    <a:lnTo>
                      <a:pt x="1628" y="93"/>
                    </a:lnTo>
                    <a:lnTo>
                      <a:pt x="1523" y="53"/>
                    </a:lnTo>
                    <a:lnTo>
                      <a:pt x="1405" y="27"/>
                    </a:lnTo>
                    <a:lnTo>
                      <a:pt x="1286" y="14"/>
                    </a:lnTo>
                    <a:lnTo>
                      <a:pt x="116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2379;p45">
                <a:extLst>
                  <a:ext uri="{FF2B5EF4-FFF2-40B4-BE49-F238E27FC236}">
                    <a16:creationId xmlns:a16="http://schemas.microsoft.com/office/drawing/2014/main" id="{5AFA6344-F15E-9157-1A4D-C346B2BEC157}"/>
                  </a:ext>
                </a:extLst>
              </p:cNvPr>
              <p:cNvSpPr/>
              <p:nvPr/>
            </p:nvSpPr>
            <p:spPr>
              <a:xfrm>
                <a:off x="3190311" y="2505659"/>
                <a:ext cx="207951" cy="36977"/>
              </a:xfrm>
              <a:custGeom>
                <a:avLst/>
                <a:gdLst/>
                <a:ahLst/>
                <a:cxnLst/>
                <a:rect l="l" t="t" r="r" b="b"/>
                <a:pathLst>
                  <a:path w="11585" h="2060" extrusionOk="0">
                    <a:moveTo>
                      <a:pt x="0" y="0"/>
                    </a:moveTo>
                    <a:lnTo>
                      <a:pt x="0" y="2060"/>
                    </a:lnTo>
                    <a:lnTo>
                      <a:pt x="11584" y="2060"/>
                    </a:lnTo>
                    <a:lnTo>
                      <a:pt x="1158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2380;p45">
                <a:extLst>
                  <a:ext uri="{FF2B5EF4-FFF2-40B4-BE49-F238E27FC236}">
                    <a16:creationId xmlns:a16="http://schemas.microsoft.com/office/drawing/2014/main" id="{8A2AFD49-2B67-FD53-BC56-E54DF0F60979}"/>
                  </a:ext>
                </a:extLst>
              </p:cNvPr>
              <p:cNvSpPr/>
              <p:nvPr/>
            </p:nvSpPr>
            <p:spPr>
              <a:xfrm>
                <a:off x="3126248" y="2646710"/>
                <a:ext cx="42183" cy="42165"/>
              </a:xfrm>
              <a:custGeom>
                <a:avLst/>
                <a:gdLst/>
                <a:ahLst/>
                <a:cxnLst/>
                <a:rect l="l" t="t" r="r" b="b"/>
                <a:pathLst>
                  <a:path w="2350" h="2349" extrusionOk="0">
                    <a:moveTo>
                      <a:pt x="1050" y="0"/>
                    </a:moveTo>
                    <a:lnTo>
                      <a:pt x="932" y="27"/>
                    </a:lnTo>
                    <a:lnTo>
                      <a:pt x="814" y="53"/>
                    </a:lnTo>
                    <a:lnTo>
                      <a:pt x="709" y="92"/>
                    </a:lnTo>
                    <a:lnTo>
                      <a:pt x="604" y="145"/>
                    </a:lnTo>
                    <a:lnTo>
                      <a:pt x="512" y="197"/>
                    </a:lnTo>
                    <a:lnTo>
                      <a:pt x="421" y="263"/>
                    </a:lnTo>
                    <a:lnTo>
                      <a:pt x="342" y="341"/>
                    </a:lnTo>
                    <a:lnTo>
                      <a:pt x="263" y="433"/>
                    </a:lnTo>
                    <a:lnTo>
                      <a:pt x="198" y="512"/>
                    </a:lnTo>
                    <a:lnTo>
                      <a:pt x="132" y="617"/>
                    </a:lnTo>
                    <a:lnTo>
                      <a:pt x="93" y="722"/>
                    </a:lnTo>
                    <a:lnTo>
                      <a:pt x="53" y="827"/>
                    </a:lnTo>
                    <a:lnTo>
                      <a:pt x="14" y="932"/>
                    </a:lnTo>
                    <a:lnTo>
                      <a:pt x="1" y="1050"/>
                    </a:lnTo>
                    <a:lnTo>
                      <a:pt x="1" y="1168"/>
                    </a:lnTo>
                    <a:lnTo>
                      <a:pt x="1" y="1299"/>
                    </a:lnTo>
                    <a:lnTo>
                      <a:pt x="14" y="1404"/>
                    </a:lnTo>
                    <a:lnTo>
                      <a:pt x="53" y="1522"/>
                    </a:lnTo>
                    <a:lnTo>
                      <a:pt x="93" y="1627"/>
                    </a:lnTo>
                    <a:lnTo>
                      <a:pt x="132" y="1732"/>
                    </a:lnTo>
                    <a:lnTo>
                      <a:pt x="198" y="1824"/>
                    </a:lnTo>
                    <a:lnTo>
                      <a:pt x="263" y="1916"/>
                    </a:lnTo>
                    <a:lnTo>
                      <a:pt x="342" y="2008"/>
                    </a:lnTo>
                    <a:lnTo>
                      <a:pt x="421" y="2073"/>
                    </a:lnTo>
                    <a:lnTo>
                      <a:pt x="512" y="2152"/>
                    </a:lnTo>
                    <a:lnTo>
                      <a:pt x="604" y="2204"/>
                    </a:lnTo>
                    <a:lnTo>
                      <a:pt x="709" y="2257"/>
                    </a:lnTo>
                    <a:lnTo>
                      <a:pt x="814" y="2296"/>
                    </a:lnTo>
                    <a:lnTo>
                      <a:pt x="932" y="2322"/>
                    </a:lnTo>
                    <a:lnTo>
                      <a:pt x="1050" y="2336"/>
                    </a:lnTo>
                    <a:lnTo>
                      <a:pt x="1168" y="2349"/>
                    </a:lnTo>
                    <a:lnTo>
                      <a:pt x="1286" y="2336"/>
                    </a:lnTo>
                    <a:lnTo>
                      <a:pt x="1405" y="2322"/>
                    </a:lnTo>
                    <a:lnTo>
                      <a:pt x="1523" y="2296"/>
                    </a:lnTo>
                    <a:lnTo>
                      <a:pt x="1628" y="2257"/>
                    </a:lnTo>
                    <a:lnTo>
                      <a:pt x="1732" y="2204"/>
                    </a:lnTo>
                    <a:lnTo>
                      <a:pt x="1824" y="2152"/>
                    </a:lnTo>
                    <a:lnTo>
                      <a:pt x="1916" y="2073"/>
                    </a:lnTo>
                    <a:lnTo>
                      <a:pt x="1995" y="2008"/>
                    </a:lnTo>
                    <a:lnTo>
                      <a:pt x="2074" y="1916"/>
                    </a:lnTo>
                    <a:lnTo>
                      <a:pt x="2139" y="1824"/>
                    </a:lnTo>
                    <a:lnTo>
                      <a:pt x="2205" y="1732"/>
                    </a:lnTo>
                    <a:lnTo>
                      <a:pt x="2244" y="1627"/>
                    </a:lnTo>
                    <a:lnTo>
                      <a:pt x="2283" y="1522"/>
                    </a:lnTo>
                    <a:lnTo>
                      <a:pt x="2323" y="1404"/>
                    </a:lnTo>
                    <a:lnTo>
                      <a:pt x="2336" y="1299"/>
                    </a:lnTo>
                    <a:lnTo>
                      <a:pt x="2349" y="1168"/>
                    </a:lnTo>
                    <a:lnTo>
                      <a:pt x="2336" y="1050"/>
                    </a:lnTo>
                    <a:lnTo>
                      <a:pt x="2323" y="932"/>
                    </a:lnTo>
                    <a:lnTo>
                      <a:pt x="2283" y="827"/>
                    </a:lnTo>
                    <a:lnTo>
                      <a:pt x="2244" y="722"/>
                    </a:lnTo>
                    <a:lnTo>
                      <a:pt x="2205" y="617"/>
                    </a:lnTo>
                    <a:lnTo>
                      <a:pt x="2139" y="512"/>
                    </a:lnTo>
                    <a:lnTo>
                      <a:pt x="2074" y="433"/>
                    </a:lnTo>
                    <a:lnTo>
                      <a:pt x="1995" y="341"/>
                    </a:lnTo>
                    <a:lnTo>
                      <a:pt x="1916" y="263"/>
                    </a:lnTo>
                    <a:lnTo>
                      <a:pt x="1824" y="197"/>
                    </a:lnTo>
                    <a:lnTo>
                      <a:pt x="1732" y="145"/>
                    </a:lnTo>
                    <a:lnTo>
                      <a:pt x="1628" y="92"/>
                    </a:lnTo>
                    <a:lnTo>
                      <a:pt x="1523" y="53"/>
                    </a:lnTo>
                    <a:lnTo>
                      <a:pt x="1405" y="27"/>
                    </a:lnTo>
                    <a:lnTo>
                      <a:pt x="128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2381;p45">
                <a:extLst>
                  <a:ext uri="{FF2B5EF4-FFF2-40B4-BE49-F238E27FC236}">
                    <a16:creationId xmlns:a16="http://schemas.microsoft.com/office/drawing/2014/main" id="{15471C88-4095-B56D-DC12-CF13DA1296B1}"/>
                  </a:ext>
                </a:extLst>
              </p:cNvPr>
              <p:cNvSpPr/>
              <p:nvPr/>
            </p:nvSpPr>
            <p:spPr>
              <a:xfrm>
                <a:off x="3190311" y="2649295"/>
                <a:ext cx="207951" cy="36995"/>
              </a:xfrm>
              <a:custGeom>
                <a:avLst/>
                <a:gdLst/>
                <a:ahLst/>
                <a:cxnLst/>
                <a:rect l="l" t="t" r="r" b="b"/>
                <a:pathLst>
                  <a:path w="11585" h="2061" extrusionOk="0">
                    <a:moveTo>
                      <a:pt x="0" y="1"/>
                    </a:moveTo>
                    <a:lnTo>
                      <a:pt x="0" y="2060"/>
                    </a:lnTo>
                    <a:lnTo>
                      <a:pt x="11584" y="2060"/>
                    </a:lnTo>
                    <a:lnTo>
                      <a:pt x="1158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2382;p45">
                <a:extLst>
                  <a:ext uri="{FF2B5EF4-FFF2-40B4-BE49-F238E27FC236}">
                    <a16:creationId xmlns:a16="http://schemas.microsoft.com/office/drawing/2014/main" id="{523306FD-88A2-A12A-BCFC-5FCEE8C5129F}"/>
                  </a:ext>
                </a:extLst>
              </p:cNvPr>
              <p:cNvSpPr/>
              <p:nvPr/>
            </p:nvSpPr>
            <p:spPr>
              <a:xfrm>
                <a:off x="3126248" y="2733373"/>
                <a:ext cx="42183" cy="42165"/>
              </a:xfrm>
              <a:custGeom>
                <a:avLst/>
                <a:gdLst/>
                <a:ahLst/>
                <a:cxnLst/>
                <a:rect l="l" t="t" r="r" b="b"/>
                <a:pathLst>
                  <a:path w="2350" h="2349" extrusionOk="0">
                    <a:moveTo>
                      <a:pt x="1168" y="0"/>
                    </a:moveTo>
                    <a:lnTo>
                      <a:pt x="1050" y="13"/>
                    </a:lnTo>
                    <a:lnTo>
                      <a:pt x="932" y="26"/>
                    </a:lnTo>
                    <a:lnTo>
                      <a:pt x="814" y="66"/>
                    </a:lnTo>
                    <a:lnTo>
                      <a:pt x="709" y="105"/>
                    </a:lnTo>
                    <a:lnTo>
                      <a:pt x="604" y="144"/>
                    </a:lnTo>
                    <a:lnTo>
                      <a:pt x="512" y="210"/>
                    </a:lnTo>
                    <a:lnTo>
                      <a:pt x="421" y="276"/>
                    </a:lnTo>
                    <a:lnTo>
                      <a:pt x="342" y="354"/>
                    </a:lnTo>
                    <a:lnTo>
                      <a:pt x="263" y="433"/>
                    </a:lnTo>
                    <a:lnTo>
                      <a:pt x="198" y="525"/>
                    </a:lnTo>
                    <a:lnTo>
                      <a:pt x="132" y="617"/>
                    </a:lnTo>
                    <a:lnTo>
                      <a:pt x="93" y="722"/>
                    </a:lnTo>
                    <a:lnTo>
                      <a:pt x="53" y="827"/>
                    </a:lnTo>
                    <a:lnTo>
                      <a:pt x="14" y="945"/>
                    </a:lnTo>
                    <a:lnTo>
                      <a:pt x="1" y="1063"/>
                    </a:lnTo>
                    <a:lnTo>
                      <a:pt x="1" y="1181"/>
                    </a:lnTo>
                    <a:lnTo>
                      <a:pt x="1" y="1299"/>
                    </a:lnTo>
                    <a:lnTo>
                      <a:pt x="14" y="1417"/>
                    </a:lnTo>
                    <a:lnTo>
                      <a:pt x="53" y="1535"/>
                    </a:lnTo>
                    <a:lnTo>
                      <a:pt x="93" y="1640"/>
                    </a:lnTo>
                    <a:lnTo>
                      <a:pt x="132" y="1745"/>
                    </a:lnTo>
                    <a:lnTo>
                      <a:pt x="198" y="1837"/>
                    </a:lnTo>
                    <a:lnTo>
                      <a:pt x="263" y="1929"/>
                    </a:lnTo>
                    <a:lnTo>
                      <a:pt x="342" y="2007"/>
                    </a:lnTo>
                    <a:lnTo>
                      <a:pt x="421" y="2086"/>
                    </a:lnTo>
                    <a:lnTo>
                      <a:pt x="512" y="2152"/>
                    </a:lnTo>
                    <a:lnTo>
                      <a:pt x="604" y="2217"/>
                    </a:lnTo>
                    <a:lnTo>
                      <a:pt x="709" y="2257"/>
                    </a:lnTo>
                    <a:lnTo>
                      <a:pt x="814" y="2296"/>
                    </a:lnTo>
                    <a:lnTo>
                      <a:pt x="932" y="2335"/>
                    </a:lnTo>
                    <a:lnTo>
                      <a:pt x="1050" y="2348"/>
                    </a:lnTo>
                    <a:lnTo>
                      <a:pt x="1286" y="2348"/>
                    </a:lnTo>
                    <a:lnTo>
                      <a:pt x="1405" y="2335"/>
                    </a:lnTo>
                    <a:lnTo>
                      <a:pt x="1523" y="2296"/>
                    </a:lnTo>
                    <a:lnTo>
                      <a:pt x="1628" y="2257"/>
                    </a:lnTo>
                    <a:lnTo>
                      <a:pt x="1732" y="2217"/>
                    </a:lnTo>
                    <a:lnTo>
                      <a:pt x="1824" y="2152"/>
                    </a:lnTo>
                    <a:lnTo>
                      <a:pt x="1916" y="2086"/>
                    </a:lnTo>
                    <a:lnTo>
                      <a:pt x="1995" y="2007"/>
                    </a:lnTo>
                    <a:lnTo>
                      <a:pt x="2074" y="1929"/>
                    </a:lnTo>
                    <a:lnTo>
                      <a:pt x="2139" y="1837"/>
                    </a:lnTo>
                    <a:lnTo>
                      <a:pt x="2205" y="1745"/>
                    </a:lnTo>
                    <a:lnTo>
                      <a:pt x="2244" y="1640"/>
                    </a:lnTo>
                    <a:lnTo>
                      <a:pt x="2283" y="1535"/>
                    </a:lnTo>
                    <a:lnTo>
                      <a:pt x="2323" y="1417"/>
                    </a:lnTo>
                    <a:lnTo>
                      <a:pt x="2336" y="1299"/>
                    </a:lnTo>
                    <a:lnTo>
                      <a:pt x="2349" y="1181"/>
                    </a:lnTo>
                    <a:lnTo>
                      <a:pt x="2336" y="1063"/>
                    </a:lnTo>
                    <a:lnTo>
                      <a:pt x="2323" y="945"/>
                    </a:lnTo>
                    <a:lnTo>
                      <a:pt x="2283" y="827"/>
                    </a:lnTo>
                    <a:lnTo>
                      <a:pt x="2244" y="722"/>
                    </a:lnTo>
                    <a:lnTo>
                      <a:pt x="2205" y="617"/>
                    </a:lnTo>
                    <a:lnTo>
                      <a:pt x="2139" y="525"/>
                    </a:lnTo>
                    <a:lnTo>
                      <a:pt x="2074" y="433"/>
                    </a:lnTo>
                    <a:lnTo>
                      <a:pt x="1995" y="354"/>
                    </a:lnTo>
                    <a:lnTo>
                      <a:pt x="1916" y="276"/>
                    </a:lnTo>
                    <a:lnTo>
                      <a:pt x="1824" y="210"/>
                    </a:lnTo>
                    <a:lnTo>
                      <a:pt x="1732" y="144"/>
                    </a:lnTo>
                    <a:lnTo>
                      <a:pt x="1628" y="105"/>
                    </a:lnTo>
                    <a:lnTo>
                      <a:pt x="1523" y="66"/>
                    </a:lnTo>
                    <a:lnTo>
                      <a:pt x="1405" y="26"/>
                    </a:lnTo>
                    <a:lnTo>
                      <a:pt x="1286" y="13"/>
                    </a:lnTo>
                    <a:lnTo>
                      <a:pt x="116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2383;p45">
                <a:extLst>
                  <a:ext uri="{FF2B5EF4-FFF2-40B4-BE49-F238E27FC236}">
                    <a16:creationId xmlns:a16="http://schemas.microsoft.com/office/drawing/2014/main" id="{C3FDC72E-2040-EAB7-4C65-69987F9D0D6D}"/>
                  </a:ext>
                </a:extLst>
              </p:cNvPr>
              <p:cNvSpPr/>
              <p:nvPr/>
            </p:nvSpPr>
            <p:spPr>
              <a:xfrm>
                <a:off x="3190311" y="2736191"/>
                <a:ext cx="207951" cy="36762"/>
              </a:xfrm>
              <a:custGeom>
                <a:avLst/>
                <a:gdLst/>
                <a:ahLst/>
                <a:cxnLst/>
                <a:rect l="l" t="t" r="r" b="b"/>
                <a:pathLst>
                  <a:path w="11585" h="2048" extrusionOk="0">
                    <a:moveTo>
                      <a:pt x="0" y="1"/>
                    </a:moveTo>
                    <a:lnTo>
                      <a:pt x="0" y="2047"/>
                    </a:lnTo>
                    <a:lnTo>
                      <a:pt x="11584" y="2047"/>
                    </a:lnTo>
                    <a:lnTo>
                      <a:pt x="1158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2384;p45">
                <a:extLst>
                  <a:ext uri="{FF2B5EF4-FFF2-40B4-BE49-F238E27FC236}">
                    <a16:creationId xmlns:a16="http://schemas.microsoft.com/office/drawing/2014/main" id="{F9C6600E-C48A-7A6C-125B-A0548B9095FA}"/>
                  </a:ext>
                </a:extLst>
              </p:cNvPr>
              <p:cNvSpPr/>
              <p:nvPr/>
            </p:nvSpPr>
            <p:spPr>
              <a:xfrm>
                <a:off x="3076562" y="2367193"/>
                <a:ext cx="371386" cy="18"/>
              </a:xfrm>
              <a:custGeom>
                <a:avLst/>
                <a:gdLst/>
                <a:ahLst/>
                <a:cxnLst/>
                <a:rect l="l" t="t" r="r" b="b"/>
                <a:pathLst>
                  <a:path w="20690" h="1" fill="none" extrusionOk="0">
                    <a:moveTo>
                      <a:pt x="1" y="0"/>
                    </a:moveTo>
                    <a:lnTo>
                      <a:pt x="20689" y="0"/>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2385;p45">
                <a:extLst>
                  <a:ext uri="{FF2B5EF4-FFF2-40B4-BE49-F238E27FC236}">
                    <a16:creationId xmlns:a16="http://schemas.microsoft.com/office/drawing/2014/main" id="{4BB070CC-CF41-739A-30CE-19B8550B5A74}"/>
                  </a:ext>
                </a:extLst>
              </p:cNvPr>
              <p:cNvSpPr/>
              <p:nvPr/>
            </p:nvSpPr>
            <p:spPr>
              <a:xfrm>
                <a:off x="3076562" y="2596073"/>
                <a:ext cx="371386" cy="18"/>
              </a:xfrm>
              <a:custGeom>
                <a:avLst/>
                <a:gdLst/>
                <a:ahLst/>
                <a:cxnLst/>
                <a:rect l="l" t="t" r="r" b="b"/>
                <a:pathLst>
                  <a:path w="20690" h="1" fill="none" extrusionOk="0">
                    <a:moveTo>
                      <a:pt x="1" y="1"/>
                    </a:moveTo>
                    <a:lnTo>
                      <a:pt x="20689" y="1"/>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2386;p45">
                <a:extLst>
                  <a:ext uri="{FF2B5EF4-FFF2-40B4-BE49-F238E27FC236}">
                    <a16:creationId xmlns:a16="http://schemas.microsoft.com/office/drawing/2014/main" id="{FAC86E12-37E4-44B0-F921-5829EC5D4043}"/>
                  </a:ext>
                </a:extLst>
              </p:cNvPr>
              <p:cNvSpPr/>
              <p:nvPr/>
            </p:nvSpPr>
            <p:spPr>
              <a:xfrm>
                <a:off x="3076562" y="2813663"/>
                <a:ext cx="371386" cy="18"/>
              </a:xfrm>
              <a:custGeom>
                <a:avLst/>
                <a:gdLst/>
                <a:ahLst/>
                <a:cxnLst/>
                <a:rect l="l" t="t" r="r" b="b"/>
                <a:pathLst>
                  <a:path w="20690" h="1" fill="none" extrusionOk="0">
                    <a:moveTo>
                      <a:pt x="1" y="1"/>
                    </a:moveTo>
                    <a:lnTo>
                      <a:pt x="20689" y="1"/>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2387;p45">
                <a:extLst>
                  <a:ext uri="{FF2B5EF4-FFF2-40B4-BE49-F238E27FC236}">
                    <a16:creationId xmlns:a16="http://schemas.microsoft.com/office/drawing/2014/main" id="{1DC276EF-A156-7425-4555-04A9F9BF6DD2}"/>
                  </a:ext>
                </a:extLst>
              </p:cNvPr>
              <p:cNvSpPr/>
              <p:nvPr/>
            </p:nvSpPr>
            <p:spPr>
              <a:xfrm>
                <a:off x="3128133" y="2857461"/>
                <a:ext cx="134248" cy="36995"/>
              </a:xfrm>
              <a:custGeom>
                <a:avLst/>
                <a:gdLst/>
                <a:ahLst/>
                <a:cxnLst/>
                <a:rect l="l" t="t" r="r" b="b"/>
                <a:pathLst>
                  <a:path w="7479" h="2061" extrusionOk="0">
                    <a:moveTo>
                      <a:pt x="1" y="1"/>
                    </a:moveTo>
                    <a:lnTo>
                      <a:pt x="1" y="2061"/>
                    </a:lnTo>
                    <a:lnTo>
                      <a:pt x="7479" y="2061"/>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2388;p45">
                <a:extLst>
                  <a:ext uri="{FF2B5EF4-FFF2-40B4-BE49-F238E27FC236}">
                    <a16:creationId xmlns:a16="http://schemas.microsoft.com/office/drawing/2014/main" id="{ECA34F30-FB58-C329-FD19-87907EE77758}"/>
                  </a:ext>
                </a:extLst>
              </p:cNvPr>
              <p:cNvSpPr/>
              <p:nvPr/>
            </p:nvSpPr>
            <p:spPr>
              <a:xfrm>
                <a:off x="3128133" y="2922691"/>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2389;p45">
                <a:extLst>
                  <a:ext uri="{FF2B5EF4-FFF2-40B4-BE49-F238E27FC236}">
                    <a16:creationId xmlns:a16="http://schemas.microsoft.com/office/drawing/2014/main" id="{BF3BB79C-825D-D9D4-1D36-6D9D124693D0}"/>
                  </a:ext>
                </a:extLst>
              </p:cNvPr>
              <p:cNvSpPr/>
              <p:nvPr/>
            </p:nvSpPr>
            <p:spPr>
              <a:xfrm>
                <a:off x="3128133" y="2987688"/>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2390;p45">
                <a:extLst>
                  <a:ext uri="{FF2B5EF4-FFF2-40B4-BE49-F238E27FC236}">
                    <a16:creationId xmlns:a16="http://schemas.microsoft.com/office/drawing/2014/main" id="{592E53B4-DD4E-A315-A39B-91BCA1802E63}"/>
                  </a:ext>
                </a:extLst>
              </p:cNvPr>
              <p:cNvSpPr/>
              <p:nvPr/>
            </p:nvSpPr>
            <p:spPr>
              <a:xfrm>
                <a:off x="3128133" y="3052685"/>
                <a:ext cx="134248" cy="36995"/>
              </a:xfrm>
              <a:custGeom>
                <a:avLst/>
                <a:gdLst/>
                <a:ahLst/>
                <a:cxnLst/>
                <a:rect l="l" t="t" r="r" b="b"/>
                <a:pathLst>
                  <a:path w="7479" h="2061" extrusionOk="0">
                    <a:moveTo>
                      <a:pt x="1" y="1"/>
                    </a:moveTo>
                    <a:lnTo>
                      <a:pt x="1" y="2060"/>
                    </a:lnTo>
                    <a:lnTo>
                      <a:pt x="7479" y="2060"/>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2391;p45">
                <a:extLst>
                  <a:ext uri="{FF2B5EF4-FFF2-40B4-BE49-F238E27FC236}">
                    <a16:creationId xmlns:a16="http://schemas.microsoft.com/office/drawing/2014/main" id="{71F02716-0479-DD3F-B3C4-1C36BBADE844}"/>
                  </a:ext>
                </a:extLst>
              </p:cNvPr>
              <p:cNvSpPr/>
              <p:nvPr/>
            </p:nvSpPr>
            <p:spPr>
              <a:xfrm>
                <a:off x="3128133" y="3117916"/>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2392;p45">
                <a:extLst>
                  <a:ext uri="{FF2B5EF4-FFF2-40B4-BE49-F238E27FC236}">
                    <a16:creationId xmlns:a16="http://schemas.microsoft.com/office/drawing/2014/main" id="{A076B4D6-4E44-1031-B217-EBBC49BD7EB7}"/>
                  </a:ext>
                </a:extLst>
              </p:cNvPr>
              <p:cNvSpPr/>
              <p:nvPr/>
            </p:nvSpPr>
            <p:spPr>
              <a:xfrm>
                <a:off x="3128133" y="3182913"/>
                <a:ext cx="134248" cy="36744"/>
              </a:xfrm>
              <a:custGeom>
                <a:avLst/>
                <a:gdLst/>
                <a:ahLst/>
                <a:cxnLst/>
                <a:rect l="l" t="t" r="r" b="b"/>
                <a:pathLst>
                  <a:path w="7479" h="2047" extrusionOk="0">
                    <a:moveTo>
                      <a:pt x="1" y="0"/>
                    </a:moveTo>
                    <a:lnTo>
                      <a:pt x="1" y="2047"/>
                    </a:lnTo>
                    <a:lnTo>
                      <a:pt x="7479" y="2047"/>
                    </a:lnTo>
                    <a:lnTo>
                      <a:pt x="747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 name="Google Shape;2393;p45">
              <a:extLst>
                <a:ext uri="{FF2B5EF4-FFF2-40B4-BE49-F238E27FC236}">
                  <a16:creationId xmlns:a16="http://schemas.microsoft.com/office/drawing/2014/main" id="{4A74CE1D-6939-2CC8-A3E5-A90CED89F884}"/>
                </a:ext>
              </a:extLst>
            </p:cNvPr>
            <p:cNvGrpSpPr/>
            <p:nvPr/>
          </p:nvGrpSpPr>
          <p:grpSpPr>
            <a:xfrm>
              <a:off x="4962121" y="2452285"/>
              <a:ext cx="1066388" cy="666717"/>
              <a:chOff x="5097171" y="2413221"/>
              <a:chExt cx="931587" cy="582388"/>
            </a:xfrm>
          </p:grpSpPr>
          <p:sp>
            <p:nvSpPr>
              <p:cNvPr id="1123" name="Google Shape;2394;p45">
                <a:extLst>
                  <a:ext uri="{FF2B5EF4-FFF2-40B4-BE49-F238E27FC236}">
                    <a16:creationId xmlns:a16="http://schemas.microsoft.com/office/drawing/2014/main" id="{5617860E-618F-4EFA-F25F-DC039CF0206C}"/>
                  </a:ext>
                </a:extLst>
              </p:cNvPr>
              <p:cNvSpPr/>
              <p:nvPr/>
            </p:nvSpPr>
            <p:spPr>
              <a:xfrm>
                <a:off x="5097171" y="2465743"/>
                <a:ext cx="931587" cy="529866"/>
              </a:xfrm>
              <a:custGeom>
                <a:avLst/>
                <a:gdLst/>
                <a:ahLst/>
                <a:cxnLst/>
                <a:rect l="l" t="t" r="r" b="b"/>
                <a:pathLst>
                  <a:path w="51899" h="29519" extrusionOk="0">
                    <a:moveTo>
                      <a:pt x="0" y="1"/>
                    </a:moveTo>
                    <a:lnTo>
                      <a:pt x="0" y="29518"/>
                    </a:lnTo>
                    <a:lnTo>
                      <a:pt x="51899" y="29518"/>
                    </a:lnTo>
                    <a:lnTo>
                      <a:pt x="5189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2395;p45">
                <a:extLst>
                  <a:ext uri="{FF2B5EF4-FFF2-40B4-BE49-F238E27FC236}">
                    <a16:creationId xmlns:a16="http://schemas.microsoft.com/office/drawing/2014/main" id="{61328194-6E8E-F195-EBB3-1773834FADAF}"/>
                  </a:ext>
                </a:extLst>
              </p:cNvPr>
              <p:cNvSpPr/>
              <p:nvPr/>
            </p:nvSpPr>
            <p:spPr>
              <a:xfrm>
                <a:off x="5097171" y="2465743"/>
                <a:ext cx="931587" cy="529866"/>
              </a:xfrm>
              <a:custGeom>
                <a:avLst/>
                <a:gdLst/>
                <a:ahLst/>
                <a:cxnLst/>
                <a:rect l="l" t="t" r="r" b="b"/>
                <a:pathLst>
                  <a:path w="51899" h="29519" fill="none" extrusionOk="0">
                    <a:moveTo>
                      <a:pt x="51899" y="29518"/>
                    </a:moveTo>
                    <a:lnTo>
                      <a:pt x="0" y="29518"/>
                    </a:lnTo>
                    <a:lnTo>
                      <a:pt x="0" y="1"/>
                    </a:lnTo>
                    <a:lnTo>
                      <a:pt x="51899" y="1"/>
                    </a:lnTo>
                    <a:lnTo>
                      <a:pt x="51899" y="29518"/>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2396;p45">
                <a:extLst>
                  <a:ext uri="{FF2B5EF4-FFF2-40B4-BE49-F238E27FC236}">
                    <a16:creationId xmlns:a16="http://schemas.microsoft.com/office/drawing/2014/main" id="{193BC4AC-7994-E807-2E1E-0C1AF9D34526}"/>
                  </a:ext>
                </a:extLst>
              </p:cNvPr>
              <p:cNvSpPr/>
              <p:nvPr/>
            </p:nvSpPr>
            <p:spPr>
              <a:xfrm>
                <a:off x="5097171" y="2865364"/>
                <a:ext cx="931587" cy="130245"/>
              </a:xfrm>
              <a:custGeom>
                <a:avLst/>
                <a:gdLst/>
                <a:ahLst/>
                <a:cxnLst/>
                <a:rect l="l" t="t" r="r" b="b"/>
                <a:pathLst>
                  <a:path w="51899" h="7256" extrusionOk="0">
                    <a:moveTo>
                      <a:pt x="0" y="0"/>
                    </a:moveTo>
                    <a:lnTo>
                      <a:pt x="0" y="7255"/>
                    </a:lnTo>
                    <a:lnTo>
                      <a:pt x="51899" y="7255"/>
                    </a:lnTo>
                    <a:lnTo>
                      <a:pt x="5189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2397;p45">
                <a:extLst>
                  <a:ext uri="{FF2B5EF4-FFF2-40B4-BE49-F238E27FC236}">
                    <a16:creationId xmlns:a16="http://schemas.microsoft.com/office/drawing/2014/main" id="{70B1D3CD-4B17-DB09-0381-858D76E796BD}"/>
                  </a:ext>
                </a:extLst>
              </p:cNvPr>
              <p:cNvSpPr/>
              <p:nvPr/>
            </p:nvSpPr>
            <p:spPr>
              <a:xfrm>
                <a:off x="5125658" y="2917885"/>
                <a:ext cx="745338" cy="24968"/>
              </a:xfrm>
              <a:custGeom>
                <a:avLst/>
                <a:gdLst/>
                <a:ahLst/>
                <a:cxnLst/>
                <a:rect l="l" t="t" r="r" b="b"/>
                <a:pathLst>
                  <a:path w="41523" h="1391" extrusionOk="0">
                    <a:moveTo>
                      <a:pt x="1" y="0"/>
                    </a:moveTo>
                    <a:lnTo>
                      <a:pt x="1" y="1391"/>
                    </a:lnTo>
                    <a:lnTo>
                      <a:pt x="41522" y="1391"/>
                    </a:lnTo>
                    <a:lnTo>
                      <a:pt x="415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2398;p45">
                <a:extLst>
                  <a:ext uri="{FF2B5EF4-FFF2-40B4-BE49-F238E27FC236}">
                    <a16:creationId xmlns:a16="http://schemas.microsoft.com/office/drawing/2014/main" id="{B03C8B35-995E-00CB-7E25-93C0B6830808}"/>
                  </a:ext>
                </a:extLst>
              </p:cNvPr>
              <p:cNvSpPr/>
              <p:nvPr/>
            </p:nvSpPr>
            <p:spPr>
              <a:xfrm>
                <a:off x="5125658" y="2917885"/>
                <a:ext cx="372552" cy="24968"/>
              </a:xfrm>
              <a:custGeom>
                <a:avLst/>
                <a:gdLst/>
                <a:ahLst/>
                <a:cxnLst/>
                <a:rect l="l" t="t" r="r" b="b"/>
                <a:pathLst>
                  <a:path w="20755" h="1391" extrusionOk="0">
                    <a:moveTo>
                      <a:pt x="1" y="0"/>
                    </a:moveTo>
                    <a:lnTo>
                      <a:pt x="1" y="1391"/>
                    </a:lnTo>
                    <a:lnTo>
                      <a:pt x="20755" y="1391"/>
                    </a:lnTo>
                    <a:lnTo>
                      <a:pt x="207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2399;p45">
                <a:extLst>
                  <a:ext uri="{FF2B5EF4-FFF2-40B4-BE49-F238E27FC236}">
                    <a16:creationId xmlns:a16="http://schemas.microsoft.com/office/drawing/2014/main" id="{FD79C64C-EFA1-CBDB-8BEE-28EAAD4B60AC}"/>
                  </a:ext>
                </a:extLst>
              </p:cNvPr>
              <p:cNvSpPr/>
              <p:nvPr/>
            </p:nvSpPr>
            <p:spPr>
              <a:xfrm>
                <a:off x="5956689" y="2917885"/>
                <a:ext cx="11093" cy="6139"/>
              </a:xfrm>
              <a:custGeom>
                <a:avLst/>
                <a:gdLst/>
                <a:ahLst/>
                <a:cxnLst/>
                <a:rect l="l" t="t" r="r" b="b"/>
                <a:pathLst>
                  <a:path w="618" h="342" extrusionOk="0">
                    <a:moveTo>
                      <a:pt x="1" y="0"/>
                    </a:moveTo>
                    <a:lnTo>
                      <a:pt x="1" y="341"/>
                    </a:lnTo>
                    <a:lnTo>
                      <a:pt x="171" y="341"/>
                    </a:lnTo>
                    <a:lnTo>
                      <a:pt x="171" y="184"/>
                    </a:lnTo>
                    <a:lnTo>
                      <a:pt x="617" y="184"/>
                    </a:lnTo>
                    <a:lnTo>
                      <a:pt x="6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2400;p45">
                <a:extLst>
                  <a:ext uri="{FF2B5EF4-FFF2-40B4-BE49-F238E27FC236}">
                    <a16:creationId xmlns:a16="http://schemas.microsoft.com/office/drawing/2014/main" id="{4D038BE7-E126-BCB3-0936-B0C5FD897662}"/>
                  </a:ext>
                </a:extLst>
              </p:cNvPr>
              <p:cNvSpPr/>
              <p:nvPr/>
            </p:nvSpPr>
            <p:spPr>
              <a:xfrm>
                <a:off x="5989196" y="2917885"/>
                <a:ext cx="11075" cy="6139"/>
              </a:xfrm>
              <a:custGeom>
                <a:avLst/>
                <a:gdLst/>
                <a:ahLst/>
                <a:cxnLst/>
                <a:rect l="l" t="t" r="r" b="b"/>
                <a:pathLst>
                  <a:path w="617" h="342" extrusionOk="0">
                    <a:moveTo>
                      <a:pt x="0" y="0"/>
                    </a:moveTo>
                    <a:lnTo>
                      <a:pt x="0" y="184"/>
                    </a:lnTo>
                    <a:lnTo>
                      <a:pt x="446" y="184"/>
                    </a:lnTo>
                    <a:lnTo>
                      <a:pt x="446" y="341"/>
                    </a:lnTo>
                    <a:lnTo>
                      <a:pt x="617" y="341"/>
                    </a:lnTo>
                    <a:lnTo>
                      <a:pt x="6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2401;p45">
                <a:extLst>
                  <a:ext uri="{FF2B5EF4-FFF2-40B4-BE49-F238E27FC236}">
                    <a16:creationId xmlns:a16="http://schemas.microsoft.com/office/drawing/2014/main" id="{F09DA363-4C6D-70F2-1C75-90847F3AB9BF}"/>
                  </a:ext>
                </a:extLst>
              </p:cNvPr>
              <p:cNvSpPr/>
              <p:nvPr/>
            </p:nvSpPr>
            <p:spPr>
              <a:xfrm>
                <a:off x="5989196" y="2936948"/>
                <a:ext cx="11075" cy="5906"/>
              </a:xfrm>
              <a:custGeom>
                <a:avLst/>
                <a:gdLst/>
                <a:ahLst/>
                <a:cxnLst/>
                <a:rect l="l" t="t" r="r" b="b"/>
                <a:pathLst>
                  <a:path w="617" h="329" extrusionOk="0">
                    <a:moveTo>
                      <a:pt x="446" y="1"/>
                    </a:moveTo>
                    <a:lnTo>
                      <a:pt x="446" y="158"/>
                    </a:lnTo>
                    <a:lnTo>
                      <a:pt x="0" y="158"/>
                    </a:lnTo>
                    <a:lnTo>
                      <a:pt x="0" y="329"/>
                    </a:lnTo>
                    <a:lnTo>
                      <a:pt x="617" y="329"/>
                    </a:lnTo>
                    <a:lnTo>
                      <a:pt x="61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2402;p45">
                <a:extLst>
                  <a:ext uri="{FF2B5EF4-FFF2-40B4-BE49-F238E27FC236}">
                    <a16:creationId xmlns:a16="http://schemas.microsoft.com/office/drawing/2014/main" id="{E4C64E34-1005-80BD-B8D4-6E3EA2B9CCAC}"/>
                  </a:ext>
                </a:extLst>
              </p:cNvPr>
              <p:cNvSpPr/>
              <p:nvPr/>
            </p:nvSpPr>
            <p:spPr>
              <a:xfrm>
                <a:off x="5956689" y="2936948"/>
                <a:ext cx="11093" cy="5906"/>
              </a:xfrm>
              <a:custGeom>
                <a:avLst/>
                <a:gdLst/>
                <a:ahLst/>
                <a:cxnLst/>
                <a:rect l="l" t="t" r="r" b="b"/>
                <a:pathLst>
                  <a:path w="618" h="329" extrusionOk="0">
                    <a:moveTo>
                      <a:pt x="1" y="1"/>
                    </a:moveTo>
                    <a:lnTo>
                      <a:pt x="1" y="329"/>
                    </a:lnTo>
                    <a:lnTo>
                      <a:pt x="617" y="329"/>
                    </a:lnTo>
                    <a:lnTo>
                      <a:pt x="617" y="158"/>
                    </a:lnTo>
                    <a:lnTo>
                      <a:pt x="171" y="158"/>
                    </a:lnTo>
                    <a:lnTo>
                      <a:pt x="17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2403;p45">
                <a:extLst>
                  <a:ext uri="{FF2B5EF4-FFF2-40B4-BE49-F238E27FC236}">
                    <a16:creationId xmlns:a16="http://schemas.microsoft.com/office/drawing/2014/main" id="{64953FE2-5BD0-47F8-F8CC-96720973AF8D}"/>
                  </a:ext>
                </a:extLst>
              </p:cNvPr>
              <p:cNvSpPr/>
              <p:nvPr/>
            </p:nvSpPr>
            <p:spPr>
              <a:xfrm>
                <a:off x="5890292" y="2917885"/>
                <a:ext cx="47101" cy="24968"/>
              </a:xfrm>
              <a:custGeom>
                <a:avLst/>
                <a:gdLst/>
                <a:ahLst/>
                <a:cxnLst/>
                <a:rect l="l" t="t" r="r" b="b"/>
                <a:pathLst>
                  <a:path w="2624" h="1391" extrusionOk="0">
                    <a:moveTo>
                      <a:pt x="0" y="0"/>
                    </a:moveTo>
                    <a:lnTo>
                      <a:pt x="0" y="1391"/>
                    </a:lnTo>
                    <a:lnTo>
                      <a:pt x="2624" y="1391"/>
                    </a:lnTo>
                    <a:lnTo>
                      <a:pt x="26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2404;p45">
                <a:extLst>
                  <a:ext uri="{FF2B5EF4-FFF2-40B4-BE49-F238E27FC236}">
                    <a16:creationId xmlns:a16="http://schemas.microsoft.com/office/drawing/2014/main" id="{42B79DBA-C113-0B20-03C3-9F5EBB26FB8B}"/>
                  </a:ext>
                </a:extLst>
              </p:cNvPr>
              <p:cNvSpPr/>
              <p:nvPr/>
            </p:nvSpPr>
            <p:spPr>
              <a:xfrm>
                <a:off x="5907237" y="2922121"/>
                <a:ext cx="15796" cy="16729"/>
              </a:xfrm>
              <a:custGeom>
                <a:avLst/>
                <a:gdLst/>
                <a:ahLst/>
                <a:cxnLst/>
                <a:rect l="l" t="t" r="r" b="b"/>
                <a:pathLst>
                  <a:path w="880" h="932" extrusionOk="0">
                    <a:moveTo>
                      <a:pt x="1" y="0"/>
                    </a:moveTo>
                    <a:lnTo>
                      <a:pt x="1" y="459"/>
                    </a:lnTo>
                    <a:lnTo>
                      <a:pt x="1" y="932"/>
                    </a:lnTo>
                    <a:lnTo>
                      <a:pt x="447" y="695"/>
                    </a:lnTo>
                    <a:lnTo>
                      <a:pt x="880" y="459"/>
                    </a:lnTo>
                    <a:lnTo>
                      <a:pt x="447" y="223"/>
                    </a:ln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2405;p45">
                <a:extLst>
                  <a:ext uri="{FF2B5EF4-FFF2-40B4-BE49-F238E27FC236}">
                    <a16:creationId xmlns:a16="http://schemas.microsoft.com/office/drawing/2014/main" id="{967859E1-D92E-FBA8-5A5E-B7C7194FB015}"/>
                  </a:ext>
                </a:extLst>
              </p:cNvPr>
              <p:cNvSpPr/>
              <p:nvPr/>
            </p:nvSpPr>
            <p:spPr>
              <a:xfrm>
                <a:off x="5097171" y="2413221"/>
                <a:ext cx="931587" cy="52540"/>
              </a:xfrm>
              <a:custGeom>
                <a:avLst/>
                <a:gdLst/>
                <a:ahLst/>
                <a:cxnLst/>
                <a:rect l="l" t="t" r="r" b="b"/>
                <a:pathLst>
                  <a:path w="51899" h="2927" extrusionOk="0">
                    <a:moveTo>
                      <a:pt x="0" y="1"/>
                    </a:moveTo>
                    <a:lnTo>
                      <a:pt x="0" y="2927"/>
                    </a:lnTo>
                    <a:lnTo>
                      <a:pt x="51899" y="2927"/>
                    </a:lnTo>
                    <a:lnTo>
                      <a:pt x="5189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2406;p45">
                <a:extLst>
                  <a:ext uri="{FF2B5EF4-FFF2-40B4-BE49-F238E27FC236}">
                    <a16:creationId xmlns:a16="http://schemas.microsoft.com/office/drawing/2014/main" id="{514F102E-77D8-7363-CBA5-AC65339243B2}"/>
                  </a:ext>
                </a:extLst>
              </p:cNvPr>
              <p:cNvSpPr/>
              <p:nvPr/>
            </p:nvSpPr>
            <p:spPr>
              <a:xfrm>
                <a:off x="5343966" y="2582777"/>
                <a:ext cx="438016" cy="207484"/>
              </a:xfrm>
              <a:custGeom>
                <a:avLst/>
                <a:gdLst/>
                <a:ahLst/>
                <a:cxnLst/>
                <a:rect l="l" t="t" r="r" b="b"/>
                <a:pathLst>
                  <a:path w="24402" h="11559" extrusionOk="0">
                    <a:moveTo>
                      <a:pt x="5431" y="1"/>
                    </a:moveTo>
                    <a:lnTo>
                      <a:pt x="5143" y="27"/>
                    </a:lnTo>
                    <a:lnTo>
                      <a:pt x="4854" y="66"/>
                    </a:lnTo>
                    <a:lnTo>
                      <a:pt x="4565" y="119"/>
                    </a:lnTo>
                    <a:lnTo>
                      <a:pt x="4290" y="184"/>
                    </a:lnTo>
                    <a:lnTo>
                      <a:pt x="4014" y="263"/>
                    </a:lnTo>
                    <a:lnTo>
                      <a:pt x="3752" y="355"/>
                    </a:lnTo>
                    <a:lnTo>
                      <a:pt x="3490" y="460"/>
                    </a:lnTo>
                    <a:lnTo>
                      <a:pt x="3240" y="578"/>
                    </a:lnTo>
                    <a:lnTo>
                      <a:pt x="2991" y="709"/>
                    </a:lnTo>
                    <a:lnTo>
                      <a:pt x="2742" y="840"/>
                    </a:lnTo>
                    <a:lnTo>
                      <a:pt x="2519" y="998"/>
                    </a:lnTo>
                    <a:lnTo>
                      <a:pt x="2296" y="1155"/>
                    </a:lnTo>
                    <a:lnTo>
                      <a:pt x="2073" y="1326"/>
                    </a:lnTo>
                    <a:lnTo>
                      <a:pt x="1863" y="1509"/>
                    </a:lnTo>
                    <a:lnTo>
                      <a:pt x="1666" y="1706"/>
                    </a:lnTo>
                    <a:lnTo>
                      <a:pt x="1483" y="1903"/>
                    </a:lnTo>
                    <a:lnTo>
                      <a:pt x="1299" y="2113"/>
                    </a:lnTo>
                    <a:lnTo>
                      <a:pt x="1128" y="2336"/>
                    </a:lnTo>
                    <a:lnTo>
                      <a:pt x="971" y="2559"/>
                    </a:lnTo>
                    <a:lnTo>
                      <a:pt x="813" y="2795"/>
                    </a:lnTo>
                    <a:lnTo>
                      <a:pt x="682" y="3031"/>
                    </a:lnTo>
                    <a:lnTo>
                      <a:pt x="551" y="3280"/>
                    </a:lnTo>
                    <a:lnTo>
                      <a:pt x="446" y="3530"/>
                    </a:lnTo>
                    <a:lnTo>
                      <a:pt x="341" y="3792"/>
                    </a:lnTo>
                    <a:lnTo>
                      <a:pt x="249" y="4068"/>
                    </a:lnTo>
                    <a:lnTo>
                      <a:pt x="171" y="4343"/>
                    </a:lnTo>
                    <a:lnTo>
                      <a:pt x="105" y="4619"/>
                    </a:lnTo>
                    <a:lnTo>
                      <a:pt x="66" y="4894"/>
                    </a:lnTo>
                    <a:lnTo>
                      <a:pt x="26" y="5183"/>
                    </a:lnTo>
                    <a:lnTo>
                      <a:pt x="0" y="5471"/>
                    </a:lnTo>
                    <a:lnTo>
                      <a:pt x="0" y="5773"/>
                    </a:lnTo>
                    <a:lnTo>
                      <a:pt x="13" y="6075"/>
                    </a:lnTo>
                    <a:lnTo>
                      <a:pt x="26" y="6363"/>
                    </a:lnTo>
                    <a:lnTo>
                      <a:pt x="66" y="6652"/>
                    </a:lnTo>
                    <a:lnTo>
                      <a:pt x="118" y="6928"/>
                    </a:lnTo>
                    <a:lnTo>
                      <a:pt x="184" y="7203"/>
                    </a:lnTo>
                    <a:lnTo>
                      <a:pt x="262" y="7479"/>
                    </a:lnTo>
                    <a:lnTo>
                      <a:pt x="354" y="7741"/>
                    </a:lnTo>
                    <a:lnTo>
                      <a:pt x="459" y="8003"/>
                    </a:lnTo>
                    <a:lnTo>
                      <a:pt x="577" y="8266"/>
                    </a:lnTo>
                    <a:lnTo>
                      <a:pt x="708" y="8515"/>
                    </a:lnTo>
                    <a:lnTo>
                      <a:pt x="853" y="8751"/>
                    </a:lnTo>
                    <a:lnTo>
                      <a:pt x="997" y="8987"/>
                    </a:lnTo>
                    <a:lnTo>
                      <a:pt x="1155" y="9210"/>
                    </a:lnTo>
                    <a:lnTo>
                      <a:pt x="1338" y="9420"/>
                    </a:lnTo>
                    <a:lnTo>
                      <a:pt x="1509" y="9630"/>
                    </a:lnTo>
                    <a:lnTo>
                      <a:pt x="1706" y="9827"/>
                    </a:lnTo>
                    <a:lnTo>
                      <a:pt x="1902" y="10024"/>
                    </a:lnTo>
                    <a:lnTo>
                      <a:pt x="2112" y="10194"/>
                    </a:lnTo>
                    <a:lnTo>
                      <a:pt x="2335" y="10365"/>
                    </a:lnTo>
                    <a:lnTo>
                      <a:pt x="2558" y="10522"/>
                    </a:lnTo>
                    <a:lnTo>
                      <a:pt x="2794" y="10680"/>
                    </a:lnTo>
                    <a:lnTo>
                      <a:pt x="3031" y="10811"/>
                    </a:lnTo>
                    <a:lnTo>
                      <a:pt x="3280" y="10942"/>
                    </a:lnTo>
                    <a:lnTo>
                      <a:pt x="3542" y="11060"/>
                    </a:lnTo>
                    <a:lnTo>
                      <a:pt x="3805" y="11152"/>
                    </a:lnTo>
                    <a:lnTo>
                      <a:pt x="4067" y="11244"/>
                    </a:lnTo>
                    <a:lnTo>
                      <a:pt x="4342" y="11322"/>
                    </a:lnTo>
                    <a:lnTo>
                      <a:pt x="4618" y="11388"/>
                    </a:lnTo>
                    <a:lnTo>
                      <a:pt x="4907" y="11440"/>
                    </a:lnTo>
                    <a:lnTo>
                      <a:pt x="5195" y="11467"/>
                    </a:lnTo>
                    <a:lnTo>
                      <a:pt x="5484" y="11493"/>
                    </a:lnTo>
                    <a:lnTo>
                      <a:pt x="6061" y="11493"/>
                    </a:lnTo>
                    <a:lnTo>
                      <a:pt x="6337" y="11467"/>
                    </a:lnTo>
                    <a:lnTo>
                      <a:pt x="6612" y="11427"/>
                    </a:lnTo>
                    <a:lnTo>
                      <a:pt x="6888" y="11388"/>
                    </a:lnTo>
                    <a:lnTo>
                      <a:pt x="7150" y="11322"/>
                    </a:lnTo>
                    <a:lnTo>
                      <a:pt x="7412" y="11244"/>
                    </a:lnTo>
                    <a:lnTo>
                      <a:pt x="7675" y="11165"/>
                    </a:lnTo>
                    <a:lnTo>
                      <a:pt x="7924" y="11060"/>
                    </a:lnTo>
                    <a:lnTo>
                      <a:pt x="8173" y="10955"/>
                    </a:lnTo>
                    <a:lnTo>
                      <a:pt x="8409" y="10837"/>
                    </a:lnTo>
                    <a:lnTo>
                      <a:pt x="8645" y="10706"/>
                    </a:lnTo>
                    <a:lnTo>
                      <a:pt x="8868" y="10561"/>
                    </a:lnTo>
                    <a:lnTo>
                      <a:pt x="9092" y="10404"/>
                    </a:lnTo>
                    <a:lnTo>
                      <a:pt x="9301" y="10247"/>
                    </a:lnTo>
                    <a:lnTo>
                      <a:pt x="9511" y="10076"/>
                    </a:lnTo>
                    <a:lnTo>
                      <a:pt x="9708" y="9892"/>
                    </a:lnTo>
                    <a:lnTo>
                      <a:pt x="9905" y="9709"/>
                    </a:lnTo>
                    <a:lnTo>
                      <a:pt x="10075" y="9512"/>
                    </a:lnTo>
                    <a:lnTo>
                      <a:pt x="10246" y="9302"/>
                    </a:lnTo>
                    <a:lnTo>
                      <a:pt x="10417" y="9092"/>
                    </a:lnTo>
                    <a:lnTo>
                      <a:pt x="10561" y="8869"/>
                    </a:lnTo>
                    <a:lnTo>
                      <a:pt x="10705" y="8646"/>
                    </a:lnTo>
                    <a:lnTo>
                      <a:pt x="10836" y="8410"/>
                    </a:lnTo>
                    <a:lnTo>
                      <a:pt x="10954" y="8161"/>
                    </a:lnTo>
                    <a:lnTo>
                      <a:pt x="11059" y="7925"/>
                    </a:lnTo>
                    <a:lnTo>
                      <a:pt x="11164" y="7662"/>
                    </a:lnTo>
                    <a:lnTo>
                      <a:pt x="11243" y="7413"/>
                    </a:lnTo>
                    <a:lnTo>
                      <a:pt x="11322" y="7137"/>
                    </a:lnTo>
                    <a:lnTo>
                      <a:pt x="11387" y="6875"/>
                    </a:lnTo>
                    <a:lnTo>
                      <a:pt x="11427" y="6600"/>
                    </a:lnTo>
                    <a:lnTo>
                      <a:pt x="11466" y="6324"/>
                    </a:lnTo>
                    <a:lnTo>
                      <a:pt x="11492" y="6049"/>
                    </a:lnTo>
                    <a:lnTo>
                      <a:pt x="11623" y="5996"/>
                    </a:lnTo>
                    <a:lnTo>
                      <a:pt x="11781" y="5944"/>
                    </a:lnTo>
                    <a:lnTo>
                      <a:pt x="11978" y="5917"/>
                    </a:lnTo>
                    <a:lnTo>
                      <a:pt x="12188" y="5904"/>
                    </a:lnTo>
                    <a:lnTo>
                      <a:pt x="12358" y="5904"/>
                    </a:lnTo>
                    <a:lnTo>
                      <a:pt x="12542" y="5930"/>
                    </a:lnTo>
                    <a:lnTo>
                      <a:pt x="12725" y="5970"/>
                    </a:lnTo>
                    <a:lnTo>
                      <a:pt x="12909" y="6022"/>
                    </a:lnTo>
                    <a:lnTo>
                      <a:pt x="12922" y="6311"/>
                    </a:lnTo>
                    <a:lnTo>
                      <a:pt x="12962" y="6600"/>
                    </a:lnTo>
                    <a:lnTo>
                      <a:pt x="13001" y="6875"/>
                    </a:lnTo>
                    <a:lnTo>
                      <a:pt x="13067" y="7151"/>
                    </a:lnTo>
                    <a:lnTo>
                      <a:pt x="13132" y="7426"/>
                    </a:lnTo>
                    <a:lnTo>
                      <a:pt x="13224" y="7688"/>
                    </a:lnTo>
                    <a:lnTo>
                      <a:pt x="13316" y="7951"/>
                    </a:lnTo>
                    <a:lnTo>
                      <a:pt x="13434" y="8200"/>
                    </a:lnTo>
                    <a:lnTo>
                      <a:pt x="13552" y="8449"/>
                    </a:lnTo>
                    <a:lnTo>
                      <a:pt x="13683" y="8685"/>
                    </a:lnTo>
                    <a:lnTo>
                      <a:pt x="13814" y="8922"/>
                    </a:lnTo>
                    <a:lnTo>
                      <a:pt x="13972" y="9145"/>
                    </a:lnTo>
                    <a:lnTo>
                      <a:pt x="14129" y="9355"/>
                    </a:lnTo>
                    <a:lnTo>
                      <a:pt x="14313" y="9564"/>
                    </a:lnTo>
                    <a:lnTo>
                      <a:pt x="14483" y="9774"/>
                    </a:lnTo>
                    <a:lnTo>
                      <a:pt x="14680" y="9958"/>
                    </a:lnTo>
                    <a:lnTo>
                      <a:pt x="14877" y="10142"/>
                    </a:lnTo>
                    <a:lnTo>
                      <a:pt x="15087" y="10312"/>
                    </a:lnTo>
                    <a:lnTo>
                      <a:pt x="15297" y="10483"/>
                    </a:lnTo>
                    <a:lnTo>
                      <a:pt x="15520" y="10627"/>
                    </a:lnTo>
                    <a:lnTo>
                      <a:pt x="15756" y="10771"/>
                    </a:lnTo>
                    <a:lnTo>
                      <a:pt x="15992" y="10903"/>
                    </a:lnTo>
                    <a:lnTo>
                      <a:pt x="16241" y="11034"/>
                    </a:lnTo>
                    <a:lnTo>
                      <a:pt x="16491" y="11139"/>
                    </a:lnTo>
                    <a:lnTo>
                      <a:pt x="16740" y="11231"/>
                    </a:lnTo>
                    <a:lnTo>
                      <a:pt x="17002" y="11322"/>
                    </a:lnTo>
                    <a:lnTo>
                      <a:pt x="17278" y="11388"/>
                    </a:lnTo>
                    <a:lnTo>
                      <a:pt x="17553" y="11454"/>
                    </a:lnTo>
                    <a:lnTo>
                      <a:pt x="17829" y="11506"/>
                    </a:lnTo>
                    <a:lnTo>
                      <a:pt x="18104" y="11532"/>
                    </a:lnTo>
                    <a:lnTo>
                      <a:pt x="18393" y="11559"/>
                    </a:lnTo>
                    <a:lnTo>
                      <a:pt x="18681" y="11559"/>
                    </a:lnTo>
                    <a:lnTo>
                      <a:pt x="18970" y="11545"/>
                    </a:lnTo>
                    <a:lnTo>
                      <a:pt x="19272" y="11532"/>
                    </a:lnTo>
                    <a:lnTo>
                      <a:pt x="19560" y="11493"/>
                    </a:lnTo>
                    <a:lnTo>
                      <a:pt x="19836" y="11440"/>
                    </a:lnTo>
                    <a:lnTo>
                      <a:pt x="20111" y="11375"/>
                    </a:lnTo>
                    <a:lnTo>
                      <a:pt x="20387" y="11296"/>
                    </a:lnTo>
                    <a:lnTo>
                      <a:pt x="20649" y="11204"/>
                    </a:lnTo>
                    <a:lnTo>
                      <a:pt x="20912" y="11099"/>
                    </a:lnTo>
                    <a:lnTo>
                      <a:pt x="21174" y="10981"/>
                    </a:lnTo>
                    <a:lnTo>
                      <a:pt x="21410" y="10850"/>
                    </a:lnTo>
                    <a:lnTo>
                      <a:pt x="21659" y="10719"/>
                    </a:lnTo>
                    <a:lnTo>
                      <a:pt x="21882" y="10561"/>
                    </a:lnTo>
                    <a:lnTo>
                      <a:pt x="22119" y="10404"/>
                    </a:lnTo>
                    <a:lnTo>
                      <a:pt x="22329" y="10234"/>
                    </a:lnTo>
                    <a:lnTo>
                      <a:pt x="22538" y="10050"/>
                    </a:lnTo>
                    <a:lnTo>
                      <a:pt x="22735" y="9853"/>
                    </a:lnTo>
                    <a:lnTo>
                      <a:pt x="22932" y="9656"/>
                    </a:lnTo>
                    <a:lnTo>
                      <a:pt x="23103" y="9446"/>
                    </a:lnTo>
                    <a:lnTo>
                      <a:pt x="23273" y="9223"/>
                    </a:lnTo>
                    <a:lnTo>
                      <a:pt x="23431" y="9000"/>
                    </a:lnTo>
                    <a:lnTo>
                      <a:pt x="23588" y="8764"/>
                    </a:lnTo>
                    <a:lnTo>
                      <a:pt x="23719" y="8528"/>
                    </a:lnTo>
                    <a:lnTo>
                      <a:pt x="23850" y="8279"/>
                    </a:lnTo>
                    <a:lnTo>
                      <a:pt x="23968" y="8016"/>
                    </a:lnTo>
                    <a:lnTo>
                      <a:pt x="24060" y="7754"/>
                    </a:lnTo>
                    <a:lnTo>
                      <a:pt x="24152" y="7492"/>
                    </a:lnTo>
                    <a:lnTo>
                      <a:pt x="24231" y="7216"/>
                    </a:lnTo>
                    <a:lnTo>
                      <a:pt x="24296" y="6941"/>
                    </a:lnTo>
                    <a:lnTo>
                      <a:pt x="24336" y="6652"/>
                    </a:lnTo>
                    <a:lnTo>
                      <a:pt x="24375" y="6377"/>
                    </a:lnTo>
                    <a:lnTo>
                      <a:pt x="24401" y="6075"/>
                    </a:lnTo>
                    <a:lnTo>
                      <a:pt x="24401" y="5786"/>
                    </a:lnTo>
                    <a:lnTo>
                      <a:pt x="24401" y="5484"/>
                    </a:lnTo>
                    <a:lnTo>
                      <a:pt x="24375" y="5196"/>
                    </a:lnTo>
                    <a:lnTo>
                      <a:pt x="24336" y="4907"/>
                    </a:lnTo>
                    <a:lnTo>
                      <a:pt x="24283" y="4632"/>
                    </a:lnTo>
                    <a:lnTo>
                      <a:pt x="24218" y="4343"/>
                    </a:lnTo>
                    <a:lnTo>
                      <a:pt x="24139" y="4081"/>
                    </a:lnTo>
                    <a:lnTo>
                      <a:pt x="24047" y="3805"/>
                    </a:lnTo>
                    <a:lnTo>
                      <a:pt x="23942" y="3543"/>
                    </a:lnTo>
                    <a:lnTo>
                      <a:pt x="23824" y="3294"/>
                    </a:lnTo>
                    <a:lnTo>
                      <a:pt x="23693" y="3044"/>
                    </a:lnTo>
                    <a:lnTo>
                      <a:pt x="23562" y="2808"/>
                    </a:lnTo>
                    <a:lnTo>
                      <a:pt x="23404" y="2572"/>
                    </a:lnTo>
                    <a:lnTo>
                      <a:pt x="23247" y="2349"/>
                    </a:lnTo>
                    <a:lnTo>
                      <a:pt x="23076" y="2139"/>
                    </a:lnTo>
                    <a:lnTo>
                      <a:pt x="22893" y="1929"/>
                    </a:lnTo>
                    <a:lnTo>
                      <a:pt x="22696" y="1732"/>
                    </a:lnTo>
                    <a:lnTo>
                      <a:pt x="22499" y="1536"/>
                    </a:lnTo>
                    <a:lnTo>
                      <a:pt x="22289" y="1352"/>
                    </a:lnTo>
                    <a:lnTo>
                      <a:pt x="22066" y="1181"/>
                    </a:lnTo>
                    <a:lnTo>
                      <a:pt x="21843" y="1024"/>
                    </a:lnTo>
                    <a:lnTo>
                      <a:pt x="21607" y="880"/>
                    </a:lnTo>
                    <a:lnTo>
                      <a:pt x="21371" y="735"/>
                    </a:lnTo>
                    <a:lnTo>
                      <a:pt x="21122" y="617"/>
                    </a:lnTo>
                    <a:lnTo>
                      <a:pt x="20859" y="499"/>
                    </a:lnTo>
                    <a:lnTo>
                      <a:pt x="20610" y="394"/>
                    </a:lnTo>
                    <a:lnTo>
                      <a:pt x="20334" y="316"/>
                    </a:lnTo>
                    <a:lnTo>
                      <a:pt x="20059" y="237"/>
                    </a:lnTo>
                    <a:lnTo>
                      <a:pt x="19783" y="171"/>
                    </a:lnTo>
                    <a:lnTo>
                      <a:pt x="19508" y="119"/>
                    </a:lnTo>
                    <a:lnTo>
                      <a:pt x="19219" y="93"/>
                    </a:lnTo>
                    <a:lnTo>
                      <a:pt x="18918" y="66"/>
                    </a:lnTo>
                    <a:lnTo>
                      <a:pt x="18629" y="53"/>
                    </a:lnTo>
                    <a:lnTo>
                      <a:pt x="18367" y="66"/>
                    </a:lnTo>
                    <a:lnTo>
                      <a:pt x="18104" y="79"/>
                    </a:lnTo>
                    <a:lnTo>
                      <a:pt x="17855" y="119"/>
                    </a:lnTo>
                    <a:lnTo>
                      <a:pt x="17593" y="158"/>
                    </a:lnTo>
                    <a:lnTo>
                      <a:pt x="17343" y="211"/>
                    </a:lnTo>
                    <a:lnTo>
                      <a:pt x="17107" y="276"/>
                    </a:lnTo>
                    <a:lnTo>
                      <a:pt x="16858" y="342"/>
                    </a:lnTo>
                    <a:lnTo>
                      <a:pt x="16622" y="420"/>
                    </a:lnTo>
                    <a:lnTo>
                      <a:pt x="16399" y="525"/>
                    </a:lnTo>
                    <a:lnTo>
                      <a:pt x="16163" y="617"/>
                    </a:lnTo>
                    <a:lnTo>
                      <a:pt x="15940" y="735"/>
                    </a:lnTo>
                    <a:lnTo>
                      <a:pt x="15730" y="853"/>
                    </a:lnTo>
                    <a:lnTo>
                      <a:pt x="15520" y="985"/>
                    </a:lnTo>
                    <a:lnTo>
                      <a:pt x="15310" y="1129"/>
                    </a:lnTo>
                    <a:lnTo>
                      <a:pt x="15113" y="1273"/>
                    </a:lnTo>
                    <a:lnTo>
                      <a:pt x="14929" y="1431"/>
                    </a:lnTo>
                    <a:lnTo>
                      <a:pt x="14746" y="1588"/>
                    </a:lnTo>
                    <a:lnTo>
                      <a:pt x="14562" y="1759"/>
                    </a:lnTo>
                    <a:lnTo>
                      <a:pt x="14392" y="1942"/>
                    </a:lnTo>
                    <a:lnTo>
                      <a:pt x="14234" y="2126"/>
                    </a:lnTo>
                    <a:lnTo>
                      <a:pt x="14077" y="2323"/>
                    </a:lnTo>
                    <a:lnTo>
                      <a:pt x="13932" y="2520"/>
                    </a:lnTo>
                    <a:lnTo>
                      <a:pt x="13801" y="2729"/>
                    </a:lnTo>
                    <a:lnTo>
                      <a:pt x="13670" y="2939"/>
                    </a:lnTo>
                    <a:lnTo>
                      <a:pt x="13552" y="3162"/>
                    </a:lnTo>
                    <a:lnTo>
                      <a:pt x="13434" y="3385"/>
                    </a:lnTo>
                    <a:lnTo>
                      <a:pt x="13342" y="3608"/>
                    </a:lnTo>
                    <a:lnTo>
                      <a:pt x="13250" y="3845"/>
                    </a:lnTo>
                    <a:lnTo>
                      <a:pt x="13172" y="4081"/>
                    </a:lnTo>
                    <a:lnTo>
                      <a:pt x="13093" y="4330"/>
                    </a:lnTo>
                    <a:lnTo>
                      <a:pt x="13040" y="4579"/>
                    </a:lnTo>
                    <a:lnTo>
                      <a:pt x="12988" y="4842"/>
                    </a:lnTo>
                    <a:lnTo>
                      <a:pt x="12778" y="4789"/>
                    </a:lnTo>
                    <a:lnTo>
                      <a:pt x="12581" y="4763"/>
                    </a:lnTo>
                    <a:lnTo>
                      <a:pt x="12384" y="4750"/>
                    </a:lnTo>
                    <a:lnTo>
                      <a:pt x="12188" y="4737"/>
                    </a:lnTo>
                    <a:lnTo>
                      <a:pt x="11991" y="4750"/>
                    </a:lnTo>
                    <a:lnTo>
                      <a:pt x="11794" y="4763"/>
                    </a:lnTo>
                    <a:lnTo>
                      <a:pt x="11610" y="4789"/>
                    </a:lnTo>
                    <a:lnTo>
                      <a:pt x="11427" y="4842"/>
                    </a:lnTo>
                    <a:lnTo>
                      <a:pt x="11374" y="4579"/>
                    </a:lnTo>
                    <a:lnTo>
                      <a:pt x="11322" y="4330"/>
                    </a:lnTo>
                    <a:lnTo>
                      <a:pt x="11256" y="4081"/>
                    </a:lnTo>
                    <a:lnTo>
                      <a:pt x="11164" y="3845"/>
                    </a:lnTo>
                    <a:lnTo>
                      <a:pt x="11072" y="3595"/>
                    </a:lnTo>
                    <a:lnTo>
                      <a:pt x="10981" y="3372"/>
                    </a:lnTo>
                    <a:lnTo>
                      <a:pt x="10863" y="3136"/>
                    </a:lnTo>
                    <a:lnTo>
                      <a:pt x="10745" y="2913"/>
                    </a:lnTo>
                    <a:lnTo>
                      <a:pt x="10613" y="2703"/>
                    </a:lnTo>
                    <a:lnTo>
                      <a:pt x="10482" y="2493"/>
                    </a:lnTo>
                    <a:lnTo>
                      <a:pt x="10325" y="2283"/>
                    </a:lnTo>
                    <a:lnTo>
                      <a:pt x="10167" y="2087"/>
                    </a:lnTo>
                    <a:lnTo>
                      <a:pt x="10010" y="1903"/>
                    </a:lnTo>
                    <a:lnTo>
                      <a:pt x="9839" y="1719"/>
                    </a:lnTo>
                    <a:lnTo>
                      <a:pt x="9656" y="1549"/>
                    </a:lnTo>
                    <a:lnTo>
                      <a:pt x="9472" y="1378"/>
                    </a:lnTo>
                    <a:lnTo>
                      <a:pt x="9275" y="1221"/>
                    </a:lnTo>
                    <a:lnTo>
                      <a:pt x="9078" y="1063"/>
                    </a:lnTo>
                    <a:lnTo>
                      <a:pt x="8868" y="932"/>
                    </a:lnTo>
                    <a:lnTo>
                      <a:pt x="8659" y="801"/>
                    </a:lnTo>
                    <a:lnTo>
                      <a:pt x="8436" y="670"/>
                    </a:lnTo>
                    <a:lnTo>
                      <a:pt x="8213" y="552"/>
                    </a:lnTo>
                    <a:lnTo>
                      <a:pt x="7976" y="460"/>
                    </a:lnTo>
                    <a:lnTo>
                      <a:pt x="7740" y="355"/>
                    </a:lnTo>
                    <a:lnTo>
                      <a:pt x="7504" y="276"/>
                    </a:lnTo>
                    <a:lnTo>
                      <a:pt x="7268" y="197"/>
                    </a:lnTo>
                    <a:lnTo>
                      <a:pt x="7019" y="145"/>
                    </a:lnTo>
                    <a:lnTo>
                      <a:pt x="6756" y="93"/>
                    </a:lnTo>
                    <a:lnTo>
                      <a:pt x="6507" y="53"/>
                    </a:lnTo>
                    <a:lnTo>
                      <a:pt x="6245" y="14"/>
                    </a:lnTo>
                    <a:lnTo>
                      <a:pt x="598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2407;p45">
                <a:extLst>
                  <a:ext uri="{FF2B5EF4-FFF2-40B4-BE49-F238E27FC236}">
                    <a16:creationId xmlns:a16="http://schemas.microsoft.com/office/drawing/2014/main" id="{117F74E7-B304-32C5-D008-F13057D99D58}"/>
                  </a:ext>
                </a:extLst>
              </p:cNvPr>
              <p:cNvSpPr/>
              <p:nvPr/>
            </p:nvSpPr>
            <p:spPr>
              <a:xfrm>
                <a:off x="5343966" y="2582777"/>
                <a:ext cx="438016" cy="207484"/>
              </a:xfrm>
              <a:custGeom>
                <a:avLst/>
                <a:gdLst/>
                <a:ahLst/>
                <a:cxnLst/>
                <a:rect l="l" t="t" r="r" b="b"/>
                <a:pathLst>
                  <a:path w="24402" h="11559" fill="none" extrusionOk="0">
                    <a:moveTo>
                      <a:pt x="5720" y="1"/>
                    </a:moveTo>
                    <a:lnTo>
                      <a:pt x="5720" y="1"/>
                    </a:lnTo>
                    <a:lnTo>
                      <a:pt x="5982" y="1"/>
                    </a:lnTo>
                    <a:lnTo>
                      <a:pt x="6245" y="14"/>
                    </a:lnTo>
                    <a:lnTo>
                      <a:pt x="6507" y="53"/>
                    </a:lnTo>
                    <a:lnTo>
                      <a:pt x="6756" y="93"/>
                    </a:lnTo>
                    <a:lnTo>
                      <a:pt x="7019" y="145"/>
                    </a:lnTo>
                    <a:lnTo>
                      <a:pt x="7268" y="197"/>
                    </a:lnTo>
                    <a:lnTo>
                      <a:pt x="7504" y="276"/>
                    </a:lnTo>
                    <a:lnTo>
                      <a:pt x="7740" y="355"/>
                    </a:lnTo>
                    <a:lnTo>
                      <a:pt x="7976" y="460"/>
                    </a:lnTo>
                    <a:lnTo>
                      <a:pt x="8213" y="552"/>
                    </a:lnTo>
                    <a:lnTo>
                      <a:pt x="8436" y="670"/>
                    </a:lnTo>
                    <a:lnTo>
                      <a:pt x="8659" y="801"/>
                    </a:lnTo>
                    <a:lnTo>
                      <a:pt x="8868" y="932"/>
                    </a:lnTo>
                    <a:lnTo>
                      <a:pt x="9078" y="1063"/>
                    </a:lnTo>
                    <a:lnTo>
                      <a:pt x="9275" y="1221"/>
                    </a:lnTo>
                    <a:lnTo>
                      <a:pt x="9472" y="1378"/>
                    </a:lnTo>
                    <a:lnTo>
                      <a:pt x="9656" y="1549"/>
                    </a:lnTo>
                    <a:lnTo>
                      <a:pt x="9839" y="1719"/>
                    </a:lnTo>
                    <a:lnTo>
                      <a:pt x="10010" y="1903"/>
                    </a:lnTo>
                    <a:lnTo>
                      <a:pt x="10167" y="2087"/>
                    </a:lnTo>
                    <a:lnTo>
                      <a:pt x="10325" y="2283"/>
                    </a:lnTo>
                    <a:lnTo>
                      <a:pt x="10482" y="2493"/>
                    </a:lnTo>
                    <a:lnTo>
                      <a:pt x="10613" y="2703"/>
                    </a:lnTo>
                    <a:lnTo>
                      <a:pt x="10745" y="2913"/>
                    </a:lnTo>
                    <a:lnTo>
                      <a:pt x="10863" y="3136"/>
                    </a:lnTo>
                    <a:lnTo>
                      <a:pt x="10981" y="3372"/>
                    </a:lnTo>
                    <a:lnTo>
                      <a:pt x="11072" y="3595"/>
                    </a:lnTo>
                    <a:lnTo>
                      <a:pt x="11164" y="3845"/>
                    </a:lnTo>
                    <a:lnTo>
                      <a:pt x="11256" y="4081"/>
                    </a:lnTo>
                    <a:lnTo>
                      <a:pt x="11322" y="4330"/>
                    </a:lnTo>
                    <a:lnTo>
                      <a:pt x="11374" y="4579"/>
                    </a:lnTo>
                    <a:lnTo>
                      <a:pt x="11427" y="4842"/>
                    </a:lnTo>
                    <a:lnTo>
                      <a:pt x="11427" y="4842"/>
                    </a:lnTo>
                    <a:lnTo>
                      <a:pt x="11610" y="4789"/>
                    </a:lnTo>
                    <a:lnTo>
                      <a:pt x="11794" y="4763"/>
                    </a:lnTo>
                    <a:lnTo>
                      <a:pt x="11991" y="4750"/>
                    </a:lnTo>
                    <a:lnTo>
                      <a:pt x="12188" y="4737"/>
                    </a:lnTo>
                    <a:lnTo>
                      <a:pt x="12188" y="4737"/>
                    </a:lnTo>
                    <a:lnTo>
                      <a:pt x="12384" y="4750"/>
                    </a:lnTo>
                    <a:lnTo>
                      <a:pt x="12581" y="4763"/>
                    </a:lnTo>
                    <a:lnTo>
                      <a:pt x="12778" y="4789"/>
                    </a:lnTo>
                    <a:lnTo>
                      <a:pt x="12988" y="4842"/>
                    </a:lnTo>
                    <a:lnTo>
                      <a:pt x="12988" y="4842"/>
                    </a:lnTo>
                    <a:lnTo>
                      <a:pt x="13040" y="4579"/>
                    </a:lnTo>
                    <a:lnTo>
                      <a:pt x="13093" y="4330"/>
                    </a:lnTo>
                    <a:lnTo>
                      <a:pt x="13172" y="4081"/>
                    </a:lnTo>
                    <a:lnTo>
                      <a:pt x="13250" y="3845"/>
                    </a:lnTo>
                    <a:lnTo>
                      <a:pt x="13342" y="3608"/>
                    </a:lnTo>
                    <a:lnTo>
                      <a:pt x="13434" y="3385"/>
                    </a:lnTo>
                    <a:lnTo>
                      <a:pt x="13552" y="3162"/>
                    </a:lnTo>
                    <a:lnTo>
                      <a:pt x="13670" y="2939"/>
                    </a:lnTo>
                    <a:lnTo>
                      <a:pt x="13801" y="2729"/>
                    </a:lnTo>
                    <a:lnTo>
                      <a:pt x="13932" y="2520"/>
                    </a:lnTo>
                    <a:lnTo>
                      <a:pt x="14077" y="2323"/>
                    </a:lnTo>
                    <a:lnTo>
                      <a:pt x="14234" y="2126"/>
                    </a:lnTo>
                    <a:lnTo>
                      <a:pt x="14392" y="1942"/>
                    </a:lnTo>
                    <a:lnTo>
                      <a:pt x="14562" y="1759"/>
                    </a:lnTo>
                    <a:lnTo>
                      <a:pt x="14746" y="1588"/>
                    </a:lnTo>
                    <a:lnTo>
                      <a:pt x="14929" y="1431"/>
                    </a:lnTo>
                    <a:lnTo>
                      <a:pt x="15113" y="1273"/>
                    </a:lnTo>
                    <a:lnTo>
                      <a:pt x="15310" y="1129"/>
                    </a:lnTo>
                    <a:lnTo>
                      <a:pt x="15520" y="985"/>
                    </a:lnTo>
                    <a:lnTo>
                      <a:pt x="15730" y="853"/>
                    </a:lnTo>
                    <a:lnTo>
                      <a:pt x="15940" y="735"/>
                    </a:lnTo>
                    <a:lnTo>
                      <a:pt x="16163" y="617"/>
                    </a:lnTo>
                    <a:lnTo>
                      <a:pt x="16399" y="525"/>
                    </a:lnTo>
                    <a:lnTo>
                      <a:pt x="16622" y="420"/>
                    </a:lnTo>
                    <a:lnTo>
                      <a:pt x="16858" y="342"/>
                    </a:lnTo>
                    <a:lnTo>
                      <a:pt x="17107" y="276"/>
                    </a:lnTo>
                    <a:lnTo>
                      <a:pt x="17343" y="211"/>
                    </a:lnTo>
                    <a:lnTo>
                      <a:pt x="17593" y="158"/>
                    </a:lnTo>
                    <a:lnTo>
                      <a:pt x="17855" y="119"/>
                    </a:lnTo>
                    <a:lnTo>
                      <a:pt x="18104" y="79"/>
                    </a:lnTo>
                    <a:lnTo>
                      <a:pt x="18367" y="66"/>
                    </a:lnTo>
                    <a:lnTo>
                      <a:pt x="18629" y="53"/>
                    </a:lnTo>
                    <a:lnTo>
                      <a:pt x="18629" y="53"/>
                    </a:lnTo>
                    <a:lnTo>
                      <a:pt x="18918" y="66"/>
                    </a:lnTo>
                    <a:lnTo>
                      <a:pt x="19219" y="93"/>
                    </a:lnTo>
                    <a:lnTo>
                      <a:pt x="19508" y="119"/>
                    </a:lnTo>
                    <a:lnTo>
                      <a:pt x="19783" y="171"/>
                    </a:lnTo>
                    <a:lnTo>
                      <a:pt x="20059" y="237"/>
                    </a:lnTo>
                    <a:lnTo>
                      <a:pt x="20334" y="316"/>
                    </a:lnTo>
                    <a:lnTo>
                      <a:pt x="20610" y="394"/>
                    </a:lnTo>
                    <a:lnTo>
                      <a:pt x="20859" y="499"/>
                    </a:lnTo>
                    <a:lnTo>
                      <a:pt x="21122" y="617"/>
                    </a:lnTo>
                    <a:lnTo>
                      <a:pt x="21371" y="735"/>
                    </a:lnTo>
                    <a:lnTo>
                      <a:pt x="21607" y="880"/>
                    </a:lnTo>
                    <a:lnTo>
                      <a:pt x="21843" y="1024"/>
                    </a:lnTo>
                    <a:lnTo>
                      <a:pt x="22066" y="1181"/>
                    </a:lnTo>
                    <a:lnTo>
                      <a:pt x="22289" y="1352"/>
                    </a:lnTo>
                    <a:lnTo>
                      <a:pt x="22499" y="1536"/>
                    </a:lnTo>
                    <a:lnTo>
                      <a:pt x="22696" y="1732"/>
                    </a:lnTo>
                    <a:lnTo>
                      <a:pt x="22893" y="1929"/>
                    </a:lnTo>
                    <a:lnTo>
                      <a:pt x="23076" y="2139"/>
                    </a:lnTo>
                    <a:lnTo>
                      <a:pt x="23247" y="2349"/>
                    </a:lnTo>
                    <a:lnTo>
                      <a:pt x="23404" y="2572"/>
                    </a:lnTo>
                    <a:lnTo>
                      <a:pt x="23562" y="2808"/>
                    </a:lnTo>
                    <a:lnTo>
                      <a:pt x="23693" y="3044"/>
                    </a:lnTo>
                    <a:lnTo>
                      <a:pt x="23824" y="3294"/>
                    </a:lnTo>
                    <a:lnTo>
                      <a:pt x="23942" y="3543"/>
                    </a:lnTo>
                    <a:lnTo>
                      <a:pt x="24047" y="3805"/>
                    </a:lnTo>
                    <a:lnTo>
                      <a:pt x="24139" y="4081"/>
                    </a:lnTo>
                    <a:lnTo>
                      <a:pt x="24218" y="4343"/>
                    </a:lnTo>
                    <a:lnTo>
                      <a:pt x="24283" y="4632"/>
                    </a:lnTo>
                    <a:lnTo>
                      <a:pt x="24336" y="4907"/>
                    </a:lnTo>
                    <a:lnTo>
                      <a:pt x="24375" y="5196"/>
                    </a:lnTo>
                    <a:lnTo>
                      <a:pt x="24401" y="5484"/>
                    </a:lnTo>
                    <a:lnTo>
                      <a:pt x="24401" y="5786"/>
                    </a:lnTo>
                    <a:lnTo>
                      <a:pt x="24401" y="5786"/>
                    </a:lnTo>
                    <a:lnTo>
                      <a:pt x="24401" y="6075"/>
                    </a:lnTo>
                    <a:lnTo>
                      <a:pt x="24375" y="6377"/>
                    </a:lnTo>
                    <a:lnTo>
                      <a:pt x="24336" y="6652"/>
                    </a:lnTo>
                    <a:lnTo>
                      <a:pt x="24296" y="6941"/>
                    </a:lnTo>
                    <a:lnTo>
                      <a:pt x="24231" y="7216"/>
                    </a:lnTo>
                    <a:lnTo>
                      <a:pt x="24152" y="7492"/>
                    </a:lnTo>
                    <a:lnTo>
                      <a:pt x="24060" y="7754"/>
                    </a:lnTo>
                    <a:lnTo>
                      <a:pt x="23968" y="8016"/>
                    </a:lnTo>
                    <a:lnTo>
                      <a:pt x="23850" y="8279"/>
                    </a:lnTo>
                    <a:lnTo>
                      <a:pt x="23719" y="8528"/>
                    </a:lnTo>
                    <a:lnTo>
                      <a:pt x="23588" y="8764"/>
                    </a:lnTo>
                    <a:lnTo>
                      <a:pt x="23431" y="9000"/>
                    </a:lnTo>
                    <a:lnTo>
                      <a:pt x="23273" y="9223"/>
                    </a:lnTo>
                    <a:lnTo>
                      <a:pt x="23103" y="9446"/>
                    </a:lnTo>
                    <a:lnTo>
                      <a:pt x="22932" y="9656"/>
                    </a:lnTo>
                    <a:lnTo>
                      <a:pt x="22735" y="9853"/>
                    </a:lnTo>
                    <a:lnTo>
                      <a:pt x="22538" y="10050"/>
                    </a:lnTo>
                    <a:lnTo>
                      <a:pt x="22329" y="10234"/>
                    </a:lnTo>
                    <a:lnTo>
                      <a:pt x="22119" y="10404"/>
                    </a:lnTo>
                    <a:lnTo>
                      <a:pt x="21882" y="10561"/>
                    </a:lnTo>
                    <a:lnTo>
                      <a:pt x="21659" y="10719"/>
                    </a:lnTo>
                    <a:lnTo>
                      <a:pt x="21410" y="10850"/>
                    </a:lnTo>
                    <a:lnTo>
                      <a:pt x="21174" y="10981"/>
                    </a:lnTo>
                    <a:lnTo>
                      <a:pt x="20912" y="11099"/>
                    </a:lnTo>
                    <a:lnTo>
                      <a:pt x="20649" y="11204"/>
                    </a:lnTo>
                    <a:lnTo>
                      <a:pt x="20387" y="11296"/>
                    </a:lnTo>
                    <a:lnTo>
                      <a:pt x="20111" y="11375"/>
                    </a:lnTo>
                    <a:lnTo>
                      <a:pt x="19836" y="11440"/>
                    </a:lnTo>
                    <a:lnTo>
                      <a:pt x="19560" y="11493"/>
                    </a:lnTo>
                    <a:lnTo>
                      <a:pt x="19272" y="11532"/>
                    </a:lnTo>
                    <a:lnTo>
                      <a:pt x="18970" y="11545"/>
                    </a:lnTo>
                    <a:lnTo>
                      <a:pt x="18681" y="11559"/>
                    </a:lnTo>
                    <a:lnTo>
                      <a:pt x="18681" y="11559"/>
                    </a:lnTo>
                    <a:lnTo>
                      <a:pt x="18393" y="11559"/>
                    </a:lnTo>
                    <a:lnTo>
                      <a:pt x="18104" y="11532"/>
                    </a:lnTo>
                    <a:lnTo>
                      <a:pt x="17829" y="11506"/>
                    </a:lnTo>
                    <a:lnTo>
                      <a:pt x="17553" y="11454"/>
                    </a:lnTo>
                    <a:lnTo>
                      <a:pt x="17278" y="11388"/>
                    </a:lnTo>
                    <a:lnTo>
                      <a:pt x="17002" y="11322"/>
                    </a:lnTo>
                    <a:lnTo>
                      <a:pt x="16740" y="11231"/>
                    </a:lnTo>
                    <a:lnTo>
                      <a:pt x="16491" y="11139"/>
                    </a:lnTo>
                    <a:lnTo>
                      <a:pt x="16241" y="11034"/>
                    </a:lnTo>
                    <a:lnTo>
                      <a:pt x="15992" y="10903"/>
                    </a:lnTo>
                    <a:lnTo>
                      <a:pt x="15756" y="10771"/>
                    </a:lnTo>
                    <a:lnTo>
                      <a:pt x="15520" y="10627"/>
                    </a:lnTo>
                    <a:lnTo>
                      <a:pt x="15297" y="10483"/>
                    </a:lnTo>
                    <a:lnTo>
                      <a:pt x="15087" y="10312"/>
                    </a:lnTo>
                    <a:lnTo>
                      <a:pt x="14877" y="10142"/>
                    </a:lnTo>
                    <a:lnTo>
                      <a:pt x="14680" y="9958"/>
                    </a:lnTo>
                    <a:lnTo>
                      <a:pt x="14483" y="9774"/>
                    </a:lnTo>
                    <a:lnTo>
                      <a:pt x="14313" y="9564"/>
                    </a:lnTo>
                    <a:lnTo>
                      <a:pt x="14129" y="9355"/>
                    </a:lnTo>
                    <a:lnTo>
                      <a:pt x="13972" y="9145"/>
                    </a:lnTo>
                    <a:lnTo>
                      <a:pt x="13814" y="8922"/>
                    </a:lnTo>
                    <a:lnTo>
                      <a:pt x="13683" y="8685"/>
                    </a:lnTo>
                    <a:lnTo>
                      <a:pt x="13552" y="8449"/>
                    </a:lnTo>
                    <a:lnTo>
                      <a:pt x="13434" y="8200"/>
                    </a:lnTo>
                    <a:lnTo>
                      <a:pt x="13316" y="7951"/>
                    </a:lnTo>
                    <a:lnTo>
                      <a:pt x="13224" y="7688"/>
                    </a:lnTo>
                    <a:lnTo>
                      <a:pt x="13132" y="7426"/>
                    </a:lnTo>
                    <a:lnTo>
                      <a:pt x="13067" y="7151"/>
                    </a:lnTo>
                    <a:lnTo>
                      <a:pt x="13001" y="6875"/>
                    </a:lnTo>
                    <a:lnTo>
                      <a:pt x="12962" y="6600"/>
                    </a:lnTo>
                    <a:lnTo>
                      <a:pt x="12922" y="6311"/>
                    </a:lnTo>
                    <a:lnTo>
                      <a:pt x="12909" y="6022"/>
                    </a:lnTo>
                    <a:lnTo>
                      <a:pt x="12909" y="6022"/>
                    </a:lnTo>
                    <a:lnTo>
                      <a:pt x="12725" y="5970"/>
                    </a:lnTo>
                    <a:lnTo>
                      <a:pt x="12542" y="5930"/>
                    </a:lnTo>
                    <a:lnTo>
                      <a:pt x="12358" y="5904"/>
                    </a:lnTo>
                    <a:lnTo>
                      <a:pt x="12188" y="5904"/>
                    </a:lnTo>
                    <a:lnTo>
                      <a:pt x="12188" y="5904"/>
                    </a:lnTo>
                    <a:lnTo>
                      <a:pt x="11978" y="5917"/>
                    </a:lnTo>
                    <a:lnTo>
                      <a:pt x="11781" y="5944"/>
                    </a:lnTo>
                    <a:lnTo>
                      <a:pt x="11623" y="5996"/>
                    </a:lnTo>
                    <a:lnTo>
                      <a:pt x="11492" y="6049"/>
                    </a:lnTo>
                    <a:lnTo>
                      <a:pt x="11492" y="6049"/>
                    </a:lnTo>
                    <a:lnTo>
                      <a:pt x="11466" y="6324"/>
                    </a:lnTo>
                    <a:lnTo>
                      <a:pt x="11427" y="6600"/>
                    </a:lnTo>
                    <a:lnTo>
                      <a:pt x="11387" y="6875"/>
                    </a:lnTo>
                    <a:lnTo>
                      <a:pt x="11322" y="7137"/>
                    </a:lnTo>
                    <a:lnTo>
                      <a:pt x="11243" y="7413"/>
                    </a:lnTo>
                    <a:lnTo>
                      <a:pt x="11164" y="7662"/>
                    </a:lnTo>
                    <a:lnTo>
                      <a:pt x="11059" y="7925"/>
                    </a:lnTo>
                    <a:lnTo>
                      <a:pt x="10954" y="8161"/>
                    </a:lnTo>
                    <a:lnTo>
                      <a:pt x="10836" y="8410"/>
                    </a:lnTo>
                    <a:lnTo>
                      <a:pt x="10705" y="8646"/>
                    </a:lnTo>
                    <a:lnTo>
                      <a:pt x="10561" y="8869"/>
                    </a:lnTo>
                    <a:lnTo>
                      <a:pt x="10417" y="9092"/>
                    </a:lnTo>
                    <a:lnTo>
                      <a:pt x="10246" y="9302"/>
                    </a:lnTo>
                    <a:lnTo>
                      <a:pt x="10075" y="9512"/>
                    </a:lnTo>
                    <a:lnTo>
                      <a:pt x="9905" y="9709"/>
                    </a:lnTo>
                    <a:lnTo>
                      <a:pt x="9708" y="9892"/>
                    </a:lnTo>
                    <a:lnTo>
                      <a:pt x="9511" y="10076"/>
                    </a:lnTo>
                    <a:lnTo>
                      <a:pt x="9301" y="10247"/>
                    </a:lnTo>
                    <a:lnTo>
                      <a:pt x="9092" y="10404"/>
                    </a:lnTo>
                    <a:lnTo>
                      <a:pt x="8868" y="10561"/>
                    </a:lnTo>
                    <a:lnTo>
                      <a:pt x="8645" y="10706"/>
                    </a:lnTo>
                    <a:lnTo>
                      <a:pt x="8409" y="10837"/>
                    </a:lnTo>
                    <a:lnTo>
                      <a:pt x="8173" y="10955"/>
                    </a:lnTo>
                    <a:lnTo>
                      <a:pt x="7924" y="11060"/>
                    </a:lnTo>
                    <a:lnTo>
                      <a:pt x="7675" y="11165"/>
                    </a:lnTo>
                    <a:lnTo>
                      <a:pt x="7412" y="11244"/>
                    </a:lnTo>
                    <a:lnTo>
                      <a:pt x="7150" y="11322"/>
                    </a:lnTo>
                    <a:lnTo>
                      <a:pt x="6888" y="11388"/>
                    </a:lnTo>
                    <a:lnTo>
                      <a:pt x="6612" y="11427"/>
                    </a:lnTo>
                    <a:lnTo>
                      <a:pt x="6337" y="11467"/>
                    </a:lnTo>
                    <a:lnTo>
                      <a:pt x="6061" y="11493"/>
                    </a:lnTo>
                    <a:lnTo>
                      <a:pt x="5772" y="11493"/>
                    </a:lnTo>
                    <a:lnTo>
                      <a:pt x="5772" y="11493"/>
                    </a:lnTo>
                    <a:lnTo>
                      <a:pt x="5484" y="11493"/>
                    </a:lnTo>
                    <a:lnTo>
                      <a:pt x="5195" y="11467"/>
                    </a:lnTo>
                    <a:lnTo>
                      <a:pt x="4907" y="11440"/>
                    </a:lnTo>
                    <a:lnTo>
                      <a:pt x="4618" y="11388"/>
                    </a:lnTo>
                    <a:lnTo>
                      <a:pt x="4342" y="11322"/>
                    </a:lnTo>
                    <a:lnTo>
                      <a:pt x="4067" y="11244"/>
                    </a:lnTo>
                    <a:lnTo>
                      <a:pt x="3805" y="11152"/>
                    </a:lnTo>
                    <a:lnTo>
                      <a:pt x="3542" y="11060"/>
                    </a:lnTo>
                    <a:lnTo>
                      <a:pt x="3280" y="10942"/>
                    </a:lnTo>
                    <a:lnTo>
                      <a:pt x="3031" y="10811"/>
                    </a:lnTo>
                    <a:lnTo>
                      <a:pt x="2794" y="10680"/>
                    </a:lnTo>
                    <a:lnTo>
                      <a:pt x="2558" y="10522"/>
                    </a:lnTo>
                    <a:lnTo>
                      <a:pt x="2335" y="10365"/>
                    </a:lnTo>
                    <a:lnTo>
                      <a:pt x="2112" y="10194"/>
                    </a:lnTo>
                    <a:lnTo>
                      <a:pt x="1902" y="10024"/>
                    </a:lnTo>
                    <a:lnTo>
                      <a:pt x="1706" y="9827"/>
                    </a:lnTo>
                    <a:lnTo>
                      <a:pt x="1509" y="9630"/>
                    </a:lnTo>
                    <a:lnTo>
                      <a:pt x="1338" y="9420"/>
                    </a:lnTo>
                    <a:lnTo>
                      <a:pt x="1155" y="9210"/>
                    </a:lnTo>
                    <a:lnTo>
                      <a:pt x="997" y="8987"/>
                    </a:lnTo>
                    <a:lnTo>
                      <a:pt x="853" y="8751"/>
                    </a:lnTo>
                    <a:lnTo>
                      <a:pt x="708" y="8515"/>
                    </a:lnTo>
                    <a:lnTo>
                      <a:pt x="577" y="8266"/>
                    </a:lnTo>
                    <a:lnTo>
                      <a:pt x="459" y="8003"/>
                    </a:lnTo>
                    <a:lnTo>
                      <a:pt x="354" y="7741"/>
                    </a:lnTo>
                    <a:lnTo>
                      <a:pt x="262" y="7479"/>
                    </a:lnTo>
                    <a:lnTo>
                      <a:pt x="184" y="7203"/>
                    </a:lnTo>
                    <a:lnTo>
                      <a:pt x="118" y="6928"/>
                    </a:lnTo>
                    <a:lnTo>
                      <a:pt x="66" y="6652"/>
                    </a:lnTo>
                    <a:lnTo>
                      <a:pt x="26" y="6363"/>
                    </a:lnTo>
                    <a:lnTo>
                      <a:pt x="13" y="6075"/>
                    </a:lnTo>
                    <a:lnTo>
                      <a:pt x="0" y="5773"/>
                    </a:lnTo>
                    <a:lnTo>
                      <a:pt x="0" y="5773"/>
                    </a:lnTo>
                    <a:lnTo>
                      <a:pt x="0" y="5471"/>
                    </a:lnTo>
                    <a:lnTo>
                      <a:pt x="26" y="5183"/>
                    </a:lnTo>
                    <a:lnTo>
                      <a:pt x="66" y="4894"/>
                    </a:lnTo>
                    <a:lnTo>
                      <a:pt x="105" y="4619"/>
                    </a:lnTo>
                    <a:lnTo>
                      <a:pt x="171" y="4343"/>
                    </a:lnTo>
                    <a:lnTo>
                      <a:pt x="249" y="4068"/>
                    </a:lnTo>
                    <a:lnTo>
                      <a:pt x="341" y="3792"/>
                    </a:lnTo>
                    <a:lnTo>
                      <a:pt x="446" y="3530"/>
                    </a:lnTo>
                    <a:lnTo>
                      <a:pt x="551" y="3280"/>
                    </a:lnTo>
                    <a:lnTo>
                      <a:pt x="682" y="3031"/>
                    </a:lnTo>
                    <a:lnTo>
                      <a:pt x="813" y="2795"/>
                    </a:lnTo>
                    <a:lnTo>
                      <a:pt x="971" y="2559"/>
                    </a:lnTo>
                    <a:lnTo>
                      <a:pt x="1128" y="2336"/>
                    </a:lnTo>
                    <a:lnTo>
                      <a:pt x="1299" y="2113"/>
                    </a:lnTo>
                    <a:lnTo>
                      <a:pt x="1483" y="1903"/>
                    </a:lnTo>
                    <a:lnTo>
                      <a:pt x="1666" y="1706"/>
                    </a:lnTo>
                    <a:lnTo>
                      <a:pt x="1863" y="1509"/>
                    </a:lnTo>
                    <a:lnTo>
                      <a:pt x="2073" y="1326"/>
                    </a:lnTo>
                    <a:lnTo>
                      <a:pt x="2296" y="1155"/>
                    </a:lnTo>
                    <a:lnTo>
                      <a:pt x="2519" y="998"/>
                    </a:lnTo>
                    <a:lnTo>
                      <a:pt x="2742" y="840"/>
                    </a:lnTo>
                    <a:lnTo>
                      <a:pt x="2991" y="709"/>
                    </a:lnTo>
                    <a:lnTo>
                      <a:pt x="3240" y="578"/>
                    </a:lnTo>
                    <a:lnTo>
                      <a:pt x="3490" y="460"/>
                    </a:lnTo>
                    <a:lnTo>
                      <a:pt x="3752" y="355"/>
                    </a:lnTo>
                    <a:lnTo>
                      <a:pt x="4014" y="263"/>
                    </a:lnTo>
                    <a:lnTo>
                      <a:pt x="4290" y="184"/>
                    </a:lnTo>
                    <a:lnTo>
                      <a:pt x="4565" y="119"/>
                    </a:lnTo>
                    <a:lnTo>
                      <a:pt x="4854" y="66"/>
                    </a:lnTo>
                    <a:lnTo>
                      <a:pt x="5143" y="27"/>
                    </a:lnTo>
                    <a:lnTo>
                      <a:pt x="5431" y="1"/>
                    </a:lnTo>
                    <a:lnTo>
                      <a:pt x="5720"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2408;p45">
                <a:extLst>
                  <a:ext uri="{FF2B5EF4-FFF2-40B4-BE49-F238E27FC236}">
                    <a16:creationId xmlns:a16="http://schemas.microsoft.com/office/drawing/2014/main" id="{18D83A1C-9B08-3955-D805-503EF4D866A7}"/>
                  </a:ext>
                </a:extLst>
              </p:cNvPr>
              <p:cNvSpPr/>
              <p:nvPr/>
            </p:nvSpPr>
            <p:spPr>
              <a:xfrm>
                <a:off x="5595463" y="2603024"/>
                <a:ext cx="162268" cy="163453"/>
              </a:xfrm>
              <a:custGeom>
                <a:avLst/>
                <a:gdLst/>
                <a:ahLst/>
                <a:cxnLst/>
                <a:rect l="l" t="t" r="r" b="b"/>
                <a:pathLst>
                  <a:path w="9040" h="9106" extrusionOk="0">
                    <a:moveTo>
                      <a:pt x="7963" y="1"/>
                    </a:moveTo>
                    <a:lnTo>
                      <a:pt x="5982" y="2021"/>
                    </a:lnTo>
                    <a:lnTo>
                      <a:pt x="4001" y="4028"/>
                    </a:lnTo>
                    <a:lnTo>
                      <a:pt x="0" y="8043"/>
                    </a:lnTo>
                    <a:lnTo>
                      <a:pt x="223" y="8331"/>
                    </a:lnTo>
                    <a:lnTo>
                      <a:pt x="459" y="8607"/>
                    </a:lnTo>
                    <a:lnTo>
                      <a:pt x="709" y="8869"/>
                    </a:lnTo>
                    <a:lnTo>
                      <a:pt x="984" y="9106"/>
                    </a:lnTo>
                    <a:lnTo>
                      <a:pt x="9039" y="972"/>
                    </a:lnTo>
                    <a:lnTo>
                      <a:pt x="8790" y="709"/>
                    </a:lnTo>
                    <a:lnTo>
                      <a:pt x="8527" y="447"/>
                    </a:lnTo>
                    <a:lnTo>
                      <a:pt x="8252" y="211"/>
                    </a:lnTo>
                    <a:lnTo>
                      <a:pt x="796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2409;p45">
                <a:extLst>
                  <a:ext uri="{FF2B5EF4-FFF2-40B4-BE49-F238E27FC236}">
                    <a16:creationId xmlns:a16="http://schemas.microsoft.com/office/drawing/2014/main" id="{9B1A8701-12AF-F0F5-CAC0-A6F92829CC0A}"/>
                  </a:ext>
                </a:extLst>
              </p:cNvPr>
              <p:cNvSpPr/>
              <p:nvPr/>
            </p:nvSpPr>
            <p:spPr>
              <a:xfrm>
                <a:off x="5595463" y="2603024"/>
                <a:ext cx="162268" cy="163453"/>
              </a:xfrm>
              <a:custGeom>
                <a:avLst/>
                <a:gdLst/>
                <a:ahLst/>
                <a:cxnLst/>
                <a:rect l="l" t="t" r="r" b="b"/>
                <a:pathLst>
                  <a:path w="9040" h="9106" fill="none" extrusionOk="0">
                    <a:moveTo>
                      <a:pt x="7963" y="1"/>
                    </a:moveTo>
                    <a:lnTo>
                      <a:pt x="7963" y="1"/>
                    </a:lnTo>
                    <a:lnTo>
                      <a:pt x="5982" y="2021"/>
                    </a:lnTo>
                    <a:lnTo>
                      <a:pt x="4001" y="4028"/>
                    </a:lnTo>
                    <a:lnTo>
                      <a:pt x="0" y="8043"/>
                    </a:lnTo>
                    <a:lnTo>
                      <a:pt x="0" y="8043"/>
                    </a:lnTo>
                    <a:lnTo>
                      <a:pt x="223" y="8331"/>
                    </a:lnTo>
                    <a:lnTo>
                      <a:pt x="459" y="8607"/>
                    </a:lnTo>
                    <a:lnTo>
                      <a:pt x="709" y="8869"/>
                    </a:lnTo>
                    <a:lnTo>
                      <a:pt x="984" y="9106"/>
                    </a:lnTo>
                    <a:lnTo>
                      <a:pt x="984" y="9106"/>
                    </a:lnTo>
                    <a:lnTo>
                      <a:pt x="9039" y="972"/>
                    </a:lnTo>
                    <a:lnTo>
                      <a:pt x="9039" y="972"/>
                    </a:lnTo>
                    <a:lnTo>
                      <a:pt x="8790" y="709"/>
                    </a:lnTo>
                    <a:lnTo>
                      <a:pt x="8527" y="447"/>
                    </a:lnTo>
                    <a:lnTo>
                      <a:pt x="8252" y="211"/>
                    </a:lnTo>
                    <a:lnTo>
                      <a:pt x="7963"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2410;p45">
                <a:extLst>
                  <a:ext uri="{FF2B5EF4-FFF2-40B4-BE49-F238E27FC236}">
                    <a16:creationId xmlns:a16="http://schemas.microsoft.com/office/drawing/2014/main" id="{A846E87A-250C-5AB0-77F9-FFBF00A67912}"/>
                  </a:ext>
                </a:extLst>
              </p:cNvPr>
              <p:cNvSpPr/>
              <p:nvPr/>
            </p:nvSpPr>
            <p:spPr>
              <a:xfrm>
                <a:off x="5354556" y="2592667"/>
                <a:ext cx="163686" cy="165104"/>
              </a:xfrm>
              <a:custGeom>
                <a:avLst/>
                <a:gdLst/>
                <a:ahLst/>
                <a:cxnLst/>
                <a:rect l="l" t="t" r="r" b="b"/>
                <a:pathLst>
                  <a:path w="9119" h="9198" extrusionOk="0">
                    <a:moveTo>
                      <a:pt x="7583" y="1"/>
                    </a:moveTo>
                    <a:lnTo>
                      <a:pt x="7570" y="53"/>
                    </a:lnTo>
                    <a:lnTo>
                      <a:pt x="7544" y="106"/>
                    </a:lnTo>
                    <a:lnTo>
                      <a:pt x="0" y="7715"/>
                    </a:lnTo>
                    <a:lnTo>
                      <a:pt x="105" y="7925"/>
                    </a:lnTo>
                    <a:lnTo>
                      <a:pt x="223" y="8121"/>
                    </a:lnTo>
                    <a:lnTo>
                      <a:pt x="342" y="8318"/>
                    </a:lnTo>
                    <a:lnTo>
                      <a:pt x="460" y="8502"/>
                    </a:lnTo>
                    <a:lnTo>
                      <a:pt x="604" y="8685"/>
                    </a:lnTo>
                    <a:lnTo>
                      <a:pt x="735" y="8856"/>
                    </a:lnTo>
                    <a:lnTo>
                      <a:pt x="893" y="9027"/>
                    </a:lnTo>
                    <a:lnTo>
                      <a:pt x="1037" y="9197"/>
                    </a:lnTo>
                    <a:lnTo>
                      <a:pt x="9118" y="1050"/>
                    </a:lnTo>
                    <a:lnTo>
                      <a:pt x="8948" y="893"/>
                    </a:lnTo>
                    <a:lnTo>
                      <a:pt x="8764" y="735"/>
                    </a:lnTo>
                    <a:lnTo>
                      <a:pt x="8580" y="604"/>
                    </a:lnTo>
                    <a:lnTo>
                      <a:pt x="8397" y="460"/>
                    </a:lnTo>
                    <a:lnTo>
                      <a:pt x="8200" y="342"/>
                    </a:lnTo>
                    <a:lnTo>
                      <a:pt x="8003" y="224"/>
                    </a:lnTo>
                    <a:lnTo>
                      <a:pt x="7793" y="106"/>
                    </a:lnTo>
                    <a:lnTo>
                      <a:pt x="758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2411;p45">
                <a:extLst>
                  <a:ext uri="{FF2B5EF4-FFF2-40B4-BE49-F238E27FC236}">
                    <a16:creationId xmlns:a16="http://schemas.microsoft.com/office/drawing/2014/main" id="{D75B4EC9-919F-095F-9E4E-12E2019AA0FE}"/>
                  </a:ext>
                </a:extLst>
              </p:cNvPr>
              <p:cNvSpPr/>
              <p:nvPr/>
            </p:nvSpPr>
            <p:spPr>
              <a:xfrm>
                <a:off x="5354556" y="2592667"/>
                <a:ext cx="163686" cy="165104"/>
              </a:xfrm>
              <a:custGeom>
                <a:avLst/>
                <a:gdLst/>
                <a:ahLst/>
                <a:cxnLst/>
                <a:rect l="l" t="t" r="r" b="b"/>
                <a:pathLst>
                  <a:path w="9119" h="9198" fill="none" extrusionOk="0">
                    <a:moveTo>
                      <a:pt x="7583" y="1"/>
                    </a:moveTo>
                    <a:lnTo>
                      <a:pt x="7583" y="1"/>
                    </a:lnTo>
                    <a:lnTo>
                      <a:pt x="7570" y="53"/>
                    </a:lnTo>
                    <a:lnTo>
                      <a:pt x="7544" y="106"/>
                    </a:lnTo>
                    <a:lnTo>
                      <a:pt x="0" y="7715"/>
                    </a:lnTo>
                    <a:lnTo>
                      <a:pt x="0" y="7715"/>
                    </a:lnTo>
                    <a:lnTo>
                      <a:pt x="105" y="7925"/>
                    </a:lnTo>
                    <a:lnTo>
                      <a:pt x="223" y="8121"/>
                    </a:lnTo>
                    <a:lnTo>
                      <a:pt x="342" y="8318"/>
                    </a:lnTo>
                    <a:lnTo>
                      <a:pt x="460" y="8502"/>
                    </a:lnTo>
                    <a:lnTo>
                      <a:pt x="604" y="8685"/>
                    </a:lnTo>
                    <a:lnTo>
                      <a:pt x="735" y="8856"/>
                    </a:lnTo>
                    <a:lnTo>
                      <a:pt x="893" y="9027"/>
                    </a:lnTo>
                    <a:lnTo>
                      <a:pt x="1037" y="9197"/>
                    </a:lnTo>
                    <a:lnTo>
                      <a:pt x="9118" y="1050"/>
                    </a:lnTo>
                    <a:lnTo>
                      <a:pt x="9118" y="1050"/>
                    </a:lnTo>
                    <a:lnTo>
                      <a:pt x="8948" y="893"/>
                    </a:lnTo>
                    <a:lnTo>
                      <a:pt x="8764" y="735"/>
                    </a:lnTo>
                    <a:lnTo>
                      <a:pt x="8580" y="604"/>
                    </a:lnTo>
                    <a:lnTo>
                      <a:pt x="8397" y="460"/>
                    </a:lnTo>
                    <a:lnTo>
                      <a:pt x="8200" y="342"/>
                    </a:lnTo>
                    <a:lnTo>
                      <a:pt x="8003" y="224"/>
                    </a:lnTo>
                    <a:lnTo>
                      <a:pt x="7793" y="106"/>
                    </a:lnTo>
                    <a:lnTo>
                      <a:pt x="7583"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2412;p45">
                <a:extLst>
                  <a:ext uri="{FF2B5EF4-FFF2-40B4-BE49-F238E27FC236}">
                    <a16:creationId xmlns:a16="http://schemas.microsoft.com/office/drawing/2014/main" id="{886601BE-3E36-1A06-684A-2976D705EFA7}"/>
                  </a:ext>
                </a:extLst>
              </p:cNvPr>
              <p:cNvSpPr/>
              <p:nvPr/>
            </p:nvSpPr>
            <p:spPr>
              <a:xfrm>
                <a:off x="5392933" y="2630811"/>
                <a:ext cx="150726" cy="151911"/>
              </a:xfrm>
              <a:custGeom>
                <a:avLst/>
                <a:gdLst/>
                <a:ahLst/>
                <a:cxnLst/>
                <a:rect l="l" t="t" r="r" b="b"/>
                <a:pathLst>
                  <a:path w="8397" h="8463" extrusionOk="0">
                    <a:moveTo>
                      <a:pt x="7859" y="1"/>
                    </a:moveTo>
                    <a:lnTo>
                      <a:pt x="1" y="7951"/>
                    </a:lnTo>
                    <a:lnTo>
                      <a:pt x="250" y="8095"/>
                    </a:lnTo>
                    <a:lnTo>
                      <a:pt x="512" y="8227"/>
                    </a:lnTo>
                    <a:lnTo>
                      <a:pt x="775" y="8358"/>
                    </a:lnTo>
                    <a:lnTo>
                      <a:pt x="1063" y="8463"/>
                    </a:lnTo>
                    <a:lnTo>
                      <a:pt x="8397" y="1064"/>
                    </a:lnTo>
                    <a:lnTo>
                      <a:pt x="8279" y="788"/>
                    </a:lnTo>
                    <a:lnTo>
                      <a:pt x="8161" y="513"/>
                    </a:lnTo>
                    <a:lnTo>
                      <a:pt x="8017" y="250"/>
                    </a:lnTo>
                    <a:lnTo>
                      <a:pt x="785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2413;p45">
                <a:extLst>
                  <a:ext uri="{FF2B5EF4-FFF2-40B4-BE49-F238E27FC236}">
                    <a16:creationId xmlns:a16="http://schemas.microsoft.com/office/drawing/2014/main" id="{4BBC3548-9684-2469-6E75-4BDCB31613EA}"/>
                  </a:ext>
                </a:extLst>
              </p:cNvPr>
              <p:cNvSpPr/>
              <p:nvPr/>
            </p:nvSpPr>
            <p:spPr>
              <a:xfrm>
                <a:off x="5392933" y="2630811"/>
                <a:ext cx="150726" cy="151911"/>
              </a:xfrm>
              <a:custGeom>
                <a:avLst/>
                <a:gdLst/>
                <a:ahLst/>
                <a:cxnLst/>
                <a:rect l="l" t="t" r="r" b="b"/>
                <a:pathLst>
                  <a:path w="8397" h="8463" fill="none" extrusionOk="0">
                    <a:moveTo>
                      <a:pt x="7859" y="1"/>
                    </a:moveTo>
                    <a:lnTo>
                      <a:pt x="1" y="7951"/>
                    </a:lnTo>
                    <a:lnTo>
                      <a:pt x="1" y="7951"/>
                    </a:lnTo>
                    <a:lnTo>
                      <a:pt x="250" y="8095"/>
                    </a:lnTo>
                    <a:lnTo>
                      <a:pt x="512" y="8227"/>
                    </a:lnTo>
                    <a:lnTo>
                      <a:pt x="775" y="8358"/>
                    </a:lnTo>
                    <a:lnTo>
                      <a:pt x="1063" y="8463"/>
                    </a:lnTo>
                    <a:lnTo>
                      <a:pt x="8397" y="1064"/>
                    </a:lnTo>
                    <a:lnTo>
                      <a:pt x="8397" y="1064"/>
                    </a:lnTo>
                    <a:lnTo>
                      <a:pt x="8279" y="788"/>
                    </a:lnTo>
                    <a:lnTo>
                      <a:pt x="8161" y="513"/>
                    </a:lnTo>
                    <a:lnTo>
                      <a:pt x="8017" y="250"/>
                    </a:lnTo>
                    <a:lnTo>
                      <a:pt x="7859"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2414;p45">
                <a:extLst>
                  <a:ext uri="{FF2B5EF4-FFF2-40B4-BE49-F238E27FC236}">
                    <a16:creationId xmlns:a16="http://schemas.microsoft.com/office/drawing/2014/main" id="{227C1388-CA91-FB1D-4007-E8118E1AEAFD}"/>
                  </a:ext>
                </a:extLst>
              </p:cNvPr>
              <p:cNvSpPr/>
              <p:nvPr/>
            </p:nvSpPr>
            <p:spPr>
              <a:xfrm>
                <a:off x="5640428" y="2647774"/>
                <a:ext cx="136833" cy="138251"/>
              </a:xfrm>
              <a:custGeom>
                <a:avLst/>
                <a:gdLst/>
                <a:ahLst/>
                <a:cxnLst/>
                <a:rect l="l" t="t" r="r" b="b"/>
                <a:pathLst>
                  <a:path w="7623" h="7702" extrusionOk="0">
                    <a:moveTo>
                      <a:pt x="7452" y="1"/>
                    </a:moveTo>
                    <a:lnTo>
                      <a:pt x="1" y="7518"/>
                    </a:lnTo>
                    <a:lnTo>
                      <a:pt x="250" y="7610"/>
                    </a:lnTo>
                    <a:lnTo>
                      <a:pt x="512" y="7701"/>
                    </a:lnTo>
                    <a:lnTo>
                      <a:pt x="2297" y="5904"/>
                    </a:lnTo>
                    <a:lnTo>
                      <a:pt x="4081" y="4107"/>
                    </a:lnTo>
                    <a:lnTo>
                      <a:pt x="5852" y="2296"/>
                    </a:lnTo>
                    <a:lnTo>
                      <a:pt x="7623" y="486"/>
                    </a:lnTo>
                    <a:lnTo>
                      <a:pt x="7544" y="237"/>
                    </a:lnTo>
                    <a:lnTo>
                      <a:pt x="745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2415;p45">
                <a:extLst>
                  <a:ext uri="{FF2B5EF4-FFF2-40B4-BE49-F238E27FC236}">
                    <a16:creationId xmlns:a16="http://schemas.microsoft.com/office/drawing/2014/main" id="{98B1548B-B3DE-6CCC-9B28-047ED02834D7}"/>
                  </a:ext>
                </a:extLst>
              </p:cNvPr>
              <p:cNvSpPr/>
              <p:nvPr/>
            </p:nvSpPr>
            <p:spPr>
              <a:xfrm>
                <a:off x="5640428" y="2647774"/>
                <a:ext cx="136833" cy="138251"/>
              </a:xfrm>
              <a:custGeom>
                <a:avLst/>
                <a:gdLst/>
                <a:ahLst/>
                <a:cxnLst/>
                <a:rect l="l" t="t" r="r" b="b"/>
                <a:pathLst>
                  <a:path w="7623" h="7702" fill="none" extrusionOk="0">
                    <a:moveTo>
                      <a:pt x="7452" y="1"/>
                    </a:moveTo>
                    <a:lnTo>
                      <a:pt x="1" y="7518"/>
                    </a:lnTo>
                    <a:lnTo>
                      <a:pt x="1" y="7518"/>
                    </a:lnTo>
                    <a:lnTo>
                      <a:pt x="250" y="7610"/>
                    </a:lnTo>
                    <a:lnTo>
                      <a:pt x="512" y="7701"/>
                    </a:lnTo>
                    <a:lnTo>
                      <a:pt x="512" y="7701"/>
                    </a:lnTo>
                    <a:lnTo>
                      <a:pt x="2297" y="5904"/>
                    </a:lnTo>
                    <a:lnTo>
                      <a:pt x="4081" y="4107"/>
                    </a:lnTo>
                    <a:lnTo>
                      <a:pt x="5852" y="2296"/>
                    </a:lnTo>
                    <a:lnTo>
                      <a:pt x="7623" y="486"/>
                    </a:lnTo>
                    <a:lnTo>
                      <a:pt x="7623" y="486"/>
                    </a:lnTo>
                    <a:lnTo>
                      <a:pt x="7544" y="237"/>
                    </a:lnTo>
                    <a:lnTo>
                      <a:pt x="7452"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2416;p45">
                <a:extLst>
                  <a:ext uri="{FF2B5EF4-FFF2-40B4-BE49-F238E27FC236}">
                    <a16:creationId xmlns:a16="http://schemas.microsoft.com/office/drawing/2014/main" id="{1B507858-EB76-1B4D-057D-5C78BA0C617F}"/>
                  </a:ext>
                </a:extLst>
              </p:cNvPr>
              <p:cNvSpPr/>
              <p:nvPr/>
            </p:nvSpPr>
            <p:spPr>
              <a:xfrm>
                <a:off x="5343966" y="2582777"/>
                <a:ext cx="438016" cy="207484"/>
              </a:xfrm>
              <a:custGeom>
                <a:avLst/>
                <a:gdLst/>
                <a:ahLst/>
                <a:cxnLst/>
                <a:rect l="l" t="t" r="r" b="b"/>
                <a:pathLst>
                  <a:path w="24402" h="11559" extrusionOk="0">
                    <a:moveTo>
                      <a:pt x="5733" y="1155"/>
                    </a:moveTo>
                    <a:lnTo>
                      <a:pt x="5969" y="1168"/>
                    </a:lnTo>
                    <a:lnTo>
                      <a:pt x="6192" y="1181"/>
                    </a:lnTo>
                    <a:lnTo>
                      <a:pt x="6428" y="1208"/>
                    </a:lnTo>
                    <a:lnTo>
                      <a:pt x="6651" y="1247"/>
                    </a:lnTo>
                    <a:lnTo>
                      <a:pt x="6874" y="1299"/>
                    </a:lnTo>
                    <a:lnTo>
                      <a:pt x="7097" y="1365"/>
                    </a:lnTo>
                    <a:lnTo>
                      <a:pt x="7307" y="1431"/>
                    </a:lnTo>
                    <a:lnTo>
                      <a:pt x="7517" y="1509"/>
                    </a:lnTo>
                    <a:lnTo>
                      <a:pt x="7714" y="1601"/>
                    </a:lnTo>
                    <a:lnTo>
                      <a:pt x="7911" y="1706"/>
                    </a:lnTo>
                    <a:lnTo>
                      <a:pt x="8108" y="1811"/>
                    </a:lnTo>
                    <a:lnTo>
                      <a:pt x="8291" y="1929"/>
                    </a:lnTo>
                    <a:lnTo>
                      <a:pt x="8475" y="2060"/>
                    </a:lnTo>
                    <a:lnTo>
                      <a:pt x="8645" y="2192"/>
                    </a:lnTo>
                    <a:lnTo>
                      <a:pt x="8816" y="2336"/>
                    </a:lnTo>
                    <a:lnTo>
                      <a:pt x="8973" y="2493"/>
                    </a:lnTo>
                    <a:lnTo>
                      <a:pt x="9131" y="2651"/>
                    </a:lnTo>
                    <a:lnTo>
                      <a:pt x="9275" y="2821"/>
                    </a:lnTo>
                    <a:lnTo>
                      <a:pt x="9406" y="2992"/>
                    </a:lnTo>
                    <a:lnTo>
                      <a:pt x="9538" y="3162"/>
                    </a:lnTo>
                    <a:lnTo>
                      <a:pt x="9656" y="3346"/>
                    </a:lnTo>
                    <a:lnTo>
                      <a:pt x="9774" y="3543"/>
                    </a:lnTo>
                    <a:lnTo>
                      <a:pt x="9879" y="3740"/>
                    </a:lnTo>
                    <a:lnTo>
                      <a:pt x="9970" y="3949"/>
                    </a:lnTo>
                    <a:lnTo>
                      <a:pt x="10049" y="4146"/>
                    </a:lnTo>
                    <a:lnTo>
                      <a:pt x="10128" y="4369"/>
                    </a:lnTo>
                    <a:lnTo>
                      <a:pt x="10180" y="4579"/>
                    </a:lnTo>
                    <a:lnTo>
                      <a:pt x="10233" y="4802"/>
                    </a:lnTo>
                    <a:lnTo>
                      <a:pt x="10285" y="5025"/>
                    </a:lnTo>
                    <a:lnTo>
                      <a:pt x="10312" y="5261"/>
                    </a:lnTo>
                    <a:lnTo>
                      <a:pt x="10325" y="5484"/>
                    </a:lnTo>
                    <a:lnTo>
                      <a:pt x="10338" y="5721"/>
                    </a:lnTo>
                    <a:lnTo>
                      <a:pt x="10325" y="5957"/>
                    </a:lnTo>
                    <a:lnTo>
                      <a:pt x="10312" y="6193"/>
                    </a:lnTo>
                    <a:lnTo>
                      <a:pt x="10285" y="6429"/>
                    </a:lnTo>
                    <a:lnTo>
                      <a:pt x="10246" y="6652"/>
                    </a:lnTo>
                    <a:lnTo>
                      <a:pt x="10194" y="6875"/>
                    </a:lnTo>
                    <a:lnTo>
                      <a:pt x="10141" y="7085"/>
                    </a:lnTo>
                    <a:lnTo>
                      <a:pt x="10062" y="7295"/>
                    </a:lnTo>
                    <a:lnTo>
                      <a:pt x="9984" y="7505"/>
                    </a:lnTo>
                    <a:lnTo>
                      <a:pt x="9892" y="7715"/>
                    </a:lnTo>
                    <a:lnTo>
                      <a:pt x="9787" y="7911"/>
                    </a:lnTo>
                    <a:lnTo>
                      <a:pt x="9682" y="8108"/>
                    </a:lnTo>
                    <a:lnTo>
                      <a:pt x="9564" y="8292"/>
                    </a:lnTo>
                    <a:lnTo>
                      <a:pt x="9433" y="8476"/>
                    </a:lnTo>
                    <a:lnTo>
                      <a:pt x="9301" y="8646"/>
                    </a:lnTo>
                    <a:lnTo>
                      <a:pt x="9157" y="8817"/>
                    </a:lnTo>
                    <a:lnTo>
                      <a:pt x="9013" y="8974"/>
                    </a:lnTo>
                    <a:lnTo>
                      <a:pt x="8842" y="9118"/>
                    </a:lnTo>
                    <a:lnTo>
                      <a:pt x="8685" y="9276"/>
                    </a:lnTo>
                    <a:lnTo>
                      <a:pt x="8514" y="9407"/>
                    </a:lnTo>
                    <a:lnTo>
                      <a:pt x="8331" y="9538"/>
                    </a:lnTo>
                    <a:lnTo>
                      <a:pt x="8147" y="9656"/>
                    </a:lnTo>
                    <a:lnTo>
                      <a:pt x="7950" y="9761"/>
                    </a:lnTo>
                    <a:lnTo>
                      <a:pt x="7753" y="9866"/>
                    </a:lnTo>
                    <a:lnTo>
                      <a:pt x="7557" y="9958"/>
                    </a:lnTo>
                    <a:lnTo>
                      <a:pt x="7347" y="10050"/>
                    </a:lnTo>
                    <a:lnTo>
                      <a:pt x="7137" y="10115"/>
                    </a:lnTo>
                    <a:lnTo>
                      <a:pt x="6914" y="10181"/>
                    </a:lnTo>
                    <a:lnTo>
                      <a:pt x="6691" y="10234"/>
                    </a:lnTo>
                    <a:lnTo>
                      <a:pt x="6468" y="10273"/>
                    </a:lnTo>
                    <a:lnTo>
                      <a:pt x="6245" y="10299"/>
                    </a:lnTo>
                    <a:lnTo>
                      <a:pt x="6009" y="10325"/>
                    </a:lnTo>
                    <a:lnTo>
                      <a:pt x="5536" y="10325"/>
                    </a:lnTo>
                    <a:lnTo>
                      <a:pt x="5300" y="10312"/>
                    </a:lnTo>
                    <a:lnTo>
                      <a:pt x="5077" y="10286"/>
                    </a:lnTo>
                    <a:lnTo>
                      <a:pt x="4854" y="10247"/>
                    </a:lnTo>
                    <a:lnTo>
                      <a:pt x="4631" y="10194"/>
                    </a:lnTo>
                    <a:lnTo>
                      <a:pt x="4408" y="10129"/>
                    </a:lnTo>
                    <a:lnTo>
                      <a:pt x="4198" y="10063"/>
                    </a:lnTo>
                    <a:lnTo>
                      <a:pt x="3988" y="9984"/>
                    </a:lnTo>
                    <a:lnTo>
                      <a:pt x="3778" y="9892"/>
                    </a:lnTo>
                    <a:lnTo>
                      <a:pt x="3582" y="9787"/>
                    </a:lnTo>
                    <a:lnTo>
                      <a:pt x="3398" y="9683"/>
                    </a:lnTo>
                    <a:lnTo>
                      <a:pt x="3201" y="9564"/>
                    </a:lnTo>
                    <a:lnTo>
                      <a:pt x="3031" y="9433"/>
                    </a:lnTo>
                    <a:lnTo>
                      <a:pt x="2847" y="9302"/>
                    </a:lnTo>
                    <a:lnTo>
                      <a:pt x="2689" y="9158"/>
                    </a:lnTo>
                    <a:lnTo>
                      <a:pt x="2519" y="9000"/>
                    </a:lnTo>
                    <a:lnTo>
                      <a:pt x="2375" y="8843"/>
                    </a:lnTo>
                    <a:lnTo>
                      <a:pt x="2230" y="8672"/>
                    </a:lnTo>
                    <a:lnTo>
                      <a:pt x="2086" y="8502"/>
                    </a:lnTo>
                    <a:lnTo>
                      <a:pt x="1968" y="8331"/>
                    </a:lnTo>
                    <a:lnTo>
                      <a:pt x="1837" y="8134"/>
                    </a:lnTo>
                    <a:lnTo>
                      <a:pt x="1732" y="7951"/>
                    </a:lnTo>
                    <a:lnTo>
                      <a:pt x="1627" y="7754"/>
                    </a:lnTo>
                    <a:lnTo>
                      <a:pt x="1535" y="7544"/>
                    </a:lnTo>
                    <a:lnTo>
                      <a:pt x="1456" y="7347"/>
                    </a:lnTo>
                    <a:lnTo>
                      <a:pt x="1378" y="7124"/>
                    </a:lnTo>
                    <a:lnTo>
                      <a:pt x="1312" y="6914"/>
                    </a:lnTo>
                    <a:lnTo>
                      <a:pt x="1259" y="6691"/>
                    </a:lnTo>
                    <a:lnTo>
                      <a:pt x="1220" y="6468"/>
                    </a:lnTo>
                    <a:lnTo>
                      <a:pt x="1194" y="6232"/>
                    </a:lnTo>
                    <a:lnTo>
                      <a:pt x="1168" y="6009"/>
                    </a:lnTo>
                    <a:lnTo>
                      <a:pt x="1168" y="5773"/>
                    </a:lnTo>
                    <a:lnTo>
                      <a:pt x="1168" y="5537"/>
                    </a:lnTo>
                    <a:lnTo>
                      <a:pt x="1181" y="5301"/>
                    </a:lnTo>
                    <a:lnTo>
                      <a:pt x="1220" y="5065"/>
                    </a:lnTo>
                    <a:lnTo>
                      <a:pt x="1259" y="4842"/>
                    </a:lnTo>
                    <a:lnTo>
                      <a:pt x="1299" y="4619"/>
                    </a:lnTo>
                    <a:lnTo>
                      <a:pt x="1364" y="4409"/>
                    </a:lnTo>
                    <a:lnTo>
                      <a:pt x="1443" y="4186"/>
                    </a:lnTo>
                    <a:lnTo>
                      <a:pt x="1522" y="3989"/>
                    </a:lnTo>
                    <a:lnTo>
                      <a:pt x="1614" y="3779"/>
                    </a:lnTo>
                    <a:lnTo>
                      <a:pt x="1706" y="3582"/>
                    </a:lnTo>
                    <a:lnTo>
                      <a:pt x="1824" y="3385"/>
                    </a:lnTo>
                    <a:lnTo>
                      <a:pt x="1942" y="3202"/>
                    </a:lnTo>
                    <a:lnTo>
                      <a:pt x="2060" y="3018"/>
                    </a:lnTo>
                    <a:lnTo>
                      <a:pt x="2204" y="2847"/>
                    </a:lnTo>
                    <a:lnTo>
                      <a:pt x="2348" y="2677"/>
                    </a:lnTo>
                    <a:lnTo>
                      <a:pt x="2493" y="2520"/>
                    </a:lnTo>
                    <a:lnTo>
                      <a:pt x="2650" y="2362"/>
                    </a:lnTo>
                    <a:lnTo>
                      <a:pt x="2821" y="2218"/>
                    </a:lnTo>
                    <a:lnTo>
                      <a:pt x="2991" y="2087"/>
                    </a:lnTo>
                    <a:lnTo>
                      <a:pt x="3175" y="1955"/>
                    </a:lnTo>
                    <a:lnTo>
                      <a:pt x="3359" y="1837"/>
                    </a:lnTo>
                    <a:lnTo>
                      <a:pt x="3542" y="1719"/>
                    </a:lnTo>
                    <a:lnTo>
                      <a:pt x="3739" y="1627"/>
                    </a:lnTo>
                    <a:lnTo>
                      <a:pt x="3949" y="1536"/>
                    </a:lnTo>
                    <a:lnTo>
                      <a:pt x="4159" y="1444"/>
                    </a:lnTo>
                    <a:lnTo>
                      <a:pt x="4369" y="1378"/>
                    </a:lnTo>
                    <a:lnTo>
                      <a:pt x="4592" y="1313"/>
                    </a:lnTo>
                    <a:lnTo>
                      <a:pt x="4802" y="1260"/>
                    </a:lnTo>
                    <a:lnTo>
                      <a:pt x="5038" y="1221"/>
                    </a:lnTo>
                    <a:lnTo>
                      <a:pt x="5261" y="1181"/>
                    </a:lnTo>
                    <a:lnTo>
                      <a:pt x="5497" y="1168"/>
                    </a:lnTo>
                    <a:lnTo>
                      <a:pt x="5733" y="1155"/>
                    </a:lnTo>
                    <a:close/>
                    <a:moveTo>
                      <a:pt x="18629" y="1221"/>
                    </a:moveTo>
                    <a:lnTo>
                      <a:pt x="18865" y="1234"/>
                    </a:lnTo>
                    <a:lnTo>
                      <a:pt x="19101" y="1247"/>
                    </a:lnTo>
                    <a:lnTo>
                      <a:pt x="19324" y="1273"/>
                    </a:lnTo>
                    <a:lnTo>
                      <a:pt x="19560" y="1313"/>
                    </a:lnTo>
                    <a:lnTo>
                      <a:pt x="19783" y="1365"/>
                    </a:lnTo>
                    <a:lnTo>
                      <a:pt x="19993" y="1431"/>
                    </a:lnTo>
                    <a:lnTo>
                      <a:pt x="20203" y="1496"/>
                    </a:lnTo>
                    <a:lnTo>
                      <a:pt x="20413" y="1575"/>
                    </a:lnTo>
                    <a:lnTo>
                      <a:pt x="20623" y="1667"/>
                    </a:lnTo>
                    <a:lnTo>
                      <a:pt x="20820" y="1772"/>
                    </a:lnTo>
                    <a:lnTo>
                      <a:pt x="21017" y="1877"/>
                    </a:lnTo>
                    <a:lnTo>
                      <a:pt x="21200" y="1995"/>
                    </a:lnTo>
                    <a:lnTo>
                      <a:pt x="21384" y="2126"/>
                    </a:lnTo>
                    <a:lnTo>
                      <a:pt x="21555" y="2257"/>
                    </a:lnTo>
                    <a:lnTo>
                      <a:pt x="21725" y="2401"/>
                    </a:lnTo>
                    <a:lnTo>
                      <a:pt x="21882" y="2559"/>
                    </a:lnTo>
                    <a:lnTo>
                      <a:pt x="22027" y="2716"/>
                    </a:lnTo>
                    <a:lnTo>
                      <a:pt x="22171" y="2874"/>
                    </a:lnTo>
                    <a:lnTo>
                      <a:pt x="22315" y="3057"/>
                    </a:lnTo>
                    <a:lnTo>
                      <a:pt x="22447" y="3228"/>
                    </a:lnTo>
                    <a:lnTo>
                      <a:pt x="22565" y="3412"/>
                    </a:lnTo>
                    <a:lnTo>
                      <a:pt x="22670" y="3608"/>
                    </a:lnTo>
                    <a:lnTo>
                      <a:pt x="22775" y="3805"/>
                    </a:lnTo>
                    <a:lnTo>
                      <a:pt x="22866" y="4002"/>
                    </a:lnTo>
                    <a:lnTo>
                      <a:pt x="22958" y="4212"/>
                    </a:lnTo>
                    <a:lnTo>
                      <a:pt x="23024" y="4422"/>
                    </a:lnTo>
                    <a:lnTo>
                      <a:pt x="23089" y="4645"/>
                    </a:lnTo>
                    <a:lnTo>
                      <a:pt x="23142" y="4868"/>
                    </a:lnTo>
                    <a:lnTo>
                      <a:pt x="23181" y="5091"/>
                    </a:lnTo>
                    <a:lnTo>
                      <a:pt x="23208" y="5327"/>
                    </a:lnTo>
                    <a:lnTo>
                      <a:pt x="23234" y="5550"/>
                    </a:lnTo>
                    <a:lnTo>
                      <a:pt x="23234" y="5786"/>
                    </a:lnTo>
                    <a:lnTo>
                      <a:pt x="23234" y="6022"/>
                    </a:lnTo>
                    <a:lnTo>
                      <a:pt x="23221" y="6258"/>
                    </a:lnTo>
                    <a:lnTo>
                      <a:pt x="23194" y="6481"/>
                    </a:lnTo>
                    <a:lnTo>
                      <a:pt x="23155" y="6718"/>
                    </a:lnTo>
                    <a:lnTo>
                      <a:pt x="23103" y="6928"/>
                    </a:lnTo>
                    <a:lnTo>
                      <a:pt x="23037" y="7151"/>
                    </a:lnTo>
                    <a:lnTo>
                      <a:pt x="22971" y="7360"/>
                    </a:lnTo>
                    <a:lnTo>
                      <a:pt x="22893" y="7570"/>
                    </a:lnTo>
                    <a:lnTo>
                      <a:pt x="22801" y="7780"/>
                    </a:lnTo>
                    <a:lnTo>
                      <a:pt x="22696" y="7977"/>
                    </a:lnTo>
                    <a:lnTo>
                      <a:pt x="22591" y="8174"/>
                    </a:lnTo>
                    <a:lnTo>
                      <a:pt x="22473" y="8357"/>
                    </a:lnTo>
                    <a:lnTo>
                      <a:pt x="22342" y="8528"/>
                    </a:lnTo>
                    <a:lnTo>
                      <a:pt x="22210" y="8712"/>
                    </a:lnTo>
                    <a:lnTo>
                      <a:pt x="22066" y="8869"/>
                    </a:lnTo>
                    <a:lnTo>
                      <a:pt x="21909" y="9040"/>
                    </a:lnTo>
                    <a:lnTo>
                      <a:pt x="21751" y="9184"/>
                    </a:lnTo>
                    <a:lnTo>
                      <a:pt x="21581" y="9328"/>
                    </a:lnTo>
                    <a:lnTo>
                      <a:pt x="21410" y="9473"/>
                    </a:lnTo>
                    <a:lnTo>
                      <a:pt x="21240" y="9604"/>
                    </a:lnTo>
                    <a:lnTo>
                      <a:pt x="21043" y="9722"/>
                    </a:lnTo>
                    <a:lnTo>
                      <a:pt x="20859" y="9827"/>
                    </a:lnTo>
                    <a:lnTo>
                      <a:pt x="20662" y="9932"/>
                    </a:lnTo>
                    <a:lnTo>
                      <a:pt x="20453" y="10024"/>
                    </a:lnTo>
                    <a:lnTo>
                      <a:pt x="20243" y="10115"/>
                    </a:lnTo>
                    <a:lnTo>
                      <a:pt x="20033" y="10181"/>
                    </a:lnTo>
                    <a:lnTo>
                      <a:pt x="19823" y="10247"/>
                    </a:lnTo>
                    <a:lnTo>
                      <a:pt x="19600" y="10299"/>
                    </a:lnTo>
                    <a:lnTo>
                      <a:pt x="19377" y="10338"/>
                    </a:lnTo>
                    <a:lnTo>
                      <a:pt x="19141" y="10365"/>
                    </a:lnTo>
                    <a:lnTo>
                      <a:pt x="18904" y="10391"/>
                    </a:lnTo>
                    <a:lnTo>
                      <a:pt x="18472" y="10391"/>
                    </a:lnTo>
                    <a:lnTo>
                      <a:pt x="18275" y="10378"/>
                    </a:lnTo>
                    <a:lnTo>
                      <a:pt x="18065" y="10352"/>
                    </a:lnTo>
                    <a:lnTo>
                      <a:pt x="17868" y="10325"/>
                    </a:lnTo>
                    <a:lnTo>
                      <a:pt x="17671" y="10286"/>
                    </a:lnTo>
                    <a:lnTo>
                      <a:pt x="17475" y="10234"/>
                    </a:lnTo>
                    <a:lnTo>
                      <a:pt x="17278" y="10181"/>
                    </a:lnTo>
                    <a:lnTo>
                      <a:pt x="17081" y="10115"/>
                    </a:lnTo>
                    <a:lnTo>
                      <a:pt x="16897" y="10050"/>
                    </a:lnTo>
                    <a:lnTo>
                      <a:pt x="16714" y="9958"/>
                    </a:lnTo>
                    <a:lnTo>
                      <a:pt x="16530" y="9866"/>
                    </a:lnTo>
                    <a:lnTo>
                      <a:pt x="16359" y="9774"/>
                    </a:lnTo>
                    <a:lnTo>
                      <a:pt x="16176" y="9669"/>
                    </a:lnTo>
                    <a:lnTo>
                      <a:pt x="16018" y="9551"/>
                    </a:lnTo>
                    <a:lnTo>
                      <a:pt x="15848" y="9433"/>
                    </a:lnTo>
                    <a:lnTo>
                      <a:pt x="15690" y="9302"/>
                    </a:lnTo>
                    <a:lnTo>
                      <a:pt x="15480" y="9118"/>
                    </a:lnTo>
                    <a:lnTo>
                      <a:pt x="15284" y="8908"/>
                    </a:lnTo>
                    <a:lnTo>
                      <a:pt x="15100" y="8699"/>
                    </a:lnTo>
                    <a:lnTo>
                      <a:pt x="14929" y="8476"/>
                    </a:lnTo>
                    <a:lnTo>
                      <a:pt x="14772" y="8239"/>
                    </a:lnTo>
                    <a:lnTo>
                      <a:pt x="14628" y="7990"/>
                    </a:lnTo>
                    <a:lnTo>
                      <a:pt x="14497" y="7741"/>
                    </a:lnTo>
                    <a:lnTo>
                      <a:pt x="14392" y="7492"/>
                    </a:lnTo>
                    <a:lnTo>
                      <a:pt x="14300" y="7216"/>
                    </a:lnTo>
                    <a:lnTo>
                      <a:pt x="14221" y="6954"/>
                    </a:lnTo>
                    <a:lnTo>
                      <a:pt x="14155" y="6678"/>
                    </a:lnTo>
                    <a:lnTo>
                      <a:pt x="14116" y="6403"/>
                    </a:lnTo>
                    <a:lnTo>
                      <a:pt x="14090" y="6114"/>
                    </a:lnTo>
                    <a:lnTo>
                      <a:pt x="14077" y="5839"/>
                    </a:lnTo>
                    <a:lnTo>
                      <a:pt x="14077" y="5550"/>
                    </a:lnTo>
                    <a:lnTo>
                      <a:pt x="14103" y="5261"/>
                    </a:lnTo>
                    <a:lnTo>
                      <a:pt x="14129" y="5051"/>
                    </a:lnTo>
                    <a:lnTo>
                      <a:pt x="14182" y="4842"/>
                    </a:lnTo>
                    <a:lnTo>
                      <a:pt x="14221" y="4645"/>
                    </a:lnTo>
                    <a:lnTo>
                      <a:pt x="14287" y="4448"/>
                    </a:lnTo>
                    <a:lnTo>
                      <a:pt x="14352" y="4238"/>
                    </a:lnTo>
                    <a:lnTo>
                      <a:pt x="14431" y="4054"/>
                    </a:lnTo>
                    <a:lnTo>
                      <a:pt x="14510" y="3858"/>
                    </a:lnTo>
                    <a:lnTo>
                      <a:pt x="14601" y="3674"/>
                    </a:lnTo>
                    <a:lnTo>
                      <a:pt x="14706" y="3503"/>
                    </a:lnTo>
                    <a:lnTo>
                      <a:pt x="14811" y="3320"/>
                    </a:lnTo>
                    <a:lnTo>
                      <a:pt x="14929" y="3149"/>
                    </a:lnTo>
                    <a:lnTo>
                      <a:pt x="15048" y="2992"/>
                    </a:lnTo>
                    <a:lnTo>
                      <a:pt x="15179" y="2834"/>
                    </a:lnTo>
                    <a:lnTo>
                      <a:pt x="15310" y="2677"/>
                    </a:lnTo>
                    <a:lnTo>
                      <a:pt x="15454" y="2533"/>
                    </a:lnTo>
                    <a:lnTo>
                      <a:pt x="15599" y="2401"/>
                    </a:lnTo>
                    <a:lnTo>
                      <a:pt x="15756" y="2270"/>
                    </a:lnTo>
                    <a:lnTo>
                      <a:pt x="15913" y="2139"/>
                    </a:lnTo>
                    <a:lnTo>
                      <a:pt x="16084" y="2021"/>
                    </a:lnTo>
                    <a:lnTo>
                      <a:pt x="16254" y="1903"/>
                    </a:lnTo>
                    <a:lnTo>
                      <a:pt x="16438" y="1811"/>
                    </a:lnTo>
                    <a:lnTo>
                      <a:pt x="16609" y="1706"/>
                    </a:lnTo>
                    <a:lnTo>
                      <a:pt x="16792" y="1627"/>
                    </a:lnTo>
                    <a:lnTo>
                      <a:pt x="16989" y="1536"/>
                    </a:lnTo>
                    <a:lnTo>
                      <a:pt x="17186" y="1470"/>
                    </a:lnTo>
                    <a:lnTo>
                      <a:pt x="17383" y="1404"/>
                    </a:lnTo>
                    <a:lnTo>
                      <a:pt x="17579" y="1352"/>
                    </a:lnTo>
                    <a:lnTo>
                      <a:pt x="17789" y="1313"/>
                    </a:lnTo>
                    <a:lnTo>
                      <a:pt x="17999" y="1273"/>
                    </a:lnTo>
                    <a:lnTo>
                      <a:pt x="18209" y="1247"/>
                    </a:lnTo>
                    <a:lnTo>
                      <a:pt x="18419" y="1234"/>
                    </a:lnTo>
                    <a:lnTo>
                      <a:pt x="18629" y="1221"/>
                    </a:lnTo>
                    <a:close/>
                    <a:moveTo>
                      <a:pt x="5431" y="1"/>
                    </a:moveTo>
                    <a:lnTo>
                      <a:pt x="5143" y="27"/>
                    </a:lnTo>
                    <a:lnTo>
                      <a:pt x="4854" y="66"/>
                    </a:lnTo>
                    <a:lnTo>
                      <a:pt x="4565" y="119"/>
                    </a:lnTo>
                    <a:lnTo>
                      <a:pt x="4290" y="184"/>
                    </a:lnTo>
                    <a:lnTo>
                      <a:pt x="4014" y="263"/>
                    </a:lnTo>
                    <a:lnTo>
                      <a:pt x="3752" y="355"/>
                    </a:lnTo>
                    <a:lnTo>
                      <a:pt x="3490" y="460"/>
                    </a:lnTo>
                    <a:lnTo>
                      <a:pt x="3240" y="578"/>
                    </a:lnTo>
                    <a:lnTo>
                      <a:pt x="2991" y="709"/>
                    </a:lnTo>
                    <a:lnTo>
                      <a:pt x="2742" y="840"/>
                    </a:lnTo>
                    <a:lnTo>
                      <a:pt x="2519" y="998"/>
                    </a:lnTo>
                    <a:lnTo>
                      <a:pt x="2296" y="1155"/>
                    </a:lnTo>
                    <a:lnTo>
                      <a:pt x="2073" y="1326"/>
                    </a:lnTo>
                    <a:lnTo>
                      <a:pt x="1863" y="1509"/>
                    </a:lnTo>
                    <a:lnTo>
                      <a:pt x="1666" y="1706"/>
                    </a:lnTo>
                    <a:lnTo>
                      <a:pt x="1483" y="1903"/>
                    </a:lnTo>
                    <a:lnTo>
                      <a:pt x="1299" y="2113"/>
                    </a:lnTo>
                    <a:lnTo>
                      <a:pt x="1128" y="2336"/>
                    </a:lnTo>
                    <a:lnTo>
                      <a:pt x="971" y="2559"/>
                    </a:lnTo>
                    <a:lnTo>
                      <a:pt x="813" y="2795"/>
                    </a:lnTo>
                    <a:lnTo>
                      <a:pt x="682" y="3031"/>
                    </a:lnTo>
                    <a:lnTo>
                      <a:pt x="551" y="3280"/>
                    </a:lnTo>
                    <a:lnTo>
                      <a:pt x="446" y="3530"/>
                    </a:lnTo>
                    <a:lnTo>
                      <a:pt x="341" y="3792"/>
                    </a:lnTo>
                    <a:lnTo>
                      <a:pt x="249" y="4068"/>
                    </a:lnTo>
                    <a:lnTo>
                      <a:pt x="171" y="4343"/>
                    </a:lnTo>
                    <a:lnTo>
                      <a:pt x="105" y="4619"/>
                    </a:lnTo>
                    <a:lnTo>
                      <a:pt x="66" y="4894"/>
                    </a:lnTo>
                    <a:lnTo>
                      <a:pt x="26" y="5183"/>
                    </a:lnTo>
                    <a:lnTo>
                      <a:pt x="0" y="5471"/>
                    </a:lnTo>
                    <a:lnTo>
                      <a:pt x="0" y="5773"/>
                    </a:lnTo>
                    <a:lnTo>
                      <a:pt x="13" y="6075"/>
                    </a:lnTo>
                    <a:lnTo>
                      <a:pt x="26" y="6363"/>
                    </a:lnTo>
                    <a:lnTo>
                      <a:pt x="66" y="6652"/>
                    </a:lnTo>
                    <a:lnTo>
                      <a:pt x="118" y="6928"/>
                    </a:lnTo>
                    <a:lnTo>
                      <a:pt x="184" y="7203"/>
                    </a:lnTo>
                    <a:lnTo>
                      <a:pt x="262" y="7479"/>
                    </a:lnTo>
                    <a:lnTo>
                      <a:pt x="354" y="7741"/>
                    </a:lnTo>
                    <a:lnTo>
                      <a:pt x="459" y="8003"/>
                    </a:lnTo>
                    <a:lnTo>
                      <a:pt x="577" y="8266"/>
                    </a:lnTo>
                    <a:lnTo>
                      <a:pt x="708" y="8515"/>
                    </a:lnTo>
                    <a:lnTo>
                      <a:pt x="853" y="8751"/>
                    </a:lnTo>
                    <a:lnTo>
                      <a:pt x="997" y="8987"/>
                    </a:lnTo>
                    <a:lnTo>
                      <a:pt x="1155" y="9210"/>
                    </a:lnTo>
                    <a:lnTo>
                      <a:pt x="1338" y="9420"/>
                    </a:lnTo>
                    <a:lnTo>
                      <a:pt x="1509" y="9630"/>
                    </a:lnTo>
                    <a:lnTo>
                      <a:pt x="1706" y="9827"/>
                    </a:lnTo>
                    <a:lnTo>
                      <a:pt x="1902" y="10024"/>
                    </a:lnTo>
                    <a:lnTo>
                      <a:pt x="2112" y="10194"/>
                    </a:lnTo>
                    <a:lnTo>
                      <a:pt x="2335" y="10365"/>
                    </a:lnTo>
                    <a:lnTo>
                      <a:pt x="2558" y="10522"/>
                    </a:lnTo>
                    <a:lnTo>
                      <a:pt x="2794" y="10680"/>
                    </a:lnTo>
                    <a:lnTo>
                      <a:pt x="3031" y="10811"/>
                    </a:lnTo>
                    <a:lnTo>
                      <a:pt x="3280" y="10942"/>
                    </a:lnTo>
                    <a:lnTo>
                      <a:pt x="3542" y="11060"/>
                    </a:lnTo>
                    <a:lnTo>
                      <a:pt x="3805" y="11152"/>
                    </a:lnTo>
                    <a:lnTo>
                      <a:pt x="4067" y="11244"/>
                    </a:lnTo>
                    <a:lnTo>
                      <a:pt x="4342" y="11322"/>
                    </a:lnTo>
                    <a:lnTo>
                      <a:pt x="4618" y="11388"/>
                    </a:lnTo>
                    <a:lnTo>
                      <a:pt x="4907" y="11440"/>
                    </a:lnTo>
                    <a:lnTo>
                      <a:pt x="5195" y="11467"/>
                    </a:lnTo>
                    <a:lnTo>
                      <a:pt x="5484" y="11493"/>
                    </a:lnTo>
                    <a:lnTo>
                      <a:pt x="6061" y="11493"/>
                    </a:lnTo>
                    <a:lnTo>
                      <a:pt x="6337" y="11467"/>
                    </a:lnTo>
                    <a:lnTo>
                      <a:pt x="6612" y="11427"/>
                    </a:lnTo>
                    <a:lnTo>
                      <a:pt x="6888" y="11388"/>
                    </a:lnTo>
                    <a:lnTo>
                      <a:pt x="7150" y="11322"/>
                    </a:lnTo>
                    <a:lnTo>
                      <a:pt x="7412" y="11244"/>
                    </a:lnTo>
                    <a:lnTo>
                      <a:pt x="7675" y="11165"/>
                    </a:lnTo>
                    <a:lnTo>
                      <a:pt x="7924" y="11060"/>
                    </a:lnTo>
                    <a:lnTo>
                      <a:pt x="8173" y="10955"/>
                    </a:lnTo>
                    <a:lnTo>
                      <a:pt x="8409" y="10837"/>
                    </a:lnTo>
                    <a:lnTo>
                      <a:pt x="8645" y="10706"/>
                    </a:lnTo>
                    <a:lnTo>
                      <a:pt x="8868" y="10561"/>
                    </a:lnTo>
                    <a:lnTo>
                      <a:pt x="9092" y="10404"/>
                    </a:lnTo>
                    <a:lnTo>
                      <a:pt x="9301" y="10247"/>
                    </a:lnTo>
                    <a:lnTo>
                      <a:pt x="9511" y="10076"/>
                    </a:lnTo>
                    <a:lnTo>
                      <a:pt x="9708" y="9892"/>
                    </a:lnTo>
                    <a:lnTo>
                      <a:pt x="9905" y="9709"/>
                    </a:lnTo>
                    <a:lnTo>
                      <a:pt x="10075" y="9512"/>
                    </a:lnTo>
                    <a:lnTo>
                      <a:pt x="10246" y="9302"/>
                    </a:lnTo>
                    <a:lnTo>
                      <a:pt x="10417" y="9092"/>
                    </a:lnTo>
                    <a:lnTo>
                      <a:pt x="10561" y="8869"/>
                    </a:lnTo>
                    <a:lnTo>
                      <a:pt x="10705" y="8646"/>
                    </a:lnTo>
                    <a:lnTo>
                      <a:pt x="10836" y="8410"/>
                    </a:lnTo>
                    <a:lnTo>
                      <a:pt x="10954" y="8161"/>
                    </a:lnTo>
                    <a:lnTo>
                      <a:pt x="11059" y="7925"/>
                    </a:lnTo>
                    <a:lnTo>
                      <a:pt x="11164" y="7662"/>
                    </a:lnTo>
                    <a:lnTo>
                      <a:pt x="11243" y="7413"/>
                    </a:lnTo>
                    <a:lnTo>
                      <a:pt x="11322" y="7137"/>
                    </a:lnTo>
                    <a:lnTo>
                      <a:pt x="11387" y="6875"/>
                    </a:lnTo>
                    <a:lnTo>
                      <a:pt x="11427" y="6600"/>
                    </a:lnTo>
                    <a:lnTo>
                      <a:pt x="11466" y="6324"/>
                    </a:lnTo>
                    <a:lnTo>
                      <a:pt x="11492" y="6049"/>
                    </a:lnTo>
                    <a:lnTo>
                      <a:pt x="11623" y="5996"/>
                    </a:lnTo>
                    <a:lnTo>
                      <a:pt x="11781" y="5944"/>
                    </a:lnTo>
                    <a:lnTo>
                      <a:pt x="11978" y="5917"/>
                    </a:lnTo>
                    <a:lnTo>
                      <a:pt x="12188" y="5904"/>
                    </a:lnTo>
                    <a:lnTo>
                      <a:pt x="12358" y="5904"/>
                    </a:lnTo>
                    <a:lnTo>
                      <a:pt x="12542" y="5930"/>
                    </a:lnTo>
                    <a:lnTo>
                      <a:pt x="12725" y="5970"/>
                    </a:lnTo>
                    <a:lnTo>
                      <a:pt x="12909" y="6022"/>
                    </a:lnTo>
                    <a:lnTo>
                      <a:pt x="12922" y="6311"/>
                    </a:lnTo>
                    <a:lnTo>
                      <a:pt x="12962" y="6600"/>
                    </a:lnTo>
                    <a:lnTo>
                      <a:pt x="13001" y="6875"/>
                    </a:lnTo>
                    <a:lnTo>
                      <a:pt x="13067" y="7151"/>
                    </a:lnTo>
                    <a:lnTo>
                      <a:pt x="13132" y="7426"/>
                    </a:lnTo>
                    <a:lnTo>
                      <a:pt x="13224" y="7688"/>
                    </a:lnTo>
                    <a:lnTo>
                      <a:pt x="13316" y="7951"/>
                    </a:lnTo>
                    <a:lnTo>
                      <a:pt x="13434" y="8200"/>
                    </a:lnTo>
                    <a:lnTo>
                      <a:pt x="13552" y="8449"/>
                    </a:lnTo>
                    <a:lnTo>
                      <a:pt x="13683" y="8685"/>
                    </a:lnTo>
                    <a:lnTo>
                      <a:pt x="13814" y="8922"/>
                    </a:lnTo>
                    <a:lnTo>
                      <a:pt x="13972" y="9145"/>
                    </a:lnTo>
                    <a:lnTo>
                      <a:pt x="14129" y="9355"/>
                    </a:lnTo>
                    <a:lnTo>
                      <a:pt x="14313" y="9564"/>
                    </a:lnTo>
                    <a:lnTo>
                      <a:pt x="14483" y="9774"/>
                    </a:lnTo>
                    <a:lnTo>
                      <a:pt x="14680" y="9958"/>
                    </a:lnTo>
                    <a:lnTo>
                      <a:pt x="14877" y="10142"/>
                    </a:lnTo>
                    <a:lnTo>
                      <a:pt x="15087" y="10312"/>
                    </a:lnTo>
                    <a:lnTo>
                      <a:pt x="15297" y="10483"/>
                    </a:lnTo>
                    <a:lnTo>
                      <a:pt x="15520" y="10627"/>
                    </a:lnTo>
                    <a:lnTo>
                      <a:pt x="15756" y="10771"/>
                    </a:lnTo>
                    <a:lnTo>
                      <a:pt x="15992" y="10903"/>
                    </a:lnTo>
                    <a:lnTo>
                      <a:pt x="16241" y="11034"/>
                    </a:lnTo>
                    <a:lnTo>
                      <a:pt x="16491" y="11139"/>
                    </a:lnTo>
                    <a:lnTo>
                      <a:pt x="16740" y="11231"/>
                    </a:lnTo>
                    <a:lnTo>
                      <a:pt x="17002" y="11322"/>
                    </a:lnTo>
                    <a:lnTo>
                      <a:pt x="17278" y="11388"/>
                    </a:lnTo>
                    <a:lnTo>
                      <a:pt x="17553" y="11454"/>
                    </a:lnTo>
                    <a:lnTo>
                      <a:pt x="17829" y="11506"/>
                    </a:lnTo>
                    <a:lnTo>
                      <a:pt x="18104" y="11532"/>
                    </a:lnTo>
                    <a:lnTo>
                      <a:pt x="18393" y="11559"/>
                    </a:lnTo>
                    <a:lnTo>
                      <a:pt x="18681" y="11559"/>
                    </a:lnTo>
                    <a:lnTo>
                      <a:pt x="18970" y="11545"/>
                    </a:lnTo>
                    <a:lnTo>
                      <a:pt x="19272" y="11532"/>
                    </a:lnTo>
                    <a:lnTo>
                      <a:pt x="19560" y="11493"/>
                    </a:lnTo>
                    <a:lnTo>
                      <a:pt x="19836" y="11440"/>
                    </a:lnTo>
                    <a:lnTo>
                      <a:pt x="20111" y="11375"/>
                    </a:lnTo>
                    <a:lnTo>
                      <a:pt x="20387" y="11296"/>
                    </a:lnTo>
                    <a:lnTo>
                      <a:pt x="20649" y="11204"/>
                    </a:lnTo>
                    <a:lnTo>
                      <a:pt x="20912" y="11099"/>
                    </a:lnTo>
                    <a:lnTo>
                      <a:pt x="21174" y="10981"/>
                    </a:lnTo>
                    <a:lnTo>
                      <a:pt x="21410" y="10850"/>
                    </a:lnTo>
                    <a:lnTo>
                      <a:pt x="21659" y="10719"/>
                    </a:lnTo>
                    <a:lnTo>
                      <a:pt x="21882" y="10561"/>
                    </a:lnTo>
                    <a:lnTo>
                      <a:pt x="22119" y="10404"/>
                    </a:lnTo>
                    <a:lnTo>
                      <a:pt x="22329" y="10234"/>
                    </a:lnTo>
                    <a:lnTo>
                      <a:pt x="22538" y="10050"/>
                    </a:lnTo>
                    <a:lnTo>
                      <a:pt x="22735" y="9853"/>
                    </a:lnTo>
                    <a:lnTo>
                      <a:pt x="22932" y="9656"/>
                    </a:lnTo>
                    <a:lnTo>
                      <a:pt x="23103" y="9446"/>
                    </a:lnTo>
                    <a:lnTo>
                      <a:pt x="23273" y="9223"/>
                    </a:lnTo>
                    <a:lnTo>
                      <a:pt x="23431" y="9000"/>
                    </a:lnTo>
                    <a:lnTo>
                      <a:pt x="23588" y="8764"/>
                    </a:lnTo>
                    <a:lnTo>
                      <a:pt x="23719" y="8528"/>
                    </a:lnTo>
                    <a:lnTo>
                      <a:pt x="23850" y="8279"/>
                    </a:lnTo>
                    <a:lnTo>
                      <a:pt x="23968" y="8016"/>
                    </a:lnTo>
                    <a:lnTo>
                      <a:pt x="24060" y="7754"/>
                    </a:lnTo>
                    <a:lnTo>
                      <a:pt x="24152" y="7492"/>
                    </a:lnTo>
                    <a:lnTo>
                      <a:pt x="24231" y="7216"/>
                    </a:lnTo>
                    <a:lnTo>
                      <a:pt x="24296" y="6941"/>
                    </a:lnTo>
                    <a:lnTo>
                      <a:pt x="24336" y="6652"/>
                    </a:lnTo>
                    <a:lnTo>
                      <a:pt x="24375" y="6377"/>
                    </a:lnTo>
                    <a:lnTo>
                      <a:pt x="24401" y="6075"/>
                    </a:lnTo>
                    <a:lnTo>
                      <a:pt x="24401" y="5786"/>
                    </a:lnTo>
                    <a:lnTo>
                      <a:pt x="24401" y="5484"/>
                    </a:lnTo>
                    <a:lnTo>
                      <a:pt x="24375" y="5196"/>
                    </a:lnTo>
                    <a:lnTo>
                      <a:pt x="24336" y="4907"/>
                    </a:lnTo>
                    <a:lnTo>
                      <a:pt x="24283" y="4632"/>
                    </a:lnTo>
                    <a:lnTo>
                      <a:pt x="24218" y="4343"/>
                    </a:lnTo>
                    <a:lnTo>
                      <a:pt x="24139" y="4081"/>
                    </a:lnTo>
                    <a:lnTo>
                      <a:pt x="24047" y="3805"/>
                    </a:lnTo>
                    <a:lnTo>
                      <a:pt x="23942" y="3543"/>
                    </a:lnTo>
                    <a:lnTo>
                      <a:pt x="23824" y="3294"/>
                    </a:lnTo>
                    <a:lnTo>
                      <a:pt x="23693" y="3044"/>
                    </a:lnTo>
                    <a:lnTo>
                      <a:pt x="23562" y="2808"/>
                    </a:lnTo>
                    <a:lnTo>
                      <a:pt x="23404" y="2572"/>
                    </a:lnTo>
                    <a:lnTo>
                      <a:pt x="23247" y="2349"/>
                    </a:lnTo>
                    <a:lnTo>
                      <a:pt x="23076" y="2139"/>
                    </a:lnTo>
                    <a:lnTo>
                      <a:pt x="22893" y="1929"/>
                    </a:lnTo>
                    <a:lnTo>
                      <a:pt x="22696" y="1732"/>
                    </a:lnTo>
                    <a:lnTo>
                      <a:pt x="22499" y="1536"/>
                    </a:lnTo>
                    <a:lnTo>
                      <a:pt x="22289" y="1352"/>
                    </a:lnTo>
                    <a:lnTo>
                      <a:pt x="22066" y="1181"/>
                    </a:lnTo>
                    <a:lnTo>
                      <a:pt x="21843" y="1024"/>
                    </a:lnTo>
                    <a:lnTo>
                      <a:pt x="21607" y="880"/>
                    </a:lnTo>
                    <a:lnTo>
                      <a:pt x="21371" y="735"/>
                    </a:lnTo>
                    <a:lnTo>
                      <a:pt x="21122" y="617"/>
                    </a:lnTo>
                    <a:lnTo>
                      <a:pt x="20859" y="499"/>
                    </a:lnTo>
                    <a:lnTo>
                      <a:pt x="20610" y="394"/>
                    </a:lnTo>
                    <a:lnTo>
                      <a:pt x="20334" y="316"/>
                    </a:lnTo>
                    <a:lnTo>
                      <a:pt x="20059" y="237"/>
                    </a:lnTo>
                    <a:lnTo>
                      <a:pt x="19783" y="171"/>
                    </a:lnTo>
                    <a:lnTo>
                      <a:pt x="19508" y="119"/>
                    </a:lnTo>
                    <a:lnTo>
                      <a:pt x="19219" y="93"/>
                    </a:lnTo>
                    <a:lnTo>
                      <a:pt x="18918" y="66"/>
                    </a:lnTo>
                    <a:lnTo>
                      <a:pt x="18629" y="53"/>
                    </a:lnTo>
                    <a:lnTo>
                      <a:pt x="18367" y="66"/>
                    </a:lnTo>
                    <a:lnTo>
                      <a:pt x="18104" y="79"/>
                    </a:lnTo>
                    <a:lnTo>
                      <a:pt x="17855" y="119"/>
                    </a:lnTo>
                    <a:lnTo>
                      <a:pt x="17593" y="158"/>
                    </a:lnTo>
                    <a:lnTo>
                      <a:pt x="17343" y="211"/>
                    </a:lnTo>
                    <a:lnTo>
                      <a:pt x="17107" y="276"/>
                    </a:lnTo>
                    <a:lnTo>
                      <a:pt x="16858" y="342"/>
                    </a:lnTo>
                    <a:lnTo>
                      <a:pt x="16622" y="420"/>
                    </a:lnTo>
                    <a:lnTo>
                      <a:pt x="16399" y="525"/>
                    </a:lnTo>
                    <a:lnTo>
                      <a:pt x="16163" y="617"/>
                    </a:lnTo>
                    <a:lnTo>
                      <a:pt x="15940" y="735"/>
                    </a:lnTo>
                    <a:lnTo>
                      <a:pt x="15730" y="853"/>
                    </a:lnTo>
                    <a:lnTo>
                      <a:pt x="15520" y="985"/>
                    </a:lnTo>
                    <a:lnTo>
                      <a:pt x="15310" y="1129"/>
                    </a:lnTo>
                    <a:lnTo>
                      <a:pt x="15113" y="1273"/>
                    </a:lnTo>
                    <a:lnTo>
                      <a:pt x="14929" y="1431"/>
                    </a:lnTo>
                    <a:lnTo>
                      <a:pt x="14746" y="1588"/>
                    </a:lnTo>
                    <a:lnTo>
                      <a:pt x="14562" y="1759"/>
                    </a:lnTo>
                    <a:lnTo>
                      <a:pt x="14392" y="1942"/>
                    </a:lnTo>
                    <a:lnTo>
                      <a:pt x="14234" y="2126"/>
                    </a:lnTo>
                    <a:lnTo>
                      <a:pt x="14077" y="2323"/>
                    </a:lnTo>
                    <a:lnTo>
                      <a:pt x="13932" y="2520"/>
                    </a:lnTo>
                    <a:lnTo>
                      <a:pt x="13801" y="2729"/>
                    </a:lnTo>
                    <a:lnTo>
                      <a:pt x="13670" y="2939"/>
                    </a:lnTo>
                    <a:lnTo>
                      <a:pt x="13552" y="3162"/>
                    </a:lnTo>
                    <a:lnTo>
                      <a:pt x="13434" y="3385"/>
                    </a:lnTo>
                    <a:lnTo>
                      <a:pt x="13342" y="3608"/>
                    </a:lnTo>
                    <a:lnTo>
                      <a:pt x="13250" y="3845"/>
                    </a:lnTo>
                    <a:lnTo>
                      <a:pt x="13172" y="4081"/>
                    </a:lnTo>
                    <a:lnTo>
                      <a:pt x="13093" y="4330"/>
                    </a:lnTo>
                    <a:lnTo>
                      <a:pt x="13040" y="4579"/>
                    </a:lnTo>
                    <a:lnTo>
                      <a:pt x="12988" y="4842"/>
                    </a:lnTo>
                    <a:lnTo>
                      <a:pt x="12778" y="4789"/>
                    </a:lnTo>
                    <a:lnTo>
                      <a:pt x="12581" y="4763"/>
                    </a:lnTo>
                    <a:lnTo>
                      <a:pt x="12384" y="4750"/>
                    </a:lnTo>
                    <a:lnTo>
                      <a:pt x="12188" y="4737"/>
                    </a:lnTo>
                    <a:lnTo>
                      <a:pt x="11991" y="4750"/>
                    </a:lnTo>
                    <a:lnTo>
                      <a:pt x="11794" y="4763"/>
                    </a:lnTo>
                    <a:lnTo>
                      <a:pt x="11610" y="4789"/>
                    </a:lnTo>
                    <a:lnTo>
                      <a:pt x="11427" y="4842"/>
                    </a:lnTo>
                    <a:lnTo>
                      <a:pt x="11374" y="4579"/>
                    </a:lnTo>
                    <a:lnTo>
                      <a:pt x="11322" y="4330"/>
                    </a:lnTo>
                    <a:lnTo>
                      <a:pt x="11256" y="4081"/>
                    </a:lnTo>
                    <a:lnTo>
                      <a:pt x="11164" y="3845"/>
                    </a:lnTo>
                    <a:lnTo>
                      <a:pt x="11072" y="3595"/>
                    </a:lnTo>
                    <a:lnTo>
                      <a:pt x="10981" y="3372"/>
                    </a:lnTo>
                    <a:lnTo>
                      <a:pt x="10863" y="3136"/>
                    </a:lnTo>
                    <a:lnTo>
                      <a:pt x="10745" y="2913"/>
                    </a:lnTo>
                    <a:lnTo>
                      <a:pt x="10613" y="2703"/>
                    </a:lnTo>
                    <a:lnTo>
                      <a:pt x="10482" y="2493"/>
                    </a:lnTo>
                    <a:lnTo>
                      <a:pt x="10325" y="2283"/>
                    </a:lnTo>
                    <a:lnTo>
                      <a:pt x="10167" y="2087"/>
                    </a:lnTo>
                    <a:lnTo>
                      <a:pt x="10010" y="1903"/>
                    </a:lnTo>
                    <a:lnTo>
                      <a:pt x="9839" y="1719"/>
                    </a:lnTo>
                    <a:lnTo>
                      <a:pt x="9656" y="1549"/>
                    </a:lnTo>
                    <a:lnTo>
                      <a:pt x="9472" y="1378"/>
                    </a:lnTo>
                    <a:lnTo>
                      <a:pt x="9275" y="1221"/>
                    </a:lnTo>
                    <a:lnTo>
                      <a:pt x="9078" y="1063"/>
                    </a:lnTo>
                    <a:lnTo>
                      <a:pt x="8868" y="932"/>
                    </a:lnTo>
                    <a:lnTo>
                      <a:pt x="8659" y="801"/>
                    </a:lnTo>
                    <a:lnTo>
                      <a:pt x="8436" y="670"/>
                    </a:lnTo>
                    <a:lnTo>
                      <a:pt x="8213" y="552"/>
                    </a:lnTo>
                    <a:lnTo>
                      <a:pt x="7976" y="460"/>
                    </a:lnTo>
                    <a:lnTo>
                      <a:pt x="7740" y="355"/>
                    </a:lnTo>
                    <a:lnTo>
                      <a:pt x="7504" y="276"/>
                    </a:lnTo>
                    <a:lnTo>
                      <a:pt x="7268" y="197"/>
                    </a:lnTo>
                    <a:lnTo>
                      <a:pt x="7019" y="145"/>
                    </a:lnTo>
                    <a:lnTo>
                      <a:pt x="6756" y="93"/>
                    </a:lnTo>
                    <a:lnTo>
                      <a:pt x="6507" y="53"/>
                    </a:lnTo>
                    <a:lnTo>
                      <a:pt x="6245" y="14"/>
                    </a:lnTo>
                    <a:lnTo>
                      <a:pt x="598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 name="Google Shape;2417;p45">
              <a:extLst>
                <a:ext uri="{FF2B5EF4-FFF2-40B4-BE49-F238E27FC236}">
                  <a16:creationId xmlns:a16="http://schemas.microsoft.com/office/drawing/2014/main" id="{8B9485FD-012C-89E1-55C1-A79524D729FB}"/>
                </a:ext>
              </a:extLst>
            </p:cNvPr>
            <p:cNvGrpSpPr/>
            <p:nvPr/>
          </p:nvGrpSpPr>
          <p:grpSpPr>
            <a:xfrm>
              <a:off x="3124753" y="2097067"/>
              <a:ext cx="2904005" cy="2628275"/>
              <a:chOff x="735516" y="1544617"/>
              <a:chExt cx="2904005" cy="2628275"/>
            </a:xfrm>
          </p:grpSpPr>
          <p:sp>
            <p:nvSpPr>
              <p:cNvPr id="1089" name="Google Shape;2418;p45">
                <a:extLst>
                  <a:ext uri="{FF2B5EF4-FFF2-40B4-BE49-F238E27FC236}">
                    <a16:creationId xmlns:a16="http://schemas.microsoft.com/office/drawing/2014/main" id="{D933DBCD-6B31-9006-DE39-348A3180EEA0}"/>
                  </a:ext>
                </a:extLst>
              </p:cNvPr>
              <p:cNvSpPr/>
              <p:nvPr/>
            </p:nvSpPr>
            <p:spPr>
              <a:xfrm>
                <a:off x="1961914" y="2680601"/>
                <a:ext cx="305922" cy="16514"/>
              </a:xfrm>
              <a:custGeom>
                <a:avLst/>
                <a:gdLst/>
                <a:ahLst/>
                <a:cxnLst/>
                <a:rect l="l" t="t" r="r" b="b"/>
                <a:pathLst>
                  <a:path w="17043" h="920" extrusionOk="0">
                    <a:moveTo>
                      <a:pt x="1" y="1"/>
                    </a:moveTo>
                    <a:lnTo>
                      <a:pt x="1" y="919"/>
                    </a:lnTo>
                    <a:lnTo>
                      <a:pt x="17042" y="919"/>
                    </a:lnTo>
                    <a:lnTo>
                      <a:pt x="17042"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2419;p45">
                <a:extLst>
                  <a:ext uri="{FF2B5EF4-FFF2-40B4-BE49-F238E27FC236}">
                    <a16:creationId xmlns:a16="http://schemas.microsoft.com/office/drawing/2014/main" id="{F16CBD8A-5480-52CF-9D2C-CAEA937DB517}"/>
                  </a:ext>
                </a:extLst>
              </p:cNvPr>
              <p:cNvSpPr/>
              <p:nvPr/>
            </p:nvSpPr>
            <p:spPr>
              <a:xfrm>
                <a:off x="2274872" y="2680601"/>
                <a:ext cx="97738" cy="16514"/>
              </a:xfrm>
              <a:custGeom>
                <a:avLst/>
                <a:gdLst/>
                <a:ahLst/>
                <a:cxnLst/>
                <a:rect l="l" t="t" r="r" b="b"/>
                <a:pathLst>
                  <a:path w="5445" h="920" extrusionOk="0">
                    <a:moveTo>
                      <a:pt x="1" y="1"/>
                    </a:moveTo>
                    <a:lnTo>
                      <a:pt x="1" y="919"/>
                    </a:lnTo>
                    <a:lnTo>
                      <a:pt x="5445" y="919"/>
                    </a:lnTo>
                    <a:lnTo>
                      <a:pt x="5445"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2420;p45">
                <a:extLst>
                  <a:ext uri="{FF2B5EF4-FFF2-40B4-BE49-F238E27FC236}">
                    <a16:creationId xmlns:a16="http://schemas.microsoft.com/office/drawing/2014/main" id="{1DFBE270-D0B8-132C-34A0-BFC63E92CF5E}"/>
                  </a:ext>
                </a:extLst>
              </p:cNvPr>
              <p:cNvSpPr/>
              <p:nvPr/>
            </p:nvSpPr>
            <p:spPr>
              <a:xfrm>
                <a:off x="2379664" y="2680601"/>
                <a:ext cx="115167" cy="16514"/>
              </a:xfrm>
              <a:custGeom>
                <a:avLst/>
                <a:gdLst/>
                <a:ahLst/>
                <a:cxnLst/>
                <a:rect l="l" t="t" r="r" b="b"/>
                <a:pathLst>
                  <a:path w="6416" h="920" extrusionOk="0">
                    <a:moveTo>
                      <a:pt x="1" y="1"/>
                    </a:moveTo>
                    <a:lnTo>
                      <a:pt x="1" y="919"/>
                    </a:lnTo>
                    <a:lnTo>
                      <a:pt x="6416" y="919"/>
                    </a:lnTo>
                    <a:lnTo>
                      <a:pt x="6416"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2421;p45">
                <a:extLst>
                  <a:ext uri="{FF2B5EF4-FFF2-40B4-BE49-F238E27FC236}">
                    <a16:creationId xmlns:a16="http://schemas.microsoft.com/office/drawing/2014/main" id="{3B2A4BBE-F88F-E4C7-8229-9B0E147A0D00}"/>
                  </a:ext>
                </a:extLst>
              </p:cNvPr>
              <p:cNvSpPr/>
              <p:nvPr/>
            </p:nvSpPr>
            <p:spPr>
              <a:xfrm>
                <a:off x="1896683" y="2717111"/>
                <a:ext cx="254818" cy="16496"/>
              </a:xfrm>
              <a:custGeom>
                <a:avLst/>
                <a:gdLst/>
                <a:ahLst/>
                <a:cxnLst/>
                <a:rect l="l" t="t" r="r" b="b"/>
                <a:pathLst>
                  <a:path w="14196" h="919" extrusionOk="0">
                    <a:moveTo>
                      <a:pt x="1" y="0"/>
                    </a:moveTo>
                    <a:lnTo>
                      <a:pt x="1" y="919"/>
                    </a:lnTo>
                    <a:lnTo>
                      <a:pt x="14195" y="919"/>
                    </a:lnTo>
                    <a:lnTo>
                      <a:pt x="14195" y="0"/>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2422;p45">
                <a:extLst>
                  <a:ext uri="{FF2B5EF4-FFF2-40B4-BE49-F238E27FC236}">
                    <a16:creationId xmlns:a16="http://schemas.microsoft.com/office/drawing/2014/main" id="{9B4BD258-D49B-5D1B-2F5C-C0EB9038BE4F}"/>
                  </a:ext>
                </a:extLst>
              </p:cNvPr>
              <p:cNvSpPr/>
              <p:nvPr/>
            </p:nvSpPr>
            <p:spPr>
              <a:xfrm>
                <a:off x="2159723" y="2717111"/>
                <a:ext cx="83378" cy="16496"/>
              </a:xfrm>
              <a:custGeom>
                <a:avLst/>
                <a:gdLst/>
                <a:ahLst/>
                <a:cxnLst/>
                <a:rect l="l" t="t" r="r" b="b"/>
                <a:pathLst>
                  <a:path w="4645" h="919" extrusionOk="0">
                    <a:moveTo>
                      <a:pt x="0" y="0"/>
                    </a:moveTo>
                    <a:lnTo>
                      <a:pt x="0" y="919"/>
                    </a:lnTo>
                    <a:lnTo>
                      <a:pt x="4645" y="919"/>
                    </a:lnTo>
                    <a:lnTo>
                      <a:pt x="4645" y="0"/>
                    </a:lnTo>
                    <a:close/>
                  </a:path>
                </a:pathLst>
              </a:custGeom>
              <a:solidFill>
                <a:srgbClr val="E7C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2423;p45">
                <a:extLst>
                  <a:ext uri="{FF2B5EF4-FFF2-40B4-BE49-F238E27FC236}">
                    <a16:creationId xmlns:a16="http://schemas.microsoft.com/office/drawing/2014/main" id="{DCC042C6-0E5D-4E4F-5BA5-412C6311B326}"/>
                  </a:ext>
                </a:extLst>
              </p:cNvPr>
              <p:cNvSpPr/>
              <p:nvPr/>
            </p:nvSpPr>
            <p:spPr>
              <a:xfrm>
                <a:off x="2050928" y="4038428"/>
                <a:ext cx="116119" cy="75139"/>
              </a:xfrm>
              <a:custGeom>
                <a:avLst/>
                <a:gdLst/>
                <a:ahLst/>
                <a:cxnLst/>
                <a:rect l="l" t="t" r="r" b="b"/>
                <a:pathLst>
                  <a:path w="6469" h="4186" extrusionOk="0">
                    <a:moveTo>
                      <a:pt x="1" y="0"/>
                    </a:moveTo>
                    <a:lnTo>
                      <a:pt x="132" y="4185"/>
                    </a:lnTo>
                    <a:lnTo>
                      <a:pt x="1483" y="4185"/>
                    </a:lnTo>
                    <a:lnTo>
                      <a:pt x="1732" y="4172"/>
                    </a:lnTo>
                    <a:lnTo>
                      <a:pt x="1995" y="4146"/>
                    </a:lnTo>
                    <a:lnTo>
                      <a:pt x="2244" y="4106"/>
                    </a:lnTo>
                    <a:lnTo>
                      <a:pt x="2493" y="4054"/>
                    </a:lnTo>
                    <a:lnTo>
                      <a:pt x="2729" y="4001"/>
                    </a:lnTo>
                    <a:lnTo>
                      <a:pt x="2979" y="3923"/>
                    </a:lnTo>
                    <a:lnTo>
                      <a:pt x="3215" y="3844"/>
                    </a:lnTo>
                    <a:lnTo>
                      <a:pt x="3451" y="3765"/>
                    </a:lnTo>
                    <a:lnTo>
                      <a:pt x="3674" y="3660"/>
                    </a:lnTo>
                    <a:lnTo>
                      <a:pt x="3910" y="3555"/>
                    </a:lnTo>
                    <a:lnTo>
                      <a:pt x="4120" y="3437"/>
                    </a:lnTo>
                    <a:lnTo>
                      <a:pt x="4343" y="3306"/>
                    </a:lnTo>
                    <a:lnTo>
                      <a:pt x="4553" y="3162"/>
                    </a:lnTo>
                    <a:lnTo>
                      <a:pt x="4763" y="3017"/>
                    </a:lnTo>
                    <a:lnTo>
                      <a:pt x="4959" y="2860"/>
                    </a:lnTo>
                    <a:lnTo>
                      <a:pt x="6245" y="1797"/>
                    </a:lnTo>
                    <a:lnTo>
                      <a:pt x="6311" y="1732"/>
                    </a:lnTo>
                    <a:lnTo>
                      <a:pt x="6363" y="1666"/>
                    </a:lnTo>
                    <a:lnTo>
                      <a:pt x="6403" y="1601"/>
                    </a:lnTo>
                    <a:lnTo>
                      <a:pt x="6429" y="1522"/>
                    </a:lnTo>
                    <a:lnTo>
                      <a:pt x="6455" y="1443"/>
                    </a:lnTo>
                    <a:lnTo>
                      <a:pt x="6468" y="1364"/>
                    </a:lnTo>
                    <a:lnTo>
                      <a:pt x="6468" y="1286"/>
                    </a:lnTo>
                    <a:lnTo>
                      <a:pt x="6455" y="1207"/>
                    </a:lnTo>
                    <a:lnTo>
                      <a:pt x="6416" y="1076"/>
                    </a:lnTo>
                    <a:lnTo>
                      <a:pt x="6363" y="945"/>
                    </a:lnTo>
                    <a:lnTo>
                      <a:pt x="6298" y="827"/>
                    </a:lnTo>
                    <a:lnTo>
                      <a:pt x="6232" y="722"/>
                    </a:lnTo>
                    <a:lnTo>
                      <a:pt x="6153" y="617"/>
                    </a:lnTo>
                    <a:lnTo>
                      <a:pt x="6075" y="512"/>
                    </a:lnTo>
                    <a:lnTo>
                      <a:pt x="5983" y="420"/>
                    </a:lnTo>
                    <a:lnTo>
                      <a:pt x="5878" y="341"/>
                    </a:lnTo>
                    <a:lnTo>
                      <a:pt x="5773" y="262"/>
                    </a:lnTo>
                    <a:lnTo>
                      <a:pt x="5668" y="197"/>
                    </a:lnTo>
                    <a:lnTo>
                      <a:pt x="5550" y="131"/>
                    </a:lnTo>
                    <a:lnTo>
                      <a:pt x="5419" y="92"/>
                    </a:lnTo>
                    <a:lnTo>
                      <a:pt x="5301" y="53"/>
                    </a:lnTo>
                    <a:lnTo>
                      <a:pt x="5169" y="26"/>
                    </a:lnTo>
                    <a:lnTo>
                      <a:pt x="5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2424;p45">
                <a:extLst>
                  <a:ext uri="{FF2B5EF4-FFF2-40B4-BE49-F238E27FC236}">
                    <a16:creationId xmlns:a16="http://schemas.microsoft.com/office/drawing/2014/main" id="{485D2F91-AC1A-4236-31EC-3DD5841DC607}"/>
                  </a:ext>
                </a:extLst>
              </p:cNvPr>
              <p:cNvSpPr/>
              <p:nvPr/>
            </p:nvSpPr>
            <p:spPr>
              <a:xfrm>
                <a:off x="2212711" y="4039128"/>
                <a:ext cx="116101" cy="75139"/>
              </a:xfrm>
              <a:custGeom>
                <a:avLst/>
                <a:gdLst/>
                <a:ahLst/>
                <a:cxnLst/>
                <a:rect l="l" t="t" r="r" b="b"/>
                <a:pathLst>
                  <a:path w="6468" h="4186" extrusionOk="0">
                    <a:moveTo>
                      <a:pt x="1443" y="0"/>
                    </a:moveTo>
                    <a:lnTo>
                      <a:pt x="1312" y="14"/>
                    </a:lnTo>
                    <a:lnTo>
                      <a:pt x="1168" y="53"/>
                    </a:lnTo>
                    <a:lnTo>
                      <a:pt x="1050" y="92"/>
                    </a:lnTo>
                    <a:lnTo>
                      <a:pt x="919" y="132"/>
                    </a:lnTo>
                    <a:lnTo>
                      <a:pt x="800" y="197"/>
                    </a:lnTo>
                    <a:lnTo>
                      <a:pt x="696" y="263"/>
                    </a:lnTo>
                    <a:lnTo>
                      <a:pt x="591" y="342"/>
                    </a:lnTo>
                    <a:lnTo>
                      <a:pt x="486" y="420"/>
                    </a:lnTo>
                    <a:lnTo>
                      <a:pt x="394" y="512"/>
                    </a:lnTo>
                    <a:lnTo>
                      <a:pt x="315" y="617"/>
                    </a:lnTo>
                    <a:lnTo>
                      <a:pt x="236" y="722"/>
                    </a:lnTo>
                    <a:lnTo>
                      <a:pt x="171" y="827"/>
                    </a:lnTo>
                    <a:lnTo>
                      <a:pt x="105" y="945"/>
                    </a:lnTo>
                    <a:lnTo>
                      <a:pt x="66" y="1076"/>
                    </a:lnTo>
                    <a:lnTo>
                      <a:pt x="26" y="1194"/>
                    </a:lnTo>
                    <a:lnTo>
                      <a:pt x="0" y="1286"/>
                    </a:lnTo>
                    <a:lnTo>
                      <a:pt x="0" y="1365"/>
                    </a:lnTo>
                    <a:lnTo>
                      <a:pt x="13" y="1443"/>
                    </a:lnTo>
                    <a:lnTo>
                      <a:pt x="40" y="1522"/>
                    </a:lnTo>
                    <a:lnTo>
                      <a:pt x="66" y="1601"/>
                    </a:lnTo>
                    <a:lnTo>
                      <a:pt x="118" y="1667"/>
                    </a:lnTo>
                    <a:lnTo>
                      <a:pt x="171" y="1732"/>
                    </a:lnTo>
                    <a:lnTo>
                      <a:pt x="223" y="1798"/>
                    </a:lnTo>
                    <a:lnTo>
                      <a:pt x="1509" y="2860"/>
                    </a:lnTo>
                    <a:lnTo>
                      <a:pt x="1706" y="3018"/>
                    </a:lnTo>
                    <a:lnTo>
                      <a:pt x="1916" y="3162"/>
                    </a:lnTo>
                    <a:lnTo>
                      <a:pt x="2126" y="3306"/>
                    </a:lnTo>
                    <a:lnTo>
                      <a:pt x="2349" y="3424"/>
                    </a:lnTo>
                    <a:lnTo>
                      <a:pt x="2572" y="3556"/>
                    </a:lnTo>
                    <a:lnTo>
                      <a:pt x="2795" y="3661"/>
                    </a:lnTo>
                    <a:lnTo>
                      <a:pt x="3018" y="3766"/>
                    </a:lnTo>
                    <a:lnTo>
                      <a:pt x="3254" y="3844"/>
                    </a:lnTo>
                    <a:lnTo>
                      <a:pt x="3503" y="3923"/>
                    </a:lnTo>
                    <a:lnTo>
                      <a:pt x="3739" y="4002"/>
                    </a:lnTo>
                    <a:lnTo>
                      <a:pt x="3988" y="4054"/>
                    </a:lnTo>
                    <a:lnTo>
                      <a:pt x="4238" y="4107"/>
                    </a:lnTo>
                    <a:lnTo>
                      <a:pt x="4487" y="4146"/>
                    </a:lnTo>
                    <a:lnTo>
                      <a:pt x="4736" y="4172"/>
                    </a:lnTo>
                    <a:lnTo>
                      <a:pt x="4985" y="4185"/>
                    </a:lnTo>
                    <a:lnTo>
                      <a:pt x="6337" y="4185"/>
                    </a:lnTo>
                    <a:lnTo>
                      <a:pt x="64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2425;p45">
                <a:extLst>
                  <a:ext uri="{FF2B5EF4-FFF2-40B4-BE49-F238E27FC236}">
                    <a16:creationId xmlns:a16="http://schemas.microsoft.com/office/drawing/2014/main" id="{168BE4FA-095E-5341-878D-AA99C5B3022D}"/>
                  </a:ext>
                </a:extLst>
              </p:cNvPr>
              <p:cNvSpPr/>
              <p:nvPr/>
            </p:nvSpPr>
            <p:spPr>
              <a:xfrm>
                <a:off x="735516" y="2825188"/>
                <a:ext cx="2904005" cy="59845"/>
              </a:xfrm>
              <a:custGeom>
                <a:avLst/>
                <a:gdLst/>
                <a:ahLst/>
                <a:cxnLst/>
                <a:rect l="l" t="t" r="r" b="b"/>
                <a:pathLst>
                  <a:path w="161783" h="3334" extrusionOk="0">
                    <a:moveTo>
                      <a:pt x="0" y="1"/>
                    </a:moveTo>
                    <a:lnTo>
                      <a:pt x="0" y="3333"/>
                    </a:lnTo>
                    <a:lnTo>
                      <a:pt x="161783" y="3333"/>
                    </a:lnTo>
                    <a:lnTo>
                      <a:pt x="161783" y="1"/>
                    </a:lnTo>
                    <a:close/>
                  </a:path>
                </a:pathLst>
              </a:custGeom>
              <a:solidFill>
                <a:srgbClr val="43434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2426;p45">
                <a:extLst>
                  <a:ext uri="{FF2B5EF4-FFF2-40B4-BE49-F238E27FC236}">
                    <a16:creationId xmlns:a16="http://schemas.microsoft.com/office/drawing/2014/main" id="{452E8E6D-58E2-6FB5-1097-6BCE76E4277A}"/>
                  </a:ext>
                </a:extLst>
              </p:cNvPr>
              <p:cNvSpPr/>
              <p:nvPr/>
            </p:nvSpPr>
            <p:spPr>
              <a:xfrm>
                <a:off x="2005245" y="4066448"/>
                <a:ext cx="86914" cy="47585"/>
              </a:xfrm>
              <a:custGeom>
                <a:avLst/>
                <a:gdLst/>
                <a:ahLst/>
                <a:cxnLst/>
                <a:rect l="l" t="t" r="r" b="b"/>
                <a:pathLst>
                  <a:path w="4842" h="2651" extrusionOk="0">
                    <a:moveTo>
                      <a:pt x="0" y="0"/>
                    </a:moveTo>
                    <a:lnTo>
                      <a:pt x="0" y="1312"/>
                    </a:lnTo>
                    <a:lnTo>
                      <a:pt x="14" y="1443"/>
                    </a:lnTo>
                    <a:lnTo>
                      <a:pt x="27" y="1574"/>
                    </a:lnTo>
                    <a:lnTo>
                      <a:pt x="66" y="1706"/>
                    </a:lnTo>
                    <a:lnTo>
                      <a:pt x="105" y="1837"/>
                    </a:lnTo>
                    <a:lnTo>
                      <a:pt x="158" y="1955"/>
                    </a:lnTo>
                    <a:lnTo>
                      <a:pt x="223" y="2060"/>
                    </a:lnTo>
                    <a:lnTo>
                      <a:pt x="302" y="2165"/>
                    </a:lnTo>
                    <a:lnTo>
                      <a:pt x="394" y="2257"/>
                    </a:lnTo>
                    <a:lnTo>
                      <a:pt x="486" y="2349"/>
                    </a:lnTo>
                    <a:lnTo>
                      <a:pt x="591" y="2427"/>
                    </a:lnTo>
                    <a:lnTo>
                      <a:pt x="696" y="2493"/>
                    </a:lnTo>
                    <a:lnTo>
                      <a:pt x="814" y="2545"/>
                    </a:lnTo>
                    <a:lnTo>
                      <a:pt x="945" y="2585"/>
                    </a:lnTo>
                    <a:lnTo>
                      <a:pt x="1063" y="2624"/>
                    </a:lnTo>
                    <a:lnTo>
                      <a:pt x="1207" y="2637"/>
                    </a:lnTo>
                    <a:lnTo>
                      <a:pt x="1339" y="2650"/>
                    </a:lnTo>
                    <a:lnTo>
                      <a:pt x="3490" y="2650"/>
                    </a:lnTo>
                    <a:lnTo>
                      <a:pt x="3634" y="2637"/>
                    </a:lnTo>
                    <a:lnTo>
                      <a:pt x="3766" y="2624"/>
                    </a:lnTo>
                    <a:lnTo>
                      <a:pt x="3897" y="2585"/>
                    </a:lnTo>
                    <a:lnTo>
                      <a:pt x="4015" y="2545"/>
                    </a:lnTo>
                    <a:lnTo>
                      <a:pt x="4133" y="2493"/>
                    </a:lnTo>
                    <a:lnTo>
                      <a:pt x="4251" y="2427"/>
                    </a:lnTo>
                    <a:lnTo>
                      <a:pt x="4343" y="2349"/>
                    </a:lnTo>
                    <a:lnTo>
                      <a:pt x="4448" y="2257"/>
                    </a:lnTo>
                    <a:lnTo>
                      <a:pt x="4526" y="2165"/>
                    </a:lnTo>
                    <a:lnTo>
                      <a:pt x="4605" y="2060"/>
                    </a:lnTo>
                    <a:lnTo>
                      <a:pt x="4671" y="1955"/>
                    </a:lnTo>
                    <a:lnTo>
                      <a:pt x="4736" y="1837"/>
                    </a:lnTo>
                    <a:lnTo>
                      <a:pt x="4776" y="1706"/>
                    </a:lnTo>
                    <a:lnTo>
                      <a:pt x="4802" y="1574"/>
                    </a:lnTo>
                    <a:lnTo>
                      <a:pt x="4828" y="1443"/>
                    </a:lnTo>
                    <a:lnTo>
                      <a:pt x="4841" y="1312"/>
                    </a:lnTo>
                    <a:lnTo>
                      <a:pt x="484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2427;p45">
                <a:extLst>
                  <a:ext uri="{FF2B5EF4-FFF2-40B4-BE49-F238E27FC236}">
                    <a16:creationId xmlns:a16="http://schemas.microsoft.com/office/drawing/2014/main" id="{1FA79E8C-BDD9-1EE9-DE3E-91ADBCC57FCA}"/>
                  </a:ext>
                </a:extLst>
              </p:cNvPr>
              <p:cNvSpPr/>
              <p:nvPr/>
            </p:nvSpPr>
            <p:spPr>
              <a:xfrm>
                <a:off x="1903900" y="3163581"/>
                <a:ext cx="191688" cy="904770"/>
              </a:xfrm>
              <a:custGeom>
                <a:avLst/>
                <a:gdLst/>
                <a:ahLst/>
                <a:cxnLst/>
                <a:rect l="l" t="t" r="r" b="b"/>
                <a:pathLst>
                  <a:path w="10679" h="50405" extrusionOk="0">
                    <a:moveTo>
                      <a:pt x="0" y="1"/>
                    </a:moveTo>
                    <a:lnTo>
                      <a:pt x="4723" y="50404"/>
                    </a:lnTo>
                    <a:lnTo>
                      <a:pt x="10679" y="50404"/>
                    </a:lnTo>
                    <a:lnTo>
                      <a:pt x="106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2428;p45">
                <a:extLst>
                  <a:ext uri="{FF2B5EF4-FFF2-40B4-BE49-F238E27FC236}">
                    <a16:creationId xmlns:a16="http://schemas.microsoft.com/office/drawing/2014/main" id="{7F4EC4B2-9B78-EDB5-2C69-0F35756F4C06}"/>
                  </a:ext>
                </a:extLst>
              </p:cNvPr>
              <p:cNvSpPr/>
              <p:nvPr/>
            </p:nvSpPr>
            <p:spPr>
              <a:xfrm>
                <a:off x="2267477" y="4066448"/>
                <a:ext cx="86914" cy="47585"/>
              </a:xfrm>
              <a:custGeom>
                <a:avLst/>
                <a:gdLst/>
                <a:ahLst/>
                <a:cxnLst/>
                <a:rect l="l" t="t" r="r" b="b"/>
                <a:pathLst>
                  <a:path w="4842" h="2651" extrusionOk="0">
                    <a:moveTo>
                      <a:pt x="1" y="0"/>
                    </a:moveTo>
                    <a:lnTo>
                      <a:pt x="1" y="1312"/>
                    </a:lnTo>
                    <a:lnTo>
                      <a:pt x="14" y="1443"/>
                    </a:lnTo>
                    <a:lnTo>
                      <a:pt x="27" y="1574"/>
                    </a:lnTo>
                    <a:lnTo>
                      <a:pt x="66" y="1706"/>
                    </a:lnTo>
                    <a:lnTo>
                      <a:pt x="106" y="1837"/>
                    </a:lnTo>
                    <a:lnTo>
                      <a:pt x="171" y="1955"/>
                    </a:lnTo>
                    <a:lnTo>
                      <a:pt x="237" y="2060"/>
                    </a:lnTo>
                    <a:lnTo>
                      <a:pt x="316" y="2165"/>
                    </a:lnTo>
                    <a:lnTo>
                      <a:pt x="394" y="2257"/>
                    </a:lnTo>
                    <a:lnTo>
                      <a:pt x="486" y="2349"/>
                    </a:lnTo>
                    <a:lnTo>
                      <a:pt x="591" y="2427"/>
                    </a:lnTo>
                    <a:lnTo>
                      <a:pt x="709" y="2493"/>
                    </a:lnTo>
                    <a:lnTo>
                      <a:pt x="827" y="2545"/>
                    </a:lnTo>
                    <a:lnTo>
                      <a:pt x="945" y="2585"/>
                    </a:lnTo>
                    <a:lnTo>
                      <a:pt x="1076" y="2624"/>
                    </a:lnTo>
                    <a:lnTo>
                      <a:pt x="1208" y="2637"/>
                    </a:lnTo>
                    <a:lnTo>
                      <a:pt x="1339" y="2650"/>
                    </a:lnTo>
                    <a:lnTo>
                      <a:pt x="3503" y="2650"/>
                    </a:lnTo>
                    <a:lnTo>
                      <a:pt x="3635" y="2637"/>
                    </a:lnTo>
                    <a:lnTo>
                      <a:pt x="3766" y="2624"/>
                    </a:lnTo>
                    <a:lnTo>
                      <a:pt x="3897" y="2585"/>
                    </a:lnTo>
                    <a:lnTo>
                      <a:pt x="4015" y="2545"/>
                    </a:lnTo>
                    <a:lnTo>
                      <a:pt x="4133" y="2493"/>
                    </a:lnTo>
                    <a:lnTo>
                      <a:pt x="4251" y="2427"/>
                    </a:lnTo>
                    <a:lnTo>
                      <a:pt x="4356" y="2349"/>
                    </a:lnTo>
                    <a:lnTo>
                      <a:pt x="4448" y="2257"/>
                    </a:lnTo>
                    <a:lnTo>
                      <a:pt x="4527" y="2165"/>
                    </a:lnTo>
                    <a:lnTo>
                      <a:pt x="4605" y="2060"/>
                    </a:lnTo>
                    <a:lnTo>
                      <a:pt x="4671" y="1955"/>
                    </a:lnTo>
                    <a:lnTo>
                      <a:pt x="4737" y="1837"/>
                    </a:lnTo>
                    <a:lnTo>
                      <a:pt x="4776" y="1706"/>
                    </a:lnTo>
                    <a:lnTo>
                      <a:pt x="4815" y="1574"/>
                    </a:lnTo>
                    <a:lnTo>
                      <a:pt x="4828" y="1443"/>
                    </a:lnTo>
                    <a:lnTo>
                      <a:pt x="4842" y="1312"/>
                    </a:lnTo>
                    <a:lnTo>
                      <a:pt x="48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2429;p45">
                <a:extLst>
                  <a:ext uri="{FF2B5EF4-FFF2-40B4-BE49-F238E27FC236}">
                    <a16:creationId xmlns:a16="http://schemas.microsoft.com/office/drawing/2014/main" id="{77E6F47B-1B52-11A5-688D-46396420E8B4}"/>
                  </a:ext>
                </a:extLst>
              </p:cNvPr>
              <p:cNvSpPr/>
              <p:nvPr/>
            </p:nvSpPr>
            <p:spPr>
              <a:xfrm>
                <a:off x="2260423" y="3163581"/>
                <a:ext cx="191688" cy="904770"/>
              </a:xfrm>
              <a:custGeom>
                <a:avLst/>
                <a:gdLst/>
                <a:ahLst/>
                <a:cxnLst/>
                <a:rect l="l" t="t" r="r" b="b"/>
                <a:pathLst>
                  <a:path w="10679" h="50405" extrusionOk="0">
                    <a:moveTo>
                      <a:pt x="0" y="1"/>
                    </a:moveTo>
                    <a:lnTo>
                      <a:pt x="0" y="50404"/>
                    </a:lnTo>
                    <a:lnTo>
                      <a:pt x="5956" y="50404"/>
                    </a:lnTo>
                    <a:lnTo>
                      <a:pt x="106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2430;p45">
                <a:extLst>
                  <a:ext uri="{FF2B5EF4-FFF2-40B4-BE49-F238E27FC236}">
                    <a16:creationId xmlns:a16="http://schemas.microsoft.com/office/drawing/2014/main" id="{3AA1E7F5-15EA-1CC3-400F-C62E8386D1D3}"/>
                  </a:ext>
                </a:extLst>
              </p:cNvPr>
              <p:cNvSpPr/>
              <p:nvPr/>
            </p:nvSpPr>
            <p:spPr>
              <a:xfrm>
                <a:off x="1640950" y="2743246"/>
                <a:ext cx="66415" cy="99622"/>
              </a:xfrm>
              <a:custGeom>
                <a:avLst/>
                <a:gdLst/>
                <a:ahLst/>
                <a:cxnLst/>
                <a:rect l="l" t="t" r="r" b="b"/>
                <a:pathLst>
                  <a:path w="3700" h="5550" extrusionOk="0">
                    <a:moveTo>
                      <a:pt x="3503" y="0"/>
                    </a:moveTo>
                    <a:lnTo>
                      <a:pt x="3319" y="14"/>
                    </a:lnTo>
                    <a:lnTo>
                      <a:pt x="3136" y="40"/>
                    </a:lnTo>
                    <a:lnTo>
                      <a:pt x="2952" y="66"/>
                    </a:lnTo>
                    <a:lnTo>
                      <a:pt x="2769" y="119"/>
                    </a:lnTo>
                    <a:lnTo>
                      <a:pt x="2598" y="158"/>
                    </a:lnTo>
                    <a:lnTo>
                      <a:pt x="2427" y="224"/>
                    </a:lnTo>
                    <a:lnTo>
                      <a:pt x="2257" y="289"/>
                    </a:lnTo>
                    <a:lnTo>
                      <a:pt x="2086" y="368"/>
                    </a:lnTo>
                    <a:lnTo>
                      <a:pt x="1929" y="447"/>
                    </a:lnTo>
                    <a:lnTo>
                      <a:pt x="1771" y="538"/>
                    </a:lnTo>
                    <a:lnTo>
                      <a:pt x="1627" y="630"/>
                    </a:lnTo>
                    <a:lnTo>
                      <a:pt x="1483" y="735"/>
                    </a:lnTo>
                    <a:lnTo>
                      <a:pt x="1339" y="840"/>
                    </a:lnTo>
                    <a:lnTo>
                      <a:pt x="1207" y="958"/>
                    </a:lnTo>
                    <a:lnTo>
                      <a:pt x="1076" y="1076"/>
                    </a:lnTo>
                    <a:lnTo>
                      <a:pt x="958" y="1207"/>
                    </a:lnTo>
                    <a:lnTo>
                      <a:pt x="840" y="1339"/>
                    </a:lnTo>
                    <a:lnTo>
                      <a:pt x="735" y="1483"/>
                    </a:lnTo>
                    <a:lnTo>
                      <a:pt x="630" y="1627"/>
                    </a:lnTo>
                    <a:lnTo>
                      <a:pt x="525" y="1772"/>
                    </a:lnTo>
                    <a:lnTo>
                      <a:pt x="446" y="1929"/>
                    </a:lnTo>
                    <a:lnTo>
                      <a:pt x="355" y="2086"/>
                    </a:lnTo>
                    <a:lnTo>
                      <a:pt x="289" y="2257"/>
                    </a:lnTo>
                    <a:lnTo>
                      <a:pt x="223" y="2427"/>
                    </a:lnTo>
                    <a:lnTo>
                      <a:pt x="158" y="2598"/>
                    </a:lnTo>
                    <a:lnTo>
                      <a:pt x="118" y="2769"/>
                    </a:lnTo>
                    <a:lnTo>
                      <a:pt x="66" y="2952"/>
                    </a:lnTo>
                    <a:lnTo>
                      <a:pt x="40" y="3136"/>
                    </a:lnTo>
                    <a:lnTo>
                      <a:pt x="14" y="3320"/>
                    </a:lnTo>
                    <a:lnTo>
                      <a:pt x="0" y="3503"/>
                    </a:lnTo>
                    <a:lnTo>
                      <a:pt x="0" y="3700"/>
                    </a:lnTo>
                    <a:lnTo>
                      <a:pt x="0" y="5550"/>
                    </a:lnTo>
                    <a:lnTo>
                      <a:pt x="3700" y="5550"/>
                    </a:lnTo>
                    <a:lnTo>
                      <a:pt x="3700" y="0"/>
                    </a:lnTo>
                    <a:close/>
                  </a:path>
                </a:pathLst>
              </a:custGeom>
              <a:solidFill>
                <a:srgbClr val="FFB7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2431;p45">
                <a:extLst>
                  <a:ext uri="{FF2B5EF4-FFF2-40B4-BE49-F238E27FC236}">
                    <a16:creationId xmlns:a16="http://schemas.microsoft.com/office/drawing/2014/main" id="{82ADCDEB-69CF-E12A-C87D-13E7388F6486}"/>
                  </a:ext>
                </a:extLst>
              </p:cNvPr>
              <p:cNvSpPr/>
              <p:nvPr/>
            </p:nvSpPr>
            <p:spPr>
              <a:xfrm>
                <a:off x="1640716" y="2524005"/>
                <a:ext cx="235019" cy="385045"/>
              </a:xfrm>
              <a:custGeom>
                <a:avLst/>
                <a:gdLst/>
                <a:ahLst/>
                <a:cxnLst/>
                <a:rect l="l" t="t" r="r" b="b"/>
                <a:pathLst>
                  <a:path w="13093" h="21451" extrusionOk="0">
                    <a:moveTo>
                      <a:pt x="6442" y="1"/>
                    </a:moveTo>
                    <a:lnTo>
                      <a:pt x="145" y="17134"/>
                    </a:lnTo>
                    <a:lnTo>
                      <a:pt x="66" y="17370"/>
                    </a:lnTo>
                    <a:lnTo>
                      <a:pt x="13" y="17620"/>
                    </a:lnTo>
                    <a:lnTo>
                      <a:pt x="0" y="17869"/>
                    </a:lnTo>
                    <a:lnTo>
                      <a:pt x="0" y="18118"/>
                    </a:lnTo>
                    <a:lnTo>
                      <a:pt x="27" y="18367"/>
                    </a:lnTo>
                    <a:lnTo>
                      <a:pt x="79" y="18603"/>
                    </a:lnTo>
                    <a:lnTo>
                      <a:pt x="145" y="18853"/>
                    </a:lnTo>
                    <a:lnTo>
                      <a:pt x="250" y="19076"/>
                    </a:lnTo>
                    <a:lnTo>
                      <a:pt x="761" y="20099"/>
                    </a:lnTo>
                    <a:lnTo>
                      <a:pt x="866" y="20283"/>
                    </a:lnTo>
                    <a:lnTo>
                      <a:pt x="984" y="20453"/>
                    </a:lnTo>
                    <a:lnTo>
                      <a:pt x="1115" y="20624"/>
                    </a:lnTo>
                    <a:lnTo>
                      <a:pt x="1247" y="20768"/>
                    </a:lnTo>
                    <a:lnTo>
                      <a:pt x="1404" y="20899"/>
                    </a:lnTo>
                    <a:lnTo>
                      <a:pt x="1561" y="21017"/>
                    </a:lnTo>
                    <a:lnTo>
                      <a:pt x="1732" y="21135"/>
                    </a:lnTo>
                    <a:lnTo>
                      <a:pt x="1916" y="21227"/>
                    </a:lnTo>
                    <a:lnTo>
                      <a:pt x="2099" y="21306"/>
                    </a:lnTo>
                    <a:lnTo>
                      <a:pt x="2283" y="21358"/>
                    </a:lnTo>
                    <a:lnTo>
                      <a:pt x="2480" y="21411"/>
                    </a:lnTo>
                    <a:lnTo>
                      <a:pt x="2690" y="21437"/>
                    </a:lnTo>
                    <a:lnTo>
                      <a:pt x="2886" y="21450"/>
                    </a:lnTo>
                    <a:lnTo>
                      <a:pt x="3096" y="21450"/>
                    </a:lnTo>
                    <a:lnTo>
                      <a:pt x="3306" y="21437"/>
                    </a:lnTo>
                    <a:lnTo>
                      <a:pt x="3503" y="21398"/>
                    </a:lnTo>
                    <a:lnTo>
                      <a:pt x="3844" y="21306"/>
                    </a:lnTo>
                    <a:lnTo>
                      <a:pt x="4172" y="21201"/>
                    </a:lnTo>
                    <a:lnTo>
                      <a:pt x="4500" y="21070"/>
                    </a:lnTo>
                    <a:lnTo>
                      <a:pt x="4802" y="20912"/>
                    </a:lnTo>
                    <a:lnTo>
                      <a:pt x="5104" y="20755"/>
                    </a:lnTo>
                    <a:lnTo>
                      <a:pt x="5392" y="20571"/>
                    </a:lnTo>
                    <a:lnTo>
                      <a:pt x="5668" y="20361"/>
                    </a:lnTo>
                    <a:lnTo>
                      <a:pt x="5930" y="20151"/>
                    </a:lnTo>
                    <a:lnTo>
                      <a:pt x="6179" y="19915"/>
                    </a:lnTo>
                    <a:lnTo>
                      <a:pt x="6415" y="19666"/>
                    </a:lnTo>
                    <a:lnTo>
                      <a:pt x="6638" y="19404"/>
                    </a:lnTo>
                    <a:lnTo>
                      <a:pt x="6835" y="19128"/>
                    </a:lnTo>
                    <a:lnTo>
                      <a:pt x="7019" y="18840"/>
                    </a:lnTo>
                    <a:lnTo>
                      <a:pt x="7189" y="18538"/>
                    </a:lnTo>
                    <a:lnTo>
                      <a:pt x="7334" y="18223"/>
                    </a:lnTo>
                    <a:lnTo>
                      <a:pt x="7465" y="17895"/>
                    </a:lnTo>
                    <a:lnTo>
                      <a:pt x="13093" y="2598"/>
                    </a:lnTo>
                    <a:lnTo>
                      <a:pt x="6442" y="1"/>
                    </a:lnTo>
                    <a:close/>
                  </a:path>
                </a:pathLst>
              </a:custGeom>
              <a:solidFill>
                <a:srgbClr val="FFC0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2432;p45">
                <a:extLst>
                  <a:ext uri="{FF2B5EF4-FFF2-40B4-BE49-F238E27FC236}">
                    <a16:creationId xmlns:a16="http://schemas.microsoft.com/office/drawing/2014/main" id="{64D624C8-8927-2E5A-5987-02AD903E1D05}"/>
                  </a:ext>
                </a:extLst>
              </p:cNvPr>
              <p:cNvSpPr/>
              <p:nvPr/>
            </p:nvSpPr>
            <p:spPr>
              <a:xfrm>
                <a:off x="2667672" y="2743246"/>
                <a:ext cx="66415" cy="99622"/>
              </a:xfrm>
              <a:custGeom>
                <a:avLst/>
                <a:gdLst/>
                <a:ahLst/>
                <a:cxnLst/>
                <a:rect l="l" t="t" r="r" b="b"/>
                <a:pathLst>
                  <a:path w="3700" h="5550" extrusionOk="0">
                    <a:moveTo>
                      <a:pt x="0" y="0"/>
                    </a:moveTo>
                    <a:lnTo>
                      <a:pt x="0" y="5550"/>
                    </a:lnTo>
                    <a:lnTo>
                      <a:pt x="3700" y="5550"/>
                    </a:lnTo>
                    <a:lnTo>
                      <a:pt x="3700" y="3700"/>
                    </a:lnTo>
                    <a:lnTo>
                      <a:pt x="3700" y="3503"/>
                    </a:lnTo>
                    <a:lnTo>
                      <a:pt x="3686" y="3320"/>
                    </a:lnTo>
                    <a:lnTo>
                      <a:pt x="3660" y="3136"/>
                    </a:lnTo>
                    <a:lnTo>
                      <a:pt x="3634" y="2952"/>
                    </a:lnTo>
                    <a:lnTo>
                      <a:pt x="3582" y="2769"/>
                    </a:lnTo>
                    <a:lnTo>
                      <a:pt x="3542" y="2598"/>
                    </a:lnTo>
                    <a:lnTo>
                      <a:pt x="3477" y="2427"/>
                    </a:lnTo>
                    <a:lnTo>
                      <a:pt x="3411" y="2257"/>
                    </a:lnTo>
                    <a:lnTo>
                      <a:pt x="3332" y="2086"/>
                    </a:lnTo>
                    <a:lnTo>
                      <a:pt x="3254" y="1929"/>
                    </a:lnTo>
                    <a:lnTo>
                      <a:pt x="3162" y="1772"/>
                    </a:lnTo>
                    <a:lnTo>
                      <a:pt x="3070" y="1627"/>
                    </a:lnTo>
                    <a:lnTo>
                      <a:pt x="2965" y="1483"/>
                    </a:lnTo>
                    <a:lnTo>
                      <a:pt x="2860" y="1339"/>
                    </a:lnTo>
                    <a:lnTo>
                      <a:pt x="2742" y="1207"/>
                    </a:lnTo>
                    <a:lnTo>
                      <a:pt x="2624" y="1076"/>
                    </a:lnTo>
                    <a:lnTo>
                      <a:pt x="2493" y="958"/>
                    </a:lnTo>
                    <a:lnTo>
                      <a:pt x="2361" y="840"/>
                    </a:lnTo>
                    <a:lnTo>
                      <a:pt x="2217" y="735"/>
                    </a:lnTo>
                    <a:lnTo>
                      <a:pt x="2073" y="630"/>
                    </a:lnTo>
                    <a:lnTo>
                      <a:pt x="1929" y="538"/>
                    </a:lnTo>
                    <a:lnTo>
                      <a:pt x="1771" y="447"/>
                    </a:lnTo>
                    <a:lnTo>
                      <a:pt x="1614" y="368"/>
                    </a:lnTo>
                    <a:lnTo>
                      <a:pt x="1443" y="289"/>
                    </a:lnTo>
                    <a:lnTo>
                      <a:pt x="1273" y="224"/>
                    </a:lnTo>
                    <a:lnTo>
                      <a:pt x="1102" y="158"/>
                    </a:lnTo>
                    <a:lnTo>
                      <a:pt x="932" y="119"/>
                    </a:lnTo>
                    <a:lnTo>
                      <a:pt x="748" y="66"/>
                    </a:lnTo>
                    <a:lnTo>
                      <a:pt x="564" y="40"/>
                    </a:lnTo>
                    <a:lnTo>
                      <a:pt x="381" y="14"/>
                    </a:lnTo>
                    <a:lnTo>
                      <a:pt x="197" y="0"/>
                    </a:lnTo>
                    <a:close/>
                  </a:path>
                </a:pathLst>
              </a:custGeom>
              <a:solidFill>
                <a:srgbClr val="FFB7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2433;p45">
                <a:extLst>
                  <a:ext uri="{FF2B5EF4-FFF2-40B4-BE49-F238E27FC236}">
                    <a16:creationId xmlns:a16="http://schemas.microsoft.com/office/drawing/2014/main" id="{C0C49F31-C03F-DF63-FC4F-7D09FAF78A6F}"/>
                  </a:ext>
                </a:extLst>
              </p:cNvPr>
              <p:cNvSpPr/>
              <p:nvPr/>
            </p:nvSpPr>
            <p:spPr>
              <a:xfrm>
                <a:off x="2499301" y="2524005"/>
                <a:ext cx="235019" cy="385045"/>
              </a:xfrm>
              <a:custGeom>
                <a:avLst/>
                <a:gdLst/>
                <a:ahLst/>
                <a:cxnLst/>
                <a:rect l="l" t="t" r="r" b="b"/>
                <a:pathLst>
                  <a:path w="13093" h="21451" extrusionOk="0">
                    <a:moveTo>
                      <a:pt x="6651" y="1"/>
                    </a:moveTo>
                    <a:lnTo>
                      <a:pt x="0" y="2598"/>
                    </a:lnTo>
                    <a:lnTo>
                      <a:pt x="5615" y="17895"/>
                    </a:lnTo>
                    <a:lnTo>
                      <a:pt x="5746" y="18223"/>
                    </a:lnTo>
                    <a:lnTo>
                      <a:pt x="5904" y="18538"/>
                    </a:lnTo>
                    <a:lnTo>
                      <a:pt x="6074" y="18840"/>
                    </a:lnTo>
                    <a:lnTo>
                      <a:pt x="6258" y="19128"/>
                    </a:lnTo>
                    <a:lnTo>
                      <a:pt x="6455" y="19404"/>
                    </a:lnTo>
                    <a:lnTo>
                      <a:pt x="6678" y="19666"/>
                    </a:lnTo>
                    <a:lnTo>
                      <a:pt x="6914" y="19915"/>
                    </a:lnTo>
                    <a:lnTo>
                      <a:pt x="7163" y="20151"/>
                    </a:lnTo>
                    <a:lnTo>
                      <a:pt x="7425" y="20361"/>
                    </a:lnTo>
                    <a:lnTo>
                      <a:pt x="7701" y="20571"/>
                    </a:lnTo>
                    <a:lnTo>
                      <a:pt x="7989" y="20755"/>
                    </a:lnTo>
                    <a:lnTo>
                      <a:pt x="8278" y="20912"/>
                    </a:lnTo>
                    <a:lnTo>
                      <a:pt x="8593" y="21070"/>
                    </a:lnTo>
                    <a:lnTo>
                      <a:pt x="8921" y="21201"/>
                    </a:lnTo>
                    <a:lnTo>
                      <a:pt x="9249" y="21306"/>
                    </a:lnTo>
                    <a:lnTo>
                      <a:pt x="9577" y="21398"/>
                    </a:lnTo>
                    <a:lnTo>
                      <a:pt x="9787" y="21437"/>
                    </a:lnTo>
                    <a:lnTo>
                      <a:pt x="9997" y="21450"/>
                    </a:lnTo>
                    <a:lnTo>
                      <a:pt x="10207" y="21450"/>
                    </a:lnTo>
                    <a:lnTo>
                      <a:pt x="10403" y="21437"/>
                    </a:lnTo>
                    <a:lnTo>
                      <a:pt x="10600" y="21411"/>
                    </a:lnTo>
                    <a:lnTo>
                      <a:pt x="10797" y="21358"/>
                    </a:lnTo>
                    <a:lnTo>
                      <a:pt x="10994" y="21306"/>
                    </a:lnTo>
                    <a:lnTo>
                      <a:pt x="11177" y="21227"/>
                    </a:lnTo>
                    <a:lnTo>
                      <a:pt x="11361" y="21135"/>
                    </a:lnTo>
                    <a:lnTo>
                      <a:pt x="11532" y="21017"/>
                    </a:lnTo>
                    <a:lnTo>
                      <a:pt x="11689" y="20899"/>
                    </a:lnTo>
                    <a:lnTo>
                      <a:pt x="11846" y="20768"/>
                    </a:lnTo>
                    <a:lnTo>
                      <a:pt x="11978" y="20624"/>
                    </a:lnTo>
                    <a:lnTo>
                      <a:pt x="12109" y="20453"/>
                    </a:lnTo>
                    <a:lnTo>
                      <a:pt x="12227" y="20283"/>
                    </a:lnTo>
                    <a:lnTo>
                      <a:pt x="12332" y="20099"/>
                    </a:lnTo>
                    <a:lnTo>
                      <a:pt x="12843" y="19076"/>
                    </a:lnTo>
                    <a:lnTo>
                      <a:pt x="12935" y="18853"/>
                    </a:lnTo>
                    <a:lnTo>
                      <a:pt x="13014" y="18603"/>
                    </a:lnTo>
                    <a:lnTo>
                      <a:pt x="13066" y="18367"/>
                    </a:lnTo>
                    <a:lnTo>
                      <a:pt x="13093" y="18118"/>
                    </a:lnTo>
                    <a:lnTo>
                      <a:pt x="13093" y="17869"/>
                    </a:lnTo>
                    <a:lnTo>
                      <a:pt x="13066" y="17620"/>
                    </a:lnTo>
                    <a:lnTo>
                      <a:pt x="13027" y="17370"/>
                    </a:lnTo>
                    <a:lnTo>
                      <a:pt x="12948" y="17134"/>
                    </a:lnTo>
                    <a:lnTo>
                      <a:pt x="6651" y="1"/>
                    </a:lnTo>
                    <a:close/>
                  </a:path>
                </a:pathLst>
              </a:custGeom>
              <a:solidFill>
                <a:srgbClr val="FFC0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2434;p45">
                <a:extLst>
                  <a:ext uri="{FF2B5EF4-FFF2-40B4-BE49-F238E27FC236}">
                    <a16:creationId xmlns:a16="http://schemas.microsoft.com/office/drawing/2014/main" id="{EF1E3013-DD0F-9DF8-CA9D-D35717CD4D3F}"/>
                  </a:ext>
                </a:extLst>
              </p:cNvPr>
              <p:cNvSpPr/>
              <p:nvPr/>
            </p:nvSpPr>
            <p:spPr>
              <a:xfrm>
                <a:off x="1896683" y="3002516"/>
                <a:ext cx="581670" cy="312276"/>
              </a:xfrm>
              <a:custGeom>
                <a:avLst/>
                <a:gdLst/>
                <a:ahLst/>
                <a:cxnLst/>
                <a:rect l="l" t="t" r="r" b="b"/>
                <a:pathLst>
                  <a:path w="32405" h="17397" extrusionOk="0">
                    <a:moveTo>
                      <a:pt x="1" y="1"/>
                    </a:moveTo>
                    <a:lnTo>
                      <a:pt x="14" y="1076"/>
                    </a:lnTo>
                    <a:lnTo>
                      <a:pt x="1" y="2165"/>
                    </a:lnTo>
                    <a:lnTo>
                      <a:pt x="1" y="4277"/>
                    </a:lnTo>
                    <a:lnTo>
                      <a:pt x="1" y="5314"/>
                    </a:lnTo>
                    <a:lnTo>
                      <a:pt x="14" y="6324"/>
                    </a:lnTo>
                    <a:lnTo>
                      <a:pt x="53" y="7308"/>
                    </a:lnTo>
                    <a:lnTo>
                      <a:pt x="106" y="8252"/>
                    </a:lnTo>
                    <a:lnTo>
                      <a:pt x="145" y="8698"/>
                    </a:lnTo>
                    <a:lnTo>
                      <a:pt x="184" y="9144"/>
                    </a:lnTo>
                    <a:lnTo>
                      <a:pt x="237" y="9577"/>
                    </a:lnTo>
                    <a:lnTo>
                      <a:pt x="289" y="9997"/>
                    </a:lnTo>
                    <a:lnTo>
                      <a:pt x="355" y="10404"/>
                    </a:lnTo>
                    <a:lnTo>
                      <a:pt x="434" y="10797"/>
                    </a:lnTo>
                    <a:lnTo>
                      <a:pt x="525" y="11165"/>
                    </a:lnTo>
                    <a:lnTo>
                      <a:pt x="630" y="11532"/>
                    </a:lnTo>
                    <a:lnTo>
                      <a:pt x="735" y="11873"/>
                    </a:lnTo>
                    <a:lnTo>
                      <a:pt x="853" y="12201"/>
                    </a:lnTo>
                    <a:lnTo>
                      <a:pt x="998" y="12503"/>
                    </a:lnTo>
                    <a:lnTo>
                      <a:pt x="1142" y="12805"/>
                    </a:lnTo>
                    <a:lnTo>
                      <a:pt x="1299" y="13067"/>
                    </a:lnTo>
                    <a:lnTo>
                      <a:pt x="1483" y="13316"/>
                    </a:lnTo>
                    <a:lnTo>
                      <a:pt x="1680" y="13552"/>
                    </a:lnTo>
                    <a:lnTo>
                      <a:pt x="1877" y="13762"/>
                    </a:lnTo>
                    <a:lnTo>
                      <a:pt x="2139" y="13985"/>
                    </a:lnTo>
                    <a:lnTo>
                      <a:pt x="2414" y="14195"/>
                    </a:lnTo>
                    <a:lnTo>
                      <a:pt x="2703" y="14405"/>
                    </a:lnTo>
                    <a:lnTo>
                      <a:pt x="3018" y="14615"/>
                    </a:lnTo>
                    <a:lnTo>
                      <a:pt x="3346" y="14812"/>
                    </a:lnTo>
                    <a:lnTo>
                      <a:pt x="3687" y="14996"/>
                    </a:lnTo>
                    <a:lnTo>
                      <a:pt x="4041" y="15179"/>
                    </a:lnTo>
                    <a:lnTo>
                      <a:pt x="4409" y="15350"/>
                    </a:lnTo>
                    <a:lnTo>
                      <a:pt x="4802" y="15520"/>
                    </a:lnTo>
                    <a:lnTo>
                      <a:pt x="5196" y="15678"/>
                    </a:lnTo>
                    <a:lnTo>
                      <a:pt x="5602" y="15822"/>
                    </a:lnTo>
                    <a:lnTo>
                      <a:pt x="6035" y="15966"/>
                    </a:lnTo>
                    <a:lnTo>
                      <a:pt x="6468" y="16111"/>
                    </a:lnTo>
                    <a:lnTo>
                      <a:pt x="6914" y="16242"/>
                    </a:lnTo>
                    <a:lnTo>
                      <a:pt x="7373" y="16360"/>
                    </a:lnTo>
                    <a:lnTo>
                      <a:pt x="7846" y="16478"/>
                    </a:lnTo>
                    <a:lnTo>
                      <a:pt x="8318" y="16596"/>
                    </a:lnTo>
                    <a:lnTo>
                      <a:pt x="8803" y="16701"/>
                    </a:lnTo>
                    <a:lnTo>
                      <a:pt x="9302" y="16793"/>
                    </a:lnTo>
                    <a:lnTo>
                      <a:pt x="9800" y="16885"/>
                    </a:lnTo>
                    <a:lnTo>
                      <a:pt x="10312" y="16963"/>
                    </a:lnTo>
                    <a:lnTo>
                      <a:pt x="10824" y="17029"/>
                    </a:lnTo>
                    <a:lnTo>
                      <a:pt x="11873" y="17160"/>
                    </a:lnTo>
                    <a:lnTo>
                      <a:pt x="12936" y="17265"/>
                    </a:lnTo>
                    <a:lnTo>
                      <a:pt x="14012" y="17331"/>
                    </a:lnTo>
                    <a:lnTo>
                      <a:pt x="15114" y="17370"/>
                    </a:lnTo>
                    <a:lnTo>
                      <a:pt x="16203" y="17396"/>
                    </a:lnTo>
                    <a:lnTo>
                      <a:pt x="17291" y="17370"/>
                    </a:lnTo>
                    <a:lnTo>
                      <a:pt x="18380" y="17331"/>
                    </a:lnTo>
                    <a:lnTo>
                      <a:pt x="19469" y="17265"/>
                    </a:lnTo>
                    <a:lnTo>
                      <a:pt x="20532" y="17160"/>
                    </a:lnTo>
                    <a:lnTo>
                      <a:pt x="21581" y="17029"/>
                    </a:lnTo>
                    <a:lnTo>
                      <a:pt x="22093" y="16963"/>
                    </a:lnTo>
                    <a:lnTo>
                      <a:pt x="22605" y="16885"/>
                    </a:lnTo>
                    <a:lnTo>
                      <a:pt x="23103" y="16793"/>
                    </a:lnTo>
                    <a:lnTo>
                      <a:pt x="23602" y="16701"/>
                    </a:lnTo>
                    <a:lnTo>
                      <a:pt x="24087" y="16596"/>
                    </a:lnTo>
                    <a:lnTo>
                      <a:pt x="24559" y="16478"/>
                    </a:lnTo>
                    <a:lnTo>
                      <a:pt x="25032" y="16360"/>
                    </a:lnTo>
                    <a:lnTo>
                      <a:pt x="25491" y="16242"/>
                    </a:lnTo>
                    <a:lnTo>
                      <a:pt x="25937" y="16111"/>
                    </a:lnTo>
                    <a:lnTo>
                      <a:pt x="26370" y="15966"/>
                    </a:lnTo>
                    <a:lnTo>
                      <a:pt x="26790" y="15822"/>
                    </a:lnTo>
                    <a:lnTo>
                      <a:pt x="27209" y="15678"/>
                    </a:lnTo>
                    <a:lnTo>
                      <a:pt x="27603" y="15520"/>
                    </a:lnTo>
                    <a:lnTo>
                      <a:pt x="27996" y="15350"/>
                    </a:lnTo>
                    <a:lnTo>
                      <a:pt x="28364" y="15179"/>
                    </a:lnTo>
                    <a:lnTo>
                      <a:pt x="28718" y="14996"/>
                    </a:lnTo>
                    <a:lnTo>
                      <a:pt x="29059" y="14812"/>
                    </a:lnTo>
                    <a:lnTo>
                      <a:pt x="29387" y="14615"/>
                    </a:lnTo>
                    <a:lnTo>
                      <a:pt x="29702" y="14405"/>
                    </a:lnTo>
                    <a:lnTo>
                      <a:pt x="29991" y="14195"/>
                    </a:lnTo>
                    <a:lnTo>
                      <a:pt x="30266" y="13985"/>
                    </a:lnTo>
                    <a:lnTo>
                      <a:pt x="30515" y="13762"/>
                    </a:lnTo>
                    <a:lnTo>
                      <a:pt x="30725" y="13552"/>
                    </a:lnTo>
                    <a:lnTo>
                      <a:pt x="30922" y="13316"/>
                    </a:lnTo>
                    <a:lnTo>
                      <a:pt x="31093" y="13067"/>
                    </a:lnTo>
                    <a:lnTo>
                      <a:pt x="31263" y="12805"/>
                    </a:lnTo>
                    <a:lnTo>
                      <a:pt x="31407" y="12503"/>
                    </a:lnTo>
                    <a:lnTo>
                      <a:pt x="31539" y="12201"/>
                    </a:lnTo>
                    <a:lnTo>
                      <a:pt x="31670" y="11873"/>
                    </a:lnTo>
                    <a:lnTo>
                      <a:pt x="31775" y="11532"/>
                    </a:lnTo>
                    <a:lnTo>
                      <a:pt x="31880" y="11165"/>
                    </a:lnTo>
                    <a:lnTo>
                      <a:pt x="31958" y="10797"/>
                    </a:lnTo>
                    <a:lnTo>
                      <a:pt x="32037" y="10404"/>
                    </a:lnTo>
                    <a:lnTo>
                      <a:pt x="32116" y="9997"/>
                    </a:lnTo>
                    <a:lnTo>
                      <a:pt x="32168" y="9577"/>
                    </a:lnTo>
                    <a:lnTo>
                      <a:pt x="32221" y="9144"/>
                    </a:lnTo>
                    <a:lnTo>
                      <a:pt x="32260" y="8698"/>
                    </a:lnTo>
                    <a:lnTo>
                      <a:pt x="32299" y="8252"/>
                    </a:lnTo>
                    <a:lnTo>
                      <a:pt x="32352" y="7308"/>
                    </a:lnTo>
                    <a:lnTo>
                      <a:pt x="32391" y="6324"/>
                    </a:lnTo>
                    <a:lnTo>
                      <a:pt x="32404" y="5314"/>
                    </a:lnTo>
                    <a:lnTo>
                      <a:pt x="32404" y="4277"/>
                    </a:lnTo>
                    <a:lnTo>
                      <a:pt x="32391" y="2165"/>
                    </a:lnTo>
                    <a:lnTo>
                      <a:pt x="32391" y="1076"/>
                    </a:lnTo>
                    <a:lnTo>
                      <a:pt x="324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2435;p45">
                <a:extLst>
                  <a:ext uri="{FF2B5EF4-FFF2-40B4-BE49-F238E27FC236}">
                    <a16:creationId xmlns:a16="http://schemas.microsoft.com/office/drawing/2014/main" id="{513CC17A-3D14-5B56-6247-3EE6FE0D371D}"/>
                  </a:ext>
                </a:extLst>
              </p:cNvPr>
              <p:cNvSpPr/>
              <p:nvPr/>
            </p:nvSpPr>
            <p:spPr>
              <a:xfrm>
                <a:off x="1715604" y="2185378"/>
                <a:ext cx="943829" cy="944080"/>
              </a:xfrm>
              <a:custGeom>
                <a:avLst/>
                <a:gdLst/>
                <a:ahLst/>
                <a:cxnLst/>
                <a:rect l="l" t="t" r="r" b="b"/>
                <a:pathLst>
                  <a:path w="52581" h="52595" extrusionOk="0">
                    <a:moveTo>
                      <a:pt x="22053" y="1"/>
                    </a:moveTo>
                    <a:lnTo>
                      <a:pt x="21436" y="14"/>
                    </a:lnTo>
                    <a:lnTo>
                      <a:pt x="20833" y="40"/>
                    </a:lnTo>
                    <a:lnTo>
                      <a:pt x="20230" y="92"/>
                    </a:lnTo>
                    <a:lnTo>
                      <a:pt x="19626" y="158"/>
                    </a:lnTo>
                    <a:lnTo>
                      <a:pt x="19036" y="237"/>
                    </a:lnTo>
                    <a:lnTo>
                      <a:pt x="18432" y="342"/>
                    </a:lnTo>
                    <a:lnTo>
                      <a:pt x="17842" y="460"/>
                    </a:lnTo>
                    <a:lnTo>
                      <a:pt x="17252" y="591"/>
                    </a:lnTo>
                    <a:lnTo>
                      <a:pt x="16674" y="748"/>
                    </a:lnTo>
                    <a:lnTo>
                      <a:pt x="16097" y="919"/>
                    </a:lnTo>
                    <a:lnTo>
                      <a:pt x="15520" y="1116"/>
                    </a:lnTo>
                    <a:lnTo>
                      <a:pt x="14956" y="1326"/>
                    </a:lnTo>
                    <a:lnTo>
                      <a:pt x="14392" y="1549"/>
                    </a:lnTo>
                    <a:lnTo>
                      <a:pt x="13841" y="1798"/>
                    </a:lnTo>
                    <a:lnTo>
                      <a:pt x="13303" y="2073"/>
                    </a:lnTo>
                    <a:lnTo>
                      <a:pt x="12765" y="2349"/>
                    </a:lnTo>
                    <a:lnTo>
                      <a:pt x="12345" y="2585"/>
                    </a:lnTo>
                    <a:lnTo>
                      <a:pt x="11912" y="2834"/>
                    </a:lnTo>
                    <a:lnTo>
                      <a:pt x="11492" y="3097"/>
                    </a:lnTo>
                    <a:lnTo>
                      <a:pt x="11059" y="3385"/>
                    </a:lnTo>
                    <a:lnTo>
                      <a:pt x="10613" y="3674"/>
                    </a:lnTo>
                    <a:lnTo>
                      <a:pt x="10180" y="3989"/>
                    </a:lnTo>
                    <a:lnTo>
                      <a:pt x="9734" y="4317"/>
                    </a:lnTo>
                    <a:lnTo>
                      <a:pt x="9288" y="4671"/>
                    </a:lnTo>
                    <a:lnTo>
                      <a:pt x="8842" y="5038"/>
                    </a:lnTo>
                    <a:lnTo>
                      <a:pt x="8396" y="5419"/>
                    </a:lnTo>
                    <a:lnTo>
                      <a:pt x="7963" y="5825"/>
                    </a:lnTo>
                    <a:lnTo>
                      <a:pt x="7517" y="6245"/>
                    </a:lnTo>
                    <a:lnTo>
                      <a:pt x="7071" y="6678"/>
                    </a:lnTo>
                    <a:lnTo>
                      <a:pt x="6638" y="7150"/>
                    </a:lnTo>
                    <a:lnTo>
                      <a:pt x="6205" y="7623"/>
                    </a:lnTo>
                    <a:lnTo>
                      <a:pt x="5772" y="8134"/>
                    </a:lnTo>
                    <a:lnTo>
                      <a:pt x="5340" y="8659"/>
                    </a:lnTo>
                    <a:lnTo>
                      <a:pt x="4920" y="9197"/>
                    </a:lnTo>
                    <a:lnTo>
                      <a:pt x="4513" y="9774"/>
                    </a:lnTo>
                    <a:lnTo>
                      <a:pt x="4106" y="10365"/>
                    </a:lnTo>
                    <a:lnTo>
                      <a:pt x="3700" y="10968"/>
                    </a:lnTo>
                    <a:lnTo>
                      <a:pt x="3306" y="11611"/>
                    </a:lnTo>
                    <a:lnTo>
                      <a:pt x="2926" y="12267"/>
                    </a:lnTo>
                    <a:lnTo>
                      <a:pt x="2558" y="12962"/>
                    </a:lnTo>
                    <a:lnTo>
                      <a:pt x="2191" y="13671"/>
                    </a:lnTo>
                    <a:lnTo>
                      <a:pt x="1837" y="14405"/>
                    </a:lnTo>
                    <a:lnTo>
                      <a:pt x="1496" y="15166"/>
                    </a:lnTo>
                    <a:lnTo>
                      <a:pt x="1168" y="15953"/>
                    </a:lnTo>
                    <a:lnTo>
                      <a:pt x="866" y="16767"/>
                    </a:lnTo>
                    <a:lnTo>
                      <a:pt x="564" y="17606"/>
                    </a:lnTo>
                    <a:lnTo>
                      <a:pt x="276" y="18485"/>
                    </a:lnTo>
                    <a:lnTo>
                      <a:pt x="0" y="19377"/>
                    </a:lnTo>
                    <a:lnTo>
                      <a:pt x="10679" y="23720"/>
                    </a:lnTo>
                    <a:lnTo>
                      <a:pt x="10574" y="24638"/>
                    </a:lnTo>
                    <a:lnTo>
                      <a:pt x="10469" y="25701"/>
                    </a:lnTo>
                    <a:lnTo>
                      <a:pt x="10351" y="27091"/>
                    </a:lnTo>
                    <a:lnTo>
                      <a:pt x="10233" y="28757"/>
                    </a:lnTo>
                    <a:lnTo>
                      <a:pt x="10180" y="29676"/>
                    </a:lnTo>
                    <a:lnTo>
                      <a:pt x="10128" y="30647"/>
                    </a:lnTo>
                    <a:lnTo>
                      <a:pt x="10089" y="31657"/>
                    </a:lnTo>
                    <a:lnTo>
                      <a:pt x="10049" y="32693"/>
                    </a:lnTo>
                    <a:lnTo>
                      <a:pt x="10023" y="33756"/>
                    </a:lnTo>
                    <a:lnTo>
                      <a:pt x="10010" y="34845"/>
                    </a:lnTo>
                    <a:lnTo>
                      <a:pt x="10010" y="35947"/>
                    </a:lnTo>
                    <a:lnTo>
                      <a:pt x="10023" y="37049"/>
                    </a:lnTo>
                    <a:lnTo>
                      <a:pt x="10062" y="38151"/>
                    </a:lnTo>
                    <a:lnTo>
                      <a:pt x="10115" y="39240"/>
                    </a:lnTo>
                    <a:lnTo>
                      <a:pt x="10194" y="40315"/>
                    </a:lnTo>
                    <a:lnTo>
                      <a:pt x="10285" y="41378"/>
                    </a:lnTo>
                    <a:lnTo>
                      <a:pt x="10403" y="42401"/>
                    </a:lnTo>
                    <a:lnTo>
                      <a:pt x="10469" y="42900"/>
                    </a:lnTo>
                    <a:lnTo>
                      <a:pt x="10548" y="43398"/>
                    </a:lnTo>
                    <a:lnTo>
                      <a:pt x="10640" y="43884"/>
                    </a:lnTo>
                    <a:lnTo>
                      <a:pt x="10731" y="44343"/>
                    </a:lnTo>
                    <a:lnTo>
                      <a:pt x="10823" y="44802"/>
                    </a:lnTo>
                    <a:lnTo>
                      <a:pt x="10928" y="45248"/>
                    </a:lnTo>
                    <a:lnTo>
                      <a:pt x="11046" y="45668"/>
                    </a:lnTo>
                    <a:lnTo>
                      <a:pt x="11164" y="46088"/>
                    </a:lnTo>
                    <a:lnTo>
                      <a:pt x="11296" y="46481"/>
                    </a:lnTo>
                    <a:lnTo>
                      <a:pt x="11440" y="46862"/>
                    </a:lnTo>
                    <a:lnTo>
                      <a:pt x="11584" y="47229"/>
                    </a:lnTo>
                    <a:lnTo>
                      <a:pt x="11742" y="47570"/>
                    </a:lnTo>
                    <a:lnTo>
                      <a:pt x="11912" y="47898"/>
                    </a:lnTo>
                    <a:lnTo>
                      <a:pt x="12083" y="48200"/>
                    </a:lnTo>
                    <a:lnTo>
                      <a:pt x="12266" y="48488"/>
                    </a:lnTo>
                    <a:lnTo>
                      <a:pt x="12463" y="48751"/>
                    </a:lnTo>
                    <a:lnTo>
                      <a:pt x="12673" y="48987"/>
                    </a:lnTo>
                    <a:lnTo>
                      <a:pt x="12883" y="49197"/>
                    </a:lnTo>
                    <a:lnTo>
                      <a:pt x="13119" y="49407"/>
                    </a:lnTo>
                    <a:lnTo>
                      <a:pt x="13381" y="49617"/>
                    </a:lnTo>
                    <a:lnTo>
                      <a:pt x="13657" y="49813"/>
                    </a:lnTo>
                    <a:lnTo>
                      <a:pt x="13946" y="49997"/>
                    </a:lnTo>
                    <a:lnTo>
                      <a:pt x="14247" y="50181"/>
                    </a:lnTo>
                    <a:lnTo>
                      <a:pt x="14562" y="50351"/>
                    </a:lnTo>
                    <a:lnTo>
                      <a:pt x="14903" y="50522"/>
                    </a:lnTo>
                    <a:lnTo>
                      <a:pt x="15244" y="50692"/>
                    </a:lnTo>
                    <a:lnTo>
                      <a:pt x="15612" y="50837"/>
                    </a:lnTo>
                    <a:lnTo>
                      <a:pt x="15979" y="50994"/>
                    </a:lnTo>
                    <a:lnTo>
                      <a:pt x="16373" y="51138"/>
                    </a:lnTo>
                    <a:lnTo>
                      <a:pt x="16766" y="51270"/>
                    </a:lnTo>
                    <a:lnTo>
                      <a:pt x="17173" y="51401"/>
                    </a:lnTo>
                    <a:lnTo>
                      <a:pt x="17593" y="51519"/>
                    </a:lnTo>
                    <a:lnTo>
                      <a:pt x="18026" y="51637"/>
                    </a:lnTo>
                    <a:lnTo>
                      <a:pt x="18458" y="51755"/>
                    </a:lnTo>
                    <a:lnTo>
                      <a:pt x="18905" y="51847"/>
                    </a:lnTo>
                    <a:lnTo>
                      <a:pt x="19364" y="51952"/>
                    </a:lnTo>
                    <a:lnTo>
                      <a:pt x="20295" y="52122"/>
                    </a:lnTo>
                    <a:lnTo>
                      <a:pt x="21253" y="52267"/>
                    </a:lnTo>
                    <a:lnTo>
                      <a:pt x="22237" y="52385"/>
                    </a:lnTo>
                    <a:lnTo>
                      <a:pt x="23234" y="52477"/>
                    </a:lnTo>
                    <a:lnTo>
                      <a:pt x="24244" y="52542"/>
                    </a:lnTo>
                    <a:lnTo>
                      <a:pt x="25267" y="52582"/>
                    </a:lnTo>
                    <a:lnTo>
                      <a:pt x="26291" y="52595"/>
                    </a:lnTo>
                    <a:lnTo>
                      <a:pt x="27314" y="52582"/>
                    </a:lnTo>
                    <a:lnTo>
                      <a:pt x="28337" y="52542"/>
                    </a:lnTo>
                    <a:lnTo>
                      <a:pt x="29347" y="52477"/>
                    </a:lnTo>
                    <a:lnTo>
                      <a:pt x="30344" y="52385"/>
                    </a:lnTo>
                    <a:lnTo>
                      <a:pt x="31328" y="52267"/>
                    </a:lnTo>
                    <a:lnTo>
                      <a:pt x="32286" y="52122"/>
                    </a:lnTo>
                    <a:lnTo>
                      <a:pt x="33217" y="51952"/>
                    </a:lnTo>
                    <a:lnTo>
                      <a:pt x="33676" y="51847"/>
                    </a:lnTo>
                    <a:lnTo>
                      <a:pt x="34123" y="51755"/>
                    </a:lnTo>
                    <a:lnTo>
                      <a:pt x="34555" y="51637"/>
                    </a:lnTo>
                    <a:lnTo>
                      <a:pt x="34988" y="51519"/>
                    </a:lnTo>
                    <a:lnTo>
                      <a:pt x="35408" y="51401"/>
                    </a:lnTo>
                    <a:lnTo>
                      <a:pt x="35815" y="51270"/>
                    </a:lnTo>
                    <a:lnTo>
                      <a:pt x="36208" y="51138"/>
                    </a:lnTo>
                    <a:lnTo>
                      <a:pt x="36589" y="50994"/>
                    </a:lnTo>
                    <a:lnTo>
                      <a:pt x="36969" y="50837"/>
                    </a:lnTo>
                    <a:lnTo>
                      <a:pt x="37324" y="50692"/>
                    </a:lnTo>
                    <a:lnTo>
                      <a:pt x="37678" y="50522"/>
                    </a:lnTo>
                    <a:lnTo>
                      <a:pt x="38006" y="50351"/>
                    </a:lnTo>
                    <a:lnTo>
                      <a:pt x="38334" y="50181"/>
                    </a:lnTo>
                    <a:lnTo>
                      <a:pt x="38635" y="49997"/>
                    </a:lnTo>
                    <a:lnTo>
                      <a:pt x="38924" y="49813"/>
                    </a:lnTo>
                    <a:lnTo>
                      <a:pt x="39200" y="49617"/>
                    </a:lnTo>
                    <a:lnTo>
                      <a:pt x="39462" y="49407"/>
                    </a:lnTo>
                    <a:lnTo>
                      <a:pt x="39698" y="49197"/>
                    </a:lnTo>
                    <a:lnTo>
                      <a:pt x="39908" y="48987"/>
                    </a:lnTo>
                    <a:lnTo>
                      <a:pt x="40118" y="48751"/>
                    </a:lnTo>
                    <a:lnTo>
                      <a:pt x="40315" y="48488"/>
                    </a:lnTo>
                    <a:lnTo>
                      <a:pt x="40498" y="48200"/>
                    </a:lnTo>
                    <a:lnTo>
                      <a:pt x="40669" y="47898"/>
                    </a:lnTo>
                    <a:lnTo>
                      <a:pt x="40839" y="47570"/>
                    </a:lnTo>
                    <a:lnTo>
                      <a:pt x="40997" y="47229"/>
                    </a:lnTo>
                    <a:lnTo>
                      <a:pt x="41141" y="46862"/>
                    </a:lnTo>
                    <a:lnTo>
                      <a:pt x="41285" y="46481"/>
                    </a:lnTo>
                    <a:lnTo>
                      <a:pt x="41417" y="46088"/>
                    </a:lnTo>
                    <a:lnTo>
                      <a:pt x="41535" y="45668"/>
                    </a:lnTo>
                    <a:lnTo>
                      <a:pt x="41653" y="45248"/>
                    </a:lnTo>
                    <a:lnTo>
                      <a:pt x="41758" y="44802"/>
                    </a:lnTo>
                    <a:lnTo>
                      <a:pt x="41850" y="44343"/>
                    </a:lnTo>
                    <a:lnTo>
                      <a:pt x="41941" y="43884"/>
                    </a:lnTo>
                    <a:lnTo>
                      <a:pt x="42033" y="43398"/>
                    </a:lnTo>
                    <a:lnTo>
                      <a:pt x="42112" y="42900"/>
                    </a:lnTo>
                    <a:lnTo>
                      <a:pt x="42178" y="42401"/>
                    </a:lnTo>
                    <a:lnTo>
                      <a:pt x="42296" y="41378"/>
                    </a:lnTo>
                    <a:lnTo>
                      <a:pt x="42387" y="40315"/>
                    </a:lnTo>
                    <a:lnTo>
                      <a:pt x="42466" y="39240"/>
                    </a:lnTo>
                    <a:lnTo>
                      <a:pt x="42519" y="38151"/>
                    </a:lnTo>
                    <a:lnTo>
                      <a:pt x="42545" y="37049"/>
                    </a:lnTo>
                    <a:lnTo>
                      <a:pt x="42571" y="35947"/>
                    </a:lnTo>
                    <a:lnTo>
                      <a:pt x="42571" y="34845"/>
                    </a:lnTo>
                    <a:lnTo>
                      <a:pt x="42558" y="33756"/>
                    </a:lnTo>
                    <a:lnTo>
                      <a:pt x="42532" y="32693"/>
                    </a:lnTo>
                    <a:lnTo>
                      <a:pt x="42492" y="31657"/>
                    </a:lnTo>
                    <a:lnTo>
                      <a:pt x="42453" y="30647"/>
                    </a:lnTo>
                    <a:lnTo>
                      <a:pt x="42401" y="29676"/>
                    </a:lnTo>
                    <a:lnTo>
                      <a:pt x="42335" y="28757"/>
                    </a:lnTo>
                    <a:lnTo>
                      <a:pt x="42217" y="27091"/>
                    </a:lnTo>
                    <a:lnTo>
                      <a:pt x="42099" y="25701"/>
                    </a:lnTo>
                    <a:lnTo>
                      <a:pt x="42007" y="24638"/>
                    </a:lnTo>
                    <a:lnTo>
                      <a:pt x="41902" y="23720"/>
                    </a:lnTo>
                    <a:lnTo>
                      <a:pt x="52581" y="19377"/>
                    </a:lnTo>
                    <a:lnTo>
                      <a:pt x="52292" y="18459"/>
                    </a:lnTo>
                    <a:lnTo>
                      <a:pt x="52004" y="17554"/>
                    </a:lnTo>
                    <a:lnTo>
                      <a:pt x="51689" y="16688"/>
                    </a:lnTo>
                    <a:lnTo>
                      <a:pt x="51361" y="15861"/>
                    </a:lnTo>
                    <a:lnTo>
                      <a:pt x="51033" y="15048"/>
                    </a:lnTo>
                    <a:lnTo>
                      <a:pt x="50679" y="14274"/>
                    </a:lnTo>
                    <a:lnTo>
                      <a:pt x="50311" y="13513"/>
                    </a:lnTo>
                    <a:lnTo>
                      <a:pt x="49931" y="12792"/>
                    </a:lnTo>
                    <a:lnTo>
                      <a:pt x="49550" y="12083"/>
                    </a:lnTo>
                    <a:lnTo>
                      <a:pt x="49144" y="11414"/>
                    </a:lnTo>
                    <a:lnTo>
                      <a:pt x="48737" y="10758"/>
                    </a:lnTo>
                    <a:lnTo>
                      <a:pt x="48330" y="10142"/>
                    </a:lnTo>
                    <a:lnTo>
                      <a:pt x="47911" y="9538"/>
                    </a:lnTo>
                    <a:lnTo>
                      <a:pt x="47478" y="8961"/>
                    </a:lnTo>
                    <a:lnTo>
                      <a:pt x="47045" y="8410"/>
                    </a:lnTo>
                    <a:lnTo>
                      <a:pt x="46599" y="7885"/>
                    </a:lnTo>
                    <a:lnTo>
                      <a:pt x="46153" y="7373"/>
                    </a:lnTo>
                    <a:lnTo>
                      <a:pt x="45707" y="6888"/>
                    </a:lnTo>
                    <a:lnTo>
                      <a:pt x="45247" y="6429"/>
                    </a:lnTo>
                    <a:lnTo>
                      <a:pt x="44788" y="5983"/>
                    </a:lnTo>
                    <a:lnTo>
                      <a:pt x="44342" y="5563"/>
                    </a:lnTo>
                    <a:lnTo>
                      <a:pt x="43883" y="5156"/>
                    </a:lnTo>
                    <a:lnTo>
                      <a:pt x="43424" y="4776"/>
                    </a:lnTo>
                    <a:lnTo>
                      <a:pt x="42965" y="4409"/>
                    </a:lnTo>
                    <a:lnTo>
                      <a:pt x="42506" y="4067"/>
                    </a:lnTo>
                    <a:lnTo>
                      <a:pt x="42046" y="3739"/>
                    </a:lnTo>
                    <a:lnTo>
                      <a:pt x="41600" y="3425"/>
                    </a:lnTo>
                    <a:lnTo>
                      <a:pt x="41154" y="3136"/>
                    </a:lnTo>
                    <a:lnTo>
                      <a:pt x="40708" y="2860"/>
                    </a:lnTo>
                    <a:lnTo>
                      <a:pt x="40275" y="2598"/>
                    </a:lnTo>
                    <a:lnTo>
                      <a:pt x="39842" y="2362"/>
                    </a:lnTo>
                    <a:lnTo>
                      <a:pt x="39423" y="2139"/>
                    </a:lnTo>
                    <a:lnTo>
                      <a:pt x="38898" y="1877"/>
                    </a:lnTo>
                    <a:lnTo>
                      <a:pt x="38373" y="1627"/>
                    </a:lnTo>
                    <a:lnTo>
                      <a:pt x="37848" y="1404"/>
                    </a:lnTo>
                    <a:lnTo>
                      <a:pt x="37310" y="1194"/>
                    </a:lnTo>
                    <a:lnTo>
                      <a:pt x="36773" y="1011"/>
                    </a:lnTo>
                    <a:lnTo>
                      <a:pt x="36222" y="827"/>
                    </a:lnTo>
                    <a:lnTo>
                      <a:pt x="35671" y="670"/>
                    </a:lnTo>
                    <a:lnTo>
                      <a:pt x="35106" y="538"/>
                    </a:lnTo>
                    <a:lnTo>
                      <a:pt x="34555" y="407"/>
                    </a:lnTo>
                    <a:lnTo>
                      <a:pt x="33978" y="302"/>
                    </a:lnTo>
                    <a:lnTo>
                      <a:pt x="33414" y="210"/>
                    </a:lnTo>
                    <a:lnTo>
                      <a:pt x="32850" y="132"/>
                    </a:lnTo>
                    <a:lnTo>
                      <a:pt x="32273" y="79"/>
                    </a:lnTo>
                    <a:lnTo>
                      <a:pt x="31696" y="40"/>
                    </a:lnTo>
                    <a:lnTo>
                      <a:pt x="31118" y="14"/>
                    </a:lnTo>
                    <a:lnTo>
                      <a:pt x="3054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2436;p45">
                <a:extLst>
                  <a:ext uri="{FF2B5EF4-FFF2-40B4-BE49-F238E27FC236}">
                    <a16:creationId xmlns:a16="http://schemas.microsoft.com/office/drawing/2014/main" id="{208DA96D-7BE7-B473-FEC4-BA886C205CEF}"/>
                  </a:ext>
                </a:extLst>
              </p:cNvPr>
              <p:cNvSpPr/>
              <p:nvPr/>
            </p:nvSpPr>
            <p:spPr>
              <a:xfrm>
                <a:off x="1737269" y="3217521"/>
                <a:ext cx="900498" cy="138484"/>
              </a:xfrm>
              <a:custGeom>
                <a:avLst/>
                <a:gdLst/>
                <a:ahLst/>
                <a:cxnLst/>
                <a:rect l="l" t="t" r="r" b="b"/>
                <a:pathLst>
                  <a:path w="50167" h="7715" extrusionOk="0">
                    <a:moveTo>
                      <a:pt x="5143" y="0"/>
                    </a:moveTo>
                    <a:lnTo>
                      <a:pt x="4880" y="26"/>
                    </a:lnTo>
                    <a:lnTo>
                      <a:pt x="4605" y="53"/>
                    </a:lnTo>
                    <a:lnTo>
                      <a:pt x="4329" y="105"/>
                    </a:lnTo>
                    <a:lnTo>
                      <a:pt x="4067" y="158"/>
                    </a:lnTo>
                    <a:lnTo>
                      <a:pt x="3805" y="223"/>
                    </a:lnTo>
                    <a:lnTo>
                      <a:pt x="3555" y="315"/>
                    </a:lnTo>
                    <a:lnTo>
                      <a:pt x="3306" y="407"/>
                    </a:lnTo>
                    <a:lnTo>
                      <a:pt x="3057" y="512"/>
                    </a:lnTo>
                    <a:lnTo>
                      <a:pt x="2821" y="630"/>
                    </a:lnTo>
                    <a:lnTo>
                      <a:pt x="2584" y="761"/>
                    </a:lnTo>
                    <a:lnTo>
                      <a:pt x="2361" y="905"/>
                    </a:lnTo>
                    <a:lnTo>
                      <a:pt x="2152" y="1050"/>
                    </a:lnTo>
                    <a:lnTo>
                      <a:pt x="1942" y="1207"/>
                    </a:lnTo>
                    <a:lnTo>
                      <a:pt x="1732" y="1378"/>
                    </a:lnTo>
                    <a:lnTo>
                      <a:pt x="1548" y="1561"/>
                    </a:lnTo>
                    <a:lnTo>
                      <a:pt x="1364" y="1758"/>
                    </a:lnTo>
                    <a:lnTo>
                      <a:pt x="1194" y="1955"/>
                    </a:lnTo>
                    <a:lnTo>
                      <a:pt x="1023" y="2152"/>
                    </a:lnTo>
                    <a:lnTo>
                      <a:pt x="866" y="2375"/>
                    </a:lnTo>
                    <a:lnTo>
                      <a:pt x="722" y="2598"/>
                    </a:lnTo>
                    <a:lnTo>
                      <a:pt x="590" y="2821"/>
                    </a:lnTo>
                    <a:lnTo>
                      <a:pt x="472" y="3070"/>
                    </a:lnTo>
                    <a:lnTo>
                      <a:pt x="367" y="3306"/>
                    </a:lnTo>
                    <a:lnTo>
                      <a:pt x="276" y="3555"/>
                    </a:lnTo>
                    <a:lnTo>
                      <a:pt x="197" y="3818"/>
                    </a:lnTo>
                    <a:lnTo>
                      <a:pt x="131" y="4080"/>
                    </a:lnTo>
                    <a:lnTo>
                      <a:pt x="66" y="4356"/>
                    </a:lnTo>
                    <a:lnTo>
                      <a:pt x="26" y="4631"/>
                    </a:lnTo>
                    <a:lnTo>
                      <a:pt x="0" y="4907"/>
                    </a:lnTo>
                    <a:lnTo>
                      <a:pt x="0" y="4999"/>
                    </a:lnTo>
                    <a:lnTo>
                      <a:pt x="0" y="5274"/>
                    </a:lnTo>
                    <a:lnTo>
                      <a:pt x="26" y="5536"/>
                    </a:lnTo>
                    <a:lnTo>
                      <a:pt x="92" y="5799"/>
                    </a:lnTo>
                    <a:lnTo>
                      <a:pt x="171" y="6048"/>
                    </a:lnTo>
                    <a:lnTo>
                      <a:pt x="276" y="6284"/>
                    </a:lnTo>
                    <a:lnTo>
                      <a:pt x="407" y="6507"/>
                    </a:lnTo>
                    <a:lnTo>
                      <a:pt x="564" y="6717"/>
                    </a:lnTo>
                    <a:lnTo>
                      <a:pt x="735" y="6914"/>
                    </a:lnTo>
                    <a:lnTo>
                      <a:pt x="932" y="7084"/>
                    </a:lnTo>
                    <a:lnTo>
                      <a:pt x="1128" y="7242"/>
                    </a:lnTo>
                    <a:lnTo>
                      <a:pt x="1351" y="7373"/>
                    </a:lnTo>
                    <a:lnTo>
                      <a:pt x="1587" y="7491"/>
                    </a:lnTo>
                    <a:lnTo>
                      <a:pt x="1837" y="7583"/>
                    </a:lnTo>
                    <a:lnTo>
                      <a:pt x="2099" y="7649"/>
                    </a:lnTo>
                    <a:lnTo>
                      <a:pt x="2361" y="7701"/>
                    </a:lnTo>
                    <a:lnTo>
                      <a:pt x="2637" y="7714"/>
                    </a:lnTo>
                    <a:lnTo>
                      <a:pt x="47530" y="7714"/>
                    </a:lnTo>
                    <a:lnTo>
                      <a:pt x="47806" y="7701"/>
                    </a:lnTo>
                    <a:lnTo>
                      <a:pt x="48068" y="7649"/>
                    </a:lnTo>
                    <a:lnTo>
                      <a:pt x="48330" y="7583"/>
                    </a:lnTo>
                    <a:lnTo>
                      <a:pt x="48580" y="7491"/>
                    </a:lnTo>
                    <a:lnTo>
                      <a:pt x="48816" y="7373"/>
                    </a:lnTo>
                    <a:lnTo>
                      <a:pt x="49039" y="7242"/>
                    </a:lnTo>
                    <a:lnTo>
                      <a:pt x="49236" y="7084"/>
                    </a:lnTo>
                    <a:lnTo>
                      <a:pt x="49432" y="6914"/>
                    </a:lnTo>
                    <a:lnTo>
                      <a:pt x="49603" y="6717"/>
                    </a:lnTo>
                    <a:lnTo>
                      <a:pt x="49747" y="6507"/>
                    </a:lnTo>
                    <a:lnTo>
                      <a:pt x="49878" y="6284"/>
                    </a:lnTo>
                    <a:lnTo>
                      <a:pt x="49996" y="6048"/>
                    </a:lnTo>
                    <a:lnTo>
                      <a:pt x="50075" y="5799"/>
                    </a:lnTo>
                    <a:lnTo>
                      <a:pt x="50128" y="5536"/>
                    </a:lnTo>
                    <a:lnTo>
                      <a:pt x="50167" y="5274"/>
                    </a:lnTo>
                    <a:lnTo>
                      <a:pt x="50167" y="4999"/>
                    </a:lnTo>
                    <a:lnTo>
                      <a:pt x="50167" y="4907"/>
                    </a:lnTo>
                    <a:lnTo>
                      <a:pt x="50141" y="4631"/>
                    </a:lnTo>
                    <a:lnTo>
                      <a:pt x="50101" y="4356"/>
                    </a:lnTo>
                    <a:lnTo>
                      <a:pt x="50036" y="4080"/>
                    </a:lnTo>
                    <a:lnTo>
                      <a:pt x="49970" y="3818"/>
                    </a:lnTo>
                    <a:lnTo>
                      <a:pt x="49891" y="3555"/>
                    </a:lnTo>
                    <a:lnTo>
                      <a:pt x="49800" y="3306"/>
                    </a:lnTo>
                    <a:lnTo>
                      <a:pt x="49695" y="3070"/>
                    </a:lnTo>
                    <a:lnTo>
                      <a:pt x="49563" y="2821"/>
                    </a:lnTo>
                    <a:lnTo>
                      <a:pt x="49432" y="2598"/>
                    </a:lnTo>
                    <a:lnTo>
                      <a:pt x="49301" y="2375"/>
                    </a:lnTo>
                    <a:lnTo>
                      <a:pt x="49144" y="2152"/>
                    </a:lnTo>
                    <a:lnTo>
                      <a:pt x="48973" y="1955"/>
                    </a:lnTo>
                    <a:lnTo>
                      <a:pt x="48803" y="1758"/>
                    </a:lnTo>
                    <a:lnTo>
                      <a:pt x="48619" y="1561"/>
                    </a:lnTo>
                    <a:lnTo>
                      <a:pt x="48422" y="1378"/>
                    </a:lnTo>
                    <a:lnTo>
                      <a:pt x="48225" y="1207"/>
                    </a:lnTo>
                    <a:lnTo>
                      <a:pt x="48015" y="1050"/>
                    </a:lnTo>
                    <a:lnTo>
                      <a:pt x="47806" y="905"/>
                    </a:lnTo>
                    <a:lnTo>
                      <a:pt x="47569" y="761"/>
                    </a:lnTo>
                    <a:lnTo>
                      <a:pt x="47346" y="630"/>
                    </a:lnTo>
                    <a:lnTo>
                      <a:pt x="47110" y="512"/>
                    </a:lnTo>
                    <a:lnTo>
                      <a:pt x="46861" y="407"/>
                    </a:lnTo>
                    <a:lnTo>
                      <a:pt x="46612" y="315"/>
                    </a:lnTo>
                    <a:lnTo>
                      <a:pt x="46362" y="223"/>
                    </a:lnTo>
                    <a:lnTo>
                      <a:pt x="46100" y="158"/>
                    </a:lnTo>
                    <a:lnTo>
                      <a:pt x="45838" y="105"/>
                    </a:lnTo>
                    <a:lnTo>
                      <a:pt x="45562" y="53"/>
                    </a:lnTo>
                    <a:lnTo>
                      <a:pt x="45287" y="26"/>
                    </a:lnTo>
                    <a:lnTo>
                      <a:pt x="45011" y="0"/>
                    </a:lnTo>
                    <a:lnTo>
                      <a:pt x="44736" y="0"/>
                    </a:lnTo>
                    <a:lnTo>
                      <a:pt x="44460" y="13"/>
                    </a:lnTo>
                    <a:lnTo>
                      <a:pt x="44172" y="26"/>
                    </a:lnTo>
                    <a:lnTo>
                      <a:pt x="38622" y="643"/>
                    </a:lnTo>
                    <a:lnTo>
                      <a:pt x="36943" y="827"/>
                    </a:lnTo>
                    <a:lnTo>
                      <a:pt x="35251" y="971"/>
                    </a:lnTo>
                    <a:lnTo>
                      <a:pt x="33558" y="1102"/>
                    </a:lnTo>
                    <a:lnTo>
                      <a:pt x="31866" y="1207"/>
                    </a:lnTo>
                    <a:lnTo>
                      <a:pt x="30174" y="1299"/>
                    </a:lnTo>
                    <a:lnTo>
                      <a:pt x="28468" y="1351"/>
                    </a:lnTo>
                    <a:lnTo>
                      <a:pt x="26776" y="1391"/>
                    </a:lnTo>
                    <a:lnTo>
                      <a:pt x="25084" y="1404"/>
                    </a:lnTo>
                    <a:lnTo>
                      <a:pt x="23391" y="1391"/>
                    </a:lnTo>
                    <a:lnTo>
                      <a:pt x="21686" y="1351"/>
                    </a:lnTo>
                    <a:lnTo>
                      <a:pt x="19993" y="1299"/>
                    </a:lnTo>
                    <a:lnTo>
                      <a:pt x="18301" y="1207"/>
                    </a:lnTo>
                    <a:lnTo>
                      <a:pt x="16609" y="1102"/>
                    </a:lnTo>
                    <a:lnTo>
                      <a:pt x="14916" y="971"/>
                    </a:lnTo>
                    <a:lnTo>
                      <a:pt x="13224" y="827"/>
                    </a:lnTo>
                    <a:lnTo>
                      <a:pt x="11545" y="643"/>
                    </a:lnTo>
                    <a:lnTo>
                      <a:pt x="5982" y="26"/>
                    </a:lnTo>
                    <a:lnTo>
                      <a:pt x="5707" y="13"/>
                    </a:lnTo>
                    <a:lnTo>
                      <a:pt x="543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2437;p45">
                <a:extLst>
                  <a:ext uri="{FF2B5EF4-FFF2-40B4-BE49-F238E27FC236}">
                    <a16:creationId xmlns:a16="http://schemas.microsoft.com/office/drawing/2014/main" id="{A67CF867-DE4D-0A83-9999-69952885EB11}"/>
                  </a:ext>
                </a:extLst>
              </p:cNvPr>
              <p:cNvSpPr/>
              <p:nvPr/>
            </p:nvSpPr>
            <p:spPr>
              <a:xfrm>
                <a:off x="1845813" y="2327380"/>
                <a:ext cx="683159" cy="855766"/>
              </a:xfrm>
              <a:custGeom>
                <a:avLst/>
                <a:gdLst/>
                <a:ahLst/>
                <a:cxnLst/>
                <a:rect l="l" t="t" r="r" b="b"/>
                <a:pathLst>
                  <a:path w="38059" h="47675" extrusionOk="0">
                    <a:moveTo>
                      <a:pt x="18958" y="0"/>
                    </a:moveTo>
                    <a:lnTo>
                      <a:pt x="18381" y="13"/>
                    </a:lnTo>
                    <a:lnTo>
                      <a:pt x="17790" y="40"/>
                    </a:lnTo>
                    <a:lnTo>
                      <a:pt x="17200" y="79"/>
                    </a:lnTo>
                    <a:lnTo>
                      <a:pt x="16610" y="158"/>
                    </a:lnTo>
                    <a:lnTo>
                      <a:pt x="16019" y="236"/>
                    </a:lnTo>
                    <a:lnTo>
                      <a:pt x="15429" y="341"/>
                    </a:lnTo>
                    <a:lnTo>
                      <a:pt x="14825" y="473"/>
                    </a:lnTo>
                    <a:lnTo>
                      <a:pt x="14235" y="617"/>
                    </a:lnTo>
                    <a:lnTo>
                      <a:pt x="13631" y="787"/>
                    </a:lnTo>
                    <a:lnTo>
                      <a:pt x="13185" y="932"/>
                    </a:lnTo>
                    <a:lnTo>
                      <a:pt x="12739" y="1076"/>
                    </a:lnTo>
                    <a:lnTo>
                      <a:pt x="12359" y="1207"/>
                    </a:lnTo>
                    <a:lnTo>
                      <a:pt x="11979" y="1352"/>
                    </a:lnTo>
                    <a:lnTo>
                      <a:pt x="11611" y="1509"/>
                    </a:lnTo>
                    <a:lnTo>
                      <a:pt x="11244" y="1653"/>
                    </a:lnTo>
                    <a:lnTo>
                      <a:pt x="10890" y="1824"/>
                    </a:lnTo>
                    <a:lnTo>
                      <a:pt x="10522" y="1994"/>
                    </a:lnTo>
                    <a:lnTo>
                      <a:pt x="10181" y="2178"/>
                    </a:lnTo>
                    <a:lnTo>
                      <a:pt x="9827" y="2362"/>
                    </a:lnTo>
                    <a:lnTo>
                      <a:pt x="9486" y="2559"/>
                    </a:lnTo>
                    <a:lnTo>
                      <a:pt x="9145" y="2755"/>
                    </a:lnTo>
                    <a:lnTo>
                      <a:pt x="8817" y="2952"/>
                    </a:lnTo>
                    <a:lnTo>
                      <a:pt x="8489" y="3175"/>
                    </a:lnTo>
                    <a:lnTo>
                      <a:pt x="8174" y="3385"/>
                    </a:lnTo>
                    <a:lnTo>
                      <a:pt x="7859" y="3608"/>
                    </a:lnTo>
                    <a:lnTo>
                      <a:pt x="7544" y="3844"/>
                    </a:lnTo>
                    <a:lnTo>
                      <a:pt x="7243" y="4080"/>
                    </a:lnTo>
                    <a:lnTo>
                      <a:pt x="6941" y="4330"/>
                    </a:lnTo>
                    <a:lnTo>
                      <a:pt x="6639" y="4579"/>
                    </a:lnTo>
                    <a:lnTo>
                      <a:pt x="6350" y="4828"/>
                    </a:lnTo>
                    <a:lnTo>
                      <a:pt x="6062" y="5090"/>
                    </a:lnTo>
                    <a:lnTo>
                      <a:pt x="5786" y="5353"/>
                    </a:lnTo>
                    <a:lnTo>
                      <a:pt x="5511" y="5628"/>
                    </a:lnTo>
                    <a:lnTo>
                      <a:pt x="4986" y="6192"/>
                    </a:lnTo>
                    <a:lnTo>
                      <a:pt x="4488" y="6770"/>
                    </a:lnTo>
                    <a:lnTo>
                      <a:pt x="4002" y="7373"/>
                    </a:lnTo>
                    <a:lnTo>
                      <a:pt x="3556" y="7990"/>
                    </a:lnTo>
                    <a:lnTo>
                      <a:pt x="3123" y="8619"/>
                    </a:lnTo>
                    <a:lnTo>
                      <a:pt x="2717" y="9275"/>
                    </a:lnTo>
                    <a:lnTo>
                      <a:pt x="2336" y="9945"/>
                    </a:lnTo>
                    <a:lnTo>
                      <a:pt x="1982" y="10627"/>
                    </a:lnTo>
                    <a:lnTo>
                      <a:pt x="1654" y="11322"/>
                    </a:lnTo>
                    <a:lnTo>
                      <a:pt x="1365" y="12044"/>
                    </a:lnTo>
                    <a:lnTo>
                      <a:pt x="1090" y="12765"/>
                    </a:lnTo>
                    <a:lnTo>
                      <a:pt x="854" y="13500"/>
                    </a:lnTo>
                    <a:lnTo>
                      <a:pt x="644" y="14248"/>
                    </a:lnTo>
                    <a:lnTo>
                      <a:pt x="460" y="15008"/>
                    </a:lnTo>
                    <a:lnTo>
                      <a:pt x="303" y="15769"/>
                    </a:lnTo>
                    <a:lnTo>
                      <a:pt x="237" y="16163"/>
                    </a:lnTo>
                    <a:lnTo>
                      <a:pt x="185" y="16543"/>
                    </a:lnTo>
                    <a:lnTo>
                      <a:pt x="132" y="16937"/>
                    </a:lnTo>
                    <a:lnTo>
                      <a:pt x="93" y="17331"/>
                    </a:lnTo>
                    <a:lnTo>
                      <a:pt x="53" y="17724"/>
                    </a:lnTo>
                    <a:lnTo>
                      <a:pt x="27" y="18118"/>
                    </a:lnTo>
                    <a:lnTo>
                      <a:pt x="14" y="18511"/>
                    </a:lnTo>
                    <a:lnTo>
                      <a:pt x="1" y="18918"/>
                    </a:lnTo>
                    <a:lnTo>
                      <a:pt x="1" y="19311"/>
                    </a:lnTo>
                    <a:lnTo>
                      <a:pt x="14" y="19718"/>
                    </a:lnTo>
                    <a:lnTo>
                      <a:pt x="27" y="20112"/>
                    </a:lnTo>
                    <a:lnTo>
                      <a:pt x="53" y="20518"/>
                    </a:lnTo>
                    <a:lnTo>
                      <a:pt x="906" y="33060"/>
                    </a:lnTo>
                    <a:lnTo>
                      <a:pt x="932" y="33493"/>
                    </a:lnTo>
                    <a:lnTo>
                      <a:pt x="985" y="33939"/>
                    </a:lnTo>
                    <a:lnTo>
                      <a:pt x="1037" y="34372"/>
                    </a:lnTo>
                    <a:lnTo>
                      <a:pt x="1103" y="34792"/>
                    </a:lnTo>
                    <a:lnTo>
                      <a:pt x="1182" y="35212"/>
                    </a:lnTo>
                    <a:lnTo>
                      <a:pt x="1273" y="35618"/>
                    </a:lnTo>
                    <a:lnTo>
                      <a:pt x="1365" y="36025"/>
                    </a:lnTo>
                    <a:lnTo>
                      <a:pt x="1470" y="36419"/>
                    </a:lnTo>
                    <a:lnTo>
                      <a:pt x="1588" y="36812"/>
                    </a:lnTo>
                    <a:lnTo>
                      <a:pt x="1719" y="37193"/>
                    </a:lnTo>
                    <a:lnTo>
                      <a:pt x="1851" y="37573"/>
                    </a:lnTo>
                    <a:lnTo>
                      <a:pt x="1995" y="37940"/>
                    </a:lnTo>
                    <a:lnTo>
                      <a:pt x="2152" y="38308"/>
                    </a:lnTo>
                    <a:lnTo>
                      <a:pt x="2310" y="38662"/>
                    </a:lnTo>
                    <a:lnTo>
                      <a:pt x="2480" y="39016"/>
                    </a:lnTo>
                    <a:lnTo>
                      <a:pt x="2664" y="39357"/>
                    </a:lnTo>
                    <a:lnTo>
                      <a:pt x="2861" y="39698"/>
                    </a:lnTo>
                    <a:lnTo>
                      <a:pt x="3058" y="40026"/>
                    </a:lnTo>
                    <a:lnTo>
                      <a:pt x="3254" y="40354"/>
                    </a:lnTo>
                    <a:lnTo>
                      <a:pt x="3477" y="40669"/>
                    </a:lnTo>
                    <a:lnTo>
                      <a:pt x="3687" y="40984"/>
                    </a:lnTo>
                    <a:lnTo>
                      <a:pt x="3923" y="41286"/>
                    </a:lnTo>
                    <a:lnTo>
                      <a:pt x="4160" y="41588"/>
                    </a:lnTo>
                    <a:lnTo>
                      <a:pt x="4409" y="41876"/>
                    </a:lnTo>
                    <a:lnTo>
                      <a:pt x="4724" y="42230"/>
                    </a:lnTo>
                    <a:lnTo>
                      <a:pt x="5052" y="42571"/>
                    </a:lnTo>
                    <a:lnTo>
                      <a:pt x="5393" y="42899"/>
                    </a:lnTo>
                    <a:lnTo>
                      <a:pt x="5747" y="43214"/>
                    </a:lnTo>
                    <a:lnTo>
                      <a:pt x="6101" y="43529"/>
                    </a:lnTo>
                    <a:lnTo>
                      <a:pt x="6482" y="43831"/>
                    </a:lnTo>
                    <a:lnTo>
                      <a:pt x="6862" y="44120"/>
                    </a:lnTo>
                    <a:lnTo>
                      <a:pt x="7256" y="44395"/>
                    </a:lnTo>
                    <a:lnTo>
                      <a:pt x="7649" y="44657"/>
                    </a:lnTo>
                    <a:lnTo>
                      <a:pt x="8069" y="44907"/>
                    </a:lnTo>
                    <a:lnTo>
                      <a:pt x="8489" y="45156"/>
                    </a:lnTo>
                    <a:lnTo>
                      <a:pt x="8922" y="45392"/>
                    </a:lnTo>
                    <a:lnTo>
                      <a:pt x="9355" y="45615"/>
                    </a:lnTo>
                    <a:lnTo>
                      <a:pt x="9801" y="45825"/>
                    </a:lnTo>
                    <a:lnTo>
                      <a:pt x="10260" y="46022"/>
                    </a:lnTo>
                    <a:lnTo>
                      <a:pt x="10719" y="46205"/>
                    </a:lnTo>
                    <a:lnTo>
                      <a:pt x="11191" y="46389"/>
                    </a:lnTo>
                    <a:lnTo>
                      <a:pt x="11677" y="46547"/>
                    </a:lnTo>
                    <a:lnTo>
                      <a:pt x="12162" y="46704"/>
                    </a:lnTo>
                    <a:lnTo>
                      <a:pt x="12661" y="46848"/>
                    </a:lnTo>
                    <a:lnTo>
                      <a:pt x="13159" y="46979"/>
                    </a:lnTo>
                    <a:lnTo>
                      <a:pt x="13658" y="47098"/>
                    </a:lnTo>
                    <a:lnTo>
                      <a:pt x="14182" y="47216"/>
                    </a:lnTo>
                    <a:lnTo>
                      <a:pt x="14694" y="47307"/>
                    </a:lnTo>
                    <a:lnTo>
                      <a:pt x="15219" y="47399"/>
                    </a:lnTo>
                    <a:lnTo>
                      <a:pt x="15757" y="47465"/>
                    </a:lnTo>
                    <a:lnTo>
                      <a:pt x="16282" y="47530"/>
                    </a:lnTo>
                    <a:lnTo>
                      <a:pt x="16833" y="47583"/>
                    </a:lnTo>
                    <a:lnTo>
                      <a:pt x="17370" y="47622"/>
                    </a:lnTo>
                    <a:lnTo>
                      <a:pt x="17921" y="47662"/>
                    </a:lnTo>
                    <a:lnTo>
                      <a:pt x="18472" y="47675"/>
                    </a:lnTo>
                    <a:lnTo>
                      <a:pt x="19037" y="47675"/>
                    </a:lnTo>
                    <a:lnTo>
                      <a:pt x="19929" y="47662"/>
                    </a:lnTo>
                    <a:lnTo>
                      <a:pt x="20808" y="47622"/>
                    </a:lnTo>
                    <a:lnTo>
                      <a:pt x="21673" y="47544"/>
                    </a:lnTo>
                    <a:lnTo>
                      <a:pt x="22526" y="47439"/>
                    </a:lnTo>
                    <a:lnTo>
                      <a:pt x="23379" y="47307"/>
                    </a:lnTo>
                    <a:lnTo>
                      <a:pt x="23786" y="47229"/>
                    </a:lnTo>
                    <a:lnTo>
                      <a:pt x="24205" y="47150"/>
                    </a:lnTo>
                    <a:lnTo>
                      <a:pt x="24612" y="47058"/>
                    </a:lnTo>
                    <a:lnTo>
                      <a:pt x="25019" y="46953"/>
                    </a:lnTo>
                    <a:lnTo>
                      <a:pt x="25412" y="46848"/>
                    </a:lnTo>
                    <a:lnTo>
                      <a:pt x="25806" y="46730"/>
                    </a:lnTo>
                    <a:lnTo>
                      <a:pt x="26199" y="46612"/>
                    </a:lnTo>
                    <a:lnTo>
                      <a:pt x="26593" y="46481"/>
                    </a:lnTo>
                    <a:lnTo>
                      <a:pt x="26973" y="46350"/>
                    </a:lnTo>
                    <a:lnTo>
                      <a:pt x="27341" y="46205"/>
                    </a:lnTo>
                    <a:lnTo>
                      <a:pt x="27721" y="46061"/>
                    </a:lnTo>
                    <a:lnTo>
                      <a:pt x="28089" y="45904"/>
                    </a:lnTo>
                    <a:lnTo>
                      <a:pt x="28443" y="45733"/>
                    </a:lnTo>
                    <a:lnTo>
                      <a:pt x="28797" y="45563"/>
                    </a:lnTo>
                    <a:lnTo>
                      <a:pt x="29151" y="45392"/>
                    </a:lnTo>
                    <a:lnTo>
                      <a:pt x="29492" y="45208"/>
                    </a:lnTo>
                    <a:lnTo>
                      <a:pt x="29833" y="45012"/>
                    </a:lnTo>
                    <a:lnTo>
                      <a:pt x="30175" y="44815"/>
                    </a:lnTo>
                    <a:lnTo>
                      <a:pt x="30502" y="44605"/>
                    </a:lnTo>
                    <a:lnTo>
                      <a:pt x="30817" y="44395"/>
                    </a:lnTo>
                    <a:lnTo>
                      <a:pt x="31132" y="44172"/>
                    </a:lnTo>
                    <a:lnTo>
                      <a:pt x="31447" y="43949"/>
                    </a:lnTo>
                    <a:lnTo>
                      <a:pt x="31749" y="43713"/>
                    </a:lnTo>
                    <a:lnTo>
                      <a:pt x="32037" y="43464"/>
                    </a:lnTo>
                    <a:lnTo>
                      <a:pt x="32326" y="43214"/>
                    </a:lnTo>
                    <a:lnTo>
                      <a:pt x="32615" y="42965"/>
                    </a:lnTo>
                    <a:lnTo>
                      <a:pt x="32890" y="42703"/>
                    </a:lnTo>
                    <a:lnTo>
                      <a:pt x="33153" y="42427"/>
                    </a:lnTo>
                    <a:lnTo>
                      <a:pt x="33415" y="42152"/>
                    </a:lnTo>
                    <a:lnTo>
                      <a:pt x="33664" y="41876"/>
                    </a:lnTo>
                    <a:lnTo>
                      <a:pt x="33913" y="41588"/>
                    </a:lnTo>
                    <a:lnTo>
                      <a:pt x="34150" y="41286"/>
                    </a:lnTo>
                    <a:lnTo>
                      <a:pt x="34373" y="40984"/>
                    </a:lnTo>
                    <a:lnTo>
                      <a:pt x="34596" y="40669"/>
                    </a:lnTo>
                    <a:lnTo>
                      <a:pt x="34819" y="40354"/>
                    </a:lnTo>
                    <a:lnTo>
                      <a:pt x="35015" y="40026"/>
                    </a:lnTo>
                    <a:lnTo>
                      <a:pt x="35212" y="39698"/>
                    </a:lnTo>
                    <a:lnTo>
                      <a:pt x="35409" y="39357"/>
                    </a:lnTo>
                    <a:lnTo>
                      <a:pt x="35580" y="39016"/>
                    </a:lnTo>
                    <a:lnTo>
                      <a:pt x="35763" y="38662"/>
                    </a:lnTo>
                    <a:lnTo>
                      <a:pt x="35921" y="38308"/>
                    </a:lnTo>
                    <a:lnTo>
                      <a:pt x="36078" y="37940"/>
                    </a:lnTo>
                    <a:lnTo>
                      <a:pt x="36222" y="37573"/>
                    </a:lnTo>
                    <a:lnTo>
                      <a:pt x="36354" y="37193"/>
                    </a:lnTo>
                    <a:lnTo>
                      <a:pt x="36485" y="36812"/>
                    </a:lnTo>
                    <a:lnTo>
                      <a:pt x="36590" y="36419"/>
                    </a:lnTo>
                    <a:lnTo>
                      <a:pt x="36708" y="36025"/>
                    </a:lnTo>
                    <a:lnTo>
                      <a:pt x="36800" y="35618"/>
                    </a:lnTo>
                    <a:lnTo>
                      <a:pt x="36891" y="35212"/>
                    </a:lnTo>
                    <a:lnTo>
                      <a:pt x="36970" y="34792"/>
                    </a:lnTo>
                    <a:lnTo>
                      <a:pt x="37036" y="34372"/>
                    </a:lnTo>
                    <a:lnTo>
                      <a:pt x="37088" y="33939"/>
                    </a:lnTo>
                    <a:lnTo>
                      <a:pt x="37128" y="33493"/>
                    </a:lnTo>
                    <a:lnTo>
                      <a:pt x="37167" y="33060"/>
                    </a:lnTo>
                    <a:lnTo>
                      <a:pt x="37062" y="33349"/>
                    </a:lnTo>
                    <a:lnTo>
                      <a:pt x="36931" y="33690"/>
                    </a:lnTo>
                    <a:lnTo>
                      <a:pt x="36747" y="34136"/>
                    </a:lnTo>
                    <a:lnTo>
                      <a:pt x="36852" y="33703"/>
                    </a:lnTo>
                    <a:lnTo>
                      <a:pt x="36957" y="33270"/>
                    </a:lnTo>
                    <a:lnTo>
                      <a:pt x="37049" y="32837"/>
                    </a:lnTo>
                    <a:lnTo>
                      <a:pt x="37128" y="32391"/>
                    </a:lnTo>
                    <a:lnTo>
                      <a:pt x="37193" y="31945"/>
                    </a:lnTo>
                    <a:lnTo>
                      <a:pt x="37259" y="31499"/>
                    </a:lnTo>
                    <a:lnTo>
                      <a:pt x="37298" y="31040"/>
                    </a:lnTo>
                    <a:lnTo>
                      <a:pt x="37337" y="30581"/>
                    </a:lnTo>
                    <a:lnTo>
                      <a:pt x="38020" y="20676"/>
                    </a:lnTo>
                    <a:lnTo>
                      <a:pt x="38046" y="20046"/>
                    </a:lnTo>
                    <a:lnTo>
                      <a:pt x="38059" y="19430"/>
                    </a:lnTo>
                    <a:lnTo>
                      <a:pt x="38059" y="18826"/>
                    </a:lnTo>
                    <a:lnTo>
                      <a:pt x="38033" y="18223"/>
                    </a:lnTo>
                    <a:lnTo>
                      <a:pt x="37980" y="17619"/>
                    </a:lnTo>
                    <a:lnTo>
                      <a:pt x="37928" y="17029"/>
                    </a:lnTo>
                    <a:lnTo>
                      <a:pt x="37849" y="16438"/>
                    </a:lnTo>
                    <a:lnTo>
                      <a:pt x="37744" y="15848"/>
                    </a:lnTo>
                    <a:lnTo>
                      <a:pt x="37639" y="15271"/>
                    </a:lnTo>
                    <a:lnTo>
                      <a:pt x="37508" y="14707"/>
                    </a:lnTo>
                    <a:lnTo>
                      <a:pt x="37351" y="14143"/>
                    </a:lnTo>
                    <a:lnTo>
                      <a:pt x="37193" y="13592"/>
                    </a:lnTo>
                    <a:lnTo>
                      <a:pt x="37009" y="13041"/>
                    </a:lnTo>
                    <a:lnTo>
                      <a:pt x="36813" y="12490"/>
                    </a:lnTo>
                    <a:lnTo>
                      <a:pt x="36603" y="11965"/>
                    </a:lnTo>
                    <a:lnTo>
                      <a:pt x="36380" y="11440"/>
                    </a:lnTo>
                    <a:lnTo>
                      <a:pt x="36131" y="10915"/>
                    </a:lnTo>
                    <a:lnTo>
                      <a:pt x="35881" y="10404"/>
                    </a:lnTo>
                    <a:lnTo>
                      <a:pt x="35606" y="9905"/>
                    </a:lnTo>
                    <a:lnTo>
                      <a:pt x="35330" y="9420"/>
                    </a:lnTo>
                    <a:lnTo>
                      <a:pt x="35029" y="8934"/>
                    </a:lnTo>
                    <a:lnTo>
                      <a:pt x="34714" y="8462"/>
                    </a:lnTo>
                    <a:lnTo>
                      <a:pt x="34399" y="8003"/>
                    </a:lnTo>
                    <a:lnTo>
                      <a:pt x="34058" y="7557"/>
                    </a:lnTo>
                    <a:lnTo>
                      <a:pt x="33704" y="7111"/>
                    </a:lnTo>
                    <a:lnTo>
                      <a:pt x="33349" y="6678"/>
                    </a:lnTo>
                    <a:lnTo>
                      <a:pt x="32969" y="6258"/>
                    </a:lnTo>
                    <a:lnTo>
                      <a:pt x="32588" y="5851"/>
                    </a:lnTo>
                    <a:lnTo>
                      <a:pt x="32195" y="5458"/>
                    </a:lnTo>
                    <a:lnTo>
                      <a:pt x="31788" y="5064"/>
                    </a:lnTo>
                    <a:lnTo>
                      <a:pt x="31368" y="4697"/>
                    </a:lnTo>
                    <a:lnTo>
                      <a:pt x="30935" y="4330"/>
                    </a:lnTo>
                    <a:lnTo>
                      <a:pt x="30502" y="3988"/>
                    </a:lnTo>
                    <a:lnTo>
                      <a:pt x="30056" y="3647"/>
                    </a:lnTo>
                    <a:lnTo>
                      <a:pt x="29597" y="3319"/>
                    </a:lnTo>
                    <a:lnTo>
                      <a:pt x="29138" y="3018"/>
                    </a:lnTo>
                    <a:lnTo>
                      <a:pt x="28653" y="2716"/>
                    </a:lnTo>
                    <a:lnTo>
                      <a:pt x="28180" y="2440"/>
                    </a:lnTo>
                    <a:lnTo>
                      <a:pt x="27682" y="2165"/>
                    </a:lnTo>
                    <a:lnTo>
                      <a:pt x="27183" y="1916"/>
                    </a:lnTo>
                    <a:lnTo>
                      <a:pt x="26685" y="1680"/>
                    </a:lnTo>
                    <a:lnTo>
                      <a:pt x="26160" y="1443"/>
                    </a:lnTo>
                    <a:lnTo>
                      <a:pt x="25648" y="1233"/>
                    </a:lnTo>
                    <a:lnTo>
                      <a:pt x="25111" y="1050"/>
                    </a:lnTo>
                    <a:lnTo>
                      <a:pt x="24586" y="866"/>
                    </a:lnTo>
                    <a:lnTo>
                      <a:pt x="24048" y="709"/>
                    </a:lnTo>
                    <a:lnTo>
                      <a:pt x="23497" y="551"/>
                    </a:lnTo>
                    <a:lnTo>
                      <a:pt x="22946" y="433"/>
                    </a:lnTo>
                    <a:lnTo>
                      <a:pt x="22395" y="315"/>
                    </a:lnTo>
                    <a:lnTo>
                      <a:pt x="21831" y="223"/>
                    </a:lnTo>
                    <a:lnTo>
                      <a:pt x="21267" y="145"/>
                    </a:lnTo>
                    <a:lnTo>
                      <a:pt x="20689" y="79"/>
                    </a:lnTo>
                    <a:lnTo>
                      <a:pt x="20125" y="27"/>
                    </a:lnTo>
                    <a:lnTo>
                      <a:pt x="1954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2438;p45">
                <a:extLst>
                  <a:ext uri="{FF2B5EF4-FFF2-40B4-BE49-F238E27FC236}">
                    <a16:creationId xmlns:a16="http://schemas.microsoft.com/office/drawing/2014/main" id="{DDEEC54E-997C-E45F-58D2-A9EC17DFCDA1}"/>
                  </a:ext>
                </a:extLst>
              </p:cNvPr>
              <p:cNvSpPr/>
              <p:nvPr/>
            </p:nvSpPr>
            <p:spPr>
              <a:xfrm>
                <a:off x="2064354" y="2534129"/>
                <a:ext cx="246328" cy="126942"/>
              </a:xfrm>
              <a:custGeom>
                <a:avLst/>
                <a:gdLst/>
                <a:ahLst/>
                <a:cxnLst/>
                <a:rect l="l" t="t" r="r" b="b"/>
                <a:pathLst>
                  <a:path w="13723" h="7072" extrusionOk="0">
                    <a:moveTo>
                      <a:pt x="3346" y="1"/>
                    </a:moveTo>
                    <a:lnTo>
                      <a:pt x="3175" y="14"/>
                    </a:lnTo>
                    <a:lnTo>
                      <a:pt x="2991" y="40"/>
                    </a:lnTo>
                    <a:lnTo>
                      <a:pt x="2821" y="66"/>
                    </a:lnTo>
                    <a:lnTo>
                      <a:pt x="2650" y="106"/>
                    </a:lnTo>
                    <a:lnTo>
                      <a:pt x="2480" y="158"/>
                    </a:lnTo>
                    <a:lnTo>
                      <a:pt x="2322" y="211"/>
                    </a:lnTo>
                    <a:lnTo>
                      <a:pt x="2152" y="276"/>
                    </a:lnTo>
                    <a:lnTo>
                      <a:pt x="2007" y="342"/>
                    </a:lnTo>
                    <a:lnTo>
                      <a:pt x="1850" y="421"/>
                    </a:lnTo>
                    <a:lnTo>
                      <a:pt x="1706" y="512"/>
                    </a:lnTo>
                    <a:lnTo>
                      <a:pt x="1561" y="604"/>
                    </a:lnTo>
                    <a:lnTo>
                      <a:pt x="1417" y="696"/>
                    </a:lnTo>
                    <a:lnTo>
                      <a:pt x="1286" y="801"/>
                    </a:lnTo>
                    <a:lnTo>
                      <a:pt x="1155" y="919"/>
                    </a:lnTo>
                    <a:lnTo>
                      <a:pt x="1037" y="1037"/>
                    </a:lnTo>
                    <a:lnTo>
                      <a:pt x="919" y="1155"/>
                    </a:lnTo>
                    <a:lnTo>
                      <a:pt x="801" y="1286"/>
                    </a:lnTo>
                    <a:lnTo>
                      <a:pt x="696" y="1418"/>
                    </a:lnTo>
                    <a:lnTo>
                      <a:pt x="604" y="1562"/>
                    </a:lnTo>
                    <a:lnTo>
                      <a:pt x="512" y="1706"/>
                    </a:lnTo>
                    <a:lnTo>
                      <a:pt x="420" y="1851"/>
                    </a:lnTo>
                    <a:lnTo>
                      <a:pt x="341" y="1995"/>
                    </a:lnTo>
                    <a:lnTo>
                      <a:pt x="276" y="2152"/>
                    </a:lnTo>
                    <a:lnTo>
                      <a:pt x="210" y="2323"/>
                    </a:lnTo>
                    <a:lnTo>
                      <a:pt x="158" y="2480"/>
                    </a:lnTo>
                    <a:lnTo>
                      <a:pt x="105" y="2651"/>
                    </a:lnTo>
                    <a:lnTo>
                      <a:pt x="66" y="2821"/>
                    </a:lnTo>
                    <a:lnTo>
                      <a:pt x="40" y="2992"/>
                    </a:lnTo>
                    <a:lnTo>
                      <a:pt x="13" y="3176"/>
                    </a:lnTo>
                    <a:lnTo>
                      <a:pt x="0" y="3346"/>
                    </a:lnTo>
                    <a:lnTo>
                      <a:pt x="0" y="3530"/>
                    </a:lnTo>
                    <a:lnTo>
                      <a:pt x="0" y="3713"/>
                    </a:lnTo>
                    <a:lnTo>
                      <a:pt x="13" y="3897"/>
                    </a:lnTo>
                    <a:lnTo>
                      <a:pt x="40" y="4068"/>
                    </a:lnTo>
                    <a:lnTo>
                      <a:pt x="66" y="4251"/>
                    </a:lnTo>
                    <a:lnTo>
                      <a:pt x="105" y="4422"/>
                    </a:lnTo>
                    <a:lnTo>
                      <a:pt x="158" y="4579"/>
                    </a:lnTo>
                    <a:lnTo>
                      <a:pt x="210" y="4750"/>
                    </a:lnTo>
                    <a:lnTo>
                      <a:pt x="276" y="4907"/>
                    </a:lnTo>
                    <a:lnTo>
                      <a:pt x="341" y="5065"/>
                    </a:lnTo>
                    <a:lnTo>
                      <a:pt x="420" y="5222"/>
                    </a:lnTo>
                    <a:lnTo>
                      <a:pt x="512" y="5366"/>
                    </a:lnTo>
                    <a:lnTo>
                      <a:pt x="604" y="5511"/>
                    </a:lnTo>
                    <a:lnTo>
                      <a:pt x="696" y="5655"/>
                    </a:lnTo>
                    <a:lnTo>
                      <a:pt x="801" y="5786"/>
                    </a:lnTo>
                    <a:lnTo>
                      <a:pt x="919" y="5904"/>
                    </a:lnTo>
                    <a:lnTo>
                      <a:pt x="1037" y="6036"/>
                    </a:lnTo>
                    <a:lnTo>
                      <a:pt x="1155" y="6154"/>
                    </a:lnTo>
                    <a:lnTo>
                      <a:pt x="1286" y="6259"/>
                    </a:lnTo>
                    <a:lnTo>
                      <a:pt x="1417" y="6364"/>
                    </a:lnTo>
                    <a:lnTo>
                      <a:pt x="1561" y="6468"/>
                    </a:lnTo>
                    <a:lnTo>
                      <a:pt x="1706" y="6560"/>
                    </a:lnTo>
                    <a:lnTo>
                      <a:pt x="1850" y="6639"/>
                    </a:lnTo>
                    <a:lnTo>
                      <a:pt x="2007" y="6718"/>
                    </a:lnTo>
                    <a:lnTo>
                      <a:pt x="2152" y="6796"/>
                    </a:lnTo>
                    <a:lnTo>
                      <a:pt x="2322" y="6849"/>
                    </a:lnTo>
                    <a:lnTo>
                      <a:pt x="2480" y="6915"/>
                    </a:lnTo>
                    <a:lnTo>
                      <a:pt x="2650" y="6954"/>
                    </a:lnTo>
                    <a:lnTo>
                      <a:pt x="2821" y="6993"/>
                    </a:lnTo>
                    <a:lnTo>
                      <a:pt x="2991" y="7033"/>
                    </a:lnTo>
                    <a:lnTo>
                      <a:pt x="3175" y="7046"/>
                    </a:lnTo>
                    <a:lnTo>
                      <a:pt x="3346" y="7059"/>
                    </a:lnTo>
                    <a:lnTo>
                      <a:pt x="3529" y="7072"/>
                    </a:lnTo>
                    <a:lnTo>
                      <a:pt x="10194" y="7072"/>
                    </a:lnTo>
                    <a:lnTo>
                      <a:pt x="10364" y="7059"/>
                    </a:lnTo>
                    <a:lnTo>
                      <a:pt x="10548" y="7046"/>
                    </a:lnTo>
                    <a:lnTo>
                      <a:pt x="10732" y="7033"/>
                    </a:lnTo>
                    <a:lnTo>
                      <a:pt x="10902" y="6993"/>
                    </a:lnTo>
                    <a:lnTo>
                      <a:pt x="11073" y="6954"/>
                    </a:lnTo>
                    <a:lnTo>
                      <a:pt x="11243" y="6915"/>
                    </a:lnTo>
                    <a:lnTo>
                      <a:pt x="11401" y="6849"/>
                    </a:lnTo>
                    <a:lnTo>
                      <a:pt x="11558" y="6796"/>
                    </a:lnTo>
                    <a:lnTo>
                      <a:pt x="11716" y="6718"/>
                    </a:lnTo>
                    <a:lnTo>
                      <a:pt x="11873" y="6639"/>
                    </a:lnTo>
                    <a:lnTo>
                      <a:pt x="12017" y="6560"/>
                    </a:lnTo>
                    <a:lnTo>
                      <a:pt x="12162" y="6468"/>
                    </a:lnTo>
                    <a:lnTo>
                      <a:pt x="12306" y="6364"/>
                    </a:lnTo>
                    <a:lnTo>
                      <a:pt x="12437" y="6259"/>
                    </a:lnTo>
                    <a:lnTo>
                      <a:pt x="12568" y="6154"/>
                    </a:lnTo>
                    <a:lnTo>
                      <a:pt x="12686" y="6036"/>
                    </a:lnTo>
                    <a:lnTo>
                      <a:pt x="12804" y="5904"/>
                    </a:lnTo>
                    <a:lnTo>
                      <a:pt x="12909" y="5786"/>
                    </a:lnTo>
                    <a:lnTo>
                      <a:pt x="13014" y="5655"/>
                    </a:lnTo>
                    <a:lnTo>
                      <a:pt x="13119" y="5511"/>
                    </a:lnTo>
                    <a:lnTo>
                      <a:pt x="13211" y="5366"/>
                    </a:lnTo>
                    <a:lnTo>
                      <a:pt x="13290" y="5222"/>
                    </a:lnTo>
                    <a:lnTo>
                      <a:pt x="13369" y="5065"/>
                    </a:lnTo>
                    <a:lnTo>
                      <a:pt x="13447" y="4907"/>
                    </a:lnTo>
                    <a:lnTo>
                      <a:pt x="13513" y="4750"/>
                    </a:lnTo>
                    <a:lnTo>
                      <a:pt x="13565" y="4579"/>
                    </a:lnTo>
                    <a:lnTo>
                      <a:pt x="13618" y="4422"/>
                    </a:lnTo>
                    <a:lnTo>
                      <a:pt x="13657" y="4251"/>
                    </a:lnTo>
                    <a:lnTo>
                      <a:pt x="13683" y="4068"/>
                    </a:lnTo>
                    <a:lnTo>
                      <a:pt x="13710" y="3897"/>
                    </a:lnTo>
                    <a:lnTo>
                      <a:pt x="13723" y="3713"/>
                    </a:lnTo>
                    <a:lnTo>
                      <a:pt x="13723" y="3530"/>
                    </a:lnTo>
                    <a:lnTo>
                      <a:pt x="13723" y="3346"/>
                    </a:lnTo>
                    <a:lnTo>
                      <a:pt x="13710" y="3176"/>
                    </a:lnTo>
                    <a:lnTo>
                      <a:pt x="13683" y="2992"/>
                    </a:lnTo>
                    <a:lnTo>
                      <a:pt x="13657" y="2821"/>
                    </a:lnTo>
                    <a:lnTo>
                      <a:pt x="13618" y="2651"/>
                    </a:lnTo>
                    <a:lnTo>
                      <a:pt x="13565" y="2480"/>
                    </a:lnTo>
                    <a:lnTo>
                      <a:pt x="13513" y="2323"/>
                    </a:lnTo>
                    <a:lnTo>
                      <a:pt x="13447" y="2152"/>
                    </a:lnTo>
                    <a:lnTo>
                      <a:pt x="13369" y="1995"/>
                    </a:lnTo>
                    <a:lnTo>
                      <a:pt x="13290" y="1851"/>
                    </a:lnTo>
                    <a:lnTo>
                      <a:pt x="13211" y="1706"/>
                    </a:lnTo>
                    <a:lnTo>
                      <a:pt x="13119" y="1562"/>
                    </a:lnTo>
                    <a:lnTo>
                      <a:pt x="13014" y="1418"/>
                    </a:lnTo>
                    <a:lnTo>
                      <a:pt x="12909" y="1286"/>
                    </a:lnTo>
                    <a:lnTo>
                      <a:pt x="12804" y="1155"/>
                    </a:lnTo>
                    <a:lnTo>
                      <a:pt x="12686" y="1037"/>
                    </a:lnTo>
                    <a:lnTo>
                      <a:pt x="12568" y="919"/>
                    </a:lnTo>
                    <a:lnTo>
                      <a:pt x="12437" y="801"/>
                    </a:lnTo>
                    <a:lnTo>
                      <a:pt x="12306" y="696"/>
                    </a:lnTo>
                    <a:lnTo>
                      <a:pt x="12162" y="604"/>
                    </a:lnTo>
                    <a:lnTo>
                      <a:pt x="12017" y="512"/>
                    </a:lnTo>
                    <a:lnTo>
                      <a:pt x="11873" y="421"/>
                    </a:lnTo>
                    <a:lnTo>
                      <a:pt x="11716" y="342"/>
                    </a:lnTo>
                    <a:lnTo>
                      <a:pt x="11558" y="276"/>
                    </a:lnTo>
                    <a:lnTo>
                      <a:pt x="11401" y="211"/>
                    </a:lnTo>
                    <a:lnTo>
                      <a:pt x="11243" y="158"/>
                    </a:lnTo>
                    <a:lnTo>
                      <a:pt x="11073" y="106"/>
                    </a:lnTo>
                    <a:lnTo>
                      <a:pt x="10902" y="66"/>
                    </a:lnTo>
                    <a:lnTo>
                      <a:pt x="10732" y="40"/>
                    </a:lnTo>
                    <a:lnTo>
                      <a:pt x="10548" y="14"/>
                    </a:lnTo>
                    <a:lnTo>
                      <a:pt x="1036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2439;p45">
                <a:extLst>
                  <a:ext uri="{FF2B5EF4-FFF2-40B4-BE49-F238E27FC236}">
                    <a16:creationId xmlns:a16="http://schemas.microsoft.com/office/drawing/2014/main" id="{BE915C2B-0BEC-2FB1-FE9F-D9FEFC0FAFE2}"/>
                  </a:ext>
                </a:extLst>
              </p:cNvPr>
              <p:cNvSpPr/>
              <p:nvPr/>
            </p:nvSpPr>
            <p:spPr>
              <a:xfrm>
                <a:off x="2165143" y="3497038"/>
                <a:ext cx="44749" cy="533869"/>
              </a:xfrm>
              <a:custGeom>
                <a:avLst/>
                <a:gdLst/>
                <a:ahLst/>
                <a:cxnLst/>
                <a:rect l="l" t="t" r="r" b="b"/>
                <a:pathLst>
                  <a:path w="2493" h="29742" extrusionOk="0">
                    <a:moveTo>
                      <a:pt x="0" y="0"/>
                    </a:moveTo>
                    <a:lnTo>
                      <a:pt x="0" y="29741"/>
                    </a:lnTo>
                    <a:lnTo>
                      <a:pt x="2493" y="29741"/>
                    </a:lnTo>
                    <a:lnTo>
                      <a:pt x="24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2440;p45">
                <a:extLst>
                  <a:ext uri="{FF2B5EF4-FFF2-40B4-BE49-F238E27FC236}">
                    <a16:creationId xmlns:a16="http://schemas.microsoft.com/office/drawing/2014/main" id="{C94D14AE-E10A-3FBD-8D81-F230D8766DEF}"/>
                  </a:ext>
                </a:extLst>
              </p:cNvPr>
              <p:cNvSpPr/>
              <p:nvPr/>
            </p:nvSpPr>
            <p:spPr>
              <a:xfrm>
                <a:off x="2131469" y="2564033"/>
                <a:ext cx="112098" cy="955389"/>
              </a:xfrm>
              <a:custGeom>
                <a:avLst/>
                <a:gdLst/>
                <a:ahLst/>
                <a:cxnLst/>
                <a:rect l="l" t="t" r="r" b="b"/>
                <a:pathLst>
                  <a:path w="6245" h="53225" extrusionOk="0">
                    <a:moveTo>
                      <a:pt x="1023" y="1"/>
                    </a:moveTo>
                    <a:lnTo>
                      <a:pt x="905" y="14"/>
                    </a:lnTo>
                    <a:lnTo>
                      <a:pt x="800" y="53"/>
                    </a:lnTo>
                    <a:lnTo>
                      <a:pt x="696" y="80"/>
                    </a:lnTo>
                    <a:lnTo>
                      <a:pt x="604" y="132"/>
                    </a:lnTo>
                    <a:lnTo>
                      <a:pt x="499" y="185"/>
                    </a:lnTo>
                    <a:lnTo>
                      <a:pt x="420" y="250"/>
                    </a:lnTo>
                    <a:lnTo>
                      <a:pt x="341" y="329"/>
                    </a:lnTo>
                    <a:lnTo>
                      <a:pt x="263" y="408"/>
                    </a:lnTo>
                    <a:lnTo>
                      <a:pt x="197" y="499"/>
                    </a:lnTo>
                    <a:lnTo>
                      <a:pt x="145" y="591"/>
                    </a:lnTo>
                    <a:lnTo>
                      <a:pt x="92" y="696"/>
                    </a:lnTo>
                    <a:lnTo>
                      <a:pt x="53" y="801"/>
                    </a:lnTo>
                    <a:lnTo>
                      <a:pt x="26" y="906"/>
                    </a:lnTo>
                    <a:lnTo>
                      <a:pt x="13" y="1024"/>
                    </a:lnTo>
                    <a:lnTo>
                      <a:pt x="0" y="1129"/>
                    </a:lnTo>
                    <a:lnTo>
                      <a:pt x="0" y="50116"/>
                    </a:lnTo>
                    <a:lnTo>
                      <a:pt x="0" y="50273"/>
                    </a:lnTo>
                    <a:lnTo>
                      <a:pt x="13" y="50430"/>
                    </a:lnTo>
                    <a:lnTo>
                      <a:pt x="40" y="50588"/>
                    </a:lnTo>
                    <a:lnTo>
                      <a:pt x="66" y="50745"/>
                    </a:lnTo>
                    <a:lnTo>
                      <a:pt x="145" y="51034"/>
                    </a:lnTo>
                    <a:lnTo>
                      <a:pt x="249" y="51322"/>
                    </a:lnTo>
                    <a:lnTo>
                      <a:pt x="381" y="51598"/>
                    </a:lnTo>
                    <a:lnTo>
                      <a:pt x="538" y="51860"/>
                    </a:lnTo>
                    <a:lnTo>
                      <a:pt x="709" y="52097"/>
                    </a:lnTo>
                    <a:lnTo>
                      <a:pt x="919" y="52320"/>
                    </a:lnTo>
                    <a:lnTo>
                      <a:pt x="1142" y="52516"/>
                    </a:lnTo>
                    <a:lnTo>
                      <a:pt x="1378" y="52700"/>
                    </a:lnTo>
                    <a:lnTo>
                      <a:pt x="1640" y="52857"/>
                    </a:lnTo>
                    <a:lnTo>
                      <a:pt x="1902" y="52989"/>
                    </a:lnTo>
                    <a:lnTo>
                      <a:pt x="2191" y="53094"/>
                    </a:lnTo>
                    <a:lnTo>
                      <a:pt x="2493" y="53172"/>
                    </a:lnTo>
                    <a:lnTo>
                      <a:pt x="2650" y="53199"/>
                    </a:lnTo>
                    <a:lnTo>
                      <a:pt x="2808" y="53212"/>
                    </a:lnTo>
                    <a:lnTo>
                      <a:pt x="2965" y="53225"/>
                    </a:lnTo>
                    <a:lnTo>
                      <a:pt x="3280" y="53225"/>
                    </a:lnTo>
                    <a:lnTo>
                      <a:pt x="3437" y="53212"/>
                    </a:lnTo>
                    <a:lnTo>
                      <a:pt x="3595" y="53199"/>
                    </a:lnTo>
                    <a:lnTo>
                      <a:pt x="3752" y="53172"/>
                    </a:lnTo>
                    <a:lnTo>
                      <a:pt x="4054" y="53094"/>
                    </a:lnTo>
                    <a:lnTo>
                      <a:pt x="4329" y="52989"/>
                    </a:lnTo>
                    <a:lnTo>
                      <a:pt x="4605" y="52857"/>
                    </a:lnTo>
                    <a:lnTo>
                      <a:pt x="4867" y="52700"/>
                    </a:lnTo>
                    <a:lnTo>
                      <a:pt x="5103" y="52516"/>
                    </a:lnTo>
                    <a:lnTo>
                      <a:pt x="5326" y="52320"/>
                    </a:lnTo>
                    <a:lnTo>
                      <a:pt x="5523" y="52097"/>
                    </a:lnTo>
                    <a:lnTo>
                      <a:pt x="5707" y="51860"/>
                    </a:lnTo>
                    <a:lnTo>
                      <a:pt x="5864" y="51598"/>
                    </a:lnTo>
                    <a:lnTo>
                      <a:pt x="5996" y="51322"/>
                    </a:lnTo>
                    <a:lnTo>
                      <a:pt x="6101" y="51034"/>
                    </a:lnTo>
                    <a:lnTo>
                      <a:pt x="6179" y="50745"/>
                    </a:lnTo>
                    <a:lnTo>
                      <a:pt x="6205" y="50588"/>
                    </a:lnTo>
                    <a:lnTo>
                      <a:pt x="6219" y="50430"/>
                    </a:lnTo>
                    <a:lnTo>
                      <a:pt x="6232" y="50273"/>
                    </a:lnTo>
                    <a:lnTo>
                      <a:pt x="6245" y="50116"/>
                    </a:lnTo>
                    <a:lnTo>
                      <a:pt x="6245" y="1129"/>
                    </a:lnTo>
                    <a:lnTo>
                      <a:pt x="6232" y="1024"/>
                    </a:lnTo>
                    <a:lnTo>
                      <a:pt x="6219" y="906"/>
                    </a:lnTo>
                    <a:lnTo>
                      <a:pt x="6192" y="801"/>
                    </a:lnTo>
                    <a:lnTo>
                      <a:pt x="6153" y="696"/>
                    </a:lnTo>
                    <a:lnTo>
                      <a:pt x="6101" y="591"/>
                    </a:lnTo>
                    <a:lnTo>
                      <a:pt x="6048" y="499"/>
                    </a:lnTo>
                    <a:lnTo>
                      <a:pt x="5982" y="408"/>
                    </a:lnTo>
                    <a:lnTo>
                      <a:pt x="5904" y="329"/>
                    </a:lnTo>
                    <a:lnTo>
                      <a:pt x="5825" y="250"/>
                    </a:lnTo>
                    <a:lnTo>
                      <a:pt x="5733" y="185"/>
                    </a:lnTo>
                    <a:lnTo>
                      <a:pt x="5641" y="132"/>
                    </a:lnTo>
                    <a:lnTo>
                      <a:pt x="5550" y="80"/>
                    </a:lnTo>
                    <a:lnTo>
                      <a:pt x="5445" y="53"/>
                    </a:lnTo>
                    <a:lnTo>
                      <a:pt x="5326" y="14"/>
                    </a:lnTo>
                    <a:lnTo>
                      <a:pt x="52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2441;p45">
                <a:extLst>
                  <a:ext uri="{FF2B5EF4-FFF2-40B4-BE49-F238E27FC236}">
                    <a16:creationId xmlns:a16="http://schemas.microsoft.com/office/drawing/2014/main" id="{74088C0D-6700-DDDB-3348-29C8E67CBF37}"/>
                  </a:ext>
                </a:extLst>
              </p:cNvPr>
              <p:cNvSpPr/>
              <p:nvPr/>
            </p:nvSpPr>
            <p:spPr>
              <a:xfrm>
                <a:off x="1780583" y="3354102"/>
                <a:ext cx="813871" cy="74654"/>
              </a:xfrm>
              <a:custGeom>
                <a:avLst/>
                <a:gdLst/>
                <a:ahLst/>
                <a:cxnLst/>
                <a:rect l="l" t="t" r="r" b="b"/>
                <a:pathLst>
                  <a:path w="45341" h="4159" extrusionOk="0">
                    <a:moveTo>
                      <a:pt x="1" y="0"/>
                    </a:moveTo>
                    <a:lnTo>
                      <a:pt x="14" y="210"/>
                    </a:lnTo>
                    <a:lnTo>
                      <a:pt x="27" y="420"/>
                    </a:lnTo>
                    <a:lnTo>
                      <a:pt x="53" y="630"/>
                    </a:lnTo>
                    <a:lnTo>
                      <a:pt x="93" y="840"/>
                    </a:lnTo>
                    <a:lnTo>
                      <a:pt x="132" y="1037"/>
                    </a:lnTo>
                    <a:lnTo>
                      <a:pt x="185" y="1233"/>
                    </a:lnTo>
                    <a:lnTo>
                      <a:pt x="250" y="1430"/>
                    </a:lnTo>
                    <a:lnTo>
                      <a:pt x="329" y="1614"/>
                    </a:lnTo>
                    <a:lnTo>
                      <a:pt x="421" y="1798"/>
                    </a:lnTo>
                    <a:lnTo>
                      <a:pt x="513" y="1981"/>
                    </a:lnTo>
                    <a:lnTo>
                      <a:pt x="604" y="2152"/>
                    </a:lnTo>
                    <a:lnTo>
                      <a:pt x="709" y="2322"/>
                    </a:lnTo>
                    <a:lnTo>
                      <a:pt x="827" y="2480"/>
                    </a:lnTo>
                    <a:lnTo>
                      <a:pt x="959" y="2637"/>
                    </a:lnTo>
                    <a:lnTo>
                      <a:pt x="1090" y="2795"/>
                    </a:lnTo>
                    <a:lnTo>
                      <a:pt x="1221" y="2939"/>
                    </a:lnTo>
                    <a:lnTo>
                      <a:pt x="1365" y="3070"/>
                    </a:lnTo>
                    <a:lnTo>
                      <a:pt x="1523" y="3201"/>
                    </a:lnTo>
                    <a:lnTo>
                      <a:pt x="1680" y="3332"/>
                    </a:lnTo>
                    <a:lnTo>
                      <a:pt x="1838" y="3450"/>
                    </a:lnTo>
                    <a:lnTo>
                      <a:pt x="2008" y="3555"/>
                    </a:lnTo>
                    <a:lnTo>
                      <a:pt x="2179" y="3647"/>
                    </a:lnTo>
                    <a:lnTo>
                      <a:pt x="2362" y="3739"/>
                    </a:lnTo>
                    <a:lnTo>
                      <a:pt x="2546" y="3831"/>
                    </a:lnTo>
                    <a:lnTo>
                      <a:pt x="2730" y="3897"/>
                    </a:lnTo>
                    <a:lnTo>
                      <a:pt x="2926" y="3962"/>
                    </a:lnTo>
                    <a:lnTo>
                      <a:pt x="3123" y="4028"/>
                    </a:lnTo>
                    <a:lnTo>
                      <a:pt x="3320" y="4067"/>
                    </a:lnTo>
                    <a:lnTo>
                      <a:pt x="3530" y="4106"/>
                    </a:lnTo>
                    <a:lnTo>
                      <a:pt x="3740" y="4133"/>
                    </a:lnTo>
                    <a:lnTo>
                      <a:pt x="3950" y="4146"/>
                    </a:lnTo>
                    <a:lnTo>
                      <a:pt x="4160" y="4159"/>
                    </a:lnTo>
                    <a:lnTo>
                      <a:pt x="41181" y="4159"/>
                    </a:lnTo>
                    <a:lnTo>
                      <a:pt x="41391" y="4146"/>
                    </a:lnTo>
                    <a:lnTo>
                      <a:pt x="41601" y="4133"/>
                    </a:lnTo>
                    <a:lnTo>
                      <a:pt x="41811" y="4106"/>
                    </a:lnTo>
                    <a:lnTo>
                      <a:pt x="42021" y="4067"/>
                    </a:lnTo>
                    <a:lnTo>
                      <a:pt x="42218" y="4028"/>
                    </a:lnTo>
                    <a:lnTo>
                      <a:pt x="42415" y="3962"/>
                    </a:lnTo>
                    <a:lnTo>
                      <a:pt x="42611" y="3897"/>
                    </a:lnTo>
                    <a:lnTo>
                      <a:pt x="42795" y="3831"/>
                    </a:lnTo>
                    <a:lnTo>
                      <a:pt x="42979" y="3739"/>
                    </a:lnTo>
                    <a:lnTo>
                      <a:pt x="43162" y="3647"/>
                    </a:lnTo>
                    <a:lnTo>
                      <a:pt x="43333" y="3555"/>
                    </a:lnTo>
                    <a:lnTo>
                      <a:pt x="43503" y="3450"/>
                    </a:lnTo>
                    <a:lnTo>
                      <a:pt x="43661" y="3332"/>
                    </a:lnTo>
                    <a:lnTo>
                      <a:pt x="43818" y="3201"/>
                    </a:lnTo>
                    <a:lnTo>
                      <a:pt x="43976" y="3070"/>
                    </a:lnTo>
                    <a:lnTo>
                      <a:pt x="44120" y="2939"/>
                    </a:lnTo>
                    <a:lnTo>
                      <a:pt x="44251" y="2795"/>
                    </a:lnTo>
                    <a:lnTo>
                      <a:pt x="44382" y="2637"/>
                    </a:lnTo>
                    <a:lnTo>
                      <a:pt x="44514" y="2480"/>
                    </a:lnTo>
                    <a:lnTo>
                      <a:pt x="44632" y="2322"/>
                    </a:lnTo>
                    <a:lnTo>
                      <a:pt x="44737" y="2152"/>
                    </a:lnTo>
                    <a:lnTo>
                      <a:pt x="44828" y="1981"/>
                    </a:lnTo>
                    <a:lnTo>
                      <a:pt x="44920" y="1798"/>
                    </a:lnTo>
                    <a:lnTo>
                      <a:pt x="45012" y="1614"/>
                    </a:lnTo>
                    <a:lnTo>
                      <a:pt x="45078" y="1430"/>
                    </a:lnTo>
                    <a:lnTo>
                      <a:pt x="45143" y="1233"/>
                    </a:lnTo>
                    <a:lnTo>
                      <a:pt x="45209" y="1037"/>
                    </a:lnTo>
                    <a:lnTo>
                      <a:pt x="45248" y="840"/>
                    </a:lnTo>
                    <a:lnTo>
                      <a:pt x="45288" y="630"/>
                    </a:lnTo>
                    <a:lnTo>
                      <a:pt x="45314" y="420"/>
                    </a:lnTo>
                    <a:lnTo>
                      <a:pt x="45327" y="210"/>
                    </a:lnTo>
                    <a:lnTo>
                      <a:pt x="4534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2442;p45">
                <a:extLst>
                  <a:ext uri="{FF2B5EF4-FFF2-40B4-BE49-F238E27FC236}">
                    <a16:creationId xmlns:a16="http://schemas.microsoft.com/office/drawing/2014/main" id="{D52C06EC-930B-B87E-AFB6-C1DF47B08E79}"/>
                  </a:ext>
                </a:extLst>
              </p:cNvPr>
              <p:cNvSpPr/>
              <p:nvPr/>
            </p:nvSpPr>
            <p:spPr>
              <a:xfrm>
                <a:off x="1847931" y="4030889"/>
                <a:ext cx="89517" cy="89732"/>
              </a:xfrm>
              <a:custGeom>
                <a:avLst/>
                <a:gdLst/>
                <a:ahLst/>
                <a:cxnLst/>
                <a:rect l="l" t="t" r="r" b="b"/>
                <a:pathLst>
                  <a:path w="4987" h="4999" extrusionOk="0">
                    <a:moveTo>
                      <a:pt x="2494" y="0"/>
                    </a:moveTo>
                    <a:lnTo>
                      <a:pt x="2231" y="13"/>
                    </a:lnTo>
                    <a:lnTo>
                      <a:pt x="1982" y="53"/>
                    </a:lnTo>
                    <a:lnTo>
                      <a:pt x="1746" y="118"/>
                    </a:lnTo>
                    <a:lnTo>
                      <a:pt x="1523" y="197"/>
                    </a:lnTo>
                    <a:lnTo>
                      <a:pt x="1300" y="302"/>
                    </a:lnTo>
                    <a:lnTo>
                      <a:pt x="1090" y="433"/>
                    </a:lnTo>
                    <a:lnTo>
                      <a:pt x="906" y="577"/>
                    </a:lnTo>
                    <a:lnTo>
                      <a:pt x="723" y="735"/>
                    </a:lnTo>
                    <a:lnTo>
                      <a:pt x="565" y="905"/>
                    </a:lnTo>
                    <a:lnTo>
                      <a:pt x="421" y="1102"/>
                    </a:lnTo>
                    <a:lnTo>
                      <a:pt x="303" y="1312"/>
                    </a:lnTo>
                    <a:lnTo>
                      <a:pt x="185" y="1522"/>
                    </a:lnTo>
                    <a:lnTo>
                      <a:pt x="106" y="1758"/>
                    </a:lnTo>
                    <a:lnTo>
                      <a:pt x="40" y="1994"/>
                    </a:lnTo>
                    <a:lnTo>
                      <a:pt x="14" y="2244"/>
                    </a:lnTo>
                    <a:lnTo>
                      <a:pt x="1" y="2493"/>
                    </a:lnTo>
                    <a:lnTo>
                      <a:pt x="14" y="2755"/>
                    </a:lnTo>
                    <a:lnTo>
                      <a:pt x="40" y="3004"/>
                    </a:lnTo>
                    <a:lnTo>
                      <a:pt x="106" y="3241"/>
                    </a:lnTo>
                    <a:lnTo>
                      <a:pt x="185" y="3477"/>
                    </a:lnTo>
                    <a:lnTo>
                      <a:pt x="303" y="3687"/>
                    </a:lnTo>
                    <a:lnTo>
                      <a:pt x="421" y="3897"/>
                    </a:lnTo>
                    <a:lnTo>
                      <a:pt x="565" y="4080"/>
                    </a:lnTo>
                    <a:lnTo>
                      <a:pt x="723" y="4264"/>
                    </a:lnTo>
                    <a:lnTo>
                      <a:pt x="906" y="4421"/>
                    </a:lnTo>
                    <a:lnTo>
                      <a:pt x="1090" y="4566"/>
                    </a:lnTo>
                    <a:lnTo>
                      <a:pt x="1300" y="4697"/>
                    </a:lnTo>
                    <a:lnTo>
                      <a:pt x="1523" y="4802"/>
                    </a:lnTo>
                    <a:lnTo>
                      <a:pt x="1746" y="4881"/>
                    </a:lnTo>
                    <a:lnTo>
                      <a:pt x="1982" y="4946"/>
                    </a:lnTo>
                    <a:lnTo>
                      <a:pt x="2231" y="4985"/>
                    </a:lnTo>
                    <a:lnTo>
                      <a:pt x="2494" y="4999"/>
                    </a:lnTo>
                    <a:lnTo>
                      <a:pt x="2743" y="4985"/>
                    </a:lnTo>
                    <a:lnTo>
                      <a:pt x="2992" y="4946"/>
                    </a:lnTo>
                    <a:lnTo>
                      <a:pt x="3228" y="4881"/>
                    </a:lnTo>
                    <a:lnTo>
                      <a:pt x="3464" y="4802"/>
                    </a:lnTo>
                    <a:lnTo>
                      <a:pt x="3674" y="4697"/>
                    </a:lnTo>
                    <a:lnTo>
                      <a:pt x="3884" y="4566"/>
                    </a:lnTo>
                    <a:lnTo>
                      <a:pt x="4081" y="4421"/>
                    </a:lnTo>
                    <a:lnTo>
                      <a:pt x="4252" y="4264"/>
                    </a:lnTo>
                    <a:lnTo>
                      <a:pt x="4422" y="4080"/>
                    </a:lnTo>
                    <a:lnTo>
                      <a:pt x="4553" y="3897"/>
                    </a:lnTo>
                    <a:lnTo>
                      <a:pt x="4684" y="3687"/>
                    </a:lnTo>
                    <a:lnTo>
                      <a:pt x="4789" y="3477"/>
                    </a:lnTo>
                    <a:lnTo>
                      <a:pt x="4868" y="3241"/>
                    </a:lnTo>
                    <a:lnTo>
                      <a:pt x="4934" y="3004"/>
                    </a:lnTo>
                    <a:lnTo>
                      <a:pt x="4973" y="2755"/>
                    </a:lnTo>
                    <a:lnTo>
                      <a:pt x="4986" y="2493"/>
                    </a:lnTo>
                    <a:lnTo>
                      <a:pt x="4973" y="2244"/>
                    </a:lnTo>
                    <a:lnTo>
                      <a:pt x="4934" y="1994"/>
                    </a:lnTo>
                    <a:lnTo>
                      <a:pt x="4868" y="1758"/>
                    </a:lnTo>
                    <a:lnTo>
                      <a:pt x="4789" y="1522"/>
                    </a:lnTo>
                    <a:lnTo>
                      <a:pt x="4684" y="1312"/>
                    </a:lnTo>
                    <a:lnTo>
                      <a:pt x="4553" y="1102"/>
                    </a:lnTo>
                    <a:lnTo>
                      <a:pt x="4422" y="905"/>
                    </a:lnTo>
                    <a:lnTo>
                      <a:pt x="4252" y="735"/>
                    </a:lnTo>
                    <a:lnTo>
                      <a:pt x="4081" y="577"/>
                    </a:lnTo>
                    <a:lnTo>
                      <a:pt x="3884" y="433"/>
                    </a:lnTo>
                    <a:lnTo>
                      <a:pt x="3674" y="302"/>
                    </a:lnTo>
                    <a:lnTo>
                      <a:pt x="3464" y="197"/>
                    </a:lnTo>
                    <a:lnTo>
                      <a:pt x="3228" y="118"/>
                    </a:lnTo>
                    <a:lnTo>
                      <a:pt x="2992" y="53"/>
                    </a:lnTo>
                    <a:lnTo>
                      <a:pt x="2743" y="13"/>
                    </a:lnTo>
                    <a:lnTo>
                      <a:pt x="24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2443;p45">
                <a:extLst>
                  <a:ext uri="{FF2B5EF4-FFF2-40B4-BE49-F238E27FC236}">
                    <a16:creationId xmlns:a16="http://schemas.microsoft.com/office/drawing/2014/main" id="{9414FEE6-A838-FE0E-64DD-CE1A8A7594C4}"/>
                  </a:ext>
                </a:extLst>
              </p:cNvPr>
              <p:cNvSpPr/>
              <p:nvPr/>
            </p:nvSpPr>
            <p:spPr>
              <a:xfrm>
                <a:off x="1870315" y="4053255"/>
                <a:ext cx="44749" cy="45001"/>
              </a:xfrm>
              <a:custGeom>
                <a:avLst/>
                <a:gdLst/>
                <a:ahLst/>
                <a:cxnLst/>
                <a:rect l="l" t="t" r="r" b="b"/>
                <a:pathLst>
                  <a:path w="2493" h="2507" extrusionOk="0">
                    <a:moveTo>
                      <a:pt x="1247" y="1"/>
                    </a:moveTo>
                    <a:lnTo>
                      <a:pt x="1115" y="14"/>
                    </a:lnTo>
                    <a:lnTo>
                      <a:pt x="997" y="27"/>
                    </a:lnTo>
                    <a:lnTo>
                      <a:pt x="866" y="66"/>
                    </a:lnTo>
                    <a:lnTo>
                      <a:pt x="761" y="106"/>
                    </a:lnTo>
                    <a:lnTo>
                      <a:pt x="643" y="158"/>
                    </a:lnTo>
                    <a:lnTo>
                      <a:pt x="551" y="224"/>
                    </a:lnTo>
                    <a:lnTo>
                      <a:pt x="446" y="289"/>
                    </a:lnTo>
                    <a:lnTo>
                      <a:pt x="368" y="368"/>
                    </a:lnTo>
                    <a:lnTo>
                      <a:pt x="276" y="460"/>
                    </a:lnTo>
                    <a:lnTo>
                      <a:pt x="210" y="552"/>
                    </a:lnTo>
                    <a:lnTo>
                      <a:pt x="145" y="656"/>
                    </a:lnTo>
                    <a:lnTo>
                      <a:pt x="92" y="761"/>
                    </a:lnTo>
                    <a:lnTo>
                      <a:pt x="53" y="880"/>
                    </a:lnTo>
                    <a:lnTo>
                      <a:pt x="27" y="998"/>
                    </a:lnTo>
                    <a:lnTo>
                      <a:pt x="0" y="1129"/>
                    </a:lnTo>
                    <a:lnTo>
                      <a:pt x="0" y="1247"/>
                    </a:lnTo>
                    <a:lnTo>
                      <a:pt x="0" y="1378"/>
                    </a:lnTo>
                    <a:lnTo>
                      <a:pt x="27" y="1509"/>
                    </a:lnTo>
                    <a:lnTo>
                      <a:pt x="53" y="1627"/>
                    </a:lnTo>
                    <a:lnTo>
                      <a:pt x="92" y="1732"/>
                    </a:lnTo>
                    <a:lnTo>
                      <a:pt x="145" y="1850"/>
                    </a:lnTo>
                    <a:lnTo>
                      <a:pt x="210" y="1955"/>
                    </a:lnTo>
                    <a:lnTo>
                      <a:pt x="276" y="2047"/>
                    </a:lnTo>
                    <a:lnTo>
                      <a:pt x="368" y="2139"/>
                    </a:lnTo>
                    <a:lnTo>
                      <a:pt x="446" y="2218"/>
                    </a:lnTo>
                    <a:lnTo>
                      <a:pt x="551" y="2283"/>
                    </a:lnTo>
                    <a:lnTo>
                      <a:pt x="643" y="2349"/>
                    </a:lnTo>
                    <a:lnTo>
                      <a:pt x="761" y="2401"/>
                    </a:lnTo>
                    <a:lnTo>
                      <a:pt x="866" y="2441"/>
                    </a:lnTo>
                    <a:lnTo>
                      <a:pt x="997" y="2480"/>
                    </a:lnTo>
                    <a:lnTo>
                      <a:pt x="1115" y="2493"/>
                    </a:lnTo>
                    <a:lnTo>
                      <a:pt x="1247" y="2506"/>
                    </a:lnTo>
                    <a:lnTo>
                      <a:pt x="1365" y="2493"/>
                    </a:lnTo>
                    <a:lnTo>
                      <a:pt x="1496" y="2480"/>
                    </a:lnTo>
                    <a:lnTo>
                      <a:pt x="1614" y="2441"/>
                    </a:lnTo>
                    <a:lnTo>
                      <a:pt x="1732" y="2401"/>
                    </a:lnTo>
                    <a:lnTo>
                      <a:pt x="1837" y="2349"/>
                    </a:lnTo>
                    <a:lnTo>
                      <a:pt x="1942" y="2283"/>
                    </a:lnTo>
                    <a:lnTo>
                      <a:pt x="2034" y="2218"/>
                    </a:lnTo>
                    <a:lnTo>
                      <a:pt x="2126" y="2139"/>
                    </a:lnTo>
                    <a:lnTo>
                      <a:pt x="2204" y="2047"/>
                    </a:lnTo>
                    <a:lnTo>
                      <a:pt x="2283" y="1955"/>
                    </a:lnTo>
                    <a:lnTo>
                      <a:pt x="2335" y="1850"/>
                    </a:lnTo>
                    <a:lnTo>
                      <a:pt x="2388" y="1732"/>
                    </a:lnTo>
                    <a:lnTo>
                      <a:pt x="2440" y="1627"/>
                    </a:lnTo>
                    <a:lnTo>
                      <a:pt x="2467" y="1509"/>
                    </a:lnTo>
                    <a:lnTo>
                      <a:pt x="2480" y="1378"/>
                    </a:lnTo>
                    <a:lnTo>
                      <a:pt x="2493" y="1247"/>
                    </a:lnTo>
                    <a:lnTo>
                      <a:pt x="2480" y="1129"/>
                    </a:lnTo>
                    <a:lnTo>
                      <a:pt x="2467" y="998"/>
                    </a:lnTo>
                    <a:lnTo>
                      <a:pt x="2440" y="880"/>
                    </a:lnTo>
                    <a:lnTo>
                      <a:pt x="2388" y="761"/>
                    </a:lnTo>
                    <a:lnTo>
                      <a:pt x="2335" y="656"/>
                    </a:lnTo>
                    <a:lnTo>
                      <a:pt x="2283" y="552"/>
                    </a:lnTo>
                    <a:lnTo>
                      <a:pt x="2204" y="460"/>
                    </a:lnTo>
                    <a:lnTo>
                      <a:pt x="2126" y="368"/>
                    </a:lnTo>
                    <a:lnTo>
                      <a:pt x="2034" y="289"/>
                    </a:lnTo>
                    <a:lnTo>
                      <a:pt x="1942" y="224"/>
                    </a:lnTo>
                    <a:lnTo>
                      <a:pt x="1837" y="158"/>
                    </a:lnTo>
                    <a:lnTo>
                      <a:pt x="1732" y="106"/>
                    </a:lnTo>
                    <a:lnTo>
                      <a:pt x="1614" y="66"/>
                    </a:lnTo>
                    <a:lnTo>
                      <a:pt x="1496" y="27"/>
                    </a:lnTo>
                    <a:lnTo>
                      <a:pt x="1365" y="14"/>
                    </a:lnTo>
                    <a:lnTo>
                      <a:pt x="12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2444;p45">
                <a:extLst>
                  <a:ext uri="{FF2B5EF4-FFF2-40B4-BE49-F238E27FC236}">
                    <a16:creationId xmlns:a16="http://schemas.microsoft.com/office/drawing/2014/main" id="{2FFB5F60-D603-6FD9-E50D-C4E8E791ED00}"/>
                  </a:ext>
                </a:extLst>
              </p:cNvPr>
              <p:cNvSpPr/>
              <p:nvPr/>
            </p:nvSpPr>
            <p:spPr>
              <a:xfrm>
                <a:off x="1855237" y="3966359"/>
                <a:ext cx="313694" cy="64548"/>
              </a:xfrm>
              <a:custGeom>
                <a:avLst/>
                <a:gdLst/>
                <a:ahLst/>
                <a:cxnLst/>
                <a:rect l="l" t="t" r="r" b="b"/>
                <a:pathLst>
                  <a:path w="17476" h="3596" extrusionOk="0">
                    <a:moveTo>
                      <a:pt x="17475" y="1"/>
                    </a:moveTo>
                    <a:lnTo>
                      <a:pt x="512" y="2415"/>
                    </a:lnTo>
                    <a:lnTo>
                      <a:pt x="407" y="2441"/>
                    </a:lnTo>
                    <a:lnTo>
                      <a:pt x="316" y="2480"/>
                    </a:lnTo>
                    <a:lnTo>
                      <a:pt x="224" y="2546"/>
                    </a:lnTo>
                    <a:lnTo>
                      <a:pt x="145" y="2611"/>
                    </a:lnTo>
                    <a:lnTo>
                      <a:pt x="92" y="2703"/>
                    </a:lnTo>
                    <a:lnTo>
                      <a:pt x="40" y="2795"/>
                    </a:lnTo>
                    <a:lnTo>
                      <a:pt x="14" y="2900"/>
                    </a:lnTo>
                    <a:lnTo>
                      <a:pt x="1" y="3005"/>
                    </a:lnTo>
                    <a:lnTo>
                      <a:pt x="14" y="3123"/>
                    </a:lnTo>
                    <a:lnTo>
                      <a:pt x="53" y="3241"/>
                    </a:lnTo>
                    <a:lnTo>
                      <a:pt x="106" y="3333"/>
                    </a:lnTo>
                    <a:lnTo>
                      <a:pt x="184" y="3425"/>
                    </a:lnTo>
                    <a:lnTo>
                      <a:pt x="263" y="3503"/>
                    </a:lnTo>
                    <a:lnTo>
                      <a:pt x="368" y="3556"/>
                    </a:lnTo>
                    <a:lnTo>
                      <a:pt x="473" y="3582"/>
                    </a:lnTo>
                    <a:lnTo>
                      <a:pt x="604" y="3595"/>
                    </a:lnTo>
                    <a:lnTo>
                      <a:pt x="17475" y="3595"/>
                    </a:lnTo>
                    <a:lnTo>
                      <a:pt x="1747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2445;p45">
                <a:extLst>
                  <a:ext uri="{FF2B5EF4-FFF2-40B4-BE49-F238E27FC236}">
                    <a16:creationId xmlns:a16="http://schemas.microsoft.com/office/drawing/2014/main" id="{3BAAB29F-23AE-ED3D-B7CB-E5A0DA8630EF}"/>
                  </a:ext>
                </a:extLst>
              </p:cNvPr>
              <p:cNvSpPr/>
              <p:nvPr/>
            </p:nvSpPr>
            <p:spPr>
              <a:xfrm>
                <a:off x="2437589" y="4030889"/>
                <a:ext cx="89517" cy="89732"/>
              </a:xfrm>
              <a:custGeom>
                <a:avLst/>
                <a:gdLst/>
                <a:ahLst/>
                <a:cxnLst/>
                <a:rect l="l" t="t" r="r" b="b"/>
                <a:pathLst>
                  <a:path w="4987" h="4999" extrusionOk="0">
                    <a:moveTo>
                      <a:pt x="2493" y="0"/>
                    </a:moveTo>
                    <a:lnTo>
                      <a:pt x="2244" y="13"/>
                    </a:lnTo>
                    <a:lnTo>
                      <a:pt x="1995" y="53"/>
                    </a:lnTo>
                    <a:lnTo>
                      <a:pt x="1759" y="118"/>
                    </a:lnTo>
                    <a:lnTo>
                      <a:pt x="1523" y="197"/>
                    </a:lnTo>
                    <a:lnTo>
                      <a:pt x="1300" y="302"/>
                    </a:lnTo>
                    <a:lnTo>
                      <a:pt x="1103" y="433"/>
                    </a:lnTo>
                    <a:lnTo>
                      <a:pt x="906" y="577"/>
                    </a:lnTo>
                    <a:lnTo>
                      <a:pt x="736" y="735"/>
                    </a:lnTo>
                    <a:lnTo>
                      <a:pt x="565" y="905"/>
                    </a:lnTo>
                    <a:lnTo>
                      <a:pt x="421" y="1102"/>
                    </a:lnTo>
                    <a:lnTo>
                      <a:pt x="303" y="1312"/>
                    </a:lnTo>
                    <a:lnTo>
                      <a:pt x="198" y="1522"/>
                    </a:lnTo>
                    <a:lnTo>
                      <a:pt x="106" y="1758"/>
                    </a:lnTo>
                    <a:lnTo>
                      <a:pt x="53" y="1994"/>
                    </a:lnTo>
                    <a:lnTo>
                      <a:pt x="14" y="2244"/>
                    </a:lnTo>
                    <a:lnTo>
                      <a:pt x="1" y="2493"/>
                    </a:lnTo>
                    <a:lnTo>
                      <a:pt x="14" y="2755"/>
                    </a:lnTo>
                    <a:lnTo>
                      <a:pt x="53" y="3004"/>
                    </a:lnTo>
                    <a:lnTo>
                      <a:pt x="106" y="3241"/>
                    </a:lnTo>
                    <a:lnTo>
                      <a:pt x="198" y="3477"/>
                    </a:lnTo>
                    <a:lnTo>
                      <a:pt x="303" y="3687"/>
                    </a:lnTo>
                    <a:lnTo>
                      <a:pt x="421" y="3897"/>
                    </a:lnTo>
                    <a:lnTo>
                      <a:pt x="565" y="4080"/>
                    </a:lnTo>
                    <a:lnTo>
                      <a:pt x="736" y="4264"/>
                    </a:lnTo>
                    <a:lnTo>
                      <a:pt x="906" y="4421"/>
                    </a:lnTo>
                    <a:lnTo>
                      <a:pt x="1103" y="4566"/>
                    </a:lnTo>
                    <a:lnTo>
                      <a:pt x="1300" y="4697"/>
                    </a:lnTo>
                    <a:lnTo>
                      <a:pt x="1523" y="4802"/>
                    </a:lnTo>
                    <a:lnTo>
                      <a:pt x="1759" y="4881"/>
                    </a:lnTo>
                    <a:lnTo>
                      <a:pt x="1995" y="4946"/>
                    </a:lnTo>
                    <a:lnTo>
                      <a:pt x="2244" y="4985"/>
                    </a:lnTo>
                    <a:lnTo>
                      <a:pt x="2493" y="4999"/>
                    </a:lnTo>
                    <a:lnTo>
                      <a:pt x="2756" y="4985"/>
                    </a:lnTo>
                    <a:lnTo>
                      <a:pt x="2992" y="4946"/>
                    </a:lnTo>
                    <a:lnTo>
                      <a:pt x="3241" y="4881"/>
                    </a:lnTo>
                    <a:lnTo>
                      <a:pt x="3464" y="4802"/>
                    </a:lnTo>
                    <a:lnTo>
                      <a:pt x="3687" y="4697"/>
                    </a:lnTo>
                    <a:lnTo>
                      <a:pt x="3884" y="4566"/>
                    </a:lnTo>
                    <a:lnTo>
                      <a:pt x="4081" y="4421"/>
                    </a:lnTo>
                    <a:lnTo>
                      <a:pt x="4265" y="4264"/>
                    </a:lnTo>
                    <a:lnTo>
                      <a:pt x="4422" y="4080"/>
                    </a:lnTo>
                    <a:lnTo>
                      <a:pt x="4566" y="3897"/>
                    </a:lnTo>
                    <a:lnTo>
                      <a:pt x="4684" y="3687"/>
                    </a:lnTo>
                    <a:lnTo>
                      <a:pt x="4789" y="3477"/>
                    </a:lnTo>
                    <a:lnTo>
                      <a:pt x="4881" y="3241"/>
                    </a:lnTo>
                    <a:lnTo>
                      <a:pt x="4934" y="3004"/>
                    </a:lnTo>
                    <a:lnTo>
                      <a:pt x="4973" y="2755"/>
                    </a:lnTo>
                    <a:lnTo>
                      <a:pt x="4986" y="2493"/>
                    </a:lnTo>
                    <a:lnTo>
                      <a:pt x="4973" y="2244"/>
                    </a:lnTo>
                    <a:lnTo>
                      <a:pt x="4934" y="1994"/>
                    </a:lnTo>
                    <a:lnTo>
                      <a:pt x="4881" y="1758"/>
                    </a:lnTo>
                    <a:lnTo>
                      <a:pt x="4789" y="1522"/>
                    </a:lnTo>
                    <a:lnTo>
                      <a:pt x="4684" y="1312"/>
                    </a:lnTo>
                    <a:lnTo>
                      <a:pt x="4566" y="1102"/>
                    </a:lnTo>
                    <a:lnTo>
                      <a:pt x="4422" y="905"/>
                    </a:lnTo>
                    <a:lnTo>
                      <a:pt x="4265" y="735"/>
                    </a:lnTo>
                    <a:lnTo>
                      <a:pt x="4081" y="577"/>
                    </a:lnTo>
                    <a:lnTo>
                      <a:pt x="3884" y="433"/>
                    </a:lnTo>
                    <a:lnTo>
                      <a:pt x="3687" y="302"/>
                    </a:lnTo>
                    <a:lnTo>
                      <a:pt x="3464" y="197"/>
                    </a:lnTo>
                    <a:lnTo>
                      <a:pt x="3241" y="118"/>
                    </a:lnTo>
                    <a:lnTo>
                      <a:pt x="2992" y="53"/>
                    </a:lnTo>
                    <a:lnTo>
                      <a:pt x="2756" y="13"/>
                    </a:lnTo>
                    <a:lnTo>
                      <a:pt x="24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2446;p45">
                <a:extLst>
                  <a:ext uri="{FF2B5EF4-FFF2-40B4-BE49-F238E27FC236}">
                    <a16:creationId xmlns:a16="http://schemas.microsoft.com/office/drawing/2014/main" id="{AA4D230A-249A-3273-70D3-763628FAA9AB}"/>
                  </a:ext>
                </a:extLst>
              </p:cNvPr>
              <p:cNvSpPr/>
              <p:nvPr/>
            </p:nvSpPr>
            <p:spPr>
              <a:xfrm>
                <a:off x="2459972" y="4053255"/>
                <a:ext cx="44749" cy="45001"/>
              </a:xfrm>
              <a:custGeom>
                <a:avLst/>
                <a:gdLst/>
                <a:ahLst/>
                <a:cxnLst/>
                <a:rect l="l" t="t" r="r" b="b"/>
                <a:pathLst>
                  <a:path w="2493" h="2507" extrusionOk="0">
                    <a:moveTo>
                      <a:pt x="1246" y="1"/>
                    </a:moveTo>
                    <a:lnTo>
                      <a:pt x="1115" y="14"/>
                    </a:lnTo>
                    <a:lnTo>
                      <a:pt x="997" y="27"/>
                    </a:lnTo>
                    <a:lnTo>
                      <a:pt x="879" y="66"/>
                    </a:lnTo>
                    <a:lnTo>
                      <a:pt x="761" y="106"/>
                    </a:lnTo>
                    <a:lnTo>
                      <a:pt x="656" y="158"/>
                    </a:lnTo>
                    <a:lnTo>
                      <a:pt x="551" y="224"/>
                    </a:lnTo>
                    <a:lnTo>
                      <a:pt x="459" y="289"/>
                    </a:lnTo>
                    <a:lnTo>
                      <a:pt x="367" y="368"/>
                    </a:lnTo>
                    <a:lnTo>
                      <a:pt x="289" y="460"/>
                    </a:lnTo>
                    <a:lnTo>
                      <a:pt x="210" y="552"/>
                    </a:lnTo>
                    <a:lnTo>
                      <a:pt x="158" y="656"/>
                    </a:lnTo>
                    <a:lnTo>
                      <a:pt x="105" y="761"/>
                    </a:lnTo>
                    <a:lnTo>
                      <a:pt x="53" y="880"/>
                    </a:lnTo>
                    <a:lnTo>
                      <a:pt x="26" y="998"/>
                    </a:lnTo>
                    <a:lnTo>
                      <a:pt x="13" y="1129"/>
                    </a:lnTo>
                    <a:lnTo>
                      <a:pt x="0" y="1247"/>
                    </a:lnTo>
                    <a:lnTo>
                      <a:pt x="13" y="1378"/>
                    </a:lnTo>
                    <a:lnTo>
                      <a:pt x="26" y="1509"/>
                    </a:lnTo>
                    <a:lnTo>
                      <a:pt x="53" y="1627"/>
                    </a:lnTo>
                    <a:lnTo>
                      <a:pt x="105" y="1732"/>
                    </a:lnTo>
                    <a:lnTo>
                      <a:pt x="158" y="1850"/>
                    </a:lnTo>
                    <a:lnTo>
                      <a:pt x="210" y="1955"/>
                    </a:lnTo>
                    <a:lnTo>
                      <a:pt x="289" y="2047"/>
                    </a:lnTo>
                    <a:lnTo>
                      <a:pt x="367" y="2139"/>
                    </a:lnTo>
                    <a:lnTo>
                      <a:pt x="459" y="2218"/>
                    </a:lnTo>
                    <a:lnTo>
                      <a:pt x="551" y="2283"/>
                    </a:lnTo>
                    <a:lnTo>
                      <a:pt x="656" y="2349"/>
                    </a:lnTo>
                    <a:lnTo>
                      <a:pt x="761" y="2401"/>
                    </a:lnTo>
                    <a:lnTo>
                      <a:pt x="879" y="2441"/>
                    </a:lnTo>
                    <a:lnTo>
                      <a:pt x="997" y="2480"/>
                    </a:lnTo>
                    <a:lnTo>
                      <a:pt x="1115" y="2493"/>
                    </a:lnTo>
                    <a:lnTo>
                      <a:pt x="1246" y="2506"/>
                    </a:lnTo>
                    <a:lnTo>
                      <a:pt x="1378" y="2493"/>
                    </a:lnTo>
                    <a:lnTo>
                      <a:pt x="1496" y="2480"/>
                    </a:lnTo>
                    <a:lnTo>
                      <a:pt x="1614" y="2441"/>
                    </a:lnTo>
                    <a:lnTo>
                      <a:pt x="1732" y="2401"/>
                    </a:lnTo>
                    <a:lnTo>
                      <a:pt x="1837" y="2349"/>
                    </a:lnTo>
                    <a:lnTo>
                      <a:pt x="1942" y="2283"/>
                    </a:lnTo>
                    <a:lnTo>
                      <a:pt x="2047" y="2218"/>
                    </a:lnTo>
                    <a:lnTo>
                      <a:pt x="2125" y="2139"/>
                    </a:lnTo>
                    <a:lnTo>
                      <a:pt x="2217" y="2047"/>
                    </a:lnTo>
                    <a:lnTo>
                      <a:pt x="2283" y="1955"/>
                    </a:lnTo>
                    <a:lnTo>
                      <a:pt x="2348" y="1850"/>
                    </a:lnTo>
                    <a:lnTo>
                      <a:pt x="2401" y="1732"/>
                    </a:lnTo>
                    <a:lnTo>
                      <a:pt x="2440" y="1627"/>
                    </a:lnTo>
                    <a:lnTo>
                      <a:pt x="2467" y="1509"/>
                    </a:lnTo>
                    <a:lnTo>
                      <a:pt x="2493" y="1378"/>
                    </a:lnTo>
                    <a:lnTo>
                      <a:pt x="2493" y="1247"/>
                    </a:lnTo>
                    <a:lnTo>
                      <a:pt x="2493" y="1129"/>
                    </a:lnTo>
                    <a:lnTo>
                      <a:pt x="2467" y="998"/>
                    </a:lnTo>
                    <a:lnTo>
                      <a:pt x="2440" y="880"/>
                    </a:lnTo>
                    <a:lnTo>
                      <a:pt x="2401" y="761"/>
                    </a:lnTo>
                    <a:lnTo>
                      <a:pt x="2348" y="656"/>
                    </a:lnTo>
                    <a:lnTo>
                      <a:pt x="2283" y="552"/>
                    </a:lnTo>
                    <a:lnTo>
                      <a:pt x="2217" y="460"/>
                    </a:lnTo>
                    <a:lnTo>
                      <a:pt x="2125" y="368"/>
                    </a:lnTo>
                    <a:lnTo>
                      <a:pt x="2047" y="289"/>
                    </a:lnTo>
                    <a:lnTo>
                      <a:pt x="1942" y="224"/>
                    </a:lnTo>
                    <a:lnTo>
                      <a:pt x="1837" y="158"/>
                    </a:lnTo>
                    <a:lnTo>
                      <a:pt x="1732" y="106"/>
                    </a:lnTo>
                    <a:lnTo>
                      <a:pt x="1614" y="66"/>
                    </a:lnTo>
                    <a:lnTo>
                      <a:pt x="1496" y="27"/>
                    </a:lnTo>
                    <a:lnTo>
                      <a:pt x="1378" y="14"/>
                    </a:lnTo>
                    <a:lnTo>
                      <a:pt x="12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2447;p45">
                <a:extLst>
                  <a:ext uri="{FF2B5EF4-FFF2-40B4-BE49-F238E27FC236}">
                    <a16:creationId xmlns:a16="http://schemas.microsoft.com/office/drawing/2014/main" id="{0A58E6AC-CE19-7AD5-5951-6217DF85A3D5}"/>
                  </a:ext>
                </a:extLst>
              </p:cNvPr>
              <p:cNvSpPr/>
              <p:nvPr/>
            </p:nvSpPr>
            <p:spPr>
              <a:xfrm>
                <a:off x="2206105" y="3966359"/>
                <a:ext cx="313694" cy="64548"/>
              </a:xfrm>
              <a:custGeom>
                <a:avLst/>
                <a:gdLst/>
                <a:ahLst/>
                <a:cxnLst/>
                <a:rect l="l" t="t" r="r" b="b"/>
                <a:pathLst>
                  <a:path w="17476" h="3596" extrusionOk="0">
                    <a:moveTo>
                      <a:pt x="1" y="1"/>
                    </a:moveTo>
                    <a:lnTo>
                      <a:pt x="1" y="3595"/>
                    </a:lnTo>
                    <a:lnTo>
                      <a:pt x="16872" y="3595"/>
                    </a:lnTo>
                    <a:lnTo>
                      <a:pt x="16990" y="3582"/>
                    </a:lnTo>
                    <a:lnTo>
                      <a:pt x="17108" y="3556"/>
                    </a:lnTo>
                    <a:lnTo>
                      <a:pt x="17213" y="3503"/>
                    </a:lnTo>
                    <a:lnTo>
                      <a:pt x="17292" y="3425"/>
                    </a:lnTo>
                    <a:lnTo>
                      <a:pt x="17370" y="3333"/>
                    </a:lnTo>
                    <a:lnTo>
                      <a:pt x="17423" y="3241"/>
                    </a:lnTo>
                    <a:lnTo>
                      <a:pt x="17462" y="3123"/>
                    </a:lnTo>
                    <a:lnTo>
                      <a:pt x="17475" y="3005"/>
                    </a:lnTo>
                    <a:lnTo>
                      <a:pt x="17462" y="2900"/>
                    </a:lnTo>
                    <a:lnTo>
                      <a:pt x="17436" y="2795"/>
                    </a:lnTo>
                    <a:lnTo>
                      <a:pt x="17384" y="2703"/>
                    </a:lnTo>
                    <a:lnTo>
                      <a:pt x="17331" y="2611"/>
                    </a:lnTo>
                    <a:lnTo>
                      <a:pt x="17252" y="2546"/>
                    </a:lnTo>
                    <a:lnTo>
                      <a:pt x="17161" y="2480"/>
                    </a:lnTo>
                    <a:lnTo>
                      <a:pt x="17069" y="2441"/>
                    </a:lnTo>
                    <a:lnTo>
                      <a:pt x="16964" y="2415"/>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2448;p45">
                <a:extLst>
                  <a:ext uri="{FF2B5EF4-FFF2-40B4-BE49-F238E27FC236}">
                    <a16:creationId xmlns:a16="http://schemas.microsoft.com/office/drawing/2014/main" id="{30D9C080-E123-2820-6AD6-1ACAF649F86A}"/>
                  </a:ext>
                </a:extLst>
              </p:cNvPr>
              <p:cNvSpPr/>
              <p:nvPr/>
            </p:nvSpPr>
            <p:spPr>
              <a:xfrm>
                <a:off x="2161374" y="3978601"/>
                <a:ext cx="44749" cy="112116"/>
              </a:xfrm>
              <a:custGeom>
                <a:avLst/>
                <a:gdLst/>
                <a:ahLst/>
                <a:cxnLst/>
                <a:rect l="l" t="t" r="r" b="b"/>
                <a:pathLst>
                  <a:path w="2493" h="6246" extrusionOk="0">
                    <a:moveTo>
                      <a:pt x="0" y="1"/>
                    </a:moveTo>
                    <a:lnTo>
                      <a:pt x="420" y="6245"/>
                    </a:lnTo>
                    <a:lnTo>
                      <a:pt x="2073" y="6245"/>
                    </a:lnTo>
                    <a:lnTo>
                      <a:pt x="24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2449;p45">
                <a:extLst>
                  <a:ext uri="{FF2B5EF4-FFF2-40B4-BE49-F238E27FC236}">
                    <a16:creationId xmlns:a16="http://schemas.microsoft.com/office/drawing/2014/main" id="{AD084FDC-E245-1879-6FC4-9CAE6020E6BB}"/>
                  </a:ext>
                </a:extLst>
              </p:cNvPr>
              <p:cNvSpPr/>
              <p:nvPr/>
            </p:nvSpPr>
            <p:spPr>
              <a:xfrm>
                <a:off x="2162792" y="4068333"/>
                <a:ext cx="41931" cy="104559"/>
              </a:xfrm>
              <a:custGeom>
                <a:avLst/>
                <a:gdLst/>
                <a:ahLst/>
                <a:cxnLst/>
                <a:rect l="l" t="t" r="r" b="b"/>
                <a:pathLst>
                  <a:path w="2336" h="5825" extrusionOk="0">
                    <a:moveTo>
                      <a:pt x="1050" y="0"/>
                    </a:moveTo>
                    <a:lnTo>
                      <a:pt x="931" y="26"/>
                    </a:lnTo>
                    <a:lnTo>
                      <a:pt x="827" y="53"/>
                    </a:lnTo>
                    <a:lnTo>
                      <a:pt x="722" y="92"/>
                    </a:lnTo>
                    <a:lnTo>
                      <a:pt x="617" y="131"/>
                    </a:lnTo>
                    <a:lnTo>
                      <a:pt x="512" y="197"/>
                    </a:lnTo>
                    <a:lnTo>
                      <a:pt x="433" y="263"/>
                    </a:lnTo>
                    <a:lnTo>
                      <a:pt x="341" y="341"/>
                    </a:lnTo>
                    <a:lnTo>
                      <a:pt x="276" y="420"/>
                    </a:lnTo>
                    <a:lnTo>
                      <a:pt x="197" y="512"/>
                    </a:lnTo>
                    <a:lnTo>
                      <a:pt x="144" y="604"/>
                    </a:lnTo>
                    <a:lnTo>
                      <a:pt x="92" y="709"/>
                    </a:lnTo>
                    <a:lnTo>
                      <a:pt x="52" y="814"/>
                    </a:lnTo>
                    <a:lnTo>
                      <a:pt x="26" y="932"/>
                    </a:lnTo>
                    <a:lnTo>
                      <a:pt x="13" y="1037"/>
                    </a:lnTo>
                    <a:lnTo>
                      <a:pt x="0" y="1168"/>
                    </a:lnTo>
                    <a:lnTo>
                      <a:pt x="0" y="4657"/>
                    </a:lnTo>
                    <a:lnTo>
                      <a:pt x="13" y="4775"/>
                    </a:lnTo>
                    <a:lnTo>
                      <a:pt x="26" y="4894"/>
                    </a:lnTo>
                    <a:lnTo>
                      <a:pt x="52" y="4999"/>
                    </a:lnTo>
                    <a:lnTo>
                      <a:pt x="92" y="5103"/>
                    </a:lnTo>
                    <a:lnTo>
                      <a:pt x="144" y="5208"/>
                    </a:lnTo>
                    <a:lnTo>
                      <a:pt x="197" y="5300"/>
                    </a:lnTo>
                    <a:lnTo>
                      <a:pt x="276" y="5392"/>
                    </a:lnTo>
                    <a:lnTo>
                      <a:pt x="341" y="5484"/>
                    </a:lnTo>
                    <a:lnTo>
                      <a:pt x="433" y="5550"/>
                    </a:lnTo>
                    <a:lnTo>
                      <a:pt x="512" y="5615"/>
                    </a:lnTo>
                    <a:lnTo>
                      <a:pt x="617" y="5681"/>
                    </a:lnTo>
                    <a:lnTo>
                      <a:pt x="722" y="5733"/>
                    </a:lnTo>
                    <a:lnTo>
                      <a:pt x="827" y="5773"/>
                    </a:lnTo>
                    <a:lnTo>
                      <a:pt x="931" y="5799"/>
                    </a:lnTo>
                    <a:lnTo>
                      <a:pt x="1050" y="5812"/>
                    </a:lnTo>
                    <a:lnTo>
                      <a:pt x="1168" y="5825"/>
                    </a:lnTo>
                    <a:lnTo>
                      <a:pt x="1286" y="5812"/>
                    </a:lnTo>
                    <a:lnTo>
                      <a:pt x="1404" y="5799"/>
                    </a:lnTo>
                    <a:lnTo>
                      <a:pt x="1509" y="5773"/>
                    </a:lnTo>
                    <a:lnTo>
                      <a:pt x="1627" y="5733"/>
                    </a:lnTo>
                    <a:lnTo>
                      <a:pt x="1719" y="5681"/>
                    </a:lnTo>
                    <a:lnTo>
                      <a:pt x="1824" y="5615"/>
                    </a:lnTo>
                    <a:lnTo>
                      <a:pt x="1915" y="5550"/>
                    </a:lnTo>
                    <a:lnTo>
                      <a:pt x="1994" y="5484"/>
                    </a:lnTo>
                    <a:lnTo>
                      <a:pt x="2073" y="5392"/>
                    </a:lnTo>
                    <a:lnTo>
                      <a:pt x="2138" y="5300"/>
                    </a:lnTo>
                    <a:lnTo>
                      <a:pt x="2191" y="5208"/>
                    </a:lnTo>
                    <a:lnTo>
                      <a:pt x="2243" y="5103"/>
                    </a:lnTo>
                    <a:lnTo>
                      <a:pt x="2283" y="4999"/>
                    </a:lnTo>
                    <a:lnTo>
                      <a:pt x="2309" y="4894"/>
                    </a:lnTo>
                    <a:lnTo>
                      <a:pt x="2322" y="4775"/>
                    </a:lnTo>
                    <a:lnTo>
                      <a:pt x="2335" y="4657"/>
                    </a:lnTo>
                    <a:lnTo>
                      <a:pt x="2335" y="1168"/>
                    </a:lnTo>
                    <a:lnTo>
                      <a:pt x="2322" y="1037"/>
                    </a:lnTo>
                    <a:lnTo>
                      <a:pt x="2309" y="932"/>
                    </a:lnTo>
                    <a:lnTo>
                      <a:pt x="2283" y="814"/>
                    </a:lnTo>
                    <a:lnTo>
                      <a:pt x="2243" y="709"/>
                    </a:lnTo>
                    <a:lnTo>
                      <a:pt x="2191" y="604"/>
                    </a:lnTo>
                    <a:lnTo>
                      <a:pt x="2138" y="512"/>
                    </a:lnTo>
                    <a:lnTo>
                      <a:pt x="2073" y="420"/>
                    </a:lnTo>
                    <a:lnTo>
                      <a:pt x="1994" y="341"/>
                    </a:lnTo>
                    <a:lnTo>
                      <a:pt x="1915" y="263"/>
                    </a:lnTo>
                    <a:lnTo>
                      <a:pt x="1824" y="197"/>
                    </a:lnTo>
                    <a:lnTo>
                      <a:pt x="1719" y="131"/>
                    </a:lnTo>
                    <a:lnTo>
                      <a:pt x="1627" y="92"/>
                    </a:lnTo>
                    <a:lnTo>
                      <a:pt x="1509" y="53"/>
                    </a:lnTo>
                    <a:lnTo>
                      <a:pt x="1404" y="26"/>
                    </a:lnTo>
                    <a:lnTo>
                      <a:pt x="12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2450;p45">
                <a:extLst>
                  <a:ext uri="{FF2B5EF4-FFF2-40B4-BE49-F238E27FC236}">
                    <a16:creationId xmlns:a16="http://schemas.microsoft.com/office/drawing/2014/main" id="{88F9BF9C-C803-A918-4CBC-60246B63CB20}"/>
                  </a:ext>
                </a:extLst>
              </p:cNvPr>
              <p:cNvSpPr/>
              <p:nvPr/>
            </p:nvSpPr>
            <p:spPr>
              <a:xfrm>
                <a:off x="1891747" y="1544617"/>
                <a:ext cx="591309" cy="702240"/>
              </a:xfrm>
              <a:custGeom>
                <a:avLst/>
                <a:gdLst/>
                <a:ahLst/>
                <a:cxnLst/>
                <a:rect l="l" t="t" r="r" b="b"/>
                <a:pathLst>
                  <a:path w="32942" h="39122" extrusionOk="0">
                    <a:moveTo>
                      <a:pt x="19009" y="1"/>
                    </a:moveTo>
                    <a:lnTo>
                      <a:pt x="18695" y="27"/>
                    </a:lnTo>
                    <a:lnTo>
                      <a:pt x="18406" y="93"/>
                    </a:lnTo>
                    <a:lnTo>
                      <a:pt x="18130" y="171"/>
                    </a:lnTo>
                    <a:lnTo>
                      <a:pt x="17881" y="276"/>
                    </a:lnTo>
                    <a:lnTo>
                      <a:pt x="17645" y="407"/>
                    </a:lnTo>
                    <a:lnTo>
                      <a:pt x="17422" y="552"/>
                    </a:lnTo>
                    <a:lnTo>
                      <a:pt x="17238" y="709"/>
                    </a:lnTo>
                    <a:lnTo>
                      <a:pt x="17055" y="893"/>
                    </a:lnTo>
                    <a:lnTo>
                      <a:pt x="16897" y="1090"/>
                    </a:lnTo>
                    <a:lnTo>
                      <a:pt x="16766" y="1299"/>
                    </a:lnTo>
                    <a:lnTo>
                      <a:pt x="16648" y="1523"/>
                    </a:lnTo>
                    <a:lnTo>
                      <a:pt x="16556" y="1746"/>
                    </a:lnTo>
                    <a:lnTo>
                      <a:pt x="16478" y="1982"/>
                    </a:lnTo>
                    <a:lnTo>
                      <a:pt x="16412" y="2231"/>
                    </a:lnTo>
                    <a:lnTo>
                      <a:pt x="16373" y="2480"/>
                    </a:lnTo>
                    <a:lnTo>
                      <a:pt x="16359" y="2729"/>
                    </a:lnTo>
                    <a:lnTo>
                      <a:pt x="16281" y="2848"/>
                    </a:lnTo>
                    <a:lnTo>
                      <a:pt x="16254" y="2848"/>
                    </a:lnTo>
                    <a:lnTo>
                      <a:pt x="15874" y="2874"/>
                    </a:lnTo>
                    <a:lnTo>
                      <a:pt x="15507" y="2913"/>
                    </a:lnTo>
                    <a:lnTo>
                      <a:pt x="15152" y="2952"/>
                    </a:lnTo>
                    <a:lnTo>
                      <a:pt x="14798" y="2992"/>
                    </a:lnTo>
                    <a:lnTo>
                      <a:pt x="14457" y="3044"/>
                    </a:lnTo>
                    <a:lnTo>
                      <a:pt x="14116" y="3110"/>
                    </a:lnTo>
                    <a:lnTo>
                      <a:pt x="13788" y="3175"/>
                    </a:lnTo>
                    <a:lnTo>
                      <a:pt x="13460" y="3254"/>
                    </a:lnTo>
                    <a:lnTo>
                      <a:pt x="13145" y="3333"/>
                    </a:lnTo>
                    <a:lnTo>
                      <a:pt x="12830" y="3425"/>
                    </a:lnTo>
                    <a:lnTo>
                      <a:pt x="12516" y="3517"/>
                    </a:lnTo>
                    <a:lnTo>
                      <a:pt x="12214" y="3622"/>
                    </a:lnTo>
                    <a:lnTo>
                      <a:pt x="11925" y="3726"/>
                    </a:lnTo>
                    <a:lnTo>
                      <a:pt x="11637" y="3845"/>
                    </a:lnTo>
                    <a:lnTo>
                      <a:pt x="11348" y="3963"/>
                    </a:lnTo>
                    <a:lnTo>
                      <a:pt x="11072" y="4094"/>
                    </a:lnTo>
                    <a:lnTo>
                      <a:pt x="10810" y="4238"/>
                    </a:lnTo>
                    <a:lnTo>
                      <a:pt x="10548" y="4382"/>
                    </a:lnTo>
                    <a:lnTo>
                      <a:pt x="10285" y="4527"/>
                    </a:lnTo>
                    <a:lnTo>
                      <a:pt x="10036" y="4684"/>
                    </a:lnTo>
                    <a:lnTo>
                      <a:pt x="9800" y="4842"/>
                    </a:lnTo>
                    <a:lnTo>
                      <a:pt x="9551" y="5012"/>
                    </a:lnTo>
                    <a:lnTo>
                      <a:pt x="9328" y="5183"/>
                    </a:lnTo>
                    <a:lnTo>
                      <a:pt x="9105" y="5366"/>
                    </a:lnTo>
                    <a:lnTo>
                      <a:pt x="8882" y="5550"/>
                    </a:lnTo>
                    <a:lnTo>
                      <a:pt x="8672" y="5747"/>
                    </a:lnTo>
                    <a:lnTo>
                      <a:pt x="8462" y="5944"/>
                    </a:lnTo>
                    <a:lnTo>
                      <a:pt x="8252" y="6154"/>
                    </a:lnTo>
                    <a:lnTo>
                      <a:pt x="8068" y="6363"/>
                    </a:lnTo>
                    <a:lnTo>
                      <a:pt x="7871" y="6586"/>
                    </a:lnTo>
                    <a:lnTo>
                      <a:pt x="7688" y="6809"/>
                    </a:lnTo>
                    <a:lnTo>
                      <a:pt x="7517" y="7032"/>
                    </a:lnTo>
                    <a:lnTo>
                      <a:pt x="7347" y="7269"/>
                    </a:lnTo>
                    <a:lnTo>
                      <a:pt x="7176" y="7505"/>
                    </a:lnTo>
                    <a:lnTo>
                      <a:pt x="7019" y="7754"/>
                    </a:lnTo>
                    <a:lnTo>
                      <a:pt x="6874" y="8003"/>
                    </a:lnTo>
                    <a:lnTo>
                      <a:pt x="6730" y="8266"/>
                    </a:lnTo>
                    <a:lnTo>
                      <a:pt x="6586" y="8515"/>
                    </a:lnTo>
                    <a:lnTo>
                      <a:pt x="6323" y="9066"/>
                    </a:lnTo>
                    <a:lnTo>
                      <a:pt x="6087" y="9617"/>
                    </a:lnTo>
                    <a:lnTo>
                      <a:pt x="5877" y="10194"/>
                    </a:lnTo>
                    <a:lnTo>
                      <a:pt x="5681" y="10798"/>
                    </a:lnTo>
                    <a:lnTo>
                      <a:pt x="5523" y="11414"/>
                    </a:lnTo>
                    <a:lnTo>
                      <a:pt x="5379" y="12057"/>
                    </a:lnTo>
                    <a:lnTo>
                      <a:pt x="5261" y="12713"/>
                    </a:lnTo>
                    <a:lnTo>
                      <a:pt x="5169" y="13395"/>
                    </a:lnTo>
                    <a:lnTo>
                      <a:pt x="5090" y="14077"/>
                    </a:lnTo>
                    <a:lnTo>
                      <a:pt x="5051" y="14799"/>
                    </a:lnTo>
                    <a:lnTo>
                      <a:pt x="5025" y="15520"/>
                    </a:lnTo>
                    <a:lnTo>
                      <a:pt x="5025" y="16255"/>
                    </a:lnTo>
                    <a:lnTo>
                      <a:pt x="5051" y="17016"/>
                    </a:lnTo>
                    <a:lnTo>
                      <a:pt x="5025" y="17803"/>
                    </a:lnTo>
                    <a:lnTo>
                      <a:pt x="4985" y="18577"/>
                    </a:lnTo>
                    <a:lnTo>
                      <a:pt x="4920" y="19351"/>
                    </a:lnTo>
                    <a:lnTo>
                      <a:pt x="4841" y="20112"/>
                    </a:lnTo>
                    <a:lnTo>
                      <a:pt x="4736" y="20873"/>
                    </a:lnTo>
                    <a:lnTo>
                      <a:pt x="4618" y="21634"/>
                    </a:lnTo>
                    <a:lnTo>
                      <a:pt x="4461" y="22382"/>
                    </a:lnTo>
                    <a:lnTo>
                      <a:pt x="4303" y="23130"/>
                    </a:lnTo>
                    <a:lnTo>
                      <a:pt x="4106" y="23877"/>
                    </a:lnTo>
                    <a:lnTo>
                      <a:pt x="3896" y="24612"/>
                    </a:lnTo>
                    <a:lnTo>
                      <a:pt x="3673" y="25334"/>
                    </a:lnTo>
                    <a:lnTo>
                      <a:pt x="3424" y="26068"/>
                    </a:lnTo>
                    <a:lnTo>
                      <a:pt x="3149" y="26790"/>
                    </a:lnTo>
                    <a:lnTo>
                      <a:pt x="2860" y="27498"/>
                    </a:lnTo>
                    <a:lnTo>
                      <a:pt x="2545" y="28220"/>
                    </a:lnTo>
                    <a:lnTo>
                      <a:pt x="2204" y="28928"/>
                    </a:lnTo>
                    <a:lnTo>
                      <a:pt x="2020" y="29309"/>
                    </a:lnTo>
                    <a:lnTo>
                      <a:pt x="1811" y="29715"/>
                    </a:lnTo>
                    <a:lnTo>
                      <a:pt x="1338" y="30594"/>
                    </a:lnTo>
                    <a:lnTo>
                      <a:pt x="1102" y="31067"/>
                    </a:lnTo>
                    <a:lnTo>
                      <a:pt x="879" y="31552"/>
                    </a:lnTo>
                    <a:lnTo>
                      <a:pt x="656" y="32050"/>
                    </a:lnTo>
                    <a:lnTo>
                      <a:pt x="459" y="32549"/>
                    </a:lnTo>
                    <a:lnTo>
                      <a:pt x="289" y="33047"/>
                    </a:lnTo>
                    <a:lnTo>
                      <a:pt x="223" y="33310"/>
                    </a:lnTo>
                    <a:lnTo>
                      <a:pt x="158" y="33559"/>
                    </a:lnTo>
                    <a:lnTo>
                      <a:pt x="105" y="33808"/>
                    </a:lnTo>
                    <a:lnTo>
                      <a:pt x="53" y="34058"/>
                    </a:lnTo>
                    <a:lnTo>
                      <a:pt x="26" y="34307"/>
                    </a:lnTo>
                    <a:lnTo>
                      <a:pt x="13" y="34556"/>
                    </a:lnTo>
                    <a:lnTo>
                      <a:pt x="0" y="34792"/>
                    </a:lnTo>
                    <a:lnTo>
                      <a:pt x="13" y="35042"/>
                    </a:lnTo>
                    <a:lnTo>
                      <a:pt x="39" y="35278"/>
                    </a:lnTo>
                    <a:lnTo>
                      <a:pt x="79" y="35501"/>
                    </a:lnTo>
                    <a:lnTo>
                      <a:pt x="144" y="35737"/>
                    </a:lnTo>
                    <a:lnTo>
                      <a:pt x="210" y="35960"/>
                    </a:lnTo>
                    <a:lnTo>
                      <a:pt x="315" y="36183"/>
                    </a:lnTo>
                    <a:lnTo>
                      <a:pt x="420" y="36393"/>
                    </a:lnTo>
                    <a:lnTo>
                      <a:pt x="538" y="36563"/>
                    </a:lnTo>
                    <a:lnTo>
                      <a:pt x="656" y="36734"/>
                    </a:lnTo>
                    <a:lnTo>
                      <a:pt x="787" y="36891"/>
                    </a:lnTo>
                    <a:lnTo>
                      <a:pt x="932" y="37036"/>
                    </a:lnTo>
                    <a:lnTo>
                      <a:pt x="1089" y="37180"/>
                    </a:lnTo>
                    <a:lnTo>
                      <a:pt x="1246" y="37311"/>
                    </a:lnTo>
                    <a:lnTo>
                      <a:pt x="1417" y="37429"/>
                    </a:lnTo>
                    <a:lnTo>
                      <a:pt x="1587" y="37547"/>
                    </a:lnTo>
                    <a:lnTo>
                      <a:pt x="1771" y="37652"/>
                    </a:lnTo>
                    <a:lnTo>
                      <a:pt x="1968" y="37757"/>
                    </a:lnTo>
                    <a:lnTo>
                      <a:pt x="2152" y="37849"/>
                    </a:lnTo>
                    <a:lnTo>
                      <a:pt x="2362" y="37928"/>
                    </a:lnTo>
                    <a:lnTo>
                      <a:pt x="2558" y="38006"/>
                    </a:lnTo>
                    <a:lnTo>
                      <a:pt x="2768" y="38072"/>
                    </a:lnTo>
                    <a:lnTo>
                      <a:pt x="3201" y="38190"/>
                    </a:lnTo>
                    <a:lnTo>
                      <a:pt x="3634" y="38269"/>
                    </a:lnTo>
                    <a:lnTo>
                      <a:pt x="4080" y="38334"/>
                    </a:lnTo>
                    <a:lnTo>
                      <a:pt x="4513" y="38374"/>
                    </a:lnTo>
                    <a:lnTo>
                      <a:pt x="4959" y="38374"/>
                    </a:lnTo>
                    <a:lnTo>
                      <a:pt x="5379" y="38361"/>
                    </a:lnTo>
                    <a:lnTo>
                      <a:pt x="5799" y="38334"/>
                    </a:lnTo>
                    <a:lnTo>
                      <a:pt x="6205" y="38282"/>
                    </a:lnTo>
                    <a:lnTo>
                      <a:pt x="6573" y="38203"/>
                    </a:lnTo>
                    <a:lnTo>
                      <a:pt x="6874" y="38125"/>
                    </a:lnTo>
                    <a:lnTo>
                      <a:pt x="7163" y="38033"/>
                    </a:lnTo>
                    <a:lnTo>
                      <a:pt x="7452" y="37941"/>
                    </a:lnTo>
                    <a:lnTo>
                      <a:pt x="7727" y="37836"/>
                    </a:lnTo>
                    <a:lnTo>
                      <a:pt x="7990" y="37705"/>
                    </a:lnTo>
                    <a:lnTo>
                      <a:pt x="8252" y="37574"/>
                    </a:lnTo>
                    <a:lnTo>
                      <a:pt x="8514" y="37442"/>
                    </a:lnTo>
                    <a:lnTo>
                      <a:pt x="8764" y="37285"/>
                    </a:lnTo>
                    <a:lnTo>
                      <a:pt x="8987" y="37521"/>
                    </a:lnTo>
                    <a:lnTo>
                      <a:pt x="9236" y="37731"/>
                    </a:lnTo>
                    <a:lnTo>
                      <a:pt x="9472" y="37928"/>
                    </a:lnTo>
                    <a:lnTo>
                      <a:pt x="9721" y="38111"/>
                    </a:lnTo>
                    <a:lnTo>
                      <a:pt x="9984" y="38282"/>
                    </a:lnTo>
                    <a:lnTo>
                      <a:pt x="10246" y="38426"/>
                    </a:lnTo>
                    <a:lnTo>
                      <a:pt x="10522" y="38571"/>
                    </a:lnTo>
                    <a:lnTo>
                      <a:pt x="10784" y="38689"/>
                    </a:lnTo>
                    <a:lnTo>
                      <a:pt x="11059" y="38794"/>
                    </a:lnTo>
                    <a:lnTo>
                      <a:pt x="11348" y="38885"/>
                    </a:lnTo>
                    <a:lnTo>
                      <a:pt x="11637" y="38951"/>
                    </a:lnTo>
                    <a:lnTo>
                      <a:pt x="11925" y="39017"/>
                    </a:lnTo>
                    <a:lnTo>
                      <a:pt x="12214" y="39056"/>
                    </a:lnTo>
                    <a:lnTo>
                      <a:pt x="12502" y="39095"/>
                    </a:lnTo>
                    <a:lnTo>
                      <a:pt x="12791" y="39108"/>
                    </a:lnTo>
                    <a:lnTo>
                      <a:pt x="13093" y="39122"/>
                    </a:lnTo>
                    <a:lnTo>
                      <a:pt x="13395" y="39108"/>
                    </a:lnTo>
                    <a:lnTo>
                      <a:pt x="13683" y="39095"/>
                    </a:lnTo>
                    <a:lnTo>
                      <a:pt x="13985" y="39056"/>
                    </a:lnTo>
                    <a:lnTo>
                      <a:pt x="14274" y="39017"/>
                    </a:lnTo>
                    <a:lnTo>
                      <a:pt x="14575" y="38951"/>
                    </a:lnTo>
                    <a:lnTo>
                      <a:pt x="14877" y="38885"/>
                    </a:lnTo>
                    <a:lnTo>
                      <a:pt x="15166" y="38807"/>
                    </a:lnTo>
                    <a:lnTo>
                      <a:pt x="15454" y="38715"/>
                    </a:lnTo>
                    <a:lnTo>
                      <a:pt x="15743" y="38623"/>
                    </a:lnTo>
                    <a:lnTo>
                      <a:pt x="16031" y="38505"/>
                    </a:lnTo>
                    <a:lnTo>
                      <a:pt x="16320" y="38387"/>
                    </a:lnTo>
                    <a:lnTo>
                      <a:pt x="16596" y="38256"/>
                    </a:lnTo>
                    <a:lnTo>
                      <a:pt x="16871" y="38111"/>
                    </a:lnTo>
                    <a:lnTo>
                      <a:pt x="17133" y="37967"/>
                    </a:lnTo>
                    <a:lnTo>
                      <a:pt x="17409" y="37810"/>
                    </a:lnTo>
                    <a:lnTo>
                      <a:pt x="17671" y="37639"/>
                    </a:lnTo>
                    <a:lnTo>
                      <a:pt x="17684" y="37652"/>
                    </a:lnTo>
                    <a:lnTo>
                      <a:pt x="17881" y="37757"/>
                    </a:lnTo>
                    <a:lnTo>
                      <a:pt x="18078" y="37862"/>
                    </a:lnTo>
                    <a:lnTo>
                      <a:pt x="18275" y="37954"/>
                    </a:lnTo>
                    <a:lnTo>
                      <a:pt x="18485" y="38046"/>
                    </a:lnTo>
                    <a:lnTo>
                      <a:pt x="18681" y="38111"/>
                    </a:lnTo>
                    <a:lnTo>
                      <a:pt x="18891" y="38190"/>
                    </a:lnTo>
                    <a:lnTo>
                      <a:pt x="19088" y="38243"/>
                    </a:lnTo>
                    <a:lnTo>
                      <a:pt x="19298" y="38295"/>
                    </a:lnTo>
                    <a:lnTo>
                      <a:pt x="19705" y="38374"/>
                    </a:lnTo>
                    <a:lnTo>
                      <a:pt x="20125" y="38426"/>
                    </a:lnTo>
                    <a:lnTo>
                      <a:pt x="20531" y="38453"/>
                    </a:lnTo>
                    <a:lnTo>
                      <a:pt x="20951" y="38439"/>
                    </a:lnTo>
                    <a:lnTo>
                      <a:pt x="21358" y="38400"/>
                    </a:lnTo>
                    <a:lnTo>
                      <a:pt x="21751" y="38321"/>
                    </a:lnTo>
                    <a:lnTo>
                      <a:pt x="22145" y="38216"/>
                    </a:lnTo>
                    <a:lnTo>
                      <a:pt x="22538" y="38085"/>
                    </a:lnTo>
                    <a:lnTo>
                      <a:pt x="22919" y="37928"/>
                    </a:lnTo>
                    <a:lnTo>
                      <a:pt x="23103" y="37836"/>
                    </a:lnTo>
                    <a:lnTo>
                      <a:pt x="23273" y="37731"/>
                    </a:lnTo>
                    <a:lnTo>
                      <a:pt x="23457" y="37626"/>
                    </a:lnTo>
                    <a:lnTo>
                      <a:pt x="23627" y="37508"/>
                    </a:lnTo>
                    <a:lnTo>
                      <a:pt x="23798" y="37390"/>
                    </a:lnTo>
                    <a:lnTo>
                      <a:pt x="23968" y="37259"/>
                    </a:lnTo>
                    <a:lnTo>
                      <a:pt x="24244" y="37429"/>
                    </a:lnTo>
                    <a:lnTo>
                      <a:pt x="24533" y="37587"/>
                    </a:lnTo>
                    <a:lnTo>
                      <a:pt x="24834" y="37731"/>
                    </a:lnTo>
                    <a:lnTo>
                      <a:pt x="25149" y="37875"/>
                    </a:lnTo>
                    <a:lnTo>
                      <a:pt x="25477" y="38006"/>
                    </a:lnTo>
                    <a:lnTo>
                      <a:pt x="25805" y="38125"/>
                    </a:lnTo>
                    <a:lnTo>
                      <a:pt x="26159" y="38243"/>
                    </a:lnTo>
                    <a:lnTo>
                      <a:pt x="26514" y="38334"/>
                    </a:lnTo>
                    <a:lnTo>
                      <a:pt x="26868" y="38426"/>
                    </a:lnTo>
                    <a:lnTo>
                      <a:pt x="27222" y="38492"/>
                    </a:lnTo>
                    <a:lnTo>
                      <a:pt x="27589" y="38557"/>
                    </a:lnTo>
                    <a:lnTo>
                      <a:pt x="27957" y="38597"/>
                    </a:lnTo>
                    <a:lnTo>
                      <a:pt x="28311" y="38623"/>
                    </a:lnTo>
                    <a:lnTo>
                      <a:pt x="28678" y="38636"/>
                    </a:lnTo>
                    <a:lnTo>
                      <a:pt x="29032" y="38636"/>
                    </a:lnTo>
                    <a:lnTo>
                      <a:pt x="29387" y="38610"/>
                    </a:lnTo>
                    <a:lnTo>
                      <a:pt x="29728" y="38571"/>
                    </a:lnTo>
                    <a:lnTo>
                      <a:pt x="30056" y="38505"/>
                    </a:lnTo>
                    <a:lnTo>
                      <a:pt x="30384" y="38426"/>
                    </a:lnTo>
                    <a:lnTo>
                      <a:pt x="30698" y="38334"/>
                    </a:lnTo>
                    <a:lnTo>
                      <a:pt x="30987" y="38203"/>
                    </a:lnTo>
                    <a:lnTo>
                      <a:pt x="31276" y="38059"/>
                    </a:lnTo>
                    <a:lnTo>
                      <a:pt x="31538" y="37902"/>
                    </a:lnTo>
                    <a:lnTo>
                      <a:pt x="31787" y="37705"/>
                    </a:lnTo>
                    <a:lnTo>
                      <a:pt x="31905" y="37600"/>
                    </a:lnTo>
                    <a:lnTo>
                      <a:pt x="32023" y="37495"/>
                    </a:lnTo>
                    <a:lnTo>
                      <a:pt x="32128" y="37377"/>
                    </a:lnTo>
                    <a:lnTo>
                      <a:pt x="32233" y="37246"/>
                    </a:lnTo>
                    <a:lnTo>
                      <a:pt x="32325" y="37128"/>
                    </a:lnTo>
                    <a:lnTo>
                      <a:pt x="32417" y="36983"/>
                    </a:lnTo>
                    <a:lnTo>
                      <a:pt x="32496" y="36839"/>
                    </a:lnTo>
                    <a:lnTo>
                      <a:pt x="32574" y="36695"/>
                    </a:lnTo>
                    <a:lnTo>
                      <a:pt x="32640" y="36537"/>
                    </a:lnTo>
                    <a:lnTo>
                      <a:pt x="32706" y="36380"/>
                    </a:lnTo>
                    <a:lnTo>
                      <a:pt x="32758" y="36209"/>
                    </a:lnTo>
                    <a:lnTo>
                      <a:pt x="32811" y="36026"/>
                    </a:lnTo>
                    <a:lnTo>
                      <a:pt x="32850" y="35842"/>
                    </a:lnTo>
                    <a:lnTo>
                      <a:pt x="32889" y="35645"/>
                    </a:lnTo>
                    <a:lnTo>
                      <a:pt x="32916" y="35448"/>
                    </a:lnTo>
                    <a:lnTo>
                      <a:pt x="32942" y="35238"/>
                    </a:lnTo>
                    <a:lnTo>
                      <a:pt x="32942" y="35002"/>
                    </a:lnTo>
                    <a:lnTo>
                      <a:pt x="32942" y="34779"/>
                    </a:lnTo>
                    <a:lnTo>
                      <a:pt x="32942" y="34543"/>
                    </a:lnTo>
                    <a:lnTo>
                      <a:pt x="32916" y="34320"/>
                    </a:lnTo>
                    <a:lnTo>
                      <a:pt x="32889" y="34097"/>
                    </a:lnTo>
                    <a:lnTo>
                      <a:pt x="32850" y="33887"/>
                    </a:lnTo>
                    <a:lnTo>
                      <a:pt x="32811" y="33664"/>
                    </a:lnTo>
                    <a:lnTo>
                      <a:pt x="32758" y="33454"/>
                    </a:lnTo>
                    <a:lnTo>
                      <a:pt x="32627" y="33021"/>
                    </a:lnTo>
                    <a:lnTo>
                      <a:pt x="32470" y="32615"/>
                    </a:lnTo>
                    <a:lnTo>
                      <a:pt x="32286" y="32208"/>
                    </a:lnTo>
                    <a:lnTo>
                      <a:pt x="32089" y="31801"/>
                    </a:lnTo>
                    <a:lnTo>
                      <a:pt x="31879" y="31408"/>
                    </a:lnTo>
                    <a:lnTo>
                      <a:pt x="31656" y="31014"/>
                    </a:lnTo>
                    <a:lnTo>
                      <a:pt x="31197" y="30240"/>
                    </a:lnTo>
                    <a:lnTo>
                      <a:pt x="30751" y="29453"/>
                    </a:lnTo>
                    <a:lnTo>
                      <a:pt x="30528" y="29059"/>
                    </a:lnTo>
                    <a:lnTo>
                      <a:pt x="30318" y="28666"/>
                    </a:lnTo>
                    <a:lnTo>
                      <a:pt x="30174" y="28351"/>
                    </a:lnTo>
                    <a:lnTo>
                      <a:pt x="30029" y="28023"/>
                    </a:lnTo>
                    <a:lnTo>
                      <a:pt x="29898" y="27695"/>
                    </a:lnTo>
                    <a:lnTo>
                      <a:pt x="29767" y="27367"/>
                    </a:lnTo>
                    <a:lnTo>
                      <a:pt x="29636" y="26960"/>
                    </a:lnTo>
                    <a:lnTo>
                      <a:pt x="29518" y="26540"/>
                    </a:lnTo>
                    <a:lnTo>
                      <a:pt x="29413" y="26108"/>
                    </a:lnTo>
                    <a:lnTo>
                      <a:pt x="29321" y="25661"/>
                    </a:lnTo>
                    <a:lnTo>
                      <a:pt x="29242" y="25215"/>
                    </a:lnTo>
                    <a:lnTo>
                      <a:pt x="29177" y="24756"/>
                    </a:lnTo>
                    <a:lnTo>
                      <a:pt x="29111" y="24297"/>
                    </a:lnTo>
                    <a:lnTo>
                      <a:pt x="29072" y="23825"/>
                    </a:lnTo>
                    <a:lnTo>
                      <a:pt x="29032" y="23366"/>
                    </a:lnTo>
                    <a:lnTo>
                      <a:pt x="29006" y="22893"/>
                    </a:lnTo>
                    <a:lnTo>
                      <a:pt x="28967" y="21962"/>
                    </a:lnTo>
                    <a:lnTo>
                      <a:pt x="28954" y="21057"/>
                    </a:lnTo>
                    <a:lnTo>
                      <a:pt x="28941" y="20178"/>
                    </a:lnTo>
                    <a:lnTo>
                      <a:pt x="28954" y="19496"/>
                    </a:lnTo>
                    <a:lnTo>
                      <a:pt x="28980" y="18840"/>
                    </a:lnTo>
                    <a:lnTo>
                      <a:pt x="29019" y="18184"/>
                    </a:lnTo>
                    <a:lnTo>
                      <a:pt x="29072" y="17554"/>
                    </a:lnTo>
                    <a:lnTo>
                      <a:pt x="29177" y="16268"/>
                    </a:lnTo>
                    <a:lnTo>
                      <a:pt x="29216" y="15639"/>
                    </a:lnTo>
                    <a:lnTo>
                      <a:pt x="29255" y="14996"/>
                    </a:lnTo>
                    <a:lnTo>
                      <a:pt x="29255" y="14340"/>
                    </a:lnTo>
                    <a:lnTo>
                      <a:pt x="29242" y="13671"/>
                    </a:lnTo>
                    <a:lnTo>
                      <a:pt x="29216" y="13330"/>
                    </a:lnTo>
                    <a:lnTo>
                      <a:pt x="29190" y="12975"/>
                    </a:lnTo>
                    <a:lnTo>
                      <a:pt x="29150" y="12634"/>
                    </a:lnTo>
                    <a:lnTo>
                      <a:pt x="29098" y="12280"/>
                    </a:lnTo>
                    <a:lnTo>
                      <a:pt x="29032" y="11913"/>
                    </a:lnTo>
                    <a:lnTo>
                      <a:pt x="28967" y="11545"/>
                    </a:lnTo>
                    <a:lnTo>
                      <a:pt x="28875" y="11165"/>
                    </a:lnTo>
                    <a:lnTo>
                      <a:pt x="28783" y="10785"/>
                    </a:lnTo>
                    <a:lnTo>
                      <a:pt x="28678" y="10391"/>
                    </a:lnTo>
                    <a:lnTo>
                      <a:pt x="28547" y="9997"/>
                    </a:lnTo>
                    <a:lnTo>
                      <a:pt x="28403" y="9591"/>
                    </a:lnTo>
                    <a:lnTo>
                      <a:pt x="28245" y="9171"/>
                    </a:lnTo>
                    <a:lnTo>
                      <a:pt x="28140" y="8935"/>
                    </a:lnTo>
                    <a:lnTo>
                      <a:pt x="28035" y="8685"/>
                    </a:lnTo>
                    <a:lnTo>
                      <a:pt x="27904" y="8462"/>
                    </a:lnTo>
                    <a:lnTo>
                      <a:pt x="27773" y="8226"/>
                    </a:lnTo>
                    <a:lnTo>
                      <a:pt x="27629" y="8016"/>
                    </a:lnTo>
                    <a:lnTo>
                      <a:pt x="27484" y="7807"/>
                    </a:lnTo>
                    <a:lnTo>
                      <a:pt x="27327" y="7597"/>
                    </a:lnTo>
                    <a:lnTo>
                      <a:pt x="27169" y="7400"/>
                    </a:lnTo>
                    <a:lnTo>
                      <a:pt x="26841" y="7032"/>
                    </a:lnTo>
                    <a:lnTo>
                      <a:pt x="26514" y="6691"/>
                    </a:lnTo>
                    <a:lnTo>
                      <a:pt x="26172" y="6377"/>
                    </a:lnTo>
                    <a:lnTo>
                      <a:pt x="25831" y="6088"/>
                    </a:lnTo>
                    <a:lnTo>
                      <a:pt x="25503" y="5839"/>
                    </a:lnTo>
                    <a:lnTo>
                      <a:pt x="25202" y="5629"/>
                    </a:lnTo>
                    <a:lnTo>
                      <a:pt x="24926" y="5445"/>
                    </a:lnTo>
                    <a:lnTo>
                      <a:pt x="24690" y="5288"/>
                    </a:lnTo>
                    <a:lnTo>
                      <a:pt x="24336" y="5091"/>
                    </a:lnTo>
                    <a:lnTo>
                      <a:pt x="24191" y="5025"/>
                    </a:lnTo>
                    <a:lnTo>
                      <a:pt x="24244" y="4789"/>
                    </a:lnTo>
                    <a:lnTo>
                      <a:pt x="24270" y="4553"/>
                    </a:lnTo>
                    <a:lnTo>
                      <a:pt x="24270" y="4304"/>
                    </a:lnTo>
                    <a:lnTo>
                      <a:pt x="24244" y="4068"/>
                    </a:lnTo>
                    <a:lnTo>
                      <a:pt x="24205" y="3831"/>
                    </a:lnTo>
                    <a:lnTo>
                      <a:pt x="24126" y="3608"/>
                    </a:lnTo>
                    <a:lnTo>
                      <a:pt x="24034" y="3385"/>
                    </a:lnTo>
                    <a:lnTo>
                      <a:pt x="23916" y="3175"/>
                    </a:lnTo>
                    <a:lnTo>
                      <a:pt x="23772" y="2992"/>
                    </a:lnTo>
                    <a:lnTo>
                      <a:pt x="23614" y="2821"/>
                    </a:lnTo>
                    <a:lnTo>
                      <a:pt x="23522" y="2743"/>
                    </a:lnTo>
                    <a:lnTo>
                      <a:pt x="23431" y="2664"/>
                    </a:lnTo>
                    <a:lnTo>
                      <a:pt x="23326" y="2598"/>
                    </a:lnTo>
                    <a:lnTo>
                      <a:pt x="23221" y="2546"/>
                    </a:lnTo>
                    <a:lnTo>
                      <a:pt x="23103" y="2493"/>
                    </a:lnTo>
                    <a:lnTo>
                      <a:pt x="22985" y="2441"/>
                    </a:lnTo>
                    <a:lnTo>
                      <a:pt x="22866" y="2401"/>
                    </a:lnTo>
                    <a:lnTo>
                      <a:pt x="22735" y="2375"/>
                    </a:lnTo>
                    <a:lnTo>
                      <a:pt x="22591" y="2349"/>
                    </a:lnTo>
                    <a:lnTo>
                      <a:pt x="22460" y="2336"/>
                    </a:lnTo>
                    <a:lnTo>
                      <a:pt x="22302" y="2323"/>
                    </a:lnTo>
                    <a:lnTo>
                      <a:pt x="22158" y="2336"/>
                    </a:lnTo>
                    <a:lnTo>
                      <a:pt x="22040" y="2349"/>
                    </a:lnTo>
                    <a:lnTo>
                      <a:pt x="21922" y="2362"/>
                    </a:lnTo>
                    <a:lnTo>
                      <a:pt x="21883" y="2126"/>
                    </a:lnTo>
                    <a:lnTo>
                      <a:pt x="21804" y="1890"/>
                    </a:lnTo>
                    <a:lnTo>
                      <a:pt x="21725" y="1654"/>
                    </a:lnTo>
                    <a:lnTo>
                      <a:pt x="21620" y="1431"/>
                    </a:lnTo>
                    <a:lnTo>
                      <a:pt x="21489" y="1221"/>
                    </a:lnTo>
                    <a:lnTo>
                      <a:pt x="21358" y="1024"/>
                    </a:lnTo>
                    <a:lnTo>
                      <a:pt x="21200" y="827"/>
                    </a:lnTo>
                    <a:lnTo>
                      <a:pt x="21030" y="657"/>
                    </a:lnTo>
                    <a:lnTo>
                      <a:pt x="20833" y="499"/>
                    </a:lnTo>
                    <a:lnTo>
                      <a:pt x="20623" y="368"/>
                    </a:lnTo>
                    <a:lnTo>
                      <a:pt x="20400" y="250"/>
                    </a:lnTo>
                    <a:lnTo>
                      <a:pt x="20151" y="145"/>
                    </a:lnTo>
                    <a:lnTo>
                      <a:pt x="19888" y="66"/>
                    </a:lnTo>
                    <a:lnTo>
                      <a:pt x="19613" y="27"/>
                    </a:lnTo>
                    <a:lnTo>
                      <a:pt x="19324" y="1"/>
                    </a:ln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122" name="Google Shape;2451;p45">
                <a:extLst>
                  <a:ext uri="{FF2B5EF4-FFF2-40B4-BE49-F238E27FC236}">
                    <a16:creationId xmlns:a16="http://schemas.microsoft.com/office/drawing/2014/main" id="{8917AE4D-CBCE-E074-45EF-9DBED7862AE7}"/>
                  </a:ext>
                </a:extLst>
              </p:cNvPr>
              <p:cNvSpPr/>
              <p:nvPr/>
            </p:nvSpPr>
            <p:spPr>
              <a:xfrm>
                <a:off x="1989700" y="3428739"/>
                <a:ext cx="395636" cy="44767"/>
              </a:xfrm>
              <a:custGeom>
                <a:avLst/>
                <a:gdLst/>
                <a:ahLst/>
                <a:cxnLst/>
                <a:rect l="l" t="t" r="r" b="b"/>
                <a:pathLst>
                  <a:path w="22041" h="2494" extrusionOk="0">
                    <a:moveTo>
                      <a:pt x="1" y="1"/>
                    </a:moveTo>
                    <a:lnTo>
                      <a:pt x="14" y="250"/>
                    </a:lnTo>
                    <a:lnTo>
                      <a:pt x="53" y="499"/>
                    </a:lnTo>
                    <a:lnTo>
                      <a:pt x="106" y="736"/>
                    </a:lnTo>
                    <a:lnTo>
                      <a:pt x="197" y="972"/>
                    </a:lnTo>
                    <a:lnTo>
                      <a:pt x="302" y="1182"/>
                    </a:lnTo>
                    <a:lnTo>
                      <a:pt x="420" y="1392"/>
                    </a:lnTo>
                    <a:lnTo>
                      <a:pt x="565" y="1588"/>
                    </a:lnTo>
                    <a:lnTo>
                      <a:pt x="735" y="1759"/>
                    </a:lnTo>
                    <a:lnTo>
                      <a:pt x="906" y="1916"/>
                    </a:lnTo>
                    <a:lnTo>
                      <a:pt x="1103" y="2061"/>
                    </a:lnTo>
                    <a:lnTo>
                      <a:pt x="1299" y="2192"/>
                    </a:lnTo>
                    <a:lnTo>
                      <a:pt x="1522" y="2297"/>
                    </a:lnTo>
                    <a:lnTo>
                      <a:pt x="1759" y="2375"/>
                    </a:lnTo>
                    <a:lnTo>
                      <a:pt x="1995" y="2441"/>
                    </a:lnTo>
                    <a:lnTo>
                      <a:pt x="2244" y="2480"/>
                    </a:lnTo>
                    <a:lnTo>
                      <a:pt x="2493" y="2494"/>
                    </a:lnTo>
                    <a:lnTo>
                      <a:pt x="19548" y="2494"/>
                    </a:lnTo>
                    <a:lnTo>
                      <a:pt x="19797" y="2480"/>
                    </a:lnTo>
                    <a:lnTo>
                      <a:pt x="20046" y="2441"/>
                    </a:lnTo>
                    <a:lnTo>
                      <a:pt x="20282" y="2375"/>
                    </a:lnTo>
                    <a:lnTo>
                      <a:pt x="20519" y="2297"/>
                    </a:lnTo>
                    <a:lnTo>
                      <a:pt x="20729" y="2192"/>
                    </a:lnTo>
                    <a:lnTo>
                      <a:pt x="20938" y="2061"/>
                    </a:lnTo>
                    <a:lnTo>
                      <a:pt x="21135" y="1916"/>
                    </a:lnTo>
                    <a:lnTo>
                      <a:pt x="21306" y="1759"/>
                    </a:lnTo>
                    <a:lnTo>
                      <a:pt x="21476" y="1588"/>
                    </a:lnTo>
                    <a:lnTo>
                      <a:pt x="21621" y="1392"/>
                    </a:lnTo>
                    <a:lnTo>
                      <a:pt x="21739" y="1182"/>
                    </a:lnTo>
                    <a:lnTo>
                      <a:pt x="21844" y="972"/>
                    </a:lnTo>
                    <a:lnTo>
                      <a:pt x="21922" y="736"/>
                    </a:lnTo>
                    <a:lnTo>
                      <a:pt x="21988" y="499"/>
                    </a:lnTo>
                    <a:lnTo>
                      <a:pt x="22027" y="250"/>
                    </a:lnTo>
                    <a:lnTo>
                      <a:pt x="22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98" name="Título 1">
            <a:extLst>
              <a:ext uri="{FF2B5EF4-FFF2-40B4-BE49-F238E27FC236}">
                <a16:creationId xmlns:a16="http://schemas.microsoft.com/office/drawing/2014/main" id="{42918CFE-E8BC-170F-EF9A-31A0ED53E2FC}"/>
              </a:ext>
            </a:extLst>
          </p:cNvPr>
          <p:cNvSpPr>
            <a:spLocks noGrp="1"/>
          </p:cNvSpPr>
          <p:nvPr>
            <p:ph type="title"/>
          </p:nvPr>
        </p:nvSpPr>
        <p:spPr>
          <a:xfrm>
            <a:off x="838200" y="908128"/>
            <a:ext cx="10515600" cy="659416"/>
          </a:xfrm>
        </p:spPr>
        <p:txBody>
          <a:bodyPr/>
          <a:lstStyle/>
          <a:p>
            <a:pPr algn="ctr"/>
            <a:r>
              <a:rPr lang="en" sz="3200" b="1" dirty="0">
                <a:latin typeface="Source Sans Pro" panose="020B0503030403020204" pitchFamily="34" charset="0"/>
                <a:ea typeface="Source Sans Pro" panose="020B0503030403020204" pitchFamily="34" charset="0"/>
              </a:rPr>
              <a:t>Project goals: From Sensitivities to Surrogates</a:t>
            </a:r>
          </a:p>
        </p:txBody>
      </p:sp>
      <p:sp>
        <p:nvSpPr>
          <p:cNvPr id="17" name="Google Shape;2329;p45">
            <a:extLst>
              <a:ext uri="{FF2B5EF4-FFF2-40B4-BE49-F238E27FC236}">
                <a16:creationId xmlns:a16="http://schemas.microsoft.com/office/drawing/2014/main" id="{74607976-49A7-1BF8-F2C1-C8FC67485498}"/>
              </a:ext>
            </a:extLst>
          </p:cNvPr>
          <p:cNvSpPr/>
          <p:nvPr/>
        </p:nvSpPr>
        <p:spPr>
          <a:xfrm>
            <a:off x="838200" y="3145584"/>
            <a:ext cx="3578817" cy="3058580"/>
          </a:xfrm>
          <a:prstGeom prst="roundRect">
            <a:avLst>
              <a:gd name="adj" fmla="val 16667"/>
            </a:avLst>
          </a:prstGeom>
          <a:solidFill>
            <a:srgbClr val="008B2E">
              <a:alpha val="12549"/>
            </a:srgbClr>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Arial"/>
              <a:cs typeface="Arial"/>
              <a:sym typeface="Arial"/>
            </a:endParaRPr>
          </a:p>
        </p:txBody>
      </p:sp>
      <p:grpSp>
        <p:nvGrpSpPr>
          <p:cNvPr id="18" name="Google Shape;2334;p45">
            <a:extLst>
              <a:ext uri="{FF2B5EF4-FFF2-40B4-BE49-F238E27FC236}">
                <a16:creationId xmlns:a16="http://schemas.microsoft.com/office/drawing/2014/main" id="{4982A734-CCD3-952E-DBE7-BB7B4BF7F1CA}"/>
              </a:ext>
            </a:extLst>
          </p:cNvPr>
          <p:cNvGrpSpPr/>
          <p:nvPr/>
        </p:nvGrpSpPr>
        <p:grpSpPr>
          <a:xfrm>
            <a:off x="1057346" y="2945836"/>
            <a:ext cx="3271917" cy="3085834"/>
            <a:chOff x="457201" y="3005625"/>
            <a:chExt cx="2069448" cy="1532346"/>
          </a:xfrm>
        </p:grpSpPr>
        <p:sp>
          <p:nvSpPr>
            <p:cNvPr id="19" name="Google Shape;2335;p45">
              <a:extLst>
                <a:ext uri="{FF2B5EF4-FFF2-40B4-BE49-F238E27FC236}">
                  <a16:creationId xmlns:a16="http://schemas.microsoft.com/office/drawing/2014/main" id="{EC0D8457-6A32-C7CA-2E78-D314204D443D}"/>
                </a:ext>
              </a:extLst>
            </p:cNvPr>
            <p:cNvSpPr txBox="1"/>
            <p:nvPr/>
          </p:nvSpPr>
          <p:spPr>
            <a:xfrm>
              <a:off x="457201" y="3416050"/>
              <a:ext cx="2057400" cy="198345"/>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sz="2400" b="1" kern="0" dirty="0">
                  <a:solidFill>
                    <a:srgbClr val="000000"/>
                  </a:solidFill>
                  <a:latin typeface="Fira Sans Extra Condensed"/>
                  <a:ea typeface="Fira Sans Extra Condensed"/>
                  <a:cs typeface="Fira Sans Extra Condensed"/>
                  <a:sym typeface="Fira Sans Extra Condensed"/>
                </a:rPr>
                <a:t>Sensitivity Analysis (SA)</a:t>
              </a:r>
              <a:endParaRPr kumimoji="0"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20" name="Google Shape;2336;p45">
              <a:extLst>
                <a:ext uri="{FF2B5EF4-FFF2-40B4-BE49-F238E27FC236}">
                  <a16:creationId xmlns:a16="http://schemas.microsoft.com/office/drawing/2014/main" id="{AF0A67A7-C606-EE4B-50B8-42D58A359139}"/>
                </a:ext>
              </a:extLst>
            </p:cNvPr>
            <p:cNvSpPr txBox="1"/>
            <p:nvPr/>
          </p:nvSpPr>
          <p:spPr>
            <a:xfrm>
              <a:off x="590473" y="3741868"/>
              <a:ext cx="1936176" cy="796103"/>
            </a:xfrm>
            <a:prstGeom prst="rect">
              <a:avLst/>
            </a:prstGeom>
            <a:noFill/>
            <a:ln>
              <a:noFill/>
            </a:ln>
          </p:spPr>
          <p:txBody>
            <a:bodyPr spcFirstLastPara="1" wrap="square" lIns="91425" tIns="91425" rIns="91425" bIns="91425" anchor="ctr" anchorCtr="0">
              <a:noAutofit/>
            </a:bodyPr>
            <a:lstStyle/>
            <a:p>
              <a:pPr marL="285750" marR="0" lvl="0" indent="-285750" defTabSz="91440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mj-lt"/>
                  <a:ea typeface="Roboto"/>
                  <a:cs typeface="Roboto"/>
                  <a:sym typeface="Roboto"/>
                </a:rPr>
                <a:t>Identify and quantify the </a:t>
              </a:r>
              <a:r>
                <a:rPr kumimoji="0" lang="en-US" b="0" u="none" strike="noStrike" kern="0" cap="none" spc="0" normalizeH="0" baseline="0" noProof="0" dirty="0">
                  <a:ln>
                    <a:noFill/>
                  </a:ln>
                  <a:solidFill>
                    <a:srgbClr val="000000"/>
                  </a:solidFill>
                  <a:effectLst/>
                  <a:uLnTx/>
                  <a:uFillTx/>
                  <a:latin typeface="+mj-lt"/>
                  <a:ea typeface="Roboto"/>
                  <a:cs typeface="Roboto"/>
                  <a:sym typeface="Roboto"/>
                </a:rPr>
                <a:t>influence of input features </a:t>
              </a:r>
              <a:r>
                <a:rPr kumimoji="0" lang="en-US" b="0" i="0" u="none" strike="noStrike" kern="0" cap="none" spc="0" normalizeH="0" baseline="0" noProof="0" dirty="0">
                  <a:ln>
                    <a:noFill/>
                  </a:ln>
                  <a:solidFill>
                    <a:srgbClr val="000000"/>
                  </a:solidFill>
                  <a:effectLst/>
                  <a:uLnTx/>
                  <a:uFillTx/>
                  <a:latin typeface="+mj-lt"/>
                  <a:ea typeface="Roboto"/>
                  <a:cs typeface="Roboto"/>
                  <a:sym typeface="Roboto"/>
                </a:rPr>
                <a:t>on </a:t>
              </a:r>
              <a:r>
                <a:rPr kumimoji="0" lang="en-US" b="0" i="0" u="none" strike="noStrike" kern="0" cap="none" spc="0" normalizeH="0" baseline="0" noProof="0" dirty="0" err="1">
                  <a:ln>
                    <a:noFill/>
                  </a:ln>
                  <a:solidFill>
                    <a:srgbClr val="000000"/>
                  </a:solidFill>
                  <a:effectLst/>
                  <a:uLnTx/>
                  <a:uFillTx/>
                  <a:latin typeface="+mj-lt"/>
                  <a:ea typeface="Roboto"/>
                  <a:cs typeface="Roboto"/>
                  <a:sym typeface="Roboto"/>
                </a:rPr>
                <a:t>AlphaPEM</a:t>
              </a:r>
              <a:endParaRPr lang="en-US" kern="0" dirty="0">
                <a:solidFill>
                  <a:srgbClr val="000000"/>
                </a:solidFill>
                <a:latin typeface="+mj-lt"/>
                <a:ea typeface="Roboto"/>
                <a:cs typeface="Roboto"/>
                <a:sym typeface="Roboto"/>
              </a:endParaRPr>
            </a:p>
            <a:p>
              <a:pPr marL="285750" lvl="0" indent="-285750">
                <a:buClr>
                  <a:srgbClr val="000000"/>
                </a:buClr>
                <a:buFont typeface="Arial" panose="020B0604020202020204" pitchFamily="34" charset="0"/>
                <a:buChar char="•"/>
              </a:pPr>
              <a:r>
                <a:rPr lang="en-US" dirty="0"/>
                <a:t>Select a subset of </a:t>
              </a:r>
              <a:r>
                <a:rPr lang="en-US" b="1" dirty="0">
                  <a:solidFill>
                    <a:srgbClr val="008B2E"/>
                  </a:solidFill>
                </a:rPr>
                <a:t>most influential features</a:t>
              </a:r>
              <a:endParaRPr kumimoji="0" lang="en-US" b="0" i="0" u="none" strike="noStrike" kern="0" cap="none" spc="0" normalizeH="0" baseline="0" noProof="0" dirty="0">
                <a:ln>
                  <a:noFill/>
                </a:ln>
                <a:solidFill>
                  <a:srgbClr val="008B2E"/>
                </a:solidFill>
                <a:effectLst/>
                <a:uLnTx/>
                <a:uFillTx/>
                <a:latin typeface="+mj-lt"/>
                <a:ea typeface="Roboto"/>
                <a:cs typeface="Roboto"/>
                <a:sym typeface="Roboto"/>
              </a:endParaRP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lang="en-US" kern="0" dirty="0">
                <a:solidFill>
                  <a:srgbClr val="000000"/>
                </a:solidFill>
                <a:latin typeface="+mj-lt"/>
                <a:ea typeface="Roboto"/>
                <a:cs typeface="Roboto"/>
                <a:sym typeface="Roboto"/>
              </a:endParaRPr>
            </a:p>
          </p:txBody>
        </p:sp>
        <p:sp>
          <p:nvSpPr>
            <p:cNvPr id="21" name="Google Shape;2337;p45">
              <a:extLst>
                <a:ext uri="{FF2B5EF4-FFF2-40B4-BE49-F238E27FC236}">
                  <a16:creationId xmlns:a16="http://schemas.microsoft.com/office/drawing/2014/main" id="{A17D8633-8CEC-60A1-8617-83E51BE46E75}"/>
                </a:ext>
              </a:extLst>
            </p:cNvPr>
            <p:cNvSpPr/>
            <p:nvPr/>
          </p:nvSpPr>
          <p:spPr>
            <a:xfrm>
              <a:off x="1226100" y="3005625"/>
              <a:ext cx="519600" cy="282953"/>
            </a:xfrm>
            <a:prstGeom prst="roundRect">
              <a:avLst>
                <a:gd name="adj" fmla="val 16667"/>
              </a:avLst>
            </a:prstGeom>
            <a:solidFill>
              <a:srgbClr val="008B2E"/>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01</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grpSp>
      <p:sp>
        <p:nvSpPr>
          <p:cNvPr id="22" name="Google Shape;2329;p45">
            <a:extLst>
              <a:ext uri="{FF2B5EF4-FFF2-40B4-BE49-F238E27FC236}">
                <a16:creationId xmlns:a16="http://schemas.microsoft.com/office/drawing/2014/main" id="{327D8EFB-2093-2BCD-8710-DF876ECEA4DF}"/>
              </a:ext>
            </a:extLst>
          </p:cNvPr>
          <p:cNvSpPr/>
          <p:nvPr/>
        </p:nvSpPr>
        <p:spPr>
          <a:xfrm>
            <a:off x="8091406" y="3206478"/>
            <a:ext cx="3578817" cy="3085834"/>
          </a:xfrm>
          <a:prstGeom prst="roundRect">
            <a:avLst>
              <a:gd name="adj" fmla="val 16667"/>
            </a:avLst>
          </a:prstGeom>
          <a:solidFill>
            <a:srgbClr val="8027EA">
              <a:alpha val="12549"/>
            </a:srgbClr>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Arial"/>
              <a:cs typeface="Arial"/>
              <a:sym typeface="Arial"/>
            </a:endParaRPr>
          </a:p>
        </p:txBody>
      </p:sp>
      <p:grpSp>
        <p:nvGrpSpPr>
          <p:cNvPr id="23" name="Google Shape;2334;p45">
            <a:extLst>
              <a:ext uri="{FF2B5EF4-FFF2-40B4-BE49-F238E27FC236}">
                <a16:creationId xmlns:a16="http://schemas.microsoft.com/office/drawing/2014/main" id="{82FFAAE7-A950-D912-5B77-B92C2E50688B}"/>
              </a:ext>
            </a:extLst>
          </p:cNvPr>
          <p:cNvGrpSpPr/>
          <p:nvPr/>
        </p:nvGrpSpPr>
        <p:grpSpPr>
          <a:xfrm>
            <a:off x="8214380" y="3030568"/>
            <a:ext cx="3252870" cy="3001102"/>
            <a:chOff x="457201" y="3005625"/>
            <a:chExt cx="2057401" cy="1678076"/>
          </a:xfrm>
        </p:grpSpPr>
        <p:sp>
          <p:nvSpPr>
            <p:cNvPr id="24" name="Google Shape;2335;p45">
              <a:extLst>
                <a:ext uri="{FF2B5EF4-FFF2-40B4-BE49-F238E27FC236}">
                  <a16:creationId xmlns:a16="http://schemas.microsoft.com/office/drawing/2014/main" id="{6AB8FCAE-4F4F-8B69-0D53-5CB89B703E65}"/>
                </a:ext>
              </a:extLst>
            </p:cNvPr>
            <p:cNvSpPr txBox="1"/>
            <p:nvPr/>
          </p:nvSpPr>
          <p:spPr>
            <a:xfrm>
              <a:off x="457201" y="3416050"/>
              <a:ext cx="2057400" cy="198345"/>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24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Surrogate</a:t>
              </a:r>
              <a:r>
                <a:rPr kumimoji="0" lang="es-MX"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a:t>
              </a:r>
              <a:r>
                <a:rPr kumimoji="0" lang="es-MX" sz="24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Model</a:t>
              </a:r>
              <a:r>
                <a:rPr kumimoji="0" lang="es-MX"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(SM)</a:t>
              </a:r>
              <a:endParaRPr kumimoji="0"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25" name="Google Shape;2336;p45">
              <a:extLst>
                <a:ext uri="{FF2B5EF4-FFF2-40B4-BE49-F238E27FC236}">
                  <a16:creationId xmlns:a16="http://schemas.microsoft.com/office/drawing/2014/main" id="{1936D60E-7FD2-373E-B404-49F9AD630A33}"/>
                </a:ext>
              </a:extLst>
            </p:cNvPr>
            <p:cNvSpPr txBox="1"/>
            <p:nvPr/>
          </p:nvSpPr>
          <p:spPr>
            <a:xfrm>
              <a:off x="594260" y="3689090"/>
              <a:ext cx="1920342" cy="994611"/>
            </a:xfrm>
            <a:prstGeom prst="rect">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r>
                <a:rPr lang="en-US" kern="0" dirty="0">
                  <a:solidFill>
                    <a:srgbClr val="000000"/>
                  </a:solidFill>
                  <a:latin typeface="+mj-lt"/>
                  <a:ea typeface="Roboto"/>
                  <a:cs typeface="Roboto"/>
                  <a:sym typeface="Roboto"/>
                </a:rPr>
                <a:t>Develop an analytically </a:t>
              </a:r>
              <a:r>
                <a:rPr lang="en-US" b="1" kern="0" dirty="0">
                  <a:solidFill>
                    <a:srgbClr val="8879F5"/>
                  </a:solidFill>
                  <a:latin typeface="+mj-lt"/>
                  <a:ea typeface="Roboto"/>
                  <a:cs typeface="Roboto"/>
                  <a:sym typeface="Roboto"/>
                </a:rPr>
                <a:t>closed-form surrogate model </a:t>
              </a:r>
            </a:p>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lang="en-US" sz="1000" kern="0" dirty="0">
                <a:solidFill>
                  <a:srgbClr val="000000"/>
                </a:solidFill>
                <a:latin typeface="+mj-lt"/>
                <a:ea typeface="Roboto"/>
                <a:cs typeface="Roboto"/>
                <a:sym typeface="Roboto"/>
              </a:endParaRPr>
            </a:p>
            <a:p>
              <a:pPr marL="285750" marR="0" lvl="0" indent="-285750" defTabSz="91440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US" kern="0" dirty="0">
                  <a:solidFill>
                    <a:srgbClr val="000000"/>
                  </a:solidFill>
                  <a:latin typeface="+mj-lt"/>
                  <a:ea typeface="Roboto"/>
                  <a:cs typeface="Roboto"/>
                  <a:sym typeface="Roboto"/>
                </a:rPr>
                <a:t>Uses key features from SA</a:t>
              </a:r>
            </a:p>
            <a:p>
              <a:pPr marL="285750" lvl="0" indent="-285750">
                <a:buClr>
                  <a:srgbClr val="000000"/>
                </a:buClr>
                <a:buFont typeface="Arial" panose="020B0604020202020204" pitchFamily="34" charset="0"/>
                <a:buChar char="•"/>
              </a:pPr>
              <a:r>
                <a:rPr lang="es-CO" dirty="0" err="1"/>
                <a:t>Faithful</a:t>
              </a:r>
              <a:r>
                <a:rPr lang="es-CO" dirty="0"/>
                <a:t> </a:t>
              </a:r>
              <a:r>
                <a:rPr lang="es-CO" dirty="0" err="1"/>
                <a:t>to</a:t>
              </a:r>
              <a:r>
                <a:rPr lang="es-CO" dirty="0"/>
                <a:t> </a:t>
              </a:r>
              <a:r>
                <a:rPr lang="es-CO" dirty="0" err="1"/>
                <a:t>AlphaPEM</a:t>
              </a:r>
              <a:endParaRPr lang="es-CO" dirty="0"/>
            </a:p>
            <a:p>
              <a:pPr marL="285750" lvl="0" indent="-285750">
                <a:buClr>
                  <a:srgbClr val="000000"/>
                </a:buClr>
                <a:buFont typeface="Arial" panose="020B0604020202020204" pitchFamily="34" charset="0"/>
                <a:buChar char="•"/>
              </a:pPr>
              <a:r>
                <a:rPr lang="es-CO" dirty="0"/>
                <a:t>Interpretable and </a:t>
              </a:r>
              <a:r>
                <a:rPr lang="es-CO" dirty="0" err="1"/>
                <a:t>computationally</a:t>
              </a:r>
              <a:r>
                <a:rPr lang="es-CO" dirty="0"/>
                <a:t> </a:t>
              </a:r>
              <a:r>
                <a:rPr lang="es-CO" dirty="0" err="1"/>
                <a:t>efficient</a:t>
              </a:r>
              <a:endParaRPr lang="es-CO" dirty="0"/>
            </a:p>
          </p:txBody>
        </p:sp>
        <p:sp>
          <p:nvSpPr>
            <p:cNvPr id="26" name="Google Shape;2337;p45">
              <a:extLst>
                <a:ext uri="{FF2B5EF4-FFF2-40B4-BE49-F238E27FC236}">
                  <a16:creationId xmlns:a16="http://schemas.microsoft.com/office/drawing/2014/main" id="{626056F3-EA68-6FC3-18AA-54D355B79891}"/>
                </a:ext>
              </a:extLst>
            </p:cNvPr>
            <p:cNvSpPr/>
            <p:nvPr/>
          </p:nvSpPr>
          <p:spPr>
            <a:xfrm>
              <a:off x="1226100" y="3005625"/>
              <a:ext cx="519600" cy="371400"/>
            </a:xfrm>
            <a:prstGeom prst="roundRect">
              <a:avLst>
                <a:gd name="adj" fmla="val 16667"/>
              </a:avLst>
            </a:prstGeom>
            <a:solidFill>
              <a:srgbClr val="6350F2"/>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a:t>
              </a:r>
              <a:r>
                <a:rPr lang="en" b="1" kern="0" dirty="0">
                  <a:solidFill>
                    <a:srgbClr val="FFFFFF"/>
                  </a:solidFill>
                  <a:latin typeface="Fira Sans Extra Condensed"/>
                  <a:ea typeface="Fira Sans Extra Condensed"/>
                  <a:cs typeface="Fira Sans Extra Condensed"/>
                  <a:sym typeface="Fira Sans Extra Condensed"/>
                </a:rPr>
                <a:t>2</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grpSp>
      <p:sp>
        <p:nvSpPr>
          <p:cNvPr id="132" name="CuadroTexto 131">
            <a:extLst>
              <a:ext uri="{FF2B5EF4-FFF2-40B4-BE49-F238E27FC236}">
                <a16:creationId xmlns:a16="http://schemas.microsoft.com/office/drawing/2014/main" id="{9E904656-DFAC-4473-BC5B-E494098938DE}"/>
              </a:ext>
            </a:extLst>
          </p:cNvPr>
          <p:cNvSpPr txBox="1"/>
          <p:nvPr/>
        </p:nvSpPr>
        <p:spPr>
          <a:xfrm>
            <a:off x="1155396" y="1510914"/>
            <a:ext cx="9321293" cy="646331"/>
          </a:xfrm>
          <a:prstGeom prst="rect">
            <a:avLst/>
          </a:prstGeom>
          <a:noFill/>
        </p:spPr>
        <p:txBody>
          <a:bodyPr wrap="square">
            <a:spAutoFit/>
          </a:bodyPr>
          <a:lstStyle/>
          <a:p>
            <a:r>
              <a:rPr lang="es-CO" b="1" dirty="0" err="1"/>
              <a:t>AlphaPEM</a:t>
            </a:r>
            <a:r>
              <a:rPr lang="es-CO" dirty="0"/>
              <a:t> </a:t>
            </a:r>
            <a:r>
              <a:rPr lang="es-CO" dirty="0" err="1"/>
              <a:t>is</a:t>
            </a:r>
            <a:r>
              <a:rPr lang="es-CO" dirty="0"/>
              <a:t> a 1D, </a:t>
            </a:r>
            <a:r>
              <a:rPr lang="es-CO" dirty="0" err="1"/>
              <a:t>physics-based</a:t>
            </a:r>
            <a:r>
              <a:rPr lang="es-CO" dirty="0"/>
              <a:t> PEM fuel </a:t>
            </a:r>
            <a:r>
              <a:rPr lang="es-CO" dirty="0" err="1"/>
              <a:t>cell</a:t>
            </a:r>
            <a:r>
              <a:rPr lang="es-CO" dirty="0"/>
              <a:t> </a:t>
            </a:r>
            <a:r>
              <a:rPr lang="es-CO" dirty="0" err="1"/>
              <a:t>model</a:t>
            </a:r>
            <a:r>
              <a:rPr lang="es-CO" dirty="0"/>
              <a:t> </a:t>
            </a:r>
            <a:r>
              <a:rPr lang="es-CO" dirty="0" err="1"/>
              <a:t>that</a:t>
            </a:r>
            <a:r>
              <a:rPr lang="es-CO" dirty="0"/>
              <a:t> </a:t>
            </a:r>
            <a:r>
              <a:rPr lang="es-CO" dirty="0" err="1"/>
              <a:t>employs</a:t>
            </a:r>
            <a:r>
              <a:rPr lang="es-CO" dirty="0"/>
              <a:t> </a:t>
            </a:r>
            <a:r>
              <a:rPr lang="es-CO" dirty="0" err="1"/>
              <a:t>differential-algebraic</a:t>
            </a:r>
            <a:r>
              <a:rPr lang="es-CO" dirty="0"/>
              <a:t> </a:t>
            </a:r>
            <a:r>
              <a:rPr lang="es-CO" dirty="0" err="1"/>
              <a:t>equations</a:t>
            </a:r>
            <a:r>
              <a:rPr lang="es-CO" dirty="0"/>
              <a:t> (</a:t>
            </a:r>
            <a:r>
              <a:rPr lang="es-CO" dirty="0" err="1"/>
              <a:t>DAEs</a:t>
            </a:r>
            <a:r>
              <a:rPr lang="es-CO" dirty="0"/>
              <a:t>) </a:t>
            </a:r>
            <a:r>
              <a:rPr lang="es-CO" dirty="0" err="1"/>
              <a:t>to</a:t>
            </a:r>
            <a:r>
              <a:rPr lang="es-CO" dirty="0"/>
              <a:t> </a:t>
            </a:r>
            <a:r>
              <a:rPr lang="es-CO" dirty="0" err="1"/>
              <a:t>simulate</a:t>
            </a:r>
            <a:r>
              <a:rPr lang="es-CO" dirty="0"/>
              <a:t> </a:t>
            </a:r>
            <a:r>
              <a:rPr lang="es-CO" dirty="0" err="1"/>
              <a:t>polarization</a:t>
            </a:r>
            <a:r>
              <a:rPr lang="es-CO" dirty="0"/>
              <a:t> </a:t>
            </a:r>
            <a:r>
              <a:rPr lang="es-CO" dirty="0" err="1"/>
              <a:t>behavior</a:t>
            </a:r>
            <a:r>
              <a:rPr lang="es-CO" dirty="0"/>
              <a:t> (</a:t>
            </a:r>
            <a:r>
              <a:rPr lang="es-CO" dirty="0" err="1"/>
              <a:t>the</a:t>
            </a:r>
            <a:r>
              <a:rPr lang="es-CO" dirty="0"/>
              <a:t> </a:t>
            </a:r>
            <a:r>
              <a:rPr lang="es-CO" dirty="0" err="1"/>
              <a:t>current</a:t>
            </a:r>
            <a:r>
              <a:rPr lang="es-CO" dirty="0"/>
              <a:t>–</a:t>
            </a:r>
            <a:r>
              <a:rPr lang="es-CO" dirty="0" err="1"/>
              <a:t>voltage</a:t>
            </a:r>
            <a:r>
              <a:rPr lang="es-CO" dirty="0"/>
              <a:t> </a:t>
            </a:r>
            <a:r>
              <a:rPr lang="es-CO" dirty="0" err="1"/>
              <a:t>relationship</a:t>
            </a:r>
            <a:r>
              <a:rPr lang="es-CO" dirty="0"/>
              <a:t>).</a:t>
            </a:r>
            <a:endParaRPr lang="en" dirty="0"/>
          </a:p>
        </p:txBody>
      </p:sp>
      <p:grpSp>
        <p:nvGrpSpPr>
          <p:cNvPr id="133" name="Grupo 132">
            <a:extLst>
              <a:ext uri="{FF2B5EF4-FFF2-40B4-BE49-F238E27FC236}">
                <a16:creationId xmlns:a16="http://schemas.microsoft.com/office/drawing/2014/main" id="{6C789165-CEB8-4B3B-BF34-B42487801630}"/>
              </a:ext>
            </a:extLst>
          </p:cNvPr>
          <p:cNvGrpSpPr/>
          <p:nvPr/>
        </p:nvGrpSpPr>
        <p:grpSpPr>
          <a:xfrm>
            <a:off x="9145231" y="1803887"/>
            <a:ext cx="1471165" cy="323166"/>
            <a:chOff x="8799863" y="2185901"/>
            <a:chExt cx="1471165" cy="323166"/>
          </a:xfrm>
        </p:grpSpPr>
        <p:sp>
          <p:nvSpPr>
            <p:cNvPr id="134" name="Rectángulo: esquinas redondeadas 133">
              <a:extLst>
                <a:ext uri="{FF2B5EF4-FFF2-40B4-BE49-F238E27FC236}">
                  <a16:creationId xmlns:a16="http://schemas.microsoft.com/office/drawing/2014/main" id="{1A06BD1B-27DF-4EDE-A6DA-3E12E7554BF4}"/>
                </a:ext>
              </a:extLst>
            </p:cNvPr>
            <p:cNvSpPr/>
            <p:nvPr/>
          </p:nvSpPr>
          <p:spPr>
            <a:xfrm>
              <a:off x="8881353" y="2244562"/>
              <a:ext cx="1215958" cy="248130"/>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35" name="Google Shape;1860;p37">
              <a:extLst>
                <a:ext uri="{FF2B5EF4-FFF2-40B4-BE49-F238E27FC236}">
                  <a16:creationId xmlns:a16="http://schemas.microsoft.com/office/drawing/2014/main" id="{4F169E6C-1443-49EE-9BCB-D4F053A43ED4}"/>
                </a:ext>
              </a:extLst>
            </p:cNvPr>
            <p:cNvSpPr/>
            <p:nvPr/>
          </p:nvSpPr>
          <p:spPr bwMode="auto">
            <a:xfrm>
              <a:off x="8799863" y="2185901"/>
              <a:ext cx="1471165" cy="323166"/>
            </a:xfrm>
            <a:prstGeom prst="roundRect">
              <a:avLst>
                <a:gd name="adj" fmla="val 50000"/>
              </a:avLst>
            </a:prstGeom>
            <a:noFill/>
            <a:ln>
              <a:noFill/>
            </a:ln>
          </p:spPr>
          <p:txBody>
            <a:bodyPr spcFirstLastPara="1" wrap="square" lIns="121900" tIns="121900" rIns="121900" bIns="121900" anchor="ctr" anchorCtr="0">
              <a:noAutofit/>
            </a:bodyPr>
            <a:lstStyle/>
            <a:p>
              <a:pPr defTabSz="1219140">
                <a:buClr>
                  <a:srgbClr val="000000"/>
                </a:buClr>
                <a:defRPr/>
              </a:pPr>
              <a:r>
                <a:rPr lang="es-MX" sz="1200" b="1" kern="0" dirty="0" err="1">
                  <a:solidFill>
                    <a:schemeClr val="tx1">
                      <a:lumMod val="65000"/>
                      <a:lumOff val="35000"/>
                    </a:schemeClr>
                  </a:solidFill>
                  <a:cs typeface="Arial"/>
                  <a:sym typeface="Arial"/>
                  <a:hlinkClick r:id="rId3">
                    <a:extLst>
                      <a:ext uri="{A12FA001-AC4F-418D-AE19-62706E023703}">
                        <ahyp:hlinkClr xmlns:ahyp="http://schemas.microsoft.com/office/drawing/2018/hyperlinkcolor" val="tx"/>
                      </a:ext>
                    </a:extLst>
                  </a:hlinkClick>
                </a:rPr>
                <a:t>Gass</a:t>
              </a:r>
              <a:r>
                <a:rPr lang="es-MX" sz="1200" b="1" kern="0" dirty="0">
                  <a:solidFill>
                    <a:schemeClr val="tx1">
                      <a:lumMod val="65000"/>
                      <a:lumOff val="35000"/>
                    </a:schemeClr>
                  </a:solidFill>
                  <a:cs typeface="Arial"/>
                  <a:sym typeface="Arial"/>
                  <a:hlinkClick r:id="rId3">
                    <a:extLst>
                      <a:ext uri="{A12FA001-AC4F-418D-AE19-62706E023703}">
                        <ahyp:hlinkClr xmlns:ahyp="http://schemas.microsoft.com/office/drawing/2018/hyperlinkcolor" val="tx"/>
                      </a:ext>
                    </a:extLst>
                  </a:hlinkClick>
                </a:rPr>
                <a:t> et al, (2025)</a:t>
              </a:r>
              <a:endParaRPr sz="1200" b="1" kern="0" dirty="0">
                <a:solidFill>
                  <a:schemeClr val="tx1">
                    <a:lumMod val="65000"/>
                    <a:lumOff val="35000"/>
                  </a:schemeClr>
                </a:solidFill>
                <a:cs typeface="Arial"/>
                <a:sym typeface="Arial"/>
              </a:endParaRPr>
            </a:p>
          </p:txBody>
        </p:sp>
      </p:grpSp>
    </p:spTree>
    <p:extLst>
      <p:ext uri="{BB962C8B-B14F-4D97-AF65-F5344CB8AC3E}">
        <p14:creationId xmlns:p14="http://schemas.microsoft.com/office/powerpoint/2010/main" val="3528566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A0A49227-957D-8E18-A56A-5CD7F345FB77}"/>
              </a:ext>
            </a:extLst>
          </p:cNvPr>
          <p:cNvSpPr>
            <a:spLocks noGrp="1"/>
          </p:cNvSpPr>
          <p:nvPr>
            <p:ph type="sldNum" sz="quarter" idx="12"/>
          </p:nvPr>
        </p:nvSpPr>
        <p:spPr/>
        <p:txBody>
          <a:bodyPr/>
          <a:lstStyle/>
          <a:p>
            <a:fld id="{B75BC28E-972B-EC47-BE79-29D89D46B9CA}" type="slidenum">
              <a:rPr lang="es-ES_tradnl" smtClean="0">
                <a:solidFill>
                  <a:schemeClr val="bg1"/>
                </a:solidFill>
              </a:rPr>
              <a:pPr/>
              <a:t>6</a:t>
            </a:fld>
            <a:endParaRPr lang="es-ES_tradnl" dirty="0">
              <a:solidFill>
                <a:schemeClr val="bg1"/>
              </a:solidFill>
            </a:endParaRPr>
          </a:p>
        </p:txBody>
      </p:sp>
      <p:sp>
        <p:nvSpPr>
          <p:cNvPr id="5" name="CuadroTexto 4">
            <a:extLst>
              <a:ext uri="{FF2B5EF4-FFF2-40B4-BE49-F238E27FC236}">
                <a16:creationId xmlns:a16="http://schemas.microsoft.com/office/drawing/2014/main" id="{5001BFE3-01A8-CC2B-89C5-BDC4CED63BAD}"/>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6">
            <a:extLst>
              <a:ext uri="{FF2B5EF4-FFF2-40B4-BE49-F238E27FC236}">
                <a16:creationId xmlns:a16="http://schemas.microsoft.com/office/drawing/2014/main" id="{E4ED7FC4-D288-91EF-728D-C378E8A41AD9}"/>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sp>
        <p:nvSpPr>
          <p:cNvPr id="7" name="Título 1">
            <a:extLst>
              <a:ext uri="{FF2B5EF4-FFF2-40B4-BE49-F238E27FC236}">
                <a16:creationId xmlns:a16="http://schemas.microsoft.com/office/drawing/2014/main" id="{D1CE687A-9CF8-BC69-B4FD-65C557A5E26C}"/>
              </a:ext>
            </a:extLst>
          </p:cNvPr>
          <p:cNvSpPr>
            <a:spLocks noGrp="1"/>
          </p:cNvSpPr>
          <p:nvPr>
            <p:ph type="title"/>
          </p:nvPr>
        </p:nvSpPr>
        <p:spPr>
          <a:xfrm>
            <a:off x="838200" y="908128"/>
            <a:ext cx="10515600" cy="659416"/>
          </a:xfrm>
        </p:spPr>
        <p:txBody>
          <a:bodyPr/>
          <a:lstStyle/>
          <a:p>
            <a:pPr algn="ctr"/>
            <a:r>
              <a:rPr lang="en" sz="3200" b="1" dirty="0">
                <a:latin typeface="Source Sans Pro" panose="020B0503030403020204" pitchFamily="34" charset="0"/>
                <a:ea typeface="Source Sans Pro" panose="020B0503030403020204" pitchFamily="34" charset="0"/>
              </a:rPr>
              <a:t>Input-Output framework for AlphaPEM</a:t>
            </a:r>
          </a:p>
        </p:txBody>
      </p:sp>
      <p:grpSp>
        <p:nvGrpSpPr>
          <p:cNvPr id="12" name="Grupo 23">
            <a:extLst>
              <a:ext uri="{FF2B5EF4-FFF2-40B4-BE49-F238E27FC236}">
                <a16:creationId xmlns:a16="http://schemas.microsoft.com/office/drawing/2014/main" id="{77D56640-783A-FB55-0ECA-CBBFCB3DE9FB}"/>
              </a:ext>
            </a:extLst>
          </p:cNvPr>
          <p:cNvGrpSpPr/>
          <p:nvPr/>
        </p:nvGrpSpPr>
        <p:grpSpPr bwMode="auto">
          <a:xfrm>
            <a:off x="1170558" y="1715110"/>
            <a:ext cx="3125900" cy="3995690"/>
            <a:chOff x="468164" y="1181786"/>
            <a:chExt cx="2571833" cy="3469875"/>
          </a:xfrm>
          <a:solidFill>
            <a:srgbClr val="FFC000">
              <a:alpha val="10000"/>
            </a:srgbClr>
          </a:solidFill>
        </p:grpSpPr>
        <p:sp>
          <p:nvSpPr>
            <p:cNvPr id="13" name="Google Shape;1857;p37">
              <a:extLst>
                <a:ext uri="{FF2B5EF4-FFF2-40B4-BE49-F238E27FC236}">
                  <a16:creationId xmlns:a16="http://schemas.microsoft.com/office/drawing/2014/main" id="{E58C1A07-0D36-5179-6A8A-70F2409FCCD5}"/>
                </a:ext>
              </a:extLst>
            </p:cNvPr>
            <p:cNvSpPr/>
            <p:nvPr/>
          </p:nvSpPr>
          <p:spPr bwMode="auto">
            <a:xfrm>
              <a:off x="468165" y="1451261"/>
              <a:ext cx="2509942" cy="3200400"/>
            </a:xfrm>
            <a:prstGeom prst="rect">
              <a:avLst/>
            </a:prstGeom>
            <a:grpFill/>
            <a:ln>
              <a:noFill/>
            </a:ln>
          </p:spPr>
          <p:txBody>
            <a:bodyPr spcFirstLastPara="1" wrap="square" lIns="121900" tIns="121900" rIns="121900" bIns="121900" anchor="ctr" anchorCtr="0">
              <a:noAutofit/>
            </a:bodyPr>
            <a:lstStyle/>
            <a:p>
              <a:pPr defTabSz="1219140">
                <a:buClr>
                  <a:srgbClr val="000000"/>
                </a:buClr>
                <a:defRPr/>
              </a:pPr>
              <a:endParaRPr kern="0" dirty="0">
                <a:solidFill>
                  <a:srgbClr val="000000"/>
                </a:solidFill>
                <a:latin typeface="Arial"/>
                <a:cs typeface="Arial"/>
                <a:sym typeface="Arial"/>
              </a:endParaRPr>
            </a:p>
          </p:txBody>
        </p:sp>
        <p:sp>
          <p:nvSpPr>
            <p:cNvPr id="14" name="Google Shape;1859;p37">
              <a:extLst>
                <a:ext uri="{FF2B5EF4-FFF2-40B4-BE49-F238E27FC236}">
                  <a16:creationId xmlns:a16="http://schemas.microsoft.com/office/drawing/2014/main" id="{DBFA5AD9-E689-E232-5E5C-6878542BFBE3}"/>
                </a:ext>
              </a:extLst>
            </p:cNvPr>
            <p:cNvSpPr/>
            <p:nvPr/>
          </p:nvSpPr>
          <p:spPr bwMode="auto">
            <a:xfrm>
              <a:off x="468164" y="1181786"/>
              <a:ext cx="2571833" cy="560700"/>
            </a:xfrm>
            <a:prstGeom prst="roundRect">
              <a:avLst>
                <a:gd name="adj" fmla="val 50000"/>
              </a:avLst>
            </a:prstGeom>
            <a:solidFill>
              <a:srgbClr val="FFC000"/>
            </a:solidFill>
            <a:ln>
              <a:noFill/>
            </a:ln>
          </p:spPr>
          <p:txBody>
            <a:bodyPr spcFirstLastPara="1" wrap="square" lIns="121900" tIns="121900" rIns="121900" bIns="121900" anchor="ctr" anchorCtr="0">
              <a:noAutofit/>
            </a:bodyPr>
            <a:lstStyle/>
            <a:p>
              <a:pPr defTabSz="1219140">
                <a:buClr>
                  <a:srgbClr val="000000"/>
                </a:buClr>
                <a:defRPr/>
              </a:pPr>
              <a:endParaRPr kern="0">
                <a:solidFill>
                  <a:srgbClr val="000000"/>
                </a:solidFill>
                <a:latin typeface="Arial"/>
                <a:cs typeface="Arial"/>
                <a:sym typeface="Arial"/>
              </a:endParaRPr>
            </a:p>
          </p:txBody>
        </p:sp>
      </p:grpSp>
      <p:grpSp>
        <p:nvGrpSpPr>
          <p:cNvPr id="15" name="Google Shape;1862;p37">
            <a:extLst>
              <a:ext uri="{FF2B5EF4-FFF2-40B4-BE49-F238E27FC236}">
                <a16:creationId xmlns:a16="http://schemas.microsoft.com/office/drawing/2014/main" id="{7A4C6183-0548-9423-CC5D-2C7B7224BD57}"/>
              </a:ext>
            </a:extLst>
          </p:cNvPr>
          <p:cNvGrpSpPr/>
          <p:nvPr/>
        </p:nvGrpSpPr>
        <p:grpSpPr bwMode="auto">
          <a:xfrm>
            <a:off x="1340497" y="1829230"/>
            <a:ext cx="2871278" cy="3753316"/>
            <a:chOff x="556110" y="1374967"/>
            <a:chExt cx="2265585" cy="3139982"/>
          </a:xfrm>
        </p:grpSpPr>
        <p:sp>
          <p:nvSpPr>
            <p:cNvPr id="16" name="Google Shape;1863;p37">
              <a:extLst>
                <a:ext uri="{FF2B5EF4-FFF2-40B4-BE49-F238E27FC236}">
                  <a16:creationId xmlns:a16="http://schemas.microsoft.com/office/drawing/2014/main" id="{B5E7E1DD-6D23-C965-78A6-38C61A211A5E}"/>
                </a:ext>
              </a:extLst>
            </p:cNvPr>
            <p:cNvSpPr txBox="1"/>
            <p:nvPr/>
          </p:nvSpPr>
          <p:spPr bwMode="auto">
            <a:xfrm>
              <a:off x="556110" y="1374967"/>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000" b="1" kern="0" dirty="0">
                  <a:solidFill>
                    <a:srgbClr val="FFFFFF"/>
                  </a:solidFill>
                  <a:latin typeface="Fira Sans Extra Condensed"/>
                  <a:ea typeface="Fira Sans Extra Condensed"/>
                  <a:cs typeface="Fira Sans Extra Condensed"/>
                  <a:sym typeface="Arial"/>
                </a:rPr>
                <a:t>Input features</a:t>
              </a:r>
              <a:endParaRPr sz="2000" b="1" kern="0" dirty="0">
                <a:solidFill>
                  <a:srgbClr val="FFFFFF"/>
                </a:solidFill>
                <a:latin typeface="Fira Sans Extra Condensed"/>
                <a:ea typeface="Fira Sans Extra Condensed"/>
                <a:cs typeface="Fira Sans Extra Condensed"/>
                <a:sym typeface="Arial"/>
              </a:endParaRPr>
            </a:p>
          </p:txBody>
        </p:sp>
        <p:grpSp>
          <p:nvGrpSpPr>
            <p:cNvPr id="17" name="Google Shape;1864;p37">
              <a:extLst>
                <a:ext uri="{FF2B5EF4-FFF2-40B4-BE49-F238E27FC236}">
                  <a16:creationId xmlns:a16="http://schemas.microsoft.com/office/drawing/2014/main" id="{98B2522C-0CD5-6A55-F4F9-CD7FBB454E40}"/>
                </a:ext>
              </a:extLst>
            </p:cNvPr>
            <p:cNvGrpSpPr/>
            <p:nvPr/>
          </p:nvGrpSpPr>
          <p:grpSpPr bwMode="auto">
            <a:xfrm>
              <a:off x="598066" y="1920820"/>
              <a:ext cx="2223629" cy="1158683"/>
              <a:chOff x="604592" y="2248945"/>
              <a:chExt cx="2223629" cy="1158683"/>
            </a:xfrm>
          </p:grpSpPr>
          <p:sp>
            <p:nvSpPr>
              <p:cNvPr id="21" name="Google Shape;1865;p37">
                <a:extLst>
                  <a:ext uri="{FF2B5EF4-FFF2-40B4-BE49-F238E27FC236}">
                    <a16:creationId xmlns:a16="http://schemas.microsoft.com/office/drawing/2014/main" id="{F27FA9A8-4649-E2A7-FF5D-B09DD27DBACE}"/>
                  </a:ext>
                </a:extLst>
              </p:cNvPr>
              <p:cNvSpPr txBox="1"/>
              <p:nvPr/>
            </p:nvSpPr>
            <p:spPr bwMode="auto">
              <a:xfrm>
                <a:off x="695349" y="2248945"/>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b="1" kern="0" dirty="0">
                    <a:solidFill>
                      <a:srgbClr val="000000"/>
                    </a:solidFill>
                    <a:latin typeface="Fira Sans Extra Condensed"/>
                    <a:ea typeface="Fira Sans Extra Condensed"/>
                    <a:cs typeface="Fira Sans Extra Condensed"/>
                    <a:sym typeface="Arial"/>
                  </a:rPr>
                  <a:t>Variable (19)</a:t>
                </a:r>
                <a:endParaRPr b="1" kern="0" dirty="0">
                  <a:solidFill>
                    <a:srgbClr val="000000"/>
                  </a:solidFill>
                  <a:latin typeface="Fira Sans Extra Condensed"/>
                  <a:ea typeface="Fira Sans Extra Condensed"/>
                  <a:cs typeface="Fira Sans Extra Condensed"/>
                  <a:sym typeface="Arial"/>
                </a:endParaRPr>
              </a:p>
            </p:txBody>
          </p:sp>
          <p:sp>
            <p:nvSpPr>
              <p:cNvPr id="22" name="Google Shape;1866;p37">
                <a:extLst>
                  <a:ext uri="{FF2B5EF4-FFF2-40B4-BE49-F238E27FC236}">
                    <a16:creationId xmlns:a16="http://schemas.microsoft.com/office/drawing/2014/main" id="{2C0FD058-5D91-C8C0-F65A-C8E6FFC8A9B2}"/>
                  </a:ext>
                </a:extLst>
              </p:cNvPr>
              <p:cNvSpPr txBox="1"/>
              <p:nvPr/>
            </p:nvSpPr>
            <p:spPr bwMode="auto">
              <a:xfrm>
                <a:off x="604592" y="2550901"/>
                <a:ext cx="2223629"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Operating conditions (7)</a:t>
                </a:r>
                <a:endParaRPr sz="1600" kern="0" dirty="0">
                  <a:solidFill>
                    <a:srgbClr val="000000"/>
                  </a:solidFill>
                  <a:latin typeface="+mj-lt"/>
                  <a:ea typeface="Roboto"/>
                  <a:cs typeface="Roboto"/>
                  <a:sym typeface="Arial"/>
                </a:endParaRPr>
              </a:p>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Undetermined physical parameters (12)</a:t>
                </a:r>
                <a:endParaRPr sz="1600" kern="0" dirty="0">
                  <a:solidFill>
                    <a:srgbClr val="000000"/>
                  </a:solidFill>
                  <a:latin typeface="+mj-lt"/>
                  <a:ea typeface="Roboto"/>
                  <a:cs typeface="Roboto"/>
                  <a:sym typeface="Arial"/>
                </a:endParaRPr>
              </a:p>
            </p:txBody>
          </p:sp>
        </p:grpSp>
        <p:grpSp>
          <p:nvGrpSpPr>
            <p:cNvPr id="18" name="Google Shape;1867;p37">
              <a:extLst>
                <a:ext uri="{FF2B5EF4-FFF2-40B4-BE49-F238E27FC236}">
                  <a16:creationId xmlns:a16="http://schemas.microsoft.com/office/drawing/2014/main" id="{4B5AEA9B-DC63-355E-26F8-8DFBFCC29895}"/>
                </a:ext>
              </a:extLst>
            </p:cNvPr>
            <p:cNvGrpSpPr/>
            <p:nvPr/>
          </p:nvGrpSpPr>
          <p:grpSpPr bwMode="auto">
            <a:xfrm>
              <a:off x="590070" y="3203873"/>
              <a:ext cx="2166680" cy="1311076"/>
              <a:chOff x="596595" y="1892048"/>
              <a:chExt cx="2166680" cy="1311076"/>
            </a:xfrm>
          </p:grpSpPr>
          <p:sp>
            <p:nvSpPr>
              <p:cNvPr id="19" name="Google Shape;1868;p37">
                <a:extLst>
                  <a:ext uri="{FF2B5EF4-FFF2-40B4-BE49-F238E27FC236}">
                    <a16:creationId xmlns:a16="http://schemas.microsoft.com/office/drawing/2014/main" id="{3996637E-8C04-44FC-1212-4BCE9DCD3935}"/>
                  </a:ext>
                </a:extLst>
              </p:cNvPr>
              <p:cNvSpPr txBox="1"/>
              <p:nvPr/>
            </p:nvSpPr>
            <p:spPr bwMode="auto">
              <a:xfrm>
                <a:off x="648875" y="1892048"/>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b="1" kern="0" dirty="0">
                    <a:solidFill>
                      <a:srgbClr val="000000"/>
                    </a:solidFill>
                    <a:latin typeface="Fira Sans Extra Condensed"/>
                    <a:ea typeface="Fira Sans Extra Condensed"/>
                    <a:cs typeface="Fira Sans Extra Condensed"/>
                    <a:sym typeface="Arial"/>
                  </a:rPr>
                  <a:t>Fixed (14)</a:t>
                </a:r>
                <a:endParaRPr b="1" kern="0" dirty="0">
                  <a:solidFill>
                    <a:srgbClr val="000000"/>
                  </a:solidFill>
                  <a:latin typeface="Fira Sans Extra Condensed"/>
                  <a:ea typeface="Fira Sans Extra Condensed"/>
                  <a:cs typeface="Fira Sans Extra Condensed"/>
                  <a:sym typeface="Arial"/>
                </a:endParaRPr>
              </a:p>
            </p:txBody>
          </p:sp>
          <p:sp>
            <p:nvSpPr>
              <p:cNvPr id="20" name="Google Shape;1869;p37">
                <a:extLst>
                  <a:ext uri="{FF2B5EF4-FFF2-40B4-BE49-F238E27FC236}">
                    <a16:creationId xmlns:a16="http://schemas.microsoft.com/office/drawing/2014/main" id="{6570ED8F-8FB0-76B7-7EE4-59FA3848DD41}"/>
                  </a:ext>
                </a:extLst>
              </p:cNvPr>
              <p:cNvSpPr txBox="1"/>
              <p:nvPr/>
            </p:nvSpPr>
            <p:spPr bwMode="auto">
              <a:xfrm>
                <a:off x="596595" y="2133344"/>
                <a:ext cx="209899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Accesible physical parameters (7)</a:t>
                </a:r>
                <a:endParaRPr sz="1600" kern="0" dirty="0">
                  <a:solidFill>
                    <a:srgbClr val="000000"/>
                  </a:solidFill>
                  <a:latin typeface="+mj-lt"/>
                  <a:ea typeface="Roboto"/>
                  <a:cs typeface="Roboto"/>
                  <a:sym typeface="Arial"/>
                </a:endParaRPr>
              </a:p>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Current density parameters (7)</a:t>
                </a:r>
                <a:endParaRPr lang="es-CO" sz="1600" kern="0" dirty="0">
                  <a:solidFill>
                    <a:srgbClr val="000000"/>
                  </a:solidFill>
                  <a:latin typeface="+mj-lt"/>
                  <a:ea typeface="Roboto"/>
                  <a:cs typeface="Roboto"/>
                  <a:sym typeface="Arial"/>
                </a:endParaRPr>
              </a:p>
            </p:txBody>
          </p:sp>
        </p:grpSp>
      </p:grpSp>
      <p:sp>
        <p:nvSpPr>
          <p:cNvPr id="30" name="Abrir llave 25">
            <a:extLst>
              <a:ext uri="{FF2B5EF4-FFF2-40B4-BE49-F238E27FC236}">
                <a16:creationId xmlns:a16="http://schemas.microsoft.com/office/drawing/2014/main" id="{366BA0B6-F287-E424-57CC-57E897FE1E55}"/>
              </a:ext>
            </a:extLst>
          </p:cNvPr>
          <p:cNvSpPr/>
          <p:nvPr/>
        </p:nvSpPr>
        <p:spPr bwMode="auto">
          <a:xfrm>
            <a:off x="1069040" y="2564143"/>
            <a:ext cx="369802" cy="1214365"/>
          </a:xfrm>
          <a:prstGeom prst="leftBrace">
            <a:avLst>
              <a:gd name="adj1" fmla="val 8333"/>
              <a:gd name="adj2" fmla="val 50000"/>
            </a:avLst>
          </a:prstGeom>
          <a:noFill/>
          <a:ln>
            <a:solidFill>
              <a:schemeClr val="accent2">
                <a:lumMod val="50000"/>
              </a:schemeClr>
            </a:solidFill>
          </a:ln>
        </p:spPr>
        <p:style>
          <a:lnRef idx="2">
            <a:schemeClr val="dk1"/>
          </a:lnRef>
          <a:fillRef idx="0">
            <a:schemeClr val="dk1"/>
          </a:fillRef>
          <a:effectRef idx="1">
            <a:schemeClr val="dk1"/>
          </a:effectRef>
          <a:fontRef idx="minor">
            <a:schemeClr val="tx1"/>
          </a:fontRef>
        </p:style>
        <p:txBody>
          <a:bodyPr rtlCol="0" anchor="ctr"/>
          <a:lstStyle/>
          <a:p>
            <a:pPr algn="ctr" defTabSz="1219140">
              <a:buClr>
                <a:srgbClr val="000000"/>
              </a:buClr>
              <a:defRPr/>
            </a:pPr>
            <a:endParaRPr lang="de-DE" kern="0">
              <a:solidFill>
                <a:srgbClr val="000000"/>
              </a:solidFill>
              <a:latin typeface="Arial"/>
              <a:sym typeface="Arial"/>
            </a:endParaRPr>
          </a:p>
        </p:txBody>
      </p:sp>
      <p:grpSp>
        <p:nvGrpSpPr>
          <p:cNvPr id="69" name="Grupo 68">
            <a:extLst>
              <a:ext uri="{FF2B5EF4-FFF2-40B4-BE49-F238E27FC236}">
                <a16:creationId xmlns:a16="http://schemas.microsoft.com/office/drawing/2014/main" id="{CA1BCA7B-9F9C-13C7-F2BE-F7D427E1B062}"/>
              </a:ext>
            </a:extLst>
          </p:cNvPr>
          <p:cNvGrpSpPr/>
          <p:nvPr/>
        </p:nvGrpSpPr>
        <p:grpSpPr>
          <a:xfrm>
            <a:off x="4381811" y="1658057"/>
            <a:ext cx="3558001" cy="3844172"/>
            <a:chOff x="4355041" y="1649147"/>
            <a:chExt cx="3928981" cy="4229960"/>
          </a:xfrm>
        </p:grpSpPr>
        <p:grpSp>
          <p:nvGrpSpPr>
            <p:cNvPr id="32" name="Grupo 39">
              <a:extLst>
                <a:ext uri="{FF2B5EF4-FFF2-40B4-BE49-F238E27FC236}">
                  <a16:creationId xmlns:a16="http://schemas.microsoft.com/office/drawing/2014/main" id="{03F462C0-9D55-5F36-7B36-3DCCB4B2F978}"/>
                </a:ext>
              </a:extLst>
            </p:cNvPr>
            <p:cNvGrpSpPr/>
            <p:nvPr/>
          </p:nvGrpSpPr>
          <p:grpSpPr bwMode="auto">
            <a:xfrm>
              <a:off x="4355041" y="1649147"/>
              <a:ext cx="3928981" cy="4229960"/>
              <a:chOff x="3718053" y="1350067"/>
              <a:chExt cx="4687667" cy="5186281"/>
            </a:xfrm>
          </p:grpSpPr>
          <p:sp>
            <p:nvSpPr>
              <p:cNvPr id="33" name="Google Shape;530;p20">
                <a:extLst>
                  <a:ext uri="{FF2B5EF4-FFF2-40B4-BE49-F238E27FC236}">
                    <a16:creationId xmlns:a16="http://schemas.microsoft.com/office/drawing/2014/main" id="{31F3468D-A8A8-4EBC-35BE-022C6308B08A}"/>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34" name="Google Shape;531;p20">
                <a:extLst>
                  <a:ext uri="{FF2B5EF4-FFF2-40B4-BE49-F238E27FC236}">
                    <a16:creationId xmlns:a16="http://schemas.microsoft.com/office/drawing/2014/main" id="{110FEF52-DE9F-29B1-C6FD-E4399DE5885A}"/>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35" name="Google Shape;532;p20">
                <a:extLst>
                  <a:ext uri="{FF2B5EF4-FFF2-40B4-BE49-F238E27FC236}">
                    <a16:creationId xmlns:a16="http://schemas.microsoft.com/office/drawing/2014/main" id="{3BE9D48E-D157-E5B8-7408-82CF05071A0C}"/>
                  </a:ext>
                </a:extLst>
              </p:cNvPr>
              <p:cNvSpPr/>
              <p:nvPr/>
            </p:nvSpPr>
            <p:spPr bwMode="auto">
              <a:xfrm>
                <a:off x="4686137" y="2458993"/>
                <a:ext cx="2833738" cy="4077355"/>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36" name="Google Shape;533;p20">
                <a:extLst>
                  <a:ext uri="{FF2B5EF4-FFF2-40B4-BE49-F238E27FC236}">
                    <a16:creationId xmlns:a16="http://schemas.microsoft.com/office/drawing/2014/main" id="{7DAAD90E-3CB1-2F11-CDF2-E189DB37C629}"/>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7" name="Google Shape;534;p20">
                <a:extLst>
                  <a:ext uri="{FF2B5EF4-FFF2-40B4-BE49-F238E27FC236}">
                    <a16:creationId xmlns:a16="http://schemas.microsoft.com/office/drawing/2014/main" id="{CA97ACAB-2D7C-6300-D208-E5550812897B}"/>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8" name="Google Shape;535;p20">
                <a:extLst>
                  <a:ext uri="{FF2B5EF4-FFF2-40B4-BE49-F238E27FC236}">
                    <a16:creationId xmlns:a16="http://schemas.microsoft.com/office/drawing/2014/main" id="{3309C931-D5B9-E94A-F8D3-E60C4BF47DF8}"/>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9" name="Google Shape;536;p20">
                <a:extLst>
                  <a:ext uri="{FF2B5EF4-FFF2-40B4-BE49-F238E27FC236}">
                    <a16:creationId xmlns:a16="http://schemas.microsoft.com/office/drawing/2014/main" id="{1420C1FA-581C-19D8-283E-FC710583E684}"/>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0" name="Google Shape;537;p20">
                <a:extLst>
                  <a:ext uri="{FF2B5EF4-FFF2-40B4-BE49-F238E27FC236}">
                    <a16:creationId xmlns:a16="http://schemas.microsoft.com/office/drawing/2014/main" id="{250000C4-7204-CE71-F1EF-AE365E53CCFC}"/>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1" name="Google Shape;538;p20">
                <a:extLst>
                  <a:ext uri="{FF2B5EF4-FFF2-40B4-BE49-F238E27FC236}">
                    <a16:creationId xmlns:a16="http://schemas.microsoft.com/office/drawing/2014/main" id="{E37448F4-3745-D520-C895-D7BAD08A6D68}"/>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2" name="Google Shape;539;p20">
                <a:extLst>
                  <a:ext uri="{FF2B5EF4-FFF2-40B4-BE49-F238E27FC236}">
                    <a16:creationId xmlns:a16="http://schemas.microsoft.com/office/drawing/2014/main" id="{1046804A-AEDD-6C50-1077-0D6FD6CD44E9}"/>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3" name="Google Shape;540;p20">
                <a:extLst>
                  <a:ext uri="{FF2B5EF4-FFF2-40B4-BE49-F238E27FC236}">
                    <a16:creationId xmlns:a16="http://schemas.microsoft.com/office/drawing/2014/main" id="{D00155CD-977E-3F67-AFA8-28C5DEEF14DB}"/>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4" name="Google Shape;541;p20">
                <a:extLst>
                  <a:ext uri="{FF2B5EF4-FFF2-40B4-BE49-F238E27FC236}">
                    <a16:creationId xmlns:a16="http://schemas.microsoft.com/office/drawing/2014/main" id="{8BEAD275-BD80-5AD8-8DEA-6A87212F130D}"/>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5" name="Google Shape;542;p20">
                <a:extLst>
                  <a:ext uri="{FF2B5EF4-FFF2-40B4-BE49-F238E27FC236}">
                    <a16:creationId xmlns:a16="http://schemas.microsoft.com/office/drawing/2014/main" id="{DA48F57A-884F-CD90-B411-18478C444A69}"/>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6" name="Google Shape;543;p20">
                <a:extLst>
                  <a:ext uri="{FF2B5EF4-FFF2-40B4-BE49-F238E27FC236}">
                    <a16:creationId xmlns:a16="http://schemas.microsoft.com/office/drawing/2014/main" id="{536ECA6C-2AF9-4E41-96D1-E822BEF09CE8}"/>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7" name="Google Shape;544;p20">
                <a:extLst>
                  <a:ext uri="{FF2B5EF4-FFF2-40B4-BE49-F238E27FC236}">
                    <a16:creationId xmlns:a16="http://schemas.microsoft.com/office/drawing/2014/main" id="{F87EFBD2-2651-03CC-CEDB-0E8724529DE5}"/>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8" name="Google Shape;545;p20">
                <a:extLst>
                  <a:ext uri="{FF2B5EF4-FFF2-40B4-BE49-F238E27FC236}">
                    <a16:creationId xmlns:a16="http://schemas.microsoft.com/office/drawing/2014/main" id="{2A111CF6-854F-E4A0-6C4A-331102E99E03}"/>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9" name="Google Shape;546;p20">
                <a:extLst>
                  <a:ext uri="{FF2B5EF4-FFF2-40B4-BE49-F238E27FC236}">
                    <a16:creationId xmlns:a16="http://schemas.microsoft.com/office/drawing/2014/main" id="{CB470F4F-D061-0EF3-B5C0-A68D19DF630B}"/>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0" name="Google Shape;547;p20">
                <a:extLst>
                  <a:ext uri="{FF2B5EF4-FFF2-40B4-BE49-F238E27FC236}">
                    <a16:creationId xmlns:a16="http://schemas.microsoft.com/office/drawing/2014/main" id="{9449D5B0-7DF9-8E1F-EC56-9D6116503EA2}"/>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1" name="Google Shape;548;p20">
                <a:extLst>
                  <a:ext uri="{FF2B5EF4-FFF2-40B4-BE49-F238E27FC236}">
                    <a16:creationId xmlns:a16="http://schemas.microsoft.com/office/drawing/2014/main" id="{DB5F65A7-CA82-6783-3973-DC093C9AA6DE}"/>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2" name="Google Shape;549;p20">
                <a:extLst>
                  <a:ext uri="{FF2B5EF4-FFF2-40B4-BE49-F238E27FC236}">
                    <a16:creationId xmlns:a16="http://schemas.microsoft.com/office/drawing/2014/main" id="{E31679A3-B566-345B-4415-F8A1593B6162}"/>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3" name="Google Shape;550;p20">
                <a:extLst>
                  <a:ext uri="{FF2B5EF4-FFF2-40B4-BE49-F238E27FC236}">
                    <a16:creationId xmlns:a16="http://schemas.microsoft.com/office/drawing/2014/main" id="{1BD1A7A7-8A87-9627-F551-94F05C8CF725}"/>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4" name="Google Shape;551;p20">
                <a:extLst>
                  <a:ext uri="{FF2B5EF4-FFF2-40B4-BE49-F238E27FC236}">
                    <a16:creationId xmlns:a16="http://schemas.microsoft.com/office/drawing/2014/main" id="{C2C108BA-6FB9-54BA-16DE-CDCCABCF0874}"/>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5" name="Google Shape;552;p20">
                <a:extLst>
                  <a:ext uri="{FF2B5EF4-FFF2-40B4-BE49-F238E27FC236}">
                    <a16:creationId xmlns:a16="http://schemas.microsoft.com/office/drawing/2014/main" id="{2E3A7BA6-3A9D-A49B-E06D-2ED2786BAA43}"/>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6" name="Google Shape;553;p20">
                <a:extLst>
                  <a:ext uri="{FF2B5EF4-FFF2-40B4-BE49-F238E27FC236}">
                    <a16:creationId xmlns:a16="http://schemas.microsoft.com/office/drawing/2014/main" id="{4B5A8B52-EF8D-55BE-839A-61A09A071C6D}"/>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7" name="Google Shape;554;p20">
                <a:extLst>
                  <a:ext uri="{FF2B5EF4-FFF2-40B4-BE49-F238E27FC236}">
                    <a16:creationId xmlns:a16="http://schemas.microsoft.com/office/drawing/2014/main" id="{B14910AA-3EC6-6614-2210-1942B20FF5E6}"/>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8" name="Google Shape;555;p20">
                <a:extLst>
                  <a:ext uri="{FF2B5EF4-FFF2-40B4-BE49-F238E27FC236}">
                    <a16:creationId xmlns:a16="http://schemas.microsoft.com/office/drawing/2014/main" id="{E7C55B27-2F25-B565-7B53-F96BEDBFC9C1}"/>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9" name="Google Shape;556;p20">
                <a:extLst>
                  <a:ext uri="{FF2B5EF4-FFF2-40B4-BE49-F238E27FC236}">
                    <a16:creationId xmlns:a16="http://schemas.microsoft.com/office/drawing/2014/main" id="{93734FCE-8BAB-8A0B-D7A1-4623D12AD984}"/>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0" name="Google Shape;557;p20">
                <a:extLst>
                  <a:ext uri="{FF2B5EF4-FFF2-40B4-BE49-F238E27FC236}">
                    <a16:creationId xmlns:a16="http://schemas.microsoft.com/office/drawing/2014/main" id="{ADAE87B4-8A71-B270-B3A0-C62D6EA9AB2B}"/>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1" name="Google Shape;558;p20">
                <a:extLst>
                  <a:ext uri="{FF2B5EF4-FFF2-40B4-BE49-F238E27FC236}">
                    <a16:creationId xmlns:a16="http://schemas.microsoft.com/office/drawing/2014/main" id="{1CBE9ACA-2F41-CBD5-02AA-91EBA71D8F50}"/>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2" name="Google Shape;559;p20">
                <a:extLst>
                  <a:ext uri="{FF2B5EF4-FFF2-40B4-BE49-F238E27FC236}">
                    <a16:creationId xmlns:a16="http://schemas.microsoft.com/office/drawing/2014/main" id="{7A3E7F8A-30D1-2366-0102-E9D7DEF00CD8}"/>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3" name="Google Shape;560;p20">
                <a:extLst>
                  <a:ext uri="{FF2B5EF4-FFF2-40B4-BE49-F238E27FC236}">
                    <a16:creationId xmlns:a16="http://schemas.microsoft.com/office/drawing/2014/main" id="{C43CD252-DBBE-5471-69E8-E5F6345435D7}"/>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64" name="Google Shape;561;p20">
                <a:extLst>
                  <a:ext uri="{FF2B5EF4-FFF2-40B4-BE49-F238E27FC236}">
                    <a16:creationId xmlns:a16="http://schemas.microsoft.com/office/drawing/2014/main" id="{6C4D9D9A-78BE-055D-C1EB-075FFDAD742A}"/>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65" name="Google Shape;562;p20">
                <a:extLst>
                  <a:ext uri="{FF2B5EF4-FFF2-40B4-BE49-F238E27FC236}">
                    <a16:creationId xmlns:a16="http://schemas.microsoft.com/office/drawing/2014/main" id="{492A939B-3C94-AB55-3DC1-0077AEC8C7F6}"/>
                  </a:ext>
                </a:extLst>
              </p:cNvPr>
              <p:cNvGrpSpPr/>
              <p:nvPr/>
            </p:nvGrpSpPr>
            <p:grpSpPr bwMode="auto">
              <a:xfrm>
                <a:off x="5778262" y="4811510"/>
                <a:ext cx="629523" cy="629483"/>
                <a:chOff x="-44512325" y="3176075"/>
                <a:chExt cx="300899" cy="300899"/>
              </a:xfrm>
            </p:grpSpPr>
            <p:sp>
              <p:nvSpPr>
                <p:cNvPr id="66" name="Google Shape;563;p20">
                  <a:extLst>
                    <a:ext uri="{FF2B5EF4-FFF2-40B4-BE49-F238E27FC236}">
                      <a16:creationId xmlns:a16="http://schemas.microsoft.com/office/drawing/2014/main" id="{2CFE5ABF-4C47-FEC8-5812-668ACBD0824B}"/>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7" name="Google Shape;564;p20">
                  <a:extLst>
                    <a:ext uri="{FF2B5EF4-FFF2-40B4-BE49-F238E27FC236}">
                      <a16:creationId xmlns:a16="http://schemas.microsoft.com/office/drawing/2014/main" id="{F75512E6-F20F-24C6-FF8D-ED9DC983537E}"/>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8" name="Google Shape;565;p20">
                  <a:extLst>
                    <a:ext uri="{FF2B5EF4-FFF2-40B4-BE49-F238E27FC236}">
                      <a16:creationId xmlns:a16="http://schemas.microsoft.com/office/drawing/2014/main" id="{5DF9C20C-C777-1888-D200-E430D46F71EC}"/>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9" name="Google Shape;526;p20">
              <a:extLst>
                <a:ext uri="{FF2B5EF4-FFF2-40B4-BE49-F238E27FC236}">
                  <a16:creationId xmlns:a16="http://schemas.microsoft.com/office/drawing/2014/main" id="{32AF8BD3-1118-9500-DA63-57638B52AEF8}"/>
                </a:ext>
              </a:extLst>
            </p:cNvPr>
            <p:cNvGrpSpPr/>
            <p:nvPr/>
          </p:nvGrpSpPr>
          <p:grpSpPr bwMode="auto">
            <a:xfrm>
              <a:off x="5202417" y="2867781"/>
              <a:ext cx="2312800" cy="1314934"/>
              <a:chOff x="3704250" y="2113000"/>
              <a:chExt cx="1734599" cy="986201"/>
            </a:xfrm>
          </p:grpSpPr>
          <p:sp>
            <p:nvSpPr>
              <p:cNvPr id="10" name="Google Shape;527;p20">
                <a:extLst>
                  <a:ext uri="{FF2B5EF4-FFF2-40B4-BE49-F238E27FC236}">
                    <a16:creationId xmlns:a16="http://schemas.microsoft.com/office/drawing/2014/main" id="{F03ECE4F-9BC5-8A5D-2CD5-75C85FB65D7A}"/>
                  </a:ext>
                </a:extLst>
              </p:cNvPr>
              <p:cNvSpPr txBox="1"/>
              <p:nvPr/>
            </p:nvSpPr>
            <p:spPr bwMode="auto">
              <a:xfrm>
                <a:off x="3704250" y="2113000"/>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11" name="Google Shape;528;p20">
                <a:extLst>
                  <a:ext uri="{FF2B5EF4-FFF2-40B4-BE49-F238E27FC236}">
                    <a16:creationId xmlns:a16="http://schemas.microsoft.com/office/drawing/2014/main" id="{35BDE143-5DDD-8DBD-4F8D-336D46CF79DC}"/>
                  </a:ext>
                </a:extLst>
              </p:cNvPr>
              <p:cNvSpPr txBox="1"/>
              <p:nvPr/>
            </p:nvSpPr>
            <p:spPr bwMode="auto">
              <a:xfrm>
                <a:off x="3809199" y="2494689"/>
                <a:ext cx="1537560" cy="604512"/>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mj-lt"/>
                    <a:ea typeface="Roboto"/>
                    <a:cs typeface="Roboto"/>
                    <a:sym typeface="Arial"/>
                  </a:rPr>
                  <a:t>Black-box, complex simulator</a:t>
                </a:r>
                <a:endParaRPr sz="1851" kern="0" dirty="0">
                  <a:solidFill>
                    <a:srgbClr val="000000"/>
                  </a:solidFill>
                  <a:latin typeface="+mj-lt"/>
                  <a:ea typeface="Roboto"/>
                  <a:cs typeface="Roboto"/>
                  <a:sym typeface="Arial"/>
                </a:endParaRPr>
              </a:p>
            </p:txBody>
          </p:sp>
        </p:grpSp>
      </p:grpSp>
      <p:grpSp>
        <p:nvGrpSpPr>
          <p:cNvPr id="70" name="Grupo 23">
            <a:extLst>
              <a:ext uri="{FF2B5EF4-FFF2-40B4-BE49-F238E27FC236}">
                <a16:creationId xmlns:a16="http://schemas.microsoft.com/office/drawing/2014/main" id="{9487E06E-2AF2-64DB-D986-A99EC95F5091}"/>
              </a:ext>
            </a:extLst>
          </p:cNvPr>
          <p:cNvGrpSpPr/>
          <p:nvPr/>
        </p:nvGrpSpPr>
        <p:grpSpPr bwMode="auto">
          <a:xfrm>
            <a:off x="8325814" y="1715111"/>
            <a:ext cx="3125900" cy="3995690"/>
            <a:chOff x="468164" y="1181786"/>
            <a:chExt cx="2571833" cy="3469875"/>
          </a:xfrm>
        </p:grpSpPr>
        <p:sp>
          <p:nvSpPr>
            <p:cNvPr id="71" name="Google Shape;1857;p37">
              <a:extLst>
                <a:ext uri="{FF2B5EF4-FFF2-40B4-BE49-F238E27FC236}">
                  <a16:creationId xmlns:a16="http://schemas.microsoft.com/office/drawing/2014/main" id="{AA1FFD77-B532-F313-0FF8-7E957A569B71}"/>
                </a:ext>
              </a:extLst>
            </p:cNvPr>
            <p:cNvSpPr/>
            <p:nvPr/>
          </p:nvSpPr>
          <p:spPr bwMode="auto">
            <a:xfrm>
              <a:off x="468165" y="1451261"/>
              <a:ext cx="2509942" cy="3200400"/>
            </a:xfrm>
            <a:prstGeom prst="rect">
              <a:avLst/>
            </a:prstGeom>
            <a:solidFill>
              <a:srgbClr val="8879F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kern="0" dirty="0">
                <a:solidFill>
                  <a:srgbClr val="000000"/>
                </a:solidFill>
                <a:latin typeface="Arial"/>
                <a:cs typeface="Arial"/>
                <a:sym typeface="Arial"/>
              </a:endParaRPr>
            </a:p>
          </p:txBody>
        </p:sp>
        <p:sp>
          <p:nvSpPr>
            <p:cNvPr id="72" name="Google Shape;1859;p37">
              <a:extLst>
                <a:ext uri="{FF2B5EF4-FFF2-40B4-BE49-F238E27FC236}">
                  <a16:creationId xmlns:a16="http://schemas.microsoft.com/office/drawing/2014/main" id="{E2A1A92A-3961-28F0-EC57-F2E359619491}"/>
                </a:ext>
              </a:extLst>
            </p:cNvPr>
            <p:cNvSpPr/>
            <p:nvPr/>
          </p:nvSpPr>
          <p:spPr bwMode="auto">
            <a:xfrm>
              <a:off x="468164" y="1181786"/>
              <a:ext cx="2571833" cy="560700"/>
            </a:xfrm>
            <a:prstGeom prst="roundRect">
              <a:avLst>
                <a:gd name="adj" fmla="val 50000"/>
              </a:avLst>
            </a:prstGeom>
            <a:solidFill>
              <a:srgbClr val="8879F5"/>
            </a:solidFill>
            <a:ln>
              <a:noFill/>
            </a:ln>
          </p:spPr>
          <p:txBody>
            <a:bodyPr spcFirstLastPara="1" wrap="square" lIns="121900" tIns="121900" rIns="121900" bIns="121900" anchor="ctr" anchorCtr="0">
              <a:noAutofit/>
            </a:bodyPr>
            <a:lstStyle/>
            <a:p>
              <a:pPr defTabSz="1219140">
                <a:buClr>
                  <a:srgbClr val="000000"/>
                </a:buClr>
                <a:defRPr/>
              </a:pPr>
              <a:endParaRPr kern="0">
                <a:solidFill>
                  <a:srgbClr val="000000"/>
                </a:solidFill>
                <a:latin typeface="Arial"/>
                <a:cs typeface="Arial"/>
                <a:sym typeface="Arial"/>
              </a:endParaRPr>
            </a:p>
          </p:txBody>
        </p:sp>
      </p:grpSp>
      <p:sp>
        <p:nvSpPr>
          <p:cNvPr id="74" name="Google Shape;1863;p37">
            <a:extLst>
              <a:ext uri="{FF2B5EF4-FFF2-40B4-BE49-F238E27FC236}">
                <a16:creationId xmlns:a16="http://schemas.microsoft.com/office/drawing/2014/main" id="{CE86E354-56ED-885E-A42A-06A3D93CDFD0}"/>
              </a:ext>
            </a:extLst>
          </p:cNvPr>
          <p:cNvSpPr txBox="1"/>
          <p:nvPr/>
        </p:nvSpPr>
        <p:spPr bwMode="auto">
          <a:xfrm>
            <a:off x="8598938" y="1886108"/>
            <a:ext cx="2629663" cy="396611"/>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000" b="1" kern="0" dirty="0">
                <a:solidFill>
                  <a:srgbClr val="FFFFFF"/>
                </a:solidFill>
                <a:latin typeface="Fira Sans Extra Condensed"/>
                <a:ea typeface="Fira Sans Extra Condensed"/>
                <a:cs typeface="Fira Sans Extra Condensed"/>
                <a:sym typeface="Arial"/>
              </a:rPr>
              <a:t>Functional output</a:t>
            </a:r>
            <a:endParaRPr sz="2000" b="1" kern="0" dirty="0">
              <a:solidFill>
                <a:srgbClr val="FFFFFF"/>
              </a:solidFill>
              <a:latin typeface="Fira Sans Extra Condensed"/>
              <a:ea typeface="Fira Sans Extra Condensed"/>
              <a:cs typeface="Fira Sans Extra Condensed"/>
              <a:sym typeface="Arial"/>
            </a:endParaRPr>
          </a:p>
        </p:txBody>
      </p:sp>
      <p:pic>
        <p:nvPicPr>
          <p:cNvPr id="81" name="Picture 2" descr="Polarization curve of a PEM fuel cell; additional information in [35]. V* = Voltage loss caused by mixed potential and crossover.">
            <a:extLst>
              <a:ext uri="{FF2B5EF4-FFF2-40B4-BE49-F238E27FC236}">
                <a16:creationId xmlns:a16="http://schemas.microsoft.com/office/drawing/2014/main" id="{EA3EC5EA-AF07-6B9C-0000-C9CA40B00268}"/>
              </a:ext>
            </a:extLst>
          </p:cNvPr>
          <p:cNvPicPr>
            <a:picLocks noChangeAspect="1" noChangeArrowheads="1"/>
          </p:cNvPicPr>
          <p:nvPr/>
        </p:nvPicPr>
        <p:blipFill>
          <a:blip r:embed="rId3"/>
          <a:stretch/>
        </p:blipFill>
        <p:spPr bwMode="auto">
          <a:xfrm>
            <a:off x="8578743" y="2490656"/>
            <a:ext cx="2544217" cy="1999455"/>
          </a:xfrm>
          <a:prstGeom prst="rect">
            <a:avLst/>
          </a:prstGeom>
          <a:noFill/>
        </p:spPr>
      </p:pic>
      <p:sp>
        <p:nvSpPr>
          <p:cNvPr id="82" name="Google Shape;1877;p37">
            <a:extLst>
              <a:ext uri="{FF2B5EF4-FFF2-40B4-BE49-F238E27FC236}">
                <a16:creationId xmlns:a16="http://schemas.microsoft.com/office/drawing/2014/main" id="{091959DC-A267-1C49-1493-3531A8E0F44C}"/>
              </a:ext>
            </a:extLst>
          </p:cNvPr>
          <p:cNvSpPr txBox="1"/>
          <p:nvPr/>
        </p:nvSpPr>
        <p:spPr bwMode="auto">
          <a:xfrm>
            <a:off x="8510359" y="4739283"/>
            <a:ext cx="2756809" cy="667774"/>
          </a:xfrm>
          <a:prstGeom prst="rect">
            <a:avLst/>
          </a:prstGeom>
          <a:noFill/>
          <a:ln>
            <a:noFill/>
          </a:ln>
        </p:spPr>
        <p:txBody>
          <a:bodyPr spcFirstLastPara="1" wrap="square" lIns="121900" tIns="121900" rIns="121900" bIns="121900" anchor="t" anchorCtr="0">
            <a:noAutofit/>
          </a:bodyPr>
          <a:lstStyle/>
          <a:p>
            <a:pPr marL="3387" algn="ctr" defTabSz="1219140">
              <a:buClr>
                <a:srgbClr val="000000"/>
              </a:buClr>
              <a:buSzPts val="1400"/>
              <a:defRPr/>
            </a:pPr>
            <a:r>
              <a:rPr lang="en" sz="1600" dirty="0">
                <a:latin typeface="+mj-lt"/>
                <a:ea typeface="Source Sans Pro" panose="020B0503030403020204" pitchFamily="34" charset="0"/>
                <a:sym typeface="Arial"/>
              </a:rPr>
              <a:t>Evaluates performance under different loads and operating conditions</a:t>
            </a:r>
            <a:endParaRPr sz="1600" dirty="0">
              <a:latin typeface="+mj-lt"/>
              <a:ea typeface="Source Sans Pro" panose="020B0503030403020204" pitchFamily="34" charset="0"/>
              <a:sym typeface="Arial"/>
            </a:endParaRPr>
          </a:p>
        </p:txBody>
      </p:sp>
      <p:sp>
        <p:nvSpPr>
          <p:cNvPr id="83" name="Google Shape;1868;p37">
            <a:extLst>
              <a:ext uri="{FF2B5EF4-FFF2-40B4-BE49-F238E27FC236}">
                <a16:creationId xmlns:a16="http://schemas.microsoft.com/office/drawing/2014/main" id="{5AB216EF-C839-72C5-A5CC-C17F7A6B974D}"/>
              </a:ext>
            </a:extLst>
          </p:cNvPr>
          <p:cNvSpPr txBox="1"/>
          <p:nvPr/>
        </p:nvSpPr>
        <p:spPr bwMode="auto">
          <a:xfrm>
            <a:off x="8753336" y="4492025"/>
            <a:ext cx="2320865" cy="396611"/>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b="1" kern="0" dirty="0">
                <a:solidFill>
                  <a:srgbClr val="000000"/>
                </a:solidFill>
                <a:latin typeface="Fira Sans Extra Condensed"/>
                <a:ea typeface="Fira Sans Extra Condensed"/>
                <a:cs typeface="Fira Sans Extra Condensed"/>
                <a:sym typeface="Arial"/>
              </a:rPr>
              <a:t>Polarization curve (PC)</a:t>
            </a:r>
            <a:endParaRPr b="1" kern="0" dirty="0">
              <a:solidFill>
                <a:srgbClr val="000000"/>
              </a:solidFill>
              <a:latin typeface="Fira Sans Extra Condensed"/>
              <a:ea typeface="Fira Sans Extra Condensed"/>
              <a:cs typeface="Fira Sans Extra Condensed"/>
              <a:sym typeface="Arial"/>
            </a:endParaRPr>
          </a:p>
        </p:txBody>
      </p:sp>
      <p:sp>
        <p:nvSpPr>
          <p:cNvPr id="84" name="Google Shape;1869;p37">
            <a:extLst>
              <a:ext uri="{FF2B5EF4-FFF2-40B4-BE49-F238E27FC236}">
                <a16:creationId xmlns:a16="http://schemas.microsoft.com/office/drawing/2014/main" id="{875A3201-068B-6E11-7819-F54451120C48}"/>
              </a:ext>
            </a:extLst>
          </p:cNvPr>
          <p:cNvSpPr txBox="1"/>
          <p:nvPr/>
        </p:nvSpPr>
        <p:spPr bwMode="auto">
          <a:xfrm rot="16199999">
            <a:off x="-599878" y="2815089"/>
            <a:ext cx="2800864" cy="517327"/>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r>
              <a:rPr lang="es-MX" sz="1851" kern="0" dirty="0" err="1">
                <a:solidFill>
                  <a:srgbClr val="000000"/>
                </a:solidFill>
                <a:latin typeface="+mj-lt"/>
                <a:ea typeface="Roboto"/>
                <a:cs typeface="Roboto"/>
                <a:sym typeface="Arial"/>
              </a:rPr>
              <a:t>Sensitivity</a:t>
            </a:r>
            <a:r>
              <a:rPr lang="es-MX" sz="1851" kern="0" dirty="0">
                <a:solidFill>
                  <a:srgbClr val="000000"/>
                </a:solidFill>
                <a:latin typeface="+mj-lt"/>
                <a:ea typeface="Roboto"/>
                <a:cs typeface="Roboto"/>
                <a:sym typeface="Arial"/>
              </a:rPr>
              <a:t> </a:t>
            </a:r>
            <a:r>
              <a:rPr lang="es-MX" sz="1851" kern="0" dirty="0" err="1">
                <a:solidFill>
                  <a:srgbClr val="000000"/>
                </a:solidFill>
                <a:latin typeface="+mj-lt"/>
                <a:ea typeface="Roboto"/>
                <a:cs typeface="Roboto"/>
                <a:sym typeface="Arial"/>
              </a:rPr>
              <a:t>analysis</a:t>
            </a:r>
            <a:endParaRPr sz="1851" kern="0" dirty="0">
              <a:solidFill>
                <a:srgbClr val="000000"/>
              </a:solidFill>
              <a:latin typeface="+mj-lt"/>
              <a:ea typeface="Roboto"/>
              <a:cs typeface="Roboto"/>
              <a:sym typeface="Arial"/>
            </a:endParaRPr>
          </a:p>
        </p:txBody>
      </p:sp>
      <p:sp>
        <p:nvSpPr>
          <p:cNvPr id="85" name="CuadroTexto 84">
            <a:extLst>
              <a:ext uri="{FF2B5EF4-FFF2-40B4-BE49-F238E27FC236}">
                <a16:creationId xmlns:a16="http://schemas.microsoft.com/office/drawing/2014/main" id="{6892B67B-5B54-F152-43DB-F16BC0CC847F}"/>
              </a:ext>
            </a:extLst>
          </p:cNvPr>
          <p:cNvSpPr txBox="1"/>
          <p:nvPr/>
        </p:nvSpPr>
        <p:spPr>
          <a:xfrm>
            <a:off x="1253940" y="5895403"/>
            <a:ext cx="10197773" cy="538609"/>
          </a:xfrm>
          <a:prstGeom prst="rect">
            <a:avLst/>
          </a:prstGeom>
          <a:noFill/>
        </p:spPr>
        <p:txBody>
          <a:bodyPr wrap="square" rtlCol="0">
            <a:spAutoFit/>
          </a:bodyPr>
          <a:lstStyle/>
          <a:p>
            <a:r>
              <a:rPr lang="en" sz="1450" b="1" dirty="0">
                <a:latin typeface="+mj-lt"/>
                <a:ea typeface="Source Sans Pro" panose="020B0503030403020204" pitchFamily="34" charset="0"/>
              </a:rPr>
              <a:t>Figure 2: </a:t>
            </a:r>
            <a:r>
              <a:rPr lang="en-US" sz="1450" dirty="0" err="1">
                <a:latin typeface="+mj-lt"/>
              </a:rPr>
              <a:t>AlphaPEM</a:t>
            </a:r>
            <a:r>
              <a:rPr lang="en-US" sz="1450" dirty="0">
                <a:latin typeface="+mj-lt"/>
              </a:rPr>
              <a:t> is a “black-box” simulator that maps a given </a:t>
            </a:r>
            <a:r>
              <a:rPr lang="en-US" sz="1450" b="1" dirty="0">
                <a:solidFill>
                  <a:srgbClr val="008B2E"/>
                </a:solidFill>
                <a:latin typeface="+mj-lt"/>
              </a:rPr>
              <a:t>configuration </a:t>
            </a:r>
            <a:r>
              <a:rPr lang="en-US" sz="1450" dirty="0">
                <a:latin typeface="+mj-lt"/>
              </a:rPr>
              <a:t>(a combination of physical parameters and operating conditions) to a </a:t>
            </a:r>
            <a:r>
              <a:rPr lang="en-US" sz="1450" b="1" dirty="0">
                <a:solidFill>
                  <a:srgbClr val="008B2E"/>
                </a:solidFill>
                <a:latin typeface="+mj-lt"/>
              </a:rPr>
              <a:t>polarization curve</a:t>
            </a:r>
            <a:r>
              <a:rPr lang="en-US" sz="1450" dirty="0">
                <a:latin typeface="+mj-lt"/>
              </a:rPr>
              <a:t>, characterizing fuel cell performance. </a:t>
            </a:r>
            <a:endParaRPr lang="en" sz="1450" dirty="0">
              <a:latin typeface="+mj-lt"/>
              <a:ea typeface="Source Sans Pro" panose="020B0503030403020204" pitchFamily="34" charset="0"/>
            </a:endParaRPr>
          </a:p>
        </p:txBody>
      </p:sp>
    </p:spTree>
    <p:extLst>
      <p:ext uri="{BB962C8B-B14F-4D97-AF65-F5344CB8AC3E}">
        <p14:creationId xmlns:p14="http://schemas.microsoft.com/office/powerpoint/2010/main" val="17031160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7</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9" name="CuadroTexto 8">
            <a:extLst>
              <a:ext uri="{FF2B5EF4-FFF2-40B4-BE49-F238E27FC236}">
                <a16:creationId xmlns:a16="http://schemas.microsoft.com/office/drawing/2014/main" id="{E5B6307F-64A9-41B3-A134-9CEF322921A0}"/>
              </a:ext>
            </a:extLst>
          </p:cNvPr>
          <p:cNvSpPr txBox="1"/>
          <p:nvPr/>
        </p:nvSpPr>
        <p:spPr>
          <a:xfrm>
            <a:off x="1490400" y="1450800"/>
            <a:ext cx="5465817" cy="501034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Goals</a:t>
            </a:r>
            <a:r>
              <a:rPr lang="es-ES_tradnl" sz="2800" b="1" dirty="0">
                <a:latin typeface="Source Sans Pro" panose="020B0503030403020204" pitchFamily="34" charset="0"/>
                <a:ea typeface="Source Sans Pro" panose="020B0503030403020204" pitchFamily="34" charset="0"/>
              </a:rPr>
              <a:t> </a:t>
            </a:r>
          </a:p>
          <a:p>
            <a:pPr lvl="1"/>
            <a:r>
              <a:rPr lang="en-US" sz="2000" dirty="0"/>
              <a:t>Conduct a </a:t>
            </a:r>
            <a:r>
              <a:rPr lang="en-US" sz="2000" i="1" dirty="0">
                <a:solidFill>
                  <a:srgbClr val="8879F5"/>
                </a:solidFill>
              </a:rPr>
              <a:t>sensitivity analysis (SA) </a:t>
            </a:r>
            <a:r>
              <a:rPr lang="en-US" sz="2000" dirty="0"/>
              <a:t>on the</a:t>
            </a:r>
            <a:r>
              <a:rPr lang="en-US" sz="2000" dirty="0">
                <a:solidFill>
                  <a:srgbClr val="008B2E"/>
                </a:solidFill>
              </a:rPr>
              <a:t> </a:t>
            </a:r>
            <a:r>
              <a:rPr lang="en-US" sz="2000" dirty="0" err="1">
                <a:solidFill>
                  <a:srgbClr val="008B2E"/>
                </a:solidFill>
              </a:rPr>
              <a:t>AlphaPEM</a:t>
            </a:r>
            <a:r>
              <a:rPr lang="en-US" sz="2000" dirty="0">
                <a:solidFill>
                  <a:srgbClr val="008B2E"/>
                </a:solidFill>
              </a:rPr>
              <a:t> </a:t>
            </a:r>
            <a:r>
              <a:rPr lang="en-US" sz="2000" dirty="0"/>
              <a:t>model to identify  and quantify the influence of the input features on the performance of PEM fuel cells.</a:t>
            </a:r>
          </a:p>
          <a:p>
            <a:pPr lvl="1"/>
            <a:endParaRPr lang="en-US" sz="2000" dirty="0"/>
          </a:p>
          <a:p>
            <a:pPr lvl="1"/>
            <a:endParaRPr lang="en-US" sz="2000" dirty="0"/>
          </a:p>
          <a:p>
            <a:pPr lvl="1"/>
            <a:r>
              <a:rPr lang="en-US" sz="2000" dirty="0"/>
              <a:t>Using the features from the SA develop </a:t>
            </a:r>
            <a:r>
              <a:rPr kumimoji="0" lang="es-CO" altLang="es-CO" sz="2000" b="0" i="0" u="none" strike="noStrike" cap="none" normalizeH="0" baseline="0" dirty="0" err="1">
                <a:ln>
                  <a:noFill/>
                </a:ln>
                <a:solidFill>
                  <a:srgbClr val="000000"/>
                </a:solidFill>
                <a:effectLst/>
                <a:latin typeface="Arial" panose="020B0604020202020204" pitchFamily="34" charset="0"/>
                <a:cs typeface="Arial" panose="020B0604020202020204" pitchFamily="34" charset="0"/>
              </a:rPr>
              <a:t>an</a:t>
            </a:r>
            <a:r>
              <a:rPr kumimoji="0" lang="es-CO" altLang="es-CO" sz="2000" b="0" i="0" u="none" strike="noStrike" cap="none" normalizeH="0" baseline="0" dirty="0">
                <a:ln>
                  <a:noFill/>
                </a:ln>
                <a:solidFill>
                  <a:srgbClr val="000000"/>
                </a:solidFill>
                <a:effectLst/>
                <a:latin typeface="Arial" panose="020B0604020202020204" pitchFamily="34" charset="0"/>
                <a:cs typeface="Arial" panose="020B0604020202020204" pitchFamily="34" charset="0"/>
              </a:rPr>
              <a:t> </a:t>
            </a:r>
            <a:r>
              <a:rPr lang="es-CO" altLang="es-CO" sz="2000" dirty="0"/>
              <a:t>interpretable and </a:t>
            </a:r>
            <a:r>
              <a:rPr lang="es-CO" altLang="es-CO" sz="2000" u="sng" dirty="0" err="1"/>
              <a:t>analytically</a:t>
            </a:r>
            <a:r>
              <a:rPr lang="en-US" sz="2000" u="sng" dirty="0"/>
              <a:t> closed-form</a:t>
            </a:r>
            <a:r>
              <a:rPr lang="en-US" sz="2000" dirty="0"/>
              <a:t> </a:t>
            </a:r>
            <a:r>
              <a:rPr lang="en-US" sz="2000" i="1" dirty="0">
                <a:solidFill>
                  <a:srgbClr val="8879F5"/>
                </a:solidFill>
              </a:rPr>
              <a:t>surrogate model </a:t>
            </a:r>
            <a:r>
              <a:rPr lang="en-US" sz="2000" dirty="0"/>
              <a:t>that captures key behaviors of the </a:t>
            </a:r>
            <a:r>
              <a:rPr lang="en-US" sz="2000" dirty="0" err="1">
                <a:solidFill>
                  <a:srgbClr val="008B2E"/>
                </a:solidFill>
              </a:rPr>
              <a:t>AlphaPEM</a:t>
            </a:r>
            <a:r>
              <a:rPr lang="en-US" sz="2000" dirty="0"/>
              <a:t> model while maintaining accuracy, with a focus on interpretability and computational efficiency.</a:t>
            </a:r>
          </a:p>
          <a:p>
            <a:pPr lvl="1">
              <a:lnSpc>
                <a:spcPct val="150000"/>
              </a:lnSpc>
            </a:pPr>
            <a:endParaRPr lang="es-ES_tradnl" sz="2800" dirty="0">
              <a:latin typeface="Source Sans Pro" panose="020B0503030403020204" pitchFamily="34" charset="0"/>
              <a:ea typeface="Source Sans Pro" panose="020B0503030403020204" pitchFamily="34" charset="0"/>
            </a:endParaRPr>
          </a:p>
        </p:txBody>
      </p:sp>
      <p:sp>
        <p:nvSpPr>
          <p:cNvPr id="10" name="Elipse 9">
            <a:extLst>
              <a:ext uri="{FF2B5EF4-FFF2-40B4-BE49-F238E27FC236}">
                <a16:creationId xmlns:a16="http://schemas.microsoft.com/office/drawing/2014/main" id="{9CAB338A-9C40-421F-93EA-14654B4BA716}"/>
              </a:ext>
            </a:extLst>
          </p:cNvPr>
          <p:cNvSpPr>
            <a:spLocks noChangeAspect="1"/>
          </p:cNvSpPr>
          <p:nvPr/>
        </p:nvSpPr>
        <p:spPr>
          <a:xfrm>
            <a:off x="1635484" y="2264963"/>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1</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11" name="Elipse 10">
            <a:extLst>
              <a:ext uri="{FF2B5EF4-FFF2-40B4-BE49-F238E27FC236}">
                <a16:creationId xmlns:a16="http://schemas.microsoft.com/office/drawing/2014/main" id="{518A86AA-A3CF-41FE-B71F-C7980663318F}"/>
              </a:ext>
            </a:extLst>
          </p:cNvPr>
          <p:cNvSpPr>
            <a:spLocks noChangeAspect="1"/>
          </p:cNvSpPr>
          <p:nvPr/>
        </p:nvSpPr>
        <p:spPr>
          <a:xfrm>
            <a:off x="1572593" y="4019007"/>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2</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86" name="Google Shape;57;p15">
            <a:extLst>
              <a:ext uri="{FF2B5EF4-FFF2-40B4-BE49-F238E27FC236}">
                <a16:creationId xmlns:a16="http://schemas.microsoft.com/office/drawing/2014/main" id="{6DD557E8-2B14-4DD8-AFC1-EE30B84C68B8}"/>
              </a:ext>
            </a:extLst>
          </p:cNvPr>
          <p:cNvSpPr/>
          <p:nvPr/>
        </p:nvSpPr>
        <p:spPr>
          <a:xfrm>
            <a:off x="10094985" y="-93532"/>
            <a:ext cx="46774" cy="7200000"/>
          </a:xfrm>
          <a:custGeom>
            <a:avLst/>
            <a:gdLst/>
            <a:ahLst/>
            <a:cxnLst/>
            <a:rect l="l" t="t" r="r" b="b"/>
            <a:pathLst>
              <a:path w="1513" h="166415" extrusionOk="0">
                <a:moveTo>
                  <a:pt x="751" y="1"/>
                </a:moveTo>
                <a:cubicBezTo>
                  <a:pt x="346" y="1"/>
                  <a:pt x="1" y="334"/>
                  <a:pt x="1" y="751"/>
                </a:cubicBezTo>
                <a:lnTo>
                  <a:pt x="1" y="165664"/>
                </a:lnTo>
                <a:cubicBezTo>
                  <a:pt x="1" y="166081"/>
                  <a:pt x="334" y="166414"/>
                  <a:pt x="751" y="166414"/>
                </a:cubicBezTo>
                <a:cubicBezTo>
                  <a:pt x="1167" y="166414"/>
                  <a:pt x="1513" y="166081"/>
                  <a:pt x="1513" y="165664"/>
                </a:cubicBezTo>
                <a:lnTo>
                  <a:pt x="1513" y="751"/>
                </a:lnTo>
                <a:cubicBezTo>
                  <a:pt x="1513" y="334"/>
                  <a:pt x="1167" y="1"/>
                  <a:pt x="751" y="1"/>
                </a:cubicBezTo>
                <a:close/>
              </a:path>
            </a:pathLst>
          </a:cu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grpSp>
        <p:nvGrpSpPr>
          <p:cNvPr id="105" name="Google Shape;76;p15">
            <a:extLst>
              <a:ext uri="{FF2B5EF4-FFF2-40B4-BE49-F238E27FC236}">
                <a16:creationId xmlns:a16="http://schemas.microsoft.com/office/drawing/2014/main" id="{4714D741-6C84-4583-BC99-9227BFCDFCE8}"/>
              </a:ext>
            </a:extLst>
          </p:cNvPr>
          <p:cNvGrpSpPr/>
          <p:nvPr/>
        </p:nvGrpSpPr>
        <p:grpSpPr>
          <a:xfrm>
            <a:off x="10002241" y="2499978"/>
            <a:ext cx="2078594" cy="979497"/>
            <a:chOff x="2723278" y="1150750"/>
            <a:chExt cx="2078594" cy="979497"/>
          </a:xfrm>
        </p:grpSpPr>
        <p:sp>
          <p:nvSpPr>
            <p:cNvPr id="106" name="Google Shape;77;p15">
              <a:extLst>
                <a:ext uri="{FF2B5EF4-FFF2-40B4-BE49-F238E27FC236}">
                  <a16:creationId xmlns:a16="http://schemas.microsoft.com/office/drawing/2014/main" id="{E8EF713B-C2CD-4CB7-8C9B-ABA6F948077C}"/>
                </a:ext>
              </a:extLst>
            </p:cNvPr>
            <p:cNvSpPr/>
            <p:nvPr/>
          </p:nvSpPr>
          <p:spPr>
            <a:xfrm>
              <a:off x="2723278" y="1169328"/>
              <a:ext cx="1980694" cy="960919"/>
            </a:xfrm>
            <a:custGeom>
              <a:avLst/>
              <a:gdLst/>
              <a:ahLst/>
              <a:cxnLst/>
              <a:rect l="l" t="t" r="r" b="b"/>
              <a:pathLst>
                <a:path w="51793" h="25127" extrusionOk="0">
                  <a:moveTo>
                    <a:pt x="18228" y="1"/>
                  </a:moveTo>
                  <a:cubicBezTo>
                    <a:pt x="16310" y="1"/>
                    <a:pt x="14715" y="1511"/>
                    <a:pt x="14657" y="3432"/>
                  </a:cubicBezTo>
                  <a:lnTo>
                    <a:pt x="14348" y="12588"/>
                  </a:lnTo>
                  <a:cubicBezTo>
                    <a:pt x="14312" y="13697"/>
                    <a:pt x="13396" y="14565"/>
                    <a:pt x="12283" y="14565"/>
                  </a:cubicBezTo>
                  <a:cubicBezTo>
                    <a:pt x="12261" y="14565"/>
                    <a:pt x="12239" y="14565"/>
                    <a:pt x="12216" y="14564"/>
                  </a:cubicBezTo>
                  <a:lnTo>
                    <a:pt x="8871" y="14457"/>
                  </a:lnTo>
                  <a:cubicBezTo>
                    <a:pt x="8121" y="14433"/>
                    <a:pt x="7466" y="14005"/>
                    <a:pt x="7132" y="13397"/>
                  </a:cubicBezTo>
                  <a:cubicBezTo>
                    <a:pt x="6501" y="12302"/>
                    <a:pt x="5334" y="11540"/>
                    <a:pt x="3965" y="11492"/>
                  </a:cubicBezTo>
                  <a:cubicBezTo>
                    <a:pt x="3921" y="11491"/>
                    <a:pt x="3877" y="11490"/>
                    <a:pt x="3833" y="11490"/>
                  </a:cubicBezTo>
                  <a:cubicBezTo>
                    <a:pt x="1808" y="11490"/>
                    <a:pt x="130" y="13084"/>
                    <a:pt x="60" y="15100"/>
                  </a:cubicBezTo>
                  <a:cubicBezTo>
                    <a:pt x="0" y="17160"/>
                    <a:pt x="1632" y="18886"/>
                    <a:pt x="3715" y="18958"/>
                  </a:cubicBezTo>
                  <a:cubicBezTo>
                    <a:pt x="3750" y="18959"/>
                    <a:pt x="3784" y="18959"/>
                    <a:pt x="3818" y="18959"/>
                  </a:cubicBezTo>
                  <a:cubicBezTo>
                    <a:pt x="5145" y="18959"/>
                    <a:pt x="6317" y="18288"/>
                    <a:pt x="7001" y="17267"/>
                  </a:cubicBezTo>
                  <a:cubicBezTo>
                    <a:pt x="7371" y="16690"/>
                    <a:pt x="8020" y="16325"/>
                    <a:pt x="8743" y="16325"/>
                  </a:cubicBezTo>
                  <a:cubicBezTo>
                    <a:pt x="8765" y="16325"/>
                    <a:pt x="8788" y="16326"/>
                    <a:pt x="8811" y="16326"/>
                  </a:cubicBezTo>
                  <a:lnTo>
                    <a:pt x="12157" y="16434"/>
                  </a:lnTo>
                  <a:cubicBezTo>
                    <a:pt x="13300" y="16469"/>
                    <a:pt x="14193" y="17410"/>
                    <a:pt x="14157" y="18541"/>
                  </a:cubicBezTo>
                  <a:lnTo>
                    <a:pt x="14097" y="20470"/>
                  </a:lnTo>
                  <a:cubicBezTo>
                    <a:pt x="14026" y="22434"/>
                    <a:pt x="15586" y="24077"/>
                    <a:pt x="17562" y="24137"/>
                  </a:cubicBezTo>
                  <a:lnTo>
                    <a:pt x="47459" y="25125"/>
                  </a:lnTo>
                  <a:cubicBezTo>
                    <a:pt x="47496" y="25126"/>
                    <a:pt x="47533" y="25127"/>
                    <a:pt x="47570" y="25127"/>
                  </a:cubicBezTo>
                  <a:cubicBezTo>
                    <a:pt x="49509" y="25127"/>
                    <a:pt x="51103" y="23612"/>
                    <a:pt x="51174" y="21696"/>
                  </a:cubicBezTo>
                  <a:lnTo>
                    <a:pt x="51733" y="4646"/>
                  </a:lnTo>
                  <a:cubicBezTo>
                    <a:pt x="51793" y="2694"/>
                    <a:pt x="50245" y="1051"/>
                    <a:pt x="48257" y="979"/>
                  </a:cubicBezTo>
                  <a:lnTo>
                    <a:pt x="18360" y="3"/>
                  </a:lnTo>
                  <a:cubicBezTo>
                    <a:pt x="18316" y="1"/>
                    <a:pt x="18271" y="1"/>
                    <a:pt x="18228"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7" name="Google Shape;78;p15">
              <a:extLst>
                <a:ext uri="{FF2B5EF4-FFF2-40B4-BE49-F238E27FC236}">
                  <a16:creationId xmlns:a16="http://schemas.microsoft.com/office/drawing/2014/main" id="{6DC8C964-4458-46C4-939F-8CF7EC1D3409}"/>
                </a:ext>
              </a:extLst>
            </p:cNvPr>
            <p:cNvSpPr/>
            <p:nvPr/>
          </p:nvSpPr>
          <p:spPr>
            <a:xfrm>
              <a:off x="4624272" y="1406505"/>
              <a:ext cx="177598" cy="256316"/>
            </a:xfrm>
            <a:custGeom>
              <a:avLst/>
              <a:gdLst/>
              <a:ahLst/>
              <a:cxnLst/>
              <a:rect l="l" t="t" r="r" b="b"/>
              <a:pathLst>
                <a:path w="4644" h="6026" extrusionOk="0">
                  <a:moveTo>
                    <a:pt x="0" y="1"/>
                  </a:moveTo>
                  <a:lnTo>
                    <a:pt x="0" y="6025"/>
                  </a:lnTo>
                  <a:lnTo>
                    <a:pt x="1643" y="6025"/>
                  </a:lnTo>
                  <a:cubicBezTo>
                    <a:pt x="3298" y="6025"/>
                    <a:pt x="4643" y="4668"/>
                    <a:pt x="4643" y="3013"/>
                  </a:cubicBezTo>
                  <a:cubicBezTo>
                    <a:pt x="4643" y="2179"/>
                    <a:pt x="4310" y="1429"/>
                    <a:pt x="3762" y="894"/>
                  </a:cubicBezTo>
                  <a:cubicBezTo>
                    <a:pt x="3215" y="346"/>
                    <a:pt x="2465" y="1"/>
                    <a:pt x="1643" y="1"/>
                  </a:cubicBezTo>
                  <a:close/>
                </a:path>
              </a:pathLst>
            </a:custGeom>
            <a:solidFill>
              <a:srgbClr val="20C33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8" name="Google Shape;79;p15">
              <a:extLst>
                <a:ext uri="{FF2B5EF4-FFF2-40B4-BE49-F238E27FC236}">
                  <a16:creationId xmlns:a16="http://schemas.microsoft.com/office/drawing/2014/main" id="{891E867C-34C5-4059-B98F-4C9909A5F9FA}"/>
                </a:ext>
              </a:extLst>
            </p:cNvPr>
            <p:cNvSpPr/>
            <p:nvPr/>
          </p:nvSpPr>
          <p:spPr>
            <a:xfrm>
              <a:off x="2725573" y="1151201"/>
              <a:ext cx="1939698" cy="923901"/>
            </a:xfrm>
            <a:custGeom>
              <a:avLst/>
              <a:gdLst/>
              <a:ahLst/>
              <a:cxnLst/>
              <a:rect l="l" t="t" r="r" b="b"/>
              <a:pathLst>
                <a:path w="50721" h="24159" extrusionOk="0">
                  <a:moveTo>
                    <a:pt x="17597" y="1"/>
                  </a:moveTo>
                  <a:cubicBezTo>
                    <a:pt x="15633" y="1"/>
                    <a:pt x="14037" y="1596"/>
                    <a:pt x="14037" y="3561"/>
                  </a:cubicBezTo>
                  <a:lnTo>
                    <a:pt x="14037" y="12717"/>
                  </a:lnTo>
                  <a:cubicBezTo>
                    <a:pt x="14037" y="13848"/>
                    <a:pt x="13121" y="14764"/>
                    <a:pt x="11990" y="14764"/>
                  </a:cubicBezTo>
                  <a:lnTo>
                    <a:pt x="8692" y="14764"/>
                  </a:lnTo>
                  <a:cubicBezTo>
                    <a:pt x="7941" y="14764"/>
                    <a:pt x="7287" y="14360"/>
                    <a:pt x="6929" y="13764"/>
                  </a:cubicBezTo>
                  <a:cubicBezTo>
                    <a:pt x="6275" y="12681"/>
                    <a:pt x="5084" y="11966"/>
                    <a:pt x="3739" y="11966"/>
                  </a:cubicBezTo>
                  <a:cubicBezTo>
                    <a:pt x="1679" y="11966"/>
                    <a:pt x="0" y="13633"/>
                    <a:pt x="0" y="15693"/>
                  </a:cubicBezTo>
                  <a:cubicBezTo>
                    <a:pt x="0" y="17753"/>
                    <a:pt x="1679" y="19432"/>
                    <a:pt x="3739" y="19432"/>
                  </a:cubicBezTo>
                  <a:cubicBezTo>
                    <a:pt x="5084" y="19432"/>
                    <a:pt x="6275" y="18705"/>
                    <a:pt x="6929" y="17634"/>
                  </a:cubicBezTo>
                  <a:cubicBezTo>
                    <a:pt x="7287" y="17027"/>
                    <a:pt x="7941" y="16634"/>
                    <a:pt x="8692" y="16634"/>
                  </a:cubicBezTo>
                  <a:lnTo>
                    <a:pt x="11990" y="16634"/>
                  </a:lnTo>
                  <a:cubicBezTo>
                    <a:pt x="13121" y="16634"/>
                    <a:pt x="14037" y="17539"/>
                    <a:pt x="14037" y="18670"/>
                  </a:cubicBezTo>
                  <a:lnTo>
                    <a:pt x="14037" y="20598"/>
                  </a:lnTo>
                  <a:cubicBezTo>
                    <a:pt x="14037" y="22563"/>
                    <a:pt x="15633" y="24158"/>
                    <a:pt x="17597" y="24158"/>
                  </a:cubicBezTo>
                  <a:lnTo>
                    <a:pt x="47173" y="24158"/>
                  </a:lnTo>
                  <a:cubicBezTo>
                    <a:pt x="49137" y="24158"/>
                    <a:pt x="50721" y="22563"/>
                    <a:pt x="50721" y="20598"/>
                  </a:cubicBezTo>
                  <a:lnTo>
                    <a:pt x="50721" y="3561"/>
                  </a:lnTo>
                  <a:cubicBezTo>
                    <a:pt x="50721" y="1596"/>
                    <a:pt x="49137" y="1"/>
                    <a:pt x="47173" y="1"/>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9" name="Google Shape;80;p15">
              <a:extLst>
                <a:ext uri="{FF2B5EF4-FFF2-40B4-BE49-F238E27FC236}">
                  <a16:creationId xmlns:a16="http://schemas.microsoft.com/office/drawing/2014/main" id="{95F1889E-7907-4030-8EEE-ECA4D5ED5889}"/>
                </a:ext>
              </a:extLst>
            </p:cNvPr>
            <p:cNvSpPr/>
            <p:nvPr/>
          </p:nvSpPr>
          <p:spPr>
            <a:xfrm>
              <a:off x="2752419" y="1635195"/>
              <a:ext cx="232247" cy="232285"/>
            </a:xfrm>
            <a:custGeom>
              <a:avLst/>
              <a:gdLst/>
              <a:ahLst/>
              <a:cxnLst/>
              <a:rect l="l" t="t" r="r" b="b"/>
              <a:pathLst>
                <a:path w="6073" h="6074"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0" name="Google Shape;81;p15">
              <a:extLst>
                <a:ext uri="{FF2B5EF4-FFF2-40B4-BE49-F238E27FC236}">
                  <a16:creationId xmlns:a16="http://schemas.microsoft.com/office/drawing/2014/main" id="{5C971AAA-9DC3-4039-9F17-6418C4E42CE7}"/>
                </a:ext>
              </a:extLst>
            </p:cNvPr>
            <p:cNvSpPr/>
            <p:nvPr/>
          </p:nvSpPr>
          <p:spPr>
            <a:xfrm>
              <a:off x="3195458" y="1181162"/>
              <a:ext cx="1606414" cy="368736"/>
            </a:xfrm>
            <a:custGeom>
              <a:avLst/>
              <a:gdLst/>
              <a:ahLst/>
              <a:cxnLst/>
              <a:rect l="l" t="t" r="r" b="b"/>
              <a:pathLst>
                <a:path w="42006" h="8669" extrusionOk="0">
                  <a:moveTo>
                    <a:pt x="3001" y="0"/>
                  </a:moveTo>
                  <a:cubicBezTo>
                    <a:pt x="1465" y="0"/>
                    <a:pt x="191" y="1155"/>
                    <a:pt x="12" y="2655"/>
                  </a:cubicBezTo>
                  <a:cubicBezTo>
                    <a:pt x="0" y="2775"/>
                    <a:pt x="0" y="2894"/>
                    <a:pt x="0" y="3013"/>
                  </a:cubicBezTo>
                  <a:cubicBezTo>
                    <a:pt x="0" y="4668"/>
                    <a:pt x="1346" y="6013"/>
                    <a:pt x="3001" y="6013"/>
                  </a:cubicBezTo>
                  <a:lnTo>
                    <a:pt x="39005" y="6013"/>
                  </a:lnTo>
                  <a:cubicBezTo>
                    <a:pt x="39827" y="6013"/>
                    <a:pt x="40589" y="6358"/>
                    <a:pt x="41124" y="6894"/>
                  </a:cubicBezTo>
                  <a:cubicBezTo>
                    <a:pt x="41589" y="7358"/>
                    <a:pt x="41898" y="7978"/>
                    <a:pt x="41982" y="8668"/>
                  </a:cubicBezTo>
                  <a:lnTo>
                    <a:pt x="42005" y="8311"/>
                  </a:lnTo>
                  <a:lnTo>
                    <a:pt x="42005" y="3013"/>
                  </a:lnTo>
                  <a:cubicBezTo>
                    <a:pt x="42005" y="2179"/>
                    <a:pt x="41672" y="1429"/>
                    <a:pt x="41124" y="881"/>
                  </a:cubicBezTo>
                  <a:cubicBezTo>
                    <a:pt x="40589" y="346"/>
                    <a:pt x="39827" y="0"/>
                    <a:pt x="39005"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1" name="Google Shape;82;p15">
              <a:extLst>
                <a:ext uri="{FF2B5EF4-FFF2-40B4-BE49-F238E27FC236}">
                  <a16:creationId xmlns:a16="http://schemas.microsoft.com/office/drawing/2014/main" id="{C9F0DFBC-C641-4D92-BC71-2B615AB7D0D0}"/>
                </a:ext>
              </a:extLst>
            </p:cNvPr>
            <p:cNvSpPr/>
            <p:nvPr/>
          </p:nvSpPr>
          <p:spPr>
            <a:xfrm>
              <a:off x="3195458" y="1150750"/>
              <a:ext cx="1606414" cy="383921"/>
            </a:xfrm>
            <a:custGeom>
              <a:avLst/>
              <a:gdLst/>
              <a:ahLst/>
              <a:cxnLst/>
              <a:rect l="l" t="t" r="r" b="b"/>
              <a:pathLst>
                <a:path w="42006" h="9026" extrusionOk="0">
                  <a:moveTo>
                    <a:pt x="3001" y="1"/>
                  </a:moveTo>
                  <a:cubicBezTo>
                    <a:pt x="1346" y="1"/>
                    <a:pt x="0" y="1346"/>
                    <a:pt x="0" y="3013"/>
                  </a:cubicBezTo>
                  <a:cubicBezTo>
                    <a:pt x="0" y="4668"/>
                    <a:pt x="1346" y="6014"/>
                    <a:pt x="3001" y="6014"/>
                  </a:cubicBezTo>
                  <a:lnTo>
                    <a:pt x="39005" y="6014"/>
                  </a:lnTo>
                  <a:cubicBezTo>
                    <a:pt x="39827" y="6014"/>
                    <a:pt x="40577" y="6359"/>
                    <a:pt x="41124" y="6907"/>
                  </a:cubicBezTo>
                  <a:cubicBezTo>
                    <a:pt x="41672" y="7442"/>
                    <a:pt x="42005" y="8192"/>
                    <a:pt x="42005" y="9026"/>
                  </a:cubicBezTo>
                  <a:lnTo>
                    <a:pt x="42005" y="3013"/>
                  </a:lnTo>
                  <a:cubicBezTo>
                    <a:pt x="42005" y="2180"/>
                    <a:pt x="41672" y="1430"/>
                    <a:pt x="41124" y="882"/>
                  </a:cubicBezTo>
                  <a:cubicBezTo>
                    <a:pt x="40577" y="346"/>
                    <a:pt x="39827" y="1"/>
                    <a:pt x="39005"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2" name="Google Shape;83;p15">
              <a:extLst>
                <a:ext uri="{FF2B5EF4-FFF2-40B4-BE49-F238E27FC236}">
                  <a16:creationId xmlns:a16="http://schemas.microsoft.com/office/drawing/2014/main" id="{EA1CECF7-D481-4C83-A7A9-F85EB7310D4C}"/>
                </a:ext>
              </a:extLst>
            </p:cNvPr>
            <p:cNvSpPr txBox="1"/>
            <p:nvPr/>
          </p:nvSpPr>
          <p:spPr>
            <a:xfrm>
              <a:off x="3265722" y="1475500"/>
              <a:ext cx="1390200" cy="534900"/>
            </a:xfrm>
            <a:prstGeom prst="rect">
              <a:avLst/>
            </a:prstGeom>
            <a:noFill/>
            <a:ln>
              <a:noFill/>
            </a:ln>
          </p:spPr>
          <p:txBody>
            <a:bodyPr spcFirstLastPara="1" wrap="square" lIns="91425" tIns="91425" rIns="91425" bIns="91425" anchor="ctr" anchorCtr="0">
              <a:noAutofit/>
            </a:bodyPr>
            <a:lstStyle/>
            <a:p>
              <a:pPr algn="ctr"/>
              <a:r>
                <a:rPr lang="en" sz="1400" dirty="0">
                  <a:sym typeface="Roboto"/>
                </a:rPr>
                <a:t>- Sobol analysis</a:t>
              </a:r>
            </a:p>
            <a:p>
              <a:pPr algn="ctr"/>
              <a:r>
                <a:rPr lang="en" sz="1400" dirty="0">
                  <a:sym typeface="Roboto"/>
                </a:rPr>
                <a:t>- TreeSHAP</a:t>
              </a:r>
              <a:endParaRPr sz="1400" dirty="0">
                <a:sym typeface="Roboto"/>
              </a:endParaRPr>
            </a:p>
          </p:txBody>
        </p:sp>
        <p:sp>
          <p:nvSpPr>
            <p:cNvPr id="113" name="Google Shape;84;p15">
              <a:extLst>
                <a:ext uri="{FF2B5EF4-FFF2-40B4-BE49-F238E27FC236}">
                  <a16:creationId xmlns:a16="http://schemas.microsoft.com/office/drawing/2014/main" id="{77419ECF-69A6-43B9-9367-F75A478BFA75}"/>
                </a:ext>
              </a:extLst>
            </p:cNvPr>
            <p:cNvSpPr txBox="1"/>
            <p:nvPr/>
          </p:nvSpPr>
          <p:spPr>
            <a:xfrm>
              <a:off x="3195450" y="1150750"/>
              <a:ext cx="1469700" cy="255900"/>
            </a:xfrm>
            <a:prstGeom prst="rect">
              <a:avLst/>
            </a:prstGeom>
            <a:noFill/>
            <a:ln>
              <a:noFill/>
            </a:ln>
          </p:spPr>
          <p:txBody>
            <a:bodyPr spcFirstLastPara="1" wrap="square" lIns="91425" tIns="91425" rIns="91425" bIns="91425" anchor="ctr" anchorCtr="0">
              <a:noAutofit/>
            </a:bodyPr>
            <a:lstStyle/>
            <a:p>
              <a:pPr algn="ctr"/>
              <a:r>
                <a:rPr lang="en" sz="1100" b="1" dirty="0">
                  <a:solidFill>
                    <a:schemeClr val="bg1"/>
                  </a:solidFill>
                  <a:latin typeface="Source Sans Pro" panose="020B0503030403020204" pitchFamily="34" charset="0"/>
                  <a:ea typeface="Source Sans Pro" panose="020B0503030403020204" pitchFamily="34" charset="0"/>
                  <a:sym typeface="Fira Sans Extra Condensed Medium"/>
                </a:rPr>
                <a:t>Sensitivity Analysis</a:t>
              </a:r>
              <a:endParaRPr sz="11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14" name="Google Shape;85;p15">
            <a:extLst>
              <a:ext uri="{FF2B5EF4-FFF2-40B4-BE49-F238E27FC236}">
                <a16:creationId xmlns:a16="http://schemas.microsoft.com/office/drawing/2014/main" id="{2201D2E5-DEAF-43B8-962B-7BDBECF6F0EB}"/>
              </a:ext>
            </a:extLst>
          </p:cNvPr>
          <p:cNvGrpSpPr/>
          <p:nvPr/>
        </p:nvGrpSpPr>
        <p:grpSpPr>
          <a:xfrm>
            <a:off x="8183660" y="1457239"/>
            <a:ext cx="2079971" cy="979046"/>
            <a:chOff x="933838" y="532900"/>
            <a:chExt cx="2079971" cy="979046"/>
          </a:xfrm>
        </p:grpSpPr>
        <p:sp>
          <p:nvSpPr>
            <p:cNvPr id="115" name="Google Shape;86;p15">
              <a:extLst>
                <a:ext uri="{FF2B5EF4-FFF2-40B4-BE49-F238E27FC236}">
                  <a16:creationId xmlns:a16="http://schemas.microsoft.com/office/drawing/2014/main" id="{2D45320F-3416-4018-94D6-71980784B420}"/>
                </a:ext>
              </a:extLst>
            </p:cNvPr>
            <p:cNvSpPr/>
            <p:nvPr/>
          </p:nvSpPr>
          <p:spPr>
            <a:xfrm>
              <a:off x="1033115" y="551027"/>
              <a:ext cx="1980694" cy="960919"/>
            </a:xfrm>
            <a:custGeom>
              <a:avLst/>
              <a:gdLst/>
              <a:ahLst/>
              <a:cxnLst/>
              <a:rect l="l" t="t" r="r" b="b"/>
              <a:pathLst>
                <a:path w="51793" h="25127" extrusionOk="0">
                  <a:moveTo>
                    <a:pt x="33544" y="1"/>
                  </a:moveTo>
                  <a:cubicBezTo>
                    <a:pt x="33507" y="1"/>
                    <a:pt x="33470" y="1"/>
                    <a:pt x="33433" y="2"/>
                  </a:cubicBezTo>
                  <a:lnTo>
                    <a:pt x="3537" y="990"/>
                  </a:lnTo>
                  <a:cubicBezTo>
                    <a:pt x="1548" y="1050"/>
                    <a:pt x="0" y="2693"/>
                    <a:pt x="60" y="4658"/>
                  </a:cubicBezTo>
                  <a:lnTo>
                    <a:pt x="620" y="21695"/>
                  </a:lnTo>
                  <a:cubicBezTo>
                    <a:pt x="690" y="23611"/>
                    <a:pt x="2284" y="25126"/>
                    <a:pt x="4211" y="25126"/>
                  </a:cubicBezTo>
                  <a:cubicBezTo>
                    <a:pt x="4248" y="25126"/>
                    <a:pt x="4285" y="25126"/>
                    <a:pt x="4322" y="25124"/>
                  </a:cubicBezTo>
                  <a:lnTo>
                    <a:pt x="34231" y="24136"/>
                  </a:lnTo>
                  <a:cubicBezTo>
                    <a:pt x="36207" y="24077"/>
                    <a:pt x="37767" y="22434"/>
                    <a:pt x="37696" y="20469"/>
                  </a:cubicBezTo>
                  <a:lnTo>
                    <a:pt x="37636" y="18540"/>
                  </a:lnTo>
                  <a:cubicBezTo>
                    <a:pt x="37600" y="17409"/>
                    <a:pt x="38493" y="16469"/>
                    <a:pt x="39636" y="16433"/>
                  </a:cubicBezTo>
                  <a:lnTo>
                    <a:pt x="42982" y="16326"/>
                  </a:lnTo>
                  <a:cubicBezTo>
                    <a:pt x="43004" y="16325"/>
                    <a:pt x="43026" y="16325"/>
                    <a:pt x="43049" y="16325"/>
                  </a:cubicBezTo>
                  <a:cubicBezTo>
                    <a:pt x="43772" y="16325"/>
                    <a:pt x="44422" y="16700"/>
                    <a:pt x="44792" y="17266"/>
                  </a:cubicBezTo>
                  <a:cubicBezTo>
                    <a:pt x="45460" y="18291"/>
                    <a:pt x="46628" y="18959"/>
                    <a:pt x="47943" y="18959"/>
                  </a:cubicBezTo>
                  <a:cubicBezTo>
                    <a:pt x="47988" y="18959"/>
                    <a:pt x="48033" y="18959"/>
                    <a:pt x="48078" y="18957"/>
                  </a:cubicBezTo>
                  <a:cubicBezTo>
                    <a:pt x="50162" y="18886"/>
                    <a:pt x="51793" y="17159"/>
                    <a:pt x="51721" y="15099"/>
                  </a:cubicBezTo>
                  <a:cubicBezTo>
                    <a:pt x="51663" y="13077"/>
                    <a:pt x="49974" y="11490"/>
                    <a:pt x="47940" y="11490"/>
                  </a:cubicBezTo>
                  <a:cubicBezTo>
                    <a:pt x="47903" y="11490"/>
                    <a:pt x="47865" y="11491"/>
                    <a:pt x="47828" y="11492"/>
                  </a:cubicBezTo>
                  <a:cubicBezTo>
                    <a:pt x="46459" y="11539"/>
                    <a:pt x="45292" y="12301"/>
                    <a:pt x="44661" y="13397"/>
                  </a:cubicBezTo>
                  <a:cubicBezTo>
                    <a:pt x="44327" y="14004"/>
                    <a:pt x="43673" y="14433"/>
                    <a:pt x="42911" y="14456"/>
                  </a:cubicBezTo>
                  <a:lnTo>
                    <a:pt x="39577" y="14575"/>
                  </a:lnTo>
                  <a:cubicBezTo>
                    <a:pt x="39555" y="14576"/>
                    <a:pt x="39533" y="14577"/>
                    <a:pt x="39511" y="14577"/>
                  </a:cubicBezTo>
                  <a:cubicBezTo>
                    <a:pt x="38397" y="14577"/>
                    <a:pt x="37480" y="13697"/>
                    <a:pt x="37434" y="12599"/>
                  </a:cubicBezTo>
                  <a:lnTo>
                    <a:pt x="37136" y="3431"/>
                  </a:lnTo>
                  <a:cubicBezTo>
                    <a:pt x="37078" y="1515"/>
                    <a:pt x="35472" y="1"/>
                    <a:pt x="33544"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6" name="Google Shape;87;p15">
              <a:extLst>
                <a:ext uri="{FF2B5EF4-FFF2-40B4-BE49-F238E27FC236}">
                  <a16:creationId xmlns:a16="http://schemas.microsoft.com/office/drawing/2014/main" id="{BDA0101D-5554-46D6-8962-B391E05395DF}"/>
                </a:ext>
              </a:extLst>
            </p:cNvPr>
            <p:cNvSpPr/>
            <p:nvPr/>
          </p:nvSpPr>
          <p:spPr>
            <a:xfrm>
              <a:off x="933838" y="788897"/>
              <a:ext cx="177598" cy="256076"/>
            </a:xfrm>
            <a:custGeom>
              <a:avLst/>
              <a:gdLst/>
              <a:ahLst/>
              <a:cxnLst/>
              <a:rect l="l" t="t" r="r" b="b"/>
              <a:pathLst>
                <a:path w="4644" h="6014" extrusionOk="0">
                  <a:moveTo>
                    <a:pt x="3001" y="1"/>
                  </a:moveTo>
                  <a:cubicBezTo>
                    <a:pt x="2168" y="1"/>
                    <a:pt x="1417" y="334"/>
                    <a:pt x="882" y="882"/>
                  </a:cubicBezTo>
                  <a:cubicBezTo>
                    <a:pt x="334" y="1418"/>
                    <a:pt x="1" y="2180"/>
                    <a:pt x="1" y="3001"/>
                  </a:cubicBezTo>
                  <a:cubicBezTo>
                    <a:pt x="1" y="4668"/>
                    <a:pt x="1346" y="6014"/>
                    <a:pt x="3001" y="6014"/>
                  </a:cubicBezTo>
                  <a:lnTo>
                    <a:pt x="4644" y="6014"/>
                  </a:lnTo>
                  <a:lnTo>
                    <a:pt x="4644" y="1"/>
                  </a:lnTo>
                  <a:close/>
                </a:path>
              </a:pathLst>
            </a:custGeom>
            <a:solidFill>
              <a:srgbClr val="EB7D1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7" name="Google Shape;88;p15">
              <a:extLst>
                <a:ext uri="{FF2B5EF4-FFF2-40B4-BE49-F238E27FC236}">
                  <a16:creationId xmlns:a16="http://schemas.microsoft.com/office/drawing/2014/main" id="{7CB20802-978F-41AD-9269-259B526D0425}"/>
                </a:ext>
              </a:extLst>
            </p:cNvPr>
            <p:cNvSpPr/>
            <p:nvPr/>
          </p:nvSpPr>
          <p:spPr>
            <a:xfrm>
              <a:off x="1071816" y="532900"/>
              <a:ext cx="1939277" cy="923862"/>
            </a:xfrm>
            <a:custGeom>
              <a:avLst/>
              <a:gdLst/>
              <a:ahLst/>
              <a:cxnLst/>
              <a:rect l="l" t="t" r="r" b="b"/>
              <a:pathLst>
                <a:path w="50710" h="24158" extrusionOk="0">
                  <a:moveTo>
                    <a:pt x="3549" y="0"/>
                  </a:moveTo>
                  <a:cubicBezTo>
                    <a:pt x="1584" y="0"/>
                    <a:pt x="1" y="1595"/>
                    <a:pt x="1" y="3560"/>
                  </a:cubicBezTo>
                  <a:lnTo>
                    <a:pt x="1" y="20610"/>
                  </a:lnTo>
                  <a:cubicBezTo>
                    <a:pt x="1" y="22562"/>
                    <a:pt x="1584" y="24158"/>
                    <a:pt x="3549" y="24158"/>
                  </a:cubicBezTo>
                  <a:lnTo>
                    <a:pt x="33124" y="24158"/>
                  </a:lnTo>
                  <a:cubicBezTo>
                    <a:pt x="35088" y="24158"/>
                    <a:pt x="36684" y="22562"/>
                    <a:pt x="36684" y="20610"/>
                  </a:cubicBezTo>
                  <a:lnTo>
                    <a:pt x="36684" y="18669"/>
                  </a:lnTo>
                  <a:cubicBezTo>
                    <a:pt x="36684" y="17550"/>
                    <a:pt x="37600" y="16633"/>
                    <a:pt x="38720" y="16633"/>
                  </a:cubicBezTo>
                  <a:lnTo>
                    <a:pt x="42030" y="16633"/>
                  </a:lnTo>
                  <a:cubicBezTo>
                    <a:pt x="42780" y="16633"/>
                    <a:pt x="43435" y="17038"/>
                    <a:pt x="43792" y="17633"/>
                  </a:cubicBezTo>
                  <a:cubicBezTo>
                    <a:pt x="44447" y="18705"/>
                    <a:pt x="45625" y="19431"/>
                    <a:pt x="46983" y="19431"/>
                  </a:cubicBezTo>
                  <a:cubicBezTo>
                    <a:pt x="49042" y="19431"/>
                    <a:pt x="50709" y="17752"/>
                    <a:pt x="50709" y="15692"/>
                  </a:cubicBezTo>
                  <a:cubicBezTo>
                    <a:pt x="50709" y="13633"/>
                    <a:pt x="49042" y="11966"/>
                    <a:pt x="46983" y="11966"/>
                  </a:cubicBezTo>
                  <a:cubicBezTo>
                    <a:pt x="45625" y="11966"/>
                    <a:pt x="44447" y="12692"/>
                    <a:pt x="43792" y="13764"/>
                  </a:cubicBezTo>
                  <a:cubicBezTo>
                    <a:pt x="43435" y="14359"/>
                    <a:pt x="42780" y="14764"/>
                    <a:pt x="42030" y="14764"/>
                  </a:cubicBezTo>
                  <a:lnTo>
                    <a:pt x="38720" y="14764"/>
                  </a:lnTo>
                  <a:cubicBezTo>
                    <a:pt x="37600" y="14764"/>
                    <a:pt x="36684" y="13847"/>
                    <a:pt x="36684" y="12728"/>
                  </a:cubicBezTo>
                  <a:lnTo>
                    <a:pt x="36684" y="3560"/>
                  </a:lnTo>
                  <a:cubicBezTo>
                    <a:pt x="36684" y="1595"/>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8" name="Google Shape;89;p15">
              <a:extLst>
                <a:ext uri="{FF2B5EF4-FFF2-40B4-BE49-F238E27FC236}">
                  <a16:creationId xmlns:a16="http://schemas.microsoft.com/office/drawing/2014/main" id="{404C4F71-166D-428E-968E-5709107F800A}"/>
                </a:ext>
              </a:extLst>
            </p:cNvPr>
            <p:cNvSpPr/>
            <p:nvPr/>
          </p:nvSpPr>
          <p:spPr>
            <a:xfrm>
              <a:off x="2752419" y="1016894"/>
              <a:ext cx="232247" cy="232706"/>
            </a:xfrm>
            <a:custGeom>
              <a:avLst/>
              <a:gdLst/>
              <a:ahLst/>
              <a:cxnLst/>
              <a:rect l="l" t="t" r="r" b="b"/>
              <a:pathLst>
                <a:path w="6073" h="6085" extrusionOk="0">
                  <a:moveTo>
                    <a:pt x="3037" y="0"/>
                  </a:moveTo>
                  <a:cubicBezTo>
                    <a:pt x="1358" y="0"/>
                    <a:pt x="0" y="1370"/>
                    <a:pt x="0" y="3036"/>
                  </a:cubicBezTo>
                  <a:cubicBezTo>
                    <a:pt x="0" y="4715"/>
                    <a:pt x="1358" y="6084"/>
                    <a:pt x="3037" y="6084"/>
                  </a:cubicBezTo>
                  <a:cubicBezTo>
                    <a:pt x="4715" y="6084"/>
                    <a:pt x="6073" y="4715"/>
                    <a:pt x="6073" y="3036"/>
                  </a:cubicBezTo>
                  <a:cubicBezTo>
                    <a:pt x="6073" y="1370"/>
                    <a:pt x="4715" y="0"/>
                    <a:pt x="3037"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9" name="Google Shape;90;p15">
              <a:extLst>
                <a:ext uri="{FF2B5EF4-FFF2-40B4-BE49-F238E27FC236}">
                  <a16:creationId xmlns:a16="http://schemas.microsoft.com/office/drawing/2014/main" id="{4C95642E-136E-4053-862C-F226CEE75951}"/>
                </a:ext>
              </a:extLst>
            </p:cNvPr>
            <p:cNvSpPr/>
            <p:nvPr/>
          </p:nvSpPr>
          <p:spPr>
            <a:xfrm>
              <a:off x="935214" y="562799"/>
              <a:ext cx="1606414" cy="369126"/>
            </a:xfrm>
            <a:custGeom>
              <a:avLst/>
              <a:gdLst/>
              <a:ahLst/>
              <a:cxnLst/>
              <a:rect l="l" t="t" r="r" b="b"/>
              <a:pathLst>
                <a:path w="42006" h="8669" extrusionOk="0">
                  <a:moveTo>
                    <a:pt x="3001" y="1"/>
                  </a:moveTo>
                  <a:cubicBezTo>
                    <a:pt x="2168" y="1"/>
                    <a:pt x="1417" y="346"/>
                    <a:pt x="882" y="882"/>
                  </a:cubicBezTo>
                  <a:cubicBezTo>
                    <a:pt x="334" y="1429"/>
                    <a:pt x="1" y="2180"/>
                    <a:pt x="1" y="3013"/>
                  </a:cubicBezTo>
                  <a:lnTo>
                    <a:pt x="1" y="8311"/>
                  </a:lnTo>
                  <a:lnTo>
                    <a:pt x="24" y="8668"/>
                  </a:lnTo>
                  <a:cubicBezTo>
                    <a:pt x="108" y="7978"/>
                    <a:pt x="417" y="7371"/>
                    <a:pt x="882" y="6894"/>
                  </a:cubicBezTo>
                  <a:cubicBezTo>
                    <a:pt x="1417" y="6359"/>
                    <a:pt x="2168" y="6013"/>
                    <a:pt x="3001" y="6013"/>
                  </a:cubicBezTo>
                  <a:lnTo>
                    <a:pt x="39006" y="6013"/>
                  </a:lnTo>
                  <a:cubicBezTo>
                    <a:pt x="40660" y="6013"/>
                    <a:pt x="42006" y="4668"/>
                    <a:pt x="42006" y="3013"/>
                  </a:cubicBezTo>
                  <a:cubicBezTo>
                    <a:pt x="42006" y="2894"/>
                    <a:pt x="42006" y="2775"/>
                    <a:pt x="41982" y="2656"/>
                  </a:cubicBezTo>
                  <a:cubicBezTo>
                    <a:pt x="41815" y="1168"/>
                    <a:pt x="40541" y="1"/>
                    <a:pt x="39006"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0" name="Google Shape;91;p15">
              <a:extLst>
                <a:ext uri="{FF2B5EF4-FFF2-40B4-BE49-F238E27FC236}">
                  <a16:creationId xmlns:a16="http://schemas.microsoft.com/office/drawing/2014/main" id="{B238878A-CC96-42DA-9ECC-256BA35DAAF5}"/>
                </a:ext>
              </a:extLst>
            </p:cNvPr>
            <p:cNvSpPr/>
            <p:nvPr/>
          </p:nvSpPr>
          <p:spPr>
            <a:xfrm>
              <a:off x="935214" y="532909"/>
              <a:ext cx="1606414" cy="383816"/>
            </a:xfrm>
            <a:custGeom>
              <a:avLst/>
              <a:gdLst/>
              <a:ahLst/>
              <a:cxnLst/>
              <a:rect l="l" t="t" r="r" b="b"/>
              <a:pathLst>
                <a:path w="42006" h="9014" extrusionOk="0">
                  <a:moveTo>
                    <a:pt x="3001" y="0"/>
                  </a:moveTo>
                  <a:cubicBezTo>
                    <a:pt x="2168" y="0"/>
                    <a:pt x="1417" y="334"/>
                    <a:pt x="882" y="881"/>
                  </a:cubicBezTo>
                  <a:cubicBezTo>
                    <a:pt x="334" y="1417"/>
                    <a:pt x="1" y="2167"/>
                    <a:pt x="1" y="3001"/>
                  </a:cubicBezTo>
                  <a:lnTo>
                    <a:pt x="1" y="9013"/>
                  </a:lnTo>
                  <a:cubicBezTo>
                    <a:pt x="1" y="8192"/>
                    <a:pt x="334" y="7430"/>
                    <a:pt x="882" y="6894"/>
                  </a:cubicBezTo>
                  <a:cubicBezTo>
                    <a:pt x="1417" y="6346"/>
                    <a:pt x="2168" y="6013"/>
                    <a:pt x="3001" y="6013"/>
                  </a:cubicBezTo>
                  <a:lnTo>
                    <a:pt x="39006" y="6013"/>
                  </a:lnTo>
                  <a:cubicBezTo>
                    <a:pt x="40660" y="6013"/>
                    <a:pt x="42006" y="4667"/>
                    <a:pt x="42006" y="3001"/>
                  </a:cubicBezTo>
                  <a:cubicBezTo>
                    <a:pt x="42006" y="1346"/>
                    <a:pt x="40660" y="0"/>
                    <a:pt x="39006"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Fira Sans Extra Condensed"/>
                <a:ea typeface="Fira Sans Extra Condensed"/>
                <a:cs typeface="Fira Sans Extra Condensed"/>
                <a:sym typeface="Fira Sans Extra Condensed"/>
              </a:endParaRPr>
            </a:p>
          </p:txBody>
        </p:sp>
        <p:sp>
          <p:nvSpPr>
            <p:cNvPr id="121" name="Google Shape;92;p15">
              <a:extLst>
                <a:ext uri="{FF2B5EF4-FFF2-40B4-BE49-F238E27FC236}">
                  <a16:creationId xmlns:a16="http://schemas.microsoft.com/office/drawing/2014/main" id="{31A92F4D-3F21-4A1D-91FA-EE76C44A42DB}"/>
                </a:ext>
              </a:extLst>
            </p:cNvPr>
            <p:cNvSpPr txBox="1"/>
            <p:nvPr/>
          </p:nvSpPr>
          <p:spPr>
            <a:xfrm>
              <a:off x="1081172" y="857225"/>
              <a:ext cx="1390200" cy="53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CO" sz="1200" dirty="0"/>
                <a:t>Interpretable Regional Descriptors</a:t>
              </a:r>
              <a:endParaRPr sz="1200" dirty="0">
                <a:sym typeface="Roboto"/>
              </a:endParaRPr>
            </a:p>
          </p:txBody>
        </p:sp>
        <p:sp>
          <p:nvSpPr>
            <p:cNvPr id="122" name="Google Shape;93;p15">
              <a:extLst>
                <a:ext uri="{FF2B5EF4-FFF2-40B4-BE49-F238E27FC236}">
                  <a16:creationId xmlns:a16="http://schemas.microsoft.com/office/drawing/2014/main" id="{AE5F2A0D-50E6-45B9-A7AB-72EFBAEC1E71}"/>
                </a:ext>
              </a:extLst>
            </p:cNvPr>
            <p:cNvSpPr txBox="1"/>
            <p:nvPr/>
          </p:nvSpPr>
          <p:spPr>
            <a:xfrm>
              <a:off x="1071825" y="532900"/>
              <a:ext cx="1469700" cy="25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Medium"/>
                </a:rPr>
                <a:t>Model validy</a:t>
              </a:r>
              <a:endParaRPr sz="16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23" name="Google Shape;94;p15">
            <a:extLst>
              <a:ext uri="{FF2B5EF4-FFF2-40B4-BE49-F238E27FC236}">
                <a16:creationId xmlns:a16="http://schemas.microsoft.com/office/drawing/2014/main" id="{C01F74D7-8FA8-4515-A00E-9E380E14CD29}"/>
              </a:ext>
            </a:extLst>
          </p:cNvPr>
          <p:cNvGrpSpPr/>
          <p:nvPr/>
        </p:nvGrpSpPr>
        <p:grpSpPr>
          <a:xfrm>
            <a:off x="8233298" y="3363930"/>
            <a:ext cx="2079971" cy="979077"/>
            <a:chOff x="933838" y="1769089"/>
            <a:chExt cx="2079971" cy="979077"/>
          </a:xfrm>
        </p:grpSpPr>
        <p:sp>
          <p:nvSpPr>
            <p:cNvPr id="124" name="Google Shape;95;p15">
              <a:extLst>
                <a:ext uri="{FF2B5EF4-FFF2-40B4-BE49-F238E27FC236}">
                  <a16:creationId xmlns:a16="http://schemas.microsoft.com/office/drawing/2014/main" id="{1ABD0030-A84A-4C52-96B4-1372721B1D46}"/>
                </a:ext>
              </a:extLst>
            </p:cNvPr>
            <p:cNvSpPr/>
            <p:nvPr/>
          </p:nvSpPr>
          <p:spPr>
            <a:xfrm>
              <a:off x="1033115" y="1787667"/>
              <a:ext cx="1980694" cy="960499"/>
            </a:xfrm>
            <a:custGeom>
              <a:avLst/>
              <a:gdLst/>
              <a:ahLst/>
              <a:cxnLst/>
              <a:rect l="l" t="t" r="r" b="b"/>
              <a:pathLst>
                <a:path w="51793" h="25116" extrusionOk="0">
                  <a:moveTo>
                    <a:pt x="33566" y="0"/>
                  </a:moveTo>
                  <a:cubicBezTo>
                    <a:pt x="33522" y="0"/>
                    <a:pt x="33478" y="1"/>
                    <a:pt x="33433" y="3"/>
                  </a:cubicBezTo>
                  <a:lnTo>
                    <a:pt x="3537" y="979"/>
                  </a:lnTo>
                  <a:cubicBezTo>
                    <a:pt x="1548" y="1050"/>
                    <a:pt x="0" y="2693"/>
                    <a:pt x="60" y="4646"/>
                  </a:cubicBezTo>
                  <a:lnTo>
                    <a:pt x="620" y="21684"/>
                  </a:lnTo>
                  <a:cubicBezTo>
                    <a:pt x="689" y="23604"/>
                    <a:pt x="2273" y="25115"/>
                    <a:pt x="4190" y="25115"/>
                  </a:cubicBezTo>
                  <a:cubicBezTo>
                    <a:pt x="4234" y="25115"/>
                    <a:pt x="4278" y="25114"/>
                    <a:pt x="4322" y="25113"/>
                  </a:cubicBezTo>
                  <a:lnTo>
                    <a:pt x="34231" y="24136"/>
                  </a:lnTo>
                  <a:cubicBezTo>
                    <a:pt x="36207" y="24065"/>
                    <a:pt x="37767" y="22422"/>
                    <a:pt x="37696" y="20469"/>
                  </a:cubicBezTo>
                  <a:lnTo>
                    <a:pt x="37636" y="18541"/>
                  </a:lnTo>
                  <a:cubicBezTo>
                    <a:pt x="37600" y="17409"/>
                    <a:pt x="38493" y="16469"/>
                    <a:pt x="39636" y="16433"/>
                  </a:cubicBezTo>
                  <a:lnTo>
                    <a:pt x="42982" y="16314"/>
                  </a:lnTo>
                  <a:cubicBezTo>
                    <a:pt x="43004" y="16313"/>
                    <a:pt x="43026" y="16313"/>
                    <a:pt x="43048" y="16313"/>
                  </a:cubicBezTo>
                  <a:cubicBezTo>
                    <a:pt x="43772" y="16313"/>
                    <a:pt x="44422" y="16689"/>
                    <a:pt x="44792" y="17267"/>
                  </a:cubicBezTo>
                  <a:cubicBezTo>
                    <a:pt x="45460" y="18280"/>
                    <a:pt x="46628" y="18948"/>
                    <a:pt x="47943" y="18948"/>
                  </a:cubicBezTo>
                  <a:cubicBezTo>
                    <a:pt x="47988" y="18948"/>
                    <a:pt x="48033" y="18947"/>
                    <a:pt x="48078" y="18945"/>
                  </a:cubicBezTo>
                  <a:cubicBezTo>
                    <a:pt x="50162" y="18886"/>
                    <a:pt x="51793" y="17159"/>
                    <a:pt x="51721" y="15100"/>
                  </a:cubicBezTo>
                  <a:cubicBezTo>
                    <a:pt x="51663" y="13084"/>
                    <a:pt x="49985" y="11490"/>
                    <a:pt x="47961" y="11490"/>
                  </a:cubicBezTo>
                  <a:cubicBezTo>
                    <a:pt x="47916" y="11490"/>
                    <a:pt x="47872" y="11491"/>
                    <a:pt x="47828" y="11492"/>
                  </a:cubicBezTo>
                  <a:cubicBezTo>
                    <a:pt x="46459" y="11540"/>
                    <a:pt x="45292" y="12290"/>
                    <a:pt x="44661" y="13397"/>
                  </a:cubicBezTo>
                  <a:cubicBezTo>
                    <a:pt x="44327" y="14004"/>
                    <a:pt x="43673" y="14433"/>
                    <a:pt x="42911" y="14457"/>
                  </a:cubicBezTo>
                  <a:lnTo>
                    <a:pt x="39577" y="14564"/>
                  </a:lnTo>
                  <a:cubicBezTo>
                    <a:pt x="39554" y="14565"/>
                    <a:pt x="39532" y="14565"/>
                    <a:pt x="39510" y="14565"/>
                  </a:cubicBezTo>
                  <a:cubicBezTo>
                    <a:pt x="38397" y="14565"/>
                    <a:pt x="37480" y="13696"/>
                    <a:pt x="37434" y="12587"/>
                  </a:cubicBezTo>
                  <a:lnTo>
                    <a:pt x="37136" y="3432"/>
                  </a:lnTo>
                  <a:cubicBezTo>
                    <a:pt x="37078" y="1511"/>
                    <a:pt x="35484" y="0"/>
                    <a:pt x="3356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5" name="Google Shape;96;p15">
              <a:extLst>
                <a:ext uri="{FF2B5EF4-FFF2-40B4-BE49-F238E27FC236}">
                  <a16:creationId xmlns:a16="http://schemas.microsoft.com/office/drawing/2014/main" id="{6ABB6795-D1B1-475A-BB50-C039216B9426}"/>
                </a:ext>
              </a:extLst>
            </p:cNvPr>
            <p:cNvSpPr/>
            <p:nvPr/>
          </p:nvSpPr>
          <p:spPr>
            <a:xfrm>
              <a:off x="933838" y="2025120"/>
              <a:ext cx="177598" cy="256034"/>
            </a:xfrm>
            <a:custGeom>
              <a:avLst/>
              <a:gdLst/>
              <a:ahLst/>
              <a:cxnLst/>
              <a:rect l="l" t="t" r="r" b="b"/>
              <a:pathLst>
                <a:path w="4644" h="6013" extrusionOk="0">
                  <a:moveTo>
                    <a:pt x="3001" y="0"/>
                  </a:moveTo>
                  <a:cubicBezTo>
                    <a:pt x="2168" y="0"/>
                    <a:pt x="1417" y="346"/>
                    <a:pt x="882" y="881"/>
                  </a:cubicBezTo>
                  <a:cubicBezTo>
                    <a:pt x="334" y="1429"/>
                    <a:pt x="1" y="2179"/>
                    <a:pt x="1" y="3013"/>
                  </a:cubicBezTo>
                  <a:cubicBezTo>
                    <a:pt x="1" y="4668"/>
                    <a:pt x="1346" y="6013"/>
                    <a:pt x="3001" y="6013"/>
                  </a:cubicBezTo>
                  <a:lnTo>
                    <a:pt x="4644" y="6013"/>
                  </a:lnTo>
                  <a:lnTo>
                    <a:pt x="4644" y="0"/>
                  </a:lnTo>
                  <a:close/>
                </a:path>
              </a:pathLst>
            </a:custGeom>
            <a:solidFill>
              <a:srgbClr val="6350F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6" name="Google Shape;97;p15">
              <a:extLst>
                <a:ext uri="{FF2B5EF4-FFF2-40B4-BE49-F238E27FC236}">
                  <a16:creationId xmlns:a16="http://schemas.microsoft.com/office/drawing/2014/main" id="{8E6C42C2-D5AD-474D-BBC9-FB48D1DAFAA2}"/>
                </a:ext>
              </a:extLst>
            </p:cNvPr>
            <p:cNvSpPr/>
            <p:nvPr/>
          </p:nvSpPr>
          <p:spPr>
            <a:xfrm>
              <a:off x="1071816" y="1769540"/>
              <a:ext cx="1939277" cy="923442"/>
            </a:xfrm>
            <a:custGeom>
              <a:avLst/>
              <a:gdLst/>
              <a:ahLst/>
              <a:cxnLst/>
              <a:rect l="l" t="t" r="r" b="b"/>
              <a:pathLst>
                <a:path w="50710" h="24147" extrusionOk="0">
                  <a:moveTo>
                    <a:pt x="3549" y="0"/>
                  </a:moveTo>
                  <a:cubicBezTo>
                    <a:pt x="1584" y="0"/>
                    <a:pt x="1" y="1596"/>
                    <a:pt x="1" y="3548"/>
                  </a:cubicBezTo>
                  <a:lnTo>
                    <a:pt x="1" y="20598"/>
                  </a:lnTo>
                  <a:cubicBezTo>
                    <a:pt x="1" y="22563"/>
                    <a:pt x="1584" y="24146"/>
                    <a:pt x="3549" y="24146"/>
                  </a:cubicBezTo>
                  <a:lnTo>
                    <a:pt x="33124" y="24146"/>
                  </a:lnTo>
                  <a:cubicBezTo>
                    <a:pt x="35088" y="24146"/>
                    <a:pt x="36684" y="22563"/>
                    <a:pt x="36684" y="20598"/>
                  </a:cubicBezTo>
                  <a:lnTo>
                    <a:pt x="36684" y="18669"/>
                  </a:lnTo>
                  <a:cubicBezTo>
                    <a:pt x="36684" y="17538"/>
                    <a:pt x="37600" y="16621"/>
                    <a:pt x="38720" y="16621"/>
                  </a:cubicBezTo>
                  <a:lnTo>
                    <a:pt x="42030" y="16621"/>
                  </a:lnTo>
                  <a:cubicBezTo>
                    <a:pt x="42780" y="16621"/>
                    <a:pt x="43435" y="17026"/>
                    <a:pt x="43792" y="17633"/>
                  </a:cubicBezTo>
                  <a:cubicBezTo>
                    <a:pt x="44447" y="18705"/>
                    <a:pt x="45625" y="19419"/>
                    <a:pt x="46983" y="19419"/>
                  </a:cubicBezTo>
                  <a:cubicBezTo>
                    <a:pt x="49042" y="19419"/>
                    <a:pt x="50709" y="17753"/>
                    <a:pt x="50709" y="15693"/>
                  </a:cubicBezTo>
                  <a:cubicBezTo>
                    <a:pt x="50709" y="13633"/>
                    <a:pt x="49042" y="11954"/>
                    <a:pt x="46983" y="11954"/>
                  </a:cubicBezTo>
                  <a:cubicBezTo>
                    <a:pt x="45625" y="11954"/>
                    <a:pt x="44447" y="12680"/>
                    <a:pt x="43792" y="13752"/>
                  </a:cubicBezTo>
                  <a:cubicBezTo>
                    <a:pt x="43435" y="14359"/>
                    <a:pt x="42780" y="14764"/>
                    <a:pt x="42030" y="14764"/>
                  </a:cubicBezTo>
                  <a:lnTo>
                    <a:pt x="38720" y="14764"/>
                  </a:lnTo>
                  <a:cubicBezTo>
                    <a:pt x="37600" y="14764"/>
                    <a:pt x="36684" y="13847"/>
                    <a:pt x="36684" y="12716"/>
                  </a:cubicBezTo>
                  <a:lnTo>
                    <a:pt x="36684" y="3548"/>
                  </a:lnTo>
                  <a:cubicBezTo>
                    <a:pt x="36684" y="1596"/>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7" name="Google Shape;98;p15">
              <a:extLst>
                <a:ext uri="{FF2B5EF4-FFF2-40B4-BE49-F238E27FC236}">
                  <a16:creationId xmlns:a16="http://schemas.microsoft.com/office/drawing/2014/main" id="{B9B7F2A1-61C7-4242-BDF5-56B4D7DA4AAF}"/>
                </a:ext>
              </a:extLst>
            </p:cNvPr>
            <p:cNvSpPr/>
            <p:nvPr/>
          </p:nvSpPr>
          <p:spPr>
            <a:xfrm>
              <a:off x="2752419" y="2253534"/>
              <a:ext cx="232247" cy="232247"/>
            </a:xfrm>
            <a:custGeom>
              <a:avLst/>
              <a:gdLst/>
              <a:ahLst/>
              <a:cxnLst/>
              <a:rect l="l" t="t" r="r" b="b"/>
              <a:pathLst>
                <a:path w="6073" h="6073"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8" name="Google Shape;99;p15">
              <a:extLst>
                <a:ext uri="{FF2B5EF4-FFF2-40B4-BE49-F238E27FC236}">
                  <a16:creationId xmlns:a16="http://schemas.microsoft.com/office/drawing/2014/main" id="{E6BA75D2-104B-488C-ABB4-0D1A0A8AE921}"/>
                </a:ext>
              </a:extLst>
            </p:cNvPr>
            <p:cNvSpPr/>
            <p:nvPr/>
          </p:nvSpPr>
          <p:spPr>
            <a:xfrm>
              <a:off x="935214" y="1799534"/>
              <a:ext cx="1606414" cy="368572"/>
            </a:xfrm>
            <a:custGeom>
              <a:avLst/>
              <a:gdLst/>
              <a:ahLst/>
              <a:cxnLst/>
              <a:rect l="l" t="t" r="r" b="b"/>
              <a:pathLst>
                <a:path w="42006" h="8656" extrusionOk="0">
                  <a:moveTo>
                    <a:pt x="3001" y="0"/>
                  </a:moveTo>
                  <a:cubicBezTo>
                    <a:pt x="2168" y="0"/>
                    <a:pt x="1417" y="333"/>
                    <a:pt x="882" y="881"/>
                  </a:cubicBezTo>
                  <a:cubicBezTo>
                    <a:pt x="334" y="1429"/>
                    <a:pt x="1" y="2179"/>
                    <a:pt x="1" y="3012"/>
                  </a:cubicBezTo>
                  <a:lnTo>
                    <a:pt x="1" y="8311"/>
                  </a:lnTo>
                  <a:lnTo>
                    <a:pt x="24" y="8656"/>
                  </a:lnTo>
                  <a:cubicBezTo>
                    <a:pt x="108" y="7977"/>
                    <a:pt x="417" y="7358"/>
                    <a:pt x="882" y="6894"/>
                  </a:cubicBezTo>
                  <a:cubicBezTo>
                    <a:pt x="1417" y="6346"/>
                    <a:pt x="2168" y="6013"/>
                    <a:pt x="3001" y="6013"/>
                  </a:cubicBezTo>
                  <a:lnTo>
                    <a:pt x="39006" y="6013"/>
                  </a:lnTo>
                  <a:cubicBezTo>
                    <a:pt x="40660" y="6013"/>
                    <a:pt x="42006" y="4667"/>
                    <a:pt x="42006" y="3012"/>
                  </a:cubicBezTo>
                  <a:cubicBezTo>
                    <a:pt x="42006" y="2881"/>
                    <a:pt x="42006" y="2774"/>
                    <a:pt x="41982" y="2655"/>
                  </a:cubicBezTo>
                  <a:cubicBezTo>
                    <a:pt x="41815" y="1155"/>
                    <a:pt x="40541" y="0"/>
                    <a:pt x="3900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9" name="Google Shape;100;p15">
              <a:extLst>
                <a:ext uri="{FF2B5EF4-FFF2-40B4-BE49-F238E27FC236}">
                  <a16:creationId xmlns:a16="http://schemas.microsoft.com/office/drawing/2014/main" id="{F1E83C78-2CDC-4BD1-9F75-3177F69BF93C}"/>
                </a:ext>
              </a:extLst>
            </p:cNvPr>
            <p:cNvSpPr/>
            <p:nvPr/>
          </p:nvSpPr>
          <p:spPr>
            <a:xfrm>
              <a:off x="935214" y="1769089"/>
              <a:ext cx="1606414" cy="384327"/>
            </a:xfrm>
            <a:custGeom>
              <a:avLst/>
              <a:gdLst/>
              <a:ahLst/>
              <a:cxnLst/>
              <a:rect l="l" t="t" r="r" b="b"/>
              <a:pathLst>
                <a:path w="42006" h="9026" extrusionOk="0">
                  <a:moveTo>
                    <a:pt x="3001" y="1"/>
                  </a:moveTo>
                  <a:cubicBezTo>
                    <a:pt x="2168" y="1"/>
                    <a:pt x="1417" y="334"/>
                    <a:pt x="882" y="882"/>
                  </a:cubicBezTo>
                  <a:cubicBezTo>
                    <a:pt x="334" y="1429"/>
                    <a:pt x="1" y="2179"/>
                    <a:pt x="1" y="3013"/>
                  </a:cubicBezTo>
                  <a:lnTo>
                    <a:pt x="1" y="9026"/>
                  </a:lnTo>
                  <a:cubicBezTo>
                    <a:pt x="1" y="8192"/>
                    <a:pt x="334" y="7442"/>
                    <a:pt x="882" y="6894"/>
                  </a:cubicBezTo>
                  <a:cubicBezTo>
                    <a:pt x="1417" y="6359"/>
                    <a:pt x="2168" y="6013"/>
                    <a:pt x="3001" y="6013"/>
                  </a:cubicBezTo>
                  <a:lnTo>
                    <a:pt x="39006" y="6013"/>
                  </a:lnTo>
                  <a:cubicBezTo>
                    <a:pt x="40660" y="6013"/>
                    <a:pt x="42006" y="4668"/>
                    <a:pt x="42006" y="3013"/>
                  </a:cubicBezTo>
                  <a:cubicBezTo>
                    <a:pt x="42006" y="1346"/>
                    <a:pt x="40660" y="1"/>
                    <a:pt x="39006"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30" name="Google Shape;101;p15">
              <a:extLst>
                <a:ext uri="{FF2B5EF4-FFF2-40B4-BE49-F238E27FC236}">
                  <a16:creationId xmlns:a16="http://schemas.microsoft.com/office/drawing/2014/main" id="{94551FEE-D823-473E-88E6-FAC1A7900F99}"/>
                </a:ext>
              </a:extLst>
            </p:cNvPr>
            <p:cNvSpPr txBox="1"/>
            <p:nvPr/>
          </p:nvSpPr>
          <p:spPr>
            <a:xfrm>
              <a:off x="971843" y="2097663"/>
              <a:ext cx="1615680" cy="534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dirty="0">
                  <a:sym typeface="Roboto"/>
                </a:rPr>
                <a:t>Symbolic regression</a:t>
              </a:r>
            </a:p>
          </p:txBody>
        </p:sp>
        <p:sp>
          <p:nvSpPr>
            <p:cNvPr id="131" name="Google Shape;102;p15">
              <a:extLst>
                <a:ext uri="{FF2B5EF4-FFF2-40B4-BE49-F238E27FC236}">
                  <a16:creationId xmlns:a16="http://schemas.microsoft.com/office/drawing/2014/main" id="{61C92EF2-6753-46F8-BB4A-FB7B86370E79}"/>
                </a:ext>
              </a:extLst>
            </p:cNvPr>
            <p:cNvSpPr txBox="1"/>
            <p:nvPr/>
          </p:nvSpPr>
          <p:spPr>
            <a:xfrm>
              <a:off x="1071825" y="1769313"/>
              <a:ext cx="1469700" cy="255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b="1" dirty="0">
                  <a:solidFill>
                    <a:schemeClr val="bg1"/>
                  </a:solidFill>
                  <a:latin typeface="Source Sans Pro" panose="020B0503030403020204" pitchFamily="34" charset="0"/>
                  <a:ea typeface="Source Sans Pro" panose="020B0503030403020204" pitchFamily="34" charset="0"/>
                  <a:sym typeface="Fira Sans Extra Condensed Medium"/>
                </a:rPr>
                <a:t>Surrogate model</a:t>
              </a:r>
              <a:endParaRPr sz="12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spTree>
    <p:extLst>
      <p:ext uri="{BB962C8B-B14F-4D97-AF65-F5344CB8AC3E}">
        <p14:creationId xmlns:p14="http://schemas.microsoft.com/office/powerpoint/2010/main" val="2964486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8</a:t>
            </a:fld>
            <a:endParaRPr lang="es-ES_tradnl" sz="1600" b="1" dirty="0">
              <a:solidFill>
                <a:schemeClr val="bg1"/>
              </a:solidFill>
            </a:endParaRPr>
          </a:p>
        </p:txBody>
      </p:sp>
      <p:sp>
        <p:nvSpPr>
          <p:cNvPr id="5" name="CuadroTexto 4">
            <a:extLst>
              <a:ext uri="{FF2B5EF4-FFF2-40B4-BE49-F238E27FC236}">
                <a16:creationId xmlns:a16="http://schemas.microsoft.com/office/drawing/2014/main" id="{F7C82670-87BA-FD25-133C-3E31AFE37036}"/>
              </a:ext>
            </a:extLst>
          </p:cNvPr>
          <p:cNvSpPr txBox="1"/>
          <p:nvPr/>
        </p:nvSpPr>
        <p:spPr>
          <a:xfrm>
            <a:off x="1490375" y="1450360"/>
            <a:ext cx="1781145"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Problem</a:t>
            </a:r>
            <a:r>
              <a:rPr lang="es-ES_tradnl" sz="2800" b="1" dirty="0">
                <a:latin typeface="Source Sans Pro" panose="020B0503030403020204" pitchFamily="34" charset="0"/>
                <a:ea typeface="Source Sans Pro" panose="020B0503030403020204" pitchFamily="34" charset="0"/>
              </a:rPr>
              <a:t> </a:t>
            </a: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sp>
        <p:nvSpPr>
          <p:cNvPr id="11" name="CuadroTexto 10">
            <a:extLst>
              <a:ext uri="{FF2B5EF4-FFF2-40B4-BE49-F238E27FC236}">
                <a16:creationId xmlns:a16="http://schemas.microsoft.com/office/drawing/2014/main" id="{90E1F446-398F-4081-A6DA-2105D6517ED5}"/>
              </a:ext>
            </a:extLst>
          </p:cNvPr>
          <p:cNvSpPr txBox="1"/>
          <p:nvPr/>
        </p:nvSpPr>
        <p:spPr>
          <a:xfrm>
            <a:off x="865990" y="3581756"/>
            <a:ext cx="609600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Their</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behavior</a:t>
            </a:r>
            <a:r>
              <a:rPr lang="es-CO" altLang="es-CO" sz="2000" dirty="0">
                <a:latin typeface="Source Sans Pro" panose="020B0503030403020204" pitchFamily="34" charset="0"/>
                <a:ea typeface="Source Sans Pro" panose="020B0503030403020204" pitchFamily="34" charset="0"/>
              </a:rPr>
              <a:t> in real-</a:t>
            </a:r>
            <a:r>
              <a:rPr lang="es-CO" altLang="es-CO" sz="2000" dirty="0" err="1">
                <a:latin typeface="Source Sans Pro" panose="020B0503030403020204" pitchFamily="34" charset="0"/>
                <a:ea typeface="Source Sans Pro" panose="020B0503030403020204" pitchFamily="34" charset="0"/>
              </a:rPr>
              <a:t>world</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applications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remains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partially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understood</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33539062-A195-49E7-A425-670E64FB328B}"/>
              </a:ext>
            </a:extLst>
          </p:cNvPr>
          <p:cNvSpPr txBox="1"/>
          <p:nvPr/>
        </p:nvSpPr>
        <p:spPr>
          <a:xfrm>
            <a:off x="865990" y="4540571"/>
            <a:ext cx="648985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Existing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models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accurate</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but</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computationally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demanding</a:t>
            </a:r>
            <a:r>
              <a:rPr lang="es-CO" altLang="es-CO" sz="2000" dirty="0">
                <a:latin typeface="Source Sans Pro" panose="020B0503030403020204" pitchFamily="34" charset="0"/>
                <a:ea typeface="Source Sans Pro" panose="020B0503030403020204" pitchFamily="34" charset="0"/>
              </a:rPr>
              <a:t>.</a:t>
            </a:r>
          </a:p>
        </p:txBody>
      </p:sp>
      <p:sp>
        <p:nvSpPr>
          <p:cNvPr id="15" name="CuadroTexto 14">
            <a:extLst>
              <a:ext uri="{FF2B5EF4-FFF2-40B4-BE49-F238E27FC236}">
                <a16:creationId xmlns:a16="http://schemas.microsoft.com/office/drawing/2014/main" id="{8652EB1D-17A4-4098-8EB5-167F78DD5729}"/>
              </a:ext>
            </a:extLst>
          </p:cNvPr>
          <p:cNvSpPr txBox="1"/>
          <p:nvPr/>
        </p:nvSpPr>
        <p:spPr>
          <a:xfrm>
            <a:off x="865990" y="2260582"/>
            <a:ext cx="6096000" cy="1015663"/>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n-US" sz="2000" dirty="0">
                <a:latin typeface="Source Sans Pro" panose="020B0503030403020204" pitchFamily="34" charset="0"/>
                <a:ea typeface="Source Sans Pro" panose="020B0503030403020204" pitchFamily="34" charset="0"/>
              </a:rPr>
              <a:t>Proton Exchange Membrane (</a:t>
            </a:r>
            <a:r>
              <a:rPr lang="es-CO" altLang="es-CO" sz="2000" dirty="0">
                <a:latin typeface="Source Sans Pro" panose="020B0503030403020204" pitchFamily="34" charset="0"/>
                <a:ea typeface="Source Sans Pro" panose="020B0503030403020204" pitchFamily="34" charset="0"/>
              </a:rPr>
              <a:t>PEM) fuel </a:t>
            </a:r>
            <a:r>
              <a:rPr lang="es-CO" altLang="es-CO" sz="2000" dirty="0" err="1">
                <a:latin typeface="Source Sans Pro" panose="020B0503030403020204" pitchFamily="34" charset="0"/>
                <a:ea typeface="Source Sans Pro" panose="020B0503030403020204" pitchFamily="34" charset="0"/>
              </a:rPr>
              <a:t>cells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complex</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clean-energy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systems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combining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physical</a:t>
            </a:r>
            <a:r>
              <a:rPr lang="es-CO" altLang="es-CO" sz="2000" dirty="0">
                <a:latin typeface="Source Sans Pro" panose="020B0503030403020204" pitchFamily="34" charset="0"/>
                <a:ea typeface="Source Sans Pro" panose="020B0503030403020204" pitchFamily="34" charset="0"/>
              </a:rPr>
              <a:t> and </a:t>
            </a:r>
            <a:r>
              <a:rPr lang="es-CO" altLang="es-CO" sz="2000" dirty="0" err="1">
                <a:latin typeface="Source Sans Pro" panose="020B0503030403020204" pitchFamily="34" charset="0"/>
                <a:ea typeface="Source Sans Pro" panose="020B0503030403020204" pitchFamily="34" charset="0"/>
              </a:rPr>
              <a:t>electrochemical</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processes</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pic>
        <p:nvPicPr>
          <p:cNvPr id="1027" name="Picture 3" descr="Proton-exchange membrane fuel cell - Wikipedia">
            <a:extLst>
              <a:ext uri="{FF2B5EF4-FFF2-40B4-BE49-F238E27FC236}">
                <a16:creationId xmlns:a16="http://schemas.microsoft.com/office/drawing/2014/main" id="{34154172-B574-4B8C-AB89-7191EB01FA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81397" y="1990436"/>
            <a:ext cx="4149725" cy="43992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570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691EAF7C-DEB8-8ED8-A804-BAF33CE67949}"/>
              </a:ext>
            </a:extLst>
          </p:cNvPr>
          <p:cNvSpPr txBox="1"/>
          <p:nvPr/>
        </p:nvSpPr>
        <p:spPr>
          <a:xfrm>
            <a:off x="2394857" y="1987475"/>
            <a:ext cx="7402286" cy="390876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rPr>
              <a:t>2. </a:t>
            </a:r>
            <a:r>
              <a:rPr kumimoji="0" lang="es-ES_tradnl" sz="8000" b="1" i="1" u="none" strike="noStrike" kern="1200" cap="none" spc="0" normalizeH="0" baseline="0" noProof="0" dirty="0" err="1">
                <a:ln>
                  <a:noFill/>
                </a:ln>
                <a:solidFill>
                  <a:schemeClr val="bg1"/>
                </a:solidFill>
                <a:effectLst/>
                <a:uLnTx/>
                <a:uFillTx/>
                <a:latin typeface="Source Sans Pro Light" panose="020B0403030403020204" pitchFamily="34" charset="0"/>
                <a:ea typeface="Source Sans Pro Light" panose="020B0403030403020204" pitchFamily="34" charset="0"/>
              </a:rPr>
              <a:t>Model</a:t>
            </a:r>
            <a:r>
              <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rPr>
              <a:t> </a:t>
            </a:r>
            <a:r>
              <a:rPr kumimoji="0" lang="es-ES_tradnl" sz="8000" b="1" i="1" u="none" strike="noStrike" kern="1200" cap="none" spc="0" normalizeH="0" baseline="0" noProof="0" dirty="0" err="1">
                <a:ln>
                  <a:noFill/>
                </a:ln>
                <a:solidFill>
                  <a:schemeClr val="bg1"/>
                </a:solidFill>
                <a:effectLst/>
                <a:uLnTx/>
                <a:uFillTx/>
                <a:latin typeface="Source Sans Pro Light" panose="020B0403030403020204" pitchFamily="34" charset="0"/>
                <a:ea typeface="Source Sans Pro Light" panose="020B0403030403020204" pitchFamily="34" charset="0"/>
              </a:rPr>
              <a:t>Validity</a:t>
            </a:r>
            <a:endPar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endParaRPr>
          </a:p>
          <a:p>
            <a:pPr algn="ctr">
              <a:defRPr/>
            </a:pPr>
            <a:r>
              <a:rPr lang="es-ES_tradnl" sz="4400" i="1" dirty="0" err="1">
                <a:solidFill>
                  <a:schemeClr val="bg1"/>
                </a:solidFill>
                <a:latin typeface="Source Sans Pro Light" panose="020B0403030403020204" pitchFamily="34" charset="0"/>
                <a:ea typeface="Source Sans Pro Light" panose="020B0403030403020204" pitchFamily="34" charset="0"/>
              </a:rPr>
              <a:t>Parameter</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ranges</a:t>
            </a:r>
            <a:r>
              <a:rPr lang="es-ES_tradnl" sz="4400" i="1" dirty="0">
                <a:solidFill>
                  <a:schemeClr val="bg1"/>
                </a:solidFill>
                <a:latin typeface="Source Sans Pro Light" panose="020B0403030403020204" pitchFamily="34" charset="0"/>
                <a:ea typeface="Source Sans Pro Light" panose="020B0403030403020204" pitchFamily="34" charset="0"/>
              </a:rPr>
              <a:t> in </a:t>
            </a:r>
            <a:r>
              <a:rPr lang="es-ES_tradnl" sz="4400" i="1" dirty="0" err="1">
                <a:solidFill>
                  <a:schemeClr val="bg1"/>
                </a:solidFill>
                <a:latin typeface="Source Sans Pro Light" panose="020B0403030403020204" pitchFamily="34" charset="0"/>
                <a:ea typeface="Source Sans Pro Light" panose="020B0403030403020204" pitchFamily="34" charset="0"/>
              </a:rPr>
              <a:t>which</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the</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model</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is</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valid</a:t>
            </a:r>
            <a:endParaRPr lang="es-ES_tradnl" sz="4400" i="1" dirty="0">
              <a:solidFill>
                <a:schemeClr val="bg1"/>
              </a:solidFill>
              <a:latin typeface="Source Sans Pro Light" panose="020B0403030403020204" pitchFamily="34" charset="0"/>
              <a:ea typeface="Source Sans Pro Light" panose="020B0403030403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endParaRPr>
          </a:p>
        </p:txBody>
      </p:sp>
    </p:spTree>
    <p:extLst>
      <p:ext uri="{BB962C8B-B14F-4D97-AF65-F5344CB8AC3E}">
        <p14:creationId xmlns:p14="http://schemas.microsoft.com/office/powerpoint/2010/main" val="39062951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2CDCC-F76B-D5F7-8AAD-E7918566015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7EF77FF5-D912-86DB-3F6F-F150DC05B127}"/>
              </a:ext>
            </a:extLst>
          </p:cNvPr>
          <p:cNvSpPr>
            <a:spLocks noGrp="1"/>
          </p:cNvSpPr>
          <p:nvPr>
            <p:ph type="sldNum" sz="quarter" idx="12"/>
          </p:nvPr>
        </p:nvSpPr>
        <p:spPr/>
        <p:txBody>
          <a:bodyPr/>
          <a:lstStyle/>
          <a:p>
            <a:fld id="{B75BC28E-972B-EC47-BE79-29D89D46B9CA}" type="slidenum">
              <a:rPr lang="es-ES_tradnl" b="1" smtClean="0">
                <a:solidFill>
                  <a:schemeClr val="bg1"/>
                </a:solidFill>
              </a:rPr>
              <a:t>10</a:t>
            </a:fld>
            <a:endParaRPr lang="es-ES_tradnl" b="1" dirty="0">
              <a:solidFill>
                <a:schemeClr val="bg1"/>
              </a:solidFill>
            </a:endParaRPr>
          </a:p>
        </p:txBody>
      </p:sp>
      <p:sp>
        <p:nvSpPr>
          <p:cNvPr id="65" name="CuadroTexto 64">
            <a:extLst>
              <a:ext uri="{FF2B5EF4-FFF2-40B4-BE49-F238E27FC236}">
                <a16:creationId xmlns:a16="http://schemas.microsoft.com/office/drawing/2014/main" id="{B9BB76F1-5464-1CBE-E52A-963781B4C9A9}"/>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4B4DFDD7-2EED-5054-A658-59252B5630EE}"/>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DD8D6550-D2F2-A95B-166F-014E4EC78651}"/>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8" name="Título 1">
            <a:extLst>
              <a:ext uri="{FF2B5EF4-FFF2-40B4-BE49-F238E27FC236}">
                <a16:creationId xmlns:a16="http://schemas.microsoft.com/office/drawing/2014/main" id="{F1ECB713-AC16-ADB5-1934-8AF5CEA2938D}"/>
              </a:ext>
            </a:extLst>
          </p:cNvPr>
          <p:cNvSpPr>
            <a:spLocks noGrp="1"/>
          </p:cNvSpPr>
          <p:nvPr>
            <p:ph type="title"/>
          </p:nvPr>
        </p:nvSpPr>
        <p:spPr>
          <a:xfrm>
            <a:off x="838200" y="962162"/>
            <a:ext cx="10515600" cy="659416"/>
          </a:xfrm>
        </p:spPr>
        <p:txBody>
          <a:bodyPr/>
          <a:lstStyle/>
          <a:p>
            <a:pPr algn="ctr"/>
            <a:r>
              <a:rPr lang="en" sz="3200" b="1" dirty="0">
                <a:latin typeface="Source Sans Pro" panose="020B0503030403020204" pitchFamily="34" charset="0"/>
                <a:ea typeface="Source Sans Pro" panose="020B0503030403020204" pitchFamily="34" charset="0"/>
              </a:rPr>
              <a:t>Asessing the Model Validity of AlphaPEM</a:t>
            </a:r>
          </a:p>
        </p:txBody>
      </p:sp>
      <p:grpSp>
        <p:nvGrpSpPr>
          <p:cNvPr id="69" name="Grupo 68">
            <a:extLst>
              <a:ext uri="{FF2B5EF4-FFF2-40B4-BE49-F238E27FC236}">
                <a16:creationId xmlns:a16="http://schemas.microsoft.com/office/drawing/2014/main" id="{188D39AA-B791-FD45-D6CB-5555F2B5D71D}"/>
              </a:ext>
            </a:extLst>
          </p:cNvPr>
          <p:cNvGrpSpPr/>
          <p:nvPr/>
        </p:nvGrpSpPr>
        <p:grpSpPr>
          <a:xfrm>
            <a:off x="4510007" y="1711656"/>
            <a:ext cx="6843793" cy="1453151"/>
            <a:chOff x="4773478" y="1975849"/>
            <a:chExt cx="6871269" cy="1453151"/>
          </a:xfrm>
        </p:grpSpPr>
        <p:sp>
          <p:nvSpPr>
            <p:cNvPr id="70" name="Rectángulo: esquinas redondeadas 69">
              <a:extLst>
                <a:ext uri="{FF2B5EF4-FFF2-40B4-BE49-F238E27FC236}">
                  <a16:creationId xmlns:a16="http://schemas.microsoft.com/office/drawing/2014/main" id="{46072DE8-5D89-EBCA-FB8F-C320AA9CDEDA}"/>
                </a:ext>
              </a:extLst>
            </p:cNvPr>
            <p:cNvSpPr/>
            <p:nvPr/>
          </p:nvSpPr>
          <p:spPr>
            <a:xfrm>
              <a:off x="4773478" y="1975849"/>
              <a:ext cx="6871269" cy="1453151"/>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1" name="CuadroTexto 70">
              <a:extLst>
                <a:ext uri="{FF2B5EF4-FFF2-40B4-BE49-F238E27FC236}">
                  <a16:creationId xmlns:a16="http://schemas.microsoft.com/office/drawing/2014/main" id="{13BD7E42-4724-11F5-870E-78101370722F}"/>
                </a:ext>
              </a:extLst>
            </p:cNvPr>
            <p:cNvSpPr txBox="1"/>
            <p:nvPr/>
          </p:nvSpPr>
          <p:spPr>
            <a:xfrm>
              <a:off x="4889715" y="2656859"/>
              <a:ext cx="6638794" cy="615553"/>
            </a:xfrm>
            <a:prstGeom prst="rect">
              <a:avLst/>
            </a:prstGeom>
            <a:noFill/>
          </p:spPr>
          <p:txBody>
            <a:bodyPr wrap="square" rtlCol="0">
              <a:spAutoFit/>
            </a:bodyPr>
            <a:lstStyle/>
            <a:p>
              <a:r>
                <a:rPr lang="en-US" sz="1700" i="1" dirty="0"/>
                <a:t>Finding the region of the input hyperspace where </a:t>
              </a:r>
              <a:r>
                <a:rPr lang="en-US" sz="1700" i="1" dirty="0" err="1"/>
                <a:t>AlphaPEM</a:t>
              </a:r>
              <a:r>
                <a:rPr lang="en-US" sz="1700" i="1" dirty="0"/>
                <a:t> leads to a physically meaningful, simulation-successful polarization curve.</a:t>
              </a:r>
              <a:endParaRPr lang="en" sz="1700" i="1" dirty="0"/>
            </a:p>
          </p:txBody>
        </p:sp>
        <p:sp>
          <p:nvSpPr>
            <p:cNvPr id="72" name="CuadroTexto 71">
              <a:extLst>
                <a:ext uri="{FF2B5EF4-FFF2-40B4-BE49-F238E27FC236}">
                  <a16:creationId xmlns:a16="http://schemas.microsoft.com/office/drawing/2014/main" id="{D14EC212-E561-396D-6124-D9596393E6DD}"/>
                </a:ext>
              </a:extLst>
            </p:cNvPr>
            <p:cNvSpPr txBox="1"/>
            <p:nvPr/>
          </p:nvSpPr>
          <p:spPr>
            <a:xfrm>
              <a:off x="5005953" y="2146610"/>
              <a:ext cx="3681132" cy="461665"/>
            </a:xfrm>
            <a:prstGeom prst="rect">
              <a:avLst/>
            </a:prstGeom>
            <a:noFill/>
          </p:spPr>
          <p:txBody>
            <a:bodyPr wrap="square">
              <a:spAutoFit/>
            </a:bodyPr>
            <a:lstStyle/>
            <a:p>
              <a:r>
                <a:rPr lang="es-ES_tradnl" sz="2400" b="1" dirty="0" err="1">
                  <a:latin typeface="Source Sans Pro Black" panose="020B0803030403020204" pitchFamily="34" charset="0"/>
                  <a:ea typeface="Source Sans Pro Black" panose="020B0803030403020204" pitchFamily="34" charset="0"/>
                </a:rPr>
                <a:t>What</a:t>
              </a:r>
              <a:r>
                <a:rPr lang="es-ES_tradnl" sz="2400" b="1" dirty="0">
                  <a:latin typeface="Source Sans Pro Black" panose="020B0803030403020204" pitchFamily="34" charset="0"/>
                  <a:ea typeface="Source Sans Pro Black" panose="020B0803030403020204" pitchFamily="34" charset="0"/>
                </a:rPr>
                <a:t> </a:t>
              </a:r>
              <a:r>
                <a:rPr lang="es-ES_tradnl" sz="2400" b="1" dirty="0" err="1">
                  <a:latin typeface="Source Sans Pro Black" panose="020B0803030403020204" pitchFamily="34" charset="0"/>
                  <a:ea typeface="Source Sans Pro Black" panose="020B0803030403020204" pitchFamily="34" charset="0"/>
                </a:rPr>
                <a:t>is</a:t>
              </a:r>
              <a:r>
                <a:rPr lang="es-ES_tradnl" sz="2400" b="1" i="1" dirty="0">
                  <a:latin typeface="Source Sans Pro Black" panose="020B0803030403020204" pitchFamily="34" charset="0"/>
                  <a:ea typeface="Source Sans Pro Black" panose="020B0803030403020204" pitchFamily="34" charset="0"/>
                </a:rPr>
                <a:t> </a:t>
              </a:r>
              <a:r>
                <a:rPr lang="es-ES_tradnl" sz="2400" b="1" i="1" dirty="0" err="1">
                  <a:solidFill>
                    <a:srgbClr val="B278E6"/>
                  </a:solidFill>
                  <a:latin typeface="Source Sans Pro Black" panose="020B0803030403020204" pitchFamily="34" charset="0"/>
                  <a:ea typeface="Source Sans Pro Black" panose="020B0803030403020204" pitchFamily="34" charset="0"/>
                </a:rPr>
                <a:t>model</a:t>
              </a:r>
              <a:r>
                <a:rPr lang="es-ES_tradnl" sz="2400" b="1" i="1" dirty="0">
                  <a:solidFill>
                    <a:srgbClr val="B278E6"/>
                  </a:solidFill>
                  <a:latin typeface="Source Sans Pro Black" panose="020B0803030403020204" pitchFamily="34" charset="0"/>
                  <a:ea typeface="Source Sans Pro Black" panose="020B0803030403020204" pitchFamily="34" charset="0"/>
                </a:rPr>
                <a:t> </a:t>
              </a:r>
              <a:r>
                <a:rPr lang="es-ES_tradnl" sz="2400" b="1" i="1" dirty="0" err="1">
                  <a:solidFill>
                    <a:srgbClr val="B278E6"/>
                  </a:solidFill>
                  <a:latin typeface="Source Sans Pro Black" panose="020B0803030403020204" pitchFamily="34" charset="0"/>
                  <a:ea typeface="Source Sans Pro Black" panose="020B0803030403020204" pitchFamily="34" charset="0"/>
                </a:rPr>
                <a:t>validity</a:t>
              </a:r>
              <a:r>
                <a:rPr lang="es-ES_tradnl" sz="2400" b="1" dirty="0">
                  <a:latin typeface="Source Sans Pro Black" panose="020B0803030403020204" pitchFamily="34" charset="0"/>
                  <a:ea typeface="Source Sans Pro Black" panose="020B0803030403020204" pitchFamily="34" charset="0"/>
                </a:rPr>
                <a:t>?</a:t>
              </a:r>
            </a:p>
          </p:txBody>
        </p:sp>
      </p:grpSp>
      <p:grpSp>
        <p:nvGrpSpPr>
          <p:cNvPr id="73" name="Grupo 72">
            <a:extLst>
              <a:ext uri="{FF2B5EF4-FFF2-40B4-BE49-F238E27FC236}">
                <a16:creationId xmlns:a16="http://schemas.microsoft.com/office/drawing/2014/main" id="{151A8F6A-5B6B-725A-A8FF-B950F8395E1D}"/>
              </a:ext>
            </a:extLst>
          </p:cNvPr>
          <p:cNvGrpSpPr/>
          <p:nvPr/>
        </p:nvGrpSpPr>
        <p:grpSpPr>
          <a:xfrm>
            <a:off x="911832" y="3488251"/>
            <a:ext cx="8276771" cy="2844607"/>
            <a:chOff x="1212256" y="3599761"/>
            <a:chExt cx="8276771" cy="2844607"/>
          </a:xfrm>
        </p:grpSpPr>
        <p:sp>
          <p:nvSpPr>
            <p:cNvPr id="74" name="CuadroTexto 73">
              <a:extLst>
                <a:ext uri="{FF2B5EF4-FFF2-40B4-BE49-F238E27FC236}">
                  <a16:creationId xmlns:a16="http://schemas.microsoft.com/office/drawing/2014/main" id="{ED023DA6-253A-49B4-8DAF-9C1A71054FCD}"/>
                </a:ext>
              </a:extLst>
            </p:cNvPr>
            <p:cNvSpPr txBox="1"/>
            <p:nvPr/>
          </p:nvSpPr>
          <p:spPr>
            <a:xfrm>
              <a:off x="1622413" y="3895408"/>
              <a:ext cx="7683242" cy="461665"/>
            </a:xfrm>
            <a:prstGeom prst="rect">
              <a:avLst/>
            </a:prstGeom>
            <a:noFill/>
          </p:spPr>
          <p:txBody>
            <a:bodyPr wrap="square">
              <a:spAutoFit/>
            </a:bodyPr>
            <a:lstStyle/>
            <a:p>
              <a:r>
                <a:rPr lang="es-ES_tradnl" sz="2400" b="1" dirty="0" err="1">
                  <a:latin typeface="Source Sans Pro Black" panose="020B0803030403020204" pitchFamily="34" charset="0"/>
                  <a:ea typeface="Source Sans Pro Black" panose="020B0803030403020204" pitchFamily="34" charset="0"/>
                </a:rPr>
                <a:t>Sampling</a:t>
              </a:r>
              <a:r>
                <a:rPr lang="es-ES_tradnl" sz="2400" b="1" dirty="0">
                  <a:latin typeface="Source Sans Pro Black" panose="020B0803030403020204" pitchFamily="34" charset="0"/>
                  <a:ea typeface="Source Sans Pro Black" panose="020B0803030403020204" pitchFamily="34" charset="0"/>
                </a:rPr>
                <a:t> in </a:t>
              </a:r>
              <a:r>
                <a:rPr lang="es-ES_tradnl" sz="2400" b="1" dirty="0" err="1">
                  <a:latin typeface="Source Sans Pro Black" panose="020B0803030403020204" pitchFamily="34" charset="0"/>
                  <a:ea typeface="Source Sans Pro Black" panose="020B0803030403020204" pitchFamily="34" charset="0"/>
                </a:rPr>
                <a:t>high</a:t>
              </a:r>
              <a:r>
                <a:rPr lang="es-ES_tradnl" sz="2400" b="1" dirty="0">
                  <a:latin typeface="Source Sans Pro Black" panose="020B0803030403020204" pitchFamily="34" charset="0"/>
                  <a:ea typeface="Source Sans Pro Black" panose="020B0803030403020204" pitchFamily="34" charset="0"/>
                </a:rPr>
                <a:t> </a:t>
              </a:r>
              <a:r>
                <a:rPr lang="es-ES_tradnl" sz="2400" b="1" dirty="0" err="1">
                  <a:latin typeface="Source Sans Pro Black" panose="020B0803030403020204" pitchFamily="34" charset="0"/>
                  <a:ea typeface="Source Sans Pro Black" panose="020B0803030403020204" pitchFamily="34" charset="0"/>
                </a:rPr>
                <a:t>dimensions</a:t>
              </a:r>
              <a:r>
                <a:rPr lang="es-ES_tradnl" sz="2400" b="1" dirty="0">
                  <a:latin typeface="Source Sans Pro Black" panose="020B0803030403020204" pitchFamily="34" charset="0"/>
                  <a:ea typeface="Source Sans Pro Black" panose="020B0803030403020204" pitchFamily="34" charset="0"/>
                </a:rPr>
                <a:t>: </a:t>
              </a:r>
              <a:r>
                <a:rPr lang="es-ES_tradnl" sz="2400" i="1" dirty="0" err="1">
                  <a:latin typeface="Source Sans Pro Light" panose="020B0403030403020204" pitchFamily="34" charset="0"/>
                  <a:ea typeface="Source Sans Pro Light" panose="020B0403030403020204" pitchFamily="34" charset="0"/>
                </a:rPr>
                <a:t>Why</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model</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validity</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matters</a:t>
              </a:r>
              <a:endParaRPr lang="es-ES_tradnl" sz="2400" i="1" dirty="0">
                <a:latin typeface="Source Sans Pro Light" panose="020B0403030403020204" pitchFamily="34" charset="0"/>
                <a:ea typeface="Source Sans Pro Light" panose="020B0403030403020204" pitchFamily="34" charset="0"/>
              </a:endParaRPr>
            </a:p>
          </p:txBody>
        </p:sp>
        <p:sp>
          <p:nvSpPr>
            <p:cNvPr id="75" name="CuadroTexto 74">
              <a:extLst>
                <a:ext uri="{FF2B5EF4-FFF2-40B4-BE49-F238E27FC236}">
                  <a16:creationId xmlns:a16="http://schemas.microsoft.com/office/drawing/2014/main" id="{A0A49C04-159C-512B-42A1-6AFBB327BB8C}"/>
                </a:ext>
              </a:extLst>
            </p:cNvPr>
            <p:cNvSpPr txBox="1"/>
            <p:nvPr/>
          </p:nvSpPr>
          <p:spPr>
            <a:xfrm>
              <a:off x="1439041" y="4469668"/>
              <a:ext cx="8049986" cy="1661993"/>
            </a:xfrm>
            <a:prstGeom prst="rect">
              <a:avLst/>
            </a:prstGeom>
            <a:noFill/>
          </p:spPr>
          <p:txBody>
            <a:bodyPr wrap="square" rtlCol="0">
              <a:spAutoFit/>
            </a:bodyPr>
            <a:lstStyle/>
            <a:p>
              <a:pPr marL="285750" indent="-285750">
                <a:buFont typeface="Arial" panose="020B0604020202020204" pitchFamily="34" charset="0"/>
                <a:buChar char="•"/>
              </a:pPr>
              <a:r>
                <a:rPr lang="es-CO" sz="1700" dirty="0" err="1">
                  <a:latin typeface="+mj-lt"/>
                  <a:ea typeface="Source Sans Pro" panose="020B0503030403020204" pitchFamily="34" charset="0"/>
                </a:rPr>
                <a:t>We</a:t>
              </a:r>
              <a:r>
                <a:rPr lang="es-CO" sz="1700" dirty="0">
                  <a:latin typeface="+mj-lt"/>
                  <a:ea typeface="Source Sans Pro" panose="020B0503030403020204" pitchFamily="34" charset="0"/>
                </a:rPr>
                <a:t> </a:t>
              </a:r>
              <a:r>
                <a:rPr lang="es-CO" sz="1700" i="1" dirty="0">
                  <a:latin typeface="+mj-lt"/>
                  <a:ea typeface="Source Sans Pro" panose="020B0503030403020204" pitchFamily="34" charset="0"/>
                </a:rPr>
                <a:t>“</a:t>
              </a:r>
              <a:r>
                <a:rPr lang="es-CO" sz="1700" i="1" dirty="0" err="1">
                  <a:latin typeface="+mj-lt"/>
                  <a:ea typeface="Source Sans Pro" panose="020B0503030403020204" pitchFamily="34" charset="0"/>
                </a:rPr>
                <a:t>sample</a:t>
              </a:r>
              <a:r>
                <a:rPr lang="es-CO" sz="1700" i="1" dirty="0">
                  <a:latin typeface="+mj-lt"/>
                  <a:ea typeface="Source Sans Pro" panose="020B0503030403020204" pitchFamily="34" charset="0"/>
                </a:rPr>
                <a:t>” </a:t>
              </a:r>
              <a:r>
                <a:rPr lang="es-CO" sz="1700" dirty="0" err="1">
                  <a:latin typeface="+mj-lt"/>
                  <a:ea typeface="Source Sans Pro" panose="020B0503030403020204" pitchFamily="34" charset="0"/>
                </a:rPr>
                <a:t>AlphaPEM</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by</a:t>
              </a:r>
              <a:r>
                <a:rPr lang="es-CO" sz="1700" dirty="0">
                  <a:latin typeface="+mj-lt"/>
                  <a:ea typeface="Source Sans Pro" panose="020B0503030403020204" pitchFamily="34" charset="0"/>
                </a:rPr>
                <a:t> </a:t>
              </a:r>
              <a:r>
                <a:rPr lang="es-CO" sz="1700" b="1" dirty="0" err="1">
                  <a:solidFill>
                    <a:srgbClr val="008B2E"/>
                  </a:solidFill>
                  <a:latin typeface="+mj-lt"/>
                  <a:ea typeface="Source Sans Pro" panose="020B0503030403020204" pitchFamily="34" charset="0"/>
                </a:rPr>
                <a:t>varying</a:t>
              </a:r>
              <a:r>
                <a:rPr lang="es-CO" sz="1700" b="1" dirty="0">
                  <a:solidFill>
                    <a:srgbClr val="008B2E"/>
                  </a:solidFill>
                  <a:latin typeface="+mj-lt"/>
                  <a:ea typeface="Source Sans Pro" panose="020B0503030403020204" pitchFamily="34" charset="0"/>
                </a:rPr>
                <a:t> 19 input </a:t>
              </a:r>
              <a:r>
                <a:rPr lang="es-CO" sz="1700" b="1" dirty="0" err="1">
                  <a:solidFill>
                    <a:srgbClr val="008B2E"/>
                  </a:solidFill>
                  <a:latin typeface="+mj-lt"/>
                  <a:ea typeface="Source Sans Pro" panose="020B0503030403020204" pitchFamily="34" charset="0"/>
                </a:rPr>
                <a:t>parameters</a:t>
              </a:r>
              <a:r>
                <a:rPr lang="es-CO" sz="1700" b="1" dirty="0">
                  <a:solidFill>
                    <a:srgbClr val="008B2E"/>
                  </a:solidFill>
                  <a:latin typeface="+mj-lt"/>
                  <a:ea typeface="Source Sans Pro" panose="020B0503030403020204" pitchFamily="34" charset="0"/>
                </a:rPr>
                <a:t> </a:t>
              </a:r>
              <a:r>
                <a:rPr lang="es-CO" sz="1700" b="1" u="sng" dirty="0" err="1">
                  <a:solidFill>
                    <a:srgbClr val="008B2E"/>
                  </a:solidFill>
                  <a:latin typeface="+mj-lt"/>
                  <a:ea typeface="Source Sans Pro" panose="020B0503030403020204" pitchFamily="34" charset="0"/>
                </a:rPr>
                <a:t>independently</a:t>
              </a:r>
              <a:endParaRPr lang="es-CO" sz="1700" b="1" u="sng" dirty="0">
                <a:solidFill>
                  <a:srgbClr val="008B2E"/>
                </a:solidFill>
                <a:latin typeface="+mj-lt"/>
                <a:ea typeface="Source Sans Pro" panose="020B0503030403020204" pitchFamily="34" charset="0"/>
              </a:endParaRPr>
            </a:p>
            <a:p>
              <a:pPr marL="285750" indent="-285750">
                <a:buFont typeface="Arial" panose="020B0604020202020204" pitchFamily="34" charset="0"/>
                <a:buChar char="•"/>
              </a:pPr>
              <a:r>
                <a:rPr lang="es-CO" sz="1700" dirty="0">
                  <a:latin typeface="+mj-lt"/>
                  <a:ea typeface="Source Sans Pro" panose="020B0503030403020204" pitchFamily="34" charset="0"/>
                </a:rPr>
                <a:t>Project </a:t>
              </a:r>
              <a:r>
                <a:rPr lang="es-CO" sz="1700" dirty="0" err="1">
                  <a:latin typeface="+mj-lt"/>
                  <a:ea typeface="Source Sans Pro" panose="020B0503030403020204" pitchFamily="34" charset="0"/>
                </a:rPr>
                <a:t>partners</a:t>
              </a:r>
              <a:r>
                <a:rPr lang="es-CO" sz="1700" dirty="0">
                  <a:latin typeface="+mj-lt"/>
                  <a:ea typeface="Source Sans Pro" panose="020B0503030403020204" pitchFamily="34" charset="0"/>
                </a:rPr>
                <a:t> and </a:t>
              </a:r>
              <a:r>
                <a:rPr lang="es-CO" sz="1700" dirty="0" err="1">
                  <a:latin typeface="+mj-lt"/>
                  <a:ea typeface="Source Sans Pro" panose="020B0503030403020204" pitchFamily="34" charset="0"/>
                </a:rPr>
                <a:t>author</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Gass</a:t>
              </a:r>
              <a:r>
                <a:rPr lang="es-CO" sz="1700" dirty="0">
                  <a:latin typeface="+mj-lt"/>
                  <a:ea typeface="Source Sans Pro" panose="020B0503030403020204" pitchFamily="34" charset="0"/>
                </a:rPr>
                <a:t>, 2025) </a:t>
              </a:r>
              <a:r>
                <a:rPr lang="es-CO" sz="1700" dirty="0" err="1">
                  <a:latin typeface="+mj-lt"/>
                  <a:ea typeface="Source Sans Pro" panose="020B0503030403020204" pitchFamily="34" charset="0"/>
                </a:rPr>
                <a:t>provided</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wide</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ranges</a:t>
              </a:r>
              <a:endParaRPr lang="es-CO" sz="1700" dirty="0">
                <a:latin typeface="+mj-lt"/>
                <a:ea typeface="Source Sans Pro" panose="020B0503030403020204" pitchFamily="34" charset="0"/>
              </a:endParaRPr>
            </a:p>
            <a:p>
              <a:endParaRPr lang="es-CO" sz="1700" dirty="0">
                <a:latin typeface="+mj-lt"/>
                <a:ea typeface="Source Sans Pro" panose="020B0503030403020204" pitchFamily="34" charset="0"/>
              </a:endParaRPr>
            </a:p>
            <a:p>
              <a:r>
                <a:rPr lang="es-CO" sz="1700" dirty="0" err="1">
                  <a:latin typeface="+mj-lt"/>
                  <a:ea typeface="Source Sans Pro" panose="020B0503030403020204" pitchFamily="34" charset="0"/>
                </a:rPr>
                <a:t>However</a:t>
              </a:r>
              <a:r>
                <a:rPr lang="es-CO" sz="1700" dirty="0">
                  <a:latin typeface="+mj-lt"/>
                  <a:ea typeface="Source Sans Pro" panose="020B0503030403020204" pitchFamily="34" charset="0"/>
                </a:rPr>
                <a:t>:</a:t>
              </a:r>
            </a:p>
            <a:p>
              <a:r>
                <a:rPr lang="es-CO" sz="1700" dirty="0">
                  <a:latin typeface="+mj-lt"/>
                  <a:ea typeface="Source Sans Pro" panose="020B0503030403020204" pitchFamily="34" charset="0"/>
                </a:rPr>
                <a:t>        (!) </a:t>
              </a:r>
              <a:r>
                <a:rPr lang="es-CO" sz="1700" dirty="0" err="1">
                  <a:latin typeface="+mj-lt"/>
                  <a:ea typeface="Source Sans Pro" panose="020B0503030403020204" pitchFamily="34" charset="0"/>
                </a:rPr>
                <a:t>Many</a:t>
              </a:r>
              <a:r>
                <a:rPr lang="es-CO" sz="1700" dirty="0">
                  <a:latin typeface="+mj-lt"/>
                  <a:ea typeface="Source Sans Pro" panose="020B0503030403020204" pitchFamily="34" charset="0"/>
                </a:rPr>
                <a:t> configurations </a:t>
              </a:r>
              <a:r>
                <a:rPr lang="es-CO" sz="1700" dirty="0" err="1">
                  <a:latin typeface="+mj-lt"/>
                  <a:ea typeface="Source Sans Pro" panose="020B0503030403020204" pitchFamily="34" charset="0"/>
                </a:rPr>
                <a:t>yield</a:t>
              </a:r>
              <a:r>
                <a:rPr lang="es-CO" sz="1700" dirty="0">
                  <a:latin typeface="+mj-lt"/>
                  <a:ea typeface="Source Sans Pro" panose="020B0503030403020204" pitchFamily="34" charset="0"/>
                </a:rPr>
                <a:t> </a:t>
              </a:r>
              <a:r>
                <a:rPr lang="es-CO" sz="1700" b="1" dirty="0" err="1">
                  <a:solidFill>
                    <a:srgbClr val="B278E6"/>
                  </a:solidFill>
                  <a:latin typeface="+mj-lt"/>
                  <a:ea typeface="Source Sans Pro" panose="020B0503030403020204" pitchFamily="34" charset="0"/>
                </a:rPr>
                <a:t>invalid</a:t>
              </a:r>
              <a:r>
                <a:rPr lang="es-CO" sz="1700" b="1" dirty="0">
                  <a:solidFill>
                    <a:srgbClr val="B278E6"/>
                  </a:solidFill>
                  <a:latin typeface="+mj-lt"/>
                  <a:ea typeface="Source Sans Pro" panose="020B0503030403020204" pitchFamily="34" charset="0"/>
                </a:rPr>
                <a:t> outputs </a:t>
              </a:r>
              <a:r>
                <a:rPr lang="es-CO" sz="1700" dirty="0">
                  <a:latin typeface="+mj-lt"/>
                  <a:ea typeface="Source Sans Pro" panose="020B0503030403020204" pitchFamily="34" charset="0"/>
                </a:rPr>
                <a:t>(</a:t>
              </a:r>
              <a:r>
                <a:rPr lang="es-CO" sz="1700" dirty="0" err="1">
                  <a:latin typeface="+mj-lt"/>
                  <a:ea typeface="Source Sans Pro" panose="020B0503030403020204" pitchFamily="34" charset="0"/>
                </a:rPr>
                <a:t>e.g</a:t>
              </a:r>
              <a:r>
                <a:rPr lang="es-CO" sz="1700" dirty="0">
                  <a:latin typeface="+mj-lt"/>
                  <a:ea typeface="Source Sans Pro" panose="020B0503030403020204" pitchFamily="34" charset="0"/>
                </a:rPr>
                <a:t>. negative </a:t>
              </a:r>
              <a:r>
                <a:rPr lang="es-CO" sz="1700" dirty="0" err="1">
                  <a:latin typeface="+mj-lt"/>
                  <a:ea typeface="Source Sans Pro" panose="020B0503030403020204" pitchFamily="34" charset="0"/>
                </a:rPr>
                <a:t>or</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excessive</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voltages</a:t>
              </a:r>
              <a:r>
                <a:rPr lang="es-CO" sz="1700" dirty="0">
                  <a:latin typeface="+mj-lt"/>
                  <a:ea typeface="Source Sans Pro" panose="020B0503030403020204" pitchFamily="34" charset="0"/>
                </a:rPr>
                <a:t>)</a:t>
              </a:r>
            </a:p>
            <a:p>
              <a:r>
                <a:rPr lang="es-CO" sz="1700" dirty="0">
                  <a:latin typeface="+mj-lt"/>
                  <a:ea typeface="Source Sans Pro" panose="020B0503030403020204" pitchFamily="34" charset="0"/>
                </a:rPr>
                <a:t>        (!) </a:t>
              </a:r>
              <a:r>
                <a:rPr lang="es-CO" sz="1700" dirty="0" err="1">
                  <a:latin typeface="+mj-lt"/>
                  <a:ea typeface="Source Sans Pro" panose="020B0503030403020204" pitchFamily="34" charset="0"/>
                </a:rPr>
                <a:t>AlphaPEM</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is</a:t>
              </a:r>
              <a:r>
                <a:rPr lang="es-CO" sz="1700" dirty="0">
                  <a:latin typeface="+mj-lt"/>
                  <a:ea typeface="Source Sans Pro" panose="020B0503030403020204" pitchFamily="34" charset="0"/>
                </a:rPr>
                <a:t> </a:t>
              </a:r>
              <a:r>
                <a:rPr lang="es-CO" sz="1700" b="1" dirty="0" err="1">
                  <a:solidFill>
                    <a:srgbClr val="B278E6"/>
                  </a:solidFill>
                  <a:latin typeface="+mj-lt"/>
                  <a:ea typeface="Source Sans Pro" panose="020B0503030403020204" pitchFamily="34" charset="0"/>
                </a:rPr>
                <a:t>expensive</a:t>
              </a:r>
              <a:r>
                <a:rPr lang="es-CO" sz="1700" dirty="0">
                  <a:latin typeface="+mj-lt"/>
                  <a:ea typeface="Source Sans Pro" panose="020B0503030403020204" pitchFamily="34" charset="0"/>
                </a:rPr>
                <a:t> (≈1.5 min per run) → </a:t>
              </a:r>
              <a:r>
                <a:rPr lang="es-CO" sz="1700" dirty="0" err="1">
                  <a:latin typeface="+mj-lt"/>
                  <a:ea typeface="Source Sans Pro" panose="020B0503030403020204" pitchFamily="34" charset="0"/>
                </a:rPr>
                <a:t>computationally</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wasteful</a:t>
              </a:r>
              <a:endParaRPr lang="en" sz="1700" dirty="0">
                <a:latin typeface="+mj-lt"/>
                <a:ea typeface="Source Sans Pro" panose="020B0503030403020204" pitchFamily="34" charset="0"/>
              </a:endParaRPr>
            </a:p>
          </p:txBody>
        </p:sp>
        <p:sp>
          <p:nvSpPr>
            <p:cNvPr id="76" name="Rectángulo: esquinas redondeadas 75">
              <a:extLst>
                <a:ext uri="{FF2B5EF4-FFF2-40B4-BE49-F238E27FC236}">
                  <a16:creationId xmlns:a16="http://schemas.microsoft.com/office/drawing/2014/main" id="{1EE06E23-CB08-64EE-5ED5-B69D8489626B}"/>
                </a:ext>
              </a:extLst>
            </p:cNvPr>
            <p:cNvSpPr/>
            <p:nvPr/>
          </p:nvSpPr>
          <p:spPr>
            <a:xfrm>
              <a:off x="1212256" y="3599761"/>
              <a:ext cx="8276771" cy="2844607"/>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77" name="Google Shape;1789;p36">
            <a:extLst>
              <a:ext uri="{FF2B5EF4-FFF2-40B4-BE49-F238E27FC236}">
                <a16:creationId xmlns:a16="http://schemas.microsoft.com/office/drawing/2014/main" id="{73614292-3FCA-FEA7-08D2-6CE3A9FD41BD}"/>
              </a:ext>
            </a:extLst>
          </p:cNvPr>
          <p:cNvGrpSpPr/>
          <p:nvPr/>
        </p:nvGrpSpPr>
        <p:grpSpPr>
          <a:xfrm flipH="1">
            <a:off x="9917880" y="4245563"/>
            <a:ext cx="1128532" cy="1706079"/>
            <a:chOff x="3346589" y="1035541"/>
            <a:chExt cx="2550136" cy="3687818"/>
          </a:xfrm>
        </p:grpSpPr>
        <p:grpSp>
          <p:nvGrpSpPr>
            <p:cNvPr id="78" name="Google Shape;1790;p36">
              <a:extLst>
                <a:ext uri="{FF2B5EF4-FFF2-40B4-BE49-F238E27FC236}">
                  <a16:creationId xmlns:a16="http://schemas.microsoft.com/office/drawing/2014/main" id="{9D02E398-AD7B-1105-301C-493F67CDB6E3}"/>
                </a:ext>
              </a:extLst>
            </p:cNvPr>
            <p:cNvGrpSpPr/>
            <p:nvPr/>
          </p:nvGrpSpPr>
          <p:grpSpPr>
            <a:xfrm>
              <a:off x="3346589" y="1035541"/>
              <a:ext cx="2450802" cy="3687818"/>
              <a:chOff x="3409938" y="1035450"/>
              <a:chExt cx="2324137" cy="3497219"/>
            </a:xfrm>
          </p:grpSpPr>
          <p:sp>
            <p:nvSpPr>
              <p:cNvPr id="82" name="Google Shape;1791;p36">
                <a:extLst>
                  <a:ext uri="{FF2B5EF4-FFF2-40B4-BE49-F238E27FC236}">
                    <a16:creationId xmlns:a16="http://schemas.microsoft.com/office/drawing/2014/main" id="{8ADD4BBC-9C63-E61A-4D22-777026491A06}"/>
                  </a:ext>
                </a:extLst>
              </p:cNvPr>
              <p:cNvSpPr/>
              <p:nvPr/>
            </p:nvSpPr>
            <p:spPr>
              <a:xfrm>
                <a:off x="4164193" y="1113566"/>
                <a:ext cx="263849" cy="519204"/>
              </a:xfrm>
              <a:custGeom>
                <a:avLst/>
                <a:gdLst/>
                <a:ahLst/>
                <a:cxnLst/>
                <a:rect l="l" t="t" r="r" b="b"/>
                <a:pathLst>
                  <a:path w="5188" h="10209" extrusionOk="0">
                    <a:moveTo>
                      <a:pt x="731" y="1"/>
                    </a:moveTo>
                    <a:lnTo>
                      <a:pt x="590" y="14"/>
                    </a:lnTo>
                    <a:lnTo>
                      <a:pt x="449" y="52"/>
                    </a:lnTo>
                    <a:lnTo>
                      <a:pt x="321" y="116"/>
                    </a:lnTo>
                    <a:lnTo>
                      <a:pt x="218" y="206"/>
                    </a:lnTo>
                    <a:lnTo>
                      <a:pt x="129" y="321"/>
                    </a:lnTo>
                    <a:lnTo>
                      <a:pt x="65" y="436"/>
                    </a:lnTo>
                    <a:lnTo>
                      <a:pt x="13" y="577"/>
                    </a:lnTo>
                    <a:lnTo>
                      <a:pt x="1" y="731"/>
                    </a:lnTo>
                    <a:lnTo>
                      <a:pt x="1" y="4253"/>
                    </a:lnTo>
                    <a:lnTo>
                      <a:pt x="13" y="4394"/>
                    </a:lnTo>
                    <a:lnTo>
                      <a:pt x="65" y="4535"/>
                    </a:lnTo>
                    <a:lnTo>
                      <a:pt x="129" y="4650"/>
                    </a:lnTo>
                    <a:lnTo>
                      <a:pt x="218" y="4765"/>
                    </a:lnTo>
                    <a:lnTo>
                      <a:pt x="321" y="4855"/>
                    </a:lnTo>
                    <a:lnTo>
                      <a:pt x="449" y="4919"/>
                    </a:lnTo>
                    <a:lnTo>
                      <a:pt x="590" y="4958"/>
                    </a:lnTo>
                    <a:lnTo>
                      <a:pt x="731" y="4970"/>
                    </a:lnTo>
                    <a:lnTo>
                      <a:pt x="3728" y="4970"/>
                    </a:lnTo>
                    <a:lnTo>
                      <a:pt x="3728" y="9479"/>
                    </a:lnTo>
                    <a:lnTo>
                      <a:pt x="3740" y="9632"/>
                    </a:lnTo>
                    <a:lnTo>
                      <a:pt x="3792" y="9761"/>
                    </a:lnTo>
                    <a:lnTo>
                      <a:pt x="3856" y="9889"/>
                    </a:lnTo>
                    <a:lnTo>
                      <a:pt x="3945" y="10004"/>
                    </a:lnTo>
                    <a:lnTo>
                      <a:pt x="4048" y="10081"/>
                    </a:lnTo>
                    <a:lnTo>
                      <a:pt x="4176" y="10158"/>
                    </a:lnTo>
                    <a:lnTo>
                      <a:pt x="4317" y="10196"/>
                    </a:lnTo>
                    <a:lnTo>
                      <a:pt x="4458" y="10209"/>
                    </a:lnTo>
                    <a:lnTo>
                      <a:pt x="4611" y="10196"/>
                    </a:lnTo>
                    <a:lnTo>
                      <a:pt x="4739" y="10158"/>
                    </a:lnTo>
                    <a:lnTo>
                      <a:pt x="4868" y="10081"/>
                    </a:lnTo>
                    <a:lnTo>
                      <a:pt x="4970" y="10004"/>
                    </a:lnTo>
                    <a:lnTo>
                      <a:pt x="5060" y="9889"/>
                    </a:lnTo>
                    <a:lnTo>
                      <a:pt x="5137" y="9761"/>
                    </a:lnTo>
                    <a:lnTo>
                      <a:pt x="5175" y="9632"/>
                    </a:lnTo>
                    <a:lnTo>
                      <a:pt x="5188" y="9479"/>
                    </a:lnTo>
                    <a:lnTo>
                      <a:pt x="5188" y="4253"/>
                    </a:lnTo>
                    <a:lnTo>
                      <a:pt x="5175" y="4099"/>
                    </a:lnTo>
                    <a:lnTo>
                      <a:pt x="5137" y="3959"/>
                    </a:lnTo>
                    <a:lnTo>
                      <a:pt x="5060" y="3843"/>
                    </a:lnTo>
                    <a:lnTo>
                      <a:pt x="4970" y="3728"/>
                    </a:lnTo>
                    <a:lnTo>
                      <a:pt x="4868" y="3638"/>
                    </a:lnTo>
                    <a:lnTo>
                      <a:pt x="4739" y="3574"/>
                    </a:lnTo>
                    <a:lnTo>
                      <a:pt x="4611" y="3536"/>
                    </a:lnTo>
                    <a:lnTo>
                      <a:pt x="4458" y="3523"/>
                    </a:lnTo>
                    <a:lnTo>
                      <a:pt x="1461" y="3523"/>
                    </a:lnTo>
                    <a:lnTo>
                      <a:pt x="1461" y="731"/>
                    </a:lnTo>
                    <a:lnTo>
                      <a:pt x="1448" y="577"/>
                    </a:lnTo>
                    <a:lnTo>
                      <a:pt x="1409" y="436"/>
                    </a:lnTo>
                    <a:lnTo>
                      <a:pt x="1333" y="321"/>
                    </a:lnTo>
                    <a:lnTo>
                      <a:pt x="1243" y="206"/>
                    </a:lnTo>
                    <a:lnTo>
                      <a:pt x="1140" y="116"/>
                    </a:lnTo>
                    <a:lnTo>
                      <a:pt x="1012" y="52"/>
                    </a:lnTo>
                    <a:lnTo>
                      <a:pt x="884" y="14"/>
                    </a:lnTo>
                    <a:lnTo>
                      <a:pt x="731"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3" name="Google Shape;1792;p36">
                <a:extLst>
                  <a:ext uri="{FF2B5EF4-FFF2-40B4-BE49-F238E27FC236}">
                    <a16:creationId xmlns:a16="http://schemas.microsoft.com/office/drawing/2014/main" id="{42408452-3B64-EF63-BDA6-DB2F5A0D14A7}"/>
                  </a:ext>
                </a:extLst>
              </p:cNvPr>
              <p:cNvSpPr/>
              <p:nvPr/>
            </p:nvSpPr>
            <p:spPr>
              <a:xfrm>
                <a:off x="4535497" y="1224993"/>
                <a:ext cx="73642" cy="407775"/>
              </a:xfrm>
              <a:custGeom>
                <a:avLst/>
                <a:gdLst/>
                <a:ahLst/>
                <a:cxnLst/>
                <a:rect l="l" t="t" r="r" b="b"/>
                <a:pathLst>
                  <a:path w="1448" h="8018" extrusionOk="0">
                    <a:moveTo>
                      <a:pt x="717" y="0"/>
                    </a:moveTo>
                    <a:lnTo>
                      <a:pt x="576" y="13"/>
                    </a:lnTo>
                    <a:lnTo>
                      <a:pt x="436" y="51"/>
                    </a:lnTo>
                    <a:lnTo>
                      <a:pt x="320" y="115"/>
                    </a:lnTo>
                    <a:lnTo>
                      <a:pt x="205" y="205"/>
                    </a:lnTo>
                    <a:lnTo>
                      <a:pt x="115" y="320"/>
                    </a:lnTo>
                    <a:lnTo>
                      <a:pt x="51" y="436"/>
                    </a:lnTo>
                    <a:lnTo>
                      <a:pt x="13" y="576"/>
                    </a:lnTo>
                    <a:lnTo>
                      <a:pt x="0" y="717"/>
                    </a:lnTo>
                    <a:lnTo>
                      <a:pt x="0" y="7288"/>
                    </a:lnTo>
                    <a:lnTo>
                      <a:pt x="13" y="7441"/>
                    </a:lnTo>
                    <a:lnTo>
                      <a:pt x="51" y="7570"/>
                    </a:lnTo>
                    <a:lnTo>
                      <a:pt x="115" y="7698"/>
                    </a:lnTo>
                    <a:lnTo>
                      <a:pt x="205" y="7813"/>
                    </a:lnTo>
                    <a:lnTo>
                      <a:pt x="320" y="7890"/>
                    </a:lnTo>
                    <a:lnTo>
                      <a:pt x="436" y="7967"/>
                    </a:lnTo>
                    <a:lnTo>
                      <a:pt x="576" y="8005"/>
                    </a:lnTo>
                    <a:lnTo>
                      <a:pt x="717" y="8018"/>
                    </a:lnTo>
                    <a:lnTo>
                      <a:pt x="871" y="8005"/>
                    </a:lnTo>
                    <a:lnTo>
                      <a:pt x="1012" y="7967"/>
                    </a:lnTo>
                    <a:lnTo>
                      <a:pt x="1127" y="7890"/>
                    </a:lnTo>
                    <a:lnTo>
                      <a:pt x="1242" y="7813"/>
                    </a:lnTo>
                    <a:lnTo>
                      <a:pt x="1332" y="7698"/>
                    </a:lnTo>
                    <a:lnTo>
                      <a:pt x="1396" y="7570"/>
                    </a:lnTo>
                    <a:lnTo>
                      <a:pt x="1435" y="7441"/>
                    </a:lnTo>
                    <a:lnTo>
                      <a:pt x="1447" y="7288"/>
                    </a:lnTo>
                    <a:lnTo>
                      <a:pt x="1447" y="717"/>
                    </a:lnTo>
                    <a:lnTo>
                      <a:pt x="1435" y="576"/>
                    </a:lnTo>
                    <a:lnTo>
                      <a:pt x="1396" y="436"/>
                    </a:lnTo>
                    <a:lnTo>
                      <a:pt x="1332" y="320"/>
                    </a:lnTo>
                    <a:lnTo>
                      <a:pt x="1242" y="205"/>
                    </a:lnTo>
                    <a:lnTo>
                      <a:pt x="1127" y="115"/>
                    </a:lnTo>
                    <a:lnTo>
                      <a:pt x="1012" y="51"/>
                    </a:lnTo>
                    <a:lnTo>
                      <a:pt x="871" y="13"/>
                    </a:lnTo>
                    <a:lnTo>
                      <a:pt x="717"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4" name="Google Shape;1793;p36">
                <a:extLst>
                  <a:ext uri="{FF2B5EF4-FFF2-40B4-BE49-F238E27FC236}">
                    <a16:creationId xmlns:a16="http://schemas.microsoft.com/office/drawing/2014/main" id="{372C65A4-1BDE-EAA9-0B86-38E74FE4A32A}"/>
                  </a:ext>
                </a:extLst>
              </p:cNvPr>
              <p:cNvSpPr/>
              <p:nvPr/>
            </p:nvSpPr>
            <p:spPr>
              <a:xfrm>
                <a:off x="4707443" y="1069931"/>
                <a:ext cx="216297" cy="562840"/>
              </a:xfrm>
              <a:custGeom>
                <a:avLst/>
                <a:gdLst/>
                <a:ahLst/>
                <a:cxnLst/>
                <a:rect l="l" t="t" r="r" b="b"/>
                <a:pathLst>
                  <a:path w="4253" h="11067" extrusionOk="0">
                    <a:moveTo>
                      <a:pt x="3522" y="1"/>
                    </a:moveTo>
                    <a:lnTo>
                      <a:pt x="3369" y="14"/>
                    </a:lnTo>
                    <a:lnTo>
                      <a:pt x="3241" y="52"/>
                    </a:lnTo>
                    <a:lnTo>
                      <a:pt x="3113" y="116"/>
                    </a:lnTo>
                    <a:lnTo>
                      <a:pt x="3010" y="206"/>
                    </a:lnTo>
                    <a:lnTo>
                      <a:pt x="2921" y="321"/>
                    </a:lnTo>
                    <a:lnTo>
                      <a:pt x="2856" y="436"/>
                    </a:lnTo>
                    <a:lnTo>
                      <a:pt x="2805" y="577"/>
                    </a:lnTo>
                    <a:lnTo>
                      <a:pt x="2792" y="731"/>
                    </a:lnTo>
                    <a:lnTo>
                      <a:pt x="2792" y="6200"/>
                    </a:lnTo>
                    <a:lnTo>
                      <a:pt x="128" y="9914"/>
                    </a:lnTo>
                    <a:lnTo>
                      <a:pt x="64" y="10042"/>
                    </a:lnTo>
                    <a:lnTo>
                      <a:pt x="13" y="10183"/>
                    </a:lnTo>
                    <a:lnTo>
                      <a:pt x="0" y="10324"/>
                    </a:lnTo>
                    <a:lnTo>
                      <a:pt x="13" y="10465"/>
                    </a:lnTo>
                    <a:lnTo>
                      <a:pt x="39" y="10593"/>
                    </a:lnTo>
                    <a:lnTo>
                      <a:pt x="103" y="10721"/>
                    </a:lnTo>
                    <a:lnTo>
                      <a:pt x="192" y="10836"/>
                    </a:lnTo>
                    <a:lnTo>
                      <a:pt x="308" y="10939"/>
                    </a:lnTo>
                    <a:lnTo>
                      <a:pt x="397" y="10990"/>
                    </a:lnTo>
                    <a:lnTo>
                      <a:pt x="513" y="11041"/>
                    </a:lnTo>
                    <a:lnTo>
                      <a:pt x="615" y="11067"/>
                    </a:lnTo>
                    <a:lnTo>
                      <a:pt x="807" y="11067"/>
                    </a:lnTo>
                    <a:lnTo>
                      <a:pt x="897" y="11054"/>
                    </a:lnTo>
                    <a:lnTo>
                      <a:pt x="974" y="11028"/>
                    </a:lnTo>
                    <a:lnTo>
                      <a:pt x="1051" y="10990"/>
                    </a:lnTo>
                    <a:lnTo>
                      <a:pt x="1127" y="10952"/>
                    </a:lnTo>
                    <a:lnTo>
                      <a:pt x="1204" y="10900"/>
                    </a:lnTo>
                    <a:lnTo>
                      <a:pt x="1268" y="10836"/>
                    </a:lnTo>
                    <a:lnTo>
                      <a:pt x="1320" y="10759"/>
                    </a:lnTo>
                    <a:lnTo>
                      <a:pt x="4112" y="6866"/>
                    </a:lnTo>
                    <a:lnTo>
                      <a:pt x="4176" y="6763"/>
                    </a:lnTo>
                    <a:lnTo>
                      <a:pt x="4214" y="6661"/>
                    </a:lnTo>
                    <a:lnTo>
                      <a:pt x="4240" y="6546"/>
                    </a:lnTo>
                    <a:lnTo>
                      <a:pt x="4253" y="6443"/>
                    </a:lnTo>
                    <a:lnTo>
                      <a:pt x="4253" y="731"/>
                    </a:lnTo>
                    <a:lnTo>
                      <a:pt x="4240" y="577"/>
                    </a:lnTo>
                    <a:lnTo>
                      <a:pt x="4189" y="436"/>
                    </a:lnTo>
                    <a:lnTo>
                      <a:pt x="4124" y="321"/>
                    </a:lnTo>
                    <a:lnTo>
                      <a:pt x="4035" y="206"/>
                    </a:lnTo>
                    <a:lnTo>
                      <a:pt x="3932" y="116"/>
                    </a:lnTo>
                    <a:lnTo>
                      <a:pt x="3804" y="52"/>
                    </a:lnTo>
                    <a:lnTo>
                      <a:pt x="3663" y="14"/>
                    </a:lnTo>
                    <a:lnTo>
                      <a:pt x="3522"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5" name="Google Shape;1794;p36">
                <a:extLst>
                  <a:ext uri="{FF2B5EF4-FFF2-40B4-BE49-F238E27FC236}">
                    <a16:creationId xmlns:a16="http://schemas.microsoft.com/office/drawing/2014/main" id="{E3D89AB9-22D4-CA68-4ACD-FFA641897DEC}"/>
                  </a:ext>
                </a:extLst>
              </p:cNvPr>
              <p:cNvSpPr/>
              <p:nvPr/>
            </p:nvSpPr>
            <p:spPr>
              <a:xfrm>
                <a:off x="4620784" y="3791379"/>
                <a:ext cx="1030526" cy="508117"/>
              </a:xfrm>
              <a:custGeom>
                <a:avLst/>
                <a:gdLst/>
                <a:ahLst/>
                <a:cxnLst/>
                <a:rect l="l" t="t" r="r" b="b"/>
                <a:pathLst>
                  <a:path w="20263" h="9991" extrusionOk="0">
                    <a:moveTo>
                      <a:pt x="731" y="0"/>
                    </a:moveTo>
                    <a:lnTo>
                      <a:pt x="590" y="13"/>
                    </a:lnTo>
                    <a:lnTo>
                      <a:pt x="449" y="51"/>
                    </a:lnTo>
                    <a:lnTo>
                      <a:pt x="321" y="128"/>
                    </a:lnTo>
                    <a:lnTo>
                      <a:pt x="219" y="218"/>
                    </a:lnTo>
                    <a:lnTo>
                      <a:pt x="129" y="320"/>
                    </a:lnTo>
                    <a:lnTo>
                      <a:pt x="65" y="448"/>
                    </a:lnTo>
                    <a:lnTo>
                      <a:pt x="14" y="577"/>
                    </a:lnTo>
                    <a:lnTo>
                      <a:pt x="1" y="730"/>
                    </a:lnTo>
                    <a:lnTo>
                      <a:pt x="1" y="9260"/>
                    </a:lnTo>
                    <a:lnTo>
                      <a:pt x="14" y="9401"/>
                    </a:lnTo>
                    <a:lnTo>
                      <a:pt x="65" y="9542"/>
                    </a:lnTo>
                    <a:lnTo>
                      <a:pt x="129" y="9670"/>
                    </a:lnTo>
                    <a:lnTo>
                      <a:pt x="219" y="9773"/>
                    </a:lnTo>
                    <a:lnTo>
                      <a:pt x="321" y="9862"/>
                    </a:lnTo>
                    <a:lnTo>
                      <a:pt x="449" y="9926"/>
                    </a:lnTo>
                    <a:lnTo>
                      <a:pt x="590" y="9978"/>
                    </a:lnTo>
                    <a:lnTo>
                      <a:pt x="731" y="9990"/>
                    </a:lnTo>
                    <a:lnTo>
                      <a:pt x="19533" y="9990"/>
                    </a:lnTo>
                    <a:lnTo>
                      <a:pt x="19674" y="9978"/>
                    </a:lnTo>
                    <a:lnTo>
                      <a:pt x="19815" y="9926"/>
                    </a:lnTo>
                    <a:lnTo>
                      <a:pt x="19943" y="9862"/>
                    </a:lnTo>
                    <a:lnTo>
                      <a:pt x="20045" y="9773"/>
                    </a:lnTo>
                    <a:lnTo>
                      <a:pt x="20135" y="9670"/>
                    </a:lnTo>
                    <a:lnTo>
                      <a:pt x="20199" y="9542"/>
                    </a:lnTo>
                    <a:lnTo>
                      <a:pt x="20237" y="9401"/>
                    </a:lnTo>
                    <a:lnTo>
                      <a:pt x="20263" y="9260"/>
                    </a:lnTo>
                    <a:lnTo>
                      <a:pt x="20237" y="9107"/>
                    </a:lnTo>
                    <a:lnTo>
                      <a:pt x="20199" y="8979"/>
                    </a:lnTo>
                    <a:lnTo>
                      <a:pt x="20135" y="8850"/>
                    </a:lnTo>
                    <a:lnTo>
                      <a:pt x="20045" y="8748"/>
                    </a:lnTo>
                    <a:lnTo>
                      <a:pt x="19943" y="8658"/>
                    </a:lnTo>
                    <a:lnTo>
                      <a:pt x="19815" y="8582"/>
                    </a:lnTo>
                    <a:lnTo>
                      <a:pt x="19674" y="8543"/>
                    </a:lnTo>
                    <a:lnTo>
                      <a:pt x="19533" y="8530"/>
                    </a:lnTo>
                    <a:lnTo>
                      <a:pt x="1461" y="8530"/>
                    </a:lnTo>
                    <a:lnTo>
                      <a:pt x="1461" y="730"/>
                    </a:lnTo>
                    <a:lnTo>
                      <a:pt x="1448" y="577"/>
                    </a:lnTo>
                    <a:lnTo>
                      <a:pt x="1410" y="448"/>
                    </a:lnTo>
                    <a:lnTo>
                      <a:pt x="1333" y="320"/>
                    </a:lnTo>
                    <a:lnTo>
                      <a:pt x="1243" y="218"/>
                    </a:lnTo>
                    <a:lnTo>
                      <a:pt x="1141" y="128"/>
                    </a:lnTo>
                    <a:lnTo>
                      <a:pt x="1013" y="51"/>
                    </a:lnTo>
                    <a:lnTo>
                      <a:pt x="885" y="13"/>
                    </a:lnTo>
                    <a:lnTo>
                      <a:pt x="731"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6" name="Google Shape;1795;p36">
                <a:extLst>
                  <a:ext uri="{FF2B5EF4-FFF2-40B4-BE49-F238E27FC236}">
                    <a16:creationId xmlns:a16="http://schemas.microsoft.com/office/drawing/2014/main" id="{8478E394-76CB-26DE-80D5-ACD281B88B94}"/>
                  </a:ext>
                </a:extLst>
              </p:cNvPr>
              <p:cNvSpPr/>
              <p:nvPr/>
            </p:nvSpPr>
            <p:spPr>
              <a:xfrm>
                <a:off x="4449498" y="3807653"/>
                <a:ext cx="1201814" cy="691153"/>
              </a:xfrm>
              <a:custGeom>
                <a:avLst/>
                <a:gdLst/>
                <a:ahLst/>
                <a:cxnLst/>
                <a:rect l="l" t="t" r="r" b="b"/>
                <a:pathLst>
                  <a:path w="23631" h="13590" extrusionOk="0">
                    <a:moveTo>
                      <a:pt x="730" y="0"/>
                    </a:moveTo>
                    <a:lnTo>
                      <a:pt x="577" y="13"/>
                    </a:lnTo>
                    <a:lnTo>
                      <a:pt x="449" y="52"/>
                    </a:lnTo>
                    <a:lnTo>
                      <a:pt x="321" y="128"/>
                    </a:lnTo>
                    <a:lnTo>
                      <a:pt x="205" y="218"/>
                    </a:lnTo>
                    <a:lnTo>
                      <a:pt x="129" y="321"/>
                    </a:lnTo>
                    <a:lnTo>
                      <a:pt x="52" y="449"/>
                    </a:lnTo>
                    <a:lnTo>
                      <a:pt x="13" y="577"/>
                    </a:lnTo>
                    <a:lnTo>
                      <a:pt x="0" y="730"/>
                    </a:lnTo>
                    <a:lnTo>
                      <a:pt x="0" y="12860"/>
                    </a:lnTo>
                    <a:lnTo>
                      <a:pt x="13" y="13000"/>
                    </a:lnTo>
                    <a:lnTo>
                      <a:pt x="52" y="13141"/>
                    </a:lnTo>
                    <a:lnTo>
                      <a:pt x="129" y="13269"/>
                    </a:lnTo>
                    <a:lnTo>
                      <a:pt x="205" y="13372"/>
                    </a:lnTo>
                    <a:lnTo>
                      <a:pt x="321" y="13462"/>
                    </a:lnTo>
                    <a:lnTo>
                      <a:pt x="449" y="13526"/>
                    </a:lnTo>
                    <a:lnTo>
                      <a:pt x="577" y="13577"/>
                    </a:lnTo>
                    <a:lnTo>
                      <a:pt x="730" y="13590"/>
                    </a:lnTo>
                    <a:lnTo>
                      <a:pt x="22901" y="13590"/>
                    </a:lnTo>
                    <a:lnTo>
                      <a:pt x="23042" y="13577"/>
                    </a:lnTo>
                    <a:lnTo>
                      <a:pt x="23183" y="13526"/>
                    </a:lnTo>
                    <a:lnTo>
                      <a:pt x="23311" y="13462"/>
                    </a:lnTo>
                    <a:lnTo>
                      <a:pt x="23413" y="13372"/>
                    </a:lnTo>
                    <a:lnTo>
                      <a:pt x="23503" y="13269"/>
                    </a:lnTo>
                    <a:lnTo>
                      <a:pt x="23567" y="13141"/>
                    </a:lnTo>
                    <a:lnTo>
                      <a:pt x="23605" y="13000"/>
                    </a:lnTo>
                    <a:lnTo>
                      <a:pt x="23631" y="12860"/>
                    </a:lnTo>
                    <a:lnTo>
                      <a:pt x="23605" y="12706"/>
                    </a:lnTo>
                    <a:lnTo>
                      <a:pt x="23567" y="12578"/>
                    </a:lnTo>
                    <a:lnTo>
                      <a:pt x="23503" y="12450"/>
                    </a:lnTo>
                    <a:lnTo>
                      <a:pt x="23413" y="12347"/>
                    </a:lnTo>
                    <a:lnTo>
                      <a:pt x="23311" y="12258"/>
                    </a:lnTo>
                    <a:lnTo>
                      <a:pt x="23183" y="12181"/>
                    </a:lnTo>
                    <a:lnTo>
                      <a:pt x="23042" y="12142"/>
                    </a:lnTo>
                    <a:lnTo>
                      <a:pt x="22901" y="12129"/>
                    </a:lnTo>
                    <a:lnTo>
                      <a:pt x="1461" y="12129"/>
                    </a:lnTo>
                    <a:lnTo>
                      <a:pt x="1461" y="730"/>
                    </a:lnTo>
                    <a:lnTo>
                      <a:pt x="1435" y="577"/>
                    </a:lnTo>
                    <a:lnTo>
                      <a:pt x="1396" y="449"/>
                    </a:lnTo>
                    <a:lnTo>
                      <a:pt x="1332" y="321"/>
                    </a:lnTo>
                    <a:lnTo>
                      <a:pt x="1243" y="218"/>
                    </a:lnTo>
                    <a:lnTo>
                      <a:pt x="1128" y="128"/>
                    </a:lnTo>
                    <a:lnTo>
                      <a:pt x="1012" y="52"/>
                    </a:lnTo>
                    <a:lnTo>
                      <a:pt x="871" y="13"/>
                    </a:lnTo>
                    <a:lnTo>
                      <a:pt x="730"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7" name="Google Shape;1796;p36">
                <a:extLst>
                  <a:ext uri="{FF2B5EF4-FFF2-40B4-BE49-F238E27FC236}">
                    <a16:creationId xmlns:a16="http://schemas.microsoft.com/office/drawing/2014/main" id="{EF988558-03B4-47A0-D036-FB450607C102}"/>
                  </a:ext>
                </a:extLst>
              </p:cNvPr>
              <p:cNvSpPr/>
              <p:nvPr/>
            </p:nvSpPr>
            <p:spPr>
              <a:xfrm>
                <a:off x="4792781" y="3791379"/>
                <a:ext cx="858525" cy="308807"/>
              </a:xfrm>
              <a:custGeom>
                <a:avLst/>
                <a:gdLst/>
                <a:ahLst/>
                <a:cxnLst/>
                <a:rect l="l" t="t" r="r" b="b"/>
                <a:pathLst>
                  <a:path w="16881" h="6072" extrusionOk="0">
                    <a:moveTo>
                      <a:pt x="730" y="0"/>
                    </a:moveTo>
                    <a:lnTo>
                      <a:pt x="577" y="26"/>
                    </a:lnTo>
                    <a:lnTo>
                      <a:pt x="436" y="64"/>
                    </a:lnTo>
                    <a:lnTo>
                      <a:pt x="320" y="128"/>
                    </a:lnTo>
                    <a:lnTo>
                      <a:pt x="205" y="218"/>
                    </a:lnTo>
                    <a:lnTo>
                      <a:pt x="115" y="333"/>
                    </a:lnTo>
                    <a:lnTo>
                      <a:pt x="51" y="448"/>
                    </a:lnTo>
                    <a:lnTo>
                      <a:pt x="13" y="589"/>
                    </a:lnTo>
                    <a:lnTo>
                      <a:pt x="0" y="730"/>
                    </a:lnTo>
                    <a:lnTo>
                      <a:pt x="0" y="5341"/>
                    </a:lnTo>
                    <a:lnTo>
                      <a:pt x="13" y="5482"/>
                    </a:lnTo>
                    <a:lnTo>
                      <a:pt x="51" y="5623"/>
                    </a:lnTo>
                    <a:lnTo>
                      <a:pt x="115" y="5751"/>
                    </a:lnTo>
                    <a:lnTo>
                      <a:pt x="205" y="5853"/>
                    </a:lnTo>
                    <a:lnTo>
                      <a:pt x="320" y="5943"/>
                    </a:lnTo>
                    <a:lnTo>
                      <a:pt x="436" y="6007"/>
                    </a:lnTo>
                    <a:lnTo>
                      <a:pt x="577" y="6058"/>
                    </a:lnTo>
                    <a:lnTo>
                      <a:pt x="730" y="6071"/>
                    </a:lnTo>
                    <a:lnTo>
                      <a:pt x="16151" y="6071"/>
                    </a:lnTo>
                    <a:lnTo>
                      <a:pt x="16292" y="6058"/>
                    </a:lnTo>
                    <a:lnTo>
                      <a:pt x="16433" y="6007"/>
                    </a:lnTo>
                    <a:lnTo>
                      <a:pt x="16561" y="5943"/>
                    </a:lnTo>
                    <a:lnTo>
                      <a:pt x="16663" y="5853"/>
                    </a:lnTo>
                    <a:lnTo>
                      <a:pt x="16753" y="5751"/>
                    </a:lnTo>
                    <a:lnTo>
                      <a:pt x="16817" y="5623"/>
                    </a:lnTo>
                    <a:lnTo>
                      <a:pt x="16855" y="5482"/>
                    </a:lnTo>
                    <a:lnTo>
                      <a:pt x="16881" y="5341"/>
                    </a:lnTo>
                    <a:lnTo>
                      <a:pt x="16855" y="5187"/>
                    </a:lnTo>
                    <a:lnTo>
                      <a:pt x="16817" y="5059"/>
                    </a:lnTo>
                    <a:lnTo>
                      <a:pt x="16753" y="4931"/>
                    </a:lnTo>
                    <a:lnTo>
                      <a:pt x="16663" y="4829"/>
                    </a:lnTo>
                    <a:lnTo>
                      <a:pt x="16561" y="4739"/>
                    </a:lnTo>
                    <a:lnTo>
                      <a:pt x="16433" y="4662"/>
                    </a:lnTo>
                    <a:lnTo>
                      <a:pt x="16292" y="4624"/>
                    </a:lnTo>
                    <a:lnTo>
                      <a:pt x="16151" y="4611"/>
                    </a:lnTo>
                    <a:lnTo>
                      <a:pt x="1460" y="4611"/>
                    </a:lnTo>
                    <a:lnTo>
                      <a:pt x="1460" y="730"/>
                    </a:lnTo>
                    <a:lnTo>
                      <a:pt x="1435" y="589"/>
                    </a:lnTo>
                    <a:lnTo>
                      <a:pt x="1396" y="448"/>
                    </a:lnTo>
                    <a:lnTo>
                      <a:pt x="1332" y="333"/>
                    </a:lnTo>
                    <a:lnTo>
                      <a:pt x="1243" y="218"/>
                    </a:lnTo>
                    <a:lnTo>
                      <a:pt x="1127" y="128"/>
                    </a:lnTo>
                    <a:lnTo>
                      <a:pt x="1012" y="64"/>
                    </a:lnTo>
                    <a:lnTo>
                      <a:pt x="871" y="26"/>
                    </a:lnTo>
                    <a:lnTo>
                      <a:pt x="730"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8" name="Google Shape;1797;p36">
                <a:extLst>
                  <a:ext uri="{FF2B5EF4-FFF2-40B4-BE49-F238E27FC236}">
                    <a16:creationId xmlns:a16="http://schemas.microsoft.com/office/drawing/2014/main" id="{47FE7778-6EC6-BD53-8DCE-01DDC6DA5590}"/>
                  </a:ext>
                </a:extLst>
              </p:cNvPr>
              <p:cNvSpPr/>
              <p:nvPr/>
            </p:nvSpPr>
            <p:spPr>
              <a:xfrm>
                <a:off x="3409938" y="1689417"/>
                <a:ext cx="2324137" cy="1839516"/>
              </a:xfrm>
              <a:custGeom>
                <a:avLst/>
                <a:gdLst/>
                <a:ahLst/>
                <a:cxnLst/>
                <a:rect l="l" t="t" r="r" b="b"/>
                <a:pathLst>
                  <a:path w="45699" h="36170" extrusionOk="0">
                    <a:moveTo>
                      <a:pt x="0" y="0"/>
                    </a:moveTo>
                    <a:lnTo>
                      <a:pt x="0" y="36170"/>
                    </a:lnTo>
                    <a:lnTo>
                      <a:pt x="45699" y="36170"/>
                    </a:lnTo>
                    <a:lnTo>
                      <a:pt x="45699"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9" name="Google Shape;1798;p36">
                <a:extLst>
                  <a:ext uri="{FF2B5EF4-FFF2-40B4-BE49-F238E27FC236}">
                    <a16:creationId xmlns:a16="http://schemas.microsoft.com/office/drawing/2014/main" id="{E4B77A21-C012-3C09-D3EC-BF5488FEA842}"/>
                  </a:ext>
                </a:extLst>
              </p:cNvPr>
              <p:cNvSpPr/>
              <p:nvPr/>
            </p:nvSpPr>
            <p:spPr>
              <a:xfrm>
                <a:off x="3604007" y="1882876"/>
                <a:ext cx="1936603" cy="1452592"/>
              </a:xfrm>
              <a:custGeom>
                <a:avLst/>
                <a:gdLst/>
                <a:ahLst/>
                <a:cxnLst/>
                <a:rect l="l" t="t" r="r" b="b"/>
                <a:pathLst>
                  <a:path w="38079" h="28562" extrusionOk="0">
                    <a:moveTo>
                      <a:pt x="1" y="0"/>
                    </a:moveTo>
                    <a:lnTo>
                      <a:pt x="1" y="28562"/>
                    </a:lnTo>
                    <a:lnTo>
                      <a:pt x="38079" y="28562"/>
                    </a:lnTo>
                    <a:lnTo>
                      <a:pt x="38079"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0" name="Google Shape;1799;p36">
                <a:extLst>
                  <a:ext uri="{FF2B5EF4-FFF2-40B4-BE49-F238E27FC236}">
                    <a16:creationId xmlns:a16="http://schemas.microsoft.com/office/drawing/2014/main" id="{607C201B-8D4B-9A2D-4308-F0E0767BD776}"/>
                  </a:ext>
                </a:extLst>
              </p:cNvPr>
              <p:cNvSpPr/>
              <p:nvPr/>
            </p:nvSpPr>
            <p:spPr>
              <a:xfrm>
                <a:off x="3681512" y="1936276"/>
                <a:ext cx="1781589" cy="1345791"/>
              </a:xfrm>
              <a:custGeom>
                <a:avLst/>
                <a:gdLst/>
                <a:ahLst/>
                <a:cxnLst/>
                <a:rect l="l" t="t" r="r" b="b"/>
                <a:pathLst>
                  <a:path w="35031" h="26462" extrusionOk="0">
                    <a:moveTo>
                      <a:pt x="1" y="0"/>
                    </a:moveTo>
                    <a:lnTo>
                      <a:pt x="1" y="26461"/>
                    </a:lnTo>
                    <a:lnTo>
                      <a:pt x="35030" y="26461"/>
                    </a:lnTo>
                    <a:lnTo>
                      <a:pt x="35030" y="0"/>
                    </a:lnTo>
                    <a:close/>
                  </a:path>
                </a:pathLst>
              </a:custGeom>
              <a:solidFill>
                <a:srgbClr val="FFFFFF"/>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1" name="Google Shape;1800;p36">
                <a:extLst>
                  <a:ext uri="{FF2B5EF4-FFF2-40B4-BE49-F238E27FC236}">
                    <a16:creationId xmlns:a16="http://schemas.microsoft.com/office/drawing/2014/main" id="{67EA8568-88F9-0B92-A174-CBC22634A801}"/>
                  </a:ext>
                </a:extLst>
              </p:cNvPr>
              <p:cNvSpPr/>
              <p:nvPr/>
            </p:nvSpPr>
            <p:spPr>
              <a:xfrm>
                <a:off x="4155750" y="3528856"/>
                <a:ext cx="833148" cy="89306"/>
              </a:xfrm>
              <a:custGeom>
                <a:avLst/>
                <a:gdLst/>
                <a:ahLst/>
                <a:cxnLst/>
                <a:rect l="l" t="t" r="r" b="b"/>
                <a:pathLst>
                  <a:path w="16382" h="1756" extrusionOk="0">
                    <a:moveTo>
                      <a:pt x="0" y="1"/>
                    </a:moveTo>
                    <a:lnTo>
                      <a:pt x="3433" y="1755"/>
                    </a:lnTo>
                    <a:lnTo>
                      <a:pt x="12949" y="1755"/>
                    </a:lnTo>
                    <a:lnTo>
                      <a:pt x="16381"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2" name="Google Shape;1801;p36">
                <a:extLst>
                  <a:ext uri="{FF2B5EF4-FFF2-40B4-BE49-F238E27FC236}">
                    <a16:creationId xmlns:a16="http://schemas.microsoft.com/office/drawing/2014/main" id="{3B318E51-B613-F666-4A38-00FBDAED40FA}"/>
                  </a:ext>
                </a:extLst>
              </p:cNvPr>
              <p:cNvSpPr/>
              <p:nvPr/>
            </p:nvSpPr>
            <p:spPr>
              <a:xfrm>
                <a:off x="4233256" y="3699531"/>
                <a:ext cx="678134" cy="89255"/>
              </a:xfrm>
              <a:custGeom>
                <a:avLst/>
                <a:gdLst/>
                <a:ahLst/>
                <a:cxnLst/>
                <a:rect l="l" t="t" r="r" b="b"/>
                <a:pathLst>
                  <a:path w="13334" h="1755" extrusionOk="0">
                    <a:moveTo>
                      <a:pt x="1909" y="0"/>
                    </a:moveTo>
                    <a:lnTo>
                      <a:pt x="0" y="1755"/>
                    </a:lnTo>
                    <a:lnTo>
                      <a:pt x="13333" y="1755"/>
                    </a:lnTo>
                    <a:lnTo>
                      <a:pt x="11425"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3" name="Google Shape;1802;p36">
                <a:extLst>
                  <a:ext uri="{FF2B5EF4-FFF2-40B4-BE49-F238E27FC236}">
                    <a16:creationId xmlns:a16="http://schemas.microsoft.com/office/drawing/2014/main" id="{39E2EB65-DB68-8738-4F66-6876055A3920}"/>
                  </a:ext>
                </a:extLst>
              </p:cNvPr>
              <p:cNvSpPr/>
              <p:nvPr/>
            </p:nvSpPr>
            <p:spPr>
              <a:xfrm>
                <a:off x="4330290" y="3618110"/>
                <a:ext cx="483401" cy="81474"/>
              </a:xfrm>
              <a:custGeom>
                <a:avLst/>
                <a:gdLst/>
                <a:ahLst/>
                <a:cxnLst/>
                <a:rect l="l" t="t" r="r" b="b"/>
                <a:pathLst>
                  <a:path w="9505" h="1602" extrusionOk="0">
                    <a:moveTo>
                      <a:pt x="1" y="0"/>
                    </a:moveTo>
                    <a:lnTo>
                      <a:pt x="1" y="1601"/>
                    </a:lnTo>
                    <a:lnTo>
                      <a:pt x="9504" y="1601"/>
                    </a:lnTo>
                    <a:lnTo>
                      <a:pt x="9504"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4" name="Google Shape;1803;p36">
                <a:extLst>
                  <a:ext uri="{FF2B5EF4-FFF2-40B4-BE49-F238E27FC236}">
                    <a16:creationId xmlns:a16="http://schemas.microsoft.com/office/drawing/2014/main" id="{9719A7A0-21A1-DE32-224D-1D265EE35B6A}"/>
                  </a:ext>
                </a:extLst>
              </p:cNvPr>
              <p:cNvSpPr/>
              <p:nvPr/>
            </p:nvSpPr>
            <p:spPr>
              <a:xfrm>
                <a:off x="4255379" y="1595587"/>
                <a:ext cx="633837" cy="93883"/>
              </a:xfrm>
              <a:custGeom>
                <a:avLst/>
                <a:gdLst/>
                <a:ahLst/>
                <a:cxnLst/>
                <a:rect l="l" t="t" r="r" b="b"/>
                <a:pathLst>
                  <a:path w="12463" h="1846" extrusionOk="0">
                    <a:moveTo>
                      <a:pt x="1704" y="1"/>
                    </a:moveTo>
                    <a:lnTo>
                      <a:pt x="1538" y="14"/>
                    </a:lnTo>
                    <a:lnTo>
                      <a:pt x="1358" y="39"/>
                    </a:lnTo>
                    <a:lnTo>
                      <a:pt x="1205" y="78"/>
                    </a:lnTo>
                    <a:lnTo>
                      <a:pt x="1038" y="142"/>
                    </a:lnTo>
                    <a:lnTo>
                      <a:pt x="897" y="206"/>
                    </a:lnTo>
                    <a:lnTo>
                      <a:pt x="756" y="295"/>
                    </a:lnTo>
                    <a:lnTo>
                      <a:pt x="615" y="398"/>
                    </a:lnTo>
                    <a:lnTo>
                      <a:pt x="500" y="500"/>
                    </a:lnTo>
                    <a:lnTo>
                      <a:pt x="385" y="628"/>
                    </a:lnTo>
                    <a:lnTo>
                      <a:pt x="295" y="756"/>
                    </a:lnTo>
                    <a:lnTo>
                      <a:pt x="206" y="897"/>
                    </a:lnTo>
                    <a:lnTo>
                      <a:pt x="129" y="1051"/>
                    </a:lnTo>
                    <a:lnTo>
                      <a:pt x="78" y="1205"/>
                    </a:lnTo>
                    <a:lnTo>
                      <a:pt x="39" y="1371"/>
                    </a:lnTo>
                    <a:lnTo>
                      <a:pt x="13" y="1538"/>
                    </a:lnTo>
                    <a:lnTo>
                      <a:pt x="1" y="1717"/>
                    </a:lnTo>
                    <a:lnTo>
                      <a:pt x="1" y="1845"/>
                    </a:lnTo>
                    <a:lnTo>
                      <a:pt x="12463" y="1845"/>
                    </a:lnTo>
                    <a:lnTo>
                      <a:pt x="12463" y="1717"/>
                    </a:lnTo>
                    <a:lnTo>
                      <a:pt x="12450" y="1538"/>
                    </a:lnTo>
                    <a:lnTo>
                      <a:pt x="12424" y="1371"/>
                    </a:lnTo>
                    <a:lnTo>
                      <a:pt x="12386" y="1205"/>
                    </a:lnTo>
                    <a:lnTo>
                      <a:pt x="12322" y="1051"/>
                    </a:lnTo>
                    <a:lnTo>
                      <a:pt x="12258" y="897"/>
                    </a:lnTo>
                    <a:lnTo>
                      <a:pt x="12168" y="756"/>
                    </a:lnTo>
                    <a:lnTo>
                      <a:pt x="12066" y="628"/>
                    </a:lnTo>
                    <a:lnTo>
                      <a:pt x="11963" y="500"/>
                    </a:lnTo>
                    <a:lnTo>
                      <a:pt x="11835" y="398"/>
                    </a:lnTo>
                    <a:lnTo>
                      <a:pt x="11707" y="295"/>
                    </a:lnTo>
                    <a:lnTo>
                      <a:pt x="11566" y="206"/>
                    </a:lnTo>
                    <a:lnTo>
                      <a:pt x="11412" y="142"/>
                    </a:lnTo>
                    <a:lnTo>
                      <a:pt x="11259" y="78"/>
                    </a:lnTo>
                    <a:lnTo>
                      <a:pt x="11092" y="39"/>
                    </a:lnTo>
                    <a:lnTo>
                      <a:pt x="10926" y="14"/>
                    </a:lnTo>
                    <a:lnTo>
                      <a:pt x="10746" y="1"/>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5" name="Google Shape;1804;p36">
                <a:extLst>
                  <a:ext uri="{FF2B5EF4-FFF2-40B4-BE49-F238E27FC236}">
                    <a16:creationId xmlns:a16="http://schemas.microsoft.com/office/drawing/2014/main" id="{F1AC2D7B-2FA7-5C90-3199-0E8B2C9B0A65}"/>
                  </a:ext>
                </a:extLst>
              </p:cNvPr>
              <p:cNvSpPr/>
              <p:nvPr/>
            </p:nvSpPr>
            <p:spPr>
              <a:xfrm>
                <a:off x="4714614" y="2808470"/>
                <a:ext cx="323759" cy="233232"/>
              </a:xfrm>
              <a:custGeom>
                <a:avLst/>
                <a:gdLst/>
                <a:ahLst/>
                <a:cxnLst/>
                <a:rect l="l" t="t" r="r" b="b"/>
                <a:pathLst>
                  <a:path w="6366" h="4586" extrusionOk="0">
                    <a:moveTo>
                      <a:pt x="487" y="0"/>
                    </a:moveTo>
                    <a:lnTo>
                      <a:pt x="384" y="13"/>
                    </a:lnTo>
                    <a:lnTo>
                      <a:pt x="295" y="39"/>
                    </a:lnTo>
                    <a:lnTo>
                      <a:pt x="218" y="90"/>
                    </a:lnTo>
                    <a:lnTo>
                      <a:pt x="141" y="141"/>
                    </a:lnTo>
                    <a:lnTo>
                      <a:pt x="90" y="218"/>
                    </a:lnTo>
                    <a:lnTo>
                      <a:pt x="39" y="295"/>
                    </a:lnTo>
                    <a:lnTo>
                      <a:pt x="13" y="397"/>
                    </a:lnTo>
                    <a:lnTo>
                      <a:pt x="0" y="487"/>
                    </a:lnTo>
                    <a:lnTo>
                      <a:pt x="0" y="4099"/>
                    </a:lnTo>
                    <a:lnTo>
                      <a:pt x="13" y="4201"/>
                    </a:lnTo>
                    <a:lnTo>
                      <a:pt x="39" y="4291"/>
                    </a:lnTo>
                    <a:lnTo>
                      <a:pt x="90" y="4368"/>
                    </a:lnTo>
                    <a:lnTo>
                      <a:pt x="141" y="4444"/>
                    </a:lnTo>
                    <a:lnTo>
                      <a:pt x="218" y="4496"/>
                    </a:lnTo>
                    <a:lnTo>
                      <a:pt x="295" y="4547"/>
                    </a:lnTo>
                    <a:lnTo>
                      <a:pt x="384" y="4573"/>
                    </a:lnTo>
                    <a:lnTo>
                      <a:pt x="487" y="4585"/>
                    </a:lnTo>
                    <a:lnTo>
                      <a:pt x="5879" y="4585"/>
                    </a:lnTo>
                    <a:lnTo>
                      <a:pt x="5981" y="4573"/>
                    </a:lnTo>
                    <a:lnTo>
                      <a:pt x="6071" y="4547"/>
                    </a:lnTo>
                    <a:lnTo>
                      <a:pt x="6148" y="4496"/>
                    </a:lnTo>
                    <a:lnTo>
                      <a:pt x="6225" y="4444"/>
                    </a:lnTo>
                    <a:lnTo>
                      <a:pt x="6289" y="4368"/>
                    </a:lnTo>
                    <a:lnTo>
                      <a:pt x="6327" y="4291"/>
                    </a:lnTo>
                    <a:lnTo>
                      <a:pt x="6353" y="4201"/>
                    </a:lnTo>
                    <a:lnTo>
                      <a:pt x="6366" y="4099"/>
                    </a:lnTo>
                    <a:lnTo>
                      <a:pt x="6353" y="3996"/>
                    </a:lnTo>
                    <a:lnTo>
                      <a:pt x="6327" y="3907"/>
                    </a:lnTo>
                    <a:lnTo>
                      <a:pt x="6289" y="3830"/>
                    </a:lnTo>
                    <a:lnTo>
                      <a:pt x="6225" y="3753"/>
                    </a:lnTo>
                    <a:lnTo>
                      <a:pt x="6148" y="3689"/>
                    </a:lnTo>
                    <a:lnTo>
                      <a:pt x="6071" y="3650"/>
                    </a:lnTo>
                    <a:lnTo>
                      <a:pt x="5981" y="3625"/>
                    </a:lnTo>
                    <a:lnTo>
                      <a:pt x="5879" y="3612"/>
                    </a:lnTo>
                    <a:lnTo>
                      <a:pt x="974" y="3612"/>
                    </a:lnTo>
                    <a:lnTo>
                      <a:pt x="974" y="487"/>
                    </a:lnTo>
                    <a:lnTo>
                      <a:pt x="961" y="397"/>
                    </a:lnTo>
                    <a:lnTo>
                      <a:pt x="935" y="295"/>
                    </a:lnTo>
                    <a:lnTo>
                      <a:pt x="897" y="218"/>
                    </a:lnTo>
                    <a:lnTo>
                      <a:pt x="833" y="141"/>
                    </a:lnTo>
                    <a:lnTo>
                      <a:pt x="756" y="90"/>
                    </a:lnTo>
                    <a:lnTo>
                      <a:pt x="679" y="39"/>
                    </a:lnTo>
                    <a:lnTo>
                      <a:pt x="589" y="13"/>
                    </a:lnTo>
                    <a:lnTo>
                      <a:pt x="487" y="0"/>
                    </a:lnTo>
                    <a:close/>
                  </a:path>
                </a:pathLst>
              </a:custGeom>
              <a:solidFill>
                <a:srgbClr val="8027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6" name="Google Shape;1805;p36">
                <a:extLst>
                  <a:ext uri="{FF2B5EF4-FFF2-40B4-BE49-F238E27FC236}">
                    <a16:creationId xmlns:a16="http://schemas.microsoft.com/office/drawing/2014/main" id="{398C9C8D-517B-0946-89BC-E42801AA068C}"/>
                  </a:ext>
                </a:extLst>
              </p:cNvPr>
              <p:cNvSpPr/>
              <p:nvPr/>
            </p:nvSpPr>
            <p:spPr>
              <a:xfrm>
                <a:off x="4691169" y="2173370"/>
                <a:ext cx="356359" cy="147232"/>
              </a:xfrm>
              <a:custGeom>
                <a:avLst/>
                <a:gdLst/>
                <a:ahLst/>
                <a:cxnLst/>
                <a:rect l="l" t="t" r="r" b="b"/>
                <a:pathLst>
                  <a:path w="7007" h="2895" extrusionOk="0">
                    <a:moveTo>
                      <a:pt x="2318" y="0"/>
                    </a:moveTo>
                    <a:lnTo>
                      <a:pt x="2229" y="26"/>
                    </a:lnTo>
                    <a:lnTo>
                      <a:pt x="2139" y="77"/>
                    </a:lnTo>
                    <a:lnTo>
                      <a:pt x="2075" y="141"/>
                    </a:lnTo>
                    <a:lnTo>
                      <a:pt x="141" y="2062"/>
                    </a:lnTo>
                    <a:lnTo>
                      <a:pt x="77" y="2139"/>
                    </a:lnTo>
                    <a:lnTo>
                      <a:pt x="39" y="2229"/>
                    </a:lnTo>
                    <a:lnTo>
                      <a:pt x="0" y="2319"/>
                    </a:lnTo>
                    <a:lnTo>
                      <a:pt x="0" y="2408"/>
                    </a:lnTo>
                    <a:lnTo>
                      <a:pt x="0" y="2498"/>
                    </a:lnTo>
                    <a:lnTo>
                      <a:pt x="39" y="2588"/>
                    </a:lnTo>
                    <a:lnTo>
                      <a:pt x="77" y="2677"/>
                    </a:lnTo>
                    <a:lnTo>
                      <a:pt x="141" y="2754"/>
                    </a:lnTo>
                    <a:lnTo>
                      <a:pt x="218" y="2818"/>
                    </a:lnTo>
                    <a:lnTo>
                      <a:pt x="295" y="2857"/>
                    </a:lnTo>
                    <a:lnTo>
                      <a:pt x="384" y="2882"/>
                    </a:lnTo>
                    <a:lnTo>
                      <a:pt x="487" y="2895"/>
                    </a:lnTo>
                    <a:lnTo>
                      <a:pt x="576" y="2882"/>
                    </a:lnTo>
                    <a:lnTo>
                      <a:pt x="666" y="2857"/>
                    </a:lnTo>
                    <a:lnTo>
                      <a:pt x="743" y="2818"/>
                    </a:lnTo>
                    <a:lnTo>
                      <a:pt x="820" y="2754"/>
                    </a:lnTo>
                    <a:lnTo>
                      <a:pt x="2613" y="961"/>
                    </a:lnTo>
                    <a:lnTo>
                      <a:pt x="6609" y="961"/>
                    </a:lnTo>
                    <a:lnTo>
                      <a:pt x="6699" y="923"/>
                    </a:lnTo>
                    <a:lnTo>
                      <a:pt x="6788" y="884"/>
                    </a:lnTo>
                    <a:lnTo>
                      <a:pt x="6852" y="820"/>
                    </a:lnTo>
                    <a:lnTo>
                      <a:pt x="6916" y="756"/>
                    </a:lnTo>
                    <a:lnTo>
                      <a:pt x="6968" y="666"/>
                    </a:lnTo>
                    <a:lnTo>
                      <a:pt x="6993" y="577"/>
                    </a:lnTo>
                    <a:lnTo>
                      <a:pt x="7006" y="487"/>
                    </a:lnTo>
                    <a:lnTo>
                      <a:pt x="6993" y="385"/>
                    </a:lnTo>
                    <a:lnTo>
                      <a:pt x="6968" y="295"/>
                    </a:lnTo>
                    <a:lnTo>
                      <a:pt x="6916" y="205"/>
                    </a:lnTo>
                    <a:lnTo>
                      <a:pt x="6852" y="141"/>
                    </a:lnTo>
                    <a:lnTo>
                      <a:pt x="6788" y="77"/>
                    </a:lnTo>
                    <a:lnTo>
                      <a:pt x="6699" y="39"/>
                    </a:lnTo>
                    <a:lnTo>
                      <a:pt x="6609"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7" name="Google Shape;1806;p36">
                <a:extLst>
                  <a:ext uri="{FF2B5EF4-FFF2-40B4-BE49-F238E27FC236}">
                    <a16:creationId xmlns:a16="http://schemas.microsoft.com/office/drawing/2014/main" id="{7C640725-8FD3-BBCC-9F67-9ED4B7823488}"/>
                  </a:ext>
                </a:extLst>
              </p:cNvPr>
              <p:cNvSpPr/>
              <p:nvPr/>
            </p:nvSpPr>
            <p:spPr>
              <a:xfrm>
                <a:off x="3827420" y="2347911"/>
                <a:ext cx="323810" cy="313384"/>
              </a:xfrm>
              <a:custGeom>
                <a:avLst/>
                <a:gdLst/>
                <a:ahLst/>
                <a:cxnLst/>
                <a:rect l="l" t="t" r="r" b="b"/>
                <a:pathLst>
                  <a:path w="6367" h="6162" extrusionOk="0">
                    <a:moveTo>
                      <a:pt x="3088" y="1"/>
                    </a:moveTo>
                    <a:lnTo>
                      <a:pt x="2985" y="14"/>
                    </a:lnTo>
                    <a:lnTo>
                      <a:pt x="2896" y="39"/>
                    </a:lnTo>
                    <a:lnTo>
                      <a:pt x="2819" y="91"/>
                    </a:lnTo>
                    <a:lnTo>
                      <a:pt x="2742" y="155"/>
                    </a:lnTo>
                    <a:lnTo>
                      <a:pt x="2678" y="219"/>
                    </a:lnTo>
                    <a:lnTo>
                      <a:pt x="2639" y="308"/>
                    </a:lnTo>
                    <a:lnTo>
                      <a:pt x="2614" y="398"/>
                    </a:lnTo>
                    <a:lnTo>
                      <a:pt x="2601" y="488"/>
                    </a:lnTo>
                    <a:lnTo>
                      <a:pt x="2601" y="1320"/>
                    </a:lnTo>
                    <a:lnTo>
                      <a:pt x="488" y="1320"/>
                    </a:lnTo>
                    <a:lnTo>
                      <a:pt x="385" y="1333"/>
                    </a:lnTo>
                    <a:lnTo>
                      <a:pt x="296" y="1359"/>
                    </a:lnTo>
                    <a:lnTo>
                      <a:pt x="206" y="1410"/>
                    </a:lnTo>
                    <a:lnTo>
                      <a:pt x="142" y="1461"/>
                    </a:lnTo>
                    <a:lnTo>
                      <a:pt x="78" y="1538"/>
                    </a:lnTo>
                    <a:lnTo>
                      <a:pt x="39" y="1615"/>
                    </a:lnTo>
                    <a:lnTo>
                      <a:pt x="1" y="1717"/>
                    </a:lnTo>
                    <a:lnTo>
                      <a:pt x="1" y="1807"/>
                    </a:lnTo>
                    <a:lnTo>
                      <a:pt x="1" y="4163"/>
                    </a:lnTo>
                    <a:lnTo>
                      <a:pt x="1" y="4253"/>
                    </a:lnTo>
                    <a:lnTo>
                      <a:pt x="39" y="4343"/>
                    </a:lnTo>
                    <a:lnTo>
                      <a:pt x="78" y="4432"/>
                    </a:lnTo>
                    <a:lnTo>
                      <a:pt x="142" y="4496"/>
                    </a:lnTo>
                    <a:lnTo>
                      <a:pt x="206" y="4561"/>
                    </a:lnTo>
                    <a:lnTo>
                      <a:pt x="296" y="4599"/>
                    </a:lnTo>
                    <a:lnTo>
                      <a:pt x="385" y="4637"/>
                    </a:lnTo>
                    <a:lnTo>
                      <a:pt x="1141" y="4637"/>
                    </a:lnTo>
                    <a:lnTo>
                      <a:pt x="1141" y="5675"/>
                    </a:lnTo>
                    <a:lnTo>
                      <a:pt x="1154" y="5777"/>
                    </a:lnTo>
                    <a:lnTo>
                      <a:pt x="1179" y="5867"/>
                    </a:lnTo>
                    <a:lnTo>
                      <a:pt x="1218" y="5957"/>
                    </a:lnTo>
                    <a:lnTo>
                      <a:pt x="1282" y="6021"/>
                    </a:lnTo>
                    <a:lnTo>
                      <a:pt x="1359" y="6085"/>
                    </a:lnTo>
                    <a:lnTo>
                      <a:pt x="1435" y="6123"/>
                    </a:lnTo>
                    <a:lnTo>
                      <a:pt x="1525" y="6162"/>
                    </a:lnTo>
                    <a:lnTo>
                      <a:pt x="5982" y="6162"/>
                    </a:lnTo>
                    <a:lnTo>
                      <a:pt x="6072" y="6123"/>
                    </a:lnTo>
                    <a:lnTo>
                      <a:pt x="6162" y="6085"/>
                    </a:lnTo>
                    <a:lnTo>
                      <a:pt x="6226" y="6021"/>
                    </a:lnTo>
                    <a:lnTo>
                      <a:pt x="6290" y="5957"/>
                    </a:lnTo>
                    <a:lnTo>
                      <a:pt x="6328" y="5867"/>
                    </a:lnTo>
                    <a:lnTo>
                      <a:pt x="6354" y="5777"/>
                    </a:lnTo>
                    <a:lnTo>
                      <a:pt x="6366" y="5675"/>
                    </a:lnTo>
                    <a:lnTo>
                      <a:pt x="6354" y="5585"/>
                    </a:lnTo>
                    <a:lnTo>
                      <a:pt x="6328" y="5496"/>
                    </a:lnTo>
                    <a:lnTo>
                      <a:pt x="6290" y="5406"/>
                    </a:lnTo>
                    <a:lnTo>
                      <a:pt x="6226" y="5342"/>
                    </a:lnTo>
                    <a:lnTo>
                      <a:pt x="6162" y="5278"/>
                    </a:lnTo>
                    <a:lnTo>
                      <a:pt x="6072" y="5239"/>
                    </a:lnTo>
                    <a:lnTo>
                      <a:pt x="5982" y="5201"/>
                    </a:lnTo>
                    <a:lnTo>
                      <a:pt x="2114" y="5201"/>
                    </a:lnTo>
                    <a:lnTo>
                      <a:pt x="2114" y="4163"/>
                    </a:lnTo>
                    <a:lnTo>
                      <a:pt x="2101" y="4061"/>
                    </a:lnTo>
                    <a:lnTo>
                      <a:pt x="2076" y="3971"/>
                    </a:lnTo>
                    <a:lnTo>
                      <a:pt x="2025" y="3882"/>
                    </a:lnTo>
                    <a:lnTo>
                      <a:pt x="1973" y="3818"/>
                    </a:lnTo>
                    <a:lnTo>
                      <a:pt x="1896" y="3754"/>
                    </a:lnTo>
                    <a:lnTo>
                      <a:pt x="1820" y="3715"/>
                    </a:lnTo>
                    <a:lnTo>
                      <a:pt x="1717" y="3677"/>
                    </a:lnTo>
                    <a:lnTo>
                      <a:pt x="962" y="3677"/>
                    </a:lnTo>
                    <a:lnTo>
                      <a:pt x="962" y="2294"/>
                    </a:lnTo>
                    <a:lnTo>
                      <a:pt x="3088" y="2294"/>
                    </a:lnTo>
                    <a:lnTo>
                      <a:pt x="3177" y="2281"/>
                    </a:lnTo>
                    <a:lnTo>
                      <a:pt x="3280" y="2255"/>
                    </a:lnTo>
                    <a:lnTo>
                      <a:pt x="3357" y="2217"/>
                    </a:lnTo>
                    <a:lnTo>
                      <a:pt x="3433" y="2153"/>
                    </a:lnTo>
                    <a:lnTo>
                      <a:pt x="3485" y="2076"/>
                    </a:lnTo>
                    <a:lnTo>
                      <a:pt x="3536" y="1999"/>
                    </a:lnTo>
                    <a:lnTo>
                      <a:pt x="3562" y="1909"/>
                    </a:lnTo>
                    <a:lnTo>
                      <a:pt x="3574" y="1807"/>
                    </a:lnTo>
                    <a:lnTo>
                      <a:pt x="3574" y="488"/>
                    </a:lnTo>
                    <a:lnTo>
                      <a:pt x="3562" y="398"/>
                    </a:lnTo>
                    <a:lnTo>
                      <a:pt x="3536" y="308"/>
                    </a:lnTo>
                    <a:lnTo>
                      <a:pt x="3485" y="219"/>
                    </a:lnTo>
                    <a:lnTo>
                      <a:pt x="3433" y="155"/>
                    </a:lnTo>
                    <a:lnTo>
                      <a:pt x="3357" y="91"/>
                    </a:lnTo>
                    <a:lnTo>
                      <a:pt x="3280" y="39"/>
                    </a:lnTo>
                    <a:lnTo>
                      <a:pt x="3177" y="14"/>
                    </a:lnTo>
                    <a:lnTo>
                      <a:pt x="3088" y="1"/>
                    </a:lnTo>
                    <a:close/>
                  </a:path>
                </a:pathLst>
              </a:custGeom>
              <a:solidFill>
                <a:srgbClr val="26EAB8"/>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8" name="Google Shape;1807;p36">
                <a:extLst>
                  <a:ext uri="{FF2B5EF4-FFF2-40B4-BE49-F238E27FC236}">
                    <a16:creationId xmlns:a16="http://schemas.microsoft.com/office/drawing/2014/main" id="{88B76334-B3B7-12F5-3CDC-E45CDE7D4810}"/>
                  </a:ext>
                </a:extLst>
              </p:cNvPr>
              <p:cNvSpPr/>
              <p:nvPr/>
            </p:nvSpPr>
            <p:spPr>
              <a:xfrm>
                <a:off x="4130322" y="1079085"/>
                <a:ext cx="142045" cy="142706"/>
              </a:xfrm>
              <a:custGeom>
                <a:avLst/>
                <a:gdLst/>
                <a:ahLst/>
                <a:cxnLst/>
                <a:rect l="l" t="t" r="r" b="b"/>
                <a:pathLst>
                  <a:path w="2793" h="2806" extrusionOk="0">
                    <a:moveTo>
                      <a:pt x="1397" y="0"/>
                    </a:moveTo>
                    <a:lnTo>
                      <a:pt x="1256" y="13"/>
                    </a:lnTo>
                    <a:lnTo>
                      <a:pt x="1115" y="26"/>
                    </a:lnTo>
                    <a:lnTo>
                      <a:pt x="987" y="64"/>
                    </a:lnTo>
                    <a:lnTo>
                      <a:pt x="859" y="115"/>
                    </a:lnTo>
                    <a:lnTo>
                      <a:pt x="731" y="167"/>
                    </a:lnTo>
                    <a:lnTo>
                      <a:pt x="615" y="243"/>
                    </a:lnTo>
                    <a:lnTo>
                      <a:pt x="513" y="320"/>
                    </a:lnTo>
                    <a:lnTo>
                      <a:pt x="410" y="410"/>
                    </a:lnTo>
                    <a:lnTo>
                      <a:pt x="321" y="512"/>
                    </a:lnTo>
                    <a:lnTo>
                      <a:pt x="231" y="615"/>
                    </a:lnTo>
                    <a:lnTo>
                      <a:pt x="167" y="730"/>
                    </a:lnTo>
                    <a:lnTo>
                      <a:pt x="103" y="858"/>
                    </a:lnTo>
                    <a:lnTo>
                      <a:pt x="65" y="986"/>
                    </a:lnTo>
                    <a:lnTo>
                      <a:pt x="26" y="1114"/>
                    </a:lnTo>
                    <a:lnTo>
                      <a:pt x="1" y="1255"/>
                    </a:lnTo>
                    <a:lnTo>
                      <a:pt x="1" y="1409"/>
                    </a:lnTo>
                    <a:lnTo>
                      <a:pt x="1" y="1550"/>
                    </a:lnTo>
                    <a:lnTo>
                      <a:pt x="26" y="1691"/>
                    </a:lnTo>
                    <a:lnTo>
                      <a:pt x="65" y="1819"/>
                    </a:lnTo>
                    <a:lnTo>
                      <a:pt x="103" y="1947"/>
                    </a:lnTo>
                    <a:lnTo>
                      <a:pt x="167" y="2075"/>
                    </a:lnTo>
                    <a:lnTo>
                      <a:pt x="231" y="2190"/>
                    </a:lnTo>
                    <a:lnTo>
                      <a:pt x="321" y="2293"/>
                    </a:lnTo>
                    <a:lnTo>
                      <a:pt x="410" y="2395"/>
                    </a:lnTo>
                    <a:lnTo>
                      <a:pt x="513" y="2485"/>
                    </a:lnTo>
                    <a:lnTo>
                      <a:pt x="615" y="2562"/>
                    </a:lnTo>
                    <a:lnTo>
                      <a:pt x="731" y="2639"/>
                    </a:lnTo>
                    <a:lnTo>
                      <a:pt x="859" y="2690"/>
                    </a:lnTo>
                    <a:lnTo>
                      <a:pt x="987" y="2741"/>
                    </a:lnTo>
                    <a:lnTo>
                      <a:pt x="1115" y="2779"/>
                    </a:lnTo>
                    <a:lnTo>
                      <a:pt x="1256" y="2792"/>
                    </a:lnTo>
                    <a:lnTo>
                      <a:pt x="1397" y="2805"/>
                    </a:lnTo>
                    <a:lnTo>
                      <a:pt x="1538" y="2792"/>
                    </a:lnTo>
                    <a:lnTo>
                      <a:pt x="1678" y="2779"/>
                    </a:lnTo>
                    <a:lnTo>
                      <a:pt x="1819" y="2741"/>
                    </a:lnTo>
                    <a:lnTo>
                      <a:pt x="1947" y="2690"/>
                    </a:lnTo>
                    <a:lnTo>
                      <a:pt x="2063" y="2639"/>
                    </a:lnTo>
                    <a:lnTo>
                      <a:pt x="2178" y="2562"/>
                    </a:lnTo>
                    <a:lnTo>
                      <a:pt x="2293" y="2485"/>
                    </a:lnTo>
                    <a:lnTo>
                      <a:pt x="2383" y="2395"/>
                    </a:lnTo>
                    <a:lnTo>
                      <a:pt x="2472" y="2293"/>
                    </a:lnTo>
                    <a:lnTo>
                      <a:pt x="2562" y="2190"/>
                    </a:lnTo>
                    <a:lnTo>
                      <a:pt x="2626" y="2075"/>
                    </a:lnTo>
                    <a:lnTo>
                      <a:pt x="2690" y="1947"/>
                    </a:lnTo>
                    <a:lnTo>
                      <a:pt x="2741" y="1819"/>
                    </a:lnTo>
                    <a:lnTo>
                      <a:pt x="2767" y="1691"/>
                    </a:lnTo>
                    <a:lnTo>
                      <a:pt x="2793" y="1550"/>
                    </a:lnTo>
                    <a:lnTo>
                      <a:pt x="2793" y="1409"/>
                    </a:lnTo>
                    <a:lnTo>
                      <a:pt x="2793" y="1255"/>
                    </a:lnTo>
                    <a:lnTo>
                      <a:pt x="2767" y="1114"/>
                    </a:lnTo>
                    <a:lnTo>
                      <a:pt x="2741" y="986"/>
                    </a:lnTo>
                    <a:lnTo>
                      <a:pt x="2690" y="858"/>
                    </a:lnTo>
                    <a:lnTo>
                      <a:pt x="2626" y="730"/>
                    </a:lnTo>
                    <a:lnTo>
                      <a:pt x="2562" y="615"/>
                    </a:lnTo>
                    <a:lnTo>
                      <a:pt x="2472" y="512"/>
                    </a:lnTo>
                    <a:lnTo>
                      <a:pt x="2383" y="410"/>
                    </a:lnTo>
                    <a:lnTo>
                      <a:pt x="2293" y="320"/>
                    </a:lnTo>
                    <a:lnTo>
                      <a:pt x="2178" y="243"/>
                    </a:lnTo>
                    <a:lnTo>
                      <a:pt x="2063" y="167"/>
                    </a:lnTo>
                    <a:lnTo>
                      <a:pt x="1947" y="115"/>
                    </a:lnTo>
                    <a:lnTo>
                      <a:pt x="1819" y="64"/>
                    </a:lnTo>
                    <a:lnTo>
                      <a:pt x="1678" y="26"/>
                    </a:lnTo>
                    <a:lnTo>
                      <a:pt x="1538" y="13"/>
                    </a:lnTo>
                    <a:lnTo>
                      <a:pt x="1397"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9" name="Google Shape;1808;p36">
                <a:extLst>
                  <a:ext uri="{FF2B5EF4-FFF2-40B4-BE49-F238E27FC236}">
                    <a16:creationId xmlns:a16="http://schemas.microsoft.com/office/drawing/2014/main" id="{50A8DB44-579C-D734-36FF-3AAB9E796DD1}"/>
                  </a:ext>
                </a:extLst>
              </p:cNvPr>
              <p:cNvSpPr/>
              <p:nvPr/>
            </p:nvSpPr>
            <p:spPr>
              <a:xfrm>
                <a:off x="4500965" y="1190461"/>
                <a:ext cx="142706" cy="142706"/>
              </a:xfrm>
              <a:custGeom>
                <a:avLst/>
                <a:gdLst/>
                <a:ahLst/>
                <a:cxnLst/>
                <a:rect l="l" t="t" r="r" b="b"/>
                <a:pathLst>
                  <a:path w="2806" h="2806" extrusionOk="0">
                    <a:moveTo>
                      <a:pt x="1396" y="0"/>
                    </a:moveTo>
                    <a:lnTo>
                      <a:pt x="1255" y="13"/>
                    </a:lnTo>
                    <a:lnTo>
                      <a:pt x="1115" y="26"/>
                    </a:lnTo>
                    <a:lnTo>
                      <a:pt x="986" y="64"/>
                    </a:lnTo>
                    <a:lnTo>
                      <a:pt x="858" y="116"/>
                    </a:lnTo>
                    <a:lnTo>
                      <a:pt x="730" y="167"/>
                    </a:lnTo>
                    <a:lnTo>
                      <a:pt x="615" y="244"/>
                    </a:lnTo>
                    <a:lnTo>
                      <a:pt x="513" y="320"/>
                    </a:lnTo>
                    <a:lnTo>
                      <a:pt x="410" y="410"/>
                    </a:lnTo>
                    <a:lnTo>
                      <a:pt x="320" y="513"/>
                    </a:lnTo>
                    <a:lnTo>
                      <a:pt x="244" y="615"/>
                    </a:lnTo>
                    <a:lnTo>
                      <a:pt x="167" y="730"/>
                    </a:lnTo>
                    <a:lnTo>
                      <a:pt x="116" y="858"/>
                    </a:lnTo>
                    <a:lnTo>
                      <a:pt x="64" y="986"/>
                    </a:lnTo>
                    <a:lnTo>
                      <a:pt x="26" y="1115"/>
                    </a:lnTo>
                    <a:lnTo>
                      <a:pt x="13" y="1255"/>
                    </a:lnTo>
                    <a:lnTo>
                      <a:pt x="0" y="1396"/>
                    </a:lnTo>
                    <a:lnTo>
                      <a:pt x="13" y="1550"/>
                    </a:lnTo>
                    <a:lnTo>
                      <a:pt x="26" y="1691"/>
                    </a:lnTo>
                    <a:lnTo>
                      <a:pt x="64" y="1819"/>
                    </a:lnTo>
                    <a:lnTo>
                      <a:pt x="116" y="1947"/>
                    </a:lnTo>
                    <a:lnTo>
                      <a:pt x="167" y="2075"/>
                    </a:lnTo>
                    <a:lnTo>
                      <a:pt x="244" y="2190"/>
                    </a:lnTo>
                    <a:lnTo>
                      <a:pt x="320" y="2293"/>
                    </a:lnTo>
                    <a:lnTo>
                      <a:pt x="410" y="2395"/>
                    </a:lnTo>
                    <a:lnTo>
                      <a:pt x="513" y="2485"/>
                    </a:lnTo>
                    <a:lnTo>
                      <a:pt x="615" y="2562"/>
                    </a:lnTo>
                    <a:lnTo>
                      <a:pt x="730" y="2639"/>
                    </a:lnTo>
                    <a:lnTo>
                      <a:pt x="858" y="2690"/>
                    </a:lnTo>
                    <a:lnTo>
                      <a:pt x="986" y="2741"/>
                    </a:lnTo>
                    <a:lnTo>
                      <a:pt x="1115" y="2780"/>
                    </a:lnTo>
                    <a:lnTo>
                      <a:pt x="1255" y="2792"/>
                    </a:lnTo>
                    <a:lnTo>
                      <a:pt x="1396" y="2805"/>
                    </a:lnTo>
                    <a:lnTo>
                      <a:pt x="1550" y="2792"/>
                    </a:lnTo>
                    <a:lnTo>
                      <a:pt x="1678" y="2780"/>
                    </a:lnTo>
                    <a:lnTo>
                      <a:pt x="1819" y="2741"/>
                    </a:lnTo>
                    <a:lnTo>
                      <a:pt x="1947" y="2690"/>
                    </a:lnTo>
                    <a:lnTo>
                      <a:pt x="2075" y="2639"/>
                    </a:lnTo>
                    <a:lnTo>
                      <a:pt x="2190" y="2562"/>
                    </a:lnTo>
                    <a:lnTo>
                      <a:pt x="2293" y="2485"/>
                    </a:lnTo>
                    <a:lnTo>
                      <a:pt x="2395" y="2395"/>
                    </a:lnTo>
                    <a:lnTo>
                      <a:pt x="2485" y="2293"/>
                    </a:lnTo>
                    <a:lnTo>
                      <a:pt x="2562" y="2190"/>
                    </a:lnTo>
                    <a:lnTo>
                      <a:pt x="2639" y="2075"/>
                    </a:lnTo>
                    <a:lnTo>
                      <a:pt x="2690" y="1947"/>
                    </a:lnTo>
                    <a:lnTo>
                      <a:pt x="2741" y="1819"/>
                    </a:lnTo>
                    <a:lnTo>
                      <a:pt x="2780" y="1691"/>
                    </a:lnTo>
                    <a:lnTo>
                      <a:pt x="2792" y="1550"/>
                    </a:lnTo>
                    <a:lnTo>
                      <a:pt x="2805" y="1396"/>
                    </a:lnTo>
                    <a:lnTo>
                      <a:pt x="2792" y="1255"/>
                    </a:lnTo>
                    <a:lnTo>
                      <a:pt x="2780" y="1115"/>
                    </a:lnTo>
                    <a:lnTo>
                      <a:pt x="2741" y="986"/>
                    </a:lnTo>
                    <a:lnTo>
                      <a:pt x="2690" y="858"/>
                    </a:lnTo>
                    <a:lnTo>
                      <a:pt x="2639" y="730"/>
                    </a:lnTo>
                    <a:lnTo>
                      <a:pt x="2562" y="615"/>
                    </a:lnTo>
                    <a:lnTo>
                      <a:pt x="2485" y="513"/>
                    </a:lnTo>
                    <a:lnTo>
                      <a:pt x="2395" y="410"/>
                    </a:lnTo>
                    <a:lnTo>
                      <a:pt x="2293" y="320"/>
                    </a:lnTo>
                    <a:lnTo>
                      <a:pt x="2190" y="244"/>
                    </a:lnTo>
                    <a:lnTo>
                      <a:pt x="2075" y="167"/>
                    </a:lnTo>
                    <a:lnTo>
                      <a:pt x="1947" y="116"/>
                    </a:lnTo>
                    <a:lnTo>
                      <a:pt x="1819" y="64"/>
                    </a:lnTo>
                    <a:lnTo>
                      <a:pt x="1678" y="26"/>
                    </a:lnTo>
                    <a:lnTo>
                      <a:pt x="1550" y="13"/>
                    </a:lnTo>
                    <a:lnTo>
                      <a:pt x="1396"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0" name="Google Shape;1809;p36">
                <a:extLst>
                  <a:ext uri="{FF2B5EF4-FFF2-40B4-BE49-F238E27FC236}">
                    <a16:creationId xmlns:a16="http://schemas.microsoft.com/office/drawing/2014/main" id="{0C16654E-BF18-9122-37A2-4158B59EB17A}"/>
                  </a:ext>
                </a:extLst>
              </p:cNvPr>
              <p:cNvSpPr/>
              <p:nvPr/>
            </p:nvSpPr>
            <p:spPr>
              <a:xfrm>
                <a:off x="4818158" y="1035450"/>
                <a:ext cx="142045" cy="142655"/>
              </a:xfrm>
              <a:custGeom>
                <a:avLst/>
                <a:gdLst/>
                <a:ahLst/>
                <a:cxnLst/>
                <a:rect l="l" t="t" r="r" b="b"/>
                <a:pathLst>
                  <a:path w="2793" h="2805" extrusionOk="0">
                    <a:moveTo>
                      <a:pt x="1397" y="0"/>
                    </a:moveTo>
                    <a:lnTo>
                      <a:pt x="1256" y="13"/>
                    </a:lnTo>
                    <a:lnTo>
                      <a:pt x="1115" y="26"/>
                    </a:lnTo>
                    <a:lnTo>
                      <a:pt x="974" y="64"/>
                    </a:lnTo>
                    <a:lnTo>
                      <a:pt x="846" y="115"/>
                    </a:lnTo>
                    <a:lnTo>
                      <a:pt x="731" y="167"/>
                    </a:lnTo>
                    <a:lnTo>
                      <a:pt x="615" y="243"/>
                    </a:lnTo>
                    <a:lnTo>
                      <a:pt x="500" y="320"/>
                    </a:lnTo>
                    <a:lnTo>
                      <a:pt x="411" y="410"/>
                    </a:lnTo>
                    <a:lnTo>
                      <a:pt x="321" y="512"/>
                    </a:lnTo>
                    <a:lnTo>
                      <a:pt x="231" y="615"/>
                    </a:lnTo>
                    <a:lnTo>
                      <a:pt x="167" y="730"/>
                    </a:lnTo>
                    <a:lnTo>
                      <a:pt x="103" y="858"/>
                    </a:lnTo>
                    <a:lnTo>
                      <a:pt x="65" y="986"/>
                    </a:lnTo>
                    <a:lnTo>
                      <a:pt x="26" y="1127"/>
                    </a:lnTo>
                    <a:lnTo>
                      <a:pt x="1" y="1255"/>
                    </a:lnTo>
                    <a:lnTo>
                      <a:pt x="1" y="1409"/>
                    </a:lnTo>
                    <a:lnTo>
                      <a:pt x="1" y="1550"/>
                    </a:lnTo>
                    <a:lnTo>
                      <a:pt x="26" y="1691"/>
                    </a:lnTo>
                    <a:lnTo>
                      <a:pt x="65" y="1819"/>
                    </a:lnTo>
                    <a:lnTo>
                      <a:pt x="103" y="1947"/>
                    </a:lnTo>
                    <a:lnTo>
                      <a:pt x="167" y="2075"/>
                    </a:lnTo>
                    <a:lnTo>
                      <a:pt x="231" y="2190"/>
                    </a:lnTo>
                    <a:lnTo>
                      <a:pt x="321" y="2293"/>
                    </a:lnTo>
                    <a:lnTo>
                      <a:pt x="411" y="2395"/>
                    </a:lnTo>
                    <a:lnTo>
                      <a:pt x="500" y="2485"/>
                    </a:lnTo>
                    <a:lnTo>
                      <a:pt x="615" y="2562"/>
                    </a:lnTo>
                    <a:lnTo>
                      <a:pt x="731" y="2638"/>
                    </a:lnTo>
                    <a:lnTo>
                      <a:pt x="846" y="2690"/>
                    </a:lnTo>
                    <a:lnTo>
                      <a:pt x="974" y="2741"/>
                    </a:lnTo>
                    <a:lnTo>
                      <a:pt x="1115" y="2779"/>
                    </a:lnTo>
                    <a:lnTo>
                      <a:pt x="1256" y="2792"/>
                    </a:lnTo>
                    <a:lnTo>
                      <a:pt x="1397" y="2805"/>
                    </a:lnTo>
                    <a:lnTo>
                      <a:pt x="1538" y="2792"/>
                    </a:lnTo>
                    <a:lnTo>
                      <a:pt x="1678" y="2779"/>
                    </a:lnTo>
                    <a:lnTo>
                      <a:pt x="1807" y="2741"/>
                    </a:lnTo>
                    <a:lnTo>
                      <a:pt x="1947" y="2690"/>
                    </a:lnTo>
                    <a:lnTo>
                      <a:pt x="2063" y="2638"/>
                    </a:lnTo>
                    <a:lnTo>
                      <a:pt x="2178" y="2562"/>
                    </a:lnTo>
                    <a:lnTo>
                      <a:pt x="2293" y="2485"/>
                    </a:lnTo>
                    <a:lnTo>
                      <a:pt x="2383" y="2395"/>
                    </a:lnTo>
                    <a:lnTo>
                      <a:pt x="2473" y="2293"/>
                    </a:lnTo>
                    <a:lnTo>
                      <a:pt x="2562" y="2190"/>
                    </a:lnTo>
                    <a:lnTo>
                      <a:pt x="2626" y="2075"/>
                    </a:lnTo>
                    <a:lnTo>
                      <a:pt x="2690" y="1947"/>
                    </a:lnTo>
                    <a:lnTo>
                      <a:pt x="2729" y="1819"/>
                    </a:lnTo>
                    <a:lnTo>
                      <a:pt x="2767" y="1691"/>
                    </a:lnTo>
                    <a:lnTo>
                      <a:pt x="2793" y="1550"/>
                    </a:lnTo>
                    <a:lnTo>
                      <a:pt x="2793" y="1409"/>
                    </a:lnTo>
                    <a:lnTo>
                      <a:pt x="2793" y="1255"/>
                    </a:lnTo>
                    <a:lnTo>
                      <a:pt x="2767" y="1127"/>
                    </a:lnTo>
                    <a:lnTo>
                      <a:pt x="2729" y="986"/>
                    </a:lnTo>
                    <a:lnTo>
                      <a:pt x="2690" y="858"/>
                    </a:lnTo>
                    <a:lnTo>
                      <a:pt x="2626" y="730"/>
                    </a:lnTo>
                    <a:lnTo>
                      <a:pt x="2562" y="615"/>
                    </a:lnTo>
                    <a:lnTo>
                      <a:pt x="2473" y="512"/>
                    </a:lnTo>
                    <a:lnTo>
                      <a:pt x="2383" y="410"/>
                    </a:lnTo>
                    <a:lnTo>
                      <a:pt x="2293" y="320"/>
                    </a:lnTo>
                    <a:lnTo>
                      <a:pt x="2178" y="243"/>
                    </a:lnTo>
                    <a:lnTo>
                      <a:pt x="2063" y="167"/>
                    </a:lnTo>
                    <a:lnTo>
                      <a:pt x="1947" y="115"/>
                    </a:lnTo>
                    <a:lnTo>
                      <a:pt x="1807" y="64"/>
                    </a:lnTo>
                    <a:lnTo>
                      <a:pt x="1678" y="26"/>
                    </a:lnTo>
                    <a:lnTo>
                      <a:pt x="1538" y="13"/>
                    </a:lnTo>
                    <a:lnTo>
                      <a:pt x="1397"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1" name="Google Shape;1810;p36">
                <a:extLst>
                  <a:ext uri="{FF2B5EF4-FFF2-40B4-BE49-F238E27FC236}">
                    <a16:creationId xmlns:a16="http://schemas.microsoft.com/office/drawing/2014/main" id="{39C70E0B-EC0F-BC1E-B2BB-8E9E8A8311B8}"/>
                  </a:ext>
                </a:extLst>
              </p:cNvPr>
              <p:cNvSpPr/>
              <p:nvPr/>
            </p:nvSpPr>
            <p:spPr>
              <a:xfrm>
                <a:off x="5542510" y="3991348"/>
                <a:ext cx="142655" cy="142706"/>
              </a:xfrm>
              <a:custGeom>
                <a:avLst/>
                <a:gdLst/>
                <a:ahLst/>
                <a:cxnLst/>
                <a:rect l="l" t="t" r="r" b="b"/>
                <a:pathLst>
                  <a:path w="2805" h="2806" extrusionOk="0">
                    <a:moveTo>
                      <a:pt x="1409" y="0"/>
                    </a:moveTo>
                    <a:lnTo>
                      <a:pt x="1268" y="13"/>
                    </a:lnTo>
                    <a:lnTo>
                      <a:pt x="1127" y="39"/>
                    </a:lnTo>
                    <a:lnTo>
                      <a:pt x="986" y="64"/>
                    </a:lnTo>
                    <a:lnTo>
                      <a:pt x="858" y="116"/>
                    </a:lnTo>
                    <a:lnTo>
                      <a:pt x="743" y="180"/>
                    </a:lnTo>
                    <a:lnTo>
                      <a:pt x="628" y="244"/>
                    </a:lnTo>
                    <a:lnTo>
                      <a:pt x="512" y="320"/>
                    </a:lnTo>
                    <a:lnTo>
                      <a:pt x="410" y="423"/>
                    </a:lnTo>
                    <a:lnTo>
                      <a:pt x="320" y="513"/>
                    </a:lnTo>
                    <a:lnTo>
                      <a:pt x="243" y="628"/>
                    </a:lnTo>
                    <a:lnTo>
                      <a:pt x="179" y="743"/>
                    </a:lnTo>
                    <a:lnTo>
                      <a:pt x="115" y="858"/>
                    </a:lnTo>
                    <a:lnTo>
                      <a:pt x="64" y="986"/>
                    </a:lnTo>
                    <a:lnTo>
                      <a:pt x="38" y="1127"/>
                    </a:lnTo>
                    <a:lnTo>
                      <a:pt x="13" y="1268"/>
                    </a:lnTo>
                    <a:lnTo>
                      <a:pt x="0" y="1409"/>
                    </a:lnTo>
                    <a:lnTo>
                      <a:pt x="13" y="1550"/>
                    </a:lnTo>
                    <a:lnTo>
                      <a:pt x="38" y="1691"/>
                    </a:lnTo>
                    <a:lnTo>
                      <a:pt x="64" y="1819"/>
                    </a:lnTo>
                    <a:lnTo>
                      <a:pt x="115" y="1947"/>
                    </a:lnTo>
                    <a:lnTo>
                      <a:pt x="179" y="2075"/>
                    </a:lnTo>
                    <a:lnTo>
                      <a:pt x="243" y="2190"/>
                    </a:lnTo>
                    <a:lnTo>
                      <a:pt x="320" y="2293"/>
                    </a:lnTo>
                    <a:lnTo>
                      <a:pt x="410" y="2395"/>
                    </a:lnTo>
                    <a:lnTo>
                      <a:pt x="512" y="2485"/>
                    </a:lnTo>
                    <a:lnTo>
                      <a:pt x="628" y="2575"/>
                    </a:lnTo>
                    <a:lnTo>
                      <a:pt x="743" y="2639"/>
                    </a:lnTo>
                    <a:lnTo>
                      <a:pt x="858" y="2703"/>
                    </a:lnTo>
                    <a:lnTo>
                      <a:pt x="986" y="2741"/>
                    </a:lnTo>
                    <a:lnTo>
                      <a:pt x="1127" y="2780"/>
                    </a:lnTo>
                    <a:lnTo>
                      <a:pt x="1268" y="2805"/>
                    </a:lnTo>
                    <a:lnTo>
                      <a:pt x="1550" y="2805"/>
                    </a:lnTo>
                    <a:lnTo>
                      <a:pt x="1691" y="2780"/>
                    </a:lnTo>
                    <a:lnTo>
                      <a:pt x="1819" y="2741"/>
                    </a:lnTo>
                    <a:lnTo>
                      <a:pt x="1947" y="2703"/>
                    </a:lnTo>
                    <a:lnTo>
                      <a:pt x="2075" y="2639"/>
                    </a:lnTo>
                    <a:lnTo>
                      <a:pt x="2190" y="2575"/>
                    </a:lnTo>
                    <a:lnTo>
                      <a:pt x="2293" y="2485"/>
                    </a:lnTo>
                    <a:lnTo>
                      <a:pt x="2395" y="2395"/>
                    </a:lnTo>
                    <a:lnTo>
                      <a:pt x="2485" y="2293"/>
                    </a:lnTo>
                    <a:lnTo>
                      <a:pt x="2562" y="2190"/>
                    </a:lnTo>
                    <a:lnTo>
                      <a:pt x="2638" y="2075"/>
                    </a:lnTo>
                    <a:lnTo>
                      <a:pt x="2702" y="1947"/>
                    </a:lnTo>
                    <a:lnTo>
                      <a:pt x="2741" y="1819"/>
                    </a:lnTo>
                    <a:lnTo>
                      <a:pt x="2779" y="1691"/>
                    </a:lnTo>
                    <a:lnTo>
                      <a:pt x="2805" y="1550"/>
                    </a:lnTo>
                    <a:lnTo>
                      <a:pt x="2805" y="1409"/>
                    </a:lnTo>
                    <a:lnTo>
                      <a:pt x="2805" y="1268"/>
                    </a:lnTo>
                    <a:lnTo>
                      <a:pt x="2779" y="1127"/>
                    </a:lnTo>
                    <a:lnTo>
                      <a:pt x="2741" y="986"/>
                    </a:lnTo>
                    <a:lnTo>
                      <a:pt x="2702" y="858"/>
                    </a:lnTo>
                    <a:lnTo>
                      <a:pt x="2638" y="743"/>
                    </a:lnTo>
                    <a:lnTo>
                      <a:pt x="2562" y="628"/>
                    </a:lnTo>
                    <a:lnTo>
                      <a:pt x="2485" y="513"/>
                    </a:lnTo>
                    <a:lnTo>
                      <a:pt x="2395" y="423"/>
                    </a:lnTo>
                    <a:lnTo>
                      <a:pt x="2293" y="320"/>
                    </a:lnTo>
                    <a:lnTo>
                      <a:pt x="2190" y="244"/>
                    </a:lnTo>
                    <a:lnTo>
                      <a:pt x="2075" y="180"/>
                    </a:lnTo>
                    <a:lnTo>
                      <a:pt x="1947" y="116"/>
                    </a:lnTo>
                    <a:lnTo>
                      <a:pt x="1819" y="64"/>
                    </a:lnTo>
                    <a:lnTo>
                      <a:pt x="1691" y="39"/>
                    </a:lnTo>
                    <a:lnTo>
                      <a:pt x="1550" y="13"/>
                    </a:lnTo>
                    <a:lnTo>
                      <a:pt x="1409"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2" name="Google Shape;1811;p36">
                <a:extLst>
                  <a:ext uri="{FF2B5EF4-FFF2-40B4-BE49-F238E27FC236}">
                    <a16:creationId xmlns:a16="http://schemas.microsoft.com/office/drawing/2014/main" id="{EBC06DF5-343F-FC79-ACF3-9599590DB56D}"/>
                  </a:ext>
                </a:extLst>
              </p:cNvPr>
              <p:cNvSpPr/>
              <p:nvPr/>
            </p:nvSpPr>
            <p:spPr>
              <a:xfrm>
                <a:off x="5542510" y="4191317"/>
                <a:ext cx="142655" cy="142045"/>
              </a:xfrm>
              <a:custGeom>
                <a:avLst/>
                <a:gdLst/>
                <a:ahLst/>
                <a:cxnLst/>
                <a:rect l="l" t="t" r="r" b="b"/>
                <a:pathLst>
                  <a:path w="2805" h="2793" extrusionOk="0">
                    <a:moveTo>
                      <a:pt x="1268" y="0"/>
                    </a:moveTo>
                    <a:lnTo>
                      <a:pt x="1127" y="26"/>
                    </a:lnTo>
                    <a:lnTo>
                      <a:pt x="986" y="51"/>
                    </a:lnTo>
                    <a:lnTo>
                      <a:pt x="858" y="103"/>
                    </a:lnTo>
                    <a:lnTo>
                      <a:pt x="743" y="167"/>
                    </a:lnTo>
                    <a:lnTo>
                      <a:pt x="628" y="231"/>
                    </a:lnTo>
                    <a:lnTo>
                      <a:pt x="512" y="308"/>
                    </a:lnTo>
                    <a:lnTo>
                      <a:pt x="410" y="410"/>
                    </a:lnTo>
                    <a:lnTo>
                      <a:pt x="320" y="500"/>
                    </a:lnTo>
                    <a:lnTo>
                      <a:pt x="243" y="615"/>
                    </a:lnTo>
                    <a:lnTo>
                      <a:pt x="179" y="730"/>
                    </a:lnTo>
                    <a:lnTo>
                      <a:pt x="115" y="846"/>
                    </a:lnTo>
                    <a:lnTo>
                      <a:pt x="64" y="974"/>
                    </a:lnTo>
                    <a:lnTo>
                      <a:pt x="38" y="1115"/>
                    </a:lnTo>
                    <a:lnTo>
                      <a:pt x="13" y="1255"/>
                    </a:lnTo>
                    <a:lnTo>
                      <a:pt x="0" y="1396"/>
                    </a:lnTo>
                    <a:lnTo>
                      <a:pt x="13" y="1537"/>
                    </a:lnTo>
                    <a:lnTo>
                      <a:pt x="38" y="1678"/>
                    </a:lnTo>
                    <a:lnTo>
                      <a:pt x="64" y="1806"/>
                    </a:lnTo>
                    <a:lnTo>
                      <a:pt x="115" y="1934"/>
                    </a:lnTo>
                    <a:lnTo>
                      <a:pt x="179" y="2062"/>
                    </a:lnTo>
                    <a:lnTo>
                      <a:pt x="243" y="2178"/>
                    </a:lnTo>
                    <a:lnTo>
                      <a:pt x="320" y="2280"/>
                    </a:lnTo>
                    <a:lnTo>
                      <a:pt x="410" y="2383"/>
                    </a:lnTo>
                    <a:lnTo>
                      <a:pt x="512" y="2472"/>
                    </a:lnTo>
                    <a:lnTo>
                      <a:pt x="628" y="2562"/>
                    </a:lnTo>
                    <a:lnTo>
                      <a:pt x="743" y="2626"/>
                    </a:lnTo>
                    <a:lnTo>
                      <a:pt x="858" y="2690"/>
                    </a:lnTo>
                    <a:lnTo>
                      <a:pt x="986" y="2728"/>
                    </a:lnTo>
                    <a:lnTo>
                      <a:pt x="1127" y="2767"/>
                    </a:lnTo>
                    <a:lnTo>
                      <a:pt x="1268" y="2792"/>
                    </a:lnTo>
                    <a:lnTo>
                      <a:pt x="1550" y="2792"/>
                    </a:lnTo>
                    <a:lnTo>
                      <a:pt x="1691" y="2767"/>
                    </a:lnTo>
                    <a:lnTo>
                      <a:pt x="1819" y="2728"/>
                    </a:lnTo>
                    <a:lnTo>
                      <a:pt x="1947" y="2690"/>
                    </a:lnTo>
                    <a:lnTo>
                      <a:pt x="2075" y="2626"/>
                    </a:lnTo>
                    <a:lnTo>
                      <a:pt x="2190" y="2562"/>
                    </a:lnTo>
                    <a:lnTo>
                      <a:pt x="2293" y="2472"/>
                    </a:lnTo>
                    <a:lnTo>
                      <a:pt x="2395" y="2383"/>
                    </a:lnTo>
                    <a:lnTo>
                      <a:pt x="2485" y="2280"/>
                    </a:lnTo>
                    <a:lnTo>
                      <a:pt x="2562" y="2178"/>
                    </a:lnTo>
                    <a:lnTo>
                      <a:pt x="2638" y="2062"/>
                    </a:lnTo>
                    <a:lnTo>
                      <a:pt x="2702" y="1934"/>
                    </a:lnTo>
                    <a:lnTo>
                      <a:pt x="2741" y="1806"/>
                    </a:lnTo>
                    <a:lnTo>
                      <a:pt x="2779" y="1678"/>
                    </a:lnTo>
                    <a:lnTo>
                      <a:pt x="2805" y="1537"/>
                    </a:lnTo>
                    <a:lnTo>
                      <a:pt x="2805" y="1396"/>
                    </a:lnTo>
                    <a:lnTo>
                      <a:pt x="2805" y="1255"/>
                    </a:lnTo>
                    <a:lnTo>
                      <a:pt x="2779" y="1115"/>
                    </a:lnTo>
                    <a:lnTo>
                      <a:pt x="2741" y="974"/>
                    </a:lnTo>
                    <a:lnTo>
                      <a:pt x="2702" y="846"/>
                    </a:lnTo>
                    <a:lnTo>
                      <a:pt x="2638" y="730"/>
                    </a:lnTo>
                    <a:lnTo>
                      <a:pt x="2562" y="615"/>
                    </a:lnTo>
                    <a:lnTo>
                      <a:pt x="2485" y="500"/>
                    </a:lnTo>
                    <a:lnTo>
                      <a:pt x="2395" y="410"/>
                    </a:lnTo>
                    <a:lnTo>
                      <a:pt x="2293" y="308"/>
                    </a:lnTo>
                    <a:lnTo>
                      <a:pt x="2190" y="231"/>
                    </a:lnTo>
                    <a:lnTo>
                      <a:pt x="2075" y="167"/>
                    </a:lnTo>
                    <a:lnTo>
                      <a:pt x="1947" y="103"/>
                    </a:lnTo>
                    <a:lnTo>
                      <a:pt x="1819" y="51"/>
                    </a:lnTo>
                    <a:lnTo>
                      <a:pt x="1691" y="26"/>
                    </a:lnTo>
                    <a:lnTo>
                      <a:pt x="1550"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3" name="Google Shape;1812;p36">
                <a:extLst>
                  <a:ext uri="{FF2B5EF4-FFF2-40B4-BE49-F238E27FC236}">
                    <a16:creationId xmlns:a16="http://schemas.microsoft.com/office/drawing/2014/main" id="{7CE9938E-537C-61DA-7406-DF90E5C14546}"/>
                  </a:ext>
                </a:extLst>
              </p:cNvPr>
              <p:cNvSpPr/>
              <p:nvPr/>
            </p:nvSpPr>
            <p:spPr>
              <a:xfrm>
                <a:off x="5542510" y="4390624"/>
                <a:ext cx="142655" cy="142045"/>
              </a:xfrm>
              <a:custGeom>
                <a:avLst/>
                <a:gdLst/>
                <a:ahLst/>
                <a:cxnLst/>
                <a:rect l="l" t="t" r="r" b="b"/>
                <a:pathLst>
                  <a:path w="2805" h="2793" extrusionOk="0">
                    <a:moveTo>
                      <a:pt x="1268" y="0"/>
                    </a:moveTo>
                    <a:lnTo>
                      <a:pt x="1127" y="26"/>
                    </a:lnTo>
                    <a:lnTo>
                      <a:pt x="986" y="52"/>
                    </a:lnTo>
                    <a:lnTo>
                      <a:pt x="858" y="103"/>
                    </a:lnTo>
                    <a:lnTo>
                      <a:pt x="743" y="167"/>
                    </a:lnTo>
                    <a:lnTo>
                      <a:pt x="628" y="231"/>
                    </a:lnTo>
                    <a:lnTo>
                      <a:pt x="512" y="308"/>
                    </a:lnTo>
                    <a:lnTo>
                      <a:pt x="410" y="410"/>
                    </a:lnTo>
                    <a:lnTo>
                      <a:pt x="320" y="500"/>
                    </a:lnTo>
                    <a:lnTo>
                      <a:pt x="243" y="615"/>
                    </a:lnTo>
                    <a:lnTo>
                      <a:pt x="179" y="731"/>
                    </a:lnTo>
                    <a:lnTo>
                      <a:pt x="115" y="846"/>
                    </a:lnTo>
                    <a:lnTo>
                      <a:pt x="64" y="974"/>
                    </a:lnTo>
                    <a:lnTo>
                      <a:pt x="38" y="1115"/>
                    </a:lnTo>
                    <a:lnTo>
                      <a:pt x="13" y="1256"/>
                    </a:lnTo>
                    <a:lnTo>
                      <a:pt x="0" y="1397"/>
                    </a:lnTo>
                    <a:lnTo>
                      <a:pt x="13" y="1537"/>
                    </a:lnTo>
                    <a:lnTo>
                      <a:pt x="38" y="1678"/>
                    </a:lnTo>
                    <a:lnTo>
                      <a:pt x="64" y="1806"/>
                    </a:lnTo>
                    <a:lnTo>
                      <a:pt x="115" y="1934"/>
                    </a:lnTo>
                    <a:lnTo>
                      <a:pt x="179" y="2063"/>
                    </a:lnTo>
                    <a:lnTo>
                      <a:pt x="243" y="2178"/>
                    </a:lnTo>
                    <a:lnTo>
                      <a:pt x="320" y="2280"/>
                    </a:lnTo>
                    <a:lnTo>
                      <a:pt x="410" y="2383"/>
                    </a:lnTo>
                    <a:lnTo>
                      <a:pt x="512" y="2472"/>
                    </a:lnTo>
                    <a:lnTo>
                      <a:pt x="628" y="2562"/>
                    </a:lnTo>
                    <a:lnTo>
                      <a:pt x="743" y="2626"/>
                    </a:lnTo>
                    <a:lnTo>
                      <a:pt x="858" y="2690"/>
                    </a:lnTo>
                    <a:lnTo>
                      <a:pt x="986" y="2729"/>
                    </a:lnTo>
                    <a:lnTo>
                      <a:pt x="1127" y="2767"/>
                    </a:lnTo>
                    <a:lnTo>
                      <a:pt x="1268" y="2793"/>
                    </a:lnTo>
                    <a:lnTo>
                      <a:pt x="1550" y="2793"/>
                    </a:lnTo>
                    <a:lnTo>
                      <a:pt x="1691" y="2767"/>
                    </a:lnTo>
                    <a:lnTo>
                      <a:pt x="1819" y="2729"/>
                    </a:lnTo>
                    <a:lnTo>
                      <a:pt x="1947" y="2690"/>
                    </a:lnTo>
                    <a:lnTo>
                      <a:pt x="2075" y="2626"/>
                    </a:lnTo>
                    <a:lnTo>
                      <a:pt x="2190" y="2562"/>
                    </a:lnTo>
                    <a:lnTo>
                      <a:pt x="2293" y="2472"/>
                    </a:lnTo>
                    <a:lnTo>
                      <a:pt x="2395" y="2383"/>
                    </a:lnTo>
                    <a:lnTo>
                      <a:pt x="2485" y="2280"/>
                    </a:lnTo>
                    <a:lnTo>
                      <a:pt x="2562" y="2178"/>
                    </a:lnTo>
                    <a:lnTo>
                      <a:pt x="2638" y="2063"/>
                    </a:lnTo>
                    <a:lnTo>
                      <a:pt x="2702" y="1934"/>
                    </a:lnTo>
                    <a:lnTo>
                      <a:pt x="2741" y="1806"/>
                    </a:lnTo>
                    <a:lnTo>
                      <a:pt x="2779" y="1678"/>
                    </a:lnTo>
                    <a:lnTo>
                      <a:pt x="2805" y="1537"/>
                    </a:lnTo>
                    <a:lnTo>
                      <a:pt x="2805" y="1397"/>
                    </a:lnTo>
                    <a:lnTo>
                      <a:pt x="2805" y="1256"/>
                    </a:lnTo>
                    <a:lnTo>
                      <a:pt x="2779" y="1115"/>
                    </a:lnTo>
                    <a:lnTo>
                      <a:pt x="2741" y="974"/>
                    </a:lnTo>
                    <a:lnTo>
                      <a:pt x="2702" y="846"/>
                    </a:lnTo>
                    <a:lnTo>
                      <a:pt x="2638" y="731"/>
                    </a:lnTo>
                    <a:lnTo>
                      <a:pt x="2562" y="615"/>
                    </a:lnTo>
                    <a:lnTo>
                      <a:pt x="2485" y="500"/>
                    </a:lnTo>
                    <a:lnTo>
                      <a:pt x="2395" y="410"/>
                    </a:lnTo>
                    <a:lnTo>
                      <a:pt x="2293" y="308"/>
                    </a:lnTo>
                    <a:lnTo>
                      <a:pt x="2190" y="231"/>
                    </a:lnTo>
                    <a:lnTo>
                      <a:pt x="2075" y="167"/>
                    </a:lnTo>
                    <a:lnTo>
                      <a:pt x="1947" y="103"/>
                    </a:lnTo>
                    <a:lnTo>
                      <a:pt x="1819" y="52"/>
                    </a:lnTo>
                    <a:lnTo>
                      <a:pt x="1691" y="26"/>
                    </a:lnTo>
                    <a:lnTo>
                      <a:pt x="1550"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4" name="Google Shape;1813;p36">
                <a:extLst>
                  <a:ext uri="{FF2B5EF4-FFF2-40B4-BE49-F238E27FC236}">
                    <a16:creationId xmlns:a16="http://schemas.microsoft.com/office/drawing/2014/main" id="{48272DDC-E262-666F-CDA2-1638ECBAE75F}"/>
                  </a:ext>
                </a:extLst>
              </p:cNvPr>
              <p:cNvSpPr/>
              <p:nvPr/>
            </p:nvSpPr>
            <p:spPr>
              <a:xfrm>
                <a:off x="3805297" y="2157096"/>
                <a:ext cx="282768" cy="215636"/>
              </a:xfrm>
              <a:custGeom>
                <a:avLst/>
                <a:gdLst/>
                <a:ahLst/>
                <a:cxnLst/>
                <a:rect l="l" t="t" r="r" b="b"/>
                <a:pathLst>
                  <a:path w="5560" h="4240" extrusionOk="0">
                    <a:moveTo>
                      <a:pt x="0" y="0"/>
                    </a:moveTo>
                    <a:lnTo>
                      <a:pt x="0" y="4240"/>
                    </a:lnTo>
                    <a:lnTo>
                      <a:pt x="5559" y="4240"/>
                    </a:lnTo>
                    <a:lnTo>
                      <a:pt x="5559" y="0"/>
                    </a:lnTo>
                    <a:close/>
                  </a:path>
                </a:pathLst>
              </a:custGeom>
              <a:solidFill>
                <a:srgbClr val="70FFD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5" name="Google Shape;1814;p36">
                <a:extLst>
                  <a:ext uri="{FF2B5EF4-FFF2-40B4-BE49-F238E27FC236}">
                    <a16:creationId xmlns:a16="http://schemas.microsoft.com/office/drawing/2014/main" id="{2CD4DDAC-87EE-B8D6-BD8A-618DCA5CB472}"/>
                  </a:ext>
                </a:extLst>
              </p:cNvPr>
              <p:cNvSpPr/>
              <p:nvPr/>
            </p:nvSpPr>
            <p:spPr>
              <a:xfrm>
                <a:off x="4126406" y="2230686"/>
                <a:ext cx="891125" cy="756963"/>
              </a:xfrm>
              <a:custGeom>
                <a:avLst/>
                <a:gdLst/>
                <a:ahLst/>
                <a:cxnLst/>
                <a:rect l="l" t="t" r="r" b="b"/>
                <a:pathLst>
                  <a:path w="17522" h="14884" extrusionOk="0">
                    <a:moveTo>
                      <a:pt x="8684" y="0"/>
                    </a:moveTo>
                    <a:lnTo>
                      <a:pt x="8377" y="13"/>
                    </a:lnTo>
                    <a:lnTo>
                      <a:pt x="8082" y="52"/>
                    </a:lnTo>
                    <a:lnTo>
                      <a:pt x="7788" y="103"/>
                    </a:lnTo>
                    <a:lnTo>
                      <a:pt x="7506" y="180"/>
                    </a:lnTo>
                    <a:lnTo>
                      <a:pt x="7224" y="282"/>
                    </a:lnTo>
                    <a:lnTo>
                      <a:pt x="6955" y="398"/>
                    </a:lnTo>
                    <a:lnTo>
                      <a:pt x="6712" y="538"/>
                    </a:lnTo>
                    <a:lnTo>
                      <a:pt x="6469" y="692"/>
                    </a:lnTo>
                    <a:lnTo>
                      <a:pt x="6238" y="859"/>
                    </a:lnTo>
                    <a:lnTo>
                      <a:pt x="6020" y="1038"/>
                    </a:lnTo>
                    <a:lnTo>
                      <a:pt x="5815" y="1243"/>
                    </a:lnTo>
                    <a:lnTo>
                      <a:pt x="5623" y="1461"/>
                    </a:lnTo>
                    <a:lnTo>
                      <a:pt x="5444" y="1691"/>
                    </a:lnTo>
                    <a:lnTo>
                      <a:pt x="5290" y="1934"/>
                    </a:lnTo>
                    <a:lnTo>
                      <a:pt x="5149" y="2178"/>
                    </a:lnTo>
                    <a:lnTo>
                      <a:pt x="5034" y="2447"/>
                    </a:lnTo>
                    <a:lnTo>
                      <a:pt x="4906" y="2370"/>
                    </a:lnTo>
                    <a:lnTo>
                      <a:pt x="4778" y="2293"/>
                    </a:lnTo>
                    <a:lnTo>
                      <a:pt x="4637" y="2229"/>
                    </a:lnTo>
                    <a:lnTo>
                      <a:pt x="4483" y="2178"/>
                    </a:lnTo>
                    <a:lnTo>
                      <a:pt x="4343" y="2139"/>
                    </a:lnTo>
                    <a:lnTo>
                      <a:pt x="4189" y="2101"/>
                    </a:lnTo>
                    <a:lnTo>
                      <a:pt x="4022" y="2088"/>
                    </a:lnTo>
                    <a:lnTo>
                      <a:pt x="3869" y="2075"/>
                    </a:lnTo>
                    <a:lnTo>
                      <a:pt x="3651" y="2088"/>
                    </a:lnTo>
                    <a:lnTo>
                      <a:pt x="3446" y="2127"/>
                    </a:lnTo>
                    <a:lnTo>
                      <a:pt x="3254" y="2178"/>
                    </a:lnTo>
                    <a:lnTo>
                      <a:pt x="3062" y="2242"/>
                    </a:lnTo>
                    <a:lnTo>
                      <a:pt x="2882" y="2332"/>
                    </a:lnTo>
                    <a:lnTo>
                      <a:pt x="2716" y="2434"/>
                    </a:lnTo>
                    <a:lnTo>
                      <a:pt x="2562" y="2549"/>
                    </a:lnTo>
                    <a:lnTo>
                      <a:pt x="2409" y="2690"/>
                    </a:lnTo>
                    <a:lnTo>
                      <a:pt x="2281" y="2831"/>
                    </a:lnTo>
                    <a:lnTo>
                      <a:pt x="2165" y="2985"/>
                    </a:lnTo>
                    <a:lnTo>
                      <a:pt x="2050" y="3164"/>
                    </a:lnTo>
                    <a:lnTo>
                      <a:pt x="1973" y="3343"/>
                    </a:lnTo>
                    <a:lnTo>
                      <a:pt x="1896" y="3523"/>
                    </a:lnTo>
                    <a:lnTo>
                      <a:pt x="1845" y="3728"/>
                    </a:lnTo>
                    <a:lnTo>
                      <a:pt x="1819" y="3933"/>
                    </a:lnTo>
                    <a:lnTo>
                      <a:pt x="1807" y="4137"/>
                    </a:lnTo>
                    <a:lnTo>
                      <a:pt x="1819" y="4317"/>
                    </a:lnTo>
                    <a:lnTo>
                      <a:pt x="1845" y="4483"/>
                    </a:lnTo>
                    <a:lnTo>
                      <a:pt x="1883" y="4650"/>
                    </a:lnTo>
                    <a:lnTo>
                      <a:pt x="1922" y="4803"/>
                    </a:lnTo>
                    <a:lnTo>
                      <a:pt x="1717" y="4893"/>
                    </a:lnTo>
                    <a:lnTo>
                      <a:pt x="1525" y="5008"/>
                    </a:lnTo>
                    <a:lnTo>
                      <a:pt x="1333" y="5136"/>
                    </a:lnTo>
                    <a:lnTo>
                      <a:pt x="1153" y="5265"/>
                    </a:lnTo>
                    <a:lnTo>
                      <a:pt x="987" y="5418"/>
                    </a:lnTo>
                    <a:lnTo>
                      <a:pt x="820" y="5572"/>
                    </a:lnTo>
                    <a:lnTo>
                      <a:pt x="680" y="5751"/>
                    </a:lnTo>
                    <a:lnTo>
                      <a:pt x="539" y="5931"/>
                    </a:lnTo>
                    <a:lnTo>
                      <a:pt x="423" y="6123"/>
                    </a:lnTo>
                    <a:lnTo>
                      <a:pt x="321" y="6328"/>
                    </a:lnTo>
                    <a:lnTo>
                      <a:pt x="218" y="6533"/>
                    </a:lnTo>
                    <a:lnTo>
                      <a:pt x="142" y="6750"/>
                    </a:lnTo>
                    <a:lnTo>
                      <a:pt x="90" y="6981"/>
                    </a:lnTo>
                    <a:lnTo>
                      <a:pt x="39" y="7211"/>
                    </a:lnTo>
                    <a:lnTo>
                      <a:pt x="14" y="7442"/>
                    </a:lnTo>
                    <a:lnTo>
                      <a:pt x="1" y="7685"/>
                    </a:lnTo>
                    <a:lnTo>
                      <a:pt x="14" y="7916"/>
                    </a:lnTo>
                    <a:lnTo>
                      <a:pt x="39" y="8159"/>
                    </a:lnTo>
                    <a:lnTo>
                      <a:pt x="78" y="8377"/>
                    </a:lnTo>
                    <a:lnTo>
                      <a:pt x="142" y="8607"/>
                    </a:lnTo>
                    <a:lnTo>
                      <a:pt x="218" y="8812"/>
                    </a:lnTo>
                    <a:lnTo>
                      <a:pt x="308" y="9030"/>
                    </a:lnTo>
                    <a:lnTo>
                      <a:pt x="411" y="9222"/>
                    </a:lnTo>
                    <a:lnTo>
                      <a:pt x="526" y="9414"/>
                    </a:lnTo>
                    <a:lnTo>
                      <a:pt x="667" y="9594"/>
                    </a:lnTo>
                    <a:lnTo>
                      <a:pt x="808" y="9760"/>
                    </a:lnTo>
                    <a:lnTo>
                      <a:pt x="961" y="9927"/>
                    </a:lnTo>
                    <a:lnTo>
                      <a:pt x="1128" y="10080"/>
                    </a:lnTo>
                    <a:lnTo>
                      <a:pt x="1307" y="10208"/>
                    </a:lnTo>
                    <a:lnTo>
                      <a:pt x="1486" y="10336"/>
                    </a:lnTo>
                    <a:lnTo>
                      <a:pt x="1679" y="10452"/>
                    </a:lnTo>
                    <a:lnTo>
                      <a:pt x="1883" y="10541"/>
                    </a:lnTo>
                    <a:lnTo>
                      <a:pt x="1858" y="10669"/>
                    </a:lnTo>
                    <a:lnTo>
                      <a:pt x="1832" y="10810"/>
                    </a:lnTo>
                    <a:lnTo>
                      <a:pt x="1819" y="10938"/>
                    </a:lnTo>
                    <a:lnTo>
                      <a:pt x="1807" y="11079"/>
                    </a:lnTo>
                    <a:lnTo>
                      <a:pt x="1819" y="11284"/>
                    </a:lnTo>
                    <a:lnTo>
                      <a:pt x="1845" y="11489"/>
                    </a:lnTo>
                    <a:lnTo>
                      <a:pt x="1896" y="11694"/>
                    </a:lnTo>
                    <a:lnTo>
                      <a:pt x="1973" y="11873"/>
                    </a:lnTo>
                    <a:lnTo>
                      <a:pt x="2050" y="12066"/>
                    </a:lnTo>
                    <a:lnTo>
                      <a:pt x="2165" y="12232"/>
                    </a:lnTo>
                    <a:lnTo>
                      <a:pt x="2281" y="12386"/>
                    </a:lnTo>
                    <a:lnTo>
                      <a:pt x="2409" y="12539"/>
                    </a:lnTo>
                    <a:lnTo>
                      <a:pt x="2562" y="12668"/>
                    </a:lnTo>
                    <a:lnTo>
                      <a:pt x="2716" y="12783"/>
                    </a:lnTo>
                    <a:lnTo>
                      <a:pt x="2882" y="12885"/>
                    </a:lnTo>
                    <a:lnTo>
                      <a:pt x="3062" y="12975"/>
                    </a:lnTo>
                    <a:lnTo>
                      <a:pt x="3254" y="13039"/>
                    </a:lnTo>
                    <a:lnTo>
                      <a:pt x="3446" y="13090"/>
                    </a:lnTo>
                    <a:lnTo>
                      <a:pt x="3651" y="13129"/>
                    </a:lnTo>
                    <a:lnTo>
                      <a:pt x="3869" y="13141"/>
                    </a:lnTo>
                    <a:lnTo>
                      <a:pt x="4022" y="13129"/>
                    </a:lnTo>
                    <a:lnTo>
                      <a:pt x="4176" y="13103"/>
                    </a:lnTo>
                    <a:lnTo>
                      <a:pt x="4330" y="13077"/>
                    </a:lnTo>
                    <a:lnTo>
                      <a:pt x="4471" y="13039"/>
                    </a:lnTo>
                    <a:lnTo>
                      <a:pt x="4548" y="13231"/>
                    </a:lnTo>
                    <a:lnTo>
                      <a:pt x="4637" y="13423"/>
                    </a:lnTo>
                    <a:lnTo>
                      <a:pt x="4752" y="13602"/>
                    </a:lnTo>
                    <a:lnTo>
                      <a:pt x="4868" y="13782"/>
                    </a:lnTo>
                    <a:lnTo>
                      <a:pt x="4996" y="13935"/>
                    </a:lnTo>
                    <a:lnTo>
                      <a:pt x="5137" y="14089"/>
                    </a:lnTo>
                    <a:lnTo>
                      <a:pt x="5290" y="14230"/>
                    </a:lnTo>
                    <a:lnTo>
                      <a:pt x="5457" y="14358"/>
                    </a:lnTo>
                    <a:lnTo>
                      <a:pt x="5623" y="14473"/>
                    </a:lnTo>
                    <a:lnTo>
                      <a:pt x="5815" y="14576"/>
                    </a:lnTo>
                    <a:lnTo>
                      <a:pt x="6008" y="14666"/>
                    </a:lnTo>
                    <a:lnTo>
                      <a:pt x="6200" y="14742"/>
                    </a:lnTo>
                    <a:lnTo>
                      <a:pt x="6405" y="14806"/>
                    </a:lnTo>
                    <a:lnTo>
                      <a:pt x="6622" y="14845"/>
                    </a:lnTo>
                    <a:lnTo>
                      <a:pt x="6840" y="14870"/>
                    </a:lnTo>
                    <a:lnTo>
                      <a:pt x="7058" y="14883"/>
                    </a:lnTo>
                    <a:lnTo>
                      <a:pt x="7327" y="14870"/>
                    </a:lnTo>
                    <a:lnTo>
                      <a:pt x="7596" y="14832"/>
                    </a:lnTo>
                    <a:lnTo>
                      <a:pt x="7852" y="14768"/>
                    </a:lnTo>
                    <a:lnTo>
                      <a:pt x="8108" y="14678"/>
                    </a:lnTo>
                    <a:lnTo>
                      <a:pt x="8339" y="14563"/>
                    </a:lnTo>
                    <a:lnTo>
                      <a:pt x="8556" y="14435"/>
                    </a:lnTo>
                    <a:lnTo>
                      <a:pt x="8761" y="14281"/>
                    </a:lnTo>
                    <a:lnTo>
                      <a:pt x="8966" y="14102"/>
                    </a:lnTo>
                    <a:lnTo>
                      <a:pt x="9133" y="13923"/>
                    </a:lnTo>
                    <a:lnTo>
                      <a:pt x="9299" y="13718"/>
                    </a:lnTo>
                    <a:lnTo>
                      <a:pt x="9427" y="13500"/>
                    </a:lnTo>
                    <a:lnTo>
                      <a:pt x="9543" y="13269"/>
                    </a:lnTo>
                    <a:lnTo>
                      <a:pt x="9645" y="13026"/>
                    </a:lnTo>
                    <a:lnTo>
                      <a:pt x="9722" y="12770"/>
                    </a:lnTo>
                    <a:lnTo>
                      <a:pt x="9760" y="12501"/>
                    </a:lnTo>
                    <a:lnTo>
                      <a:pt x="9786" y="12232"/>
                    </a:lnTo>
                    <a:lnTo>
                      <a:pt x="9888" y="12296"/>
                    </a:lnTo>
                    <a:lnTo>
                      <a:pt x="9991" y="12347"/>
                    </a:lnTo>
                    <a:lnTo>
                      <a:pt x="10106" y="12386"/>
                    </a:lnTo>
                    <a:lnTo>
                      <a:pt x="10221" y="12424"/>
                    </a:lnTo>
                    <a:lnTo>
                      <a:pt x="10337" y="12463"/>
                    </a:lnTo>
                    <a:lnTo>
                      <a:pt x="10452" y="12488"/>
                    </a:lnTo>
                    <a:lnTo>
                      <a:pt x="10580" y="12501"/>
                    </a:lnTo>
                    <a:lnTo>
                      <a:pt x="10708" y="12501"/>
                    </a:lnTo>
                    <a:lnTo>
                      <a:pt x="10913" y="12488"/>
                    </a:lnTo>
                    <a:lnTo>
                      <a:pt x="11105" y="12450"/>
                    </a:lnTo>
                    <a:lnTo>
                      <a:pt x="11284" y="12399"/>
                    </a:lnTo>
                    <a:lnTo>
                      <a:pt x="11464" y="12322"/>
                    </a:lnTo>
                    <a:lnTo>
                      <a:pt x="11630" y="12232"/>
                    </a:lnTo>
                    <a:lnTo>
                      <a:pt x="11784" y="12117"/>
                    </a:lnTo>
                    <a:lnTo>
                      <a:pt x="11925" y="11989"/>
                    </a:lnTo>
                    <a:lnTo>
                      <a:pt x="12053" y="11848"/>
                    </a:lnTo>
                    <a:lnTo>
                      <a:pt x="12168" y="11950"/>
                    </a:lnTo>
                    <a:lnTo>
                      <a:pt x="12283" y="12027"/>
                    </a:lnTo>
                    <a:lnTo>
                      <a:pt x="12412" y="12104"/>
                    </a:lnTo>
                    <a:lnTo>
                      <a:pt x="12552" y="12168"/>
                    </a:lnTo>
                    <a:lnTo>
                      <a:pt x="12693" y="12206"/>
                    </a:lnTo>
                    <a:lnTo>
                      <a:pt x="12834" y="12245"/>
                    </a:lnTo>
                    <a:lnTo>
                      <a:pt x="12988" y="12270"/>
                    </a:lnTo>
                    <a:lnTo>
                      <a:pt x="13308" y="12270"/>
                    </a:lnTo>
                    <a:lnTo>
                      <a:pt x="13462" y="12245"/>
                    </a:lnTo>
                    <a:lnTo>
                      <a:pt x="13603" y="12206"/>
                    </a:lnTo>
                    <a:lnTo>
                      <a:pt x="13744" y="12155"/>
                    </a:lnTo>
                    <a:lnTo>
                      <a:pt x="13884" y="12104"/>
                    </a:lnTo>
                    <a:lnTo>
                      <a:pt x="14013" y="12027"/>
                    </a:lnTo>
                    <a:lnTo>
                      <a:pt x="14128" y="11937"/>
                    </a:lnTo>
                    <a:lnTo>
                      <a:pt x="14243" y="11848"/>
                    </a:lnTo>
                    <a:lnTo>
                      <a:pt x="14346" y="11733"/>
                    </a:lnTo>
                    <a:lnTo>
                      <a:pt x="14448" y="11617"/>
                    </a:lnTo>
                    <a:lnTo>
                      <a:pt x="14525" y="11502"/>
                    </a:lnTo>
                    <a:lnTo>
                      <a:pt x="14602" y="11361"/>
                    </a:lnTo>
                    <a:lnTo>
                      <a:pt x="14653" y="11233"/>
                    </a:lnTo>
                    <a:lnTo>
                      <a:pt x="14704" y="11079"/>
                    </a:lnTo>
                    <a:lnTo>
                      <a:pt x="14743" y="10938"/>
                    </a:lnTo>
                    <a:lnTo>
                      <a:pt x="14755" y="10785"/>
                    </a:lnTo>
                    <a:lnTo>
                      <a:pt x="15050" y="10734"/>
                    </a:lnTo>
                    <a:lnTo>
                      <a:pt x="15319" y="10657"/>
                    </a:lnTo>
                    <a:lnTo>
                      <a:pt x="15588" y="10567"/>
                    </a:lnTo>
                    <a:lnTo>
                      <a:pt x="15844" y="10452"/>
                    </a:lnTo>
                    <a:lnTo>
                      <a:pt x="16087" y="10311"/>
                    </a:lnTo>
                    <a:lnTo>
                      <a:pt x="16318" y="10144"/>
                    </a:lnTo>
                    <a:lnTo>
                      <a:pt x="16536" y="9965"/>
                    </a:lnTo>
                    <a:lnTo>
                      <a:pt x="16728" y="9773"/>
                    </a:lnTo>
                    <a:lnTo>
                      <a:pt x="16907" y="9555"/>
                    </a:lnTo>
                    <a:lnTo>
                      <a:pt x="17061" y="9325"/>
                    </a:lnTo>
                    <a:lnTo>
                      <a:pt x="17202" y="9081"/>
                    </a:lnTo>
                    <a:lnTo>
                      <a:pt x="17317" y="8812"/>
                    </a:lnTo>
                    <a:lnTo>
                      <a:pt x="17407" y="8543"/>
                    </a:lnTo>
                    <a:lnTo>
                      <a:pt x="17471" y="8274"/>
                    </a:lnTo>
                    <a:lnTo>
                      <a:pt x="17509" y="7980"/>
                    </a:lnTo>
                    <a:lnTo>
                      <a:pt x="17522" y="7685"/>
                    </a:lnTo>
                    <a:lnTo>
                      <a:pt x="17522" y="7429"/>
                    </a:lnTo>
                    <a:lnTo>
                      <a:pt x="17483" y="7186"/>
                    </a:lnTo>
                    <a:lnTo>
                      <a:pt x="17445" y="6955"/>
                    </a:lnTo>
                    <a:lnTo>
                      <a:pt x="17381" y="6725"/>
                    </a:lnTo>
                    <a:lnTo>
                      <a:pt x="17291" y="6494"/>
                    </a:lnTo>
                    <a:lnTo>
                      <a:pt x="17202" y="6289"/>
                    </a:lnTo>
                    <a:lnTo>
                      <a:pt x="17086" y="6084"/>
                    </a:lnTo>
                    <a:lnTo>
                      <a:pt x="16958" y="5879"/>
                    </a:lnTo>
                    <a:lnTo>
                      <a:pt x="16817" y="5700"/>
                    </a:lnTo>
                    <a:lnTo>
                      <a:pt x="16664" y="5521"/>
                    </a:lnTo>
                    <a:lnTo>
                      <a:pt x="16497" y="5367"/>
                    </a:lnTo>
                    <a:lnTo>
                      <a:pt x="16318" y="5213"/>
                    </a:lnTo>
                    <a:lnTo>
                      <a:pt x="16126" y="5085"/>
                    </a:lnTo>
                    <a:lnTo>
                      <a:pt x="15921" y="4957"/>
                    </a:lnTo>
                    <a:lnTo>
                      <a:pt x="15716" y="4855"/>
                    </a:lnTo>
                    <a:lnTo>
                      <a:pt x="15498" y="4765"/>
                    </a:lnTo>
                    <a:lnTo>
                      <a:pt x="15549" y="4509"/>
                    </a:lnTo>
                    <a:lnTo>
                      <a:pt x="15562" y="4368"/>
                    </a:lnTo>
                    <a:lnTo>
                      <a:pt x="15575" y="4240"/>
                    </a:lnTo>
                    <a:lnTo>
                      <a:pt x="15562" y="4022"/>
                    </a:lnTo>
                    <a:lnTo>
                      <a:pt x="15524" y="3817"/>
                    </a:lnTo>
                    <a:lnTo>
                      <a:pt x="15473" y="3625"/>
                    </a:lnTo>
                    <a:lnTo>
                      <a:pt x="15409" y="3433"/>
                    </a:lnTo>
                    <a:lnTo>
                      <a:pt x="15319" y="3254"/>
                    </a:lnTo>
                    <a:lnTo>
                      <a:pt x="15216" y="3087"/>
                    </a:lnTo>
                    <a:lnTo>
                      <a:pt x="15101" y="2921"/>
                    </a:lnTo>
                    <a:lnTo>
                      <a:pt x="14973" y="2780"/>
                    </a:lnTo>
                    <a:lnTo>
                      <a:pt x="14819" y="2652"/>
                    </a:lnTo>
                    <a:lnTo>
                      <a:pt x="14666" y="2524"/>
                    </a:lnTo>
                    <a:lnTo>
                      <a:pt x="14499" y="2421"/>
                    </a:lnTo>
                    <a:lnTo>
                      <a:pt x="14307" y="2332"/>
                    </a:lnTo>
                    <a:lnTo>
                      <a:pt x="14128" y="2267"/>
                    </a:lnTo>
                    <a:lnTo>
                      <a:pt x="13923" y="2216"/>
                    </a:lnTo>
                    <a:lnTo>
                      <a:pt x="13718" y="2191"/>
                    </a:lnTo>
                    <a:lnTo>
                      <a:pt x="13513" y="2178"/>
                    </a:lnTo>
                    <a:lnTo>
                      <a:pt x="13359" y="2178"/>
                    </a:lnTo>
                    <a:lnTo>
                      <a:pt x="13193" y="2203"/>
                    </a:lnTo>
                    <a:lnTo>
                      <a:pt x="13052" y="2229"/>
                    </a:lnTo>
                    <a:lnTo>
                      <a:pt x="12898" y="2267"/>
                    </a:lnTo>
                    <a:lnTo>
                      <a:pt x="12757" y="2319"/>
                    </a:lnTo>
                    <a:lnTo>
                      <a:pt x="12616" y="2383"/>
                    </a:lnTo>
                    <a:lnTo>
                      <a:pt x="12488" y="2447"/>
                    </a:lnTo>
                    <a:lnTo>
                      <a:pt x="12360" y="2524"/>
                    </a:lnTo>
                    <a:lnTo>
                      <a:pt x="12245" y="2255"/>
                    </a:lnTo>
                    <a:lnTo>
                      <a:pt x="12104" y="1999"/>
                    </a:lnTo>
                    <a:lnTo>
                      <a:pt x="11950" y="1742"/>
                    </a:lnTo>
                    <a:lnTo>
                      <a:pt x="11784" y="1512"/>
                    </a:lnTo>
                    <a:lnTo>
                      <a:pt x="11592" y="1281"/>
                    </a:lnTo>
                    <a:lnTo>
                      <a:pt x="11387" y="1076"/>
                    </a:lnTo>
                    <a:lnTo>
                      <a:pt x="11169" y="884"/>
                    </a:lnTo>
                    <a:lnTo>
                      <a:pt x="10939" y="705"/>
                    </a:lnTo>
                    <a:lnTo>
                      <a:pt x="10695" y="551"/>
                    </a:lnTo>
                    <a:lnTo>
                      <a:pt x="10439" y="410"/>
                    </a:lnTo>
                    <a:lnTo>
                      <a:pt x="10170" y="295"/>
                    </a:lnTo>
                    <a:lnTo>
                      <a:pt x="9888" y="193"/>
                    </a:lnTo>
                    <a:lnTo>
                      <a:pt x="9594" y="103"/>
                    </a:lnTo>
                    <a:lnTo>
                      <a:pt x="9299" y="52"/>
                    </a:lnTo>
                    <a:lnTo>
                      <a:pt x="8992" y="13"/>
                    </a:lnTo>
                    <a:lnTo>
                      <a:pt x="8684" y="0"/>
                    </a:lnTo>
                    <a:close/>
                  </a:path>
                </a:pathLst>
              </a:custGeom>
              <a:solidFill>
                <a:srgbClr val="EA4827">
                  <a:alpha val="37650"/>
                </a:srgbClr>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6" name="Google Shape;1815;p36">
                <a:extLst>
                  <a:ext uri="{FF2B5EF4-FFF2-40B4-BE49-F238E27FC236}">
                    <a16:creationId xmlns:a16="http://schemas.microsoft.com/office/drawing/2014/main" id="{5B1D41B7-6E66-7B3B-E68F-6C7C6F2E1BBD}"/>
                  </a:ext>
                </a:extLst>
              </p:cNvPr>
              <p:cNvSpPr/>
              <p:nvPr/>
            </p:nvSpPr>
            <p:spPr>
              <a:xfrm>
                <a:off x="5022704" y="2108884"/>
                <a:ext cx="341356" cy="237149"/>
              </a:xfrm>
              <a:custGeom>
                <a:avLst/>
                <a:gdLst/>
                <a:ahLst/>
                <a:cxnLst/>
                <a:rect l="l" t="t" r="r" b="b"/>
                <a:pathLst>
                  <a:path w="6712" h="4663" extrusionOk="0">
                    <a:moveTo>
                      <a:pt x="0" y="0"/>
                    </a:moveTo>
                    <a:lnTo>
                      <a:pt x="0" y="4662"/>
                    </a:lnTo>
                    <a:lnTo>
                      <a:pt x="6712" y="4662"/>
                    </a:lnTo>
                    <a:lnTo>
                      <a:pt x="6712" y="0"/>
                    </a:lnTo>
                    <a:close/>
                  </a:path>
                </a:pathLst>
              </a:custGeom>
              <a:solidFill>
                <a:srgbClr val="FFA59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7" name="Google Shape;1816;p36">
                <a:extLst>
                  <a:ext uri="{FF2B5EF4-FFF2-40B4-BE49-F238E27FC236}">
                    <a16:creationId xmlns:a16="http://schemas.microsoft.com/office/drawing/2014/main" id="{B22013DB-31A1-9F9B-22E1-29C989B8054A}"/>
                  </a:ext>
                </a:extLst>
              </p:cNvPr>
              <p:cNvSpPr/>
              <p:nvPr/>
            </p:nvSpPr>
            <p:spPr>
              <a:xfrm>
                <a:off x="5022704" y="2108884"/>
                <a:ext cx="341356" cy="58028"/>
              </a:xfrm>
              <a:custGeom>
                <a:avLst/>
                <a:gdLst/>
                <a:ahLst/>
                <a:cxnLst/>
                <a:rect l="l" t="t" r="r" b="b"/>
                <a:pathLst>
                  <a:path w="6712" h="1141" extrusionOk="0">
                    <a:moveTo>
                      <a:pt x="0" y="0"/>
                    </a:moveTo>
                    <a:lnTo>
                      <a:pt x="0" y="1140"/>
                    </a:lnTo>
                    <a:lnTo>
                      <a:pt x="6712" y="1140"/>
                    </a:lnTo>
                    <a:lnTo>
                      <a:pt x="6712"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8" name="Google Shape;1817;p36">
                <a:extLst>
                  <a:ext uri="{FF2B5EF4-FFF2-40B4-BE49-F238E27FC236}">
                    <a16:creationId xmlns:a16="http://schemas.microsoft.com/office/drawing/2014/main" id="{E3FE577E-7204-8C60-DEB7-FB088E4022E1}"/>
                  </a:ext>
                </a:extLst>
              </p:cNvPr>
              <p:cNvSpPr/>
              <p:nvPr/>
            </p:nvSpPr>
            <p:spPr>
              <a:xfrm>
                <a:off x="5013601" y="2917863"/>
                <a:ext cx="308146" cy="198090"/>
              </a:xfrm>
              <a:custGeom>
                <a:avLst/>
                <a:gdLst/>
                <a:ahLst/>
                <a:cxnLst/>
                <a:rect l="l" t="t" r="r" b="b"/>
                <a:pathLst>
                  <a:path w="6059" h="3895" extrusionOk="0">
                    <a:moveTo>
                      <a:pt x="0" y="1"/>
                    </a:moveTo>
                    <a:lnTo>
                      <a:pt x="0" y="3894"/>
                    </a:lnTo>
                    <a:lnTo>
                      <a:pt x="6058" y="3894"/>
                    </a:lnTo>
                    <a:lnTo>
                      <a:pt x="6058" y="1"/>
                    </a:lnTo>
                    <a:close/>
                  </a:path>
                </a:pathLst>
              </a:custGeom>
              <a:solidFill>
                <a:srgbClr val="C99BFF"/>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9" name="Google Shape;1818;p36">
                <a:extLst>
                  <a:ext uri="{FF2B5EF4-FFF2-40B4-BE49-F238E27FC236}">
                    <a16:creationId xmlns:a16="http://schemas.microsoft.com/office/drawing/2014/main" id="{EE303D81-809B-532D-1823-FC314AC380AB}"/>
                  </a:ext>
                </a:extLst>
              </p:cNvPr>
              <p:cNvSpPr/>
              <p:nvPr/>
            </p:nvSpPr>
            <p:spPr>
              <a:xfrm>
                <a:off x="5013601" y="2917863"/>
                <a:ext cx="308146" cy="69776"/>
              </a:xfrm>
              <a:custGeom>
                <a:avLst/>
                <a:gdLst/>
                <a:ahLst/>
                <a:cxnLst/>
                <a:rect l="l" t="t" r="r" b="b"/>
                <a:pathLst>
                  <a:path w="6059" h="1372" extrusionOk="0">
                    <a:moveTo>
                      <a:pt x="0" y="1"/>
                    </a:moveTo>
                    <a:lnTo>
                      <a:pt x="0" y="1371"/>
                    </a:lnTo>
                    <a:lnTo>
                      <a:pt x="6058" y="1371"/>
                    </a:lnTo>
                    <a:lnTo>
                      <a:pt x="6058" y="1"/>
                    </a:lnTo>
                    <a:close/>
                  </a:path>
                </a:pathLst>
              </a:custGeom>
              <a:solidFill>
                <a:srgbClr val="8027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819;p36">
                <a:extLst>
                  <a:ext uri="{FF2B5EF4-FFF2-40B4-BE49-F238E27FC236}">
                    <a16:creationId xmlns:a16="http://schemas.microsoft.com/office/drawing/2014/main" id="{94ACA20F-B82E-3D04-077A-ABAA33A2F5F1}"/>
                  </a:ext>
                </a:extLst>
              </p:cNvPr>
              <p:cNvSpPr/>
              <p:nvPr/>
            </p:nvSpPr>
            <p:spPr>
              <a:xfrm>
                <a:off x="4490540" y="2398717"/>
                <a:ext cx="148555" cy="53502"/>
              </a:xfrm>
              <a:custGeom>
                <a:avLst/>
                <a:gdLst/>
                <a:ahLst/>
                <a:cxnLst/>
                <a:rect l="l" t="t" r="r" b="b"/>
                <a:pathLst>
                  <a:path w="2921" h="1052" extrusionOk="0">
                    <a:moveTo>
                      <a:pt x="1460" y="1"/>
                    </a:moveTo>
                    <a:lnTo>
                      <a:pt x="1268" y="14"/>
                    </a:lnTo>
                    <a:lnTo>
                      <a:pt x="1076" y="52"/>
                    </a:lnTo>
                    <a:lnTo>
                      <a:pt x="884" y="116"/>
                    </a:lnTo>
                    <a:lnTo>
                      <a:pt x="705" y="206"/>
                    </a:lnTo>
                    <a:lnTo>
                      <a:pt x="525" y="308"/>
                    </a:lnTo>
                    <a:lnTo>
                      <a:pt x="359" y="436"/>
                    </a:lnTo>
                    <a:lnTo>
                      <a:pt x="192" y="590"/>
                    </a:lnTo>
                    <a:lnTo>
                      <a:pt x="39" y="757"/>
                    </a:lnTo>
                    <a:lnTo>
                      <a:pt x="13" y="821"/>
                    </a:lnTo>
                    <a:lnTo>
                      <a:pt x="0" y="897"/>
                    </a:lnTo>
                    <a:lnTo>
                      <a:pt x="26" y="962"/>
                    </a:lnTo>
                    <a:lnTo>
                      <a:pt x="77" y="1013"/>
                    </a:lnTo>
                    <a:lnTo>
                      <a:pt x="141" y="1051"/>
                    </a:lnTo>
                    <a:lnTo>
                      <a:pt x="205" y="1051"/>
                    </a:lnTo>
                    <a:lnTo>
                      <a:pt x="269" y="1038"/>
                    </a:lnTo>
                    <a:lnTo>
                      <a:pt x="333" y="987"/>
                    </a:lnTo>
                    <a:lnTo>
                      <a:pt x="449" y="846"/>
                    </a:lnTo>
                    <a:lnTo>
                      <a:pt x="577" y="731"/>
                    </a:lnTo>
                    <a:lnTo>
                      <a:pt x="718" y="629"/>
                    </a:lnTo>
                    <a:lnTo>
                      <a:pt x="858" y="539"/>
                    </a:lnTo>
                    <a:lnTo>
                      <a:pt x="1012" y="475"/>
                    </a:lnTo>
                    <a:lnTo>
                      <a:pt x="1153" y="424"/>
                    </a:lnTo>
                    <a:lnTo>
                      <a:pt x="1307" y="398"/>
                    </a:lnTo>
                    <a:lnTo>
                      <a:pt x="1460" y="385"/>
                    </a:lnTo>
                    <a:lnTo>
                      <a:pt x="1614" y="398"/>
                    </a:lnTo>
                    <a:lnTo>
                      <a:pt x="1768" y="424"/>
                    </a:lnTo>
                    <a:lnTo>
                      <a:pt x="1921" y="475"/>
                    </a:lnTo>
                    <a:lnTo>
                      <a:pt x="2062" y="539"/>
                    </a:lnTo>
                    <a:lnTo>
                      <a:pt x="2203" y="629"/>
                    </a:lnTo>
                    <a:lnTo>
                      <a:pt x="2344" y="731"/>
                    </a:lnTo>
                    <a:lnTo>
                      <a:pt x="2472" y="846"/>
                    </a:lnTo>
                    <a:lnTo>
                      <a:pt x="2588" y="987"/>
                    </a:lnTo>
                    <a:lnTo>
                      <a:pt x="2626" y="1013"/>
                    </a:lnTo>
                    <a:lnTo>
                      <a:pt x="2664" y="1038"/>
                    </a:lnTo>
                    <a:lnTo>
                      <a:pt x="2690" y="1051"/>
                    </a:lnTo>
                    <a:lnTo>
                      <a:pt x="2792" y="1051"/>
                    </a:lnTo>
                    <a:lnTo>
                      <a:pt x="2844" y="1013"/>
                    </a:lnTo>
                    <a:lnTo>
                      <a:pt x="2895" y="962"/>
                    </a:lnTo>
                    <a:lnTo>
                      <a:pt x="2921" y="897"/>
                    </a:lnTo>
                    <a:lnTo>
                      <a:pt x="2908" y="821"/>
                    </a:lnTo>
                    <a:lnTo>
                      <a:pt x="2882" y="757"/>
                    </a:lnTo>
                    <a:lnTo>
                      <a:pt x="2728" y="590"/>
                    </a:lnTo>
                    <a:lnTo>
                      <a:pt x="2575" y="436"/>
                    </a:lnTo>
                    <a:lnTo>
                      <a:pt x="2395" y="308"/>
                    </a:lnTo>
                    <a:lnTo>
                      <a:pt x="2229" y="206"/>
                    </a:lnTo>
                    <a:lnTo>
                      <a:pt x="2037" y="116"/>
                    </a:lnTo>
                    <a:lnTo>
                      <a:pt x="1857" y="52"/>
                    </a:lnTo>
                    <a:lnTo>
                      <a:pt x="1653" y="14"/>
                    </a:lnTo>
                    <a:lnTo>
                      <a:pt x="1460"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1" name="Google Shape;1820;p36">
                <a:extLst>
                  <a:ext uri="{FF2B5EF4-FFF2-40B4-BE49-F238E27FC236}">
                    <a16:creationId xmlns:a16="http://schemas.microsoft.com/office/drawing/2014/main" id="{D7B65218-F5D2-DDEA-AB45-76B434CA45D9}"/>
                  </a:ext>
                </a:extLst>
              </p:cNvPr>
              <p:cNvSpPr/>
              <p:nvPr/>
            </p:nvSpPr>
            <p:spPr>
              <a:xfrm>
                <a:off x="4670318" y="2510144"/>
                <a:ext cx="147894" cy="53451"/>
              </a:xfrm>
              <a:custGeom>
                <a:avLst/>
                <a:gdLst/>
                <a:ahLst/>
                <a:cxnLst/>
                <a:rect l="l" t="t" r="r" b="b"/>
                <a:pathLst>
                  <a:path w="2908" h="1051" extrusionOk="0">
                    <a:moveTo>
                      <a:pt x="1460" y="0"/>
                    </a:moveTo>
                    <a:lnTo>
                      <a:pt x="1255" y="13"/>
                    </a:lnTo>
                    <a:lnTo>
                      <a:pt x="1063" y="51"/>
                    </a:lnTo>
                    <a:lnTo>
                      <a:pt x="884" y="115"/>
                    </a:lnTo>
                    <a:lnTo>
                      <a:pt x="692" y="192"/>
                    </a:lnTo>
                    <a:lnTo>
                      <a:pt x="513" y="307"/>
                    </a:lnTo>
                    <a:lnTo>
                      <a:pt x="346" y="436"/>
                    </a:lnTo>
                    <a:lnTo>
                      <a:pt x="192" y="589"/>
                    </a:lnTo>
                    <a:lnTo>
                      <a:pt x="39" y="756"/>
                    </a:lnTo>
                    <a:lnTo>
                      <a:pt x="0" y="820"/>
                    </a:lnTo>
                    <a:lnTo>
                      <a:pt x="0" y="884"/>
                    </a:lnTo>
                    <a:lnTo>
                      <a:pt x="26" y="961"/>
                    </a:lnTo>
                    <a:lnTo>
                      <a:pt x="64" y="1012"/>
                    </a:lnTo>
                    <a:lnTo>
                      <a:pt x="128" y="1050"/>
                    </a:lnTo>
                    <a:lnTo>
                      <a:pt x="205" y="1050"/>
                    </a:lnTo>
                    <a:lnTo>
                      <a:pt x="269" y="1025"/>
                    </a:lnTo>
                    <a:lnTo>
                      <a:pt x="320" y="986"/>
                    </a:lnTo>
                    <a:lnTo>
                      <a:pt x="449" y="845"/>
                    </a:lnTo>
                    <a:lnTo>
                      <a:pt x="577" y="717"/>
                    </a:lnTo>
                    <a:lnTo>
                      <a:pt x="718" y="615"/>
                    </a:lnTo>
                    <a:lnTo>
                      <a:pt x="858" y="538"/>
                    </a:lnTo>
                    <a:lnTo>
                      <a:pt x="999" y="474"/>
                    </a:lnTo>
                    <a:lnTo>
                      <a:pt x="1153" y="423"/>
                    </a:lnTo>
                    <a:lnTo>
                      <a:pt x="1307" y="397"/>
                    </a:lnTo>
                    <a:lnTo>
                      <a:pt x="1460" y="384"/>
                    </a:lnTo>
                    <a:lnTo>
                      <a:pt x="1614" y="397"/>
                    </a:lnTo>
                    <a:lnTo>
                      <a:pt x="1768" y="423"/>
                    </a:lnTo>
                    <a:lnTo>
                      <a:pt x="1909" y="474"/>
                    </a:lnTo>
                    <a:lnTo>
                      <a:pt x="2062" y="538"/>
                    </a:lnTo>
                    <a:lnTo>
                      <a:pt x="2203" y="615"/>
                    </a:lnTo>
                    <a:lnTo>
                      <a:pt x="2331" y="717"/>
                    </a:lnTo>
                    <a:lnTo>
                      <a:pt x="2472" y="845"/>
                    </a:lnTo>
                    <a:lnTo>
                      <a:pt x="2587" y="986"/>
                    </a:lnTo>
                    <a:lnTo>
                      <a:pt x="2613" y="1012"/>
                    </a:lnTo>
                    <a:lnTo>
                      <a:pt x="2652" y="1038"/>
                    </a:lnTo>
                    <a:lnTo>
                      <a:pt x="2690" y="1050"/>
                    </a:lnTo>
                    <a:lnTo>
                      <a:pt x="2728" y="1050"/>
                    </a:lnTo>
                    <a:lnTo>
                      <a:pt x="2792" y="1038"/>
                    </a:lnTo>
                    <a:lnTo>
                      <a:pt x="2844" y="1012"/>
                    </a:lnTo>
                    <a:lnTo>
                      <a:pt x="2895" y="961"/>
                    </a:lnTo>
                    <a:lnTo>
                      <a:pt x="2908" y="884"/>
                    </a:lnTo>
                    <a:lnTo>
                      <a:pt x="2908" y="820"/>
                    </a:lnTo>
                    <a:lnTo>
                      <a:pt x="2869" y="756"/>
                    </a:lnTo>
                    <a:lnTo>
                      <a:pt x="2728" y="589"/>
                    </a:lnTo>
                    <a:lnTo>
                      <a:pt x="2562" y="436"/>
                    </a:lnTo>
                    <a:lnTo>
                      <a:pt x="2395" y="307"/>
                    </a:lnTo>
                    <a:lnTo>
                      <a:pt x="2216" y="192"/>
                    </a:lnTo>
                    <a:lnTo>
                      <a:pt x="2037" y="115"/>
                    </a:lnTo>
                    <a:lnTo>
                      <a:pt x="1845" y="51"/>
                    </a:lnTo>
                    <a:lnTo>
                      <a:pt x="1653" y="13"/>
                    </a:lnTo>
                    <a:lnTo>
                      <a:pt x="1460"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2" name="Google Shape;1821;p36">
                <a:extLst>
                  <a:ext uri="{FF2B5EF4-FFF2-40B4-BE49-F238E27FC236}">
                    <a16:creationId xmlns:a16="http://schemas.microsoft.com/office/drawing/2014/main" id="{11B9ADB1-4CB0-5394-ED0D-7CBEC84CC0C8}"/>
                  </a:ext>
                </a:extLst>
              </p:cNvPr>
              <p:cNvSpPr/>
              <p:nvPr/>
            </p:nvSpPr>
            <p:spPr>
              <a:xfrm>
                <a:off x="4280146" y="2495802"/>
                <a:ext cx="147894" cy="53451"/>
              </a:xfrm>
              <a:custGeom>
                <a:avLst/>
                <a:gdLst/>
                <a:ahLst/>
                <a:cxnLst/>
                <a:rect l="l" t="t" r="r" b="b"/>
                <a:pathLst>
                  <a:path w="2908" h="1051" extrusionOk="0">
                    <a:moveTo>
                      <a:pt x="1448" y="0"/>
                    </a:moveTo>
                    <a:lnTo>
                      <a:pt x="1256" y="13"/>
                    </a:lnTo>
                    <a:lnTo>
                      <a:pt x="1063" y="52"/>
                    </a:lnTo>
                    <a:lnTo>
                      <a:pt x="871" y="116"/>
                    </a:lnTo>
                    <a:lnTo>
                      <a:pt x="692" y="192"/>
                    </a:lnTo>
                    <a:lnTo>
                      <a:pt x="513" y="308"/>
                    </a:lnTo>
                    <a:lnTo>
                      <a:pt x="346" y="436"/>
                    </a:lnTo>
                    <a:lnTo>
                      <a:pt x="180" y="589"/>
                    </a:lnTo>
                    <a:lnTo>
                      <a:pt x="39" y="756"/>
                    </a:lnTo>
                    <a:lnTo>
                      <a:pt x="0" y="820"/>
                    </a:lnTo>
                    <a:lnTo>
                      <a:pt x="0" y="897"/>
                    </a:lnTo>
                    <a:lnTo>
                      <a:pt x="13" y="961"/>
                    </a:lnTo>
                    <a:lnTo>
                      <a:pt x="64" y="1012"/>
                    </a:lnTo>
                    <a:lnTo>
                      <a:pt x="128" y="1051"/>
                    </a:lnTo>
                    <a:lnTo>
                      <a:pt x="193" y="1051"/>
                    </a:lnTo>
                    <a:lnTo>
                      <a:pt x="269" y="1025"/>
                    </a:lnTo>
                    <a:lnTo>
                      <a:pt x="321" y="987"/>
                    </a:lnTo>
                    <a:lnTo>
                      <a:pt x="436" y="846"/>
                    </a:lnTo>
                    <a:lnTo>
                      <a:pt x="577" y="718"/>
                    </a:lnTo>
                    <a:lnTo>
                      <a:pt x="705" y="615"/>
                    </a:lnTo>
                    <a:lnTo>
                      <a:pt x="846" y="538"/>
                    </a:lnTo>
                    <a:lnTo>
                      <a:pt x="999" y="474"/>
                    </a:lnTo>
                    <a:lnTo>
                      <a:pt x="1140" y="423"/>
                    </a:lnTo>
                    <a:lnTo>
                      <a:pt x="1294" y="397"/>
                    </a:lnTo>
                    <a:lnTo>
                      <a:pt x="1448" y="385"/>
                    </a:lnTo>
                    <a:lnTo>
                      <a:pt x="1601" y="397"/>
                    </a:lnTo>
                    <a:lnTo>
                      <a:pt x="1755" y="423"/>
                    </a:lnTo>
                    <a:lnTo>
                      <a:pt x="1909" y="474"/>
                    </a:lnTo>
                    <a:lnTo>
                      <a:pt x="2050" y="538"/>
                    </a:lnTo>
                    <a:lnTo>
                      <a:pt x="2191" y="615"/>
                    </a:lnTo>
                    <a:lnTo>
                      <a:pt x="2331" y="718"/>
                    </a:lnTo>
                    <a:lnTo>
                      <a:pt x="2459" y="846"/>
                    </a:lnTo>
                    <a:lnTo>
                      <a:pt x="2588" y="987"/>
                    </a:lnTo>
                    <a:lnTo>
                      <a:pt x="2613" y="1012"/>
                    </a:lnTo>
                    <a:lnTo>
                      <a:pt x="2652" y="1038"/>
                    </a:lnTo>
                    <a:lnTo>
                      <a:pt x="2690" y="1051"/>
                    </a:lnTo>
                    <a:lnTo>
                      <a:pt x="2728" y="1051"/>
                    </a:lnTo>
                    <a:lnTo>
                      <a:pt x="2780" y="1038"/>
                    </a:lnTo>
                    <a:lnTo>
                      <a:pt x="2844" y="1012"/>
                    </a:lnTo>
                    <a:lnTo>
                      <a:pt x="2882" y="961"/>
                    </a:lnTo>
                    <a:lnTo>
                      <a:pt x="2908" y="897"/>
                    </a:lnTo>
                    <a:lnTo>
                      <a:pt x="2908" y="820"/>
                    </a:lnTo>
                    <a:lnTo>
                      <a:pt x="2869" y="756"/>
                    </a:lnTo>
                    <a:lnTo>
                      <a:pt x="2716" y="589"/>
                    </a:lnTo>
                    <a:lnTo>
                      <a:pt x="2562" y="436"/>
                    </a:lnTo>
                    <a:lnTo>
                      <a:pt x="2395" y="308"/>
                    </a:lnTo>
                    <a:lnTo>
                      <a:pt x="2216" y="192"/>
                    </a:lnTo>
                    <a:lnTo>
                      <a:pt x="2024" y="116"/>
                    </a:lnTo>
                    <a:lnTo>
                      <a:pt x="1845" y="52"/>
                    </a:lnTo>
                    <a:lnTo>
                      <a:pt x="1653" y="13"/>
                    </a:lnTo>
                    <a:lnTo>
                      <a:pt x="1448"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3" name="Google Shape;1822;p36">
                <a:extLst>
                  <a:ext uri="{FF2B5EF4-FFF2-40B4-BE49-F238E27FC236}">
                    <a16:creationId xmlns:a16="http://schemas.microsoft.com/office/drawing/2014/main" id="{2AF5660D-3777-C992-8F1D-904D22160114}"/>
                  </a:ext>
                </a:extLst>
              </p:cNvPr>
              <p:cNvSpPr/>
              <p:nvPr/>
            </p:nvSpPr>
            <p:spPr>
              <a:xfrm>
                <a:off x="4353735" y="2661239"/>
                <a:ext cx="148555" cy="53451"/>
              </a:xfrm>
              <a:custGeom>
                <a:avLst/>
                <a:gdLst/>
                <a:ahLst/>
                <a:cxnLst/>
                <a:rect l="l" t="t" r="r" b="b"/>
                <a:pathLst>
                  <a:path w="2921" h="1051" extrusionOk="0">
                    <a:moveTo>
                      <a:pt x="1461" y="1"/>
                    </a:moveTo>
                    <a:lnTo>
                      <a:pt x="1269" y="13"/>
                    </a:lnTo>
                    <a:lnTo>
                      <a:pt x="1077" y="52"/>
                    </a:lnTo>
                    <a:lnTo>
                      <a:pt x="884" y="116"/>
                    </a:lnTo>
                    <a:lnTo>
                      <a:pt x="705" y="205"/>
                    </a:lnTo>
                    <a:lnTo>
                      <a:pt x="526" y="308"/>
                    </a:lnTo>
                    <a:lnTo>
                      <a:pt x="359" y="436"/>
                    </a:lnTo>
                    <a:lnTo>
                      <a:pt x="193" y="590"/>
                    </a:lnTo>
                    <a:lnTo>
                      <a:pt x="39" y="756"/>
                    </a:lnTo>
                    <a:lnTo>
                      <a:pt x="13" y="820"/>
                    </a:lnTo>
                    <a:lnTo>
                      <a:pt x="1" y="897"/>
                    </a:lnTo>
                    <a:lnTo>
                      <a:pt x="26" y="961"/>
                    </a:lnTo>
                    <a:lnTo>
                      <a:pt x="78" y="1012"/>
                    </a:lnTo>
                    <a:lnTo>
                      <a:pt x="142" y="1051"/>
                    </a:lnTo>
                    <a:lnTo>
                      <a:pt x="206" y="1051"/>
                    </a:lnTo>
                    <a:lnTo>
                      <a:pt x="270" y="1038"/>
                    </a:lnTo>
                    <a:lnTo>
                      <a:pt x="334" y="987"/>
                    </a:lnTo>
                    <a:lnTo>
                      <a:pt x="449" y="846"/>
                    </a:lnTo>
                    <a:lnTo>
                      <a:pt x="577" y="731"/>
                    </a:lnTo>
                    <a:lnTo>
                      <a:pt x="718" y="628"/>
                    </a:lnTo>
                    <a:lnTo>
                      <a:pt x="859" y="538"/>
                    </a:lnTo>
                    <a:lnTo>
                      <a:pt x="1012" y="474"/>
                    </a:lnTo>
                    <a:lnTo>
                      <a:pt x="1153" y="423"/>
                    </a:lnTo>
                    <a:lnTo>
                      <a:pt x="1307" y="398"/>
                    </a:lnTo>
                    <a:lnTo>
                      <a:pt x="1461" y="385"/>
                    </a:lnTo>
                    <a:lnTo>
                      <a:pt x="1614" y="398"/>
                    </a:lnTo>
                    <a:lnTo>
                      <a:pt x="1768" y="423"/>
                    </a:lnTo>
                    <a:lnTo>
                      <a:pt x="1922" y="474"/>
                    </a:lnTo>
                    <a:lnTo>
                      <a:pt x="2063" y="538"/>
                    </a:lnTo>
                    <a:lnTo>
                      <a:pt x="2204" y="628"/>
                    </a:lnTo>
                    <a:lnTo>
                      <a:pt x="2345" y="731"/>
                    </a:lnTo>
                    <a:lnTo>
                      <a:pt x="2473" y="846"/>
                    </a:lnTo>
                    <a:lnTo>
                      <a:pt x="2588" y="987"/>
                    </a:lnTo>
                    <a:lnTo>
                      <a:pt x="2626" y="1012"/>
                    </a:lnTo>
                    <a:lnTo>
                      <a:pt x="2652" y="1038"/>
                    </a:lnTo>
                    <a:lnTo>
                      <a:pt x="2690" y="1051"/>
                    </a:lnTo>
                    <a:lnTo>
                      <a:pt x="2793" y="1051"/>
                    </a:lnTo>
                    <a:lnTo>
                      <a:pt x="2844" y="1012"/>
                    </a:lnTo>
                    <a:lnTo>
                      <a:pt x="2895" y="961"/>
                    </a:lnTo>
                    <a:lnTo>
                      <a:pt x="2921" y="897"/>
                    </a:lnTo>
                    <a:lnTo>
                      <a:pt x="2908" y="820"/>
                    </a:lnTo>
                    <a:lnTo>
                      <a:pt x="2882" y="756"/>
                    </a:lnTo>
                    <a:lnTo>
                      <a:pt x="2729" y="590"/>
                    </a:lnTo>
                    <a:lnTo>
                      <a:pt x="2562" y="436"/>
                    </a:lnTo>
                    <a:lnTo>
                      <a:pt x="2396" y="308"/>
                    </a:lnTo>
                    <a:lnTo>
                      <a:pt x="2229" y="205"/>
                    </a:lnTo>
                    <a:lnTo>
                      <a:pt x="2037" y="116"/>
                    </a:lnTo>
                    <a:lnTo>
                      <a:pt x="1845" y="52"/>
                    </a:lnTo>
                    <a:lnTo>
                      <a:pt x="1653" y="13"/>
                    </a:lnTo>
                    <a:lnTo>
                      <a:pt x="1461"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4" name="Google Shape;1823;p36">
                <a:extLst>
                  <a:ext uri="{FF2B5EF4-FFF2-40B4-BE49-F238E27FC236}">
                    <a16:creationId xmlns:a16="http://schemas.microsoft.com/office/drawing/2014/main" id="{6F847174-239F-BA06-607C-D9D0881C0FD3}"/>
                  </a:ext>
                </a:extLst>
              </p:cNvPr>
              <p:cNvSpPr/>
              <p:nvPr/>
            </p:nvSpPr>
            <p:spPr>
              <a:xfrm>
                <a:off x="4596067" y="2661239"/>
                <a:ext cx="148555" cy="53451"/>
              </a:xfrm>
              <a:custGeom>
                <a:avLst/>
                <a:gdLst/>
                <a:ahLst/>
                <a:cxnLst/>
                <a:rect l="l" t="t" r="r" b="b"/>
                <a:pathLst>
                  <a:path w="2921" h="1051" extrusionOk="0">
                    <a:moveTo>
                      <a:pt x="1460" y="1"/>
                    </a:moveTo>
                    <a:lnTo>
                      <a:pt x="1268" y="13"/>
                    </a:lnTo>
                    <a:lnTo>
                      <a:pt x="1076" y="52"/>
                    </a:lnTo>
                    <a:lnTo>
                      <a:pt x="884" y="116"/>
                    </a:lnTo>
                    <a:lnTo>
                      <a:pt x="692" y="205"/>
                    </a:lnTo>
                    <a:lnTo>
                      <a:pt x="525" y="308"/>
                    </a:lnTo>
                    <a:lnTo>
                      <a:pt x="346" y="436"/>
                    </a:lnTo>
                    <a:lnTo>
                      <a:pt x="192" y="590"/>
                    </a:lnTo>
                    <a:lnTo>
                      <a:pt x="39" y="756"/>
                    </a:lnTo>
                    <a:lnTo>
                      <a:pt x="13" y="820"/>
                    </a:lnTo>
                    <a:lnTo>
                      <a:pt x="0" y="897"/>
                    </a:lnTo>
                    <a:lnTo>
                      <a:pt x="26" y="961"/>
                    </a:lnTo>
                    <a:lnTo>
                      <a:pt x="77" y="1012"/>
                    </a:lnTo>
                    <a:lnTo>
                      <a:pt x="141" y="1051"/>
                    </a:lnTo>
                    <a:lnTo>
                      <a:pt x="205" y="1051"/>
                    </a:lnTo>
                    <a:lnTo>
                      <a:pt x="269" y="1038"/>
                    </a:lnTo>
                    <a:lnTo>
                      <a:pt x="333" y="987"/>
                    </a:lnTo>
                    <a:lnTo>
                      <a:pt x="448" y="846"/>
                    </a:lnTo>
                    <a:lnTo>
                      <a:pt x="577" y="731"/>
                    </a:lnTo>
                    <a:lnTo>
                      <a:pt x="717" y="628"/>
                    </a:lnTo>
                    <a:lnTo>
                      <a:pt x="858" y="538"/>
                    </a:lnTo>
                    <a:lnTo>
                      <a:pt x="999" y="474"/>
                    </a:lnTo>
                    <a:lnTo>
                      <a:pt x="1153" y="423"/>
                    </a:lnTo>
                    <a:lnTo>
                      <a:pt x="1307" y="398"/>
                    </a:lnTo>
                    <a:lnTo>
                      <a:pt x="1460" y="385"/>
                    </a:lnTo>
                    <a:lnTo>
                      <a:pt x="1614" y="398"/>
                    </a:lnTo>
                    <a:lnTo>
                      <a:pt x="1768" y="423"/>
                    </a:lnTo>
                    <a:lnTo>
                      <a:pt x="1909" y="474"/>
                    </a:lnTo>
                    <a:lnTo>
                      <a:pt x="2062" y="538"/>
                    </a:lnTo>
                    <a:lnTo>
                      <a:pt x="2203" y="628"/>
                    </a:lnTo>
                    <a:lnTo>
                      <a:pt x="2344" y="731"/>
                    </a:lnTo>
                    <a:lnTo>
                      <a:pt x="2472" y="846"/>
                    </a:lnTo>
                    <a:lnTo>
                      <a:pt x="2587" y="987"/>
                    </a:lnTo>
                    <a:lnTo>
                      <a:pt x="2626" y="1012"/>
                    </a:lnTo>
                    <a:lnTo>
                      <a:pt x="2651" y="1038"/>
                    </a:lnTo>
                    <a:lnTo>
                      <a:pt x="2690" y="1051"/>
                    </a:lnTo>
                    <a:lnTo>
                      <a:pt x="2792" y="1051"/>
                    </a:lnTo>
                    <a:lnTo>
                      <a:pt x="2844" y="1012"/>
                    </a:lnTo>
                    <a:lnTo>
                      <a:pt x="2895" y="961"/>
                    </a:lnTo>
                    <a:lnTo>
                      <a:pt x="2920" y="897"/>
                    </a:lnTo>
                    <a:lnTo>
                      <a:pt x="2908" y="820"/>
                    </a:lnTo>
                    <a:lnTo>
                      <a:pt x="2882" y="756"/>
                    </a:lnTo>
                    <a:lnTo>
                      <a:pt x="2728" y="590"/>
                    </a:lnTo>
                    <a:lnTo>
                      <a:pt x="2562" y="436"/>
                    </a:lnTo>
                    <a:lnTo>
                      <a:pt x="2395" y="308"/>
                    </a:lnTo>
                    <a:lnTo>
                      <a:pt x="2216" y="205"/>
                    </a:lnTo>
                    <a:lnTo>
                      <a:pt x="2037" y="116"/>
                    </a:lnTo>
                    <a:lnTo>
                      <a:pt x="1845" y="52"/>
                    </a:lnTo>
                    <a:lnTo>
                      <a:pt x="1652" y="13"/>
                    </a:lnTo>
                    <a:lnTo>
                      <a:pt x="1460"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5" name="Google Shape;1824;p36">
                <a:extLst>
                  <a:ext uri="{FF2B5EF4-FFF2-40B4-BE49-F238E27FC236}">
                    <a16:creationId xmlns:a16="http://schemas.microsoft.com/office/drawing/2014/main" id="{345CE01A-4E04-D2AD-4C8D-95333658C0F1}"/>
                  </a:ext>
                </a:extLst>
              </p:cNvPr>
              <p:cNvSpPr/>
              <p:nvPr/>
            </p:nvSpPr>
            <p:spPr>
              <a:xfrm>
                <a:off x="3805297" y="2135584"/>
                <a:ext cx="282768" cy="62606"/>
              </a:xfrm>
              <a:custGeom>
                <a:avLst/>
                <a:gdLst/>
                <a:ahLst/>
                <a:cxnLst/>
                <a:rect l="l" t="t" r="r" b="b"/>
                <a:pathLst>
                  <a:path w="5560" h="1231" extrusionOk="0">
                    <a:moveTo>
                      <a:pt x="0" y="1"/>
                    </a:moveTo>
                    <a:lnTo>
                      <a:pt x="0" y="1230"/>
                    </a:lnTo>
                    <a:lnTo>
                      <a:pt x="5559" y="1230"/>
                    </a:lnTo>
                    <a:lnTo>
                      <a:pt x="5559" y="1"/>
                    </a:lnTo>
                    <a:close/>
                  </a:path>
                </a:pathLst>
              </a:custGeom>
              <a:solidFill>
                <a:srgbClr val="26EAB8"/>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6" name="Google Shape;1825;p36">
                <a:extLst>
                  <a:ext uri="{FF2B5EF4-FFF2-40B4-BE49-F238E27FC236}">
                    <a16:creationId xmlns:a16="http://schemas.microsoft.com/office/drawing/2014/main" id="{4BD3DE76-51BC-C53C-1B8C-DA4791C4679B}"/>
                  </a:ext>
                </a:extLst>
              </p:cNvPr>
              <p:cNvSpPr/>
              <p:nvPr/>
            </p:nvSpPr>
            <p:spPr>
              <a:xfrm>
                <a:off x="3976582" y="3788734"/>
                <a:ext cx="1190778" cy="100393"/>
              </a:xfrm>
              <a:custGeom>
                <a:avLst/>
                <a:gdLst/>
                <a:ahLst/>
                <a:cxnLst/>
                <a:rect l="l" t="t" r="r" b="b"/>
                <a:pathLst>
                  <a:path w="23414" h="1974" extrusionOk="0">
                    <a:moveTo>
                      <a:pt x="1551" y="1"/>
                    </a:moveTo>
                    <a:lnTo>
                      <a:pt x="1371" y="27"/>
                    </a:lnTo>
                    <a:lnTo>
                      <a:pt x="1218" y="78"/>
                    </a:lnTo>
                    <a:lnTo>
                      <a:pt x="1051" y="129"/>
                    </a:lnTo>
                    <a:lnTo>
                      <a:pt x="910" y="206"/>
                    </a:lnTo>
                    <a:lnTo>
                      <a:pt x="769" y="296"/>
                    </a:lnTo>
                    <a:lnTo>
                      <a:pt x="629" y="385"/>
                    </a:lnTo>
                    <a:lnTo>
                      <a:pt x="513" y="500"/>
                    </a:lnTo>
                    <a:lnTo>
                      <a:pt x="398" y="616"/>
                    </a:lnTo>
                    <a:lnTo>
                      <a:pt x="296" y="757"/>
                    </a:lnTo>
                    <a:lnTo>
                      <a:pt x="219" y="898"/>
                    </a:lnTo>
                    <a:lnTo>
                      <a:pt x="142" y="1038"/>
                    </a:lnTo>
                    <a:lnTo>
                      <a:pt x="78" y="1205"/>
                    </a:lnTo>
                    <a:lnTo>
                      <a:pt x="39" y="1371"/>
                    </a:lnTo>
                    <a:lnTo>
                      <a:pt x="14" y="1538"/>
                    </a:lnTo>
                    <a:lnTo>
                      <a:pt x="1" y="1717"/>
                    </a:lnTo>
                    <a:lnTo>
                      <a:pt x="1" y="1973"/>
                    </a:lnTo>
                    <a:lnTo>
                      <a:pt x="23414" y="1973"/>
                    </a:lnTo>
                    <a:lnTo>
                      <a:pt x="23414" y="1717"/>
                    </a:lnTo>
                    <a:lnTo>
                      <a:pt x="23414" y="1538"/>
                    </a:lnTo>
                    <a:lnTo>
                      <a:pt x="23388" y="1371"/>
                    </a:lnTo>
                    <a:lnTo>
                      <a:pt x="23337" y="1205"/>
                    </a:lnTo>
                    <a:lnTo>
                      <a:pt x="23286" y="1038"/>
                    </a:lnTo>
                    <a:lnTo>
                      <a:pt x="23209" y="898"/>
                    </a:lnTo>
                    <a:lnTo>
                      <a:pt x="23119" y="757"/>
                    </a:lnTo>
                    <a:lnTo>
                      <a:pt x="23029" y="616"/>
                    </a:lnTo>
                    <a:lnTo>
                      <a:pt x="22914" y="500"/>
                    </a:lnTo>
                    <a:lnTo>
                      <a:pt x="22799" y="385"/>
                    </a:lnTo>
                    <a:lnTo>
                      <a:pt x="22658" y="296"/>
                    </a:lnTo>
                    <a:lnTo>
                      <a:pt x="22517" y="206"/>
                    </a:lnTo>
                    <a:lnTo>
                      <a:pt x="22376" y="129"/>
                    </a:lnTo>
                    <a:lnTo>
                      <a:pt x="22210" y="78"/>
                    </a:lnTo>
                    <a:lnTo>
                      <a:pt x="22043" y="27"/>
                    </a:lnTo>
                    <a:lnTo>
                      <a:pt x="21877"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79" name="Google Shape;1826;p36">
              <a:extLst>
                <a:ext uri="{FF2B5EF4-FFF2-40B4-BE49-F238E27FC236}">
                  <a16:creationId xmlns:a16="http://schemas.microsoft.com/office/drawing/2014/main" id="{8A895559-07F2-E5F3-82C1-73FEF556ED2A}"/>
                </a:ext>
              </a:extLst>
            </p:cNvPr>
            <p:cNvSpPr/>
            <p:nvPr/>
          </p:nvSpPr>
          <p:spPr>
            <a:xfrm>
              <a:off x="3954300" y="2808350"/>
              <a:ext cx="142200" cy="142200"/>
            </a:xfrm>
            <a:prstGeom prst="ellipse">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1" name="Google Shape;1827;p36">
              <a:extLst>
                <a:ext uri="{FF2B5EF4-FFF2-40B4-BE49-F238E27FC236}">
                  <a16:creationId xmlns:a16="http://schemas.microsoft.com/office/drawing/2014/main" id="{3A4F4A66-D104-1914-04CD-C63D895E7F9B}"/>
                </a:ext>
              </a:extLst>
            </p:cNvPr>
            <p:cNvSpPr/>
            <p:nvPr/>
          </p:nvSpPr>
          <p:spPr>
            <a:xfrm>
              <a:off x="5754525" y="4370450"/>
              <a:ext cx="142200" cy="142200"/>
            </a:xfrm>
            <a:prstGeom prst="ellipse">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17" name="Google Shape;2018;p39">
            <a:extLst>
              <a:ext uri="{FF2B5EF4-FFF2-40B4-BE49-F238E27FC236}">
                <a16:creationId xmlns:a16="http://schemas.microsoft.com/office/drawing/2014/main" id="{8F217D34-F391-5D86-62F9-822B215CC0CE}"/>
              </a:ext>
            </a:extLst>
          </p:cNvPr>
          <p:cNvGrpSpPr/>
          <p:nvPr/>
        </p:nvGrpSpPr>
        <p:grpSpPr>
          <a:xfrm>
            <a:off x="2304653" y="1763506"/>
            <a:ext cx="1224787" cy="1258319"/>
            <a:chOff x="5234624" y="2105013"/>
            <a:chExt cx="771000" cy="771000"/>
          </a:xfrm>
        </p:grpSpPr>
        <p:sp>
          <p:nvSpPr>
            <p:cNvPr id="118" name="Google Shape;2019;p39">
              <a:extLst>
                <a:ext uri="{FF2B5EF4-FFF2-40B4-BE49-F238E27FC236}">
                  <a16:creationId xmlns:a16="http://schemas.microsoft.com/office/drawing/2014/main" id="{55D71992-071F-2263-66EA-70E1610D87F5}"/>
                </a:ext>
              </a:extLst>
            </p:cNvPr>
            <p:cNvSpPr/>
            <p:nvPr/>
          </p:nvSpPr>
          <p:spPr>
            <a:xfrm>
              <a:off x="5234624" y="2105013"/>
              <a:ext cx="771000" cy="771000"/>
            </a:xfrm>
            <a:prstGeom prst="ellipse">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b="1">
                <a:solidFill>
                  <a:schemeClr val="lt1"/>
                </a:solidFill>
                <a:latin typeface="Fira Sans Extra Condensed"/>
                <a:ea typeface="Fira Sans Extra Condensed"/>
                <a:cs typeface="Fira Sans Extra Condensed"/>
                <a:sym typeface="Fira Sans Extra Condensed"/>
              </a:endParaRPr>
            </a:p>
          </p:txBody>
        </p:sp>
        <p:grpSp>
          <p:nvGrpSpPr>
            <p:cNvPr id="119" name="Google Shape;2020;p39">
              <a:extLst>
                <a:ext uri="{FF2B5EF4-FFF2-40B4-BE49-F238E27FC236}">
                  <a16:creationId xmlns:a16="http://schemas.microsoft.com/office/drawing/2014/main" id="{EF271A3C-268D-3B7D-FE17-F8D4406099E1}"/>
                </a:ext>
              </a:extLst>
            </p:cNvPr>
            <p:cNvGrpSpPr/>
            <p:nvPr/>
          </p:nvGrpSpPr>
          <p:grpSpPr>
            <a:xfrm>
              <a:off x="5442832" y="2312784"/>
              <a:ext cx="354599" cy="355453"/>
              <a:chOff x="-3771675" y="3971775"/>
              <a:chExt cx="291300" cy="292025"/>
            </a:xfrm>
          </p:grpSpPr>
          <p:sp>
            <p:nvSpPr>
              <p:cNvPr id="120" name="Google Shape;2021;p39">
                <a:extLst>
                  <a:ext uri="{FF2B5EF4-FFF2-40B4-BE49-F238E27FC236}">
                    <a16:creationId xmlns:a16="http://schemas.microsoft.com/office/drawing/2014/main" id="{C95FC1F9-E7D0-93D7-36D6-0D8D9D29AD0A}"/>
                  </a:ext>
                </a:extLst>
              </p:cNvPr>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2022;p39">
                <a:extLst>
                  <a:ext uri="{FF2B5EF4-FFF2-40B4-BE49-F238E27FC236}">
                    <a16:creationId xmlns:a16="http://schemas.microsoft.com/office/drawing/2014/main" id="{87552077-1195-959E-F558-3CDC40AE5B96}"/>
                  </a:ext>
                </a:extLst>
              </p:cNvPr>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2023;p39">
                <a:extLst>
                  <a:ext uri="{FF2B5EF4-FFF2-40B4-BE49-F238E27FC236}">
                    <a16:creationId xmlns:a16="http://schemas.microsoft.com/office/drawing/2014/main" id="{4A09901E-11B9-DAF6-70C5-68644A0E9C37}"/>
                  </a:ext>
                </a:extLst>
              </p:cNvPr>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2024;p39">
                <a:extLst>
                  <a:ext uri="{FF2B5EF4-FFF2-40B4-BE49-F238E27FC236}">
                    <a16:creationId xmlns:a16="http://schemas.microsoft.com/office/drawing/2014/main" id="{B2C15021-B552-682F-18CE-386C416DF0CE}"/>
                  </a:ext>
                </a:extLst>
              </p:cNvPr>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2025;p39">
                <a:extLst>
                  <a:ext uri="{FF2B5EF4-FFF2-40B4-BE49-F238E27FC236}">
                    <a16:creationId xmlns:a16="http://schemas.microsoft.com/office/drawing/2014/main" id="{872C76E3-92E6-7009-D854-03326FABA16A}"/>
                  </a:ext>
                </a:extLst>
              </p:cNvPr>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5589586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FA176-B999-C858-EA6C-ADAC77EB9DFA}"/>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B13D9DAA-65EC-B187-032A-BA12AE1A1C0D}"/>
              </a:ext>
            </a:extLst>
          </p:cNvPr>
          <p:cNvSpPr>
            <a:spLocks noGrp="1"/>
          </p:cNvSpPr>
          <p:nvPr>
            <p:ph type="sldNum" sz="quarter" idx="12"/>
          </p:nvPr>
        </p:nvSpPr>
        <p:spPr/>
        <p:txBody>
          <a:bodyPr/>
          <a:lstStyle/>
          <a:p>
            <a:fld id="{B75BC28E-972B-EC47-BE79-29D89D46B9CA}" type="slidenum">
              <a:rPr lang="es-ES_tradnl" b="1" smtClean="0">
                <a:solidFill>
                  <a:schemeClr val="bg1"/>
                </a:solidFill>
              </a:rPr>
              <a:t>11</a:t>
            </a:fld>
            <a:endParaRPr lang="es-ES_tradnl" b="1" dirty="0">
              <a:solidFill>
                <a:schemeClr val="bg1"/>
              </a:solidFill>
            </a:endParaRPr>
          </a:p>
        </p:txBody>
      </p:sp>
      <p:sp>
        <p:nvSpPr>
          <p:cNvPr id="65" name="CuadroTexto 64">
            <a:extLst>
              <a:ext uri="{FF2B5EF4-FFF2-40B4-BE49-F238E27FC236}">
                <a16:creationId xmlns:a16="http://schemas.microsoft.com/office/drawing/2014/main" id="{7A8EAE6D-96CF-A003-4896-E26C39698536}"/>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C171FCBB-413C-A389-29FA-CAE5F635BB60}"/>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A3E747C6-92A2-F116-96AD-5E51BD254974}"/>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8" name="Título 1">
            <a:extLst>
              <a:ext uri="{FF2B5EF4-FFF2-40B4-BE49-F238E27FC236}">
                <a16:creationId xmlns:a16="http://schemas.microsoft.com/office/drawing/2014/main" id="{5CC035A8-D4B9-A1AD-E6D3-6A0E455EF627}"/>
              </a:ext>
            </a:extLst>
          </p:cNvPr>
          <p:cNvSpPr>
            <a:spLocks noGrp="1"/>
          </p:cNvSpPr>
          <p:nvPr>
            <p:ph type="title"/>
          </p:nvPr>
        </p:nvSpPr>
        <p:spPr>
          <a:xfrm>
            <a:off x="838200" y="962162"/>
            <a:ext cx="10515600" cy="659416"/>
          </a:xfrm>
        </p:spPr>
        <p:txBody>
          <a:bodyPr/>
          <a:lstStyle/>
          <a:p>
            <a:pPr algn="ctr"/>
            <a:r>
              <a:rPr lang="en" sz="3200" b="1" dirty="0">
                <a:latin typeface="Source Sans Pro" panose="020B0503030403020204" pitchFamily="34" charset="0"/>
                <a:ea typeface="Source Sans Pro" panose="020B0503030403020204" pitchFamily="34" charset="0"/>
              </a:rPr>
              <a:t>Goal: Finding a valid hyperbox</a:t>
            </a:r>
          </a:p>
        </p:txBody>
      </p:sp>
      <p:grpSp>
        <p:nvGrpSpPr>
          <p:cNvPr id="2" name="Grupo 1">
            <a:extLst>
              <a:ext uri="{FF2B5EF4-FFF2-40B4-BE49-F238E27FC236}">
                <a16:creationId xmlns:a16="http://schemas.microsoft.com/office/drawing/2014/main" id="{1E92CC7B-0DAE-C0C8-7630-6A4D3304BCE7}"/>
              </a:ext>
            </a:extLst>
          </p:cNvPr>
          <p:cNvGrpSpPr/>
          <p:nvPr/>
        </p:nvGrpSpPr>
        <p:grpSpPr>
          <a:xfrm>
            <a:off x="1255133" y="3165793"/>
            <a:ext cx="4422154" cy="3008277"/>
            <a:chOff x="838200" y="1963496"/>
            <a:chExt cx="4749800" cy="2271883"/>
          </a:xfrm>
        </p:grpSpPr>
        <p:sp>
          <p:nvSpPr>
            <p:cNvPr id="3" name="Google Shape;1857;p37">
              <a:extLst>
                <a:ext uri="{FF2B5EF4-FFF2-40B4-BE49-F238E27FC236}">
                  <a16:creationId xmlns:a16="http://schemas.microsoft.com/office/drawing/2014/main" id="{7B43459C-78C4-9FC8-E074-85895B5B518E}"/>
                </a:ext>
              </a:extLst>
            </p:cNvPr>
            <p:cNvSpPr/>
            <p:nvPr/>
          </p:nvSpPr>
          <p:spPr>
            <a:xfrm>
              <a:off x="838200" y="2232971"/>
              <a:ext cx="4749800" cy="2002408"/>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5" name="Google Shape;1859;p37">
              <a:extLst>
                <a:ext uri="{FF2B5EF4-FFF2-40B4-BE49-F238E27FC236}">
                  <a16:creationId xmlns:a16="http://schemas.microsoft.com/office/drawing/2014/main" id="{B7505F8C-86FC-EF1B-37DD-5EC1295FBE67}"/>
                </a:ext>
              </a:extLst>
            </p:cNvPr>
            <p:cNvSpPr/>
            <p:nvPr/>
          </p:nvSpPr>
          <p:spPr>
            <a:xfrm>
              <a:off x="838200" y="1963496"/>
              <a:ext cx="4749800" cy="558476"/>
            </a:xfrm>
            <a:prstGeom prst="roundRect">
              <a:avLst>
                <a:gd name="adj" fmla="val 50000"/>
              </a:avLst>
            </a:pr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6" name="Google Shape;1862;p37">
              <a:extLst>
                <a:ext uri="{FF2B5EF4-FFF2-40B4-BE49-F238E27FC236}">
                  <a16:creationId xmlns:a16="http://schemas.microsoft.com/office/drawing/2014/main" id="{EAE55658-A5E5-642E-E142-40EFE10045E0}"/>
                </a:ext>
              </a:extLst>
            </p:cNvPr>
            <p:cNvGrpSpPr/>
            <p:nvPr/>
          </p:nvGrpSpPr>
          <p:grpSpPr>
            <a:xfrm>
              <a:off x="1052316" y="2077873"/>
              <a:ext cx="4366928" cy="2073214"/>
              <a:chOff x="688875" y="1376475"/>
              <a:chExt cx="2337055" cy="2086276"/>
            </a:xfrm>
          </p:grpSpPr>
          <p:sp>
            <p:nvSpPr>
              <p:cNvPr id="7" name="Google Shape;1863;p37">
                <a:extLst>
                  <a:ext uri="{FF2B5EF4-FFF2-40B4-BE49-F238E27FC236}">
                    <a16:creationId xmlns:a16="http://schemas.microsoft.com/office/drawing/2014/main" id="{5586007E-0C2A-7714-D981-9BE28F343134}"/>
                  </a:ext>
                </a:extLst>
              </p:cNvPr>
              <p:cNvSpPr txBox="1"/>
              <p:nvPr/>
            </p:nvSpPr>
            <p:spPr>
              <a:xfrm>
                <a:off x="782632" y="1376475"/>
                <a:ext cx="2146643" cy="323037"/>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What’s</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a </a:t>
                </a: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valid</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a:t>
                </a:r>
              </a:p>
              <a:p>
                <a:pPr marL="0" lvl="0" indent="0" algn="ctr" rtl="0">
                  <a:spcBef>
                    <a:spcPts val="0"/>
                  </a:spcBef>
                  <a:spcAft>
                    <a:spcPts val="0"/>
                  </a:spcAft>
                  <a:buNone/>
                </a:pP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polarization</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curve?</a:t>
                </a:r>
                <a:endParaRPr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endParaRPr>
              </a:p>
            </p:txBody>
          </p:sp>
          <p:sp>
            <p:nvSpPr>
              <p:cNvPr id="8" name="Google Shape;1866;p37">
                <a:extLst>
                  <a:ext uri="{FF2B5EF4-FFF2-40B4-BE49-F238E27FC236}">
                    <a16:creationId xmlns:a16="http://schemas.microsoft.com/office/drawing/2014/main" id="{B3396A2C-3E5A-6F41-2618-0AA194185DC8}"/>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9" name="Google Shape;1869;p37">
                <a:extLst>
                  <a:ext uri="{FF2B5EF4-FFF2-40B4-BE49-F238E27FC236}">
                    <a16:creationId xmlns:a16="http://schemas.microsoft.com/office/drawing/2014/main" id="{71E28EC4-4D5D-0BBD-BCCA-2266157BA981}"/>
                  </a:ext>
                </a:extLst>
              </p:cNvPr>
              <p:cNvSpPr txBox="1"/>
              <p:nvPr/>
            </p:nvSpPr>
            <p:spPr>
              <a:xfrm>
                <a:off x="688875" y="1938470"/>
                <a:ext cx="2337055" cy="1492066"/>
              </a:xfrm>
              <a:prstGeom prst="rect">
                <a:avLst/>
              </a:prstGeom>
              <a:noFill/>
              <a:ln>
                <a:noFill/>
              </a:ln>
            </p:spPr>
            <p:txBody>
              <a:bodyPr spcFirstLastPara="1" wrap="square" lIns="91425" tIns="91425" rIns="91425" bIns="91425" anchor="t" anchorCtr="0">
                <a:noAutofit/>
              </a:bodyPr>
              <a:lstStyle/>
              <a:p>
                <a:pPr marL="285750" lvl="0" indent="-285750" eaLnBrk="0" fontAlgn="base" hangingPunct="0">
                  <a:spcBef>
                    <a:spcPct val="0"/>
                  </a:spcBef>
                  <a:spcAft>
                    <a:spcPct val="0"/>
                  </a:spcAft>
                  <a:buFont typeface="Wingdings" panose="05000000000000000000" pitchFamily="2" charset="2"/>
                  <a:buChar char="ü"/>
                </a:pPr>
                <a:r>
                  <a:rPr lang="es-ES_tradnl" dirty="0">
                    <a:latin typeface="+mj-lt"/>
                  </a:rPr>
                  <a:t> </a:t>
                </a:r>
                <a:r>
                  <a:rPr lang="es-CO" altLang="es-CO" dirty="0" err="1">
                    <a:latin typeface="+mj-lt"/>
                  </a:rPr>
                  <a:t>It</a:t>
                </a:r>
                <a:r>
                  <a:rPr lang="es-CO" altLang="es-CO" dirty="0">
                    <a:latin typeface="+mj-lt"/>
                  </a:rPr>
                  <a:t> </a:t>
                </a:r>
                <a:r>
                  <a:rPr lang="es-CO" altLang="es-CO" dirty="0" err="1">
                    <a:latin typeface="+mj-lt"/>
                  </a:rPr>
                  <a:t>starts</a:t>
                </a:r>
                <a:r>
                  <a:rPr lang="es-CO" altLang="es-CO" dirty="0">
                    <a:latin typeface="+mj-lt"/>
                  </a:rPr>
                  <a:t> </a:t>
                </a:r>
                <a:r>
                  <a:rPr lang="es-CO" altLang="es-CO" dirty="0" err="1">
                    <a:latin typeface="+mj-lt"/>
                  </a:rPr>
                  <a:t>within</a:t>
                </a:r>
                <a:r>
                  <a:rPr lang="es-CO" altLang="es-CO" dirty="0">
                    <a:latin typeface="+mj-lt"/>
                  </a:rPr>
                  <a:t> </a:t>
                </a:r>
                <a:r>
                  <a:rPr lang="es-CO" altLang="es-CO" dirty="0" err="1">
                    <a:latin typeface="+mj-lt"/>
                  </a:rPr>
                  <a:t>the</a:t>
                </a:r>
                <a:r>
                  <a:rPr lang="es-CO" altLang="es-CO" dirty="0">
                    <a:latin typeface="+mj-lt"/>
                  </a:rPr>
                  <a:t> </a:t>
                </a:r>
                <a:r>
                  <a:rPr lang="es-CO" altLang="es-CO" dirty="0" err="1">
                    <a:latin typeface="+mj-lt"/>
                  </a:rPr>
                  <a:t>expected</a:t>
                </a:r>
                <a:r>
                  <a:rPr lang="es-CO" altLang="es-CO" dirty="0">
                    <a:latin typeface="+mj-lt"/>
                  </a:rPr>
                  <a:t> </a:t>
                </a:r>
                <a:r>
                  <a:rPr lang="es-CO" altLang="es-CO" dirty="0" err="1">
                    <a:latin typeface="+mj-lt"/>
                  </a:rPr>
                  <a:t>voltage</a:t>
                </a:r>
                <a:r>
                  <a:rPr lang="es-CO" altLang="es-CO" dirty="0">
                    <a:latin typeface="+mj-lt"/>
                  </a:rPr>
                  <a:t> </a:t>
                </a:r>
                <a:r>
                  <a:rPr lang="es-CO" altLang="es-CO" dirty="0" err="1">
                    <a:latin typeface="+mj-lt"/>
                  </a:rPr>
                  <a:t>range</a:t>
                </a:r>
                <a:r>
                  <a:rPr lang="es-CO" altLang="es-CO" dirty="0">
                    <a:latin typeface="+mj-lt"/>
                  </a:rPr>
                  <a:t> (0.0–1.23 V)</a:t>
                </a:r>
              </a:p>
              <a:p>
                <a:pPr marL="285750" lvl="0" indent="-285750" eaLnBrk="0" fontAlgn="base" hangingPunct="0">
                  <a:spcBef>
                    <a:spcPct val="0"/>
                  </a:spcBef>
                  <a:spcAft>
                    <a:spcPct val="0"/>
                  </a:spcAft>
                  <a:buFont typeface="Wingdings" panose="05000000000000000000" pitchFamily="2" charset="2"/>
                  <a:buChar char="ü"/>
                </a:pPr>
                <a:r>
                  <a:rPr lang="en-US" dirty="0">
                    <a:solidFill>
                      <a:srgbClr val="000000"/>
                    </a:solidFill>
                    <a:latin typeface="+mj-lt"/>
                  </a:rPr>
                  <a:t>Decreases monotonically (within a 5 mV tolerance) with current density</a:t>
                </a:r>
                <a:r>
                  <a:rPr lang="es-ES_tradnl" dirty="0">
                    <a:latin typeface="+mj-lt"/>
                  </a:rPr>
                  <a:t> </a:t>
                </a:r>
              </a:p>
              <a:p>
                <a:pPr marL="285750" lvl="0" indent="-285750" eaLnBrk="0" fontAlgn="base" hangingPunct="0">
                  <a:spcBef>
                    <a:spcPct val="0"/>
                  </a:spcBef>
                  <a:spcAft>
                    <a:spcPct val="0"/>
                  </a:spcAft>
                  <a:buFont typeface="Wingdings" panose="05000000000000000000" pitchFamily="2" charset="2"/>
                  <a:buChar char="ü"/>
                </a:pPr>
                <a:r>
                  <a:rPr lang="es-CO" altLang="es-CO" dirty="0" err="1">
                    <a:latin typeface="+mj-lt"/>
                  </a:rPr>
                  <a:t>It</a:t>
                </a:r>
                <a:r>
                  <a:rPr lang="es-CO" altLang="es-CO" dirty="0">
                    <a:latin typeface="+mj-lt"/>
                  </a:rPr>
                  <a:t> </a:t>
                </a:r>
                <a:r>
                  <a:rPr lang="es-CO" altLang="es-CO" dirty="0" err="1">
                    <a:latin typeface="+mj-lt"/>
                  </a:rPr>
                  <a:t>maintains</a:t>
                </a:r>
                <a:r>
                  <a:rPr lang="es-CO" altLang="es-CO" dirty="0">
                    <a:latin typeface="+mj-lt"/>
                  </a:rPr>
                  <a:t> positive </a:t>
                </a:r>
                <a:r>
                  <a:rPr lang="es-CO" altLang="es-CO" dirty="0" err="1">
                    <a:latin typeface="+mj-lt"/>
                  </a:rPr>
                  <a:t>voltage</a:t>
                </a:r>
                <a:r>
                  <a:rPr lang="es-CO" altLang="es-CO" dirty="0">
                    <a:latin typeface="+mj-lt"/>
                  </a:rPr>
                  <a:t> at and </a:t>
                </a:r>
                <a:r>
                  <a:rPr lang="es-CO" altLang="es-CO" dirty="0" err="1">
                    <a:latin typeface="+mj-lt"/>
                  </a:rPr>
                  <a:t>mid</a:t>
                </a:r>
                <a:r>
                  <a:rPr lang="es-CO" altLang="es-CO" dirty="0">
                    <a:latin typeface="+mj-lt"/>
                  </a:rPr>
                  <a:t> </a:t>
                </a:r>
                <a:r>
                  <a:rPr lang="es-CO" altLang="es-CO" dirty="0" err="1">
                    <a:latin typeface="+mj-lt"/>
                  </a:rPr>
                  <a:t>current</a:t>
                </a:r>
                <a:r>
                  <a:rPr lang="es-CO" altLang="es-CO" dirty="0">
                    <a:latin typeface="+mj-lt"/>
                  </a:rPr>
                  <a:t> </a:t>
                </a:r>
                <a:r>
                  <a:rPr lang="es-CO" altLang="es-CO" dirty="0" err="1">
                    <a:latin typeface="+mj-lt"/>
                  </a:rPr>
                  <a:t>densities</a:t>
                </a:r>
                <a:r>
                  <a:rPr lang="es-CO" altLang="es-CO" dirty="0">
                    <a:latin typeface="+mj-lt"/>
                  </a:rPr>
                  <a:t> (</a:t>
                </a:r>
                <a:r>
                  <a:rPr lang="es-CO" altLang="es-CO" dirty="0" err="1">
                    <a:latin typeface="+mj-lt"/>
                  </a:rPr>
                  <a:t>until</a:t>
                </a:r>
                <a:r>
                  <a:rPr lang="es-CO" altLang="es-CO" dirty="0">
                    <a:latin typeface="+mj-lt"/>
                  </a:rPr>
                  <a:t> 2.0 A/cm²)</a:t>
                </a:r>
                <a:endParaRPr lang="en-US" dirty="0">
                  <a:latin typeface="+mj-lt"/>
                </a:endParaRPr>
              </a:p>
            </p:txBody>
          </p:sp>
        </p:grpSp>
      </p:grpSp>
      <p:sp>
        <p:nvSpPr>
          <p:cNvPr id="12" name="CuadroTexto 11">
            <a:extLst>
              <a:ext uri="{FF2B5EF4-FFF2-40B4-BE49-F238E27FC236}">
                <a16:creationId xmlns:a16="http://schemas.microsoft.com/office/drawing/2014/main" id="{F1C82784-0C5B-5396-FC1B-3833B38538D8}"/>
              </a:ext>
            </a:extLst>
          </p:cNvPr>
          <p:cNvSpPr txBox="1"/>
          <p:nvPr/>
        </p:nvSpPr>
        <p:spPr>
          <a:xfrm>
            <a:off x="1550516" y="1900172"/>
            <a:ext cx="9480396" cy="707886"/>
          </a:xfrm>
          <a:prstGeom prst="rect">
            <a:avLst/>
          </a:prstGeom>
          <a:noFill/>
        </p:spPr>
        <p:txBody>
          <a:bodyPr wrap="square">
            <a:spAutoFit/>
          </a:bodyPr>
          <a:lstStyle/>
          <a:p>
            <a:r>
              <a:rPr lang="en-US" sz="2000" dirty="0"/>
              <a:t>Find a region (</a:t>
            </a:r>
            <a:r>
              <a:rPr lang="en-US" sz="2000" dirty="0" err="1"/>
              <a:t>hyperbox</a:t>
            </a:r>
            <a:r>
              <a:rPr lang="en-US" sz="2000" dirty="0"/>
              <a:t>) where sampled configurations are </a:t>
            </a:r>
            <a:r>
              <a:rPr lang="en-US" sz="2000" b="1" dirty="0">
                <a:solidFill>
                  <a:srgbClr val="008B2E"/>
                </a:solidFill>
              </a:rPr>
              <a:t>consistently valid</a:t>
            </a:r>
            <a:r>
              <a:rPr lang="en-US" sz="2000" dirty="0"/>
              <a:t>. That is, the probability of finding a valid polarization curve is very high (&gt;0.9)</a:t>
            </a:r>
            <a:endParaRPr lang="en" sz="2000" dirty="0"/>
          </a:p>
        </p:txBody>
      </p:sp>
      <p:grpSp>
        <p:nvGrpSpPr>
          <p:cNvPr id="18" name="Grupo 17">
            <a:extLst>
              <a:ext uri="{FF2B5EF4-FFF2-40B4-BE49-F238E27FC236}">
                <a16:creationId xmlns:a16="http://schemas.microsoft.com/office/drawing/2014/main" id="{7FFC1BA9-6BDF-D890-1A5D-19468F78809F}"/>
              </a:ext>
            </a:extLst>
          </p:cNvPr>
          <p:cNvGrpSpPr/>
          <p:nvPr/>
        </p:nvGrpSpPr>
        <p:grpSpPr>
          <a:xfrm>
            <a:off x="6318145" y="2879593"/>
            <a:ext cx="4419376" cy="3408660"/>
            <a:chOff x="6318145" y="2879593"/>
            <a:chExt cx="4419376" cy="3408660"/>
          </a:xfrm>
        </p:grpSpPr>
        <p:pic>
          <p:nvPicPr>
            <p:cNvPr id="16" name="Imagen 15">
              <a:extLst>
                <a:ext uri="{FF2B5EF4-FFF2-40B4-BE49-F238E27FC236}">
                  <a16:creationId xmlns:a16="http://schemas.microsoft.com/office/drawing/2014/main" id="{AE53F4B2-C81F-979C-0F47-83A99A0D75E5}"/>
                </a:ext>
              </a:extLst>
            </p:cNvPr>
            <p:cNvPicPr>
              <a:picLocks noChangeAspect="1"/>
            </p:cNvPicPr>
            <p:nvPr/>
          </p:nvPicPr>
          <p:blipFill>
            <a:blip r:embed="rId3"/>
            <a:stretch>
              <a:fillRect/>
            </a:stretch>
          </p:blipFill>
          <p:spPr>
            <a:xfrm>
              <a:off x="6318145" y="2879593"/>
              <a:ext cx="4164002" cy="2586580"/>
            </a:xfrm>
            <a:prstGeom prst="rect">
              <a:avLst/>
            </a:prstGeom>
          </p:spPr>
        </p:pic>
        <p:sp>
          <p:nvSpPr>
            <p:cNvPr id="17" name="CuadroTexto 16">
              <a:extLst>
                <a:ext uri="{FF2B5EF4-FFF2-40B4-BE49-F238E27FC236}">
                  <a16:creationId xmlns:a16="http://schemas.microsoft.com/office/drawing/2014/main" id="{650D80A1-4117-EBD1-7923-4CD65007A772}"/>
                </a:ext>
              </a:extLst>
            </p:cNvPr>
            <p:cNvSpPr txBox="1"/>
            <p:nvPr/>
          </p:nvSpPr>
          <p:spPr>
            <a:xfrm>
              <a:off x="6318145" y="5503423"/>
              <a:ext cx="4419376" cy="784830"/>
            </a:xfrm>
            <a:prstGeom prst="rect">
              <a:avLst/>
            </a:prstGeom>
            <a:noFill/>
          </p:spPr>
          <p:txBody>
            <a:bodyPr wrap="square" rtlCol="0">
              <a:spAutoFit/>
            </a:bodyPr>
            <a:lstStyle/>
            <a:p>
              <a:r>
                <a:rPr lang="en" sz="1500" b="1" dirty="0"/>
                <a:t>Figure 3:  </a:t>
              </a:r>
              <a:r>
                <a:rPr lang="en-US" sz="1500" dirty="0"/>
                <a:t>Valid polarization curve: within 0–1.23 V, monotonic, and positive up to 2.0 A/cm².</a:t>
              </a:r>
              <a:br>
                <a:rPr lang="en-US" sz="1500" dirty="0"/>
              </a:br>
              <a:r>
                <a:rPr lang="en-US" sz="1500" i="1" dirty="0"/>
                <a:t>Source: </a:t>
              </a:r>
              <a:r>
                <a:rPr lang="en-US" sz="1500" i="1" dirty="0">
                  <a:hlinkClick r:id="rId4"/>
                </a:rPr>
                <a:t>ResearchGate</a:t>
              </a:r>
              <a:endParaRPr lang="en" sz="1500" b="1" dirty="0"/>
            </a:p>
          </p:txBody>
        </p:sp>
      </p:grpSp>
    </p:spTree>
    <p:extLst>
      <p:ext uri="{BB962C8B-B14F-4D97-AF65-F5344CB8AC3E}">
        <p14:creationId xmlns:p14="http://schemas.microsoft.com/office/powerpoint/2010/main" val="252099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F9424-E158-FD74-C601-E3DA07A214A3}"/>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7CC46AF-05CF-B86C-284F-213DF627D182}"/>
              </a:ext>
            </a:extLst>
          </p:cNvPr>
          <p:cNvSpPr>
            <a:spLocks noGrp="1"/>
          </p:cNvSpPr>
          <p:nvPr>
            <p:ph type="sldNum" sz="quarter" idx="12"/>
          </p:nvPr>
        </p:nvSpPr>
        <p:spPr/>
        <p:txBody>
          <a:bodyPr/>
          <a:lstStyle/>
          <a:p>
            <a:fld id="{B75BC28E-972B-EC47-BE79-29D89D46B9CA}" type="slidenum">
              <a:rPr lang="es-ES_tradnl" b="1" smtClean="0">
                <a:solidFill>
                  <a:schemeClr val="bg1"/>
                </a:solidFill>
              </a:rPr>
              <a:t>12</a:t>
            </a:fld>
            <a:endParaRPr lang="es-ES_tradnl" b="1" dirty="0">
              <a:solidFill>
                <a:schemeClr val="bg1"/>
              </a:solidFill>
            </a:endParaRPr>
          </a:p>
        </p:txBody>
      </p:sp>
      <p:sp>
        <p:nvSpPr>
          <p:cNvPr id="65" name="CuadroTexto 64">
            <a:extLst>
              <a:ext uri="{FF2B5EF4-FFF2-40B4-BE49-F238E27FC236}">
                <a16:creationId xmlns:a16="http://schemas.microsoft.com/office/drawing/2014/main" id="{0A985406-6EF7-FDFF-5ECE-0A584D387050}"/>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7D2F5897-0E14-42DB-FA74-BF6DADB4FDDD}"/>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E724A434-A0E6-017D-8E1A-C5BC163D1C31}"/>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grpSp>
        <p:nvGrpSpPr>
          <p:cNvPr id="148" name="Google Shape;2026;p39">
            <a:extLst>
              <a:ext uri="{FF2B5EF4-FFF2-40B4-BE49-F238E27FC236}">
                <a16:creationId xmlns:a16="http://schemas.microsoft.com/office/drawing/2014/main" id="{2F0DC7DB-E0A4-AD9B-1E82-FF1F2925A221}"/>
              </a:ext>
            </a:extLst>
          </p:cNvPr>
          <p:cNvGrpSpPr/>
          <p:nvPr/>
        </p:nvGrpSpPr>
        <p:grpSpPr>
          <a:xfrm>
            <a:off x="9210952" y="4361702"/>
            <a:ext cx="2124886" cy="1997035"/>
            <a:chOff x="6846366" y="3042675"/>
            <a:chExt cx="2124886" cy="1997035"/>
          </a:xfrm>
        </p:grpSpPr>
        <p:sp>
          <p:nvSpPr>
            <p:cNvPr id="149" name="Google Shape;2027;p39">
              <a:extLst>
                <a:ext uri="{FF2B5EF4-FFF2-40B4-BE49-F238E27FC236}">
                  <a16:creationId xmlns:a16="http://schemas.microsoft.com/office/drawing/2014/main" id="{6EE84C04-4DBE-D52B-5E70-121CEFF5393E}"/>
                </a:ext>
              </a:extLst>
            </p:cNvPr>
            <p:cNvSpPr/>
            <p:nvPr/>
          </p:nvSpPr>
          <p:spPr>
            <a:xfrm>
              <a:off x="7514630" y="3042675"/>
              <a:ext cx="604500" cy="604500"/>
            </a:xfrm>
            <a:prstGeom prst="ellipse">
              <a:avLst/>
            </a:prstGeom>
            <a:solidFill>
              <a:srgbClr val="B278E6"/>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04</a:t>
              </a:r>
              <a:endParaRPr kumimoji="0" sz="1800" b="1" i="0"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0" name="Google Shape;2028;p39">
              <a:extLst>
                <a:ext uri="{FF2B5EF4-FFF2-40B4-BE49-F238E27FC236}">
                  <a16:creationId xmlns:a16="http://schemas.microsoft.com/office/drawing/2014/main" id="{6C6B4040-3498-5474-5511-931BA6B0CE1D}"/>
                </a:ext>
              </a:extLst>
            </p:cNvPr>
            <p:cNvSpPr txBox="1"/>
            <p:nvPr/>
          </p:nvSpPr>
          <p:spPr>
            <a:xfrm>
              <a:off x="6846374" y="379140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Valid hyperbox</a:t>
              </a:r>
              <a:endParaRPr kumimoji="0" sz="1800" b="1" i="0"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1" name="Google Shape;2029;p39">
              <a:extLst>
                <a:ext uri="{FF2B5EF4-FFF2-40B4-BE49-F238E27FC236}">
                  <a16:creationId xmlns:a16="http://schemas.microsoft.com/office/drawing/2014/main" id="{EA302AF1-FD7F-DC3A-0692-B901F2C3E234}"/>
                </a:ext>
              </a:extLst>
            </p:cNvPr>
            <p:cNvSpPr txBox="1"/>
            <p:nvPr/>
          </p:nvSpPr>
          <p:spPr>
            <a:xfrm>
              <a:off x="6846366" y="4120382"/>
              <a:ext cx="2124886" cy="919328"/>
            </a:xfrm>
            <a:prstGeom prst="rect">
              <a:avLst/>
            </a:prstGeom>
            <a:noFill/>
            <a:ln>
              <a:noFill/>
            </a:ln>
          </p:spPr>
          <p:txBody>
            <a:bodyPr spcFirstLastPara="1" wrap="square" lIns="91425" tIns="91425" rIns="91425" bIns="91425" anchor="ctr" anchorCtr="0">
              <a:noAutofit/>
            </a:bodyPr>
            <a:lstStyle/>
            <a:p>
              <a:pPr lvl="0" algn="ctr">
                <a:buClr>
                  <a:srgbClr val="000000"/>
                </a:buClr>
              </a:pPr>
              <a:r>
                <a:rPr lang="en-US" sz="1400" dirty="0"/>
                <a:t>A box-constrained region where </a:t>
              </a:r>
              <a:r>
                <a:rPr lang="en-US" sz="1400" dirty="0" err="1"/>
                <a:t>AlphaPEM</a:t>
              </a:r>
              <a:r>
                <a:rPr lang="en-US" sz="1400" dirty="0"/>
                <a:t> simulations are likely valid</a:t>
              </a:r>
              <a:endParaRPr kumimoji="0" sz="1400" i="0" strike="noStrike" kern="0" cap="none" spc="0" normalizeH="0" baseline="0" noProof="0" dirty="0">
                <a:ln>
                  <a:noFill/>
                </a:ln>
                <a:solidFill>
                  <a:srgbClr val="000000"/>
                </a:solidFill>
                <a:effectLst/>
                <a:uLnTx/>
                <a:uFillTx/>
                <a:ea typeface="Roboto"/>
                <a:cs typeface="Roboto"/>
                <a:sym typeface="Roboto"/>
              </a:endParaRPr>
            </a:p>
          </p:txBody>
        </p:sp>
      </p:grpSp>
      <p:grpSp>
        <p:nvGrpSpPr>
          <p:cNvPr id="152" name="Google Shape;2030;p39">
            <a:extLst>
              <a:ext uri="{FF2B5EF4-FFF2-40B4-BE49-F238E27FC236}">
                <a16:creationId xmlns:a16="http://schemas.microsoft.com/office/drawing/2014/main" id="{1662F6B9-642F-0373-90D4-EC47CE1E8E1D}"/>
              </a:ext>
            </a:extLst>
          </p:cNvPr>
          <p:cNvGrpSpPr/>
          <p:nvPr/>
        </p:nvGrpSpPr>
        <p:grpSpPr>
          <a:xfrm>
            <a:off x="3696050" y="4361702"/>
            <a:ext cx="2434266" cy="2372275"/>
            <a:chOff x="2429227" y="2990360"/>
            <a:chExt cx="2434266" cy="2372275"/>
          </a:xfrm>
        </p:grpSpPr>
        <p:sp>
          <p:nvSpPr>
            <p:cNvPr id="153" name="Google Shape;2031;p39">
              <a:extLst>
                <a:ext uri="{FF2B5EF4-FFF2-40B4-BE49-F238E27FC236}">
                  <a16:creationId xmlns:a16="http://schemas.microsoft.com/office/drawing/2014/main" id="{5836AC66-09CE-2E4F-17FA-AAD90BDB68A6}"/>
                </a:ext>
              </a:extLst>
            </p:cNvPr>
            <p:cNvSpPr/>
            <p:nvPr/>
          </p:nvSpPr>
          <p:spPr>
            <a:xfrm>
              <a:off x="3204055" y="2990360"/>
              <a:ext cx="604500" cy="604500"/>
            </a:xfrm>
            <a:prstGeom prst="ellipse">
              <a:avLst/>
            </a:prstGeom>
            <a:solidFill>
              <a:srgbClr val="008B2E"/>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rPr>
                <a:t>02</a:t>
              </a:r>
              <a:endParaRPr kumimoji="0"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4" name="Google Shape;2032;p39">
              <a:extLst>
                <a:ext uri="{FF2B5EF4-FFF2-40B4-BE49-F238E27FC236}">
                  <a16:creationId xmlns:a16="http://schemas.microsoft.com/office/drawing/2014/main" id="{3219642F-F112-F841-5349-0EDD99321F47}"/>
                </a:ext>
              </a:extLst>
            </p:cNvPr>
            <p:cNvSpPr txBox="1"/>
            <p:nvPr/>
          </p:nvSpPr>
          <p:spPr>
            <a:xfrm>
              <a:off x="2512375" y="3799048"/>
              <a:ext cx="2119657"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Training a classifier</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5" name="Google Shape;2033;p39">
              <a:extLst>
                <a:ext uri="{FF2B5EF4-FFF2-40B4-BE49-F238E27FC236}">
                  <a16:creationId xmlns:a16="http://schemas.microsoft.com/office/drawing/2014/main" id="{09EB7797-3399-AF3D-3509-A4C6639030EE}"/>
                </a:ext>
              </a:extLst>
            </p:cNvPr>
            <p:cNvSpPr txBox="1"/>
            <p:nvPr/>
          </p:nvSpPr>
          <p:spPr>
            <a:xfrm>
              <a:off x="2429227" y="4378431"/>
              <a:ext cx="2434266" cy="984204"/>
            </a:xfrm>
            <a:prstGeom prst="rect">
              <a:avLst/>
            </a:prstGeom>
            <a:noFill/>
            <a:ln>
              <a:noFill/>
            </a:ln>
          </p:spPr>
          <p:txBody>
            <a:bodyPr spcFirstLastPara="1" wrap="square" lIns="91425" tIns="91425" rIns="91425" bIns="91425" anchor="ctr" anchorCtr="0">
              <a:noAutofit/>
            </a:bodyPr>
            <a:lstStyle/>
            <a:p>
              <a:pPr lvl="0">
                <a:buClr>
                  <a:srgbClr val="000000"/>
                </a:buClr>
              </a:pPr>
              <a:r>
                <a:rPr lang="en-US" sz="1400" b="1" dirty="0"/>
                <a:t>Model: </a:t>
              </a:r>
              <a:r>
                <a:rPr lang="en-US" sz="1400" dirty="0"/>
                <a:t>Random Forest</a:t>
              </a:r>
            </a:p>
            <a:p>
              <a:pPr lvl="0">
                <a:buClr>
                  <a:srgbClr val="000000"/>
                </a:buClr>
              </a:pPr>
              <a:r>
                <a:rPr lang="en-US" sz="1400" dirty="0"/>
                <a:t>→ Predicts the </a:t>
              </a:r>
              <a:r>
                <a:rPr lang="en-US" sz="1400" b="1" dirty="0">
                  <a:solidFill>
                    <a:srgbClr val="B278E6"/>
                  </a:solidFill>
                </a:rPr>
                <a:t>prob. </a:t>
              </a:r>
              <a:r>
                <a:rPr lang="en-US" sz="1400" dirty="0"/>
                <a:t>a config will yield a </a:t>
              </a:r>
              <a:r>
                <a:rPr lang="en-US" sz="1400" b="1" dirty="0">
                  <a:solidFill>
                    <a:srgbClr val="B278E6"/>
                  </a:solidFill>
                </a:rPr>
                <a:t>valid output</a:t>
              </a:r>
            </a:p>
            <a:p>
              <a:pPr lvl="0">
                <a:buClr>
                  <a:srgbClr val="000000"/>
                </a:buClr>
              </a:pPr>
              <a:r>
                <a:rPr lang="en-US" sz="1400" dirty="0"/>
                <a:t>→ Metrics (test set): Precision = 0.91, F1-score = 0.94</a:t>
              </a:r>
            </a:p>
            <a:p>
              <a:pPr lvl="0" algn="ctr">
                <a:buClr>
                  <a:srgbClr val="000000"/>
                </a:buClr>
              </a:pPr>
              <a:endParaRPr lang="en-US" sz="1400" dirty="0"/>
            </a:p>
            <a:p>
              <a:pPr lvl="0" algn="ctr">
                <a:buClr>
                  <a:srgbClr val="000000"/>
                </a:buClr>
              </a:pPr>
              <a:endParaRPr kumimoji="0" sz="1400" b="0" i="0" u="none" strike="noStrike" kern="0" cap="none" spc="0" normalizeH="0" baseline="0" noProof="0" dirty="0">
                <a:ln>
                  <a:noFill/>
                </a:ln>
                <a:solidFill>
                  <a:srgbClr val="000000"/>
                </a:solidFill>
                <a:effectLst/>
                <a:uLnTx/>
                <a:uFillTx/>
                <a:ea typeface="Roboto"/>
                <a:cs typeface="Roboto"/>
                <a:sym typeface="Roboto"/>
              </a:endParaRPr>
            </a:p>
          </p:txBody>
        </p:sp>
      </p:grpSp>
      <p:grpSp>
        <p:nvGrpSpPr>
          <p:cNvPr id="156" name="Google Shape;2034;p39">
            <a:extLst>
              <a:ext uri="{FF2B5EF4-FFF2-40B4-BE49-F238E27FC236}">
                <a16:creationId xmlns:a16="http://schemas.microsoft.com/office/drawing/2014/main" id="{AA3EE53D-36A0-50F9-EDB8-EF8575AC3C36}"/>
              </a:ext>
            </a:extLst>
          </p:cNvPr>
          <p:cNvGrpSpPr/>
          <p:nvPr/>
        </p:nvGrpSpPr>
        <p:grpSpPr>
          <a:xfrm>
            <a:off x="875077" y="4361702"/>
            <a:ext cx="2564204" cy="2007501"/>
            <a:chOff x="349574" y="3148560"/>
            <a:chExt cx="2564204" cy="2007501"/>
          </a:xfrm>
        </p:grpSpPr>
        <p:sp>
          <p:nvSpPr>
            <p:cNvPr id="157" name="Google Shape;2035;p39">
              <a:extLst>
                <a:ext uri="{FF2B5EF4-FFF2-40B4-BE49-F238E27FC236}">
                  <a16:creationId xmlns:a16="http://schemas.microsoft.com/office/drawing/2014/main" id="{043B30FD-6218-4F6B-794F-B351F4835B33}"/>
                </a:ext>
              </a:extLst>
            </p:cNvPr>
            <p:cNvSpPr/>
            <p:nvPr/>
          </p:nvSpPr>
          <p:spPr>
            <a:xfrm>
              <a:off x="1125453" y="3148560"/>
              <a:ext cx="604500" cy="604500"/>
            </a:xfrm>
            <a:prstGeom prst="ellipse">
              <a:avLst/>
            </a:prstGeom>
            <a:solidFill>
              <a:srgbClr val="6350F2"/>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01</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8" name="Google Shape;2036;p39">
              <a:extLst>
                <a:ext uri="{FF2B5EF4-FFF2-40B4-BE49-F238E27FC236}">
                  <a16:creationId xmlns:a16="http://schemas.microsoft.com/office/drawing/2014/main" id="{B3B5D1C8-F990-8FD4-EC05-DC22FBCAC351}"/>
                </a:ext>
              </a:extLst>
            </p:cNvPr>
            <p:cNvSpPr txBox="1"/>
            <p:nvPr/>
          </p:nvSpPr>
          <p:spPr>
            <a:xfrm>
              <a:off x="457200" y="393175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18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Labeled</a:t>
              </a:r>
              <a:r>
                <a:rPr kumimoji="0" lang="es-MX"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a:t>
              </a:r>
              <a:r>
                <a:rPr kumimoji="0" lang="es-MX" sz="18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configs</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9" name="Google Shape;2037;p39">
              <a:extLst>
                <a:ext uri="{FF2B5EF4-FFF2-40B4-BE49-F238E27FC236}">
                  <a16:creationId xmlns:a16="http://schemas.microsoft.com/office/drawing/2014/main" id="{CAE82938-E0F7-2FD0-5E51-0DC12EDD9F7B}"/>
                </a:ext>
              </a:extLst>
            </p:cNvPr>
            <p:cNvSpPr txBox="1"/>
            <p:nvPr/>
          </p:nvSpPr>
          <p:spPr>
            <a:xfrm>
              <a:off x="349574" y="4265562"/>
              <a:ext cx="2564204" cy="890499"/>
            </a:xfrm>
            <a:prstGeom prst="rect">
              <a:avLst/>
            </a:prstGeom>
            <a:noFill/>
            <a:ln>
              <a:noFill/>
            </a:ln>
          </p:spPr>
          <p:txBody>
            <a:bodyPr spcFirstLastPara="1" wrap="square" lIns="91425" tIns="91425" rIns="91425" bIns="91425" anchor="ctr" anchorCtr="0">
              <a:noAutofit/>
            </a:bodyPr>
            <a:lstStyle/>
            <a:p>
              <a:pPr lvl="0">
                <a:buClr>
                  <a:srgbClr val="000000"/>
                </a:buClr>
                <a:defRPr/>
              </a:pPr>
              <a:r>
                <a:rPr lang="en-US" sz="1400" b="1" dirty="0"/>
                <a:t>Input: </a:t>
              </a:r>
              <a:r>
                <a:rPr lang="en-US" sz="1400" dirty="0"/>
                <a:t>2000+ configs labeled as </a:t>
              </a:r>
              <a:r>
                <a:rPr lang="en-US" sz="1400" b="1" dirty="0">
                  <a:solidFill>
                    <a:srgbClr val="008B2E"/>
                  </a:solidFill>
                </a:rPr>
                <a:t>valid</a:t>
              </a:r>
              <a:r>
                <a:rPr lang="en-US" sz="1400" dirty="0"/>
                <a:t> or </a:t>
              </a:r>
              <a:r>
                <a:rPr lang="en-US" sz="1400" b="1" dirty="0">
                  <a:solidFill>
                    <a:srgbClr val="8879F5"/>
                  </a:solidFill>
                </a:rPr>
                <a:t>invalid</a:t>
              </a:r>
              <a:r>
                <a:rPr lang="en-US" sz="1400" dirty="0"/>
                <a:t> based on resulting PCs </a:t>
              </a:r>
            </a:p>
            <a:p>
              <a:pPr marL="285750" lvl="0" indent="-285750">
                <a:buClr>
                  <a:srgbClr val="000000"/>
                </a:buClr>
                <a:buFont typeface="Aptos" panose="020B0004020202020204" pitchFamily="34" charset="0"/>
                <a:buChar char="→"/>
                <a:defRPr/>
              </a:pPr>
              <a:r>
                <a:rPr lang="en-US" sz="1400" b="1" dirty="0"/>
                <a:t>Roughly balanced </a:t>
              </a:r>
              <a:r>
                <a:rPr lang="en-US" sz="1400" dirty="0"/>
                <a:t>dataset</a:t>
              </a:r>
              <a:endParaRPr kumimoji="0" lang="en-US" sz="1400" b="0" i="0" u="none" strike="noStrike" kern="0" cap="none" spc="0" normalizeH="0" baseline="0" noProof="0" dirty="0">
                <a:ln>
                  <a:noFill/>
                </a:ln>
                <a:solidFill>
                  <a:srgbClr val="000000"/>
                </a:solidFill>
                <a:effectLst/>
                <a:uLnTx/>
                <a:uFillTx/>
                <a:ea typeface="Roboto"/>
                <a:cs typeface="Roboto"/>
                <a:sym typeface="Roboto"/>
              </a:endParaRPr>
            </a:p>
          </p:txBody>
        </p:sp>
      </p:grpSp>
      <p:grpSp>
        <p:nvGrpSpPr>
          <p:cNvPr id="160" name="Google Shape;2038;p39">
            <a:extLst>
              <a:ext uri="{FF2B5EF4-FFF2-40B4-BE49-F238E27FC236}">
                <a16:creationId xmlns:a16="http://schemas.microsoft.com/office/drawing/2014/main" id="{E80683CB-C281-A520-ED1A-FD217DD8BA28}"/>
              </a:ext>
            </a:extLst>
          </p:cNvPr>
          <p:cNvGrpSpPr/>
          <p:nvPr/>
        </p:nvGrpSpPr>
        <p:grpSpPr>
          <a:xfrm>
            <a:off x="6238771" y="4461607"/>
            <a:ext cx="2564203" cy="2197974"/>
            <a:chOff x="5032336" y="3123648"/>
            <a:chExt cx="2045581" cy="2197974"/>
          </a:xfrm>
        </p:grpSpPr>
        <p:sp>
          <p:nvSpPr>
            <p:cNvPr id="161" name="Google Shape;2039;p39">
              <a:extLst>
                <a:ext uri="{FF2B5EF4-FFF2-40B4-BE49-F238E27FC236}">
                  <a16:creationId xmlns:a16="http://schemas.microsoft.com/office/drawing/2014/main" id="{1E0E1584-8A3A-E943-2D0E-512EEA748206}"/>
                </a:ext>
              </a:extLst>
            </p:cNvPr>
            <p:cNvSpPr/>
            <p:nvPr/>
          </p:nvSpPr>
          <p:spPr>
            <a:xfrm>
              <a:off x="5850500" y="3123648"/>
              <a:ext cx="482237" cy="604500"/>
            </a:xfrm>
            <a:prstGeom prst="ellipse">
              <a:avLst/>
            </a:prstGeom>
            <a:solidFill>
              <a:srgbClr val="FFB903"/>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03</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62" name="Google Shape;2040;p39">
              <a:extLst>
                <a:ext uri="{FF2B5EF4-FFF2-40B4-BE49-F238E27FC236}">
                  <a16:creationId xmlns:a16="http://schemas.microsoft.com/office/drawing/2014/main" id="{837F82A6-E696-4B27-FCAF-706FD10A536F}"/>
                </a:ext>
              </a:extLst>
            </p:cNvPr>
            <p:cNvSpPr txBox="1"/>
            <p:nvPr/>
          </p:nvSpPr>
          <p:spPr>
            <a:xfrm>
              <a:off x="5111775" y="379140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Find valid region</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63" name="Google Shape;2041;p39">
              <a:extLst>
                <a:ext uri="{FF2B5EF4-FFF2-40B4-BE49-F238E27FC236}">
                  <a16:creationId xmlns:a16="http://schemas.microsoft.com/office/drawing/2014/main" id="{62C5AF06-BB3B-B142-62A7-9F6BF83E3F14}"/>
                </a:ext>
              </a:extLst>
            </p:cNvPr>
            <p:cNvSpPr txBox="1"/>
            <p:nvPr/>
          </p:nvSpPr>
          <p:spPr>
            <a:xfrm>
              <a:off x="5032336" y="4108774"/>
              <a:ext cx="2045581" cy="1212848"/>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1400" b="0" i="0" u="none" strike="noStrike" kern="0" cap="none" spc="0" normalizeH="0" baseline="0" noProof="0" dirty="0" err="1">
                  <a:ln>
                    <a:noFill/>
                  </a:ln>
                  <a:solidFill>
                    <a:srgbClr val="000000"/>
                  </a:solidFill>
                  <a:effectLst/>
                  <a:uLnTx/>
                  <a:uFillTx/>
                  <a:ea typeface="Roboto"/>
                  <a:cs typeface="Roboto"/>
                  <a:sym typeface="Roboto"/>
                </a:rPr>
                <a:t>Method</a:t>
              </a:r>
              <a:r>
                <a:rPr kumimoji="0" lang="es-MX" sz="1400" b="0" i="0" u="none" strike="noStrike" kern="0" cap="none" spc="0" normalizeH="0" baseline="0" noProof="0" dirty="0">
                  <a:ln>
                    <a:noFill/>
                  </a:ln>
                  <a:solidFill>
                    <a:srgbClr val="000000"/>
                  </a:solidFill>
                  <a:effectLst/>
                  <a:uLnTx/>
                  <a:uFillTx/>
                  <a:ea typeface="Roboto"/>
                  <a:cs typeface="Roboto"/>
                  <a:sym typeface="Roboto"/>
                </a:rPr>
                <a:t>: PRIM </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s-MX" sz="1400" kern="0" dirty="0">
                  <a:solidFill>
                    <a:srgbClr val="000000"/>
                  </a:solidFill>
                  <a:ea typeface="Roboto"/>
                  <a:cs typeface="Roboto"/>
                  <a:sym typeface="Roboto"/>
                </a:rPr>
                <a:t>(peeling &amp; </a:t>
              </a:r>
              <a:r>
                <a:rPr lang="es-MX" sz="1400" kern="0" dirty="0" err="1">
                  <a:solidFill>
                    <a:srgbClr val="000000"/>
                  </a:solidFill>
                  <a:ea typeface="Roboto"/>
                  <a:cs typeface="Roboto"/>
                  <a:sym typeface="Roboto"/>
                </a:rPr>
                <a:t>pasting</a:t>
              </a:r>
              <a:r>
                <a:rPr lang="es-MX" sz="1400" kern="0" dirty="0">
                  <a:solidFill>
                    <a:srgbClr val="000000"/>
                  </a:solidFill>
                  <a:ea typeface="Roboto"/>
                  <a:cs typeface="Roboto"/>
                  <a:sym typeface="Roboto"/>
                </a:rPr>
                <a:t>)</a:t>
              </a:r>
            </a:p>
            <a:p>
              <a:pPr lvl="0" algn="ctr">
                <a:buClr>
                  <a:srgbClr val="000000"/>
                </a:buClr>
              </a:pPr>
              <a:r>
                <a:rPr lang="en-US" sz="1400" dirty="0"/>
                <a:t>Goal: find </a:t>
              </a:r>
              <a:r>
                <a:rPr lang="en-US" sz="1400" b="1" dirty="0">
                  <a:solidFill>
                    <a:srgbClr val="008B2E"/>
                  </a:solidFill>
                </a:rPr>
                <a:t>largest </a:t>
              </a:r>
              <a:r>
                <a:rPr lang="en-US" sz="1400" b="1" dirty="0" err="1">
                  <a:solidFill>
                    <a:srgbClr val="008B2E"/>
                  </a:solidFill>
                </a:rPr>
                <a:t>hyperbox</a:t>
              </a:r>
              <a:r>
                <a:rPr lang="en-US" sz="1400" b="1" dirty="0">
                  <a:solidFill>
                    <a:srgbClr val="008B2E"/>
                  </a:solidFill>
                </a:rPr>
                <a:t> </a:t>
              </a:r>
              <a:r>
                <a:rPr lang="en-US" sz="1400" dirty="0"/>
                <a:t>around a reference valid config with </a:t>
              </a:r>
              <a:r>
                <a:rPr lang="en-US" sz="1400" b="1" dirty="0">
                  <a:solidFill>
                    <a:srgbClr val="008B2E"/>
                  </a:solidFill>
                </a:rPr>
                <a:t>≥90% validity rate</a:t>
              </a:r>
              <a:endParaRPr kumimoji="0" sz="1400" b="1" i="0" u="none" strike="noStrike" kern="0" cap="none" spc="0" normalizeH="0" baseline="0" noProof="0" dirty="0">
                <a:ln>
                  <a:noFill/>
                </a:ln>
                <a:solidFill>
                  <a:srgbClr val="008B2E"/>
                </a:solidFill>
                <a:effectLst/>
                <a:uLnTx/>
                <a:uFillTx/>
                <a:ea typeface="Roboto"/>
                <a:cs typeface="Roboto"/>
                <a:sym typeface="Roboto"/>
              </a:endParaRPr>
            </a:p>
          </p:txBody>
        </p:sp>
      </p:grpSp>
      <p:cxnSp>
        <p:nvCxnSpPr>
          <p:cNvPr id="164" name="Google Shape;2042;p39">
            <a:extLst>
              <a:ext uri="{FF2B5EF4-FFF2-40B4-BE49-F238E27FC236}">
                <a16:creationId xmlns:a16="http://schemas.microsoft.com/office/drawing/2014/main" id="{A50C19B3-21CC-C4F1-F483-D1A1A8DA0783}"/>
              </a:ext>
            </a:extLst>
          </p:cNvPr>
          <p:cNvCxnSpPr>
            <a:cxnSpLocks/>
          </p:cNvCxnSpPr>
          <p:nvPr/>
        </p:nvCxnSpPr>
        <p:spPr>
          <a:xfrm>
            <a:off x="2501353" y="3926973"/>
            <a:ext cx="716730" cy="0"/>
          </a:xfrm>
          <a:prstGeom prst="straightConnector1">
            <a:avLst/>
          </a:prstGeom>
          <a:noFill/>
          <a:ln w="9525" cap="flat" cmpd="sng">
            <a:solidFill>
              <a:srgbClr val="666666"/>
            </a:solidFill>
            <a:prstDash val="solid"/>
            <a:round/>
            <a:headEnd type="none" w="med" len="med"/>
            <a:tailEnd type="triangle" w="med" len="med"/>
          </a:ln>
        </p:spPr>
      </p:cxnSp>
      <p:grpSp>
        <p:nvGrpSpPr>
          <p:cNvPr id="178" name="Google Shape;2010;p39">
            <a:extLst>
              <a:ext uri="{FF2B5EF4-FFF2-40B4-BE49-F238E27FC236}">
                <a16:creationId xmlns:a16="http://schemas.microsoft.com/office/drawing/2014/main" id="{867DAD54-4F89-ED7D-7D1C-652C40C40C6C}"/>
              </a:ext>
            </a:extLst>
          </p:cNvPr>
          <p:cNvGrpSpPr/>
          <p:nvPr/>
        </p:nvGrpSpPr>
        <p:grpSpPr>
          <a:xfrm>
            <a:off x="1527554" y="3390188"/>
            <a:ext cx="973799" cy="904561"/>
            <a:chOff x="3146974" y="2105013"/>
            <a:chExt cx="771000" cy="771000"/>
          </a:xfrm>
        </p:grpSpPr>
        <p:sp>
          <p:nvSpPr>
            <p:cNvPr id="179" name="Google Shape;2011;p39">
              <a:extLst>
                <a:ext uri="{FF2B5EF4-FFF2-40B4-BE49-F238E27FC236}">
                  <a16:creationId xmlns:a16="http://schemas.microsoft.com/office/drawing/2014/main" id="{B7841C48-2C31-4425-22C7-1DE16F27B3DB}"/>
                </a:ext>
              </a:extLst>
            </p:cNvPr>
            <p:cNvSpPr/>
            <p:nvPr/>
          </p:nvSpPr>
          <p:spPr>
            <a:xfrm>
              <a:off x="3146974" y="2105013"/>
              <a:ext cx="771000" cy="771000"/>
            </a:xfrm>
            <a:prstGeom prst="ellipse">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endParaRPr>
            </a:p>
          </p:txBody>
        </p:sp>
        <p:grpSp>
          <p:nvGrpSpPr>
            <p:cNvPr id="180" name="Google Shape;2012;p39">
              <a:extLst>
                <a:ext uri="{FF2B5EF4-FFF2-40B4-BE49-F238E27FC236}">
                  <a16:creationId xmlns:a16="http://schemas.microsoft.com/office/drawing/2014/main" id="{126DDC39-5DFA-6839-B31C-A614D39D645E}"/>
                </a:ext>
              </a:extLst>
            </p:cNvPr>
            <p:cNvGrpSpPr/>
            <p:nvPr/>
          </p:nvGrpSpPr>
          <p:grpSpPr>
            <a:xfrm>
              <a:off x="3355185" y="2313339"/>
              <a:ext cx="354586" cy="354343"/>
              <a:chOff x="-34004625" y="3585850"/>
              <a:chExt cx="292225" cy="292025"/>
            </a:xfrm>
          </p:grpSpPr>
          <p:sp>
            <p:nvSpPr>
              <p:cNvPr id="181" name="Google Shape;2013;p39">
                <a:extLst>
                  <a:ext uri="{FF2B5EF4-FFF2-40B4-BE49-F238E27FC236}">
                    <a16:creationId xmlns:a16="http://schemas.microsoft.com/office/drawing/2014/main" id="{682CDA21-9861-36FD-5A12-790257AF621E}"/>
                  </a:ext>
                </a:extLst>
              </p:cNvPr>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2" name="Google Shape;2014;p39">
                <a:extLst>
                  <a:ext uri="{FF2B5EF4-FFF2-40B4-BE49-F238E27FC236}">
                    <a16:creationId xmlns:a16="http://schemas.microsoft.com/office/drawing/2014/main" id="{ADBCC336-5405-2A7E-0774-8854E332AA54}"/>
                  </a:ext>
                </a:extLst>
              </p:cNvPr>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3" name="Google Shape;2015;p39">
                <a:extLst>
                  <a:ext uri="{FF2B5EF4-FFF2-40B4-BE49-F238E27FC236}">
                    <a16:creationId xmlns:a16="http://schemas.microsoft.com/office/drawing/2014/main" id="{C5584021-8B76-C27A-FDBB-6A82DF794CA0}"/>
                  </a:ext>
                </a:extLst>
              </p:cNvPr>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4" name="Google Shape;2016;p39">
                <a:extLst>
                  <a:ext uri="{FF2B5EF4-FFF2-40B4-BE49-F238E27FC236}">
                    <a16:creationId xmlns:a16="http://schemas.microsoft.com/office/drawing/2014/main" id="{34D12DE8-EF7D-88FD-27DB-1D3E620349CD}"/>
                  </a:ext>
                </a:extLst>
              </p:cNvPr>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5" name="Google Shape;2017;p39">
                <a:extLst>
                  <a:ext uri="{FF2B5EF4-FFF2-40B4-BE49-F238E27FC236}">
                    <a16:creationId xmlns:a16="http://schemas.microsoft.com/office/drawing/2014/main" id="{15875421-A1A0-95C3-6B7F-3FAFB7A0E465}"/>
                  </a:ext>
                </a:extLst>
              </p:cNvPr>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cxnSp>
        <p:nvCxnSpPr>
          <p:cNvPr id="187" name="Google Shape;2044;p39">
            <a:extLst>
              <a:ext uri="{FF2B5EF4-FFF2-40B4-BE49-F238E27FC236}">
                <a16:creationId xmlns:a16="http://schemas.microsoft.com/office/drawing/2014/main" id="{4DAFB54D-21D2-F268-4CB0-5E8521EE68F4}"/>
              </a:ext>
            </a:extLst>
          </p:cNvPr>
          <p:cNvCxnSpPr>
            <a:cxnSpLocks/>
            <a:endCxn id="190" idx="1"/>
          </p:cNvCxnSpPr>
          <p:nvPr/>
        </p:nvCxnSpPr>
        <p:spPr>
          <a:xfrm flipV="1">
            <a:off x="4287845" y="3673884"/>
            <a:ext cx="612004" cy="244377"/>
          </a:xfrm>
          <a:prstGeom prst="straightConnector1">
            <a:avLst/>
          </a:prstGeom>
          <a:noFill/>
          <a:ln w="9525" cap="flat" cmpd="sng">
            <a:solidFill>
              <a:schemeClr val="dk2"/>
            </a:solidFill>
            <a:prstDash val="solid"/>
            <a:round/>
            <a:headEnd type="none" w="med" len="med"/>
            <a:tailEnd type="triangle" w="med" len="med"/>
          </a:ln>
        </p:spPr>
      </p:cxnSp>
      <p:cxnSp>
        <p:nvCxnSpPr>
          <p:cNvPr id="188" name="Google Shape;2046;p39">
            <a:extLst>
              <a:ext uri="{FF2B5EF4-FFF2-40B4-BE49-F238E27FC236}">
                <a16:creationId xmlns:a16="http://schemas.microsoft.com/office/drawing/2014/main" id="{012C0D13-A249-BFE5-C677-5BD995E479B0}"/>
              </a:ext>
            </a:extLst>
          </p:cNvPr>
          <p:cNvCxnSpPr>
            <a:cxnSpLocks/>
            <a:endCxn id="195" idx="1"/>
          </p:cNvCxnSpPr>
          <p:nvPr/>
        </p:nvCxnSpPr>
        <p:spPr>
          <a:xfrm>
            <a:off x="4287845" y="4005684"/>
            <a:ext cx="612004" cy="203208"/>
          </a:xfrm>
          <a:prstGeom prst="straightConnector1">
            <a:avLst/>
          </a:prstGeom>
          <a:noFill/>
          <a:ln w="9525" cap="flat" cmpd="sng">
            <a:solidFill>
              <a:schemeClr val="dk2"/>
            </a:solidFill>
            <a:prstDash val="solid"/>
            <a:round/>
            <a:headEnd type="none" w="med" len="med"/>
            <a:tailEnd type="triangle" w="med" len="med"/>
          </a:ln>
        </p:spPr>
      </p:cxnSp>
      <p:grpSp>
        <p:nvGrpSpPr>
          <p:cNvPr id="189" name="Google Shape;2048;p39">
            <a:extLst>
              <a:ext uri="{FF2B5EF4-FFF2-40B4-BE49-F238E27FC236}">
                <a16:creationId xmlns:a16="http://schemas.microsoft.com/office/drawing/2014/main" id="{58FEA6FC-F6CD-6CA0-C0F5-4862E6DA29AD}"/>
              </a:ext>
            </a:extLst>
          </p:cNvPr>
          <p:cNvGrpSpPr/>
          <p:nvPr/>
        </p:nvGrpSpPr>
        <p:grpSpPr>
          <a:xfrm>
            <a:off x="4899849" y="3483461"/>
            <a:ext cx="999006" cy="356323"/>
            <a:chOff x="7229475" y="2020202"/>
            <a:chExt cx="999006" cy="356323"/>
          </a:xfrm>
        </p:grpSpPr>
        <p:sp>
          <p:nvSpPr>
            <p:cNvPr id="190" name="Google Shape;2045;p39">
              <a:extLst>
                <a:ext uri="{FF2B5EF4-FFF2-40B4-BE49-F238E27FC236}">
                  <a16:creationId xmlns:a16="http://schemas.microsoft.com/office/drawing/2014/main" id="{2AC74B63-B412-A85D-5181-955758D7054C}"/>
                </a:ext>
              </a:extLst>
            </p:cNvPr>
            <p:cNvSpPr txBox="1"/>
            <p:nvPr/>
          </p:nvSpPr>
          <p:spPr>
            <a:xfrm>
              <a:off x="7229475" y="2044725"/>
              <a:ext cx="973800"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s-MX" sz="1600" dirty="0" err="1">
                  <a:solidFill>
                    <a:srgbClr val="000000"/>
                  </a:solidFill>
                  <a:ea typeface="Roboto"/>
                  <a:cs typeface="Roboto"/>
                  <a:sym typeface="Roboto"/>
                </a:rPr>
                <a:t>Valid</a:t>
              </a:r>
              <a:endParaRPr dirty="0">
                <a:solidFill>
                  <a:srgbClr val="000000"/>
                </a:solidFill>
                <a:ea typeface="Roboto"/>
                <a:cs typeface="Roboto"/>
                <a:sym typeface="Roboto"/>
              </a:endParaRPr>
            </a:p>
          </p:txBody>
        </p:sp>
        <p:grpSp>
          <p:nvGrpSpPr>
            <p:cNvPr id="191" name="Google Shape;2049;p39">
              <a:extLst>
                <a:ext uri="{FF2B5EF4-FFF2-40B4-BE49-F238E27FC236}">
                  <a16:creationId xmlns:a16="http://schemas.microsoft.com/office/drawing/2014/main" id="{EFE40475-FAC6-10AE-A248-471849C0CF0F}"/>
                </a:ext>
              </a:extLst>
            </p:cNvPr>
            <p:cNvGrpSpPr/>
            <p:nvPr/>
          </p:nvGrpSpPr>
          <p:grpSpPr>
            <a:xfrm>
              <a:off x="7889228" y="2020202"/>
              <a:ext cx="339253" cy="339253"/>
              <a:chOff x="1046638" y="4962598"/>
              <a:chExt cx="481825" cy="481825"/>
            </a:xfrm>
          </p:grpSpPr>
          <p:sp>
            <p:nvSpPr>
              <p:cNvPr id="192" name="Google Shape;2050;p39">
                <a:extLst>
                  <a:ext uri="{FF2B5EF4-FFF2-40B4-BE49-F238E27FC236}">
                    <a16:creationId xmlns:a16="http://schemas.microsoft.com/office/drawing/2014/main" id="{FEC4CA20-A6B3-B8FC-7AC0-B74486379B65}"/>
                  </a:ext>
                </a:extLst>
              </p:cNvPr>
              <p:cNvSpPr/>
              <p:nvPr/>
            </p:nvSpPr>
            <p:spPr>
              <a:xfrm>
                <a:off x="1046638" y="4962598"/>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sp>
            <p:nvSpPr>
              <p:cNvPr id="193" name="Google Shape;2051;p39">
                <a:extLst>
                  <a:ext uri="{FF2B5EF4-FFF2-40B4-BE49-F238E27FC236}">
                    <a16:creationId xmlns:a16="http://schemas.microsoft.com/office/drawing/2014/main" id="{18C5D734-0B0F-B82D-71F7-38348FF4D10F}"/>
                  </a:ext>
                </a:extLst>
              </p:cNvPr>
              <p:cNvSpPr/>
              <p:nvPr/>
            </p:nvSpPr>
            <p:spPr>
              <a:xfrm>
                <a:off x="1192499" y="5140634"/>
                <a:ext cx="190101" cy="125751"/>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grpSp>
      </p:grpSp>
      <p:grpSp>
        <p:nvGrpSpPr>
          <p:cNvPr id="194" name="Google Shape;2052;p39">
            <a:extLst>
              <a:ext uri="{FF2B5EF4-FFF2-40B4-BE49-F238E27FC236}">
                <a16:creationId xmlns:a16="http://schemas.microsoft.com/office/drawing/2014/main" id="{4FB24951-37A8-9B04-05AA-425B84E7CE2F}"/>
              </a:ext>
            </a:extLst>
          </p:cNvPr>
          <p:cNvGrpSpPr/>
          <p:nvPr/>
        </p:nvGrpSpPr>
        <p:grpSpPr>
          <a:xfrm>
            <a:off x="4899849" y="4023778"/>
            <a:ext cx="1085488" cy="351014"/>
            <a:chOff x="7229475" y="2585249"/>
            <a:chExt cx="1085488" cy="351014"/>
          </a:xfrm>
        </p:grpSpPr>
        <p:sp>
          <p:nvSpPr>
            <p:cNvPr id="195" name="Google Shape;2047;p39">
              <a:extLst>
                <a:ext uri="{FF2B5EF4-FFF2-40B4-BE49-F238E27FC236}">
                  <a16:creationId xmlns:a16="http://schemas.microsoft.com/office/drawing/2014/main" id="{65AAFEC8-9E91-018B-9495-71B09D2528BA}"/>
                </a:ext>
              </a:extLst>
            </p:cNvPr>
            <p:cNvSpPr txBox="1"/>
            <p:nvPr/>
          </p:nvSpPr>
          <p:spPr>
            <a:xfrm>
              <a:off x="7229475" y="2604463"/>
              <a:ext cx="973800"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600" dirty="0">
                  <a:solidFill>
                    <a:srgbClr val="000000"/>
                  </a:solidFill>
                  <a:ea typeface="Roboto"/>
                  <a:cs typeface="Roboto"/>
                  <a:sym typeface="Roboto"/>
                </a:rPr>
                <a:t>Invalid</a:t>
              </a:r>
              <a:endParaRPr sz="1600" dirty="0">
                <a:solidFill>
                  <a:srgbClr val="000000"/>
                </a:solidFill>
                <a:ea typeface="Roboto"/>
                <a:cs typeface="Roboto"/>
                <a:sym typeface="Roboto"/>
              </a:endParaRPr>
            </a:p>
          </p:txBody>
        </p:sp>
        <p:grpSp>
          <p:nvGrpSpPr>
            <p:cNvPr id="196" name="Google Shape;2053;p39">
              <a:extLst>
                <a:ext uri="{FF2B5EF4-FFF2-40B4-BE49-F238E27FC236}">
                  <a16:creationId xmlns:a16="http://schemas.microsoft.com/office/drawing/2014/main" id="{4E61C8A9-F84E-50C1-B2C8-6FA306816F72}"/>
                </a:ext>
              </a:extLst>
            </p:cNvPr>
            <p:cNvGrpSpPr/>
            <p:nvPr/>
          </p:nvGrpSpPr>
          <p:grpSpPr>
            <a:xfrm>
              <a:off x="7975710" y="2585249"/>
              <a:ext cx="339253" cy="339253"/>
              <a:chOff x="1762325" y="4970121"/>
              <a:chExt cx="481825" cy="481825"/>
            </a:xfrm>
          </p:grpSpPr>
          <p:sp>
            <p:nvSpPr>
              <p:cNvPr id="197" name="Google Shape;2054;p39">
                <a:extLst>
                  <a:ext uri="{FF2B5EF4-FFF2-40B4-BE49-F238E27FC236}">
                    <a16:creationId xmlns:a16="http://schemas.microsoft.com/office/drawing/2014/main" id="{6734A6AE-6D06-0F7B-9C87-D0FBC63F9975}"/>
                  </a:ext>
                </a:extLst>
              </p:cNvPr>
              <p:cNvSpPr/>
              <p:nvPr/>
            </p:nvSpPr>
            <p:spPr>
              <a:xfrm>
                <a:off x="1920987" y="513057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FFCC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00" dirty="0">
                  <a:solidFill>
                    <a:srgbClr val="435D74"/>
                  </a:solidFill>
                </a:endParaRPr>
              </a:p>
            </p:txBody>
          </p:sp>
          <p:sp>
            <p:nvSpPr>
              <p:cNvPr id="198" name="Google Shape;2055;p39">
                <a:extLst>
                  <a:ext uri="{FF2B5EF4-FFF2-40B4-BE49-F238E27FC236}">
                    <a16:creationId xmlns:a16="http://schemas.microsoft.com/office/drawing/2014/main" id="{8EE8F7D9-CF6E-DDBA-0B9E-4B97663FFD5E}"/>
                  </a:ext>
                </a:extLst>
              </p:cNvPr>
              <p:cNvSpPr/>
              <p:nvPr/>
            </p:nvSpPr>
            <p:spPr>
              <a:xfrm>
                <a:off x="1762325" y="4970121"/>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FFCC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00">
                  <a:solidFill>
                    <a:srgbClr val="435D74"/>
                  </a:solidFill>
                </a:endParaRPr>
              </a:p>
            </p:txBody>
          </p:sp>
        </p:grpSp>
      </p:grpSp>
      <p:pic>
        <p:nvPicPr>
          <p:cNvPr id="202" name="Imagen 201">
            <a:extLst>
              <a:ext uri="{FF2B5EF4-FFF2-40B4-BE49-F238E27FC236}">
                <a16:creationId xmlns:a16="http://schemas.microsoft.com/office/drawing/2014/main" id="{94938CCE-2811-60CE-E87F-FDE59FDD1532}"/>
              </a:ext>
            </a:extLst>
          </p:cNvPr>
          <p:cNvPicPr>
            <a:picLocks noChangeAspect="1"/>
          </p:cNvPicPr>
          <p:nvPr/>
        </p:nvPicPr>
        <p:blipFill>
          <a:blip r:embed="rId3"/>
          <a:stretch>
            <a:fillRect/>
          </a:stretch>
        </p:blipFill>
        <p:spPr>
          <a:xfrm>
            <a:off x="3590778" y="3630452"/>
            <a:ext cx="525429" cy="525429"/>
          </a:xfrm>
          <a:prstGeom prst="rect">
            <a:avLst/>
          </a:prstGeom>
        </p:spPr>
      </p:pic>
      <p:cxnSp>
        <p:nvCxnSpPr>
          <p:cNvPr id="203" name="Google Shape;2042;p39">
            <a:extLst>
              <a:ext uri="{FF2B5EF4-FFF2-40B4-BE49-F238E27FC236}">
                <a16:creationId xmlns:a16="http://schemas.microsoft.com/office/drawing/2014/main" id="{DE89E5CE-E2E8-4048-82B3-32A3AD34DB2E}"/>
              </a:ext>
            </a:extLst>
          </p:cNvPr>
          <p:cNvCxnSpPr>
            <a:cxnSpLocks/>
          </p:cNvCxnSpPr>
          <p:nvPr/>
        </p:nvCxnSpPr>
        <p:spPr>
          <a:xfrm>
            <a:off x="6309454" y="3905586"/>
            <a:ext cx="716730" cy="0"/>
          </a:xfrm>
          <a:prstGeom prst="straightConnector1">
            <a:avLst/>
          </a:prstGeom>
          <a:noFill/>
          <a:ln w="9525" cap="flat" cmpd="sng">
            <a:solidFill>
              <a:srgbClr val="666666"/>
            </a:solidFill>
            <a:prstDash val="solid"/>
            <a:round/>
            <a:headEnd type="none" w="med" len="med"/>
            <a:tailEnd type="triangle" w="med" len="med"/>
          </a:ln>
        </p:spPr>
      </p:cxnSp>
      <p:pic>
        <p:nvPicPr>
          <p:cNvPr id="205" name="Imagen 204">
            <a:extLst>
              <a:ext uri="{FF2B5EF4-FFF2-40B4-BE49-F238E27FC236}">
                <a16:creationId xmlns:a16="http://schemas.microsoft.com/office/drawing/2014/main" id="{C27E0D5F-569E-1C28-E221-2F564FB66C7A}"/>
              </a:ext>
            </a:extLst>
          </p:cNvPr>
          <p:cNvPicPr>
            <a:picLocks noChangeAspect="1"/>
          </p:cNvPicPr>
          <p:nvPr/>
        </p:nvPicPr>
        <p:blipFill>
          <a:blip r:embed="rId4">
            <a:duotone>
              <a:schemeClr val="accent5">
                <a:shade val="45000"/>
                <a:satMod val="135000"/>
              </a:schemeClr>
              <a:prstClr val="white"/>
            </a:duotone>
          </a:blip>
          <a:stretch>
            <a:fillRect/>
          </a:stretch>
        </p:blipFill>
        <p:spPr>
          <a:xfrm>
            <a:off x="9912813" y="3628081"/>
            <a:ext cx="539935" cy="539935"/>
          </a:xfrm>
          <a:prstGeom prst="rect">
            <a:avLst/>
          </a:prstGeom>
        </p:spPr>
      </p:pic>
      <p:cxnSp>
        <p:nvCxnSpPr>
          <p:cNvPr id="206" name="Google Shape;2042;p39">
            <a:extLst>
              <a:ext uri="{FF2B5EF4-FFF2-40B4-BE49-F238E27FC236}">
                <a16:creationId xmlns:a16="http://schemas.microsoft.com/office/drawing/2014/main" id="{5F8D057C-8F76-8E2C-CA8B-F9813F586132}"/>
              </a:ext>
            </a:extLst>
          </p:cNvPr>
          <p:cNvCxnSpPr>
            <a:cxnSpLocks/>
          </p:cNvCxnSpPr>
          <p:nvPr/>
        </p:nvCxnSpPr>
        <p:spPr>
          <a:xfrm>
            <a:off x="8640626" y="3915978"/>
            <a:ext cx="716730" cy="0"/>
          </a:xfrm>
          <a:prstGeom prst="straightConnector1">
            <a:avLst/>
          </a:prstGeom>
          <a:noFill/>
          <a:ln w="9525" cap="flat" cmpd="sng">
            <a:solidFill>
              <a:srgbClr val="666666"/>
            </a:solidFill>
            <a:prstDash val="solid"/>
            <a:round/>
            <a:headEnd type="none" w="med" len="med"/>
            <a:tailEnd type="triangle" w="med" len="med"/>
          </a:ln>
        </p:spPr>
      </p:cxnSp>
      <p:pic>
        <p:nvPicPr>
          <p:cNvPr id="209" name="Imagen 208">
            <a:extLst>
              <a:ext uri="{FF2B5EF4-FFF2-40B4-BE49-F238E27FC236}">
                <a16:creationId xmlns:a16="http://schemas.microsoft.com/office/drawing/2014/main" id="{643D8A4B-800F-A78A-BAFE-655545579395}"/>
              </a:ext>
            </a:extLst>
          </p:cNvPr>
          <p:cNvPicPr>
            <a:picLocks noChangeAspect="1"/>
          </p:cNvPicPr>
          <p:nvPr/>
        </p:nvPicPr>
        <p:blipFill>
          <a:blip r:embed="rId5"/>
          <a:stretch>
            <a:fillRect/>
          </a:stretch>
        </p:blipFill>
        <p:spPr>
          <a:xfrm>
            <a:off x="7370466" y="3521486"/>
            <a:ext cx="716731" cy="716731"/>
          </a:xfrm>
          <a:prstGeom prst="rect">
            <a:avLst/>
          </a:prstGeom>
        </p:spPr>
      </p:pic>
      <p:sp>
        <p:nvSpPr>
          <p:cNvPr id="213" name="CuadroTexto 212">
            <a:extLst>
              <a:ext uri="{FF2B5EF4-FFF2-40B4-BE49-F238E27FC236}">
                <a16:creationId xmlns:a16="http://schemas.microsoft.com/office/drawing/2014/main" id="{F6D2847B-1AFE-CE91-0813-21FE3C35B9EE}"/>
              </a:ext>
            </a:extLst>
          </p:cNvPr>
          <p:cNvSpPr txBox="1"/>
          <p:nvPr/>
        </p:nvSpPr>
        <p:spPr>
          <a:xfrm>
            <a:off x="1085752" y="1174315"/>
            <a:ext cx="6096000" cy="707886"/>
          </a:xfrm>
          <a:prstGeom prst="rect">
            <a:avLst/>
          </a:prstGeom>
          <a:noFill/>
        </p:spPr>
        <p:txBody>
          <a:bodyPr wrap="square">
            <a:spAutoFit/>
          </a:bodyPr>
          <a:lstStyle/>
          <a:p>
            <a:r>
              <a:rPr lang="en-US" sz="2000" b="1" dirty="0"/>
              <a:t>Interpretable Regional Descriptors (IRD)</a:t>
            </a:r>
            <a:br>
              <a:rPr lang="en-US" sz="2000" dirty="0"/>
            </a:br>
            <a:r>
              <a:rPr lang="en-US" sz="2000" i="1" dirty="0" err="1"/>
              <a:t>Hyperbox</a:t>
            </a:r>
            <a:r>
              <a:rPr lang="en-US" sz="2000" i="1" dirty="0"/>
              <a:t>-based local explanations</a:t>
            </a:r>
            <a:endParaRPr lang="en" sz="2000" dirty="0"/>
          </a:p>
        </p:txBody>
      </p:sp>
      <p:sp>
        <p:nvSpPr>
          <p:cNvPr id="216" name="CuadroTexto 215">
            <a:extLst>
              <a:ext uri="{FF2B5EF4-FFF2-40B4-BE49-F238E27FC236}">
                <a16:creationId xmlns:a16="http://schemas.microsoft.com/office/drawing/2014/main" id="{F19C622D-2963-9BED-AD27-C80F322C5B80}"/>
              </a:ext>
            </a:extLst>
          </p:cNvPr>
          <p:cNvSpPr txBox="1"/>
          <p:nvPr/>
        </p:nvSpPr>
        <p:spPr>
          <a:xfrm>
            <a:off x="1063945" y="1954207"/>
            <a:ext cx="3201067" cy="1138773"/>
          </a:xfrm>
          <a:prstGeom prst="rect">
            <a:avLst/>
          </a:prstGeom>
          <a:noFill/>
        </p:spPr>
        <p:txBody>
          <a:bodyPr wrap="square">
            <a:spAutoFit/>
          </a:bodyPr>
          <a:lstStyle/>
          <a:p>
            <a:pPr marL="285750" indent="-285750" algn="ctr">
              <a:buFont typeface="Arial" panose="020B0604020202020204" pitchFamily="34" charset="0"/>
              <a:buChar char="•"/>
            </a:pPr>
            <a:r>
              <a:rPr lang="en" sz="1700" dirty="0"/>
              <a:t>IRDs are interpretable hyperboxes in input space where a model’s prediction remains stable</a:t>
            </a:r>
          </a:p>
        </p:txBody>
      </p:sp>
      <p:sp>
        <p:nvSpPr>
          <p:cNvPr id="218" name="CuadroTexto 217">
            <a:extLst>
              <a:ext uri="{FF2B5EF4-FFF2-40B4-BE49-F238E27FC236}">
                <a16:creationId xmlns:a16="http://schemas.microsoft.com/office/drawing/2014/main" id="{5B62A879-0C30-57FF-DA71-9FEE852912A0}"/>
              </a:ext>
            </a:extLst>
          </p:cNvPr>
          <p:cNvSpPr txBox="1"/>
          <p:nvPr/>
        </p:nvSpPr>
        <p:spPr>
          <a:xfrm>
            <a:off x="4456234" y="1986640"/>
            <a:ext cx="3389799" cy="1138773"/>
          </a:xfrm>
          <a:prstGeom prst="rect">
            <a:avLst/>
          </a:prstGeom>
          <a:noFill/>
        </p:spPr>
        <p:txBody>
          <a:bodyPr wrap="square">
            <a:spAutoFit/>
          </a:bodyPr>
          <a:lstStyle/>
          <a:p>
            <a:pPr marL="285750" indent="-285750">
              <a:buFont typeface="Arial" panose="020B0604020202020204" pitchFamily="34" charset="0"/>
              <a:buChar char="•"/>
            </a:pPr>
            <a:r>
              <a:rPr lang="en" sz="1700" dirty="0"/>
              <a:t>Originally used for model explanation, here applied to find regions yielding valid simulation outputs</a:t>
            </a:r>
          </a:p>
        </p:txBody>
      </p:sp>
      <p:sp>
        <p:nvSpPr>
          <p:cNvPr id="220" name="CuadroTexto 219">
            <a:extLst>
              <a:ext uri="{FF2B5EF4-FFF2-40B4-BE49-F238E27FC236}">
                <a16:creationId xmlns:a16="http://schemas.microsoft.com/office/drawing/2014/main" id="{A4E0504D-B896-2812-058F-852AAFC6FF79}"/>
              </a:ext>
            </a:extLst>
          </p:cNvPr>
          <p:cNvSpPr txBox="1"/>
          <p:nvPr/>
        </p:nvSpPr>
        <p:spPr>
          <a:xfrm>
            <a:off x="7926990" y="1955415"/>
            <a:ext cx="2995744" cy="1138773"/>
          </a:xfrm>
          <a:prstGeom prst="rect">
            <a:avLst/>
          </a:prstGeom>
          <a:noFill/>
        </p:spPr>
        <p:txBody>
          <a:bodyPr wrap="square">
            <a:spAutoFit/>
          </a:bodyPr>
          <a:lstStyle/>
          <a:p>
            <a:pPr marL="285750" indent="-285750">
              <a:buFont typeface="Arial" panose="020B0604020202020204" pitchFamily="34" charset="0"/>
              <a:buChar char="•"/>
            </a:pPr>
            <a:r>
              <a:rPr lang="en" sz="1700" dirty="0"/>
              <a:t>We used the PRIM method, adapted to return a hyperbox with high validity precision</a:t>
            </a:r>
          </a:p>
        </p:txBody>
      </p:sp>
      <p:sp>
        <p:nvSpPr>
          <p:cNvPr id="221" name="Rectángulo: esquinas redondeadas 220">
            <a:extLst>
              <a:ext uri="{FF2B5EF4-FFF2-40B4-BE49-F238E27FC236}">
                <a16:creationId xmlns:a16="http://schemas.microsoft.com/office/drawing/2014/main" id="{73379DCB-CEC3-1BC9-7402-FAEAC54E92A7}"/>
              </a:ext>
            </a:extLst>
          </p:cNvPr>
          <p:cNvSpPr/>
          <p:nvPr/>
        </p:nvSpPr>
        <p:spPr>
          <a:xfrm>
            <a:off x="852244" y="932883"/>
            <a:ext cx="10460767" cy="2387642"/>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2" name="Google Shape;1860;p37">
            <a:extLst>
              <a:ext uri="{FF2B5EF4-FFF2-40B4-BE49-F238E27FC236}">
                <a16:creationId xmlns:a16="http://schemas.microsoft.com/office/drawing/2014/main" id="{C5792B35-4381-46AB-55B6-D214B61E5A86}"/>
              </a:ext>
            </a:extLst>
          </p:cNvPr>
          <p:cNvSpPr/>
          <p:nvPr/>
        </p:nvSpPr>
        <p:spPr bwMode="auto">
          <a:xfrm>
            <a:off x="6765949" y="1305040"/>
            <a:ext cx="2238292" cy="297015"/>
          </a:xfrm>
          <a:prstGeom prst="roundRect">
            <a:avLst>
              <a:gd name="adj" fmla="val 50000"/>
            </a:avLst>
          </a:prstGeom>
          <a:solidFill>
            <a:schemeClr val="bg1">
              <a:lumMod val="65000"/>
            </a:schemeClr>
          </a:solidFill>
          <a:ln>
            <a:noFill/>
          </a:ln>
        </p:spPr>
        <p:txBody>
          <a:bodyPr spcFirstLastPara="1" wrap="square" lIns="121900" tIns="121900" rIns="121900" bIns="121900" anchor="ctr" anchorCtr="0">
            <a:noAutofit/>
          </a:bodyPr>
          <a:lstStyle/>
          <a:p>
            <a:pPr defTabSz="1219140">
              <a:buClr>
                <a:srgbClr val="000000"/>
              </a:buClr>
              <a:defRPr/>
            </a:pPr>
            <a:r>
              <a:rPr lang="es-MX" sz="1851" b="1" kern="0" dirty="0" err="1">
                <a:solidFill>
                  <a:schemeClr val="bg1"/>
                </a:solidFill>
                <a:cs typeface="Arial"/>
                <a:sym typeface="Arial"/>
                <a:hlinkClick r:id="rId6">
                  <a:extLst>
                    <a:ext uri="{A12FA001-AC4F-418D-AE19-62706E023703}">
                      <ahyp:hlinkClr xmlns:ahyp="http://schemas.microsoft.com/office/drawing/2018/hyperlinkcolor" val="tx"/>
                    </a:ext>
                  </a:extLst>
                </a:hlinkClick>
              </a:rPr>
              <a:t>Dandl</a:t>
            </a:r>
            <a:r>
              <a:rPr lang="es-MX" sz="1851" b="1" kern="0" dirty="0">
                <a:solidFill>
                  <a:schemeClr val="bg1"/>
                </a:solidFill>
                <a:cs typeface="Arial"/>
                <a:sym typeface="Arial"/>
                <a:hlinkClick r:id="rId6">
                  <a:extLst>
                    <a:ext uri="{A12FA001-AC4F-418D-AE19-62706E023703}">
                      <ahyp:hlinkClr xmlns:ahyp="http://schemas.microsoft.com/office/drawing/2018/hyperlinkcolor" val="tx"/>
                    </a:ext>
                  </a:extLst>
                </a:hlinkClick>
              </a:rPr>
              <a:t> et al. (2022)</a:t>
            </a:r>
            <a:endParaRPr sz="1851" b="1" kern="0" dirty="0">
              <a:solidFill>
                <a:schemeClr val="bg1"/>
              </a:solidFill>
              <a:cs typeface="Arial"/>
              <a:sym typeface="Arial"/>
            </a:endParaRPr>
          </a:p>
        </p:txBody>
      </p:sp>
    </p:spTree>
    <p:extLst>
      <p:ext uri="{BB962C8B-B14F-4D97-AF65-F5344CB8AC3E}">
        <p14:creationId xmlns:p14="http://schemas.microsoft.com/office/powerpoint/2010/main" val="1759056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BC8F-4435-1EBB-3643-8B8BF078274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F20ABBC8-E4DD-5519-11D6-17B6B0FDE974}"/>
              </a:ext>
            </a:extLst>
          </p:cNvPr>
          <p:cNvSpPr>
            <a:spLocks noGrp="1"/>
          </p:cNvSpPr>
          <p:nvPr>
            <p:ph type="sldNum" sz="quarter" idx="12"/>
          </p:nvPr>
        </p:nvSpPr>
        <p:spPr/>
        <p:txBody>
          <a:bodyPr/>
          <a:lstStyle/>
          <a:p>
            <a:fld id="{B75BC28E-972B-EC47-BE79-29D89D46B9CA}" type="slidenum">
              <a:rPr lang="es-ES_tradnl" b="1" smtClean="0">
                <a:solidFill>
                  <a:schemeClr val="bg1"/>
                </a:solidFill>
              </a:rPr>
              <a:t>13</a:t>
            </a:fld>
            <a:endParaRPr lang="es-ES_tradnl" b="1" dirty="0">
              <a:solidFill>
                <a:schemeClr val="bg1"/>
              </a:solidFill>
            </a:endParaRPr>
          </a:p>
        </p:txBody>
      </p:sp>
      <p:sp>
        <p:nvSpPr>
          <p:cNvPr id="65" name="CuadroTexto 64">
            <a:extLst>
              <a:ext uri="{FF2B5EF4-FFF2-40B4-BE49-F238E27FC236}">
                <a16:creationId xmlns:a16="http://schemas.microsoft.com/office/drawing/2014/main" id="{4483E89F-DE85-85AD-B529-A0D358DFE694}"/>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05E4A4FC-943F-AD57-A93C-658D674619B8}"/>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751AC224-8616-CC4D-A3FC-11CC6B8D98F4}"/>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graphicFrame>
        <p:nvGraphicFramePr>
          <p:cNvPr id="10" name="Tabla 9">
            <a:extLst>
              <a:ext uri="{FF2B5EF4-FFF2-40B4-BE49-F238E27FC236}">
                <a16:creationId xmlns:a16="http://schemas.microsoft.com/office/drawing/2014/main" id="{46272652-1FBA-B9CC-C864-8883A94479DC}"/>
              </a:ext>
            </a:extLst>
          </p:cNvPr>
          <p:cNvGraphicFramePr>
            <a:graphicFrameLocks noGrp="1"/>
          </p:cNvGraphicFramePr>
          <p:nvPr>
            <p:extLst>
              <p:ext uri="{D42A27DB-BD31-4B8C-83A1-F6EECF244321}">
                <p14:modId xmlns:p14="http://schemas.microsoft.com/office/powerpoint/2010/main" val="3894207014"/>
              </p:ext>
            </p:extLst>
          </p:nvPr>
        </p:nvGraphicFramePr>
        <p:xfrm>
          <a:off x="1211417" y="1558992"/>
          <a:ext cx="6873667" cy="4340189"/>
        </p:xfrm>
        <a:graphic>
          <a:graphicData uri="http://schemas.openxmlformats.org/drawingml/2006/table">
            <a:tbl>
              <a:tblPr/>
              <a:tblGrid>
                <a:gridCol w="760572">
                  <a:extLst>
                    <a:ext uri="{9D8B030D-6E8A-4147-A177-3AD203B41FA5}">
                      <a16:colId xmlns:a16="http://schemas.microsoft.com/office/drawing/2014/main" val="2628369485"/>
                    </a:ext>
                  </a:extLst>
                </a:gridCol>
                <a:gridCol w="925363">
                  <a:extLst>
                    <a:ext uri="{9D8B030D-6E8A-4147-A177-3AD203B41FA5}">
                      <a16:colId xmlns:a16="http://schemas.microsoft.com/office/drawing/2014/main" val="285976851"/>
                    </a:ext>
                  </a:extLst>
                </a:gridCol>
                <a:gridCol w="1052125">
                  <a:extLst>
                    <a:ext uri="{9D8B030D-6E8A-4147-A177-3AD203B41FA5}">
                      <a16:colId xmlns:a16="http://schemas.microsoft.com/office/drawing/2014/main" val="1704646176"/>
                    </a:ext>
                  </a:extLst>
                </a:gridCol>
                <a:gridCol w="798600">
                  <a:extLst>
                    <a:ext uri="{9D8B030D-6E8A-4147-A177-3AD203B41FA5}">
                      <a16:colId xmlns:a16="http://schemas.microsoft.com/office/drawing/2014/main" val="1024389949"/>
                    </a:ext>
                  </a:extLst>
                </a:gridCol>
                <a:gridCol w="798600">
                  <a:extLst>
                    <a:ext uri="{9D8B030D-6E8A-4147-A177-3AD203B41FA5}">
                      <a16:colId xmlns:a16="http://schemas.microsoft.com/office/drawing/2014/main" val="2756437490"/>
                    </a:ext>
                  </a:extLst>
                </a:gridCol>
                <a:gridCol w="798600">
                  <a:extLst>
                    <a:ext uri="{9D8B030D-6E8A-4147-A177-3AD203B41FA5}">
                      <a16:colId xmlns:a16="http://schemas.microsoft.com/office/drawing/2014/main" val="139106321"/>
                    </a:ext>
                  </a:extLst>
                </a:gridCol>
                <a:gridCol w="798600">
                  <a:extLst>
                    <a:ext uri="{9D8B030D-6E8A-4147-A177-3AD203B41FA5}">
                      <a16:colId xmlns:a16="http://schemas.microsoft.com/office/drawing/2014/main" val="1161415831"/>
                    </a:ext>
                  </a:extLst>
                </a:gridCol>
                <a:gridCol w="941207">
                  <a:extLst>
                    <a:ext uri="{9D8B030D-6E8A-4147-A177-3AD203B41FA5}">
                      <a16:colId xmlns:a16="http://schemas.microsoft.com/office/drawing/2014/main" val="2736985868"/>
                    </a:ext>
                  </a:extLst>
                </a:gridCol>
              </a:tblGrid>
              <a:tr h="183465">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a:noFill/>
                    </a:lnR>
                    <a:lnT>
                      <a:noFill/>
                    </a:lnT>
                    <a:lnB>
                      <a:noFill/>
                    </a:lnB>
                    <a:noFill/>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a:noFill/>
                    </a:lnR>
                    <a:lnT>
                      <a:noFill/>
                    </a:lnT>
                    <a:lnB w="12700" cap="flat" cmpd="sng" algn="ctr">
                      <a:solidFill>
                        <a:srgbClr val="000000"/>
                      </a:solidFill>
                      <a:prstDash val="solid"/>
                      <a:round/>
                      <a:headEnd type="none" w="med" len="med"/>
                      <a:tailEnd type="none" w="med" len="med"/>
                    </a:lnB>
                    <a:noFill/>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gridSpan="2">
                  <a:txBody>
                    <a:bodyPr/>
                    <a:lstStyle/>
                    <a:p>
                      <a:pPr algn="ctr" fontAlgn="b"/>
                      <a:r>
                        <a:rPr lang="en-US" sz="1200" b="1" i="0" u="none" strike="noStrike" dirty="0">
                          <a:solidFill>
                            <a:srgbClr val="FFFFFF"/>
                          </a:solidFill>
                          <a:effectLst/>
                          <a:latin typeface="Aptos Narrow" panose="020B0004020202020204" pitchFamily="34" charset="0"/>
                        </a:rPr>
                        <a:t>Original range</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2501A"/>
                    </a:solidFill>
                  </a:tcPr>
                </a:tc>
                <a:tc hMerge="1">
                  <a:txBody>
                    <a:bodyPr/>
                    <a:lstStyle/>
                    <a:p>
                      <a:endParaRPr lang="en"/>
                    </a:p>
                  </a:txBody>
                  <a:tcPr/>
                </a:tc>
                <a:tc gridSpan="2">
                  <a:txBody>
                    <a:bodyPr/>
                    <a:lstStyle/>
                    <a:p>
                      <a:pPr algn="ctr" fontAlgn="b"/>
                      <a:r>
                        <a:rPr lang="en-US" sz="1200" b="1" i="0" u="none" strike="noStrike">
                          <a:solidFill>
                            <a:srgbClr val="FFFFFF"/>
                          </a:solidFill>
                          <a:effectLst/>
                          <a:latin typeface="Aptos Narrow" panose="020B0004020202020204" pitchFamily="34" charset="0"/>
                        </a:rPr>
                        <a:t>Regional descriptor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2501A"/>
                    </a:solidFill>
                  </a:tcPr>
                </a:tc>
                <a:tc hMerge="1">
                  <a:txBody>
                    <a:bodyPr/>
                    <a:lstStyle/>
                    <a:p>
                      <a:endParaRPr lang="en"/>
                    </a:p>
                  </a:txBody>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73471901"/>
                  </a:ext>
                </a:extLst>
              </a:tr>
              <a:tr h="501289">
                <a:tc>
                  <a:txBody>
                    <a:bodyPr/>
                    <a:lstStyle/>
                    <a:p>
                      <a:pPr algn="ctr" fontAlgn="ctr"/>
                      <a:endParaRPr lang="en-US" sz="1200" b="1" i="0" u="none" strike="noStrike">
                        <a:solidFill>
                          <a:srgbClr val="FFFFFF"/>
                        </a:solidFill>
                        <a:effectLst/>
                        <a:latin typeface="Aptos Narrow" panose="020B0004020202020204" pitchFamily="34" charset="0"/>
                      </a:endParaRPr>
                    </a:p>
                  </a:txBody>
                  <a:tcPr marL="9065" marR="9065" marT="9065"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ctr"/>
                      <a:r>
                        <a:rPr lang="en-US" sz="1200" b="1" i="0" u="none" strike="noStrike" dirty="0">
                          <a:solidFill>
                            <a:srgbClr val="FFFFFF"/>
                          </a:solidFill>
                          <a:effectLst/>
                          <a:latin typeface="Aptos Narrow" panose="020B0004020202020204" pitchFamily="34" charset="0"/>
                        </a:rPr>
                        <a:t>Feature</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Reference configuration</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Lower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Upper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Lower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Upper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Range reduction (%)</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extLst>
                  <a:ext uri="{0D108BD9-81ED-4DB2-BD59-A6C34878D82A}">
                    <a16:rowId xmlns:a16="http://schemas.microsoft.com/office/drawing/2014/main" val="1828738473"/>
                  </a:ext>
                </a:extLst>
              </a:tr>
              <a:tr h="183465">
                <a:tc rowSpan="7">
                  <a:txBody>
                    <a:bodyPr/>
                    <a:lstStyle/>
                    <a:p>
                      <a:pPr algn="ctr" fontAlgn="ctr"/>
                      <a:r>
                        <a:rPr lang="en-US" sz="1200" b="0" i="0" u="none" strike="noStrike">
                          <a:solidFill>
                            <a:srgbClr val="000000"/>
                          </a:solidFill>
                          <a:effectLst/>
                          <a:latin typeface="Aptos Narrow" panose="020B0004020202020204" pitchFamily="34" charset="0"/>
                        </a:rPr>
                        <a:t>Operational Condition</a:t>
                      </a:r>
                    </a:p>
                  </a:txBody>
                  <a:tcPr marL="9065" marR="9065" marT="9065" marB="0" vert="vert27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AF2D0"/>
                    </a:solidFill>
                  </a:tcPr>
                </a:tc>
                <a:tc>
                  <a:txBody>
                    <a:bodyPr/>
                    <a:lstStyle/>
                    <a:p>
                      <a:pPr algn="ctr" fontAlgn="b"/>
                      <a:r>
                        <a:rPr lang="en-US" sz="1200" b="1" i="0" u="none" strike="noStrike">
                          <a:solidFill>
                            <a:srgbClr val="FFFFFF"/>
                          </a:solidFill>
                          <a:effectLst/>
                          <a:latin typeface="Aptos Narrow" panose="020B0004020202020204" pitchFamily="34" charset="0"/>
                        </a:rPr>
                        <a:t>Tfc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347.15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333.02</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362.97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339.01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357.17</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39%</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7138257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Pa_des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200000.00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130040.00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299920.00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138530.00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282930.00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161013032"/>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Pc_des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200000.00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110040.00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297510.00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119410.00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269390.00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1454480426"/>
                  </a:ext>
                </a:extLst>
              </a:tr>
              <a:tr h="183465">
                <a:tc vMerge="1">
                  <a:txBody>
                    <a:bodyPr/>
                    <a:lstStyle/>
                    <a:p>
                      <a:endParaRPr lang="en"/>
                    </a:p>
                  </a:txBody>
                  <a:tcPr/>
                </a:tc>
                <a:tc>
                  <a:txBody>
                    <a:bodyPr/>
                    <a:lstStyle/>
                    <a:p>
                      <a:pPr algn="ctr" fontAlgn="b"/>
                      <a:r>
                        <a:rPr lang="en-US" sz="1200" b="1" i="0" u="none" strike="noStrike" dirty="0">
                          <a:solidFill>
                            <a:srgbClr val="FFFFFF"/>
                          </a:solidFill>
                          <a:effectLst/>
                          <a:latin typeface="Aptos Narrow" panose="020B0004020202020204" pitchFamily="34" charset="0"/>
                        </a:rPr>
                        <a:t>Sa</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dirty="0">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dirty="0">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483467210"/>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Sc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2199226540"/>
                  </a:ext>
                </a:extLst>
              </a:tr>
              <a:tr h="183465">
                <a:tc vMerge="1">
                  <a:txBody>
                    <a:bodyPr/>
                    <a:lstStyle/>
                    <a:p>
                      <a:endParaRPr lang="en"/>
                    </a:p>
                  </a:txBody>
                  <a:tcPr/>
                </a:tc>
                <a:tc>
                  <a:txBody>
                    <a:bodyPr/>
                    <a:lstStyle/>
                    <a:p>
                      <a:pPr algn="ctr" fontAlgn="b"/>
                      <a:r>
                        <a:rPr lang="en-US" sz="1200" b="1" i="0" u="none" strike="noStrike" dirty="0" err="1">
                          <a:solidFill>
                            <a:srgbClr val="FFFFFF"/>
                          </a:solidFill>
                          <a:effectLst/>
                          <a:latin typeface="Aptos Narrow" panose="020B0004020202020204" pitchFamily="34" charset="0"/>
                        </a:rPr>
                        <a:t>Phi_a_des</a:t>
                      </a:r>
                      <a:endParaRPr lang="en-US" sz="1200" b="1" i="0" u="none" strike="noStrike" dirty="0">
                        <a:solidFill>
                          <a:srgbClr val="FFFFFF"/>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227928279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Phi_c_des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0.60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0.70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0.27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0.66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extLst>
                  <a:ext uri="{0D108BD9-81ED-4DB2-BD59-A6C34878D82A}">
                    <a16:rowId xmlns:a16="http://schemas.microsoft.com/office/drawing/2014/main" val="1696227839"/>
                  </a:ext>
                </a:extLst>
              </a:tr>
              <a:tr h="183465">
                <a:tc rowSpan="12">
                  <a:txBody>
                    <a:bodyPr/>
                    <a:lstStyle/>
                    <a:p>
                      <a:pPr algn="ctr" fontAlgn="ctr"/>
                      <a:r>
                        <a:rPr lang="en-US" sz="1200" b="0" i="0" u="none" strike="noStrike">
                          <a:solidFill>
                            <a:srgbClr val="000000"/>
                          </a:solidFill>
                          <a:effectLst/>
                          <a:latin typeface="Aptos Narrow" panose="020B0004020202020204" pitchFamily="34" charset="0"/>
                        </a:rPr>
                        <a:t>Undetermined Physical Parameter</a:t>
                      </a:r>
                    </a:p>
                  </a:txBody>
                  <a:tcPr marL="9065" marR="9065" marT="9065" marB="0" vert="vert27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AF2D0"/>
                    </a:solidFill>
                  </a:tcPr>
                </a:tc>
                <a:tc>
                  <a:txBody>
                    <a:bodyPr/>
                    <a:lstStyle/>
                    <a:p>
                      <a:pPr algn="ctr" fontAlgn="b"/>
                      <a:r>
                        <a:rPr lang="en-US" sz="1200" b="1" i="0" u="none" strike="noStrike">
                          <a:solidFill>
                            <a:srgbClr val="FFFFFF"/>
                          </a:solidFill>
                          <a:effectLst/>
                          <a:latin typeface="Aptos Narrow" panose="020B0004020202020204" pitchFamily="34" charset="0"/>
                        </a:rPr>
                        <a:t>epsilon_gdl</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0.70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0.80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0.59</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0.76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33%</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373959622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tau</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1.02</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dirty="0">
                          <a:solidFill>
                            <a:srgbClr val="000000"/>
                          </a:solidFill>
                          <a:effectLst/>
                          <a:latin typeface="Aptos Narrow" panose="020B0004020202020204" pitchFamily="34" charset="0"/>
                        </a:rPr>
                        <a:t>1.00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3.57</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45624311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epsilon_mc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0.16</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2399506245"/>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epsilon_c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0.27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0.29</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669377961"/>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52586982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Re</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5.70E-07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5.1E-07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5.0E-06</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5.1E-07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4.8E-06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238358584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i0_c_ref</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2.79</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499.5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82.3</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1" i="0" u="none" strike="noStrike">
                          <a:solidFill>
                            <a:srgbClr val="FF0000"/>
                          </a:solidFill>
                          <a:effectLst/>
                          <a:latin typeface="Aptos Narrow" panose="020B0004020202020204" pitchFamily="34" charset="0"/>
                        </a:rPr>
                        <a:t>84%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165877457"/>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kappa_co</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27.20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17.9</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1" i="0" u="none" strike="noStrike">
                          <a:solidFill>
                            <a:srgbClr val="FF0000"/>
                          </a:solidFill>
                          <a:effectLst/>
                          <a:latin typeface="Aptos Narrow" panose="020B0004020202020204" pitchFamily="34" charset="0"/>
                        </a:rPr>
                        <a:t>45%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14274452"/>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kappa_c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1.61</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2.2</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1" i="0" u="none" strike="noStrike">
                          <a:solidFill>
                            <a:srgbClr val="FF0000"/>
                          </a:solidFill>
                          <a:effectLst/>
                          <a:latin typeface="Aptos Narrow" panose="020B0004020202020204" pitchFamily="34" charset="0"/>
                        </a:rPr>
                        <a:t>98%</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3078854495"/>
                  </a:ext>
                </a:extLst>
              </a:tr>
              <a:tr h="183465">
                <a:tc vMerge="1">
                  <a:txBody>
                    <a:bodyPr/>
                    <a:lstStyle/>
                    <a:p>
                      <a:endParaRPr lang="en"/>
                    </a:p>
                  </a:txBody>
                  <a:tcPr/>
                </a:tc>
                <a:tc>
                  <a:txBody>
                    <a:bodyPr/>
                    <a:lstStyle/>
                    <a:p>
                      <a:pPr algn="ctr" fontAlgn="b"/>
                      <a:r>
                        <a:rPr lang="en-US" sz="1200" b="1" i="0" u="none" strike="noStrike" dirty="0" err="1">
                          <a:solidFill>
                            <a:srgbClr val="FFFFFF"/>
                          </a:solidFill>
                          <a:effectLst/>
                          <a:latin typeface="Aptos Narrow" panose="020B0004020202020204" pitchFamily="34" charset="0"/>
                        </a:rPr>
                        <a:t>a_slim</a:t>
                      </a:r>
                      <a:endParaRPr lang="en-US" sz="1200" b="1" i="0" u="none" strike="noStrike" dirty="0">
                        <a:solidFill>
                          <a:srgbClr val="FFFFFF"/>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0.06</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8%</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75135929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b_slim</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0.11</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78388021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a_switch</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0.64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0.9</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dirty="0">
                          <a:solidFill>
                            <a:srgbClr val="000000"/>
                          </a:solidFill>
                          <a:effectLst/>
                          <a:latin typeface="Aptos Narrow" panose="020B0004020202020204" pitchFamily="34" charset="0"/>
                        </a:rPr>
                        <a:t>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extLst>
                  <a:ext uri="{0D108BD9-81ED-4DB2-BD59-A6C34878D82A}">
                    <a16:rowId xmlns:a16="http://schemas.microsoft.com/office/drawing/2014/main" val="1324779307"/>
                  </a:ext>
                </a:extLst>
              </a:tr>
            </a:tbl>
          </a:graphicData>
        </a:graphic>
      </p:graphicFrame>
      <p:sp>
        <p:nvSpPr>
          <p:cNvPr id="12" name="CuadroTexto 11">
            <a:extLst>
              <a:ext uri="{FF2B5EF4-FFF2-40B4-BE49-F238E27FC236}">
                <a16:creationId xmlns:a16="http://schemas.microsoft.com/office/drawing/2014/main" id="{65E50FEE-1255-7C6D-C678-7664FB1F34CA}"/>
              </a:ext>
            </a:extLst>
          </p:cNvPr>
          <p:cNvSpPr txBox="1"/>
          <p:nvPr/>
        </p:nvSpPr>
        <p:spPr>
          <a:xfrm>
            <a:off x="1151446" y="6007889"/>
            <a:ext cx="7131676" cy="646331"/>
          </a:xfrm>
          <a:prstGeom prst="rect">
            <a:avLst/>
          </a:prstGeom>
          <a:noFill/>
        </p:spPr>
        <p:txBody>
          <a:bodyPr wrap="square">
            <a:spAutoFit/>
          </a:bodyPr>
          <a:lstStyle/>
          <a:p>
            <a:r>
              <a:rPr lang="en-US" sz="1200" b="1" dirty="0"/>
              <a:t>Table 1:</a:t>
            </a:r>
            <a:r>
              <a:rPr lang="en-US" sz="1200" dirty="0"/>
              <a:t> Comparison of the original parameter ranges and the validated input region (IRD-derived </a:t>
            </a:r>
            <a:r>
              <a:rPr lang="en-US" sz="1200" dirty="0" err="1"/>
              <a:t>hyperbox</a:t>
            </a:r>
            <a:r>
              <a:rPr lang="en-US" sz="1200" dirty="0"/>
              <a:t>) identified using the PRIM method. The "IRD range" corresponds to the largest subregion where ≥90% of sampled configurations lead to valid, physically meaningful outputs from </a:t>
            </a:r>
            <a:r>
              <a:rPr lang="en-US" sz="1200" dirty="0" err="1"/>
              <a:t>AlphaPEM</a:t>
            </a:r>
            <a:r>
              <a:rPr lang="en-US" sz="1200" dirty="0"/>
              <a:t>. </a:t>
            </a:r>
            <a:r>
              <a:rPr lang="en" sz="1200" dirty="0"/>
              <a:t> </a:t>
            </a:r>
            <a:endParaRPr lang="en-US" sz="1200" dirty="0"/>
          </a:p>
        </p:txBody>
      </p:sp>
      <p:sp>
        <p:nvSpPr>
          <p:cNvPr id="13" name="Cerrar llave 12">
            <a:extLst>
              <a:ext uri="{FF2B5EF4-FFF2-40B4-BE49-F238E27FC236}">
                <a16:creationId xmlns:a16="http://schemas.microsoft.com/office/drawing/2014/main" id="{1C0B1EB5-5FE8-4BC4-33C7-53A789BE339B}"/>
              </a:ext>
            </a:extLst>
          </p:cNvPr>
          <p:cNvSpPr/>
          <p:nvPr/>
        </p:nvSpPr>
        <p:spPr>
          <a:xfrm>
            <a:off x="8283122" y="4718049"/>
            <a:ext cx="217716" cy="580572"/>
          </a:xfrm>
          <a:prstGeom prst="rightBrace">
            <a:avLst/>
          </a:prstGeom>
        </p:spPr>
        <p:style>
          <a:lnRef idx="3">
            <a:schemeClr val="accent3"/>
          </a:lnRef>
          <a:fillRef idx="0">
            <a:schemeClr val="accent3"/>
          </a:fillRef>
          <a:effectRef idx="2">
            <a:schemeClr val="accent3"/>
          </a:effectRef>
          <a:fontRef idx="minor">
            <a:schemeClr val="tx1"/>
          </a:fontRef>
        </p:style>
        <p:txBody>
          <a:bodyPr rtlCol="0" anchor="ctr"/>
          <a:lstStyle/>
          <a:p>
            <a:pPr algn="ctr"/>
            <a:endParaRPr lang="en"/>
          </a:p>
        </p:txBody>
      </p:sp>
      <p:sp>
        <p:nvSpPr>
          <p:cNvPr id="17" name="CuadroTexto 16">
            <a:extLst>
              <a:ext uri="{FF2B5EF4-FFF2-40B4-BE49-F238E27FC236}">
                <a16:creationId xmlns:a16="http://schemas.microsoft.com/office/drawing/2014/main" id="{1A63B7FE-6FCA-34A1-7F7D-727C5A15B291}"/>
              </a:ext>
            </a:extLst>
          </p:cNvPr>
          <p:cNvSpPr txBox="1"/>
          <p:nvPr/>
        </p:nvSpPr>
        <p:spPr>
          <a:xfrm>
            <a:off x="8588763" y="4592836"/>
            <a:ext cx="3190309" cy="830997"/>
          </a:xfrm>
          <a:prstGeom prst="rect">
            <a:avLst/>
          </a:prstGeom>
          <a:noFill/>
        </p:spPr>
        <p:txBody>
          <a:bodyPr wrap="square">
            <a:spAutoFit/>
          </a:bodyPr>
          <a:lstStyle/>
          <a:p>
            <a:r>
              <a:rPr lang="en" sz="1200" dirty="0"/>
              <a:t>Large range reductions for </a:t>
            </a:r>
            <a:r>
              <a:rPr lang="en" sz="1200" i="1" dirty="0"/>
              <a:t>i0_c_ref</a:t>
            </a:r>
            <a:r>
              <a:rPr lang="en" sz="1200" dirty="0"/>
              <a:t>, </a:t>
            </a:r>
            <a:r>
              <a:rPr lang="en" sz="1200" i="1" dirty="0"/>
              <a:t>kappa_co</a:t>
            </a:r>
            <a:r>
              <a:rPr lang="en" sz="1200" dirty="0"/>
              <a:t>, and </a:t>
            </a:r>
            <a:r>
              <a:rPr lang="en" sz="1200" i="1" dirty="0"/>
              <a:t>kappa_c</a:t>
            </a:r>
            <a:r>
              <a:rPr lang="en" sz="1200" dirty="0"/>
              <a:t> indicate these parameters must be </a:t>
            </a:r>
            <a:r>
              <a:rPr lang="en" sz="1200" dirty="0">
                <a:solidFill>
                  <a:srgbClr val="008B2E"/>
                </a:solidFill>
              </a:rPr>
              <a:t>tightly constrained </a:t>
            </a:r>
            <a:r>
              <a:rPr lang="en" sz="1200" dirty="0"/>
              <a:t>to ensure valid polarization curves</a:t>
            </a:r>
          </a:p>
        </p:txBody>
      </p:sp>
      <p:sp>
        <p:nvSpPr>
          <p:cNvPr id="20" name="Título 1">
            <a:extLst>
              <a:ext uri="{FF2B5EF4-FFF2-40B4-BE49-F238E27FC236}">
                <a16:creationId xmlns:a16="http://schemas.microsoft.com/office/drawing/2014/main" id="{109423F5-686B-E050-3F80-B242253213A0}"/>
              </a:ext>
            </a:extLst>
          </p:cNvPr>
          <p:cNvSpPr>
            <a:spLocks noGrp="1"/>
          </p:cNvSpPr>
          <p:nvPr>
            <p:ph type="title"/>
          </p:nvPr>
        </p:nvSpPr>
        <p:spPr>
          <a:xfrm>
            <a:off x="2204894" y="794668"/>
            <a:ext cx="7945761" cy="518126"/>
          </a:xfrm>
        </p:spPr>
        <p:txBody>
          <a:bodyPr/>
          <a:lstStyle/>
          <a:p>
            <a:pPr algn="ctr"/>
            <a:r>
              <a:rPr lang="en-US" sz="2800" b="1" dirty="0">
                <a:latin typeface="Source Sans Pro" panose="020B0503030403020204" pitchFamily="34" charset="0"/>
                <a:ea typeface="Source Sans Pro" panose="020B0503030403020204" pitchFamily="34" charset="0"/>
              </a:rPr>
              <a:t>Resulting </a:t>
            </a:r>
            <a:r>
              <a:rPr lang="en-US" sz="2800" b="1" dirty="0" err="1">
                <a:latin typeface="Source Sans Pro" panose="020B0503030403020204" pitchFamily="34" charset="0"/>
                <a:ea typeface="Source Sans Pro" panose="020B0503030403020204" pitchFamily="34" charset="0"/>
              </a:rPr>
              <a:t>hyperbox</a:t>
            </a:r>
            <a:r>
              <a:rPr lang="en-US" sz="2800" b="1" dirty="0">
                <a:latin typeface="Source Sans Pro" panose="020B0503030403020204" pitchFamily="34" charset="0"/>
                <a:ea typeface="Source Sans Pro" panose="020B0503030403020204" pitchFamily="34" charset="0"/>
              </a:rPr>
              <a:t> from IRD</a:t>
            </a:r>
            <a:endParaRPr lang="en" sz="2800" b="1" dirty="0">
              <a:latin typeface="Source Sans Pro" panose="020B0503030403020204" pitchFamily="34" charset="0"/>
              <a:ea typeface="Source Sans Pro" panose="020B0503030403020204" pitchFamily="34" charset="0"/>
            </a:endParaRPr>
          </a:p>
        </p:txBody>
      </p:sp>
      <p:grpSp>
        <p:nvGrpSpPr>
          <p:cNvPr id="24" name="Grupo 23">
            <a:extLst>
              <a:ext uri="{FF2B5EF4-FFF2-40B4-BE49-F238E27FC236}">
                <a16:creationId xmlns:a16="http://schemas.microsoft.com/office/drawing/2014/main" id="{4718D5CB-D380-BB7A-1517-8C8205FF1B34}"/>
              </a:ext>
            </a:extLst>
          </p:cNvPr>
          <p:cNvGrpSpPr/>
          <p:nvPr/>
        </p:nvGrpSpPr>
        <p:grpSpPr>
          <a:xfrm>
            <a:off x="8567830" y="1683907"/>
            <a:ext cx="3255550" cy="1344151"/>
            <a:chOff x="8468217" y="1465149"/>
            <a:chExt cx="3255550" cy="1344151"/>
          </a:xfrm>
        </p:grpSpPr>
        <p:sp>
          <p:nvSpPr>
            <p:cNvPr id="21" name="Google Shape;1857;p37">
              <a:extLst>
                <a:ext uri="{FF2B5EF4-FFF2-40B4-BE49-F238E27FC236}">
                  <a16:creationId xmlns:a16="http://schemas.microsoft.com/office/drawing/2014/main" id="{ABFCD99B-5185-9C68-45CA-92839AFC89CC}"/>
                </a:ext>
              </a:extLst>
            </p:cNvPr>
            <p:cNvSpPr/>
            <p:nvPr/>
          </p:nvSpPr>
          <p:spPr bwMode="auto">
            <a:xfrm>
              <a:off x="8500838" y="1605976"/>
              <a:ext cx="3190309" cy="1203324"/>
            </a:xfrm>
            <a:prstGeom prst="rect">
              <a:avLst/>
            </a:prstGeom>
            <a:solidFill>
              <a:srgbClr val="FFC000">
                <a:alpha val="10000"/>
              </a:srgbClr>
            </a:solidFill>
            <a:ln>
              <a:noFill/>
            </a:ln>
          </p:spPr>
          <p:txBody>
            <a:bodyPr spcFirstLastPara="1" wrap="square" lIns="121900" tIns="121900" rIns="121900" bIns="121900" anchor="ctr" anchorCtr="0">
              <a:noAutofit/>
            </a:bodyPr>
            <a:lstStyle/>
            <a:p>
              <a:pPr defTabSz="1219140">
                <a:buClr>
                  <a:srgbClr val="000000"/>
                </a:buClr>
                <a:defRPr/>
              </a:pPr>
              <a:endParaRPr lang="en-US" sz="1200" i="1" kern="0" dirty="0">
                <a:solidFill>
                  <a:srgbClr val="000000"/>
                </a:solidFill>
                <a:cs typeface="Arial"/>
                <a:sym typeface="Arial"/>
              </a:endParaRPr>
            </a:p>
            <a:p>
              <a:pPr defTabSz="1219140">
                <a:buClr>
                  <a:srgbClr val="000000"/>
                </a:buClr>
                <a:defRPr/>
              </a:pPr>
              <a:r>
                <a:rPr lang="en-US" sz="1200" i="1" kern="0" dirty="0" err="1">
                  <a:solidFill>
                    <a:srgbClr val="008B2E"/>
                  </a:solidFill>
                  <a:cs typeface="Arial"/>
                  <a:sym typeface="Arial"/>
                </a:rPr>
                <a:t>x_interest</a:t>
              </a:r>
              <a:r>
                <a:rPr lang="en-US" sz="1200" i="1" kern="0" dirty="0">
                  <a:solidFill>
                    <a:srgbClr val="008B2E"/>
                  </a:solidFill>
                  <a:cs typeface="Arial"/>
                  <a:sym typeface="Arial"/>
                </a:rPr>
                <a:t> </a:t>
              </a:r>
              <a:r>
                <a:rPr lang="en-US" sz="1200" kern="0" dirty="0">
                  <a:solidFill>
                    <a:srgbClr val="000000"/>
                  </a:solidFill>
                  <a:cs typeface="Arial"/>
                  <a:sym typeface="Arial"/>
                </a:rPr>
                <a:t>is taken from Tables 3.3 and 3.4 of Gass' thesis and corresponds to a validated polarization curve from the EH-31 experimental fuel cell</a:t>
              </a:r>
              <a:endParaRPr sz="1200" kern="0" dirty="0">
                <a:solidFill>
                  <a:srgbClr val="000000"/>
                </a:solidFill>
                <a:cs typeface="Arial"/>
                <a:sym typeface="Arial"/>
              </a:endParaRPr>
            </a:p>
          </p:txBody>
        </p:sp>
        <p:sp>
          <p:nvSpPr>
            <p:cNvPr id="23" name="Google Shape;1859;p37">
              <a:extLst>
                <a:ext uri="{FF2B5EF4-FFF2-40B4-BE49-F238E27FC236}">
                  <a16:creationId xmlns:a16="http://schemas.microsoft.com/office/drawing/2014/main" id="{D0AF52C0-DB29-8C40-A301-5D6DC0EC6103}"/>
                </a:ext>
              </a:extLst>
            </p:cNvPr>
            <p:cNvSpPr/>
            <p:nvPr/>
          </p:nvSpPr>
          <p:spPr bwMode="auto">
            <a:xfrm>
              <a:off x="8468217" y="1465149"/>
              <a:ext cx="3255550" cy="387234"/>
            </a:xfrm>
            <a:prstGeom prst="roundRect">
              <a:avLst>
                <a:gd name="adj" fmla="val 50000"/>
              </a:avLst>
            </a:prstGeom>
            <a:solidFill>
              <a:srgbClr val="FFC000"/>
            </a:solidFill>
            <a:ln>
              <a:noFill/>
            </a:ln>
          </p:spPr>
          <p:txBody>
            <a:bodyPr spcFirstLastPara="1" wrap="square" lIns="121900" tIns="121900" rIns="121900" bIns="121900" anchor="ctr" anchorCtr="0">
              <a:noAutofit/>
            </a:bodyPr>
            <a:lstStyle/>
            <a:p>
              <a:pPr algn="ctr" defTabSz="1219140">
                <a:buClr>
                  <a:srgbClr val="000000"/>
                </a:buClr>
                <a:defRPr/>
              </a:pPr>
              <a:r>
                <a:rPr lang="es-MX" sz="1400" b="1" kern="0" dirty="0">
                  <a:solidFill>
                    <a:schemeClr val="bg1"/>
                  </a:solidFill>
                  <a:latin typeface="+mj-lt"/>
                  <a:cs typeface="Arial"/>
                  <a:sym typeface="Arial"/>
                </a:rPr>
                <a:t>Reference </a:t>
              </a:r>
              <a:r>
                <a:rPr lang="es-MX" sz="1400" b="1" kern="0" dirty="0" err="1">
                  <a:solidFill>
                    <a:schemeClr val="bg1"/>
                  </a:solidFill>
                  <a:latin typeface="+mj-lt"/>
                  <a:cs typeface="Arial"/>
                  <a:sym typeface="Arial"/>
                </a:rPr>
                <a:t>configuration</a:t>
              </a:r>
              <a:endParaRPr sz="1400" b="1" kern="0" dirty="0">
                <a:solidFill>
                  <a:schemeClr val="bg1"/>
                </a:solidFill>
                <a:latin typeface="+mj-lt"/>
                <a:cs typeface="Arial"/>
                <a:sym typeface="Arial"/>
              </a:endParaRPr>
            </a:p>
          </p:txBody>
        </p:sp>
      </p:grpSp>
      <p:cxnSp>
        <p:nvCxnSpPr>
          <p:cNvPr id="25" name="Google Shape;2044;p39">
            <a:extLst>
              <a:ext uri="{FF2B5EF4-FFF2-40B4-BE49-F238E27FC236}">
                <a16:creationId xmlns:a16="http://schemas.microsoft.com/office/drawing/2014/main" id="{C534B2E3-3E8F-D3BD-4307-F718C55CDCBF}"/>
              </a:ext>
            </a:extLst>
          </p:cNvPr>
          <p:cNvCxnSpPr>
            <a:cxnSpLocks/>
            <a:stCxn id="31" idx="1"/>
            <a:endCxn id="38" idx="4"/>
          </p:cNvCxnSpPr>
          <p:nvPr/>
        </p:nvCxnSpPr>
        <p:spPr>
          <a:xfrm flipH="1" flipV="1">
            <a:off x="8173009" y="2887613"/>
            <a:ext cx="676171" cy="841475"/>
          </a:xfrm>
          <a:prstGeom prst="straightConnector1">
            <a:avLst/>
          </a:prstGeom>
          <a:ln>
            <a:solidFill>
              <a:srgbClr val="B278E6"/>
            </a:solidFill>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28" name="Google Shape;2044;p39">
            <a:extLst>
              <a:ext uri="{FF2B5EF4-FFF2-40B4-BE49-F238E27FC236}">
                <a16:creationId xmlns:a16="http://schemas.microsoft.com/office/drawing/2014/main" id="{A96AEFC8-807F-84ED-5F44-1532BD531900}"/>
              </a:ext>
            </a:extLst>
          </p:cNvPr>
          <p:cNvCxnSpPr>
            <a:cxnSpLocks/>
            <a:stCxn id="31" idx="1"/>
            <a:endCxn id="39" idx="4"/>
          </p:cNvCxnSpPr>
          <p:nvPr/>
        </p:nvCxnSpPr>
        <p:spPr>
          <a:xfrm flipH="1" flipV="1">
            <a:off x="8173009" y="3282051"/>
            <a:ext cx="676171" cy="447037"/>
          </a:xfrm>
          <a:prstGeom prst="straightConnector1">
            <a:avLst/>
          </a:prstGeom>
          <a:ln>
            <a:solidFill>
              <a:srgbClr val="B278E6"/>
            </a:solidFill>
            <a:headEnd type="non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31" name="CuadroTexto 30">
            <a:extLst>
              <a:ext uri="{FF2B5EF4-FFF2-40B4-BE49-F238E27FC236}">
                <a16:creationId xmlns:a16="http://schemas.microsoft.com/office/drawing/2014/main" id="{AD1DC969-DFB1-A56B-1BE9-C1D0C590504A}"/>
              </a:ext>
            </a:extLst>
          </p:cNvPr>
          <p:cNvSpPr txBox="1"/>
          <p:nvPr/>
        </p:nvSpPr>
        <p:spPr>
          <a:xfrm>
            <a:off x="8849180" y="3498255"/>
            <a:ext cx="1999150" cy="461665"/>
          </a:xfrm>
          <a:prstGeom prst="rect">
            <a:avLst/>
          </a:prstGeom>
          <a:noFill/>
        </p:spPr>
        <p:txBody>
          <a:bodyPr wrap="square">
            <a:spAutoFit/>
          </a:bodyPr>
          <a:lstStyle/>
          <a:p>
            <a:r>
              <a:rPr lang="en" sz="1200" b="1" dirty="0">
                <a:solidFill>
                  <a:srgbClr val="B278E6"/>
                </a:solidFill>
              </a:rPr>
              <a:t>Immutable features</a:t>
            </a:r>
            <a:r>
              <a:rPr lang="en" sz="1200" dirty="0"/>
              <a:t>: fixed to reference value</a:t>
            </a:r>
          </a:p>
        </p:txBody>
      </p:sp>
      <p:sp>
        <p:nvSpPr>
          <p:cNvPr id="38" name="Elipse 37">
            <a:extLst>
              <a:ext uri="{FF2B5EF4-FFF2-40B4-BE49-F238E27FC236}">
                <a16:creationId xmlns:a16="http://schemas.microsoft.com/office/drawing/2014/main" id="{9182F66F-802B-EE23-CAE2-32221462C411}"/>
              </a:ext>
            </a:extLst>
          </p:cNvPr>
          <p:cNvSpPr/>
          <p:nvPr/>
        </p:nvSpPr>
        <p:spPr>
          <a:xfrm>
            <a:off x="8139435" y="2789869"/>
            <a:ext cx="67148" cy="97744"/>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9" name="Elipse 38">
            <a:extLst>
              <a:ext uri="{FF2B5EF4-FFF2-40B4-BE49-F238E27FC236}">
                <a16:creationId xmlns:a16="http://schemas.microsoft.com/office/drawing/2014/main" id="{35BA39AC-50BF-93CE-3B72-E6022D316E86}"/>
              </a:ext>
            </a:extLst>
          </p:cNvPr>
          <p:cNvSpPr/>
          <p:nvPr/>
        </p:nvSpPr>
        <p:spPr>
          <a:xfrm>
            <a:off x="8139435" y="3184307"/>
            <a:ext cx="67148" cy="97744"/>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Tree>
    <p:extLst>
      <p:ext uri="{BB962C8B-B14F-4D97-AF65-F5344CB8AC3E}">
        <p14:creationId xmlns:p14="http://schemas.microsoft.com/office/powerpoint/2010/main" val="15043494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C7016-D32F-564B-F15C-ED5FD1CA3C89}"/>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4D49E669-0B02-2837-F112-3E7388063E14}"/>
              </a:ext>
            </a:extLst>
          </p:cNvPr>
          <p:cNvSpPr>
            <a:spLocks noGrp="1"/>
          </p:cNvSpPr>
          <p:nvPr>
            <p:ph type="sldNum" sz="quarter" idx="12"/>
          </p:nvPr>
        </p:nvSpPr>
        <p:spPr/>
        <p:txBody>
          <a:bodyPr/>
          <a:lstStyle/>
          <a:p>
            <a:fld id="{B75BC28E-972B-EC47-BE79-29D89D46B9CA}" type="slidenum">
              <a:rPr lang="es-ES_tradnl" b="1" smtClean="0">
                <a:solidFill>
                  <a:schemeClr val="bg1"/>
                </a:solidFill>
              </a:rPr>
              <a:t>14</a:t>
            </a:fld>
            <a:endParaRPr lang="es-ES_tradnl" b="1" dirty="0">
              <a:solidFill>
                <a:schemeClr val="bg1"/>
              </a:solidFill>
            </a:endParaRPr>
          </a:p>
        </p:txBody>
      </p:sp>
      <p:sp>
        <p:nvSpPr>
          <p:cNvPr id="65" name="CuadroTexto 64">
            <a:extLst>
              <a:ext uri="{FF2B5EF4-FFF2-40B4-BE49-F238E27FC236}">
                <a16:creationId xmlns:a16="http://schemas.microsoft.com/office/drawing/2014/main" id="{6B93DCD2-CACB-A950-865A-2E03AB5BC993}"/>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29319995-5A34-678C-98F1-A4316C27A674}"/>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A3F7B27F-C24E-DA7E-B2C5-23A90300A30E}"/>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5" name="Título 1">
            <a:extLst>
              <a:ext uri="{FF2B5EF4-FFF2-40B4-BE49-F238E27FC236}">
                <a16:creationId xmlns:a16="http://schemas.microsoft.com/office/drawing/2014/main" id="{7AD9E350-E1CB-B4AC-CE6A-C6FB685CE22C}"/>
              </a:ext>
            </a:extLst>
          </p:cNvPr>
          <p:cNvSpPr>
            <a:spLocks noGrp="1"/>
          </p:cNvSpPr>
          <p:nvPr>
            <p:ph type="title"/>
          </p:nvPr>
        </p:nvSpPr>
        <p:spPr>
          <a:xfrm>
            <a:off x="1479778" y="871878"/>
            <a:ext cx="9002368" cy="518126"/>
          </a:xfrm>
        </p:spPr>
        <p:txBody>
          <a:bodyPr/>
          <a:lstStyle/>
          <a:p>
            <a:pPr algn="ctr"/>
            <a:r>
              <a:rPr lang="en" sz="2800" b="1" dirty="0">
                <a:latin typeface="Source Sans Pro" panose="020B0503030403020204" pitchFamily="34" charset="0"/>
                <a:ea typeface="Source Sans Pro" panose="020B0503030403020204" pitchFamily="34" charset="0"/>
              </a:rPr>
              <a:t>Final set of input parameters for sampling of AlphaPEM</a:t>
            </a:r>
          </a:p>
        </p:txBody>
      </p:sp>
      <p:graphicFrame>
        <p:nvGraphicFramePr>
          <p:cNvPr id="7" name="Tabla 6">
            <a:extLst>
              <a:ext uri="{FF2B5EF4-FFF2-40B4-BE49-F238E27FC236}">
                <a16:creationId xmlns:a16="http://schemas.microsoft.com/office/drawing/2014/main" id="{6C21B11C-2547-F5D5-E6B0-B7A1B72D5AB3}"/>
              </a:ext>
            </a:extLst>
          </p:cNvPr>
          <p:cNvGraphicFramePr>
            <a:graphicFrameLocks noGrp="1"/>
          </p:cNvGraphicFramePr>
          <p:nvPr>
            <p:extLst>
              <p:ext uri="{D42A27DB-BD31-4B8C-83A1-F6EECF244321}">
                <p14:modId xmlns:p14="http://schemas.microsoft.com/office/powerpoint/2010/main" val="3418877925"/>
              </p:ext>
            </p:extLst>
          </p:nvPr>
        </p:nvGraphicFramePr>
        <p:xfrm>
          <a:off x="855366" y="1682079"/>
          <a:ext cx="7736052" cy="3326400"/>
        </p:xfrm>
        <a:graphic>
          <a:graphicData uri="http://schemas.openxmlformats.org/drawingml/2006/table">
            <a:tbl>
              <a:tblPr/>
              <a:tblGrid>
                <a:gridCol w="467518">
                  <a:extLst>
                    <a:ext uri="{9D8B030D-6E8A-4147-A177-3AD203B41FA5}">
                      <a16:colId xmlns:a16="http://schemas.microsoft.com/office/drawing/2014/main" val="1532098"/>
                    </a:ext>
                  </a:extLst>
                </a:gridCol>
                <a:gridCol w="1130048">
                  <a:extLst>
                    <a:ext uri="{9D8B030D-6E8A-4147-A177-3AD203B41FA5}">
                      <a16:colId xmlns:a16="http://schemas.microsoft.com/office/drawing/2014/main" val="2553486490"/>
                    </a:ext>
                  </a:extLst>
                </a:gridCol>
                <a:gridCol w="4632597">
                  <a:extLst>
                    <a:ext uri="{9D8B030D-6E8A-4147-A177-3AD203B41FA5}">
                      <a16:colId xmlns:a16="http://schemas.microsoft.com/office/drawing/2014/main" val="3273686214"/>
                    </a:ext>
                  </a:extLst>
                </a:gridCol>
                <a:gridCol w="1505889">
                  <a:extLst>
                    <a:ext uri="{9D8B030D-6E8A-4147-A177-3AD203B41FA5}">
                      <a16:colId xmlns:a16="http://schemas.microsoft.com/office/drawing/2014/main" val="1983710068"/>
                    </a:ext>
                  </a:extLst>
                </a:gridCol>
              </a:tblGrid>
              <a:tr h="237600">
                <a:tc>
                  <a:txBody>
                    <a:bodyPr/>
                    <a:lstStyle/>
                    <a:p>
                      <a:pPr algn="ctr" fontAlgn="ctr"/>
                      <a:r>
                        <a:rPr lang="en-US" sz="1400" b="1" i="0" u="none" strike="noStrike" dirty="0">
                          <a:solidFill>
                            <a:srgbClr val="FFFFFF"/>
                          </a:solidFill>
                          <a:effectLst/>
                          <a:latin typeface="+mn-lt"/>
                        </a:rPr>
                        <a:t>#</a:t>
                      </a:r>
                    </a:p>
                  </a:txBody>
                  <a:tcPr marL="9525" marR="9525" marT="9525" marB="0" anchor="ctr">
                    <a:lnL>
                      <a:noFill/>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a:solidFill>
                            <a:srgbClr val="FFFFFF"/>
                          </a:solidFill>
                          <a:effectLst/>
                          <a:latin typeface="+mn-lt"/>
                        </a:rPr>
                        <a:t>Parameter</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dirty="0">
                          <a:solidFill>
                            <a:srgbClr val="FFFFFF"/>
                          </a:solidFill>
                          <a:effectLst/>
                          <a:latin typeface="+mn-lt"/>
                        </a:rPr>
                        <a:t>Description</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dirty="0">
                          <a:solidFill>
                            <a:srgbClr val="FFFFFF"/>
                          </a:solidFill>
                          <a:effectLst/>
                          <a:latin typeface="+mn-lt"/>
                        </a:rPr>
                        <a:t>Range</a:t>
                      </a:r>
                    </a:p>
                  </a:txBody>
                  <a:tcPr marL="9525" marR="9525" marT="9525"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B278E6"/>
                    </a:solidFill>
                  </a:tcPr>
                </a:tc>
                <a:extLst>
                  <a:ext uri="{0D108BD9-81ED-4DB2-BD59-A6C34878D82A}">
                    <a16:rowId xmlns:a16="http://schemas.microsoft.com/office/drawing/2014/main" val="2178601372"/>
                  </a:ext>
                </a:extLst>
              </a:tr>
              <a:tr h="237600">
                <a:tc>
                  <a:txBody>
                    <a:bodyPr/>
                    <a:lstStyle/>
                    <a:p>
                      <a:pPr algn="ctr" fontAlgn="ctr"/>
                      <a:r>
                        <a:rPr lang="en-US" sz="1400" b="1" i="0" u="none" strike="noStrike" dirty="0">
                          <a:solidFill>
                            <a:srgbClr val="FFFFFF"/>
                          </a:solidFill>
                          <a:effectLst/>
                          <a:latin typeface="+mn-lt"/>
                        </a:rPr>
                        <a:t>1</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Tfc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Desired fuel cell temperature (K)</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[333, 363]</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1258663555"/>
                  </a:ext>
                </a:extLst>
              </a:tr>
              <a:tr h="237600">
                <a:tc>
                  <a:txBody>
                    <a:bodyPr/>
                    <a:lstStyle/>
                    <a:p>
                      <a:pPr algn="ctr" fontAlgn="ctr"/>
                      <a:r>
                        <a:rPr lang="en-US" sz="1400" b="1" i="0" u="none" strike="noStrike" dirty="0">
                          <a:solidFill>
                            <a:srgbClr val="FFFFFF"/>
                          </a:solidFill>
                          <a:effectLst/>
                          <a:latin typeface="+mn-lt"/>
                        </a:rPr>
                        <a:t>2</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Pa_des</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Desired anode pressure (Pa)</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[130000, 300000]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302557485"/>
                  </a:ext>
                </a:extLst>
              </a:tr>
              <a:tr h="237600">
                <a:tc>
                  <a:txBody>
                    <a:bodyPr/>
                    <a:lstStyle/>
                    <a:p>
                      <a:pPr algn="ctr" fontAlgn="ctr"/>
                      <a:r>
                        <a:rPr lang="en-US" sz="1400" b="1" i="0" u="none" strike="noStrike" dirty="0">
                          <a:solidFill>
                            <a:srgbClr val="FFFFFF"/>
                          </a:solidFill>
                          <a:effectLst/>
                          <a:latin typeface="+mn-lt"/>
                        </a:rPr>
                        <a:t>3</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Sc</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Stoichiometric ratio of oxygen</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[1.1, 3.0]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735003018"/>
                  </a:ext>
                </a:extLst>
              </a:tr>
              <a:tr h="237600">
                <a:tc>
                  <a:txBody>
                    <a:bodyPr/>
                    <a:lstStyle/>
                    <a:p>
                      <a:pPr algn="ctr" fontAlgn="ctr"/>
                      <a:r>
                        <a:rPr lang="en-US" sz="1400" b="1" i="0" u="none" strike="noStrike" dirty="0">
                          <a:solidFill>
                            <a:srgbClr val="FFFFFF"/>
                          </a:solidFill>
                          <a:effectLst/>
                          <a:latin typeface="+mn-lt"/>
                        </a:rPr>
                        <a:t>4</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Phi_c_des</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Desired cathode relative humidity</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[0.1, 0.7]</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2497596716"/>
                  </a:ext>
                </a:extLst>
              </a:tr>
              <a:tr h="237600">
                <a:tc>
                  <a:txBody>
                    <a:bodyPr/>
                    <a:lstStyle/>
                    <a:p>
                      <a:pPr algn="ctr" fontAlgn="ctr"/>
                      <a:r>
                        <a:rPr lang="en-US" sz="1400" b="1" i="0" u="none" strike="noStrike" dirty="0">
                          <a:solidFill>
                            <a:srgbClr val="FFFFFF"/>
                          </a:solidFill>
                          <a:effectLst/>
                          <a:latin typeface="+mn-lt"/>
                        </a:rPr>
                        <a:t>5</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epsilon_gdl</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a:solidFill>
                            <a:srgbClr val="000000"/>
                          </a:solidFill>
                          <a:effectLst/>
                          <a:latin typeface="+mn-lt"/>
                        </a:rPr>
                        <a:t>GDL porosity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[0.55, 0.8]</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2606358842"/>
                  </a:ext>
                </a:extLst>
              </a:tr>
              <a:tr h="237600">
                <a:tc>
                  <a:txBody>
                    <a:bodyPr/>
                    <a:lstStyle/>
                    <a:p>
                      <a:pPr algn="ctr" fontAlgn="ctr"/>
                      <a:r>
                        <a:rPr lang="en-US" sz="1400" b="1" i="0" u="none" strike="noStrike" dirty="0">
                          <a:solidFill>
                            <a:srgbClr val="FFFFFF"/>
                          </a:solidFill>
                          <a:effectLst/>
                          <a:latin typeface="+mn-lt"/>
                        </a:rPr>
                        <a:t>6</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tau</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Pore structure coefficient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[1.0, 4.0]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3593754063"/>
                  </a:ext>
                </a:extLst>
              </a:tr>
              <a:tr h="237600">
                <a:tc>
                  <a:txBody>
                    <a:bodyPr/>
                    <a:lstStyle/>
                    <a:p>
                      <a:pPr algn="ctr" fontAlgn="ctr"/>
                      <a:r>
                        <a:rPr lang="en-US" sz="1400" b="1" i="0" u="none" strike="noStrike" dirty="0">
                          <a:solidFill>
                            <a:srgbClr val="FFFFFF"/>
                          </a:solidFill>
                          <a:effectLst/>
                          <a:latin typeface="+mn-lt"/>
                        </a:rPr>
                        <a:t>7</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epsilon_mc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Volume fraction of ionomer in catalyst layer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[0.15, 0.4]</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2290349736"/>
                  </a:ext>
                </a:extLst>
              </a:tr>
              <a:tr h="237600">
                <a:tc>
                  <a:txBody>
                    <a:bodyPr/>
                    <a:lstStyle/>
                    <a:p>
                      <a:pPr algn="ctr" fontAlgn="ctr"/>
                      <a:r>
                        <a:rPr lang="en-US" sz="1400" b="1" i="0" u="none" strike="noStrike" dirty="0">
                          <a:solidFill>
                            <a:srgbClr val="FFFFFF"/>
                          </a:solidFill>
                          <a:effectLst/>
                          <a:latin typeface="+mn-lt"/>
                        </a:rPr>
                        <a:t>8</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Compression ratio of GDL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a:solidFill>
                            <a:srgbClr val="000000"/>
                          </a:solidFill>
                          <a:effectLst/>
                          <a:latin typeface="+mn-lt"/>
                        </a:rPr>
                        <a:t>[0.15, 0.3]</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702110497"/>
                  </a:ext>
                </a:extLst>
              </a:tr>
              <a:tr h="237600">
                <a:tc>
                  <a:txBody>
                    <a:bodyPr/>
                    <a:lstStyle/>
                    <a:p>
                      <a:pPr algn="ctr" fontAlgn="ctr"/>
                      <a:r>
                        <a:rPr lang="en-US" sz="1400" b="1" i="0" u="none" strike="noStrike" dirty="0">
                          <a:solidFill>
                            <a:srgbClr val="FFFFFF"/>
                          </a:solidFill>
                          <a:effectLst/>
                          <a:latin typeface="+mn-lt"/>
                        </a:rPr>
                        <a:t>9</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e</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a:solidFill>
                            <a:srgbClr val="000000"/>
                          </a:solidFill>
                          <a:effectLst/>
                          <a:latin typeface="+mn-lt"/>
                        </a:rPr>
                        <a:t>Capillary exponent (integer)</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[3, 4, 5]</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9910064"/>
                  </a:ext>
                </a:extLst>
              </a:tr>
              <a:tr h="237600">
                <a:tc>
                  <a:txBody>
                    <a:bodyPr/>
                    <a:lstStyle/>
                    <a:p>
                      <a:pPr algn="ctr" fontAlgn="ctr"/>
                      <a:r>
                        <a:rPr lang="en-US" sz="1400" b="1" i="0" u="none" strike="noStrike" dirty="0">
                          <a:solidFill>
                            <a:srgbClr val="FFFFFF"/>
                          </a:solidFill>
                          <a:effectLst/>
                          <a:latin typeface="+mn-lt"/>
                        </a:rPr>
                        <a:t>10</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Re</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Electron conduction resistance (</a:t>
                      </a:r>
                      <a:r>
                        <a:rPr lang="el-GR" sz="1400" b="0" i="0" u="none" strike="noStrike" dirty="0">
                          <a:solidFill>
                            <a:srgbClr val="000000"/>
                          </a:solidFill>
                          <a:effectLst/>
                          <a:latin typeface="+mn-lt"/>
                        </a:rPr>
                        <a:t>Ω·</a:t>
                      </a:r>
                      <a:r>
                        <a:rPr lang="en-US" sz="1400" b="0" i="0" u="none" strike="noStrike" dirty="0">
                          <a:solidFill>
                            <a:srgbClr val="000000"/>
                          </a:solidFill>
                          <a:effectLst/>
                          <a:latin typeface="+mn-lt"/>
                        </a:rPr>
                        <a:t>m²)</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[5.0e-7, 5.0e-6]</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3189373911"/>
                  </a:ext>
                </a:extLst>
              </a:tr>
              <a:tr h="237600">
                <a:tc>
                  <a:txBody>
                    <a:bodyPr/>
                    <a:lstStyle/>
                    <a:p>
                      <a:pPr algn="ctr" fontAlgn="ctr"/>
                      <a:r>
                        <a:rPr lang="en-US" sz="1400" b="1" i="0" u="none" strike="noStrike" dirty="0">
                          <a:solidFill>
                            <a:srgbClr val="FFFFFF"/>
                          </a:solidFill>
                          <a:effectLst/>
                          <a:latin typeface="+mn-lt"/>
                        </a:rPr>
                        <a:t>11</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i0_c_ref</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Cathode exchange current density (A/m²)</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[0.001, 80]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627107602"/>
                  </a:ext>
                </a:extLst>
              </a:tr>
              <a:tr h="237600">
                <a:tc>
                  <a:txBody>
                    <a:bodyPr/>
                    <a:lstStyle/>
                    <a:p>
                      <a:pPr algn="ctr" fontAlgn="ctr"/>
                      <a:r>
                        <a:rPr lang="en-US" sz="1400" b="1" i="0" u="none" strike="noStrike" dirty="0">
                          <a:solidFill>
                            <a:srgbClr val="FFFFFF"/>
                          </a:solidFill>
                          <a:effectLst/>
                          <a:latin typeface="+mn-lt"/>
                        </a:rPr>
                        <a:t>12</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kappa_co</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Crossover correction coefficient (mol/(</a:t>
                      </a:r>
                      <a:r>
                        <a:rPr lang="en-US" sz="1400" b="0" i="0" u="none" strike="noStrike" dirty="0" err="1">
                          <a:solidFill>
                            <a:srgbClr val="000000"/>
                          </a:solidFill>
                          <a:effectLst/>
                          <a:latin typeface="+mn-lt"/>
                        </a:rPr>
                        <a:t>m·s·Pa</a:t>
                      </a:r>
                      <a:r>
                        <a:rPr lang="en-US" sz="1400" b="0" i="0" u="none" strike="noStrike" dirty="0">
                          <a:solidFill>
                            <a:srgbClr val="000000"/>
                          </a:solidFill>
                          <a:effectLst/>
                          <a:latin typeface="+mn-lt"/>
                        </a:rPr>
                        <a:t>))</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[15, 40]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878611149"/>
                  </a:ext>
                </a:extLst>
              </a:tr>
              <a:tr h="237600">
                <a:tc>
                  <a:txBody>
                    <a:bodyPr/>
                    <a:lstStyle/>
                    <a:p>
                      <a:pPr algn="ctr" fontAlgn="ctr"/>
                      <a:r>
                        <a:rPr lang="en-US" sz="1400" b="1" i="0" u="none" strike="noStrike" dirty="0">
                          <a:solidFill>
                            <a:srgbClr val="FFFFFF"/>
                          </a:solidFill>
                          <a:effectLst/>
                          <a:latin typeface="+mn-lt"/>
                        </a:rPr>
                        <a:t>13</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solidFill>
                  </a:tcPr>
                </a:tc>
                <a:tc>
                  <a:txBody>
                    <a:bodyPr/>
                    <a:lstStyle/>
                    <a:p>
                      <a:pPr algn="ctr" fontAlgn="ctr"/>
                      <a:r>
                        <a:rPr lang="en-US" sz="1400" b="1" i="1" u="none" strike="noStrike" dirty="0" err="1">
                          <a:solidFill>
                            <a:srgbClr val="000000"/>
                          </a:solidFill>
                          <a:effectLst/>
                          <a:latin typeface="+mn-lt"/>
                        </a:rPr>
                        <a:t>kappa_c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alpha val="10000"/>
                      </a:srgbClr>
                    </a:solidFill>
                  </a:tcPr>
                </a:tc>
                <a:tc>
                  <a:txBody>
                    <a:bodyPr/>
                    <a:lstStyle/>
                    <a:p>
                      <a:pPr algn="ctr" fontAlgn="ctr"/>
                      <a:r>
                        <a:rPr lang="en-US" sz="1400" b="0" i="0" u="none" strike="noStrike" dirty="0">
                          <a:solidFill>
                            <a:srgbClr val="000000"/>
                          </a:solidFill>
                          <a:effectLst/>
                          <a:latin typeface="+mn-lt"/>
                        </a:rPr>
                        <a:t>Overpotential correction exponent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alpha val="10000"/>
                      </a:srgbClr>
                    </a:solidFill>
                  </a:tcPr>
                </a:tc>
                <a:tc>
                  <a:txBody>
                    <a:bodyPr/>
                    <a:lstStyle/>
                    <a:p>
                      <a:pPr algn="ctr" fontAlgn="ctr"/>
                      <a:r>
                        <a:rPr lang="en-US" sz="1400" b="0" i="0" u="none" strike="noStrike" dirty="0">
                          <a:solidFill>
                            <a:srgbClr val="000000"/>
                          </a:solidFill>
                          <a:effectLst/>
                          <a:latin typeface="+mn-lt"/>
                        </a:rPr>
                        <a:t>[0, 2.5]</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a:noFill/>
                    </a:lnB>
                    <a:solidFill>
                      <a:srgbClr val="B278E6">
                        <a:alpha val="10000"/>
                      </a:srgbClr>
                    </a:solidFill>
                  </a:tcPr>
                </a:tc>
                <a:extLst>
                  <a:ext uri="{0D108BD9-81ED-4DB2-BD59-A6C34878D82A}">
                    <a16:rowId xmlns:a16="http://schemas.microsoft.com/office/drawing/2014/main" val="2957950070"/>
                  </a:ext>
                </a:extLst>
              </a:tr>
            </a:tbl>
          </a:graphicData>
        </a:graphic>
      </p:graphicFrame>
      <p:sp>
        <p:nvSpPr>
          <p:cNvPr id="9" name="CuadroTexto 8">
            <a:extLst>
              <a:ext uri="{FF2B5EF4-FFF2-40B4-BE49-F238E27FC236}">
                <a16:creationId xmlns:a16="http://schemas.microsoft.com/office/drawing/2014/main" id="{68DD7EE7-7EF2-DD6E-7F56-6FA8A48C6ED2}"/>
              </a:ext>
            </a:extLst>
          </p:cNvPr>
          <p:cNvSpPr txBox="1"/>
          <p:nvPr/>
        </p:nvSpPr>
        <p:spPr>
          <a:xfrm>
            <a:off x="855366" y="5175921"/>
            <a:ext cx="7736052" cy="954107"/>
          </a:xfrm>
          <a:prstGeom prst="rect">
            <a:avLst/>
          </a:prstGeom>
          <a:noFill/>
        </p:spPr>
        <p:txBody>
          <a:bodyPr wrap="square">
            <a:spAutoFit/>
          </a:bodyPr>
          <a:lstStyle/>
          <a:p>
            <a:r>
              <a:rPr lang="en-US" sz="1400" b="1" dirty="0"/>
              <a:t>Table 2:</a:t>
            </a:r>
            <a:r>
              <a:rPr lang="en-US" sz="1400" dirty="0"/>
              <a:t> Final </a:t>
            </a:r>
            <a:r>
              <a:rPr lang="en-US" sz="1400" b="1" dirty="0">
                <a:solidFill>
                  <a:srgbClr val="008B2E"/>
                </a:solidFill>
              </a:rPr>
              <a:t>13 input parameters </a:t>
            </a:r>
            <a:r>
              <a:rPr lang="en-US" sz="1400" dirty="0"/>
              <a:t>for valid </a:t>
            </a:r>
            <a:r>
              <a:rPr lang="en-US" sz="1400" dirty="0" err="1"/>
              <a:t>AlphaPEM</a:t>
            </a:r>
            <a:r>
              <a:rPr lang="en-US" sz="1400" dirty="0"/>
              <a:t> simulations, selected in collaboration with project partners and </a:t>
            </a:r>
            <a:r>
              <a:rPr lang="en-US" sz="1400" dirty="0" err="1"/>
              <a:t>AlphaPEM’s</a:t>
            </a:r>
            <a:r>
              <a:rPr lang="en-US" sz="1400" dirty="0"/>
              <a:t> author Raphael Gass. Operating conditions were intentionally left </a:t>
            </a:r>
            <a:r>
              <a:rPr lang="en-US" sz="1400" b="1" dirty="0">
                <a:solidFill>
                  <a:srgbClr val="B278E6"/>
                </a:solidFill>
              </a:rPr>
              <a:t>unrestricted</a:t>
            </a:r>
            <a:r>
              <a:rPr lang="en-US" sz="1400" dirty="0"/>
              <a:t>; undetermined physical parameters were</a:t>
            </a:r>
            <a:r>
              <a:rPr lang="en-US" sz="1400" b="1" dirty="0"/>
              <a:t> </a:t>
            </a:r>
            <a:r>
              <a:rPr lang="en-US" sz="1400" b="1" dirty="0">
                <a:solidFill>
                  <a:srgbClr val="B278E6"/>
                </a:solidFill>
              </a:rPr>
              <a:t>fixed</a:t>
            </a:r>
            <a:r>
              <a:rPr lang="en-US" sz="1400" b="1" dirty="0"/>
              <a:t> </a:t>
            </a:r>
            <a:r>
              <a:rPr lang="en-US" sz="1400" dirty="0"/>
              <a:t>or constrained based on </a:t>
            </a:r>
            <a:r>
              <a:rPr lang="en-US" sz="1400" b="1" dirty="0">
                <a:solidFill>
                  <a:srgbClr val="B278E6"/>
                </a:solidFill>
              </a:rPr>
              <a:t>IRD-guided</a:t>
            </a:r>
            <a:r>
              <a:rPr lang="en-US" sz="1400" dirty="0"/>
              <a:t> model validity analysis.</a:t>
            </a:r>
            <a:endParaRPr lang="en" sz="1400" dirty="0"/>
          </a:p>
        </p:txBody>
      </p:sp>
      <p:sp>
        <p:nvSpPr>
          <p:cNvPr id="11" name="Rectángulo 10">
            <a:extLst>
              <a:ext uri="{FF2B5EF4-FFF2-40B4-BE49-F238E27FC236}">
                <a16:creationId xmlns:a16="http://schemas.microsoft.com/office/drawing/2014/main" id="{C2B6ED62-5EAF-AB14-4526-91463449E6F8}"/>
              </a:ext>
            </a:extLst>
          </p:cNvPr>
          <p:cNvSpPr/>
          <p:nvPr/>
        </p:nvSpPr>
        <p:spPr>
          <a:xfrm>
            <a:off x="8761128" y="19196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4" name="Rectángulo 13">
            <a:extLst>
              <a:ext uri="{FF2B5EF4-FFF2-40B4-BE49-F238E27FC236}">
                <a16:creationId xmlns:a16="http://schemas.microsoft.com/office/drawing/2014/main" id="{C17BA819-D8D0-F7B9-5273-6B72A2293B6F}"/>
              </a:ext>
            </a:extLst>
          </p:cNvPr>
          <p:cNvSpPr/>
          <p:nvPr/>
        </p:nvSpPr>
        <p:spPr>
          <a:xfrm>
            <a:off x="8761128" y="21572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5" name="Rectángulo 14">
            <a:extLst>
              <a:ext uri="{FF2B5EF4-FFF2-40B4-BE49-F238E27FC236}">
                <a16:creationId xmlns:a16="http://schemas.microsoft.com/office/drawing/2014/main" id="{DF3DBF5E-910C-C5D5-A03C-92427BDE66E2}"/>
              </a:ext>
            </a:extLst>
          </p:cNvPr>
          <p:cNvSpPr/>
          <p:nvPr/>
        </p:nvSpPr>
        <p:spPr>
          <a:xfrm>
            <a:off x="8761128" y="23948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6" name="Rectángulo 15">
            <a:extLst>
              <a:ext uri="{FF2B5EF4-FFF2-40B4-BE49-F238E27FC236}">
                <a16:creationId xmlns:a16="http://schemas.microsoft.com/office/drawing/2014/main" id="{00B2299D-9C7A-381A-B021-9B05D2824FC8}"/>
              </a:ext>
            </a:extLst>
          </p:cNvPr>
          <p:cNvSpPr/>
          <p:nvPr/>
        </p:nvSpPr>
        <p:spPr>
          <a:xfrm>
            <a:off x="8761128" y="26324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8" name="Rectángulo 17">
            <a:extLst>
              <a:ext uri="{FF2B5EF4-FFF2-40B4-BE49-F238E27FC236}">
                <a16:creationId xmlns:a16="http://schemas.microsoft.com/office/drawing/2014/main" id="{6B539AAC-6A3E-E552-74F5-EB9CBF7CF323}"/>
              </a:ext>
            </a:extLst>
          </p:cNvPr>
          <p:cNvSpPr/>
          <p:nvPr/>
        </p:nvSpPr>
        <p:spPr>
          <a:xfrm>
            <a:off x="8761128" y="28700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9" name="Rectángulo 18">
            <a:extLst>
              <a:ext uri="{FF2B5EF4-FFF2-40B4-BE49-F238E27FC236}">
                <a16:creationId xmlns:a16="http://schemas.microsoft.com/office/drawing/2014/main" id="{A5DD2148-8B4E-8699-E83A-1D3082E2B741}"/>
              </a:ext>
            </a:extLst>
          </p:cNvPr>
          <p:cNvSpPr/>
          <p:nvPr/>
        </p:nvSpPr>
        <p:spPr>
          <a:xfrm>
            <a:off x="8761128" y="31076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2" name="Rectángulo 21">
            <a:extLst>
              <a:ext uri="{FF2B5EF4-FFF2-40B4-BE49-F238E27FC236}">
                <a16:creationId xmlns:a16="http://schemas.microsoft.com/office/drawing/2014/main" id="{A94A2C68-8433-94A1-DB0A-B4E04EBAA8BA}"/>
              </a:ext>
            </a:extLst>
          </p:cNvPr>
          <p:cNvSpPr/>
          <p:nvPr/>
        </p:nvSpPr>
        <p:spPr>
          <a:xfrm>
            <a:off x="8761128" y="33452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6" name="Rectángulo 25">
            <a:extLst>
              <a:ext uri="{FF2B5EF4-FFF2-40B4-BE49-F238E27FC236}">
                <a16:creationId xmlns:a16="http://schemas.microsoft.com/office/drawing/2014/main" id="{EC7DD859-EC6C-5E0C-0755-49B0AEBA7677}"/>
              </a:ext>
            </a:extLst>
          </p:cNvPr>
          <p:cNvSpPr/>
          <p:nvPr/>
        </p:nvSpPr>
        <p:spPr>
          <a:xfrm>
            <a:off x="8761128" y="35828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7" name="Rectángulo 26">
            <a:extLst>
              <a:ext uri="{FF2B5EF4-FFF2-40B4-BE49-F238E27FC236}">
                <a16:creationId xmlns:a16="http://schemas.microsoft.com/office/drawing/2014/main" id="{3DD4ECB2-7013-3F1A-F66B-40169B5078E5}"/>
              </a:ext>
            </a:extLst>
          </p:cNvPr>
          <p:cNvSpPr/>
          <p:nvPr/>
        </p:nvSpPr>
        <p:spPr>
          <a:xfrm>
            <a:off x="8761128" y="38204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9" name="Rectángulo 28">
            <a:extLst>
              <a:ext uri="{FF2B5EF4-FFF2-40B4-BE49-F238E27FC236}">
                <a16:creationId xmlns:a16="http://schemas.microsoft.com/office/drawing/2014/main" id="{142B4758-6F3E-78BB-723A-3A57DE6EFB07}"/>
              </a:ext>
            </a:extLst>
          </p:cNvPr>
          <p:cNvSpPr/>
          <p:nvPr/>
        </p:nvSpPr>
        <p:spPr>
          <a:xfrm>
            <a:off x="8761128" y="40580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0" name="Rectángulo 29">
            <a:extLst>
              <a:ext uri="{FF2B5EF4-FFF2-40B4-BE49-F238E27FC236}">
                <a16:creationId xmlns:a16="http://schemas.microsoft.com/office/drawing/2014/main" id="{591172B9-A4B9-538A-77EB-8A82E62A8FBA}"/>
              </a:ext>
            </a:extLst>
          </p:cNvPr>
          <p:cNvSpPr/>
          <p:nvPr/>
        </p:nvSpPr>
        <p:spPr>
          <a:xfrm>
            <a:off x="8761128" y="42956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2" name="Rectángulo 31">
            <a:extLst>
              <a:ext uri="{FF2B5EF4-FFF2-40B4-BE49-F238E27FC236}">
                <a16:creationId xmlns:a16="http://schemas.microsoft.com/office/drawing/2014/main" id="{C0DE23D1-6D5F-7DC3-9E90-B37EE123B264}"/>
              </a:ext>
            </a:extLst>
          </p:cNvPr>
          <p:cNvSpPr/>
          <p:nvPr/>
        </p:nvSpPr>
        <p:spPr>
          <a:xfrm>
            <a:off x="8761128" y="45332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3" name="Rectángulo 32">
            <a:extLst>
              <a:ext uri="{FF2B5EF4-FFF2-40B4-BE49-F238E27FC236}">
                <a16:creationId xmlns:a16="http://schemas.microsoft.com/office/drawing/2014/main" id="{70EC3FE6-32CB-9091-303D-BB326E726F91}"/>
              </a:ext>
            </a:extLst>
          </p:cNvPr>
          <p:cNvSpPr/>
          <p:nvPr/>
        </p:nvSpPr>
        <p:spPr>
          <a:xfrm>
            <a:off x="8761128" y="47708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cxnSp>
        <p:nvCxnSpPr>
          <p:cNvPr id="36" name="Conector: curvado 35">
            <a:extLst>
              <a:ext uri="{FF2B5EF4-FFF2-40B4-BE49-F238E27FC236}">
                <a16:creationId xmlns:a16="http://schemas.microsoft.com/office/drawing/2014/main" id="{28E2DC67-B499-4FE7-1146-46B49732527B}"/>
              </a:ext>
            </a:extLst>
          </p:cNvPr>
          <p:cNvCxnSpPr>
            <a:cxnSpLocks/>
            <a:stCxn id="11" idx="0"/>
            <a:endCxn id="37" idx="1"/>
          </p:cNvCxnSpPr>
          <p:nvPr/>
        </p:nvCxnSpPr>
        <p:spPr>
          <a:xfrm rot="5400000" flipH="1" flipV="1">
            <a:off x="9207162" y="1492473"/>
            <a:ext cx="131277" cy="723136"/>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CuadroTexto 36">
            <a:extLst>
              <a:ext uri="{FF2B5EF4-FFF2-40B4-BE49-F238E27FC236}">
                <a16:creationId xmlns:a16="http://schemas.microsoft.com/office/drawing/2014/main" id="{882E20A1-A2C4-3499-549C-F22C93519D66}"/>
              </a:ext>
            </a:extLst>
          </p:cNvPr>
          <p:cNvSpPr txBox="1"/>
          <p:nvPr/>
        </p:nvSpPr>
        <p:spPr>
          <a:xfrm>
            <a:off x="9634368" y="1526792"/>
            <a:ext cx="1702266" cy="523220"/>
          </a:xfrm>
          <a:prstGeom prst="rect">
            <a:avLst/>
          </a:prstGeom>
          <a:noFill/>
        </p:spPr>
        <p:txBody>
          <a:bodyPr wrap="square" rtlCol="0">
            <a:spAutoFit/>
          </a:bodyPr>
          <a:lstStyle/>
          <a:p>
            <a:r>
              <a:rPr lang="en" sz="1400" dirty="0"/>
              <a:t>Color palette for visualizations</a:t>
            </a:r>
          </a:p>
        </p:txBody>
      </p:sp>
      <p:grpSp>
        <p:nvGrpSpPr>
          <p:cNvPr id="40" name="Grupo 39">
            <a:extLst>
              <a:ext uri="{FF2B5EF4-FFF2-40B4-BE49-F238E27FC236}">
                <a16:creationId xmlns:a16="http://schemas.microsoft.com/office/drawing/2014/main" id="{71804780-1444-96F1-A8EB-277FFC770E28}"/>
              </a:ext>
            </a:extLst>
          </p:cNvPr>
          <p:cNvGrpSpPr/>
          <p:nvPr/>
        </p:nvGrpSpPr>
        <p:grpSpPr>
          <a:xfrm>
            <a:off x="9355604" y="2751279"/>
            <a:ext cx="2253084" cy="3326400"/>
            <a:chOff x="8435596" y="1657710"/>
            <a:chExt cx="3255550" cy="1691834"/>
          </a:xfrm>
        </p:grpSpPr>
        <p:sp>
          <p:nvSpPr>
            <p:cNvPr id="41" name="Google Shape;1857;p37">
              <a:extLst>
                <a:ext uri="{FF2B5EF4-FFF2-40B4-BE49-F238E27FC236}">
                  <a16:creationId xmlns:a16="http://schemas.microsoft.com/office/drawing/2014/main" id="{A7DCB7AB-7D95-1E5B-1E47-E5462A92FA35}"/>
                </a:ext>
              </a:extLst>
            </p:cNvPr>
            <p:cNvSpPr/>
            <p:nvPr/>
          </p:nvSpPr>
          <p:spPr bwMode="auto">
            <a:xfrm>
              <a:off x="8500838" y="1738194"/>
              <a:ext cx="3190308" cy="1611350"/>
            </a:xfrm>
            <a:prstGeom prst="rect">
              <a:avLst/>
            </a:prstGeom>
            <a:solidFill>
              <a:srgbClr val="008B2E">
                <a:alpha val="10000"/>
              </a:srgbClr>
            </a:solidFill>
            <a:ln>
              <a:noFill/>
            </a:ln>
          </p:spPr>
          <p:txBody>
            <a:bodyPr spcFirstLastPara="1" wrap="square" lIns="121900" tIns="121900" rIns="121900" bIns="121900" anchor="ctr" anchorCtr="0">
              <a:noAutofit/>
            </a:bodyPr>
            <a:lstStyle/>
            <a:p>
              <a:endParaRPr lang="en-US" sz="800" dirty="0"/>
            </a:p>
            <a:p>
              <a:endParaRPr lang="en-US" sz="1200" dirty="0"/>
            </a:p>
            <a:p>
              <a:r>
                <a:rPr lang="en-US" sz="1300" dirty="0"/>
                <a:t>The following parameters were fixed to simplify the model:</a:t>
              </a:r>
            </a:p>
            <a:p>
              <a:endParaRPr lang="en-US" sz="1300" dirty="0"/>
            </a:p>
            <a:p>
              <a:pPr marL="171450" indent="-171450">
                <a:buFont typeface="Arial" panose="020B0604020202020204" pitchFamily="34" charset="0"/>
                <a:buChar char="•"/>
              </a:pPr>
              <a:r>
                <a:rPr lang="en-US" sz="1300" i="1" dirty="0"/>
                <a:t>Sa</a:t>
              </a:r>
              <a:r>
                <a:rPr lang="en-US" sz="1300" dirty="0"/>
                <a:t> = 1.3</a:t>
              </a:r>
            </a:p>
            <a:p>
              <a:pPr marL="171450" indent="-171450">
                <a:buFont typeface="Arial" panose="020B0604020202020204" pitchFamily="34" charset="0"/>
                <a:buChar char="•"/>
              </a:pPr>
              <a:r>
                <a:rPr lang="en-US" sz="1300" i="1" dirty="0" err="1"/>
                <a:t>Phi_a_des</a:t>
              </a:r>
              <a:r>
                <a:rPr lang="en-US" sz="1300" dirty="0"/>
                <a:t> = 0.5</a:t>
              </a:r>
            </a:p>
            <a:p>
              <a:endParaRPr lang="en-US" sz="1300" dirty="0"/>
            </a:p>
            <a:p>
              <a:pPr marL="171450" indent="-171450">
                <a:buFont typeface="Arial" panose="020B0604020202020204" pitchFamily="34" charset="0"/>
                <a:buChar char="•"/>
              </a:pPr>
              <a:r>
                <a:rPr lang="en-US" sz="1300" i="1" dirty="0"/>
                <a:t> </a:t>
              </a:r>
              <a:r>
                <a:rPr lang="en-US" sz="1300" i="1" dirty="0" err="1"/>
                <a:t>a_slim</a:t>
              </a:r>
              <a:r>
                <a:rPr lang="en-US" sz="1300" i="1" dirty="0"/>
                <a:t> </a:t>
              </a:r>
              <a:r>
                <a:rPr lang="en-US" sz="1300" dirty="0"/>
                <a:t>= 0</a:t>
              </a:r>
            </a:p>
            <a:p>
              <a:pPr marL="171450" indent="-171450">
                <a:buFont typeface="Arial" panose="020B0604020202020204" pitchFamily="34" charset="0"/>
                <a:buChar char="•"/>
              </a:pPr>
              <a:r>
                <a:rPr lang="en-US" sz="1300" dirty="0"/>
                <a:t> </a:t>
              </a:r>
              <a:r>
                <a:rPr lang="en-US" sz="1300" i="1" dirty="0" err="1"/>
                <a:t>b_slim</a:t>
              </a:r>
              <a:r>
                <a:rPr lang="en-US" sz="1300" i="1" dirty="0"/>
                <a:t> </a:t>
              </a:r>
              <a:r>
                <a:rPr lang="en-US" sz="1300" dirty="0"/>
                <a:t>= 1</a:t>
              </a:r>
            </a:p>
            <a:p>
              <a:pPr marL="171450" indent="-171450">
                <a:buFont typeface="Arial" panose="020B0604020202020204" pitchFamily="34" charset="0"/>
                <a:buChar char="•"/>
              </a:pPr>
              <a:r>
                <a:rPr lang="en-US" sz="1300" dirty="0" err="1"/>
                <a:t>a_switch</a:t>
              </a:r>
              <a:r>
                <a:rPr lang="en-US" sz="1300" dirty="0"/>
                <a:t> = 0.99</a:t>
              </a:r>
            </a:p>
            <a:p>
              <a:endParaRPr lang="en-US" sz="1300" dirty="0"/>
            </a:p>
            <a:p>
              <a:pPr marL="171450" indent="-171450">
                <a:buFont typeface="Arial" panose="020B0604020202020204" pitchFamily="34" charset="0"/>
                <a:buChar char="•"/>
              </a:pPr>
              <a:r>
                <a:rPr lang="en-US" sz="1300" i="1" dirty="0"/>
                <a:t>    </a:t>
              </a:r>
              <a:r>
                <a:rPr lang="en-US" sz="1300" i="1" dirty="0" err="1"/>
                <a:t>Pc_des</a:t>
              </a:r>
              <a:r>
                <a:rPr lang="en-US" sz="1300" i="1" dirty="0"/>
                <a:t> </a:t>
              </a:r>
              <a:r>
                <a:rPr lang="en-US" sz="1300" dirty="0"/>
                <a:t>is derived from </a:t>
              </a:r>
              <a:r>
                <a:rPr lang="en-US" sz="1300" i="1" dirty="0" err="1"/>
                <a:t>Pa_des</a:t>
              </a:r>
              <a:r>
                <a:rPr lang="en-US" sz="1300" i="1" dirty="0"/>
                <a:t> </a:t>
              </a:r>
              <a:r>
                <a:rPr lang="en-US" sz="1300" dirty="0"/>
                <a:t>− 20000 Pa</a:t>
              </a:r>
              <a:endParaRPr sz="1300" kern="0" dirty="0">
                <a:solidFill>
                  <a:srgbClr val="000000"/>
                </a:solidFill>
                <a:cs typeface="Arial"/>
                <a:sym typeface="Arial"/>
              </a:endParaRPr>
            </a:p>
          </p:txBody>
        </p:sp>
        <p:sp>
          <p:nvSpPr>
            <p:cNvPr id="42" name="Google Shape;1859;p37">
              <a:extLst>
                <a:ext uri="{FF2B5EF4-FFF2-40B4-BE49-F238E27FC236}">
                  <a16:creationId xmlns:a16="http://schemas.microsoft.com/office/drawing/2014/main" id="{C90E7DCB-D298-F8B4-CE05-F2C6385D4913}"/>
                </a:ext>
              </a:extLst>
            </p:cNvPr>
            <p:cNvSpPr/>
            <p:nvPr/>
          </p:nvSpPr>
          <p:spPr bwMode="auto">
            <a:xfrm>
              <a:off x="8435596" y="1657710"/>
              <a:ext cx="3255550" cy="273044"/>
            </a:xfrm>
            <a:prstGeom prst="roundRect">
              <a:avLst>
                <a:gd name="adj" fmla="val 50000"/>
              </a:avLst>
            </a:prstGeom>
            <a:solidFill>
              <a:srgbClr val="008B2E"/>
            </a:solidFill>
            <a:ln>
              <a:noFill/>
            </a:ln>
          </p:spPr>
          <p:txBody>
            <a:bodyPr spcFirstLastPara="1" wrap="square" lIns="121900" tIns="121900" rIns="121900" bIns="121900" anchor="ctr" anchorCtr="0">
              <a:noAutofit/>
            </a:bodyPr>
            <a:lstStyle/>
            <a:p>
              <a:pPr algn="ctr" defTabSz="1219140">
                <a:buClr>
                  <a:srgbClr val="000000"/>
                </a:buClr>
                <a:defRPr/>
              </a:pPr>
              <a:r>
                <a:rPr lang="es-MX" sz="1400" b="1" kern="0" dirty="0" err="1">
                  <a:solidFill>
                    <a:schemeClr val="bg1"/>
                  </a:solidFill>
                  <a:latin typeface="+mj-lt"/>
                  <a:cs typeface="Arial"/>
                  <a:sym typeface="Arial"/>
                </a:rPr>
                <a:t>Fixed</a:t>
              </a:r>
              <a:r>
                <a:rPr lang="es-MX" sz="1400" b="1" kern="0" dirty="0">
                  <a:solidFill>
                    <a:schemeClr val="bg1"/>
                  </a:solidFill>
                  <a:latin typeface="+mj-lt"/>
                  <a:cs typeface="Arial"/>
                  <a:sym typeface="Arial"/>
                </a:rPr>
                <a:t> </a:t>
              </a:r>
              <a:r>
                <a:rPr lang="es-MX" sz="1400" b="1" kern="0" dirty="0" err="1">
                  <a:solidFill>
                    <a:schemeClr val="bg1"/>
                  </a:solidFill>
                  <a:latin typeface="+mj-lt"/>
                  <a:cs typeface="Arial"/>
                  <a:sym typeface="Arial"/>
                </a:rPr>
                <a:t>parameters</a:t>
              </a:r>
              <a:endParaRPr sz="1400" b="1" kern="0" dirty="0">
                <a:solidFill>
                  <a:schemeClr val="bg1"/>
                </a:solidFill>
                <a:latin typeface="+mj-lt"/>
                <a:cs typeface="Arial"/>
                <a:sym typeface="Arial"/>
              </a:endParaRPr>
            </a:p>
          </p:txBody>
        </p:sp>
      </p:grpSp>
    </p:spTree>
    <p:extLst>
      <p:ext uri="{BB962C8B-B14F-4D97-AF65-F5344CB8AC3E}">
        <p14:creationId xmlns:p14="http://schemas.microsoft.com/office/powerpoint/2010/main" val="146866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15</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5" name="Rectángulo redondeado 9">
            <a:extLst>
              <a:ext uri="{FF2B5EF4-FFF2-40B4-BE49-F238E27FC236}">
                <a16:creationId xmlns:a16="http://schemas.microsoft.com/office/drawing/2014/main" id="{E282CB46-2062-4766-9692-D8F8009E4107}"/>
              </a:ext>
            </a:extLst>
          </p:cNvPr>
          <p:cNvSpPr/>
          <p:nvPr/>
        </p:nvSpPr>
        <p:spPr>
          <a:xfrm>
            <a:off x="1056640" y="1301314"/>
            <a:ext cx="3637280" cy="150798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endParaRPr lang="es-CO" sz="3200" dirty="0">
              <a:solidFill>
                <a:schemeClr val="bg1"/>
              </a:solidFill>
              <a:latin typeface="Source Sans Pro" panose="020B0503030403020204" pitchFamily="34" charset="0"/>
              <a:ea typeface="Source Sans Pro" panose="020B0503030403020204" pitchFamily="34" charset="0"/>
            </a:endParaRPr>
          </a:p>
        </p:txBody>
      </p:sp>
      <p:sp>
        <p:nvSpPr>
          <p:cNvPr id="16" name="CuadroTexto 15">
            <a:extLst>
              <a:ext uri="{FF2B5EF4-FFF2-40B4-BE49-F238E27FC236}">
                <a16:creationId xmlns:a16="http://schemas.microsoft.com/office/drawing/2014/main" id="{22C7BEAA-429D-4588-9837-0E437DC74DC5}"/>
              </a:ext>
            </a:extLst>
          </p:cNvPr>
          <p:cNvSpPr txBox="1"/>
          <p:nvPr/>
        </p:nvSpPr>
        <p:spPr>
          <a:xfrm>
            <a:off x="1422467" y="1424424"/>
            <a:ext cx="2989452" cy="1077218"/>
          </a:xfrm>
          <a:prstGeom prst="rect">
            <a:avLst/>
          </a:prstGeom>
          <a:noFill/>
        </p:spPr>
        <p:txBody>
          <a:bodyPr wrap="square" rtlCol="0">
            <a:spAutoFit/>
          </a:bodyPr>
          <a:lstStyle/>
          <a:p>
            <a:r>
              <a:rPr lang="es-ES_tradnl" sz="3200" b="1" dirty="0" err="1">
                <a:solidFill>
                  <a:schemeClr val="bg1"/>
                </a:solidFill>
                <a:latin typeface="Source Sans Pro" panose="020B0503030403020204" pitchFamily="34" charset="0"/>
                <a:ea typeface="Source Sans Pro" panose="020B0503030403020204" pitchFamily="34" charset="0"/>
              </a:rPr>
              <a:t>Sampling</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from</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AlphaPEM</a:t>
            </a:r>
            <a:endParaRPr lang="es-ES_tradnl" sz="3200" b="1" dirty="0">
              <a:solidFill>
                <a:schemeClr val="bg1"/>
              </a:solidFill>
              <a:latin typeface="Source Sans Pro" panose="020B0503030403020204" pitchFamily="34" charset="0"/>
              <a:ea typeface="Source Sans Pro" panose="020B0503030403020204" pitchFamily="34" charset="0"/>
            </a:endParaRPr>
          </a:p>
        </p:txBody>
      </p:sp>
      <p:sp>
        <p:nvSpPr>
          <p:cNvPr id="18" name="CuadroTexto 17">
            <a:extLst>
              <a:ext uri="{FF2B5EF4-FFF2-40B4-BE49-F238E27FC236}">
                <a16:creationId xmlns:a16="http://schemas.microsoft.com/office/drawing/2014/main" id="{9D037F4B-3541-47B5-AC31-CB171AFE90C7}"/>
              </a:ext>
            </a:extLst>
          </p:cNvPr>
          <p:cNvSpPr txBox="1"/>
          <p:nvPr/>
        </p:nvSpPr>
        <p:spPr>
          <a:xfrm>
            <a:off x="4622800" y="1516758"/>
            <a:ext cx="7040880" cy="1323439"/>
          </a:xfrm>
          <a:prstGeom prst="rect">
            <a:avLst/>
          </a:prstGeom>
          <a:noFill/>
        </p:spPr>
        <p:txBody>
          <a:bodyPr wrap="square" rtlCol="0">
            <a:spAutoFit/>
          </a:bodyPr>
          <a:lstStyle/>
          <a:p>
            <a:pPr lvl="1"/>
            <a:r>
              <a:rPr lang="es-ES_tradnl" dirty="0"/>
              <a:t>→   </a:t>
            </a:r>
            <a:r>
              <a:rPr lang="es-ES_tradnl" sz="2000" dirty="0"/>
              <a:t> </a:t>
            </a:r>
            <a:r>
              <a:rPr lang="en-US" sz="2000" dirty="0"/>
              <a:t>Due to the lack of </a:t>
            </a:r>
            <a:r>
              <a:rPr lang="en-US" sz="2000" b="1" dirty="0"/>
              <a:t>empirical data</a:t>
            </a:r>
            <a:r>
              <a:rPr lang="en-US" sz="2000" dirty="0"/>
              <a:t>, we used </a:t>
            </a:r>
            <a:r>
              <a:rPr lang="en-US" sz="2000" b="1" dirty="0">
                <a:solidFill>
                  <a:srgbClr val="FFB903"/>
                </a:solidFill>
              </a:rPr>
              <a:t>Latin</a:t>
            </a:r>
            <a:r>
              <a:rPr lang="en-US" sz="2000" dirty="0"/>
              <a:t> </a:t>
            </a:r>
            <a:r>
              <a:rPr lang="en-US" sz="2000" b="1" dirty="0">
                <a:solidFill>
                  <a:srgbClr val="FFB903"/>
                </a:solidFill>
              </a:rPr>
              <a:t>Hypercube Sampling</a:t>
            </a:r>
            <a:r>
              <a:rPr lang="en-US" sz="2000" dirty="0"/>
              <a:t> to uniformly explore the full input space. </a:t>
            </a:r>
          </a:p>
          <a:p>
            <a:pPr lvl="1"/>
            <a:r>
              <a:rPr lang="es-ES_tradnl" dirty="0"/>
              <a:t>→    </a:t>
            </a:r>
            <a:r>
              <a:rPr lang="en-US" sz="2000" dirty="0"/>
              <a:t>No dependencies between features were assumed.</a:t>
            </a:r>
          </a:p>
        </p:txBody>
      </p:sp>
      <p:sp>
        <p:nvSpPr>
          <p:cNvPr id="19" name="Rectángulo redondeado 8">
            <a:extLst>
              <a:ext uri="{FF2B5EF4-FFF2-40B4-BE49-F238E27FC236}">
                <a16:creationId xmlns:a16="http://schemas.microsoft.com/office/drawing/2014/main" id="{F6F9F18F-91CB-4E57-9A60-94234F3073CA}"/>
              </a:ext>
            </a:extLst>
          </p:cNvPr>
          <p:cNvSpPr/>
          <p:nvPr/>
        </p:nvSpPr>
        <p:spPr>
          <a:xfrm>
            <a:off x="8143240" y="3348855"/>
            <a:ext cx="3298036" cy="133789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s-ES_tradnl" sz="2400" b="1" dirty="0" err="1">
                <a:solidFill>
                  <a:schemeClr val="tx1"/>
                </a:solidFill>
                <a:latin typeface="Source Sans Pro" panose="020B0503030403020204" pitchFamily="34" charset="0"/>
                <a:ea typeface="Source Sans Pro" panose="020B0503030403020204" pitchFamily="34" charset="0"/>
              </a:rPr>
              <a:t>What</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b="1" dirty="0" err="1">
                <a:solidFill>
                  <a:schemeClr val="tx1"/>
                </a:solidFill>
                <a:latin typeface="Source Sans Pro" panose="020B0503030403020204" pitchFamily="34" charset="0"/>
                <a:ea typeface="Source Sans Pro" panose="020B0503030403020204" pitchFamily="34" charset="0"/>
              </a:rPr>
              <a:t>is</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dirty="0">
                <a:solidFill>
                  <a:schemeClr val="tx1"/>
                </a:solidFill>
                <a:latin typeface="Source Sans Pro" panose="020B0503030403020204" pitchFamily="34" charset="0"/>
                <a:ea typeface="Source Sans Pro" panose="020B0503030403020204" pitchFamily="34" charset="0"/>
              </a:rPr>
              <a:t>a </a:t>
            </a:r>
            <a:r>
              <a:rPr lang="es-ES_tradnl" sz="2400" dirty="0" err="1">
                <a:solidFill>
                  <a:schemeClr val="tx1"/>
                </a:solidFill>
                <a:latin typeface="Source Sans Pro" panose="020B0503030403020204" pitchFamily="34" charset="0"/>
                <a:ea typeface="Source Sans Pro" panose="020B0503030403020204" pitchFamily="34" charset="0"/>
              </a:rPr>
              <a:t>valid</a:t>
            </a:r>
            <a:r>
              <a:rPr lang="es-ES_tradnl" sz="2400" dirty="0">
                <a:solidFill>
                  <a:schemeClr val="tx1"/>
                </a:solidFill>
                <a:latin typeface="Source Sans Pro" panose="020B0503030403020204" pitchFamily="34" charset="0"/>
                <a:ea typeface="Source Sans Pro" panose="020B0503030403020204" pitchFamily="34" charset="0"/>
              </a:rPr>
              <a:t> </a:t>
            </a:r>
            <a:r>
              <a:rPr lang="es-ES_tradnl" sz="2400" dirty="0" err="1">
                <a:solidFill>
                  <a:schemeClr val="tx1"/>
                </a:solidFill>
                <a:latin typeface="Source Sans Pro" panose="020B0503030403020204" pitchFamily="34" charset="0"/>
                <a:ea typeface="Source Sans Pro" panose="020B0503030403020204" pitchFamily="34" charset="0"/>
              </a:rPr>
              <a:t>polarization</a:t>
            </a:r>
            <a:r>
              <a:rPr lang="es-ES_tradnl" sz="2400" dirty="0">
                <a:solidFill>
                  <a:schemeClr val="tx1"/>
                </a:solidFill>
                <a:latin typeface="Source Sans Pro" panose="020B0503030403020204" pitchFamily="34" charset="0"/>
                <a:ea typeface="Source Sans Pro" panose="020B0503030403020204" pitchFamily="34" charset="0"/>
              </a:rPr>
              <a:t> curve</a:t>
            </a:r>
            <a:r>
              <a:rPr lang="es-ES_tradnl" sz="2400" b="1" dirty="0">
                <a:solidFill>
                  <a:schemeClr val="tx1"/>
                </a:solidFill>
                <a:latin typeface="Source Sans Pro" panose="020B0503030403020204" pitchFamily="34" charset="0"/>
                <a:ea typeface="Source Sans Pro" panose="020B0503030403020204" pitchFamily="34" charset="0"/>
              </a:rPr>
              <a:t>?</a:t>
            </a:r>
          </a:p>
        </p:txBody>
      </p:sp>
      <p:sp>
        <p:nvSpPr>
          <p:cNvPr id="20" name="CuadroTexto 19">
            <a:extLst>
              <a:ext uri="{FF2B5EF4-FFF2-40B4-BE49-F238E27FC236}">
                <a16:creationId xmlns:a16="http://schemas.microsoft.com/office/drawing/2014/main" id="{E746A820-D84F-444E-BA37-3CBBB55323B3}"/>
              </a:ext>
            </a:extLst>
          </p:cNvPr>
          <p:cNvSpPr txBox="1"/>
          <p:nvPr/>
        </p:nvSpPr>
        <p:spPr>
          <a:xfrm>
            <a:off x="5557443" y="4833410"/>
            <a:ext cx="6482157" cy="1015663"/>
          </a:xfrm>
          <a:prstGeom prst="rect">
            <a:avLst/>
          </a:prstGeom>
          <a:noFill/>
        </p:spPr>
        <p:txBody>
          <a:bodyPr wrap="square" rtlCol="0">
            <a:spAutoFit/>
          </a:bodyPr>
          <a:lstStyle/>
          <a:p>
            <a:pPr marR="0" lvl="0" algn="l" defTabSz="914400" rtl="0" eaLnBrk="0" fontAlgn="base" latinLnBrk="0" hangingPunct="0">
              <a:lnSpc>
                <a:spcPct val="100000"/>
              </a:lnSpc>
              <a:spcBef>
                <a:spcPct val="0"/>
              </a:spcBef>
              <a:spcAft>
                <a:spcPct val="0"/>
              </a:spcAft>
              <a:buClrTx/>
              <a:buSzTx/>
              <a:tabLst/>
            </a:pPr>
            <a:r>
              <a:rPr lang="es-ES_tradnl" dirty="0"/>
              <a:t>→</a:t>
            </a:r>
            <a:r>
              <a:rPr lang="es-ES_tradnl" sz="2000" dirty="0"/>
              <a:t>    </a:t>
            </a:r>
            <a:r>
              <a:rPr lang="es-CO" altLang="es-CO" sz="2000" dirty="0" err="1"/>
              <a:t>It</a:t>
            </a:r>
            <a:r>
              <a:rPr lang="es-CO" altLang="es-CO" sz="2000" dirty="0"/>
              <a:t> </a:t>
            </a:r>
            <a:r>
              <a:rPr lang="es-CO" altLang="es-CO" sz="2000" dirty="0" err="1"/>
              <a:t>starts</a:t>
            </a:r>
            <a:r>
              <a:rPr lang="es-CO" altLang="es-CO" sz="2000" dirty="0"/>
              <a:t> </a:t>
            </a:r>
            <a:r>
              <a:rPr lang="es-CO" altLang="es-CO" sz="2000" dirty="0" err="1"/>
              <a:t>within</a:t>
            </a:r>
            <a:r>
              <a:rPr lang="es-CO" altLang="es-CO" sz="2000" dirty="0"/>
              <a:t> </a:t>
            </a:r>
            <a:r>
              <a:rPr lang="es-CO" altLang="es-CO" sz="2000" dirty="0" err="1"/>
              <a:t>the</a:t>
            </a:r>
            <a:r>
              <a:rPr lang="es-CO" altLang="es-CO" sz="2000" dirty="0"/>
              <a:t> </a:t>
            </a:r>
            <a:r>
              <a:rPr lang="es-CO" altLang="es-CO" sz="2000" dirty="0" err="1"/>
              <a:t>expected</a:t>
            </a:r>
            <a:r>
              <a:rPr lang="es-CO" altLang="es-CO" sz="2000" dirty="0"/>
              <a:t> </a:t>
            </a:r>
            <a:r>
              <a:rPr lang="es-CO" altLang="es-CO" sz="2000" dirty="0" err="1"/>
              <a:t>voltage</a:t>
            </a:r>
            <a:r>
              <a:rPr lang="es-CO" altLang="es-CO" sz="2000" dirty="0"/>
              <a:t> </a:t>
            </a:r>
            <a:r>
              <a:rPr lang="es-CO" altLang="es-CO" sz="2000" dirty="0" err="1"/>
              <a:t>range</a:t>
            </a:r>
            <a:r>
              <a:rPr lang="es-CO" altLang="es-CO" sz="2000" dirty="0"/>
              <a:t> (0.0–1.23 V)</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n-US" dirty="0">
                <a:solidFill>
                  <a:srgbClr val="000000"/>
                </a:solidFill>
                <a:latin typeface="Arial" panose="020B0604020202020204" pitchFamily="34" charset="0"/>
              </a:rPr>
              <a:t>D</a:t>
            </a:r>
            <a:r>
              <a:rPr lang="en-US" sz="1800" b="0" i="0" u="none" strike="noStrike" dirty="0">
                <a:solidFill>
                  <a:srgbClr val="000000"/>
                </a:solidFill>
                <a:effectLst/>
                <a:latin typeface="Arial" panose="020B0604020202020204" pitchFamily="34" charset="0"/>
              </a:rPr>
              <a:t>ecreases monotonically (within a 5 mV tolerance)</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s-CO" altLang="es-CO" sz="2000" dirty="0" err="1"/>
              <a:t>It</a:t>
            </a:r>
            <a:r>
              <a:rPr lang="es-CO" altLang="es-CO" sz="2000" dirty="0"/>
              <a:t> </a:t>
            </a:r>
            <a:r>
              <a:rPr lang="es-CO" altLang="es-CO" sz="2000" dirty="0" err="1"/>
              <a:t>maintains</a:t>
            </a:r>
            <a:r>
              <a:rPr lang="es-CO" altLang="es-CO" sz="2000" dirty="0"/>
              <a:t> positive </a:t>
            </a:r>
            <a:r>
              <a:rPr lang="es-CO" altLang="es-CO" sz="2000" dirty="0" err="1"/>
              <a:t>voltage</a:t>
            </a:r>
            <a:r>
              <a:rPr lang="es-CO" altLang="es-CO" sz="2000" dirty="0"/>
              <a:t> at </a:t>
            </a:r>
            <a:r>
              <a:rPr lang="es-CO" altLang="es-CO" sz="2000" dirty="0" err="1"/>
              <a:t>low</a:t>
            </a:r>
            <a:r>
              <a:rPr lang="es-CO" altLang="es-CO" sz="2000" dirty="0"/>
              <a:t> </a:t>
            </a:r>
            <a:r>
              <a:rPr lang="es-CO" altLang="es-CO" sz="2000" dirty="0" err="1"/>
              <a:t>current</a:t>
            </a:r>
            <a:r>
              <a:rPr lang="es-CO" altLang="es-CO" sz="2000" dirty="0"/>
              <a:t> </a:t>
            </a:r>
            <a:r>
              <a:rPr lang="es-CO" altLang="es-CO" sz="2000" dirty="0" err="1"/>
              <a:t>densities</a:t>
            </a:r>
            <a:r>
              <a:rPr lang="es-CO" altLang="es-CO" sz="2000" dirty="0"/>
              <a:t>.</a:t>
            </a:r>
            <a:endParaRPr lang="en-US" sz="2000" dirty="0"/>
          </a:p>
        </p:txBody>
      </p:sp>
      <p:pic>
        <p:nvPicPr>
          <p:cNvPr id="4099" name="Picture 3" descr="Novel Trends in Proton Exchange Membrane Fuel Cells">
            <a:extLst>
              <a:ext uri="{FF2B5EF4-FFF2-40B4-BE49-F238E27FC236}">
                <a16:creationId xmlns:a16="http://schemas.microsoft.com/office/drawing/2014/main" id="{E3C570C4-A1A3-4832-8B44-E87D4BF84D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6640" y="3348855"/>
            <a:ext cx="4026369" cy="2501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5027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4778F4CB-BE2B-49FB-8D01-C7705469CE44}"/>
              </a:ext>
            </a:extLst>
          </p:cNvPr>
          <p:cNvSpPr/>
          <p:nvPr/>
        </p:nvSpPr>
        <p:spPr>
          <a:xfrm>
            <a:off x="7218865" y="6042558"/>
            <a:ext cx="4973135" cy="400110"/>
          </a:xfrm>
          <a:prstGeom prst="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16</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D4F477B0-2EDF-4635-ADDF-390676998C67}"/>
              </a:ext>
            </a:extLst>
          </p:cNvPr>
          <p:cNvSpPr txBox="1"/>
          <p:nvPr/>
        </p:nvSpPr>
        <p:spPr>
          <a:xfrm>
            <a:off x="1324331" y="1291409"/>
            <a:ext cx="3481844" cy="1446550"/>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What</a:t>
            </a:r>
            <a:r>
              <a:rPr lang="es-ES_tradnl" sz="3200" b="1" dirty="0">
                <a:latin typeface="Source Sans Pro" panose="020B0503030403020204" pitchFamily="34" charset="0"/>
                <a:ea typeface="Source Sans Pro" panose="020B0503030403020204" pitchFamily="34" charset="0"/>
              </a:rPr>
              <a:t> </a:t>
            </a:r>
            <a:r>
              <a:rPr lang="es-ES_tradnl" sz="3200" b="1" dirty="0" err="1">
                <a:latin typeface="Source Sans Pro" panose="020B0503030403020204" pitchFamily="34" charset="0"/>
                <a:ea typeface="Source Sans Pro" panose="020B0503030403020204" pitchFamily="34" charset="0"/>
              </a:rPr>
              <a:t>is</a:t>
            </a:r>
            <a:r>
              <a:rPr lang="es-ES_tradnl" sz="3200" b="1" dirty="0">
                <a:latin typeface="Source Sans Pro" panose="020B0503030403020204" pitchFamily="34" charset="0"/>
                <a:ea typeface="Source Sans Pro" panose="020B0503030403020204" pitchFamily="34" charset="0"/>
              </a:rPr>
              <a:t> </a:t>
            </a:r>
            <a:r>
              <a:rPr lang="es-ES_tradnl" sz="2800" i="1" dirty="0" err="1">
                <a:latin typeface="Source Sans Pro Light" panose="020B0403030403020204" pitchFamily="34" charset="0"/>
                <a:ea typeface="Source Sans Pro Light" panose="020B0403030403020204" pitchFamily="34" charset="0"/>
              </a:rPr>
              <a:t>the</a:t>
            </a:r>
            <a:r>
              <a:rPr lang="es-ES_tradnl" sz="2800" i="1" dirty="0">
                <a:latin typeface="Source Sans Pro Light" panose="020B0403030403020204" pitchFamily="34" charset="0"/>
                <a:ea typeface="Source Sans Pro Light" panose="020B0403030403020204" pitchFamily="34" charset="0"/>
              </a:rPr>
              <a:t> </a:t>
            </a:r>
            <a:r>
              <a:rPr lang="es-CO" sz="2800" i="1" dirty="0">
                <a:latin typeface="Source Sans Pro Light" panose="020B0403030403020204" pitchFamily="34" charset="0"/>
                <a:ea typeface="Source Sans Pro Light" panose="020B0403030403020204" pitchFamily="34" charset="0"/>
              </a:rPr>
              <a:t>Interpretable Regional Descriptors (IRD)?</a:t>
            </a:r>
            <a:r>
              <a:rPr lang="es-ES_tradnl" sz="2800" b="1" dirty="0">
                <a:latin typeface="Source Sans Pro Light" panose="020B0403030403020204" pitchFamily="34" charset="0"/>
                <a:ea typeface="Source Sans Pro Light" panose="020B0403030403020204" pitchFamily="34" charset="0"/>
              </a:rPr>
              <a:t> </a:t>
            </a:r>
            <a:endParaRPr lang="es-ES_tradnl" sz="3200" b="1" dirty="0">
              <a:latin typeface="Source Sans Pro Light" panose="020B0403030403020204" pitchFamily="34" charset="0"/>
              <a:ea typeface="Source Sans Pro Light" panose="020B0403030403020204" pitchFamily="34" charset="0"/>
            </a:endParaRPr>
          </a:p>
        </p:txBody>
      </p:sp>
      <p:sp>
        <p:nvSpPr>
          <p:cNvPr id="12" name="CuadroTexto 11">
            <a:extLst>
              <a:ext uri="{FF2B5EF4-FFF2-40B4-BE49-F238E27FC236}">
                <a16:creationId xmlns:a16="http://schemas.microsoft.com/office/drawing/2014/main" id="{65963035-8647-43C7-9A32-07023A488324}"/>
              </a:ext>
            </a:extLst>
          </p:cNvPr>
          <p:cNvSpPr txBox="1"/>
          <p:nvPr/>
        </p:nvSpPr>
        <p:spPr>
          <a:xfrm>
            <a:off x="1324331" y="2921168"/>
            <a:ext cx="3481844" cy="1015663"/>
          </a:xfrm>
          <a:prstGeom prst="rect">
            <a:avLst/>
          </a:prstGeom>
          <a:noFill/>
        </p:spPr>
        <p:txBody>
          <a:bodyPr wrap="square">
            <a:spAutoFit/>
          </a:bodyPr>
          <a:lstStyle/>
          <a:p>
            <a:pPr algn="r"/>
            <a:r>
              <a:rPr lang="en-US" sz="2000" dirty="0"/>
              <a:t>IRD helps explain "where" in the input space certain types of output behavior occur.</a:t>
            </a:r>
            <a:endParaRPr lang="es-CO" sz="2000" dirty="0"/>
          </a:p>
        </p:txBody>
      </p:sp>
      <p:sp>
        <p:nvSpPr>
          <p:cNvPr id="7" name="Rectángulo: esquinas redondeadas 6">
            <a:extLst>
              <a:ext uri="{FF2B5EF4-FFF2-40B4-BE49-F238E27FC236}">
                <a16:creationId xmlns:a16="http://schemas.microsoft.com/office/drawing/2014/main" id="{7936BDBA-476A-4731-BBC6-490773D8E210}"/>
              </a:ext>
            </a:extLst>
          </p:cNvPr>
          <p:cNvSpPr/>
          <p:nvPr/>
        </p:nvSpPr>
        <p:spPr>
          <a:xfrm>
            <a:off x="1007853" y="932883"/>
            <a:ext cx="4114800" cy="331216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uadroTexto 16">
            <a:extLst>
              <a:ext uri="{FF2B5EF4-FFF2-40B4-BE49-F238E27FC236}">
                <a16:creationId xmlns:a16="http://schemas.microsoft.com/office/drawing/2014/main" id="{3B01A503-ED39-4549-9BB9-08B9F29F3DC6}"/>
              </a:ext>
            </a:extLst>
          </p:cNvPr>
          <p:cNvSpPr txBox="1"/>
          <p:nvPr/>
        </p:nvSpPr>
        <p:spPr>
          <a:xfrm>
            <a:off x="5926372" y="1452626"/>
            <a:ext cx="5534108" cy="3447098"/>
          </a:xfrm>
          <a:prstGeom prst="rect">
            <a:avLst/>
          </a:prstGeom>
          <a:noFill/>
        </p:spPr>
        <p:txBody>
          <a:bodyPr wrap="square">
            <a:spAutoFit/>
          </a:bodyPr>
          <a:lstStyle/>
          <a:p>
            <a:r>
              <a:rPr lang="en-US" sz="3200" b="1" dirty="0">
                <a:latin typeface="Source Sans Pro" panose="020B0503030403020204" pitchFamily="34" charset="0"/>
                <a:ea typeface="Source Sans Pro" panose="020B0503030403020204" pitchFamily="34" charset="0"/>
              </a:rPr>
              <a:t>How does </a:t>
            </a:r>
            <a:r>
              <a:rPr lang="en-US" sz="2800" i="1" dirty="0">
                <a:latin typeface="Source Sans Pro Light" panose="020B0403030403020204" pitchFamily="34" charset="0"/>
                <a:ea typeface="Source Sans Pro Light" panose="020B0403030403020204" pitchFamily="34" charset="0"/>
              </a:rPr>
              <a:t>it work?</a:t>
            </a:r>
          </a:p>
          <a:p>
            <a:pPr marL="342900" indent="-342900">
              <a:buFont typeface="+mj-lt"/>
              <a:buAutoNum type="arabicPeriod"/>
            </a:pPr>
            <a:r>
              <a:rPr lang="en-US" b="1" dirty="0">
                <a:solidFill>
                  <a:srgbClr val="8879F5"/>
                </a:solidFill>
              </a:rPr>
              <a:t>Clustering and labeling </a:t>
            </a:r>
            <a:r>
              <a:rPr lang="en-US" dirty="0"/>
              <a:t>output curves based on shape (validity criteria). </a:t>
            </a:r>
          </a:p>
          <a:p>
            <a:pPr marL="342900" indent="-342900">
              <a:buFont typeface="+mj-lt"/>
              <a:buAutoNum type="arabicPeriod"/>
            </a:pPr>
            <a:r>
              <a:rPr lang="en-US" b="1" dirty="0">
                <a:solidFill>
                  <a:srgbClr val="8879F5"/>
                </a:solidFill>
              </a:rPr>
              <a:t>Training interpretable models </a:t>
            </a:r>
            <a:r>
              <a:rPr lang="en-US" dirty="0"/>
              <a:t>(typically decision trees or rule-based classifiers) to map input features to curve types.</a:t>
            </a:r>
          </a:p>
          <a:p>
            <a:pPr marL="342900" indent="-342900">
              <a:buFont typeface="+mj-lt"/>
              <a:buAutoNum type="arabicPeriod"/>
            </a:pPr>
            <a:r>
              <a:rPr lang="en-US" b="1" dirty="0">
                <a:solidFill>
                  <a:srgbClr val="8879F5"/>
                </a:solidFill>
              </a:rPr>
              <a:t>Generating regional descriptors:</a:t>
            </a:r>
            <a:r>
              <a:rPr lang="en-US" dirty="0"/>
              <a:t> rules or conditions that explain which input combinations lead to each type of curve.</a:t>
            </a:r>
          </a:p>
          <a:p>
            <a:endParaRPr lang="en-US" dirty="0"/>
          </a:p>
          <a:p>
            <a:r>
              <a:rPr lang="en-US" sz="2400" b="1" dirty="0">
                <a:latin typeface="Source Sans Pro" panose="020B0503030403020204" pitchFamily="34" charset="0"/>
                <a:ea typeface="Source Sans Pro" panose="020B0503030403020204" pitchFamily="34" charset="0"/>
              </a:rPr>
              <a:t>	</a:t>
            </a:r>
            <a:endParaRPr lang="en-US" dirty="0">
              <a:solidFill>
                <a:schemeClr val="tx1">
                  <a:lumMod val="50000"/>
                  <a:lumOff val="50000"/>
                </a:schemeClr>
              </a:solidFill>
            </a:endParaRPr>
          </a:p>
        </p:txBody>
      </p:sp>
      <p:sp>
        <p:nvSpPr>
          <p:cNvPr id="18" name="Rectángulo: esquinas redondeadas 17">
            <a:extLst>
              <a:ext uri="{FF2B5EF4-FFF2-40B4-BE49-F238E27FC236}">
                <a16:creationId xmlns:a16="http://schemas.microsoft.com/office/drawing/2014/main" id="{A4B21919-C5D8-43AA-931C-7EC6B0B123CB}"/>
              </a:ext>
            </a:extLst>
          </p:cNvPr>
          <p:cNvSpPr/>
          <p:nvPr/>
        </p:nvSpPr>
        <p:spPr>
          <a:xfrm>
            <a:off x="5439131" y="1068590"/>
            <a:ext cx="6266763" cy="478357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CuadroTexto 19">
            <a:extLst>
              <a:ext uri="{FF2B5EF4-FFF2-40B4-BE49-F238E27FC236}">
                <a16:creationId xmlns:a16="http://schemas.microsoft.com/office/drawing/2014/main" id="{7E35BE05-C208-4680-A0B4-139AE2113C5C}"/>
              </a:ext>
            </a:extLst>
          </p:cNvPr>
          <p:cNvSpPr txBox="1"/>
          <p:nvPr/>
        </p:nvSpPr>
        <p:spPr>
          <a:xfrm>
            <a:off x="7340785" y="6083794"/>
            <a:ext cx="3977455" cy="338554"/>
          </a:xfrm>
          <a:prstGeom prst="rect">
            <a:avLst/>
          </a:prstGeom>
          <a:noFill/>
          <a:ln>
            <a:noFill/>
          </a:ln>
        </p:spPr>
        <p:txBody>
          <a:bodyPr wrap="square" rtlCol="0">
            <a:spAutoFit/>
          </a:bodyPr>
          <a:lstStyle/>
          <a:p>
            <a:pPr>
              <a:spcBef>
                <a:spcPts val="1800"/>
              </a:spcBef>
            </a:pPr>
            <a:r>
              <a:rPr lang="es-ES_tradnl" sz="1600" dirty="0">
                <a:latin typeface="Source Sans Pro" panose="020B0503030403020204" pitchFamily="34" charset="0"/>
                <a:ea typeface="Source Sans Pro" panose="020B0503030403020204" pitchFamily="34" charset="0"/>
              </a:rPr>
              <a:t>In R </a:t>
            </a:r>
            <a:r>
              <a:rPr lang="es-ES_tradnl" sz="1600" dirty="0" err="1">
                <a:latin typeface="Source Sans Pro" panose="020B0503030403020204" pitchFamily="34" charset="0"/>
                <a:ea typeface="Source Sans Pro" panose="020B0503030403020204" pitchFamily="34" charset="0"/>
              </a:rPr>
              <a:t>it</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is</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implemented</a:t>
            </a:r>
            <a:r>
              <a:rPr lang="es-ES_tradnl" sz="1600" dirty="0">
                <a:latin typeface="Source Sans Pro" panose="020B0503030403020204" pitchFamily="34" charset="0"/>
                <a:ea typeface="Source Sans Pro" panose="020B0503030403020204" pitchFamily="34" charset="0"/>
              </a:rPr>
              <a:t> in </a:t>
            </a:r>
            <a:r>
              <a:rPr lang="es-ES_tradnl" sz="1600" dirty="0" err="1">
                <a:latin typeface="Source Sans Pro" panose="020B0503030403020204" pitchFamily="34" charset="0"/>
                <a:ea typeface="Source Sans Pro" panose="020B0503030403020204" pitchFamily="34" charset="0"/>
              </a:rPr>
              <a:t>the</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package</a:t>
            </a:r>
            <a:r>
              <a:rPr lang="es-ES_tradnl" sz="1600" dirty="0">
                <a:latin typeface="Source Sans Pro" panose="020B0503030403020204" pitchFamily="34" charset="0"/>
                <a:ea typeface="Source Sans Pro" panose="020B0503030403020204" pitchFamily="34" charset="0"/>
              </a:rPr>
              <a:t> XXXXXX</a:t>
            </a:r>
          </a:p>
        </p:txBody>
      </p:sp>
      <p:sp>
        <p:nvSpPr>
          <p:cNvPr id="24" name="CuadroTexto 23">
            <a:extLst>
              <a:ext uri="{FF2B5EF4-FFF2-40B4-BE49-F238E27FC236}">
                <a16:creationId xmlns:a16="http://schemas.microsoft.com/office/drawing/2014/main" id="{C61A4A3F-EF0B-488C-B977-753BC6DCDCEA}"/>
              </a:ext>
            </a:extLst>
          </p:cNvPr>
          <p:cNvSpPr txBox="1"/>
          <p:nvPr/>
        </p:nvSpPr>
        <p:spPr>
          <a:xfrm>
            <a:off x="6783133" y="4323619"/>
            <a:ext cx="5844597" cy="1292662"/>
          </a:xfrm>
          <a:prstGeom prst="rect">
            <a:avLst/>
          </a:prstGeom>
          <a:noFill/>
        </p:spPr>
        <p:txBody>
          <a:bodyPr wrap="square">
            <a:spAutoFit/>
          </a:bodyPr>
          <a:lstStyle/>
          <a:p>
            <a:r>
              <a:rPr lang="en-US" sz="2400" b="1" dirty="0">
                <a:solidFill>
                  <a:schemeClr val="tx1">
                    <a:lumMod val="50000"/>
                    <a:lumOff val="50000"/>
                  </a:schemeClr>
                </a:solidFill>
                <a:latin typeface="Source Sans Pro" panose="020B0503030403020204" pitchFamily="34" charset="0"/>
                <a:ea typeface="Source Sans Pro" panose="020B0503030403020204" pitchFamily="34" charset="0"/>
              </a:rPr>
              <a:t>What is </a:t>
            </a:r>
            <a:r>
              <a:rPr lang="en-US" sz="2000" i="1" dirty="0">
                <a:latin typeface="Source Sans Pro Light" panose="020B0403030403020204" pitchFamily="34" charset="0"/>
                <a:ea typeface="Source Sans Pro Light" panose="020B0403030403020204" pitchFamily="34" charset="0"/>
              </a:rPr>
              <a:t>the output?</a:t>
            </a:r>
          </a:p>
          <a:p>
            <a:r>
              <a:rPr lang="en-US" dirty="0"/>
              <a:t>	</a:t>
            </a:r>
            <a:r>
              <a:rPr lang="en-US" b="1" dirty="0">
                <a:solidFill>
                  <a:schemeClr val="tx1">
                    <a:lumMod val="65000"/>
                    <a:lumOff val="35000"/>
                  </a:schemeClr>
                </a:solidFill>
              </a:rPr>
              <a:t>Interpretable rules or regions</a:t>
            </a:r>
            <a:r>
              <a:rPr lang="en-US" dirty="0">
                <a:solidFill>
                  <a:schemeClr val="tx1">
                    <a:lumMod val="65000"/>
                    <a:lumOff val="35000"/>
                  </a:schemeClr>
                </a:solidFill>
              </a:rPr>
              <a:t> </a:t>
            </a:r>
          </a:p>
          <a:p>
            <a:r>
              <a:rPr lang="en-US" dirty="0"/>
              <a:t>	</a:t>
            </a:r>
            <a:r>
              <a:rPr lang="en-US" dirty="0">
                <a:solidFill>
                  <a:schemeClr val="tx1">
                    <a:lumMod val="50000"/>
                    <a:lumOff val="50000"/>
                  </a:schemeClr>
                </a:solidFill>
              </a:rPr>
              <a:t>(e.g., "Region A: high humidity, low 			temperature → flat voltage curves").</a:t>
            </a:r>
          </a:p>
        </p:txBody>
      </p:sp>
    </p:spTree>
    <p:extLst>
      <p:ext uri="{BB962C8B-B14F-4D97-AF65-F5344CB8AC3E}">
        <p14:creationId xmlns:p14="http://schemas.microsoft.com/office/powerpoint/2010/main" val="3109463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17</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29" name="CuadroTexto 28">
            <a:extLst>
              <a:ext uri="{FF2B5EF4-FFF2-40B4-BE49-F238E27FC236}">
                <a16:creationId xmlns:a16="http://schemas.microsoft.com/office/drawing/2014/main" id="{05B44B5D-C2B5-4811-B953-15C1AE7A0FEB}"/>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38090161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5" y="1905506"/>
            <a:ext cx="6639571" cy="304698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9600" b="0" i="1" u="none" strike="noStrike" kern="1200" cap="none" spc="0" normalizeH="0" baseline="0" noProof="0" dirty="0">
                <a:ln>
                  <a:noFill/>
                </a:ln>
                <a:solidFill>
                  <a:prstClr val="white"/>
                </a:solidFill>
                <a:effectLst/>
                <a:uLnTx/>
                <a:uFillTx/>
                <a:latin typeface="Source Sans Pro Light" panose="020B0503030403020204" pitchFamily="34" charset="0"/>
                <a:ea typeface="Source Sans Pro Light" panose="020B0503030403020204" pitchFamily="34" charset="0"/>
                <a:cs typeface="+mn-cs"/>
              </a:rPr>
              <a:t>3. </a:t>
            </a:r>
            <a:r>
              <a:rPr kumimoji="0" lang="es-CO" sz="9600" b="0" i="1" u="none" strike="noStrike" kern="1200" cap="none" spc="0" normalizeH="0" baseline="0" noProof="0" dirty="0" err="1">
                <a:ln>
                  <a:noFill/>
                </a:ln>
                <a:solidFill>
                  <a:prstClr val="white"/>
                </a:solidFill>
                <a:effectLst/>
                <a:uLnTx/>
                <a:uFillTx/>
                <a:latin typeface="Source Sans Pro Light" panose="020B0503030403020204" pitchFamily="34" charset="0"/>
                <a:ea typeface="Source Sans Pro Light" panose="020B0503030403020204" pitchFamily="34" charset="0"/>
                <a:cs typeface="+mn-cs"/>
              </a:rPr>
              <a:t>Sensitivity</a:t>
            </a:r>
            <a:r>
              <a:rPr kumimoji="0" lang="es-CO" sz="9600" b="0" i="1" u="none" strike="noStrike" kern="1200" cap="none" spc="0" normalizeH="0" baseline="0" noProof="0" dirty="0">
                <a:ln>
                  <a:noFill/>
                </a:ln>
                <a:solidFill>
                  <a:prstClr val="white"/>
                </a:solidFill>
                <a:effectLst/>
                <a:uLnTx/>
                <a:uFillTx/>
                <a:latin typeface="Source Sans Pro Light" panose="020B0503030403020204" pitchFamily="34" charset="0"/>
                <a:ea typeface="Source Sans Pro Light" panose="020B0503030403020204" pitchFamily="34" charset="0"/>
                <a:cs typeface="+mn-cs"/>
              </a:rPr>
              <a:t> </a:t>
            </a:r>
            <a:r>
              <a:rPr kumimoji="0" lang="es-CO" sz="9600" b="0" i="1" u="none" strike="noStrike" kern="1200" cap="none" spc="0" normalizeH="0" baseline="0" noProof="0" dirty="0" err="1">
                <a:ln>
                  <a:noFill/>
                </a:ln>
                <a:solidFill>
                  <a:prstClr val="white"/>
                </a:solidFill>
                <a:effectLst/>
                <a:uLnTx/>
                <a:uFillTx/>
                <a:latin typeface="Source Sans Pro Light" panose="020B0503030403020204" pitchFamily="34" charset="0"/>
                <a:ea typeface="Source Sans Pro Light" panose="020B0503030403020204" pitchFamily="34" charset="0"/>
                <a:cs typeface="+mn-cs"/>
              </a:rPr>
              <a:t>analysis</a:t>
            </a:r>
            <a:endParaRPr kumimoji="0" lang="es-ES_tradnl" sz="9600" b="0" i="1" u="none" strike="noStrike" kern="1200" cap="none" spc="0" normalizeH="0" baseline="0" noProof="0" dirty="0">
              <a:ln>
                <a:noFill/>
              </a:ln>
              <a:solidFill>
                <a:prstClr val="white"/>
              </a:solidFill>
              <a:effectLst/>
              <a:uLnTx/>
              <a:uFillTx/>
              <a:latin typeface="Source Sans Pro Light" panose="020B0503030403020204" pitchFamily="34" charset="0"/>
              <a:ea typeface="Source Sans Pro Light" panose="020B0503030403020204" pitchFamily="34" charset="0"/>
              <a:cs typeface="+mn-cs"/>
            </a:endParaRPr>
          </a:p>
        </p:txBody>
      </p:sp>
    </p:spTree>
    <p:extLst>
      <p:ext uri="{BB962C8B-B14F-4D97-AF65-F5344CB8AC3E}">
        <p14:creationId xmlns:p14="http://schemas.microsoft.com/office/powerpoint/2010/main" val="2216928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ángulo: esquinas redondeadas 14">
            <a:extLst>
              <a:ext uri="{FF2B5EF4-FFF2-40B4-BE49-F238E27FC236}">
                <a16:creationId xmlns:a16="http://schemas.microsoft.com/office/drawing/2014/main" id="{1AD154A4-30C1-488E-A32E-9C2D606D8264}"/>
              </a:ext>
            </a:extLst>
          </p:cNvPr>
          <p:cNvSpPr/>
          <p:nvPr/>
        </p:nvSpPr>
        <p:spPr>
          <a:xfrm>
            <a:off x="7479101" y="1918311"/>
            <a:ext cx="4138967" cy="3586463"/>
          </a:xfrm>
          <a:prstGeom prst="roundRect">
            <a:avLst/>
          </a:prstGeom>
          <a:noFill/>
          <a:ln>
            <a:solidFill>
              <a:schemeClr val="accent1">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19</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28" name="Rectángulo redondeado 9">
            <a:extLst>
              <a:ext uri="{FF2B5EF4-FFF2-40B4-BE49-F238E27FC236}">
                <a16:creationId xmlns:a16="http://schemas.microsoft.com/office/drawing/2014/main" id="{940D3709-083B-49E3-A7CF-FEAE8E4D6EFA}"/>
              </a:ext>
            </a:extLst>
          </p:cNvPr>
          <p:cNvSpPr/>
          <p:nvPr/>
        </p:nvSpPr>
        <p:spPr>
          <a:xfrm>
            <a:off x="901260" y="1782651"/>
            <a:ext cx="6360330" cy="3722123"/>
          </a:xfrm>
          <a:prstGeom prst="roundRect">
            <a:avLst/>
          </a:prstGeom>
          <a:gradFill>
            <a:gsLst>
              <a:gs pos="0">
                <a:srgbClr val="BBE555"/>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marR="0" lvl="0" indent="0" algn="l" defTabSz="914400" rtl="0" eaLnBrk="1" fontAlgn="auto" latinLnBrk="0" hangingPunct="1">
              <a:lnSpc>
                <a:spcPct val="150000"/>
              </a:lnSpc>
              <a:spcBef>
                <a:spcPts val="0"/>
              </a:spcBef>
              <a:spcAft>
                <a:spcPts val="0"/>
              </a:spcAft>
              <a:buClrTx/>
              <a:buSzTx/>
              <a:buFontTx/>
              <a:buNone/>
              <a:tabLst/>
              <a:defRPr/>
            </a:pPr>
            <a:r>
              <a:rPr kumimoji="0" lang="es-CO" sz="3200" b="0"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What</a:t>
            </a:r>
            <a:r>
              <a:rPr kumimoji="0" lang="es-CO" sz="3200" b="0"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 </a:t>
            </a:r>
            <a:r>
              <a:rPr kumimoji="0" lang="es-CO" sz="3200" b="0"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is</a:t>
            </a:r>
            <a:r>
              <a:rPr kumimoji="0" lang="es-CO" sz="3200" b="0"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 </a:t>
            </a:r>
            <a:r>
              <a:rPr kumimoji="0" lang="es-CO" sz="3200" b="1"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a </a:t>
            </a:r>
            <a:r>
              <a:rPr kumimoji="0" lang="es-CO" sz="3200" b="1"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sensitivity</a:t>
            </a:r>
            <a:r>
              <a:rPr kumimoji="0" lang="es-CO" sz="3200" b="1"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 </a:t>
            </a:r>
            <a:r>
              <a:rPr kumimoji="0" lang="es-CO" sz="3200" b="1"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analysis</a:t>
            </a:r>
            <a:r>
              <a:rPr kumimoji="0" lang="es-CO" sz="3200" b="0"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a:t>
            </a:r>
          </a:p>
          <a:p>
            <a:pPr marL="358775"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It is a method used to determine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how changes in input variables influence the output of a model. </a:t>
            </a:r>
          </a:p>
          <a:p>
            <a:pPr marL="358775"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358775"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It helps identify which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inputs</a:t>
            </a: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 have the </a:t>
            </a:r>
            <a:r>
              <a:rPr kumimoji="0" lang="en-US" sz="2000" b="0" i="0" u="sng" strike="noStrike" kern="1200" cap="none" spc="0" normalizeH="0" baseline="0" noProof="0" dirty="0">
                <a:ln>
                  <a:noFill/>
                </a:ln>
                <a:solidFill>
                  <a:prstClr val="black"/>
                </a:solidFill>
                <a:effectLst/>
                <a:uLnTx/>
                <a:uFillTx/>
                <a:latin typeface="Aptos" panose="02110004020202020204"/>
                <a:ea typeface="+mn-ea"/>
                <a:cs typeface="+mn-cs"/>
              </a:rPr>
              <a:t>most significant effect on the results </a:t>
            </a: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and how robust the model is to variations or uncertainty in those inputs.</a:t>
            </a:r>
          </a:p>
          <a:p>
            <a:pPr marL="358775"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lumMod val="75000"/>
                  <a:lumOff val="25000"/>
                </a:prstClr>
              </a:solidFill>
              <a:effectLst/>
              <a:uLnTx/>
              <a:uFillTx/>
              <a:latin typeface="Aptos" panose="02110004020202020204"/>
              <a:ea typeface="+mn-ea"/>
              <a:cs typeface="+mn-cs"/>
            </a:endParaRPr>
          </a:p>
        </p:txBody>
      </p:sp>
      <p:sp>
        <p:nvSpPr>
          <p:cNvPr id="31" name="CuadroTexto 30">
            <a:extLst>
              <a:ext uri="{FF2B5EF4-FFF2-40B4-BE49-F238E27FC236}">
                <a16:creationId xmlns:a16="http://schemas.microsoft.com/office/drawing/2014/main" id="{E2ECB358-5101-4C2F-8C6E-7846F62B60DB}"/>
              </a:ext>
            </a:extLst>
          </p:cNvPr>
          <p:cNvSpPr txBox="1"/>
          <p:nvPr/>
        </p:nvSpPr>
        <p:spPr>
          <a:xfrm>
            <a:off x="7800676" y="2234214"/>
            <a:ext cx="3817392" cy="295465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What is the Goal?</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Quantify</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the influence of each input on the output.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Prioritize</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the most impactful variables.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Guide</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model simplification, optimization.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ncrease understanding</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of the system's behavior under different conditions.</a:t>
            </a:r>
          </a:p>
        </p:txBody>
      </p:sp>
    </p:spTree>
    <p:extLst>
      <p:ext uri="{BB962C8B-B14F-4D97-AF65-F5344CB8AC3E}">
        <p14:creationId xmlns:p14="http://schemas.microsoft.com/office/powerpoint/2010/main" val="2633677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20</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2" name="CuadroTexto 1">
            <a:extLst>
              <a:ext uri="{FF2B5EF4-FFF2-40B4-BE49-F238E27FC236}">
                <a16:creationId xmlns:a16="http://schemas.microsoft.com/office/drawing/2014/main" id="{4E095097-9C3A-474F-8236-7F73FECE2F38}"/>
              </a:ext>
            </a:extLst>
          </p:cNvPr>
          <p:cNvSpPr txBox="1"/>
          <p:nvPr/>
        </p:nvSpPr>
        <p:spPr>
          <a:xfrm>
            <a:off x="1235414" y="2018510"/>
            <a:ext cx="10627781"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what</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we</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tried</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-&gt;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Sobol</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Alpha PEM-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Sobol</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in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XGBoost</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-SHAP </a:t>
            </a:r>
            <a:r>
              <a:rPr kumimoji="0" lang="es-CO" sz="2800" b="1" i="0" u="none" strike="noStrike" kern="1200" cap="none" spc="0" normalizeH="0" baseline="0" noProof="0" dirty="0">
                <a:ln>
                  <a:noFill/>
                </a:ln>
                <a:solidFill>
                  <a:srgbClr val="FF0000"/>
                </a:solidFill>
                <a:effectLst/>
                <a:uLnTx/>
                <a:uFillTx/>
                <a:latin typeface="Aptos" panose="02110004020202020204"/>
                <a:ea typeface="+mn-ea"/>
                <a:cs typeface="+mn-cs"/>
              </a:rPr>
              <a:t>in </a:t>
            </a:r>
            <a:r>
              <a:rPr kumimoji="0" lang="es-CO" sz="2800" b="1" i="0" u="none" strike="noStrike" kern="1200" cap="none" spc="0" normalizeH="0" baseline="0" noProof="0" dirty="0" err="1">
                <a:ln>
                  <a:noFill/>
                </a:ln>
                <a:solidFill>
                  <a:srgbClr val="FF0000"/>
                </a:solidFill>
                <a:effectLst/>
                <a:uLnTx/>
                <a:uFillTx/>
                <a:latin typeface="Aptos" panose="02110004020202020204"/>
                <a:ea typeface="+mn-ea"/>
                <a:cs typeface="+mn-cs"/>
              </a:rPr>
              <a:t>XGBoost</a:t>
            </a:r>
            <a:endPar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007415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ángulo: esquinas redondeadas 23">
            <a:extLst>
              <a:ext uri="{FF2B5EF4-FFF2-40B4-BE49-F238E27FC236}">
                <a16:creationId xmlns:a16="http://schemas.microsoft.com/office/drawing/2014/main" id="{6BB857B1-2824-41B2-AB75-E6B569D424C9}"/>
              </a:ext>
            </a:extLst>
          </p:cNvPr>
          <p:cNvSpPr/>
          <p:nvPr/>
        </p:nvSpPr>
        <p:spPr>
          <a:xfrm>
            <a:off x="6324726" y="3488979"/>
            <a:ext cx="4425700" cy="646331"/>
          </a:xfrm>
          <a:prstGeom prst="round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0" name="CuadroTexto 9">
            <a:extLst>
              <a:ext uri="{FF2B5EF4-FFF2-40B4-BE49-F238E27FC236}">
                <a16:creationId xmlns:a16="http://schemas.microsoft.com/office/drawing/2014/main" id="{C2B02E93-4B11-4DC7-97E3-028294B238C6}"/>
              </a:ext>
            </a:extLst>
          </p:cNvPr>
          <p:cNvSpPr txBox="1"/>
          <p:nvPr/>
        </p:nvSpPr>
        <p:spPr>
          <a:xfrm>
            <a:off x="6671142" y="1645352"/>
            <a:ext cx="4649820" cy="1692771"/>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is accurate, but simulations are computationally expensive.</a:t>
            </a:r>
          </a:p>
          <a:p>
            <a:pPr marL="28575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Sensitivity analysis (especially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Sobol</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needs thousands of evaluations.</a:t>
            </a:r>
          </a:p>
          <a:p>
            <a:pPr marL="28575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Not feasible to run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AlphaPEM</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directly at that scale. </a:t>
            </a:r>
          </a:p>
        </p:txBody>
      </p:sp>
      <p:sp>
        <p:nvSpPr>
          <p:cNvPr id="12" name="CuadroTexto 11">
            <a:extLst>
              <a:ext uri="{FF2B5EF4-FFF2-40B4-BE49-F238E27FC236}">
                <a16:creationId xmlns:a16="http://schemas.microsoft.com/office/drawing/2014/main" id="{419426EF-CB8D-4D4C-826E-3684BCB24F87}"/>
              </a:ext>
            </a:extLst>
          </p:cNvPr>
          <p:cNvSpPr txBox="1"/>
          <p:nvPr/>
        </p:nvSpPr>
        <p:spPr>
          <a:xfrm>
            <a:off x="5525245" y="4387984"/>
            <a:ext cx="3012331"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Surrogate</a:t>
            </a:r>
            <a:r>
              <a:rPr kumimoji="0" lang="en-US" sz="1800" b="1" i="0" u="none" strike="noStrike" kern="1200" cap="none" spc="0" normalizeH="0" baseline="0" noProof="0" dirty="0">
                <a:ln>
                  <a:noFill/>
                </a:ln>
                <a:solidFill>
                  <a:srgbClr val="000000"/>
                </a:solidFill>
                <a:effectLst/>
                <a:uLnTx/>
                <a:uFillTx/>
                <a:latin typeface="Fira Sans Extra Condensed" panose="020B0503050000020004" pitchFamily="34" charset="0"/>
                <a:ea typeface="+mn-ea"/>
                <a:cs typeface="+mn-cs"/>
              </a:rPr>
              <a:t> </a:t>
            </a:r>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model</a:t>
            </a:r>
          </a:p>
        </p:txBody>
      </p:sp>
      <p:sp>
        <p:nvSpPr>
          <p:cNvPr id="14" name="CuadroTexto 13">
            <a:extLst>
              <a:ext uri="{FF2B5EF4-FFF2-40B4-BE49-F238E27FC236}">
                <a16:creationId xmlns:a16="http://schemas.microsoft.com/office/drawing/2014/main" id="{85B6B972-8676-4B86-A88F-2D190FF27E44}"/>
              </a:ext>
            </a:extLst>
          </p:cNvPr>
          <p:cNvSpPr txBox="1"/>
          <p:nvPr/>
        </p:nvSpPr>
        <p:spPr>
          <a:xfrm>
            <a:off x="6643731" y="3488979"/>
            <a:ext cx="378769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Idea: </a:t>
            </a:r>
            <a:r>
              <a:rPr kumimoji="0" lang="en-US" sz="1800" b="0"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We train fast, accurate models to approximate </a:t>
            </a:r>
            <a:r>
              <a:rPr kumimoji="0" lang="en-US" sz="1800" b="1" i="0" u="none" strike="noStrike" kern="1200" cap="none" spc="0" normalizeH="0" baseline="0" noProof="0" dirty="0" err="1">
                <a:ln>
                  <a:noFill/>
                </a:ln>
                <a:solidFill>
                  <a:prstClr val="black"/>
                </a:solidFill>
                <a:effectLst/>
                <a:uLnTx/>
                <a:uFillTx/>
                <a:latin typeface="Source Sans Pro" panose="020B0503030403020204" pitchFamily="34" charset="0"/>
                <a:ea typeface="+mn-ea"/>
                <a:cs typeface="+mn-cs"/>
              </a:rPr>
              <a:t>AlphaPEM</a:t>
            </a:r>
            <a:endPar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endParaRPr>
          </a:p>
        </p:txBody>
      </p:sp>
      <p:sp>
        <p:nvSpPr>
          <p:cNvPr id="21" name="Google Shape;1869;p37">
            <a:extLst>
              <a:ext uri="{FF2B5EF4-FFF2-40B4-BE49-F238E27FC236}">
                <a16:creationId xmlns:a16="http://schemas.microsoft.com/office/drawing/2014/main" id="{E2911D10-FA5E-4E5F-97B3-87ADD2651639}"/>
              </a:ext>
            </a:extLst>
          </p:cNvPr>
          <p:cNvSpPr txBox="1"/>
          <p:nvPr/>
        </p:nvSpPr>
        <p:spPr>
          <a:xfrm>
            <a:off x="8265773" y="4387984"/>
            <a:ext cx="4110917" cy="1446550"/>
          </a:xfrm>
          <a:prstGeom prst="rect">
            <a:avLst/>
          </a:prstGeom>
          <a:noFill/>
          <a:ln>
            <a:noFill/>
          </a:ln>
        </p:spPr>
        <p:txBody>
          <a:bodyPr spcFirstLastPara="1" wrap="square" lIns="91425" tIns="91425" rIns="91425" bIns="91425" anchor="t" anchorCtr="0">
            <a:noAutofit/>
          </a:bodyPr>
          <a:lstStyle/>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Compute SHAP values (model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explainability</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Run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Sobol</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analysis (variance decomposition).</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Explore inputs cheaply and flexibly.</a:t>
            </a:r>
          </a:p>
        </p:txBody>
      </p:sp>
      <p:pic>
        <p:nvPicPr>
          <p:cNvPr id="23" name="Imagen 22">
            <a:extLst>
              <a:ext uri="{FF2B5EF4-FFF2-40B4-BE49-F238E27FC236}">
                <a16:creationId xmlns:a16="http://schemas.microsoft.com/office/drawing/2014/main" id="{FEB3B5B3-A2A9-40EB-A4FA-9919BE2BC999}"/>
              </a:ext>
            </a:extLst>
          </p:cNvPr>
          <p:cNvPicPr>
            <a:picLocks noChangeAspect="1"/>
          </p:cNvPicPr>
          <p:nvPr/>
        </p:nvPicPr>
        <p:blipFill>
          <a:blip r:embed="rId2"/>
          <a:stretch>
            <a:fillRect/>
          </a:stretch>
        </p:blipFill>
        <p:spPr>
          <a:xfrm>
            <a:off x="5267132" y="1697424"/>
            <a:ext cx="1319649" cy="1096184"/>
          </a:xfrm>
          <a:prstGeom prst="rect">
            <a:avLst/>
          </a:prstGeom>
        </p:spPr>
      </p:pic>
      <p:cxnSp>
        <p:nvCxnSpPr>
          <p:cNvPr id="26" name="Conector recto 25">
            <a:extLst>
              <a:ext uri="{FF2B5EF4-FFF2-40B4-BE49-F238E27FC236}">
                <a16:creationId xmlns:a16="http://schemas.microsoft.com/office/drawing/2014/main" id="{48D1F469-4252-4ED0-B075-986661883713}"/>
              </a:ext>
            </a:extLst>
          </p:cNvPr>
          <p:cNvCxnSpPr>
            <a:cxnSpLocks/>
          </p:cNvCxnSpPr>
          <p:nvPr/>
        </p:nvCxnSpPr>
        <p:spPr>
          <a:xfrm>
            <a:off x="5182771" y="1747117"/>
            <a:ext cx="14520" cy="4361853"/>
          </a:xfrm>
          <a:prstGeom prst="line">
            <a:avLst/>
          </a:prstGeom>
          <a:ln>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34" name="Google Shape;2258;p44">
            <a:extLst>
              <a:ext uri="{FF2B5EF4-FFF2-40B4-BE49-F238E27FC236}">
                <a16:creationId xmlns:a16="http://schemas.microsoft.com/office/drawing/2014/main" id="{F252C06C-29DB-4D94-A327-6C0D53B90529}"/>
              </a:ext>
            </a:extLst>
          </p:cNvPr>
          <p:cNvSpPr txBox="1">
            <a:spLocks/>
          </p:cNvSpPr>
          <p:nvPr/>
        </p:nvSpPr>
        <p:spPr>
          <a:xfrm>
            <a:off x="1060126" y="1067902"/>
            <a:ext cx="3934405" cy="495200"/>
          </a:xfrm>
          <a:prstGeom prst="rect">
            <a:avLst/>
          </a:prstGeom>
        </p:spPr>
        <p:txBody>
          <a:bodyPr spcFirstLastPara="1" wrap="square" lIns="121900" tIns="121900" rIns="121900" bIns="121900"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MX" sz="36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j-cs"/>
              </a:rPr>
              <a:t>Region-based</a:t>
            </a:r>
            <a:r>
              <a:rPr kumimoji="0" lang="es-MX" sz="36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j-cs"/>
              </a:rPr>
              <a:t> SA</a:t>
            </a:r>
          </a:p>
        </p:txBody>
      </p:sp>
      <p:grpSp>
        <p:nvGrpSpPr>
          <p:cNvPr id="35" name="Grupo 34">
            <a:extLst>
              <a:ext uri="{FF2B5EF4-FFF2-40B4-BE49-F238E27FC236}">
                <a16:creationId xmlns:a16="http://schemas.microsoft.com/office/drawing/2014/main" id="{1C6BD00D-F9CF-45FC-B16C-1DEB50A1B520}"/>
              </a:ext>
            </a:extLst>
          </p:cNvPr>
          <p:cNvGrpSpPr/>
          <p:nvPr/>
        </p:nvGrpSpPr>
        <p:grpSpPr>
          <a:xfrm>
            <a:off x="1060126" y="2724798"/>
            <a:ext cx="3934405" cy="970140"/>
            <a:chOff x="1014663" y="943778"/>
            <a:chExt cx="3934405" cy="970140"/>
          </a:xfrm>
        </p:grpSpPr>
        <p:sp>
          <p:nvSpPr>
            <p:cNvPr id="36" name="Forma libre 19">
              <a:extLst>
                <a:ext uri="{FF2B5EF4-FFF2-40B4-BE49-F238E27FC236}">
                  <a16:creationId xmlns:a16="http://schemas.microsoft.com/office/drawing/2014/main" id="{2EB2DC06-253D-495A-9839-504F629750EE}"/>
                </a:ext>
              </a:extLst>
            </p:cNvPr>
            <p:cNvSpPr>
              <a:spLocks noChangeAspect="1"/>
            </p:cNvSpPr>
            <p:nvPr/>
          </p:nvSpPr>
          <p:spPr>
            <a:xfrm flipH="1">
              <a:off x="2040188" y="943778"/>
              <a:ext cx="2783687" cy="930388"/>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400" b="0" i="0" u="none" strike="noStrike" kern="1200" cap="none" spc="0" normalizeH="0" baseline="0" noProof="0">
                <a:ln>
                  <a:noFill/>
                </a:ln>
                <a:solidFill>
                  <a:srgbClr val="FFB903"/>
                </a:solidFill>
                <a:effectLst/>
                <a:uLnTx/>
                <a:uFillTx/>
                <a:latin typeface="Aptos" panose="02110004020202020204"/>
                <a:ea typeface="+mn-ea"/>
                <a:cs typeface="+mn-cs"/>
              </a:endParaRPr>
            </a:p>
          </p:txBody>
        </p:sp>
        <p:sp>
          <p:nvSpPr>
            <p:cNvPr id="37" name="Forma libre 19">
              <a:extLst>
                <a:ext uri="{FF2B5EF4-FFF2-40B4-BE49-F238E27FC236}">
                  <a16:creationId xmlns:a16="http://schemas.microsoft.com/office/drawing/2014/main" id="{BDD3B788-DD74-4388-96E5-903B609C8AF3}"/>
                </a:ext>
              </a:extLst>
            </p:cNvPr>
            <p:cNvSpPr>
              <a:spLocks noChangeAspect="1"/>
            </p:cNvSpPr>
            <p:nvPr/>
          </p:nvSpPr>
          <p:spPr>
            <a:xfrm>
              <a:off x="1014663" y="1260018"/>
              <a:ext cx="1645158" cy="633096"/>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srgbClr val="FFB903"/>
                </a:solidFill>
                <a:effectLst/>
                <a:uLnTx/>
                <a:uFillTx/>
                <a:latin typeface="Aptos" panose="02110004020202020204"/>
                <a:ea typeface="+mn-ea"/>
                <a:cs typeface="+mn-cs"/>
              </a:endParaRPr>
            </a:p>
          </p:txBody>
        </p:sp>
        <p:sp>
          <p:nvSpPr>
            <p:cNvPr id="38" name="CuadroTexto 37">
              <a:extLst>
                <a:ext uri="{FF2B5EF4-FFF2-40B4-BE49-F238E27FC236}">
                  <a16:creationId xmlns:a16="http://schemas.microsoft.com/office/drawing/2014/main" id="{F44D55C5-47BA-42CC-BFC2-5E3B48FA5219}"/>
                </a:ext>
              </a:extLst>
            </p:cNvPr>
            <p:cNvSpPr txBox="1"/>
            <p:nvPr/>
          </p:nvSpPr>
          <p:spPr>
            <a:xfrm>
              <a:off x="1189773" y="1231537"/>
              <a:ext cx="2238118" cy="67710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Regions</a:t>
              </a:r>
              <a:r>
                <a:rPr kumimoji="0" lang="es-ES_tradnl" sz="20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definition</a:t>
              </a:r>
              <a:endParaRPr kumimoji="0" lang="es-ES_tradnl" sz="18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pic>
          <p:nvPicPr>
            <p:cNvPr id="39" name="Imagen 38">
              <a:extLst>
                <a:ext uri="{FF2B5EF4-FFF2-40B4-BE49-F238E27FC236}">
                  <a16:creationId xmlns:a16="http://schemas.microsoft.com/office/drawing/2014/main" id="{CEE9A6F0-F1DC-49C9-B3BF-DA0D0D3161EB}"/>
                </a:ext>
              </a:extLst>
            </p:cNvPr>
            <p:cNvPicPr>
              <a:picLocks noChangeAspect="1"/>
            </p:cNvPicPr>
            <p:nvPr/>
          </p:nvPicPr>
          <p:blipFill>
            <a:blip r:embed="rId3"/>
            <a:stretch>
              <a:fillRect/>
            </a:stretch>
          </p:blipFill>
          <p:spPr>
            <a:xfrm>
              <a:off x="2457114" y="1589918"/>
              <a:ext cx="324000" cy="324000"/>
            </a:xfrm>
            <a:prstGeom prst="rect">
              <a:avLst/>
            </a:prstGeom>
          </p:spPr>
        </p:pic>
        <p:sp>
          <p:nvSpPr>
            <p:cNvPr id="40" name="CuadroTexto 39">
              <a:extLst>
                <a:ext uri="{FF2B5EF4-FFF2-40B4-BE49-F238E27FC236}">
                  <a16:creationId xmlns:a16="http://schemas.microsoft.com/office/drawing/2014/main" id="{A194CD5B-6C31-48F9-B1E1-B92BFB9C8BFD}"/>
                </a:ext>
              </a:extLst>
            </p:cNvPr>
            <p:cNvSpPr txBox="1"/>
            <p:nvPr/>
          </p:nvSpPr>
          <p:spPr>
            <a:xfrm>
              <a:off x="2816252" y="1085806"/>
              <a:ext cx="2132816" cy="646331"/>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Activation</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 [0;0.4)</a:t>
              </a: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Ohmic</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 [0.4; 1.6)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Mass</a:t>
              </a:r>
              <a:r>
                <a:rPr kumimoji="0" lang="es-CO" sz="1200" b="1" i="0" u="none" strike="noStrike" kern="1200" cap="none" spc="0" normalizeH="0" baseline="0" noProof="0" dirty="0">
                  <a:ln>
                    <a:noFill/>
                  </a:ln>
                  <a:solidFill>
                    <a:prstClr val="black"/>
                  </a:solidFill>
                  <a:effectLst/>
                  <a:uLnTx/>
                  <a:uFillTx/>
                  <a:latin typeface="Roboto" panose="02000000000000000000" pitchFamily="2" charset="0"/>
                  <a:ea typeface="+mn-ea"/>
                  <a:cs typeface="+mn-cs"/>
                </a:rPr>
                <a:t> </a:t>
              </a: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transport</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 [1.6; </a:t>
              </a:r>
              <a:r>
                <a:rPr kumimoji="0" lang="es-CO" sz="1200" b="0" i="0" u="none" strike="noStrike" kern="1200" cap="none" spc="0" normalizeH="0" baseline="0" noProof="0" dirty="0" err="1">
                  <a:ln>
                    <a:noFill/>
                  </a:ln>
                  <a:solidFill>
                    <a:prstClr val="black">
                      <a:lumMod val="75000"/>
                      <a:lumOff val="25000"/>
                    </a:prstClr>
                  </a:solidFill>
                  <a:effectLst/>
                  <a:uLnTx/>
                  <a:uFillTx/>
                  <a:latin typeface="Roboto" panose="02000000000000000000" pitchFamily="2" charset="0"/>
                  <a:ea typeface="+mn-ea"/>
                  <a:cs typeface="+mn-cs"/>
                </a:rPr>
                <a:t>Inf</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a:t>
              </a:r>
              <a:endParaRPr kumimoji="0" lang="es-CO" sz="1200" b="0" i="0" u="none" strike="noStrike" kern="1200" cap="none" spc="0" normalizeH="0" baseline="0" noProof="0" dirty="0">
                <a:ln>
                  <a:noFill/>
                </a:ln>
                <a:solidFill>
                  <a:prstClr val="black">
                    <a:lumMod val="75000"/>
                    <a:lumOff val="25000"/>
                  </a:prstClr>
                </a:solidFill>
                <a:effectLst/>
                <a:uLnTx/>
                <a:uFillTx/>
                <a:latin typeface="Aptos" panose="02110004020202020204"/>
                <a:ea typeface="+mn-ea"/>
                <a:cs typeface="+mn-cs"/>
              </a:endParaRPr>
            </a:p>
          </p:txBody>
        </p:sp>
      </p:grpSp>
      <p:pic>
        <p:nvPicPr>
          <p:cNvPr id="41" name="Picture 3" descr="Novel Trends in Proton Exchange Membrane Fuel Cells">
            <a:extLst>
              <a:ext uri="{FF2B5EF4-FFF2-40B4-BE49-F238E27FC236}">
                <a16:creationId xmlns:a16="http://schemas.microsoft.com/office/drawing/2014/main" id="{BCACC8D3-20CB-459D-86ED-3E09B3F951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95513" y="3806010"/>
            <a:ext cx="3805349" cy="2364319"/>
          </a:xfrm>
          <a:prstGeom prst="rect">
            <a:avLst/>
          </a:prstGeom>
          <a:noFill/>
          <a:extLst>
            <a:ext uri="{909E8E84-426E-40DD-AFC4-6F175D3DCCD1}">
              <a14:hiddenFill xmlns:a14="http://schemas.microsoft.com/office/drawing/2010/main">
                <a:solidFill>
                  <a:srgbClr val="FFFFFF"/>
                </a:solidFill>
              </a14:hiddenFill>
            </a:ext>
          </a:extLst>
        </p:spPr>
      </p:pic>
      <p:sp>
        <p:nvSpPr>
          <p:cNvPr id="42" name="CuadroTexto 41">
            <a:extLst>
              <a:ext uri="{FF2B5EF4-FFF2-40B4-BE49-F238E27FC236}">
                <a16:creationId xmlns:a16="http://schemas.microsoft.com/office/drawing/2014/main" id="{8EA8B759-A4EB-4928-96A0-5000796E3DA6}"/>
              </a:ext>
            </a:extLst>
          </p:cNvPr>
          <p:cNvSpPr txBox="1"/>
          <p:nvPr/>
        </p:nvSpPr>
        <p:spPr>
          <a:xfrm>
            <a:off x="1060126" y="1747117"/>
            <a:ext cx="3527899" cy="584775"/>
          </a:xfrm>
          <a:prstGeom prst="rect">
            <a:avLst/>
          </a:prstGeom>
          <a:noFill/>
        </p:spPr>
        <p:txBody>
          <a:bodyPr wrap="square">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sym typeface="Roboto"/>
              </a:rPr>
              <a:t>Advantages: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sym typeface="Roboto"/>
              </a:rPr>
              <a:t>Localized insights about most important features per region.</a:t>
            </a:r>
            <a:endPar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sym typeface="Arial"/>
            </a:endParaRPr>
          </a:p>
        </p:txBody>
      </p:sp>
      <p:sp>
        <p:nvSpPr>
          <p:cNvPr id="25" name="CuadroTexto 24">
            <a:extLst>
              <a:ext uri="{FF2B5EF4-FFF2-40B4-BE49-F238E27FC236}">
                <a16:creationId xmlns:a16="http://schemas.microsoft.com/office/drawing/2014/main" id="{F7F22E5A-CC06-4739-91FA-EB11F8A33E1B}"/>
              </a:ext>
            </a:extLst>
          </p:cNvPr>
          <p:cNvSpPr txBox="1"/>
          <p:nvPr/>
        </p:nvSpPr>
        <p:spPr>
          <a:xfrm>
            <a:off x="5606854" y="4911204"/>
            <a:ext cx="2401449" cy="646331"/>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i="0" u="none" strike="noStrike" kern="1200" cap="none" spc="0" normalizeH="0" baseline="0" noProof="0" dirty="0" err="1">
                <a:ln>
                  <a:noFill/>
                </a:ln>
                <a:solidFill>
                  <a:srgbClr val="008B2E"/>
                </a:solidFill>
                <a:effectLst/>
                <a:uLnTx/>
                <a:uFillTx/>
                <a:latin typeface="Source Sans Pro" panose="020B0503030403020204" pitchFamily="34" charset="0"/>
                <a:ea typeface="Source Sans Pro" panose="020B0503030403020204" pitchFamily="34" charset="0"/>
                <a:cs typeface="+mn-cs"/>
              </a:rPr>
              <a:t>XGBoost</a:t>
            </a:r>
            <a:endParaRPr kumimoji="0" lang="en-US" i="0" u="none" strike="noStrike" kern="1200" cap="none" spc="0" normalizeH="0" baseline="0" noProof="0" dirty="0">
              <a:ln>
                <a:noFill/>
              </a:ln>
              <a:solidFill>
                <a:srgbClr val="008B2E"/>
              </a:solidFill>
              <a:effectLst/>
              <a:uLnTx/>
              <a:uFillTx/>
              <a:latin typeface="Source Sans Pro" panose="020B0503030403020204" pitchFamily="34" charset="0"/>
              <a:ea typeface="Source Sans Pro" panose="020B0503030403020204" pitchFamily="34" charset="0"/>
              <a:cs typeface="+mn-cs"/>
            </a:endParaRPr>
          </a:p>
          <a:p>
            <a:pPr marL="342900" indent="-342900">
              <a:buFont typeface="+mj-lt"/>
              <a:buAutoNum type="arabicPeriod"/>
              <a:defRPr/>
            </a:pPr>
            <a:r>
              <a:rPr kumimoji="0" lang="en-US" i="0" u="none" strike="noStrike" kern="1200" cap="none" spc="0" normalizeH="0" baseline="0" noProof="0" dirty="0">
                <a:ln>
                  <a:noFill/>
                </a:ln>
                <a:solidFill>
                  <a:srgbClr val="008B2E"/>
                </a:solidFill>
                <a:effectLst/>
                <a:uLnTx/>
                <a:uFillTx/>
                <a:latin typeface="Source Sans Pro" panose="020B0503030403020204" pitchFamily="34" charset="0"/>
                <a:ea typeface="Source Sans Pro" panose="020B0503030403020204" pitchFamily="34" charset="0"/>
                <a:cs typeface="+mn-cs"/>
              </a:rPr>
              <a:t>Random Forest</a:t>
            </a:r>
          </a:p>
        </p:txBody>
      </p:sp>
      <p:sp>
        <p:nvSpPr>
          <p:cNvPr id="28" name="CuadroTexto 27">
            <a:extLst>
              <a:ext uri="{FF2B5EF4-FFF2-40B4-BE49-F238E27FC236}">
                <a16:creationId xmlns:a16="http://schemas.microsoft.com/office/drawing/2014/main" id="{87B11CEC-27E0-443F-9E01-84BF4D0B0D9E}"/>
              </a:ext>
            </a:extLst>
          </p:cNvPr>
          <p:cNvSpPr txBox="1"/>
          <p:nvPr/>
        </p:nvSpPr>
        <p:spPr>
          <a:xfrm>
            <a:off x="1060126" y="6173270"/>
            <a:ext cx="4192486" cy="461665"/>
          </a:xfrm>
          <a:prstGeom prst="rect">
            <a:avLst/>
          </a:prstGeom>
          <a:noFill/>
        </p:spPr>
        <p:txBody>
          <a:bodyPr wrap="square">
            <a:spAutoFit/>
          </a:bodyPr>
          <a:lstStyle/>
          <a:p>
            <a:r>
              <a:rPr lang="en" sz="1200" b="1" dirty="0"/>
              <a:t>Figure XX:  </a:t>
            </a:r>
            <a:r>
              <a:rPr lang="en-US" sz="1200" dirty="0"/>
              <a:t>Valid polarization curve: within 0–1.23 V, monotonic, and positive up to 2.0 A/cm². </a:t>
            </a:r>
            <a:r>
              <a:rPr lang="en-US" sz="1200" i="1" dirty="0"/>
              <a:t>Source: </a:t>
            </a:r>
            <a:r>
              <a:rPr lang="en-US" sz="1200" i="1" dirty="0">
                <a:hlinkClick r:id="rId5"/>
              </a:rPr>
              <a:t>ResearchGate</a:t>
            </a:r>
            <a:endParaRPr lang="en" sz="1200" b="1" dirty="0"/>
          </a:p>
        </p:txBody>
      </p:sp>
    </p:spTree>
    <p:extLst>
      <p:ext uri="{BB962C8B-B14F-4D97-AF65-F5344CB8AC3E}">
        <p14:creationId xmlns:p14="http://schemas.microsoft.com/office/powerpoint/2010/main" val="12588396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22</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grpSp>
        <p:nvGrpSpPr>
          <p:cNvPr id="54" name="Grupo 53">
            <a:extLst>
              <a:ext uri="{FF2B5EF4-FFF2-40B4-BE49-F238E27FC236}">
                <a16:creationId xmlns:a16="http://schemas.microsoft.com/office/drawing/2014/main" id="{13E62BC2-A941-481B-961B-4FE692896232}"/>
              </a:ext>
            </a:extLst>
          </p:cNvPr>
          <p:cNvGrpSpPr/>
          <p:nvPr/>
        </p:nvGrpSpPr>
        <p:grpSpPr>
          <a:xfrm>
            <a:off x="5804634" y="2077253"/>
            <a:ext cx="5840362" cy="1034930"/>
            <a:chOff x="1199535" y="1601675"/>
            <a:chExt cx="5840362" cy="1034930"/>
          </a:xfrm>
        </p:grpSpPr>
        <p:sp>
          <p:nvSpPr>
            <p:cNvPr id="42" name="Rectángulo: esquinas redondeadas 41">
              <a:extLst>
                <a:ext uri="{FF2B5EF4-FFF2-40B4-BE49-F238E27FC236}">
                  <a16:creationId xmlns:a16="http://schemas.microsoft.com/office/drawing/2014/main" id="{88250583-D5E0-4857-B86A-41276877F822}"/>
                </a:ext>
              </a:extLst>
            </p:cNvPr>
            <p:cNvSpPr/>
            <p:nvPr/>
          </p:nvSpPr>
          <p:spPr>
            <a:xfrm>
              <a:off x="1199535" y="1601675"/>
              <a:ext cx="5840362" cy="1034930"/>
            </a:xfrm>
            <a:prstGeom prst="roundRect">
              <a:avLst/>
            </a:prstGeom>
            <a:noFill/>
            <a:ln w="38100">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ángulo 9">
              <a:extLst>
                <a:ext uri="{FF2B5EF4-FFF2-40B4-BE49-F238E27FC236}">
                  <a16:creationId xmlns:a16="http://schemas.microsoft.com/office/drawing/2014/main" id="{3D88EC61-2473-4BB9-B29B-14009C09B2D7}"/>
                </a:ext>
              </a:extLst>
            </p:cNvPr>
            <p:cNvSpPr>
              <a:spLocks noChangeAspect="1"/>
            </p:cNvSpPr>
            <p:nvPr/>
          </p:nvSpPr>
          <p:spPr>
            <a:xfrm>
              <a:off x="1396112" y="1959205"/>
              <a:ext cx="435280" cy="360000"/>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1</a:t>
              </a:r>
              <a:endParaRPr kumimoji="0" lang="es-CO"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12" name="CuadroTexto 11">
              <a:extLst>
                <a:ext uri="{FF2B5EF4-FFF2-40B4-BE49-F238E27FC236}">
                  <a16:creationId xmlns:a16="http://schemas.microsoft.com/office/drawing/2014/main" id="{7AB1E4D5-6595-4B00-8F60-35B37FDC635D}"/>
                </a:ext>
              </a:extLst>
            </p:cNvPr>
            <p:cNvSpPr txBox="1"/>
            <p:nvPr/>
          </p:nvSpPr>
          <p:spPr>
            <a:xfrm>
              <a:off x="2381806" y="1908373"/>
              <a:ext cx="1566153"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30" name="Grupo 29">
              <a:extLst>
                <a:ext uri="{FF2B5EF4-FFF2-40B4-BE49-F238E27FC236}">
                  <a16:creationId xmlns:a16="http://schemas.microsoft.com/office/drawing/2014/main" id="{62EB1E69-3C26-4F56-A0D5-D20EFB665614}"/>
                </a:ext>
              </a:extLst>
            </p:cNvPr>
            <p:cNvGrpSpPr/>
            <p:nvPr/>
          </p:nvGrpSpPr>
          <p:grpSpPr>
            <a:xfrm>
              <a:off x="4918206" y="1862357"/>
              <a:ext cx="1853634" cy="553696"/>
              <a:chOff x="1271050" y="1744316"/>
              <a:chExt cx="2161584" cy="553696"/>
            </a:xfrm>
          </p:grpSpPr>
          <p:sp>
            <p:nvSpPr>
              <p:cNvPr id="31" name="Rectángulo: esquinas redondeadas 30">
                <a:extLst>
                  <a:ext uri="{FF2B5EF4-FFF2-40B4-BE49-F238E27FC236}">
                    <a16:creationId xmlns:a16="http://schemas.microsoft.com/office/drawing/2014/main" id="{536DEDD6-9FA1-4E9F-A97A-D1DE6E2CF34E}"/>
                  </a:ext>
                </a:extLst>
              </p:cNvPr>
              <p:cNvSpPr/>
              <p:nvPr/>
            </p:nvSpPr>
            <p:spPr>
              <a:xfrm>
                <a:off x="1271050" y="1744316"/>
                <a:ext cx="2161584" cy="553696"/>
              </a:xfrm>
              <a:prstGeom prst="round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6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CuadroTexto 31">
                <a:extLst>
                  <a:ext uri="{FF2B5EF4-FFF2-40B4-BE49-F238E27FC236}">
                    <a16:creationId xmlns:a16="http://schemas.microsoft.com/office/drawing/2014/main" id="{BDFA7BEF-81C3-4E8A-B711-01A1F2EC7389}"/>
                  </a:ext>
                </a:extLst>
              </p:cNvPr>
              <p:cNvSpPr txBox="1"/>
              <p:nvPr/>
            </p:nvSpPr>
            <p:spPr>
              <a:xfrm>
                <a:off x="1411606" y="1833404"/>
                <a:ext cx="1880472"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a:t>
                </a:r>
                <a:r>
                  <a:rPr kumimoji="0" lang="es-ES_tradnl" sz="20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ES" sz="20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24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grpSp>
      <p:grpSp>
        <p:nvGrpSpPr>
          <p:cNvPr id="53" name="Grupo 52">
            <a:extLst>
              <a:ext uri="{FF2B5EF4-FFF2-40B4-BE49-F238E27FC236}">
                <a16:creationId xmlns:a16="http://schemas.microsoft.com/office/drawing/2014/main" id="{01E69173-44BC-45DA-BF1E-A5F21CF3EF53}"/>
              </a:ext>
            </a:extLst>
          </p:cNvPr>
          <p:cNvGrpSpPr/>
          <p:nvPr/>
        </p:nvGrpSpPr>
        <p:grpSpPr>
          <a:xfrm>
            <a:off x="5804634" y="3268375"/>
            <a:ext cx="5840362" cy="1712247"/>
            <a:chOff x="1199535" y="3544077"/>
            <a:chExt cx="5840362" cy="1712247"/>
          </a:xfrm>
        </p:grpSpPr>
        <p:sp>
          <p:nvSpPr>
            <p:cNvPr id="43" name="Rectángulo: esquinas redondeadas 42">
              <a:extLst>
                <a:ext uri="{FF2B5EF4-FFF2-40B4-BE49-F238E27FC236}">
                  <a16:creationId xmlns:a16="http://schemas.microsoft.com/office/drawing/2014/main" id="{7556B96D-4092-4708-B806-D38C4E743435}"/>
                </a:ext>
              </a:extLst>
            </p:cNvPr>
            <p:cNvSpPr/>
            <p:nvPr/>
          </p:nvSpPr>
          <p:spPr>
            <a:xfrm>
              <a:off x="1199535" y="3544077"/>
              <a:ext cx="5840362" cy="1712247"/>
            </a:xfrm>
            <a:prstGeom prst="roundRect">
              <a:avLst/>
            </a:prstGeom>
            <a:noFill/>
            <a:ln w="38100">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CuadroTexto 7">
              <a:extLst>
                <a:ext uri="{FF2B5EF4-FFF2-40B4-BE49-F238E27FC236}">
                  <a16:creationId xmlns:a16="http://schemas.microsoft.com/office/drawing/2014/main" id="{CC9A5096-B5BA-4CCA-9BB8-E2204F163DBF}"/>
                </a:ext>
              </a:extLst>
            </p:cNvPr>
            <p:cNvSpPr txBox="1"/>
            <p:nvPr/>
          </p:nvSpPr>
          <p:spPr>
            <a:xfrm>
              <a:off x="2099633" y="4202890"/>
              <a:ext cx="2755759"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High accuracy, efficient with large datasets, handles complex interactions well</a:t>
              </a:r>
              <a:r>
                <a:rPr kumimoji="0" lang="es-CO"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sp>
          <p:nvSpPr>
            <p:cNvPr id="9" name="CuadroTexto 8">
              <a:extLst>
                <a:ext uri="{FF2B5EF4-FFF2-40B4-BE49-F238E27FC236}">
                  <a16:creationId xmlns:a16="http://schemas.microsoft.com/office/drawing/2014/main" id="{E76FD8D3-48B6-45A9-9470-47C03B4019C3}"/>
                </a:ext>
              </a:extLst>
            </p:cNvPr>
            <p:cNvSpPr txBox="1"/>
            <p:nvPr/>
          </p:nvSpPr>
          <p:spPr>
            <a:xfrm>
              <a:off x="2470297" y="3741225"/>
              <a:ext cx="1566153"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33" name="Grupo 32">
              <a:extLst>
                <a:ext uri="{FF2B5EF4-FFF2-40B4-BE49-F238E27FC236}">
                  <a16:creationId xmlns:a16="http://schemas.microsoft.com/office/drawing/2014/main" id="{880668FE-114A-444C-8E1E-82EDD20E02D2}"/>
                </a:ext>
              </a:extLst>
            </p:cNvPr>
            <p:cNvGrpSpPr/>
            <p:nvPr/>
          </p:nvGrpSpPr>
          <p:grpSpPr>
            <a:xfrm>
              <a:off x="5020725" y="4480191"/>
              <a:ext cx="1854000" cy="553696"/>
              <a:chOff x="1279206" y="1851687"/>
              <a:chExt cx="2161584" cy="553696"/>
            </a:xfrm>
          </p:grpSpPr>
          <p:sp>
            <p:nvSpPr>
              <p:cNvPr id="34" name="Rectángulo: esquinas redondeadas 33">
                <a:extLst>
                  <a:ext uri="{FF2B5EF4-FFF2-40B4-BE49-F238E27FC236}">
                    <a16:creationId xmlns:a16="http://schemas.microsoft.com/office/drawing/2014/main" id="{77BDBE77-4DCF-42E9-8A7A-FBC24A7F105A}"/>
                  </a:ext>
                </a:extLst>
              </p:cNvPr>
              <p:cNvSpPr/>
              <p:nvPr/>
            </p:nvSpPr>
            <p:spPr>
              <a:xfrm>
                <a:off x="1279206" y="1851687"/>
                <a:ext cx="2161584" cy="553696"/>
              </a:xfrm>
              <a:prstGeom prst="roundRect">
                <a:avLst/>
              </a:prstGeom>
              <a:solidFill>
                <a:srgbClr val="8879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CuadroTexto 34">
                <a:extLst>
                  <a:ext uri="{FF2B5EF4-FFF2-40B4-BE49-F238E27FC236}">
                    <a16:creationId xmlns:a16="http://schemas.microsoft.com/office/drawing/2014/main" id="{AC77D981-E0F0-49B3-8664-2E3244F026FC}"/>
                  </a:ext>
                </a:extLst>
              </p:cNvPr>
              <p:cNvSpPr txBox="1"/>
              <p:nvPr/>
            </p:nvSpPr>
            <p:spPr>
              <a:xfrm>
                <a:off x="1411606" y="1898720"/>
                <a:ext cx="1880473" cy="4001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SHAP </a:t>
                </a:r>
                <a:r>
                  <a:rPr kumimoji="0" lang="es-ES" sz="2000" b="0" i="1" u="none" strike="noStrike" kern="1200" cap="none" spc="0" normalizeH="0" baseline="0" noProof="0" dirty="0" err="1">
                    <a:ln>
                      <a:noFill/>
                    </a:ln>
                    <a:solidFill>
                      <a:prstClr val="white"/>
                    </a:solidFill>
                    <a:effectLst/>
                    <a:uLnTx/>
                    <a:uFillTx/>
                    <a:latin typeface="Source Sans Pro Light" panose="020B0403030403020204" pitchFamily="34" charset="0"/>
                    <a:ea typeface="Source Sans Pro Light" panose="020B0403030403020204" pitchFamily="34" charset="0"/>
                    <a:cs typeface="+mn-cs"/>
                  </a:rPr>
                  <a:t>Values</a:t>
                </a:r>
                <a:endParaRPr kumimoji="0" lang="es-ES_tradnl" sz="2000" b="1" i="0" u="none" strike="noStrike" kern="1200" cap="none" spc="0" normalizeH="0" baseline="0" noProof="0" dirty="0">
                  <a:ln>
                    <a:noFill/>
                  </a:ln>
                  <a:solidFill>
                    <a:prstClr val="white"/>
                  </a:solidFill>
                  <a:effectLst/>
                  <a:uLnTx/>
                  <a:uFillTx/>
                  <a:latin typeface="Source Sans Pro Light" panose="020B0403030403020204" pitchFamily="34" charset="0"/>
                  <a:ea typeface="Source Sans Pro Light" panose="020B0403030403020204" pitchFamily="34" charset="0"/>
                  <a:cs typeface="+mn-cs"/>
                </a:endParaRPr>
              </a:p>
            </p:txBody>
          </p:sp>
        </p:grpSp>
        <p:grpSp>
          <p:nvGrpSpPr>
            <p:cNvPr id="36" name="Grupo 35">
              <a:extLst>
                <a:ext uri="{FF2B5EF4-FFF2-40B4-BE49-F238E27FC236}">
                  <a16:creationId xmlns:a16="http://schemas.microsoft.com/office/drawing/2014/main" id="{9CC61286-E721-48F1-9C6C-6D9A5B2E8CFC}"/>
                </a:ext>
              </a:extLst>
            </p:cNvPr>
            <p:cNvGrpSpPr/>
            <p:nvPr/>
          </p:nvGrpSpPr>
          <p:grpSpPr>
            <a:xfrm>
              <a:off x="4995134" y="3808407"/>
              <a:ext cx="1853634" cy="553696"/>
              <a:chOff x="1271050" y="1809632"/>
              <a:chExt cx="2161584" cy="553696"/>
            </a:xfrm>
          </p:grpSpPr>
          <p:sp>
            <p:nvSpPr>
              <p:cNvPr id="37" name="Rectángulo: esquinas redondeadas 36">
                <a:extLst>
                  <a:ext uri="{FF2B5EF4-FFF2-40B4-BE49-F238E27FC236}">
                    <a16:creationId xmlns:a16="http://schemas.microsoft.com/office/drawing/2014/main" id="{80C2960D-97F0-4A5C-A4A0-4F0817DC0374}"/>
                  </a:ext>
                </a:extLst>
              </p:cNvPr>
              <p:cNvSpPr/>
              <p:nvPr/>
            </p:nvSpPr>
            <p:spPr>
              <a:xfrm>
                <a:off x="1271050" y="1809632"/>
                <a:ext cx="2161584" cy="553696"/>
              </a:xfrm>
              <a:prstGeom prst="round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6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8" name="CuadroTexto 37">
                <a:extLst>
                  <a:ext uri="{FF2B5EF4-FFF2-40B4-BE49-F238E27FC236}">
                    <a16:creationId xmlns:a16="http://schemas.microsoft.com/office/drawing/2014/main" id="{5E1AE46D-4FC2-4EA6-88FF-1F92E3BD2287}"/>
                  </a:ext>
                </a:extLst>
              </p:cNvPr>
              <p:cNvSpPr txBox="1"/>
              <p:nvPr/>
            </p:nvSpPr>
            <p:spPr>
              <a:xfrm>
                <a:off x="1411606" y="1898720"/>
                <a:ext cx="1880473"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a:t>
                </a:r>
                <a:r>
                  <a:rPr kumimoji="0" lang="es-ES_tradnl" sz="20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ES" sz="20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24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sp>
          <p:nvSpPr>
            <p:cNvPr id="39" name="Rectángulo 38">
              <a:extLst>
                <a:ext uri="{FF2B5EF4-FFF2-40B4-BE49-F238E27FC236}">
                  <a16:creationId xmlns:a16="http://schemas.microsoft.com/office/drawing/2014/main" id="{A1534DF8-39AD-4411-9E6F-4E18B9F68CBC}"/>
                </a:ext>
              </a:extLst>
            </p:cNvPr>
            <p:cNvSpPr>
              <a:spLocks noChangeAspect="1"/>
            </p:cNvSpPr>
            <p:nvPr/>
          </p:nvSpPr>
          <p:spPr>
            <a:xfrm>
              <a:off x="1396112" y="4202890"/>
              <a:ext cx="435280" cy="352941"/>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2</a:t>
              </a:r>
              <a:endParaRPr kumimoji="0" lang="es-CO"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grpSp>
      <p:grpSp>
        <p:nvGrpSpPr>
          <p:cNvPr id="60" name="Grupo 59">
            <a:extLst>
              <a:ext uri="{FF2B5EF4-FFF2-40B4-BE49-F238E27FC236}">
                <a16:creationId xmlns:a16="http://schemas.microsoft.com/office/drawing/2014/main" id="{3B071F02-64DF-44F1-8820-E7685047ABE9}"/>
              </a:ext>
            </a:extLst>
          </p:cNvPr>
          <p:cNvGrpSpPr/>
          <p:nvPr/>
        </p:nvGrpSpPr>
        <p:grpSpPr>
          <a:xfrm>
            <a:off x="1074674" y="1011643"/>
            <a:ext cx="4304721" cy="3566450"/>
            <a:chOff x="7359549" y="440966"/>
            <a:chExt cx="4140026" cy="3010183"/>
          </a:xfrm>
        </p:grpSpPr>
        <p:sp>
          <p:nvSpPr>
            <p:cNvPr id="59" name="Rectángulo: esquinas redondeadas 58">
              <a:extLst>
                <a:ext uri="{FF2B5EF4-FFF2-40B4-BE49-F238E27FC236}">
                  <a16:creationId xmlns:a16="http://schemas.microsoft.com/office/drawing/2014/main" id="{0D807676-328C-40E1-8C6C-E9C23D489652}"/>
                </a:ext>
              </a:extLst>
            </p:cNvPr>
            <p:cNvSpPr/>
            <p:nvPr/>
          </p:nvSpPr>
          <p:spPr>
            <a:xfrm>
              <a:off x="7359549" y="440966"/>
              <a:ext cx="4140026" cy="3010183"/>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adroTexto 43">
              <a:extLst>
                <a:ext uri="{FF2B5EF4-FFF2-40B4-BE49-F238E27FC236}">
                  <a16:creationId xmlns:a16="http://schemas.microsoft.com/office/drawing/2014/main" id="{B54521BE-4F91-432E-9F27-F05255C38FF1}"/>
                </a:ext>
              </a:extLst>
            </p:cNvPr>
            <p:cNvSpPr txBox="1"/>
            <p:nvPr/>
          </p:nvSpPr>
          <p:spPr>
            <a:xfrm>
              <a:off x="7714460" y="1056523"/>
              <a:ext cx="3684882" cy="1138773"/>
            </a:xfrm>
            <a:prstGeom prst="rect">
              <a:avLst/>
            </a:prstGeom>
            <a:noFill/>
            <a:ln>
              <a:noFill/>
              <a:prstDash val="sysDash"/>
            </a:ln>
          </p:spPr>
          <p:txBody>
            <a:bodyPr wrap="square">
              <a:spAutoFit/>
            </a:body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defRPr/>
              </a:pPr>
              <a:r>
                <a:rPr kumimoji="0" lang="es-ES_tradnl" sz="1800" b="1" i="0" u="none" strike="noStrike" kern="1200" cap="none" spc="0" normalizeH="0" baseline="0" noProof="0" dirty="0">
                  <a:ln>
                    <a:noFill/>
                  </a:ln>
                  <a:solidFill>
                    <a:prstClr val="black"/>
                  </a:solidFill>
                  <a:effectLst/>
                  <a:highlight>
                    <a:srgbClr val="BBE555"/>
                  </a:highlight>
                  <a:uLnTx/>
                  <a:uFillTx/>
                  <a:latin typeface="Source Sans Pro" panose="020B0503030403020204" pitchFamily="34" charset="0"/>
                  <a:ea typeface="Source Sans Pro" panose="020B0503030403020204" pitchFamily="34" charset="0"/>
                  <a:cs typeface="+mn-cs"/>
                </a:rPr>
                <a:t> </a:t>
              </a:r>
              <a:r>
                <a:rPr kumimoji="0" lang="es-ES_tradnl" sz="1800" b="1" i="0" u="none" strike="noStrike" kern="1200" cap="none" spc="0" normalizeH="0" baseline="0" noProof="0" dirty="0" err="1">
                  <a:ln>
                    <a:noFill/>
                  </a:ln>
                  <a:solidFill>
                    <a:prstClr val="black"/>
                  </a:solidFill>
                  <a:effectLst/>
                  <a:highlight>
                    <a:srgbClr val="BBE555"/>
                  </a:highlight>
                  <a:uLnTx/>
                  <a:uFillTx/>
                  <a:latin typeface="Source Sans Pro" panose="020B0503030403020204" pitchFamily="34" charset="0"/>
                  <a:ea typeface="Source Sans Pro" panose="020B0503030403020204" pitchFamily="34" charset="0"/>
                  <a:cs typeface="+mn-cs"/>
                  <a:hlinkClick r:id="rId3" action="ppaction://hlinksldjump">
                    <a:extLst>
                      <a:ext uri="{A12FA001-AC4F-418D-AE19-62706E023703}">
                        <ahyp:hlinkClr xmlns:ahyp="http://schemas.microsoft.com/office/drawing/2018/hyperlinkcolor" val="tx"/>
                      </a:ext>
                    </a:extLst>
                  </a:hlinkClick>
                </a:rPr>
                <a:t>Sobol</a:t>
              </a:r>
              <a:r>
                <a:rPr kumimoji="0" lang="es-ES_tradnl" sz="1800" b="0" i="1" u="none" strike="noStrike" kern="1200" cap="none" spc="0" normalizeH="0" baseline="0" noProof="0" dirty="0">
                  <a:ln>
                    <a:noFill/>
                  </a:ln>
                  <a:solidFill>
                    <a:prstClr val="black"/>
                  </a:solidFill>
                  <a:effectLst/>
                  <a:highlight>
                    <a:srgbClr val="BBE555"/>
                  </a:highlight>
                  <a:uLnTx/>
                  <a:uFillTx/>
                  <a:latin typeface="Source Sans Pro Light" panose="020B0403030403020204" pitchFamily="34" charset="0"/>
                  <a:ea typeface="Source Sans Pro Light" panose="020B0403030403020204" pitchFamily="34" charset="0"/>
                  <a:cs typeface="+mn-cs"/>
                  <a:hlinkClick r:id="rId3" action="ppaction://hlinksldjump">
                    <a:extLst>
                      <a:ext uri="{A12FA001-AC4F-418D-AE19-62706E023703}">
                        <ahyp:hlinkClr xmlns:ahyp="http://schemas.microsoft.com/office/drawing/2018/hyperlinkcolor" val="tx"/>
                      </a:ext>
                    </a:extLst>
                  </a:hlinkClick>
                </a:rPr>
                <a:t> </a:t>
              </a:r>
              <a:r>
                <a:rPr kumimoji="0" lang="es-ES" sz="1800" b="0" i="1" u="none" strike="noStrike" kern="1200" cap="none" spc="0" normalizeH="0" baseline="0" noProof="0" dirty="0" err="1">
                  <a:ln>
                    <a:noFill/>
                  </a:ln>
                  <a:solidFill>
                    <a:prstClr val="black"/>
                  </a:solidFill>
                  <a:effectLst/>
                  <a:highlight>
                    <a:srgbClr val="BBE555"/>
                  </a:highlight>
                  <a:uLnTx/>
                  <a:uFillTx/>
                  <a:latin typeface="Source Sans Pro Light" panose="020B0403030403020204" pitchFamily="34" charset="0"/>
                  <a:ea typeface="Source Sans Pro Light" panose="020B0403030403020204" pitchFamily="34" charset="0"/>
                  <a:cs typeface="+mn-cs"/>
                  <a:hlinkClick r:id="rId3" action="ppaction://hlinksldjump">
                    <a:extLst>
                      <a:ext uri="{A12FA001-AC4F-418D-AE19-62706E023703}">
                        <ahyp:hlinkClr xmlns:ahyp="http://schemas.microsoft.com/office/drawing/2018/hyperlinkcolor" val="tx"/>
                      </a:ext>
                    </a:extLst>
                  </a:hlinkClick>
                </a:rPr>
                <a:t>Indices</a:t>
              </a:r>
              <a:r>
                <a:rPr kumimoji="0" lang="es-ES_tradnl" sz="2000" b="1" i="1" u="none" strike="noStrike" kern="1200" cap="none" spc="0" normalizeH="0" baseline="0" noProof="0" dirty="0">
                  <a:ln>
                    <a:noFill/>
                  </a:ln>
                  <a:solidFill>
                    <a:prstClr val="black"/>
                  </a:solidFill>
                  <a:effectLst/>
                  <a:highlight>
                    <a:srgbClr val="BBE555"/>
                  </a:highlight>
                  <a:uLnTx/>
                  <a:uFillTx/>
                  <a:latin typeface="Source Sans Pro Light" panose="020B0403030403020204" pitchFamily="34" charset="0"/>
                  <a:ea typeface="Source Sans Pro Light" panose="020B0403030403020204" pitchFamily="34" charset="0"/>
                  <a:cs typeface="+mn-cs"/>
                  <a:hlinkClick r:id="rId3" action="ppaction://hlinksldjump">
                    <a:extLst>
                      <a:ext uri="{A12FA001-AC4F-418D-AE19-62706E023703}">
                        <ahyp:hlinkClr xmlns:ahyp="http://schemas.microsoft.com/office/drawing/2018/hyperlinkcolor" val="tx"/>
                      </a:ext>
                    </a:extLst>
                  </a:hlinkClick>
                </a:rPr>
                <a: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hlinkClick r:id="rId3" action="ppaction://hlinksldjump">
                    <a:extLst>
                      <a:ext uri="{A12FA001-AC4F-418D-AE19-62706E023703}">
                        <ahyp:hlinkClr xmlns:ahyp="http://schemas.microsoft.com/office/drawing/2018/hyperlinkcolor" val="tx"/>
                      </a:ext>
                    </a:extLst>
                  </a:hlinkClick>
                </a:rPr>
                <a: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quantify how much of the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output variance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is due to each input (individually and via interactions).</a:t>
              </a:r>
            </a:p>
          </p:txBody>
        </p:sp>
        <p:sp>
          <p:nvSpPr>
            <p:cNvPr id="52" name="CuadroTexto 51">
              <a:extLst>
                <a:ext uri="{FF2B5EF4-FFF2-40B4-BE49-F238E27FC236}">
                  <a16:creationId xmlns:a16="http://schemas.microsoft.com/office/drawing/2014/main" id="{98A1EA4D-AAEF-4E94-9082-F2581B1A9090}"/>
                </a:ext>
              </a:extLst>
            </p:cNvPr>
            <p:cNvSpPr txBox="1"/>
            <p:nvPr/>
          </p:nvSpPr>
          <p:spPr>
            <a:xfrm>
              <a:off x="7679219" y="2573863"/>
              <a:ext cx="3467806" cy="830997"/>
            </a:xfrm>
            <a:prstGeom prst="rect">
              <a:avLst/>
            </a:prstGeom>
            <a:noFill/>
            <a:ln>
              <a:noFill/>
              <a:prstDash val="sysDash"/>
            </a:ln>
          </p:spPr>
          <p:txBody>
            <a:bodyPr wrap="square">
              <a:spAutoFit/>
            </a:bodyPr>
            <a:lstStyle>
              <a:defPPr>
                <a:defRPr lang="es-CO"/>
              </a:defPPr>
              <a:lvl1pPr marL="342900" indent="-342900" eaLnBrk="0" fontAlgn="base" hangingPunct="0">
                <a:spcBef>
                  <a:spcPct val="0"/>
                </a:spcBef>
                <a:spcAft>
                  <a:spcPct val="0"/>
                </a:spcAft>
                <a:buFont typeface="Wingdings" panose="05000000000000000000" pitchFamily="2" charset="2"/>
                <a:buChar char="ü"/>
                <a:defRPr sz="2000" b="1">
                  <a:solidFill>
                    <a:srgbClr val="8879F5"/>
                  </a:solidFill>
                </a:defRPr>
              </a:lvl1p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defRPr/>
              </a:pPr>
              <a:r>
                <a:rPr kumimoji="0" lang="en-US" sz="1600" b="1" i="0" u="none" strike="noStrike" kern="1200" cap="none" spc="0" normalizeH="0" baseline="0" noProof="0" dirty="0">
                  <a:ln>
                    <a:noFill/>
                  </a:ln>
                  <a:solidFill>
                    <a:prstClr val="white"/>
                  </a:solidFill>
                  <a:effectLst/>
                  <a:highlight>
                    <a:srgbClr val="8879F5"/>
                  </a:highlight>
                  <a:uLnTx/>
                  <a:uFillTx/>
                  <a:latin typeface="Aptos" panose="02110004020202020204"/>
                  <a:ea typeface="+mn-ea"/>
                  <a:cs typeface="+mn-cs"/>
                  <a:hlinkClick r:id="rId4" action="ppaction://hlinksldjump">
                    <a:extLst>
                      <a:ext uri="{A12FA001-AC4F-418D-AE19-62706E023703}">
                        <ahyp:hlinkClr xmlns:ahyp="http://schemas.microsoft.com/office/drawing/2018/hyperlinkcolor" val="tx"/>
                      </a:ext>
                    </a:extLst>
                  </a:hlinkClick>
                </a:rPr>
                <a:t> SHAP values </a:t>
              </a:r>
              <a:r>
                <a:rPr kumimoji="0" lang="en-US" sz="1600" b="1" i="0" u="none" strike="noStrike" kern="1200" cap="none" spc="0" normalizeH="0" baseline="0" noProof="0" dirty="0">
                  <a:ln>
                    <a:noFill/>
                  </a:ln>
                  <a:solidFill>
                    <a:prstClr val="white"/>
                  </a:solidFill>
                  <a:effectLst/>
                  <a:uLnTx/>
                  <a:uFillTx/>
                  <a:latin typeface="Aptos" panose="02110004020202020204"/>
                  <a:ea typeface="+mn-ea"/>
                  <a:cs typeface="+mn-cs"/>
                  <a:hlinkClick r:id="rId4" action="ppaction://hlinksldjump">
                    <a:extLst>
                      <a:ext uri="{A12FA001-AC4F-418D-AE19-62706E023703}">
                        <ahyp:hlinkClr xmlns:ahyp="http://schemas.microsoft.com/office/drawing/2018/hyperlinkcolor" val="tx"/>
                      </a:ext>
                    </a:extLst>
                  </a:hlinkClick>
                </a:rPr>
                <a: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explain how much each feature contributes to a model’s prediction.</a:t>
              </a:r>
            </a:p>
          </p:txBody>
        </p:sp>
        <p:sp>
          <p:nvSpPr>
            <p:cNvPr id="58" name="CuadroTexto 57">
              <a:extLst>
                <a:ext uri="{FF2B5EF4-FFF2-40B4-BE49-F238E27FC236}">
                  <a16:creationId xmlns:a16="http://schemas.microsoft.com/office/drawing/2014/main" id="{4BBCD89F-5F4C-428D-B004-95D7E8F819D4}"/>
                </a:ext>
              </a:extLst>
            </p:cNvPr>
            <p:cNvSpPr txBox="1"/>
            <p:nvPr/>
          </p:nvSpPr>
          <p:spPr>
            <a:xfrm>
              <a:off x="8358852" y="546869"/>
              <a:ext cx="2422301"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SA </a:t>
              </a:r>
              <a:r>
                <a:rPr kumimoji="0" lang="es-ES" sz="28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methods</a:t>
              </a:r>
              <a:endParaRPr kumimoji="0" lang="es-CO"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grpSp>
        <p:nvGrpSpPr>
          <p:cNvPr id="65" name="Grupo 64">
            <a:extLst>
              <a:ext uri="{FF2B5EF4-FFF2-40B4-BE49-F238E27FC236}">
                <a16:creationId xmlns:a16="http://schemas.microsoft.com/office/drawing/2014/main" id="{FA5C51A4-5C57-48B4-94FC-D7D2B3F1E942}"/>
              </a:ext>
            </a:extLst>
          </p:cNvPr>
          <p:cNvGrpSpPr/>
          <p:nvPr/>
        </p:nvGrpSpPr>
        <p:grpSpPr>
          <a:xfrm>
            <a:off x="1140073" y="4871961"/>
            <a:ext cx="4239322" cy="1583473"/>
            <a:chOff x="1074675" y="4468549"/>
            <a:chExt cx="4239322" cy="1583473"/>
          </a:xfrm>
        </p:grpSpPr>
        <p:sp>
          <p:nvSpPr>
            <p:cNvPr id="61" name="Forma libre 19">
              <a:extLst>
                <a:ext uri="{FF2B5EF4-FFF2-40B4-BE49-F238E27FC236}">
                  <a16:creationId xmlns:a16="http://schemas.microsoft.com/office/drawing/2014/main" id="{57C7ABDB-7429-4EF3-83B2-26BE5A7A2AA2}"/>
                </a:ext>
              </a:extLst>
            </p:cNvPr>
            <p:cNvSpPr/>
            <p:nvPr/>
          </p:nvSpPr>
          <p:spPr>
            <a:xfrm>
              <a:off x="1074675" y="4468549"/>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6" name="CuadroTexto 55">
              <a:extLst>
                <a:ext uri="{FF2B5EF4-FFF2-40B4-BE49-F238E27FC236}">
                  <a16:creationId xmlns:a16="http://schemas.microsoft.com/office/drawing/2014/main" id="{54F419BB-3E79-42AF-AAF8-844A573FCAA4}"/>
                </a:ext>
              </a:extLst>
            </p:cNvPr>
            <p:cNvSpPr txBox="1"/>
            <p:nvPr/>
          </p:nvSpPr>
          <p:spPr>
            <a:xfrm>
              <a:off x="1364937" y="4965295"/>
              <a:ext cx="3320853"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It generates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quasi-random sequences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that are uniformly distributed sample points in high-dimensional spaces.</a:t>
              </a:r>
              <a:endPar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2" name="CuadroTexto 61">
              <a:extLst>
                <a:ext uri="{FF2B5EF4-FFF2-40B4-BE49-F238E27FC236}">
                  <a16:creationId xmlns:a16="http://schemas.microsoft.com/office/drawing/2014/main" id="{3337A2E1-4D77-437A-BCBA-70EE9F72F2E4}"/>
                </a:ext>
              </a:extLst>
            </p:cNvPr>
            <p:cNvSpPr txBox="1"/>
            <p:nvPr/>
          </p:nvSpPr>
          <p:spPr>
            <a:xfrm>
              <a:off x="1364937" y="4595963"/>
              <a:ext cx="392432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Sample strategy </a:t>
              </a:r>
              <a:r>
                <a:rPr kumimoji="0" lang="en-US" sz="18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hlinkClick r:id="rId5" action="ppaction://hlinksldjump">
                    <a:extLst>
                      <a:ext uri="{A12FA001-AC4F-418D-AE19-62706E023703}">
                        <ahyp:hlinkClr xmlns:ahyp="http://schemas.microsoft.com/office/drawing/2018/hyperlinkcolor" val="tx"/>
                      </a:ext>
                    </a:extLst>
                  </a:hlinkClick>
                </a:rPr>
                <a:t>Sobol</a:t>
              </a: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hlinkClick r:id="rId5" action="ppaction://hlinksldjump">
                    <a:extLst>
                      <a:ext uri="{A12FA001-AC4F-418D-AE19-62706E023703}">
                        <ahyp:hlinkClr xmlns:ahyp="http://schemas.microsoft.com/office/drawing/2018/hyperlinkcolor" val="tx"/>
                      </a:ext>
                    </a:extLst>
                  </a:hlinkClick>
                </a:rPr>
                <a:t> sequences</a:t>
              </a:r>
              <a:endParaRPr kumimoji="0" lang="es-ES_tradnl" sz="1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pic>
          <p:nvPicPr>
            <p:cNvPr id="63" name="Imagen 62">
              <a:extLst>
                <a:ext uri="{FF2B5EF4-FFF2-40B4-BE49-F238E27FC236}">
                  <a16:creationId xmlns:a16="http://schemas.microsoft.com/office/drawing/2014/main" id="{AECB53FC-8F95-4B4E-86FF-7E6D2DE0AB8F}"/>
                </a:ext>
              </a:extLst>
            </p:cNvPr>
            <p:cNvPicPr>
              <a:picLocks noChangeAspect="1"/>
            </p:cNvPicPr>
            <p:nvPr/>
          </p:nvPicPr>
          <p:blipFill>
            <a:blip r:embed="rId6"/>
            <a:stretch>
              <a:fillRect/>
            </a:stretch>
          </p:blipFill>
          <p:spPr>
            <a:xfrm>
              <a:off x="4806152" y="5473906"/>
              <a:ext cx="507845" cy="507845"/>
            </a:xfrm>
            <a:prstGeom prst="rect">
              <a:avLst/>
            </a:prstGeom>
          </p:spPr>
        </p:pic>
      </p:grpSp>
      <p:sp>
        <p:nvSpPr>
          <p:cNvPr id="40" name="CuadroTexto 39">
            <a:extLst>
              <a:ext uri="{FF2B5EF4-FFF2-40B4-BE49-F238E27FC236}">
                <a16:creationId xmlns:a16="http://schemas.microsoft.com/office/drawing/2014/main" id="{AD401434-7B1B-406F-9CFC-F95926290169}"/>
              </a:ext>
            </a:extLst>
          </p:cNvPr>
          <p:cNvSpPr txBox="1"/>
          <p:nvPr/>
        </p:nvSpPr>
        <p:spPr>
          <a:xfrm>
            <a:off x="1805335" y="2588963"/>
            <a:ext cx="3408164" cy="523220"/>
          </a:xfrm>
          <a:prstGeom prst="rect">
            <a:avLst/>
          </a:prstGeom>
          <a:noFill/>
        </p:spPr>
        <p:txBody>
          <a:bodyPr wrap="square">
            <a:spAutoFit/>
          </a:bodyPr>
          <a:lstStyle/>
          <a:p>
            <a:r>
              <a:rPr lang="en-US" sz="1400" dirty="0">
                <a:solidFill>
                  <a:prstClr val="black"/>
                </a:solidFill>
                <a:latin typeface="Aptos" panose="02110004020202020204"/>
              </a:rPr>
              <a:t>In the implementation we have first order indices (S1) and interaction indices (S2)</a:t>
            </a:r>
            <a:endParaRPr lang="es-CO" sz="1400" dirty="0">
              <a:solidFill>
                <a:prstClr val="black"/>
              </a:solidFill>
              <a:latin typeface="Aptos" panose="02110004020202020204"/>
            </a:endParaRPr>
          </a:p>
        </p:txBody>
      </p:sp>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58C78ABB-9363-4805-8BD6-51960C971E70}"/>
                  </a:ext>
                </a:extLst>
              </p:cNvPr>
              <p:cNvSpPr txBox="1"/>
              <p:nvPr/>
            </p:nvSpPr>
            <p:spPr>
              <a:xfrm>
                <a:off x="1957737" y="3116486"/>
                <a:ext cx="2606547"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600" b="0" i="1" smtClean="0">
                          <a:latin typeface="Cambria Math" panose="02040503050406030204" pitchFamily="18" charset="0"/>
                        </a:rPr>
                        <m:t>𝑆</m:t>
                      </m:r>
                      <m:r>
                        <a:rPr lang="es-ES" sz="1600" b="0" i="1" smtClean="0">
                          <a:latin typeface="Cambria Math" panose="02040503050406030204" pitchFamily="18" charset="0"/>
                        </a:rPr>
                        <m:t>1, </m:t>
                      </m:r>
                      <m:r>
                        <a:rPr lang="es-ES" sz="1600" b="0" i="1" smtClean="0">
                          <a:latin typeface="Cambria Math" panose="02040503050406030204" pitchFamily="18" charset="0"/>
                        </a:rPr>
                        <m:t>𝑆</m:t>
                      </m:r>
                      <m:r>
                        <a:rPr lang="es-ES" sz="1600" b="0" i="1" smtClean="0">
                          <a:latin typeface="Cambria Math" panose="02040503050406030204" pitchFamily="18" charset="0"/>
                        </a:rPr>
                        <m:t>2 ∈</m:t>
                      </m:r>
                      <m:d>
                        <m:dPr>
                          <m:begChr m:val="["/>
                          <m:endChr m:val="]"/>
                          <m:ctrlPr>
                            <a:rPr lang="es-ES" sz="1600" b="0" i="1" smtClean="0">
                              <a:latin typeface="Cambria Math" panose="02040503050406030204" pitchFamily="18" charset="0"/>
                              <a:ea typeface="Cambria Math" panose="02040503050406030204" pitchFamily="18" charset="0"/>
                            </a:rPr>
                          </m:ctrlPr>
                        </m:dPr>
                        <m:e>
                          <m:r>
                            <a:rPr lang="es-ES" sz="1600" b="0" i="1" smtClean="0">
                              <a:latin typeface="Cambria Math" panose="02040503050406030204" pitchFamily="18" charset="0"/>
                              <a:ea typeface="Cambria Math" panose="02040503050406030204" pitchFamily="18" charset="0"/>
                            </a:rPr>
                            <m:t>0,1</m:t>
                          </m:r>
                        </m:e>
                      </m:d>
                      <m:r>
                        <a:rPr lang="es-ES" sz="1600" b="0" i="1" smtClean="0">
                          <a:latin typeface="Cambria Math" panose="02040503050406030204" pitchFamily="18" charset="0"/>
                          <a:ea typeface="Cambria Math" panose="02040503050406030204" pitchFamily="18" charset="0"/>
                        </a:rPr>
                        <m:t>      </m:t>
                      </m:r>
                      <m:r>
                        <a:rPr lang="es-ES" sz="1600" b="0" i="1" smtClean="0">
                          <a:latin typeface="Cambria Math" panose="02040503050406030204" pitchFamily="18" charset="0"/>
                          <a:ea typeface="Cambria Math" panose="02040503050406030204" pitchFamily="18" charset="0"/>
                        </a:rPr>
                        <m:t>𝑆</m:t>
                      </m:r>
                      <m:r>
                        <a:rPr lang="es-ES" sz="1600" b="0" i="1" smtClean="0">
                          <a:latin typeface="Cambria Math" panose="02040503050406030204" pitchFamily="18" charset="0"/>
                          <a:ea typeface="Cambria Math" panose="02040503050406030204" pitchFamily="18" charset="0"/>
                        </a:rPr>
                        <m:t>1+</m:t>
                      </m:r>
                      <m:r>
                        <a:rPr lang="es-ES" sz="1600" b="0" i="1" smtClean="0">
                          <a:latin typeface="Cambria Math" panose="02040503050406030204" pitchFamily="18" charset="0"/>
                          <a:ea typeface="Cambria Math" panose="02040503050406030204" pitchFamily="18" charset="0"/>
                        </a:rPr>
                        <m:t>𝑆</m:t>
                      </m:r>
                      <m:r>
                        <a:rPr lang="es-ES" sz="1600" b="0" i="1" smtClean="0">
                          <a:latin typeface="Cambria Math" panose="02040503050406030204" pitchFamily="18" charset="0"/>
                          <a:ea typeface="Cambria Math" panose="02040503050406030204" pitchFamily="18" charset="0"/>
                        </a:rPr>
                        <m:t>2≈1</m:t>
                      </m:r>
                    </m:oMath>
                  </m:oMathPara>
                </a14:m>
                <a:endParaRPr lang="es-CO" sz="1600" dirty="0"/>
              </a:p>
            </p:txBody>
          </p:sp>
        </mc:Choice>
        <mc:Fallback xmlns="">
          <p:sp>
            <p:nvSpPr>
              <p:cNvPr id="11" name="CuadroTexto 10">
                <a:extLst>
                  <a:ext uri="{FF2B5EF4-FFF2-40B4-BE49-F238E27FC236}">
                    <a16:creationId xmlns:a16="http://schemas.microsoft.com/office/drawing/2014/main" id="{58C78ABB-9363-4805-8BD6-51960C971E70}"/>
                  </a:ext>
                </a:extLst>
              </p:cNvPr>
              <p:cNvSpPr txBox="1">
                <a:spLocks noRot="1" noChangeAspect="1" noMove="1" noResize="1" noEditPoints="1" noAdjustHandles="1" noChangeArrowheads="1" noChangeShapeType="1" noTextEdit="1"/>
              </p:cNvSpPr>
              <p:nvPr/>
            </p:nvSpPr>
            <p:spPr>
              <a:xfrm>
                <a:off x="1957737" y="3116486"/>
                <a:ext cx="2606547" cy="246221"/>
              </a:xfrm>
              <a:prstGeom prst="rect">
                <a:avLst/>
              </a:prstGeom>
              <a:blipFill>
                <a:blip r:embed="rId7"/>
                <a:stretch>
                  <a:fillRect l="-1168" r="-1168" b="-4878"/>
                </a:stretch>
              </a:blipFill>
            </p:spPr>
            <p:txBody>
              <a:bodyPr/>
              <a:lstStyle/>
              <a:p>
                <a:r>
                  <a:rPr lang="es-CO">
                    <a:noFill/>
                  </a:rPr>
                  <a:t> </a:t>
                </a:r>
              </a:p>
            </p:txBody>
          </p:sp>
        </mc:Fallback>
      </mc:AlternateContent>
      <p:sp>
        <p:nvSpPr>
          <p:cNvPr id="41" name="CuadroTexto 40">
            <a:extLst>
              <a:ext uri="{FF2B5EF4-FFF2-40B4-BE49-F238E27FC236}">
                <a16:creationId xmlns:a16="http://schemas.microsoft.com/office/drawing/2014/main" id="{45440568-FF39-4C6F-BFCA-FAFCCF6D9EE1}"/>
              </a:ext>
            </a:extLst>
          </p:cNvPr>
          <p:cNvSpPr txBox="1"/>
          <p:nvPr/>
        </p:nvSpPr>
        <p:spPr>
          <a:xfrm>
            <a:off x="7559607" y="1373250"/>
            <a:ext cx="2518663"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Approaches</a:t>
            </a:r>
            <a:endParaRPr kumimoji="0" lang="es-CO"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48" name="Grupo 47">
            <a:extLst>
              <a:ext uri="{FF2B5EF4-FFF2-40B4-BE49-F238E27FC236}">
                <a16:creationId xmlns:a16="http://schemas.microsoft.com/office/drawing/2014/main" id="{7AFFF907-45EB-4064-821B-F71C185C30AB}"/>
              </a:ext>
            </a:extLst>
          </p:cNvPr>
          <p:cNvGrpSpPr/>
          <p:nvPr/>
        </p:nvGrpSpPr>
        <p:grpSpPr>
          <a:xfrm>
            <a:off x="5804634" y="5125563"/>
            <a:ext cx="5840362" cy="1259600"/>
            <a:chOff x="1199535" y="3544077"/>
            <a:chExt cx="5840362" cy="1259600"/>
          </a:xfrm>
        </p:grpSpPr>
        <p:sp>
          <p:nvSpPr>
            <p:cNvPr id="49" name="Rectángulo: esquinas redondeadas 48">
              <a:extLst>
                <a:ext uri="{FF2B5EF4-FFF2-40B4-BE49-F238E27FC236}">
                  <a16:creationId xmlns:a16="http://schemas.microsoft.com/office/drawing/2014/main" id="{2ABE370B-4518-4A71-A045-EB6275B66B4E}"/>
                </a:ext>
              </a:extLst>
            </p:cNvPr>
            <p:cNvSpPr/>
            <p:nvPr/>
          </p:nvSpPr>
          <p:spPr>
            <a:xfrm>
              <a:off x="1199535" y="3544077"/>
              <a:ext cx="5840362" cy="1259600"/>
            </a:xfrm>
            <a:prstGeom prst="roundRect">
              <a:avLst/>
            </a:prstGeom>
            <a:noFill/>
            <a:ln w="38100">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CuadroTexto 50">
              <a:extLst>
                <a:ext uri="{FF2B5EF4-FFF2-40B4-BE49-F238E27FC236}">
                  <a16:creationId xmlns:a16="http://schemas.microsoft.com/office/drawing/2014/main" id="{47B726C7-F0AB-4298-BF43-920C0E8A7992}"/>
                </a:ext>
              </a:extLst>
            </p:cNvPr>
            <p:cNvSpPr txBox="1"/>
            <p:nvPr/>
          </p:nvSpPr>
          <p:spPr>
            <a:xfrm>
              <a:off x="2512640" y="3685995"/>
              <a:ext cx="1566153"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Random Forest</a:t>
              </a:r>
            </a:p>
          </p:txBody>
        </p:sp>
        <p:sp>
          <p:nvSpPr>
            <p:cNvPr id="64" name="Rectángulo 63">
              <a:extLst>
                <a:ext uri="{FF2B5EF4-FFF2-40B4-BE49-F238E27FC236}">
                  <a16:creationId xmlns:a16="http://schemas.microsoft.com/office/drawing/2014/main" id="{8D197AED-1B8B-47A8-8EA3-D8EB5DFD971A}"/>
                </a:ext>
              </a:extLst>
            </p:cNvPr>
            <p:cNvSpPr>
              <a:spLocks noChangeAspect="1"/>
            </p:cNvSpPr>
            <p:nvPr/>
          </p:nvSpPr>
          <p:spPr>
            <a:xfrm>
              <a:off x="1396112" y="3871685"/>
              <a:ext cx="435280" cy="352941"/>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3</a:t>
              </a:r>
              <a:endParaRPr kumimoji="0" lang="es-CO"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grpSp>
      <p:sp>
        <p:nvSpPr>
          <p:cNvPr id="70" name="CuadroTexto 69">
            <a:extLst>
              <a:ext uri="{FF2B5EF4-FFF2-40B4-BE49-F238E27FC236}">
                <a16:creationId xmlns:a16="http://schemas.microsoft.com/office/drawing/2014/main" id="{3FA87053-840A-419C-BAF5-E6D2BE065FA5}"/>
              </a:ext>
            </a:extLst>
          </p:cNvPr>
          <p:cNvSpPr txBox="1"/>
          <p:nvPr/>
        </p:nvSpPr>
        <p:spPr>
          <a:xfrm>
            <a:off x="8553058" y="5191279"/>
            <a:ext cx="3174194" cy="1077218"/>
          </a:xfrm>
          <a:prstGeom prst="rect">
            <a:avLst/>
          </a:prstGeom>
          <a:noFill/>
        </p:spPr>
        <p:txBody>
          <a:bodyPr wrap="square">
            <a:spAutoFit/>
          </a:bodyPr>
          <a:lstStyle/>
          <a:p>
            <a:pPr marL="0" marR="0" lvl="0" indent="0" rtl="0">
              <a:lnSpc>
                <a:spcPct val="100000"/>
              </a:lnSpc>
              <a:spcBef>
                <a:spcPts val="0"/>
              </a:spcBef>
              <a:spcAft>
                <a:spcPts val="0"/>
              </a:spcAft>
              <a:buClr>
                <a:srgbClr val="000000"/>
              </a:buClr>
              <a:buSzPts val="1400"/>
              <a:buFont typeface="Arial"/>
              <a:buNone/>
            </a:pPr>
            <a:r>
              <a:rPr lang="en-US" sz="1600" dirty="0">
                <a:solidFill>
                  <a:srgbClr val="242121"/>
                </a:solidFill>
                <a:latin typeface="Source Sans Pro" panose="020B0503030403020204" pitchFamily="34" charset="0"/>
                <a:sym typeface="Roboto"/>
              </a:rPr>
              <a:t>Robust to noise, less sensitive to hyperparameters, offers rough uncertainty estimates via tree variance.</a:t>
            </a:r>
          </a:p>
        </p:txBody>
      </p:sp>
    </p:spTree>
    <p:extLst>
      <p:ext uri="{BB962C8B-B14F-4D97-AF65-F5344CB8AC3E}">
        <p14:creationId xmlns:p14="http://schemas.microsoft.com/office/powerpoint/2010/main" val="2946500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23</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D639DFB-8A74-4F32-ABAC-6AFB6128F04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22" name="Grupo 21">
            <a:extLst>
              <a:ext uri="{FF2B5EF4-FFF2-40B4-BE49-F238E27FC236}">
                <a16:creationId xmlns:a16="http://schemas.microsoft.com/office/drawing/2014/main" id="{87BDEF9B-6E61-4404-9195-70AC89B19FE5}"/>
              </a:ext>
            </a:extLst>
          </p:cNvPr>
          <p:cNvGrpSpPr/>
          <p:nvPr/>
        </p:nvGrpSpPr>
        <p:grpSpPr>
          <a:xfrm>
            <a:off x="8054001" y="1304533"/>
            <a:ext cx="4137999" cy="584774"/>
            <a:chOff x="8161511" y="1082238"/>
            <a:chExt cx="4137999" cy="584774"/>
          </a:xfrm>
        </p:grpSpPr>
        <p:sp>
          <p:nvSpPr>
            <p:cNvPr id="11" name="Rectángulo: esquinas redondeadas 10">
              <a:extLst>
                <a:ext uri="{FF2B5EF4-FFF2-40B4-BE49-F238E27FC236}">
                  <a16:creationId xmlns:a16="http://schemas.microsoft.com/office/drawing/2014/main" id="{0649BCFA-00C6-41E4-8411-BA9B3012DB00}"/>
                </a:ext>
              </a:extLst>
            </p:cNvPr>
            <p:cNvSpPr/>
            <p:nvPr/>
          </p:nvSpPr>
          <p:spPr>
            <a:xfrm>
              <a:off x="8161511" y="1082238"/>
              <a:ext cx="4137999" cy="58477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CuadroTexto 11">
              <a:extLst>
                <a:ext uri="{FF2B5EF4-FFF2-40B4-BE49-F238E27FC236}">
                  <a16:creationId xmlns:a16="http://schemas.microsoft.com/office/drawing/2014/main" id="{46293604-53C5-40A6-9E52-E05A0E78BB62}"/>
                </a:ext>
              </a:extLst>
            </p:cNvPr>
            <p:cNvSpPr txBox="1"/>
            <p:nvPr/>
          </p:nvSpPr>
          <p:spPr>
            <a:xfrm>
              <a:off x="8379099" y="1113015"/>
              <a:ext cx="366165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For the </a:t>
              </a:r>
              <a:r>
                <a:rPr kumimoji="0" lang="en-US" sz="1400" b="0" i="0" u="none" strike="noStrike" kern="1200" cap="none" spc="0" normalizeH="0" baseline="0" noProof="0" dirty="0" err="1">
                  <a:ln>
                    <a:noFill/>
                  </a:ln>
                  <a:solidFill>
                    <a:prstClr val="black"/>
                  </a:solidFill>
                  <a:effectLst/>
                  <a:uLnTx/>
                  <a:uFillTx/>
                  <a:latin typeface="Source Sans Pro" panose="020B0503030403020204" pitchFamily="34" charset="0"/>
                  <a:ea typeface="+mn-ea"/>
                  <a:cs typeface="+mn-cs"/>
                </a:rPr>
                <a:t>Sobol’s</a:t>
              </a:r>
              <a:r>
                <a:rPr kumimoji="0" lang="en-US" sz="1400" b="0"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 implementation: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N = 2046</a:t>
              </a:r>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black"/>
                  </a:solidFill>
                  <a:effectLst/>
                  <a:uLnTx/>
                  <a:uFillTx/>
                  <a:latin typeface="Aptos" panose="02110004020202020204"/>
                  <a:ea typeface="+mn-ea"/>
                  <a:cs typeface="+mn-cs"/>
                </a:rPr>
                <a:t>sample</a:t>
              </a:r>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black"/>
                  </a:solidFill>
                  <a:effectLst/>
                  <a:uLnTx/>
                  <a:uFillTx/>
                  <a:latin typeface="Aptos" panose="02110004020202020204"/>
                  <a:ea typeface="+mn-ea"/>
                  <a:cs typeface="+mn-cs"/>
                </a:rPr>
                <a:t>size</a:t>
              </a:r>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 </a:t>
              </a: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57,288 configurations</a:t>
              </a:r>
              <a:endParaRPr kumimoji="0" lang="en-US" sz="14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endParaRPr>
            </a:p>
          </p:txBody>
        </p:sp>
      </p:grpSp>
      <p:sp>
        <p:nvSpPr>
          <p:cNvPr id="21" name="Google Shape;429;g36edeb4292e_0_25">
            <a:extLst>
              <a:ext uri="{FF2B5EF4-FFF2-40B4-BE49-F238E27FC236}">
                <a16:creationId xmlns:a16="http://schemas.microsoft.com/office/drawing/2014/main" id="{FBEE3003-E2BF-4B6F-9C3C-711BBFDE0216}"/>
              </a:ext>
            </a:extLst>
          </p:cNvPr>
          <p:cNvSpPr/>
          <p:nvPr/>
        </p:nvSpPr>
        <p:spPr>
          <a:xfrm>
            <a:off x="4506426" y="6123621"/>
            <a:ext cx="4137999" cy="301773"/>
          </a:xfrm>
          <a:prstGeom prst="roundRect">
            <a:avLst>
              <a:gd name="adj" fmla="val 0"/>
            </a:avLst>
          </a:prstGeom>
          <a:solidFill>
            <a:srgbClr val="C9DAF8"/>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r>
              <a:rPr kumimoji="0" lang="en" sz="1200" b="1" i="0" u="none" strike="noStrike" kern="1200" cap="none" spc="0" normalizeH="0" baseline="0" noProof="0">
                <a:ln>
                  <a:noFill/>
                </a:ln>
                <a:solidFill>
                  <a:srgbClr val="0E2841"/>
                </a:solidFill>
                <a:effectLst/>
                <a:uLnTx/>
                <a:uFillTx/>
                <a:latin typeface="Nunito"/>
                <a:ea typeface="Nunito"/>
                <a:cs typeface="Nunito"/>
                <a:sym typeface="Nunito"/>
              </a:rPr>
              <a:t>*Confidence </a:t>
            </a:r>
            <a:r>
              <a:rPr kumimoji="0" lang="en" sz="1200" b="0" i="0" u="none" strike="noStrike" kern="1200" cap="none" spc="0" normalizeH="0" baseline="0" noProof="0">
                <a:ln>
                  <a:noFill/>
                </a:ln>
                <a:solidFill>
                  <a:srgbClr val="0E2841"/>
                </a:solidFill>
                <a:effectLst/>
                <a:uLnTx/>
                <a:uFillTx/>
                <a:latin typeface="Nunito"/>
                <a:ea typeface="Nunito"/>
                <a:cs typeface="Nunito"/>
                <a:sym typeface="Nunito"/>
              </a:rPr>
              <a:t> is based on bootstrapping-like resampling</a:t>
            </a:r>
            <a:endParaRPr kumimoji="0" sz="800" b="0" i="0" u="none" strike="noStrike" kern="1200" cap="none" spc="0" normalizeH="0" baseline="0" noProof="0">
              <a:ln>
                <a:noFill/>
              </a:ln>
              <a:solidFill>
                <a:srgbClr val="0E2841"/>
              </a:solidFill>
              <a:effectLst/>
              <a:uLnTx/>
              <a:uFillTx/>
              <a:latin typeface="Nunito"/>
              <a:ea typeface="Nunito"/>
              <a:cs typeface="Nunito"/>
              <a:sym typeface="Nunito"/>
            </a:endParaRPr>
          </a:p>
        </p:txBody>
      </p:sp>
      <p:graphicFrame>
        <p:nvGraphicFramePr>
          <p:cNvPr id="14" name="Tabla 13">
            <a:extLst>
              <a:ext uri="{FF2B5EF4-FFF2-40B4-BE49-F238E27FC236}">
                <a16:creationId xmlns:a16="http://schemas.microsoft.com/office/drawing/2014/main" id="{C48B750D-87A8-47C9-B6A5-EA6DEBA5FBA2}"/>
              </a:ext>
            </a:extLst>
          </p:cNvPr>
          <p:cNvGraphicFramePr>
            <a:graphicFrameLocks noGrp="1"/>
          </p:cNvGraphicFramePr>
          <p:nvPr>
            <p:extLst>
              <p:ext uri="{D42A27DB-BD31-4B8C-83A1-F6EECF244321}">
                <p14:modId xmlns:p14="http://schemas.microsoft.com/office/powerpoint/2010/main" val="1728136508"/>
              </p:ext>
            </p:extLst>
          </p:nvPr>
        </p:nvGraphicFramePr>
        <p:xfrm>
          <a:off x="2921993" y="2101849"/>
          <a:ext cx="5722432" cy="3953722"/>
        </p:xfrm>
        <a:graphic>
          <a:graphicData uri="http://schemas.openxmlformats.org/drawingml/2006/table">
            <a:tbl>
              <a:tblPr/>
              <a:tblGrid>
                <a:gridCol w="1119214">
                  <a:extLst>
                    <a:ext uri="{9D8B030D-6E8A-4147-A177-3AD203B41FA5}">
                      <a16:colId xmlns:a16="http://schemas.microsoft.com/office/drawing/2014/main" val="522577529"/>
                    </a:ext>
                  </a:extLst>
                </a:gridCol>
                <a:gridCol w="1534406">
                  <a:extLst>
                    <a:ext uri="{9D8B030D-6E8A-4147-A177-3AD203B41FA5}">
                      <a16:colId xmlns:a16="http://schemas.microsoft.com/office/drawing/2014/main" val="3045151882"/>
                    </a:ext>
                  </a:extLst>
                </a:gridCol>
                <a:gridCol w="1534406">
                  <a:extLst>
                    <a:ext uri="{9D8B030D-6E8A-4147-A177-3AD203B41FA5}">
                      <a16:colId xmlns:a16="http://schemas.microsoft.com/office/drawing/2014/main" val="1129683098"/>
                    </a:ext>
                  </a:extLst>
                </a:gridCol>
                <a:gridCol w="1534406">
                  <a:extLst>
                    <a:ext uri="{9D8B030D-6E8A-4147-A177-3AD203B41FA5}">
                      <a16:colId xmlns:a16="http://schemas.microsoft.com/office/drawing/2014/main" val="4131674280"/>
                    </a:ext>
                  </a:extLst>
                </a:gridCol>
              </a:tblGrid>
              <a:tr h="303354">
                <a:tc>
                  <a:txBody>
                    <a:bodyPr/>
                    <a:lstStyle/>
                    <a:p>
                      <a:pPr marL="0" lvl="0" indent="0" algn="ctr" defTabSz="914400" rtl="0" eaLnBrk="1" fontAlgn="ctr" latinLnBrk="0" hangingPunct="1">
                        <a:lnSpc>
                          <a:spcPct val="115000"/>
                        </a:lnSpc>
                        <a:spcBef>
                          <a:spcPts val="0"/>
                        </a:spcBef>
                        <a:spcAft>
                          <a:spcPts val="0"/>
                        </a:spcAft>
                        <a:buNone/>
                      </a:pPr>
                      <a:r>
                        <a:rPr lang="es-CO" sz="1600" b="1" kern="1200" dirty="0" err="1">
                          <a:solidFill>
                            <a:schemeClr val="tx1"/>
                          </a:solidFill>
                          <a:latin typeface="Source Sans Pro" panose="020B0503030403020204" pitchFamily="34" charset="0"/>
                          <a:ea typeface="Source Sans Pro" panose="020B0503030403020204" pitchFamily="34" charset="0"/>
                        </a:rPr>
                        <a:t>Parameter</a:t>
                      </a:r>
                      <a:endParaRPr lang="es-CO" sz="1600" b="1" kern="1200" dirty="0">
                        <a:solidFill>
                          <a:schemeClr val="tx1"/>
                        </a:solidFill>
                        <a:latin typeface="Source Sans Pro" panose="020B0503030403020204" pitchFamily="34" charset="0"/>
                        <a:ea typeface="Source Sans Pro" panose="020B050303040302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28998B"/>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lvl="0" indent="0" algn="ctr" defTabSz="914400" rtl="0" eaLnBrk="1" fontAlgn="ctr" latinLnBrk="0" hangingPunct="1">
                        <a:lnSpc>
                          <a:spcPct val="115000"/>
                        </a:lnSpc>
                        <a:spcBef>
                          <a:spcPts val="0"/>
                        </a:spcBef>
                        <a:spcAft>
                          <a:spcPts val="0"/>
                        </a:spcAft>
                        <a:buNone/>
                      </a:pPr>
                      <a:r>
                        <a:rPr lang="es-CO" sz="1600" b="1" kern="1200" dirty="0" err="1">
                          <a:solidFill>
                            <a:schemeClr val="tx1"/>
                          </a:solidFill>
                          <a:latin typeface="Source Sans Pro" panose="020B0503030403020204" pitchFamily="34" charset="0"/>
                          <a:ea typeface="Source Sans Pro" panose="020B0503030403020204" pitchFamily="34" charset="0"/>
                        </a:rPr>
                        <a:t>Activation</a:t>
                      </a:r>
                      <a:endParaRPr lang="es-CO" sz="1600" b="1" kern="1200" dirty="0">
                        <a:solidFill>
                          <a:schemeClr val="tx1"/>
                        </a:solidFill>
                        <a:latin typeface="Source Sans Pro" panose="020B0503030403020204" pitchFamily="34" charset="0"/>
                        <a:ea typeface="Source Sans Pro" panose="020B0503030403020204" pitchFamily="34" charset="0"/>
                      </a:endParaRPr>
                    </a:p>
                  </a:txBody>
                  <a:tcPr marL="7620" marR="7620" marT="7620" marB="0" anchor="ctr">
                    <a:lnL w="6350" cap="flat" cmpd="sng" algn="ctr">
                      <a:solidFill>
                        <a:srgbClr val="28998B"/>
                      </a:solidFill>
                      <a:prstDash val="solid"/>
                      <a:round/>
                      <a:headEnd type="none" w="med" len="med"/>
                      <a:tailEnd type="none" w="med" len="med"/>
                    </a:lnL>
                    <a:lnR w="6350" cap="flat" cmpd="sng" algn="ctr">
                      <a:solidFill>
                        <a:srgbClr val="28998B"/>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BBE555"/>
                    </a:solidFill>
                  </a:tcPr>
                </a:tc>
                <a:tc>
                  <a:txBody>
                    <a:bodyPr/>
                    <a:lstStyle/>
                    <a:p>
                      <a:pPr marL="0" lvl="0" indent="0" algn="ctr" defTabSz="914400" rtl="0" eaLnBrk="1" fontAlgn="ctr" latinLnBrk="0" hangingPunct="1">
                        <a:lnSpc>
                          <a:spcPct val="115000"/>
                        </a:lnSpc>
                        <a:spcBef>
                          <a:spcPts val="0"/>
                        </a:spcBef>
                        <a:spcAft>
                          <a:spcPts val="0"/>
                        </a:spcAft>
                        <a:buNone/>
                      </a:pPr>
                      <a:r>
                        <a:rPr lang="es-CO" sz="1600" b="1" kern="1200" dirty="0" err="1">
                          <a:solidFill>
                            <a:schemeClr val="bg1"/>
                          </a:solidFill>
                          <a:latin typeface="Source Sans Pro" panose="020B0503030403020204" pitchFamily="34" charset="0"/>
                          <a:ea typeface="Source Sans Pro" panose="020B0503030403020204" pitchFamily="34" charset="0"/>
                        </a:rPr>
                        <a:t>Ohmic</a:t>
                      </a:r>
                      <a:endParaRPr lang="es-CO" sz="1600" b="1" kern="1200" dirty="0">
                        <a:solidFill>
                          <a:schemeClr val="bg1"/>
                        </a:solidFill>
                        <a:latin typeface="Source Sans Pro" panose="020B0503030403020204" pitchFamily="34" charset="0"/>
                        <a:ea typeface="Source Sans Pro" panose="020B0503030403020204" pitchFamily="34" charset="0"/>
                      </a:endParaRPr>
                    </a:p>
                  </a:txBody>
                  <a:tcPr marL="7620" marR="7620" marT="7620" marB="0" anchor="ctr">
                    <a:lnL w="6350" cap="flat" cmpd="sng" algn="ctr">
                      <a:solidFill>
                        <a:srgbClr val="28998B"/>
                      </a:solidFill>
                      <a:prstDash val="solid"/>
                      <a:round/>
                      <a:headEnd type="none" w="med" len="med"/>
                      <a:tailEnd type="none" w="med" len="med"/>
                    </a:lnL>
                    <a:lnR w="6350" cap="flat" cmpd="sng" algn="ctr">
                      <a:solidFill>
                        <a:srgbClr val="28998B"/>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B278E6"/>
                    </a:solidFill>
                  </a:tcPr>
                </a:tc>
                <a:tc>
                  <a:txBody>
                    <a:bodyPr/>
                    <a:lstStyle/>
                    <a:p>
                      <a:pPr marL="0" lvl="0" indent="0" algn="ctr" defTabSz="914400" rtl="0" eaLnBrk="1" fontAlgn="ctr" latinLnBrk="0" hangingPunct="1">
                        <a:lnSpc>
                          <a:spcPct val="115000"/>
                        </a:lnSpc>
                        <a:spcBef>
                          <a:spcPts val="0"/>
                        </a:spcBef>
                        <a:spcAft>
                          <a:spcPts val="0"/>
                        </a:spcAft>
                        <a:buNone/>
                      </a:pPr>
                      <a:r>
                        <a:rPr lang="es-CO" sz="1600" b="1" kern="1200" dirty="0" err="1">
                          <a:solidFill>
                            <a:schemeClr val="tx1"/>
                          </a:solidFill>
                          <a:latin typeface="Source Sans Pro" panose="020B0503030403020204" pitchFamily="34" charset="0"/>
                          <a:ea typeface="Source Sans Pro" panose="020B0503030403020204" pitchFamily="34" charset="0"/>
                        </a:rPr>
                        <a:t>Mass</a:t>
                      </a:r>
                      <a:r>
                        <a:rPr lang="es-CO" sz="1600" b="1" kern="1200" dirty="0">
                          <a:solidFill>
                            <a:schemeClr val="tx1"/>
                          </a:solidFill>
                          <a:latin typeface="Source Sans Pro" panose="020B0503030403020204" pitchFamily="34" charset="0"/>
                          <a:ea typeface="Source Sans Pro" panose="020B0503030403020204" pitchFamily="34" charset="0"/>
                        </a:rPr>
                        <a:t> </a:t>
                      </a:r>
                      <a:r>
                        <a:rPr lang="es-CO" sz="1600" b="1" kern="1200" dirty="0" err="1">
                          <a:solidFill>
                            <a:schemeClr val="tx1"/>
                          </a:solidFill>
                          <a:latin typeface="Source Sans Pro" panose="020B0503030403020204" pitchFamily="34" charset="0"/>
                          <a:ea typeface="Source Sans Pro" panose="020B0503030403020204" pitchFamily="34" charset="0"/>
                        </a:rPr>
                        <a:t>Transport</a:t>
                      </a:r>
                      <a:endParaRPr lang="es-CO" sz="1600" b="1" kern="1200" dirty="0">
                        <a:solidFill>
                          <a:schemeClr val="tx1"/>
                        </a:solidFill>
                        <a:latin typeface="Source Sans Pro" panose="020B0503030403020204" pitchFamily="34" charset="0"/>
                        <a:ea typeface="Source Sans Pro" panose="020B0503030403020204" pitchFamily="34" charset="0"/>
                      </a:endParaRPr>
                    </a:p>
                  </a:txBody>
                  <a:tcPr marL="7620" marR="7620" marT="7620" marB="0" anchor="ctr">
                    <a:lnL w="6350" cap="flat" cmpd="sng" algn="ctr">
                      <a:solidFill>
                        <a:srgbClr val="28998B"/>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FFB903"/>
                    </a:solidFill>
                  </a:tcPr>
                </a:tc>
                <a:extLst>
                  <a:ext uri="{0D108BD9-81ED-4DB2-BD59-A6C34878D82A}">
                    <a16:rowId xmlns:a16="http://schemas.microsoft.com/office/drawing/2014/main" val="1971631114"/>
                  </a:ext>
                </a:extLst>
              </a:tr>
              <a:tr h="231225">
                <a:tc>
                  <a:txBody>
                    <a:bodyPr/>
                    <a:lstStyle/>
                    <a:p>
                      <a:pPr marL="0" lvl="0" indent="0" algn="ctr" rtl="0">
                        <a:lnSpc>
                          <a:spcPct val="115000"/>
                        </a:lnSpc>
                        <a:spcBef>
                          <a:spcPts val="0"/>
                        </a:spcBef>
                        <a:spcAft>
                          <a:spcPts val="0"/>
                        </a:spcAft>
                        <a:buNone/>
                      </a:pPr>
                      <a:r>
                        <a:rPr lang="en" sz="1100" dirty="0">
                          <a:latin typeface="Cambria Math" panose="02040503050406030204" pitchFamily="18" charset="0"/>
                          <a:ea typeface="Cambria Math" panose="02040503050406030204" pitchFamily="18" charset="0"/>
                          <a:cs typeface="Nunito"/>
                          <a:sym typeface="Nunito"/>
                        </a:rPr>
                        <a:t>Tfc</a:t>
                      </a:r>
                      <a:endParaRPr sz="1100" dirty="0">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0.027 ± 0.05</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0.045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0.051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596504"/>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Pa_des</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6F8F9"/>
                    </a:solid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0.015 ± 0.05</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0.058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0.067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58306646"/>
                  </a:ext>
                </a:extLst>
              </a:tr>
              <a:tr h="231225">
                <a:tc>
                  <a:txBody>
                    <a:bodyPr/>
                    <a:lstStyle/>
                    <a:p>
                      <a:pPr marL="0" lvl="0" indent="0" algn="ctr" rtl="0">
                        <a:lnSpc>
                          <a:spcPct val="115000"/>
                        </a:lnSpc>
                        <a:spcBef>
                          <a:spcPts val="0"/>
                        </a:spcBef>
                        <a:spcAft>
                          <a:spcPts val="0"/>
                        </a:spcAft>
                        <a:buNone/>
                      </a:pPr>
                      <a:r>
                        <a:rPr lang="en" sz="1100" dirty="0">
                          <a:latin typeface="Cambria Math" panose="02040503050406030204" pitchFamily="18" charset="0"/>
                          <a:ea typeface="Cambria Math" panose="02040503050406030204" pitchFamily="18" charset="0"/>
                          <a:cs typeface="Nunito"/>
                          <a:sym typeface="Nunito"/>
                        </a:rPr>
                        <a:t>Sc</a:t>
                      </a:r>
                      <a:endParaRPr sz="1100" dirty="0">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0.003 ± 0.05</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0.017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0.014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93294573"/>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Phi_c_des</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rgbClr val="F6F8F9"/>
                    </a:solid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-0.001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0.009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0.002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10876992"/>
                  </a:ext>
                </a:extLst>
              </a:tr>
              <a:tr h="283812">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epsilon_gdl</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0.025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0.022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0.003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7757407"/>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tau</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rPr>
                        <a:t>0.206 ± 0.13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rPr>
                        <a:t>0.199 ± 0.08</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rPr>
                        <a:t>0.149 ± 0.06</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92968739"/>
                  </a:ext>
                </a:extLst>
              </a:tr>
              <a:tr h="245431">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epsilon_mc</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0.03 ± 0.06</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0.038 ± 0.06</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0.039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12706548"/>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epsilon_c</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0.001 ± 0.05</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0.007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-0.006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11367949"/>
                  </a:ext>
                </a:extLst>
              </a:tr>
              <a:tr h="231225">
                <a:tc>
                  <a:txBody>
                    <a:bodyPr/>
                    <a:lstStyle/>
                    <a:p>
                      <a:pPr marL="0" lvl="0" indent="0" algn="ctr" rtl="0">
                        <a:lnSpc>
                          <a:spcPct val="115000"/>
                        </a:lnSpc>
                        <a:spcBef>
                          <a:spcPts val="0"/>
                        </a:spcBef>
                        <a:spcAft>
                          <a:spcPts val="0"/>
                        </a:spcAft>
                        <a:buNone/>
                      </a:pPr>
                      <a:r>
                        <a:rPr lang="en" sz="1100" dirty="0">
                          <a:latin typeface="Cambria Math" panose="02040503050406030204" pitchFamily="18" charset="0"/>
                          <a:ea typeface="Cambria Math" panose="02040503050406030204" pitchFamily="18" charset="0"/>
                          <a:cs typeface="Nunito"/>
                          <a:sym typeface="Nunito"/>
                        </a:rPr>
                        <a:t>e</a:t>
                      </a:r>
                      <a:endParaRPr sz="1100" dirty="0">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0.017 ± 0.02</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0.025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0.024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36536386"/>
                  </a:ext>
                </a:extLst>
              </a:tr>
              <a:tr h="231225">
                <a:tc>
                  <a:txBody>
                    <a:bodyPr/>
                    <a:lstStyle/>
                    <a:p>
                      <a:pPr marL="0" lvl="0" indent="0" algn="ctr" rtl="0">
                        <a:lnSpc>
                          <a:spcPct val="115000"/>
                        </a:lnSpc>
                        <a:spcBef>
                          <a:spcPts val="0"/>
                        </a:spcBef>
                        <a:spcAft>
                          <a:spcPts val="0"/>
                        </a:spcAft>
                        <a:buNone/>
                      </a:pPr>
                      <a:r>
                        <a:rPr lang="en" sz="1100" dirty="0">
                          <a:latin typeface="Cambria Math" panose="02040503050406030204" pitchFamily="18" charset="0"/>
                          <a:ea typeface="Cambria Math" panose="02040503050406030204" pitchFamily="18" charset="0"/>
                          <a:cs typeface="Nunito"/>
                          <a:sym typeface="Nunito"/>
                        </a:rPr>
                        <a:t>Re</a:t>
                      </a:r>
                      <a:endParaRPr sz="1100" dirty="0">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-0.019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0.009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0.035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97297447"/>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i0_c_ref</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rPr>
                        <a:t>0.16 ± 0.06</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rPr>
                        <a:t>0.108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rPr>
                        <a:t>0.106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05887012"/>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kappa_co</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-0.009 ± 0.05</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0.001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-0.009 ± 0.04</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8944163"/>
                  </a:ext>
                </a:extLst>
              </a:tr>
              <a:tr h="231225">
                <a:tc>
                  <a:txBody>
                    <a:bodyPr/>
                    <a:lstStyle/>
                    <a:p>
                      <a:pPr marL="0" lvl="0" indent="0" algn="ctr" rtl="0">
                        <a:lnSpc>
                          <a:spcPct val="115000"/>
                        </a:lnSpc>
                        <a:spcBef>
                          <a:spcPts val="0"/>
                        </a:spcBef>
                        <a:spcAft>
                          <a:spcPts val="0"/>
                        </a:spcAft>
                        <a:buNone/>
                      </a:pPr>
                      <a:r>
                        <a:rPr lang="en" sz="1100" dirty="0">
                          <a:solidFill>
                            <a:schemeClr val="bg1"/>
                          </a:solidFill>
                          <a:latin typeface="Cambria Math" panose="02040503050406030204" pitchFamily="18" charset="0"/>
                          <a:ea typeface="Cambria Math" panose="02040503050406030204" pitchFamily="18" charset="0"/>
                          <a:cs typeface="Nunito"/>
                          <a:sym typeface="Nunito"/>
                        </a:rPr>
                        <a:t>kappa_c</a:t>
                      </a:r>
                      <a:endParaRPr sz="1100" dirty="0">
                        <a:solidFill>
                          <a:schemeClr val="bg1"/>
                        </a:solidFill>
                        <a:latin typeface="Cambria Math" panose="02040503050406030204" pitchFamily="18" charset="0"/>
                        <a:ea typeface="Cambria Math" panose="02040503050406030204" pitchFamily="18" charset="0"/>
                        <a:cs typeface="Nunito"/>
                        <a:sym typeface="Nunito"/>
                      </a:endParaRPr>
                    </a:p>
                  </a:txBody>
                  <a:tcPr marL="76200" marR="76200" marT="19050" marB="19050" anchor="ctr">
                    <a:lnL w="6350" cap="flat" cmpd="sng" algn="ctr">
                      <a:solidFill>
                        <a:srgbClr val="A6A6A6"/>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0.081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rPr>
                        <a:t>0.039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rPr>
                        <a:t>0.009 ± 0.03</a:t>
                      </a:r>
                    </a:p>
                  </a:txBody>
                  <a:tcPr marL="7620" marR="7620" marT="7620" marB="0" anchor="b">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72138897"/>
                  </a:ext>
                </a:extLst>
              </a:tr>
              <a:tr h="265230">
                <a:tc>
                  <a:txBody>
                    <a:bodyPr/>
                    <a:lstStyle/>
                    <a:p>
                      <a:pPr algn="ctr" rtl="0" fontAlgn="ctr"/>
                      <a:r>
                        <a:rPr lang="es-CO" sz="1100" b="1" i="0" u="none" strike="noStrike" dirty="0">
                          <a:solidFill>
                            <a:srgbClr val="FFFFFF"/>
                          </a:solidFill>
                          <a:effectLst/>
                          <a:latin typeface="Source Sans Pro" panose="020B0503030403020204" pitchFamily="34" charset="0"/>
                          <a:ea typeface="Source Sans Pro" panose="020B0503030403020204" pitchFamily="34" charset="0"/>
                        </a:rPr>
                        <a:t>Sum S1</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tx1"/>
                    </a:solidFill>
                  </a:tcPr>
                </a:tc>
                <a:tc>
                  <a:txBody>
                    <a:bodyPr/>
                    <a:lstStyle/>
                    <a:p>
                      <a:pPr algn="ctr" rtl="0" fontAlgn="ctr"/>
                      <a:r>
                        <a:rPr lang="es-CO" sz="1400" b="0" i="0" u="none" strike="noStrike" dirty="0">
                          <a:solidFill>
                            <a:srgbClr val="000000"/>
                          </a:solidFill>
                          <a:effectLst/>
                          <a:latin typeface="Nunito" pitchFamily="2" charset="0"/>
                        </a:rPr>
                        <a:t>0.5352</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bg1">
                        <a:lumMod val="85000"/>
                      </a:schemeClr>
                    </a:solidFill>
                  </a:tcPr>
                </a:tc>
                <a:tc>
                  <a:txBody>
                    <a:bodyPr/>
                    <a:lstStyle/>
                    <a:p>
                      <a:pPr algn="ctr" rtl="0" fontAlgn="ctr"/>
                      <a:r>
                        <a:rPr lang="es-CO" sz="1400" b="0" i="0" u="none" strike="noStrike" dirty="0">
                          <a:solidFill>
                            <a:srgbClr val="000000"/>
                          </a:solidFill>
                          <a:effectLst/>
                          <a:latin typeface="Nunito" pitchFamily="2" charset="0"/>
                        </a:rPr>
                        <a:t>0.5779</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bg1">
                        <a:lumMod val="85000"/>
                      </a:schemeClr>
                    </a:solidFill>
                  </a:tcPr>
                </a:tc>
                <a:tc>
                  <a:txBody>
                    <a:bodyPr/>
                    <a:lstStyle/>
                    <a:p>
                      <a:pPr algn="ctr" rtl="0" fontAlgn="ctr"/>
                      <a:r>
                        <a:rPr lang="es-CO" sz="1400" b="0" i="0" u="none" strike="noStrike" dirty="0">
                          <a:solidFill>
                            <a:srgbClr val="000000"/>
                          </a:solidFill>
                          <a:effectLst/>
                          <a:latin typeface="Nunito" pitchFamily="2" charset="0"/>
                        </a:rPr>
                        <a:t>0.4842</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522289686"/>
                  </a:ext>
                </a:extLst>
              </a:tr>
              <a:tr h="0">
                <a:tc>
                  <a:txBody>
                    <a:bodyPr/>
                    <a:lstStyle/>
                    <a:p>
                      <a:pPr algn="ctr" rtl="0" fontAlgn="ctr"/>
                      <a:r>
                        <a:rPr lang="es-CO" sz="1000" b="1" i="0" u="none" strike="noStrike" dirty="0" err="1">
                          <a:solidFill>
                            <a:srgbClr val="FFFFFF"/>
                          </a:solidFill>
                          <a:effectLst/>
                          <a:latin typeface="Source Sans Pro" panose="020B0503030403020204" pitchFamily="34" charset="0"/>
                          <a:ea typeface="Source Sans Pro" panose="020B0503030403020204" pitchFamily="34" charset="0"/>
                        </a:rPr>
                        <a:t>Average</a:t>
                      </a:r>
                      <a:br>
                        <a:rPr lang="es-CO" sz="1000" b="1" i="0" u="none" strike="noStrike" dirty="0">
                          <a:solidFill>
                            <a:srgbClr val="FFFFFF"/>
                          </a:solidFill>
                          <a:effectLst/>
                          <a:latin typeface="Source Sans Pro" panose="020B0503030403020204" pitchFamily="34" charset="0"/>
                          <a:ea typeface="Source Sans Pro" panose="020B0503030403020204" pitchFamily="34" charset="0"/>
                        </a:rPr>
                      </a:br>
                      <a:r>
                        <a:rPr lang="es-CO" sz="1000" b="1" i="0" u="none" strike="noStrike" dirty="0" err="1">
                          <a:solidFill>
                            <a:srgbClr val="FFFFFF"/>
                          </a:solidFill>
                          <a:effectLst/>
                          <a:latin typeface="Source Sans Pro" panose="020B0503030403020204" pitchFamily="34" charset="0"/>
                          <a:ea typeface="Source Sans Pro" panose="020B0503030403020204" pitchFamily="34" charset="0"/>
                        </a:rPr>
                        <a:t>Confidence</a:t>
                      </a:r>
                      <a:endParaRPr lang="es-CO" sz="1000" b="1" i="0" u="none" strike="noStrike" dirty="0">
                        <a:solidFill>
                          <a:srgbClr val="FFFFFF"/>
                        </a:solidFill>
                        <a:effectLst/>
                        <a:latin typeface="Source Sans Pro" panose="020B0503030403020204" pitchFamily="34" charset="0"/>
                        <a:ea typeface="Source Sans Pro" panose="020B0503030403020204" pitchFamily="34" charset="0"/>
                      </a:endParaRP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tx1"/>
                    </a:solidFill>
                  </a:tcPr>
                </a:tc>
                <a:tc>
                  <a:txBody>
                    <a:bodyPr/>
                    <a:lstStyle/>
                    <a:p>
                      <a:pPr algn="ctr" rtl="0" fontAlgn="ctr"/>
                      <a:r>
                        <a:rPr lang="es-CO" sz="1200" b="0" i="0" u="none" strike="noStrike" dirty="0">
                          <a:solidFill>
                            <a:srgbClr val="000000"/>
                          </a:solidFill>
                          <a:effectLst/>
                          <a:latin typeface="Nunito" pitchFamily="2" charset="0"/>
                        </a:rPr>
                        <a:t>0.0501</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bg1">
                        <a:lumMod val="75000"/>
                      </a:schemeClr>
                    </a:solidFill>
                  </a:tcPr>
                </a:tc>
                <a:tc>
                  <a:txBody>
                    <a:bodyPr/>
                    <a:lstStyle/>
                    <a:p>
                      <a:pPr algn="ctr" rtl="0" fontAlgn="ctr"/>
                      <a:r>
                        <a:rPr lang="es-CO" sz="1200" b="0" i="0" u="none" strike="noStrike" dirty="0">
                          <a:solidFill>
                            <a:srgbClr val="000000"/>
                          </a:solidFill>
                          <a:effectLst/>
                          <a:latin typeface="Nunito" pitchFamily="2" charset="0"/>
                        </a:rPr>
                        <a:t>0.0428</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bg1">
                        <a:lumMod val="75000"/>
                      </a:schemeClr>
                    </a:solidFill>
                  </a:tcPr>
                </a:tc>
                <a:tc>
                  <a:txBody>
                    <a:bodyPr/>
                    <a:lstStyle/>
                    <a:p>
                      <a:pPr algn="ctr" rtl="0" fontAlgn="ctr"/>
                      <a:r>
                        <a:rPr lang="es-CO" sz="1200" b="0" i="0" u="none" strike="noStrike" dirty="0">
                          <a:solidFill>
                            <a:srgbClr val="000000"/>
                          </a:solidFill>
                          <a:effectLst/>
                          <a:latin typeface="Nunito" pitchFamily="2" charset="0"/>
                        </a:rPr>
                        <a:t>0.0377</a:t>
                      </a:r>
                    </a:p>
                  </a:txBody>
                  <a:tcPr marL="7620" marR="7620" marT="7620" marB="0" anchor="ctr">
                    <a:lnL w="6350" cap="flat" cmpd="sng" algn="ctr">
                      <a:solidFill>
                        <a:srgbClr val="A6A6A6"/>
                      </a:solidFill>
                      <a:prstDash val="solid"/>
                      <a:round/>
                      <a:headEnd type="none" w="med" len="med"/>
                      <a:tailEnd type="none" w="med" len="med"/>
                    </a:lnL>
                    <a:lnR w="6350" cap="flat" cmpd="sng" algn="ctr">
                      <a:solidFill>
                        <a:srgbClr val="A6A6A6"/>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A6A6A6"/>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3090538435"/>
                  </a:ext>
                </a:extLst>
              </a:tr>
            </a:tbl>
          </a:graphicData>
        </a:graphic>
      </p:graphicFrame>
      <p:grpSp>
        <p:nvGrpSpPr>
          <p:cNvPr id="42" name="Grupo 41">
            <a:extLst>
              <a:ext uri="{FF2B5EF4-FFF2-40B4-BE49-F238E27FC236}">
                <a16:creationId xmlns:a16="http://schemas.microsoft.com/office/drawing/2014/main" id="{22641C17-D30F-4C80-814D-5294A164C2EB}"/>
              </a:ext>
            </a:extLst>
          </p:cNvPr>
          <p:cNvGrpSpPr/>
          <p:nvPr/>
        </p:nvGrpSpPr>
        <p:grpSpPr>
          <a:xfrm>
            <a:off x="3303008" y="2682430"/>
            <a:ext cx="414216" cy="2748112"/>
            <a:chOff x="3303008" y="2540912"/>
            <a:chExt cx="414216" cy="2748112"/>
          </a:xfrm>
        </p:grpSpPr>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39DE01D3-FE83-431B-830F-C8A7044A674C}"/>
                    </a:ext>
                  </a:extLst>
                </p:cNvPr>
                <p:cNvSpPr txBox="1"/>
                <p:nvPr/>
              </p:nvSpPr>
              <p:spPr>
                <a:xfrm>
                  <a:off x="3320994" y="2540912"/>
                  <a:ext cx="37824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𝑃𝑎</m:t>
                            </m:r>
                          </m:e>
                          <m:sub>
                            <m:r>
                              <a:rPr lang="es-ES" sz="1100" b="0" i="1" smtClean="0">
                                <a:latin typeface="Cambria Math" panose="02040503050406030204" pitchFamily="18" charset="0"/>
                              </a:rPr>
                              <m:t>𝑑𝑒𝑠</m:t>
                            </m:r>
                          </m:sub>
                        </m:sSub>
                      </m:oMath>
                    </m:oMathPara>
                  </a14:m>
                  <a:endParaRPr lang="es-CO" sz="1100" dirty="0"/>
                </a:p>
              </p:txBody>
            </p:sp>
          </mc:Choice>
          <mc:Fallback xmlns="">
            <p:sp>
              <p:nvSpPr>
                <p:cNvPr id="3" name="CuadroTexto 2">
                  <a:extLst>
                    <a:ext uri="{FF2B5EF4-FFF2-40B4-BE49-F238E27FC236}">
                      <a16:creationId xmlns:a16="http://schemas.microsoft.com/office/drawing/2014/main" id="{39DE01D3-FE83-431B-830F-C8A7044A674C}"/>
                    </a:ext>
                  </a:extLst>
                </p:cNvPr>
                <p:cNvSpPr txBox="1">
                  <a:spLocks noRot="1" noChangeAspect="1" noMove="1" noResize="1" noEditPoints="1" noAdjustHandles="1" noChangeArrowheads="1" noChangeShapeType="1" noTextEdit="1"/>
                </p:cNvSpPr>
                <p:nvPr/>
              </p:nvSpPr>
              <p:spPr>
                <a:xfrm>
                  <a:off x="3320994" y="2540912"/>
                  <a:ext cx="378244" cy="169277"/>
                </a:xfrm>
                <a:prstGeom prst="rect">
                  <a:avLst/>
                </a:prstGeom>
                <a:blipFill>
                  <a:blip r:embed="rId2"/>
                  <a:stretch>
                    <a:fillRect l="-8065" r="-3226" b="-17857"/>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2D719A59-BA14-440C-B626-7AB6E0BFA8AA}"/>
                    </a:ext>
                  </a:extLst>
                </p:cNvPr>
                <p:cNvSpPr txBox="1"/>
                <p:nvPr/>
              </p:nvSpPr>
              <p:spPr>
                <a:xfrm>
                  <a:off x="3330612" y="2946589"/>
                  <a:ext cx="35900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𝜙</m:t>
                            </m:r>
                          </m:e>
                          <m:sub>
                            <m:r>
                              <a:rPr lang="es-ES" sz="1100" b="0" i="1" smtClean="0">
                                <a:latin typeface="Cambria Math" panose="02040503050406030204" pitchFamily="18" charset="0"/>
                              </a:rPr>
                              <m:t>𝑐𝑑𝑒𝑠</m:t>
                            </m:r>
                          </m:sub>
                        </m:sSub>
                      </m:oMath>
                    </m:oMathPara>
                  </a14:m>
                  <a:endParaRPr lang="es-CO" sz="1100" dirty="0"/>
                </a:p>
              </p:txBody>
            </p:sp>
          </mc:Choice>
          <mc:Fallback xmlns="">
            <p:sp>
              <p:nvSpPr>
                <p:cNvPr id="23" name="CuadroTexto 22">
                  <a:extLst>
                    <a:ext uri="{FF2B5EF4-FFF2-40B4-BE49-F238E27FC236}">
                      <a16:creationId xmlns:a16="http://schemas.microsoft.com/office/drawing/2014/main" id="{2D719A59-BA14-440C-B626-7AB6E0BFA8AA}"/>
                    </a:ext>
                  </a:extLst>
                </p:cNvPr>
                <p:cNvSpPr txBox="1">
                  <a:spLocks noRot="1" noChangeAspect="1" noMove="1" noResize="1" noEditPoints="1" noAdjustHandles="1" noChangeArrowheads="1" noChangeShapeType="1" noTextEdit="1"/>
                </p:cNvSpPr>
                <p:nvPr/>
              </p:nvSpPr>
              <p:spPr>
                <a:xfrm>
                  <a:off x="3330612" y="2946589"/>
                  <a:ext cx="359009" cy="169277"/>
                </a:xfrm>
                <a:prstGeom prst="rect">
                  <a:avLst/>
                </a:prstGeom>
                <a:blipFill>
                  <a:blip r:embed="rId3"/>
                  <a:stretch>
                    <a:fillRect l="-13559" r="-5085" b="-40741"/>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6F724756-BE0A-49BE-ADE9-07C506F388A5}"/>
                    </a:ext>
                  </a:extLst>
                </p:cNvPr>
                <p:cNvSpPr txBox="1"/>
                <p:nvPr/>
              </p:nvSpPr>
              <p:spPr>
                <a:xfrm>
                  <a:off x="3374598" y="3230129"/>
                  <a:ext cx="271036" cy="182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𝑔𝑑𝑙</m:t>
                            </m:r>
                          </m:sub>
                        </m:sSub>
                      </m:oMath>
                    </m:oMathPara>
                  </a14:m>
                  <a:endParaRPr lang="es-CO" sz="1100" dirty="0"/>
                </a:p>
              </p:txBody>
            </p:sp>
          </mc:Choice>
          <mc:Fallback xmlns="">
            <p:sp>
              <p:nvSpPr>
                <p:cNvPr id="24" name="CuadroTexto 23">
                  <a:extLst>
                    <a:ext uri="{FF2B5EF4-FFF2-40B4-BE49-F238E27FC236}">
                      <a16:creationId xmlns:a16="http://schemas.microsoft.com/office/drawing/2014/main" id="{6F724756-BE0A-49BE-ADE9-07C506F388A5}"/>
                    </a:ext>
                  </a:extLst>
                </p:cNvPr>
                <p:cNvSpPr txBox="1">
                  <a:spLocks noRot="1" noChangeAspect="1" noMove="1" noResize="1" noEditPoints="1" noAdjustHandles="1" noChangeArrowheads="1" noChangeShapeType="1" noTextEdit="1"/>
                </p:cNvSpPr>
                <p:nvPr/>
              </p:nvSpPr>
              <p:spPr>
                <a:xfrm>
                  <a:off x="3374598" y="3230129"/>
                  <a:ext cx="271036" cy="182999"/>
                </a:xfrm>
                <a:prstGeom prst="rect">
                  <a:avLst/>
                </a:prstGeom>
                <a:blipFill>
                  <a:blip r:embed="rId4"/>
                  <a:stretch>
                    <a:fillRect l="-6818" r="-11364" b="-30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52CB61B3-5C3F-4995-ABA5-2E03783186FF}"/>
                    </a:ext>
                  </a:extLst>
                </p:cNvPr>
                <p:cNvSpPr txBox="1"/>
                <p:nvPr/>
              </p:nvSpPr>
              <p:spPr>
                <a:xfrm>
                  <a:off x="3382934" y="3740861"/>
                  <a:ext cx="25436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𝑚𝑐</m:t>
                            </m:r>
                          </m:sub>
                        </m:sSub>
                      </m:oMath>
                    </m:oMathPara>
                  </a14:m>
                  <a:endParaRPr lang="es-CO" sz="1100" dirty="0"/>
                </a:p>
              </p:txBody>
            </p:sp>
          </mc:Choice>
          <mc:Fallback xmlns="">
            <p:sp>
              <p:nvSpPr>
                <p:cNvPr id="25" name="CuadroTexto 24">
                  <a:extLst>
                    <a:ext uri="{FF2B5EF4-FFF2-40B4-BE49-F238E27FC236}">
                      <a16:creationId xmlns:a16="http://schemas.microsoft.com/office/drawing/2014/main" id="{52CB61B3-5C3F-4995-ABA5-2E03783186FF}"/>
                    </a:ext>
                  </a:extLst>
                </p:cNvPr>
                <p:cNvSpPr txBox="1">
                  <a:spLocks noRot="1" noChangeAspect="1" noMove="1" noResize="1" noEditPoints="1" noAdjustHandles="1" noChangeArrowheads="1" noChangeShapeType="1" noTextEdit="1"/>
                </p:cNvSpPr>
                <p:nvPr/>
              </p:nvSpPr>
              <p:spPr>
                <a:xfrm>
                  <a:off x="3382934" y="3740861"/>
                  <a:ext cx="254365" cy="169277"/>
                </a:xfrm>
                <a:prstGeom prst="rect">
                  <a:avLst/>
                </a:prstGeom>
                <a:blipFill>
                  <a:blip r:embed="rId5"/>
                  <a:stretch>
                    <a:fillRect l="-7143" b="-10714"/>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66A78D19-9C35-4B5A-AB0B-1F13A5AACB34}"/>
                    </a:ext>
                  </a:extLst>
                </p:cNvPr>
                <p:cNvSpPr txBox="1"/>
                <p:nvPr/>
              </p:nvSpPr>
              <p:spPr>
                <a:xfrm>
                  <a:off x="3411568" y="3967642"/>
                  <a:ext cx="15818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𝑐</m:t>
                            </m:r>
                          </m:sub>
                        </m:sSub>
                      </m:oMath>
                    </m:oMathPara>
                  </a14:m>
                  <a:endParaRPr lang="es-CO" sz="1100" dirty="0"/>
                </a:p>
              </p:txBody>
            </p:sp>
          </mc:Choice>
          <mc:Fallback xmlns="">
            <p:sp>
              <p:nvSpPr>
                <p:cNvPr id="26" name="CuadroTexto 25">
                  <a:extLst>
                    <a:ext uri="{FF2B5EF4-FFF2-40B4-BE49-F238E27FC236}">
                      <a16:creationId xmlns:a16="http://schemas.microsoft.com/office/drawing/2014/main" id="{66A78D19-9C35-4B5A-AB0B-1F13A5AACB34}"/>
                    </a:ext>
                  </a:extLst>
                </p:cNvPr>
                <p:cNvSpPr txBox="1">
                  <a:spLocks noRot="1" noChangeAspect="1" noMove="1" noResize="1" noEditPoints="1" noAdjustHandles="1" noChangeArrowheads="1" noChangeShapeType="1" noTextEdit="1"/>
                </p:cNvSpPr>
                <p:nvPr/>
              </p:nvSpPr>
              <p:spPr>
                <a:xfrm>
                  <a:off x="3411568" y="3967642"/>
                  <a:ext cx="158184" cy="169277"/>
                </a:xfrm>
                <a:prstGeom prst="rect">
                  <a:avLst/>
                </a:prstGeom>
                <a:blipFill>
                  <a:blip r:embed="rId6"/>
                  <a:stretch>
                    <a:fillRect l="-11538" r="-3846" b="-14286"/>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CDA89CF-3E83-4E19-AF22-9600DF315A43}"/>
                    </a:ext>
                  </a:extLst>
                </p:cNvPr>
                <p:cNvSpPr txBox="1"/>
                <p:nvPr/>
              </p:nvSpPr>
              <p:spPr>
                <a:xfrm>
                  <a:off x="3460519" y="3483445"/>
                  <a:ext cx="991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𝜏</m:t>
                        </m:r>
                      </m:oMath>
                    </m:oMathPara>
                  </a14:m>
                  <a:endParaRPr lang="es-CO" sz="1100" dirty="0"/>
                </a:p>
              </p:txBody>
            </p:sp>
          </mc:Choice>
          <mc:Fallback xmlns="">
            <p:sp>
              <p:nvSpPr>
                <p:cNvPr id="28" name="CuadroTexto 27">
                  <a:extLst>
                    <a:ext uri="{FF2B5EF4-FFF2-40B4-BE49-F238E27FC236}">
                      <a16:creationId xmlns:a16="http://schemas.microsoft.com/office/drawing/2014/main" id="{2CDA89CF-3E83-4E19-AF22-9600DF315A43}"/>
                    </a:ext>
                  </a:extLst>
                </p:cNvPr>
                <p:cNvSpPr txBox="1">
                  <a:spLocks noRot="1" noChangeAspect="1" noMove="1" noResize="1" noEditPoints="1" noAdjustHandles="1" noChangeArrowheads="1" noChangeShapeType="1" noTextEdit="1"/>
                </p:cNvSpPr>
                <p:nvPr/>
              </p:nvSpPr>
              <p:spPr>
                <a:xfrm>
                  <a:off x="3460519" y="3483445"/>
                  <a:ext cx="99194" cy="169277"/>
                </a:xfrm>
                <a:prstGeom prst="rect">
                  <a:avLst/>
                </a:prstGeom>
                <a:blipFill>
                  <a:blip r:embed="rId7"/>
                  <a:stretch>
                    <a:fillRect l="-18750" r="-25000" b="-3704"/>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BA84B563-A25B-4157-AC3E-A92AD330F7B6}"/>
                    </a:ext>
                  </a:extLst>
                </p:cNvPr>
                <p:cNvSpPr txBox="1"/>
                <p:nvPr/>
              </p:nvSpPr>
              <p:spPr>
                <a:xfrm>
                  <a:off x="3303008" y="4654785"/>
                  <a:ext cx="414216" cy="1828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𝑖</m:t>
                            </m:r>
                            <m:r>
                              <a:rPr lang="es-ES" sz="1100" b="0" i="1" smtClean="0">
                                <a:latin typeface="Cambria Math" panose="02040503050406030204" pitchFamily="18" charset="0"/>
                              </a:rPr>
                              <m:t>0</m:t>
                            </m:r>
                          </m:e>
                          <m:sub>
                            <m:r>
                              <a:rPr lang="es-ES" sz="1100" b="0" i="1" smtClean="0">
                                <a:latin typeface="Cambria Math" panose="02040503050406030204" pitchFamily="18" charset="0"/>
                              </a:rPr>
                              <m:t>𝑐</m:t>
                            </m:r>
                            <m:r>
                              <a:rPr lang="es-ES" sz="1100" b="0" i="1" smtClean="0">
                                <a:latin typeface="Cambria Math" panose="02040503050406030204" pitchFamily="18" charset="0"/>
                              </a:rPr>
                              <m:t> </m:t>
                            </m:r>
                            <m:r>
                              <a:rPr lang="es-ES" sz="1100" b="0" i="1" smtClean="0">
                                <a:latin typeface="Cambria Math" panose="02040503050406030204" pitchFamily="18" charset="0"/>
                              </a:rPr>
                              <m:t>𝑟𝑒𝑓</m:t>
                            </m:r>
                          </m:sub>
                        </m:sSub>
                      </m:oMath>
                    </m:oMathPara>
                  </a14:m>
                  <a:endParaRPr lang="es-CO" sz="1100" dirty="0"/>
                </a:p>
              </p:txBody>
            </p:sp>
          </mc:Choice>
          <mc:Fallback xmlns="">
            <p:sp>
              <p:nvSpPr>
                <p:cNvPr id="29" name="CuadroTexto 28">
                  <a:extLst>
                    <a:ext uri="{FF2B5EF4-FFF2-40B4-BE49-F238E27FC236}">
                      <a16:creationId xmlns:a16="http://schemas.microsoft.com/office/drawing/2014/main" id="{BA84B563-A25B-4157-AC3E-A92AD330F7B6}"/>
                    </a:ext>
                  </a:extLst>
                </p:cNvPr>
                <p:cNvSpPr txBox="1">
                  <a:spLocks noRot="1" noChangeAspect="1" noMove="1" noResize="1" noEditPoints="1" noAdjustHandles="1" noChangeArrowheads="1" noChangeShapeType="1" noTextEdit="1"/>
                </p:cNvSpPr>
                <p:nvPr/>
              </p:nvSpPr>
              <p:spPr>
                <a:xfrm>
                  <a:off x="3303008" y="4654785"/>
                  <a:ext cx="414216" cy="182807"/>
                </a:xfrm>
                <a:prstGeom prst="rect">
                  <a:avLst/>
                </a:prstGeom>
                <a:blipFill>
                  <a:blip r:embed="rId8"/>
                  <a:stretch>
                    <a:fillRect l="-7353" r="-5882" b="-30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0" name="CuadroTexto 29">
                  <a:extLst>
                    <a:ext uri="{FF2B5EF4-FFF2-40B4-BE49-F238E27FC236}">
                      <a16:creationId xmlns:a16="http://schemas.microsoft.com/office/drawing/2014/main" id="{7E5570EC-B76C-46F8-A2FB-A574F9F92FF7}"/>
                    </a:ext>
                  </a:extLst>
                </p:cNvPr>
                <p:cNvSpPr txBox="1"/>
                <p:nvPr/>
              </p:nvSpPr>
              <p:spPr>
                <a:xfrm>
                  <a:off x="3395469" y="4893655"/>
                  <a:ext cx="2292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𝑐𝑜</m:t>
                            </m:r>
                          </m:sub>
                        </m:sSub>
                      </m:oMath>
                    </m:oMathPara>
                  </a14:m>
                  <a:endParaRPr lang="es-CO" sz="1100" dirty="0"/>
                </a:p>
              </p:txBody>
            </p:sp>
          </mc:Choice>
          <mc:Fallback xmlns="">
            <p:sp>
              <p:nvSpPr>
                <p:cNvPr id="30" name="CuadroTexto 29">
                  <a:extLst>
                    <a:ext uri="{FF2B5EF4-FFF2-40B4-BE49-F238E27FC236}">
                      <a16:creationId xmlns:a16="http://schemas.microsoft.com/office/drawing/2014/main" id="{7E5570EC-B76C-46F8-A2FB-A574F9F92FF7}"/>
                    </a:ext>
                  </a:extLst>
                </p:cNvPr>
                <p:cNvSpPr txBox="1">
                  <a:spLocks noRot="1" noChangeAspect="1" noMove="1" noResize="1" noEditPoints="1" noAdjustHandles="1" noChangeArrowheads="1" noChangeShapeType="1" noTextEdit="1"/>
                </p:cNvSpPr>
                <p:nvPr/>
              </p:nvSpPr>
              <p:spPr>
                <a:xfrm>
                  <a:off x="3395469" y="4893655"/>
                  <a:ext cx="229294" cy="169277"/>
                </a:xfrm>
                <a:prstGeom prst="rect">
                  <a:avLst/>
                </a:prstGeom>
                <a:blipFill>
                  <a:blip r:embed="rId9"/>
                  <a:stretch>
                    <a:fillRect l="-7895" b="-10714"/>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E448F2DB-58DF-4C2C-AFE8-63714F6D98BB}"/>
                    </a:ext>
                  </a:extLst>
                </p:cNvPr>
                <p:cNvSpPr txBox="1"/>
                <p:nvPr/>
              </p:nvSpPr>
              <p:spPr>
                <a:xfrm>
                  <a:off x="3425414" y="5119747"/>
                  <a:ext cx="16940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m:t>
                            </m:r>
                          </m:sub>
                        </m:sSub>
                      </m:oMath>
                    </m:oMathPara>
                  </a14:m>
                  <a:endParaRPr lang="es-CO" sz="1100" dirty="0"/>
                </a:p>
              </p:txBody>
            </p:sp>
          </mc:Choice>
          <mc:Fallback xmlns="">
            <p:sp>
              <p:nvSpPr>
                <p:cNvPr id="31" name="CuadroTexto 30">
                  <a:extLst>
                    <a:ext uri="{FF2B5EF4-FFF2-40B4-BE49-F238E27FC236}">
                      <a16:creationId xmlns:a16="http://schemas.microsoft.com/office/drawing/2014/main" id="{E448F2DB-58DF-4C2C-AFE8-63714F6D98BB}"/>
                    </a:ext>
                  </a:extLst>
                </p:cNvPr>
                <p:cNvSpPr txBox="1">
                  <a:spLocks noRot="1" noChangeAspect="1" noMove="1" noResize="1" noEditPoints="1" noAdjustHandles="1" noChangeArrowheads="1" noChangeShapeType="1" noTextEdit="1"/>
                </p:cNvSpPr>
                <p:nvPr/>
              </p:nvSpPr>
              <p:spPr>
                <a:xfrm>
                  <a:off x="3425414" y="5119747"/>
                  <a:ext cx="169405" cy="169277"/>
                </a:xfrm>
                <a:prstGeom prst="rect">
                  <a:avLst/>
                </a:prstGeom>
                <a:blipFill>
                  <a:blip r:embed="rId10"/>
                  <a:stretch>
                    <a:fillRect l="-10714" b="-14286"/>
                  </a:stretch>
                </a:blipFill>
              </p:spPr>
              <p:txBody>
                <a:bodyPr/>
                <a:lstStyle/>
                <a:p>
                  <a:r>
                    <a:rPr lang="es-CO">
                      <a:noFill/>
                    </a:rPr>
                    <a:t> </a:t>
                  </a:r>
                </a:p>
              </p:txBody>
            </p:sp>
          </mc:Fallback>
        </mc:AlternateContent>
      </p:grpSp>
      <p:sp>
        <p:nvSpPr>
          <p:cNvPr id="41" name="CuadroTexto 40">
            <a:extLst>
              <a:ext uri="{FF2B5EF4-FFF2-40B4-BE49-F238E27FC236}">
                <a16:creationId xmlns:a16="http://schemas.microsoft.com/office/drawing/2014/main" id="{6B5B392F-8413-4D19-8C59-FECD8A0F992A}"/>
              </a:ext>
            </a:extLst>
          </p:cNvPr>
          <p:cNvSpPr txBox="1"/>
          <p:nvPr/>
        </p:nvSpPr>
        <p:spPr>
          <a:xfrm>
            <a:off x="893443" y="1370254"/>
            <a:ext cx="1769795" cy="1077218"/>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S1 Indices</a:t>
            </a:r>
            <a:endParaRPr lang="es-CO" sz="3600" dirty="0"/>
          </a:p>
        </p:txBody>
      </p:sp>
    </p:spTree>
    <p:extLst>
      <p:ext uri="{BB962C8B-B14F-4D97-AF65-F5344CB8AC3E}">
        <p14:creationId xmlns:p14="http://schemas.microsoft.com/office/powerpoint/2010/main" val="38980884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24</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D639DFB-8A74-4F32-ABAC-6AFB6128F04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41" name="CuadroTexto 40">
            <a:extLst>
              <a:ext uri="{FF2B5EF4-FFF2-40B4-BE49-F238E27FC236}">
                <a16:creationId xmlns:a16="http://schemas.microsoft.com/office/drawing/2014/main" id="{6B5B392F-8413-4D19-8C59-FECD8A0F992A}"/>
              </a:ext>
            </a:extLst>
          </p:cNvPr>
          <p:cNvSpPr txBox="1"/>
          <p:nvPr/>
        </p:nvSpPr>
        <p:spPr>
          <a:xfrm>
            <a:off x="893443" y="1370254"/>
            <a:ext cx="3244557" cy="1384995"/>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4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Feature</a:t>
            </a:r>
          </a:p>
          <a:p>
            <a:r>
              <a:rPr lang="en-US" sz="2400" i="1" dirty="0">
                <a:solidFill>
                  <a:prstClr val="black"/>
                </a:solidFill>
                <a:latin typeface="Source Sans Pro Light" panose="020B0403030403020204" pitchFamily="34" charset="0"/>
                <a:ea typeface="Source Sans Pro Light" panose="020B0403030403020204" pitchFamily="34" charset="0"/>
              </a:rPr>
              <a:t>Importance</a:t>
            </a:r>
            <a:endParaRPr lang="es-CO" sz="3200" dirty="0"/>
          </a:p>
        </p:txBody>
      </p:sp>
      <p:pic>
        <p:nvPicPr>
          <p:cNvPr id="32" name="Google Shape;436;g36edeb4292e_1_16">
            <a:extLst>
              <a:ext uri="{FF2B5EF4-FFF2-40B4-BE49-F238E27FC236}">
                <a16:creationId xmlns:a16="http://schemas.microsoft.com/office/drawing/2014/main" id="{D9105790-C32F-474C-A4C7-D6554704FEBA}"/>
              </a:ext>
            </a:extLst>
          </p:cNvPr>
          <p:cNvPicPr preferRelativeResize="0"/>
          <p:nvPr/>
        </p:nvPicPr>
        <p:blipFill>
          <a:blip r:embed="rId2">
            <a:alphaModFix/>
          </a:blip>
          <a:stretch>
            <a:fillRect/>
          </a:stretch>
        </p:blipFill>
        <p:spPr>
          <a:xfrm>
            <a:off x="2924762" y="1202617"/>
            <a:ext cx="4114799" cy="2688336"/>
          </a:xfrm>
          <a:prstGeom prst="rect">
            <a:avLst/>
          </a:prstGeom>
          <a:noFill/>
          <a:ln>
            <a:noFill/>
          </a:ln>
        </p:spPr>
      </p:pic>
      <p:pic>
        <p:nvPicPr>
          <p:cNvPr id="33" name="Google Shape;437;g36edeb4292e_1_16">
            <a:extLst>
              <a:ext uri="{FF2B5EF4-FFF2-40B4-BE49-F238E27FC236}">
                <a16:creationId xmlns:a16="http://schemas.microsoft.com/office/drawing/2014/main" id="{81CEBDC3-CF03-4CA5-9FCB-6577B1A9BD55}"/>
              </a:ext>
            </a:extLst>
          </p:cNvPr>
          <p:cNvPicPr preferRelativeResize="0"/>
          <p:nvPr/>
        </p:nvPicPr>
        <p:blipFill>
          <a:blip r:embed="rId3">
            <a:alphaModFix/>
          </a:blip>
          <a:stretch>
            <a:fillRect/>
          </a:stretch>
        </p:blipFill>
        <p:spPr>
          <a:xfrm>
            <a:off x="7485962" y="1204854"/>
            <a:ext cx="4111076" cy="2683856"/>
          </a:xfrm>
          <a:prstGeom prst="rect">
            <a:avLst/>
          </a:prstGeom>
          <a:noFill/>
          <a:ln>
            <a:noFill/>
          </a:ln>
        </p:spPr>
      </p:pic>
      <p:pic>
        <p:nvPicPr>
          <p:cNvPr id="34" name="Google Shape;438;g36edeb4292e_1_16">
            <a:extLst>
              <a:ext uri="{FF2B5EF4-FFF2-40B4-BE49-F238E27FC236}">
                <a16:creationId xmlns:a16="http://schemas.microsoft.com/office/drawing/2014/main" id="{255E2092-BB3E-4552-9CCD-58156AFEBCC3}"/>
              </a:ext>
            </a:extLst>
          </p:cNvPr>
          <p:cNvPicPr preferRelativeResize="0"/>
          <p:nvPr/>
        </p:nvPicPr>
        <p:blipFill>
          <a:blip r:embed="rId4">
            <a:alphaModFix/>
          </a:blip>
          <a:stretch>
            <a:fillRect/>
          </a:stretch>
        </p:blipFill>
        <p:spPr>
          <a:xfrm>
            <a:off x="2924762" y="4125535"/>
            <a:ext cx="4114799" cy="2607100"/>
          </a:xfrm>
          <a:prstGeom prst="rect">
            <a:avLst/>
          </a:prstGeom>
          <a:noFill/>
          <a:ln>
            <a:noFill/>
          </a:ln>
        </p:spPr>
      </p:pic>
      <p:sp>
        <p:nvSpPr>
          <p:cNvPr id="2" name="CuadroTexto 1">
            <a:extLst>
              <a:ext uri="{FF2B5EF4-FFF2-40B4-BE49-F238E27FC236}">
                <a16:creationId xmlns:a16="http://schemas.microsoft.com/office/drawing/2014/main" id="{F50BD9C9-10DA-4386-9ADC-1557793A5CAE}"/>
              </a:ext>
            </a:extLst>
          </p:cNvPr>
          <p:cNvSpPr txBox="1"/>
          <p:nvPr/>
        </p:nvSpPr>
        <p:spPr>
          <a:xfrm>
            <a:off x="389106" y="5048655"/>
            <a:ext cx="2089255" cy="954107"/>
          </a:xfrm>
          <a:prstGeom prst="rect">
            <a:avLst/>
          </a:prstGeom>
          <a:noFill/>
        </p:spPr>
        <p:txBody>
          <a:bodyPr wrap="square" rtlCol="0">
            <a:spAutoFit/>
          </a:bodyPr>
          <a:lstStyle/>
          <a:p>
            <a:r>
              <a:rPr lang="es-CO" sz="2800" b="1" dirty="0" err="1">
                <a:solidFill>
                  <a:srgbClr val="FF0000"/>
                </a:solidFill>
              </a:rPr>
              <a:t>Pending</a:t>
            </a:r>
            <a:r>
              <a:rPr lang="es-CO" sz="2800" b="1" dirty="0">
                <a:solidFill>
                  <a:srgbClr val="FF0000"/>
                </a:solidFill>
              </a:rPr>
              <a:t> </a:t>
            </a:r>
            <a:r>
              <a:rPr lang="es-CO" sz="2800" b="1" dirty="0" err="1">
                <a:solidFill>
                  <a:srgbClr val="FF0000"/>
                </a:solidFill>
              </a:rPr>
              <a:t>update</a:t>
            </a:r>
            <a:endParaRPr lang="es-CO" sz="2800" b="1" dirty="0">
              <a:solidFill>
                <a:srgbClr val="FF0000"/>
              </a:solidFill>
            </a:endParaRPr>
          </a:p>
        </p:txBody>
      </p:sp>
      <p:sp>
        <p:nvSpPr>
          <p:cNvPr id="35" name="Google Shape;453;g36edeb4292e_1_43">
            <a:extLst>
              <a:ext uri="{FF2B5EF4-FFF2-40B4-BE49-F238E27FC236}">
                <a16:creationId xmlns:a16="http://schemas.microsoft.com/office/drawing/2014/main" id="{C591BF8D-4A17-4FDA-86B3-87CCA8F3029C}"/>
              </a:ext>
            </a:extLst>
          </p:cNvPr>
          <p:cNvSpPr/>
          <p:nvPr/>
        </p:nvSpPr>
        <p:spPr>
          <a:xfrm>
            <a:off x="4756980" y="1014442"/>
            <a:ext cx="1192800" cy="295200"/>
          </a:xfrm>
          <a:prstGeom prst="roundRect">
            <a:avLst>
              <a:gd name="adj" fmla="val 50000"/>
            </a:avLst>
          </a:prstGeom>
          <a:solidFill>
            <a:srgbClr val="BBE555"/>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prstClr val="black"/>
                </a:solidFill>
                <a:latin typeface="Source Sans Pro" panose="020B0503030403020204" pitchFamily="34" charset="0"/>
                <a:ea typeface="Source Sans Pro" panose="020B0503030403020204" pitchFamily="34" charset="0"/>
                <a:sym typeface="Fira Sans Extra Condensed"/>
              </a:rPr>
              <a:t>Activation</a:t>
            </a:r>
            <a:endParaRPr sz="1600" b="1" dirty="0">
              <a:solidFill>
                <a:prstClr val="black"/>
              </a:solidFill>
              <a:latin typeface="Source Sans Pro" panose="020B0503030403020204" pitchFamily="34" charset="0"/>
              <a:ea typeface="Source Sans Pro" panose="020B0503030403020204" pitchFamily="34" charset="0"/>
              <a:sym typeface="Arial"/>
            </a:endParaRPr>
          </a:p>
        </p:txBody>
      </p:sp>
      <p:sp>
        <p:nvSpPr>
          <p:cNvPr id="36" name="Google Shape;453;g36edeb4292e_1_43">
            <a:extLst>
              <a:ext uri="{FF2B5EF4-FFF2-40B4-BE49-F238E27FC236}">
                <a16:creationId xmlns:a16="http://schemas.microsoft.com/office/drawing/2014/main" id="{367773EE-9073-4E2C-8702-DFBAFD2D7AAE}"/>
              </a:ext>
            </a:extLst>
          </p:cNvPr>
          <p:cNvSpPr/>
          <p:nvPr/>
        </p:nvSpPr>
        <p:spPr>
          <a:xfrm>
            <a:off x="9117471" y="1014442"/>
            <a:ext cx="1192800" cy="295200"/>
          </a:xfrm>
          <a:prstGeom prst="roundRect">
            <a:avLst>
              <a:gd name="adj" fmla="val 50000"/>
            </a:avLst>
          </a:prstGeom>
          <a:solidFill>
            <a:srgbClr val="B278E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a:rPr>
              <a:t>Ohmic</a:t>
            </a:r>
            <a:endParaRPr sz="1600" b="1" dirty="0">
              <a:solidFill>
                <a:schemeClr val="bg1"/>
              </a:solidFill>
              <a:latin typeface="Source Sans Pro" panose="020B0503030403020204" pitchFamily="34" charset="0"/>
              <a:ea typeface="Source Sans Pro" panose="020B0503030403020204" pitchFamily="34" charset="0"/>
              <a:sym typeface="Arial"/>
            </a:endParaRPr>
          </a:p>
        </p:txBody>
      </p:sp>
      <p:sp>
        <p:nvSpPr>
          <p:cNvPr id="37" name="Google Shape;453;g36edeb4292e_1_43">
            <a:extLst>
              <a:ext uri="{FF2B5EF4-FFF2-40B4-BE49-F238E27FC236}">
                <a16:creationId xmlns:a16="http://schemas.microsoft.com/office/drawing/2014/main" id="{B8D7BE01-9F24-4FF1-B539-4AC5E43EF7CD}"/>
              </a:ext>
            </a:extLst>
          </p:cNvPr>
          <p:cNvSpPr/>
          <p:nvPr/>
        </p:nvSpPr>
        <p:spPr>
          <a:xfrm>
            <a:off x="4296036" y="4040228"/>
            <a:ext cx="1895293" cy="307777"/>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latin typeface="Source Sans Pro" panose="020B0503030403020204" pitchFamily="34" charset="0"/>
                <a:ea typeface="Source Sans Pro" panose="020B0503030403020204" pitchFamily="34" charset="0"/>
                <a:sym typeface="Fira Sans Extra Condensed"/>
              </a:rPr>
              <a:t>Mass Transport</a:t>
            </a:r>
            <a:endParaRPr sz="1600" b="1" dirty="0">
              <a:latin typeface="Source Sans Pro" panose="020B0503030403020204" pitchFamily="34" charset="0"/>
              <a:ea typeface="Source Sans Pro" panose="020B0503030403020204" pitchFamily="34" charset="0"/>
              <a:sym typeface="Arial"/>
            </a:endParaRPr>
          </a:p>
        </p:txBody>
      </p:sp>
    </p:spTree>
    <p:extLst>
      <p:ext uri="{BB962C8B-B14F-4D97-AF65-F5344CB8AC3E}">
        <p14:creationId xmlns:p14="http://schemas.microsoft.com/office/powerpoint/2010/main" val="42136561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25</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D639DFB-8A74-4F32-ABAC-6AFB6128F04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41" name="CuadroTexto 40">
            <a:extLst>
              <a:ext uri="{FF2B5EF4-FFF2-40B4-BE49-F238E27FC236}">
                <a16:creationId xmlns:a16="http://schemas.microsoft.com/office/drawing/2014/main" id="{6B5B392F-8413-4D19-8C59-FECD8A0F992A}"/>
              </a:ext>
            </a:extLst>
          </p:cNvPr>
          <p:cNvSpPr txBox="1"/>
          <p:nvPr/>
        </p:nvSpPr>
        <p:spPr>
          <a:xfrm>
            <a:off x="893443" y="1370254"/>
            <a:ext cx="3244557" cy="1077218"/>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S1 Indices</a:t>
            </a:r>
            <a:endParaRPr lang="es-CO" sz="3600" dirty="0"/>
          </a:p>
        </p:txBody>
      </p:sp>
      <p:sp>
        <p:nvSpPr>
          <p:cNvPr id="2" name="CuadroTexto 1">
            <a:extLst>
              <a:ext uri="{FF2B5EF4-FFF2-40B4-BE49-F238E27FC236}">
                <a16:creationId xmlns:a16="http://schemas.microsoft.com/office/drawing/2014/main" id="{F50BD9C9-10DA-4386-9ADC-1557793A5CAE}"/>
              </a:ext>
            </a:extLst>
          </p:cNvPr>
          <p:cNvSpPr txBox="1"/>
          <p:nvPr/>
        </p:nvSpPr>
        <p:spPr>
          <a:xfrm>
            <a:off x="389106" y="5048655"/>
            <a:ext cx="2089255" cy="954107"/>
          </a:xfrm>
          <a:prstGeom prst="rect">
            <a:avLst/>
          </a:prstGeom>
          <a:noFill/>
        </p:spPr>
        <p:txBody>
          <a:bodyPr wrap="square" rtlCol="0">
            <a:spAutoFit/>
          </a:bodyPr>
          <a:lstStyle/>
          <a:p>
            <a:r>
              <a:rPr lang="es-CO" sz="2800" b="1" dirty="0" err="1">
                <a:solidFill>
                  <a:srgbClr val="FF0000"/>
                </a:solidFill>
              </a:rPr>
              <a:t>Pending</a:t>
            </a:r>
            <a:r>
              <a:rPr lang="es-CO" sz="2800" b="1" dirty="0">
                <a:solidFill>
                  <a:srgbClr val="FF0000"/>
                </a:solidFill>
              </a:rPr>
              <a:t> </a:t>
            </a:r>
            <a:r>
              <a:rPr lang="es-CO" sz="2800" b="1" dirty="0" err="1">
                <a:solidFill>
                  <a:srgbClr val="FF0000"/>
                </a:solidFill>
              </a:rPr>
              <a:t>update</a:t>
            </a:r>
            <a:endParaRPr lang="es-CO" sz="2800" b="1" dirty="0">
              <a:solidFill>
                <a:srgbClr val="FF0000"/>
              </a:solidFill>
            </a:endParaRPr>
          </a:p>
        </p:txBody>
      </p:sp>
      <p:grpSp>
        <p:nvGrpSpPr>
          <p:cNvPr id="12" name="Google Shape;448;g36edeb4292e_1_43">
            <a:extLst>
              <a:ext uri="{FF2B5EF4-FFF2-40B4-BE49-F238E27FC236}">
                <a16:creationId xmlns:a16="http://schemas.microsoft.com/office/drawing/2014/main" id="{CA3F8263-0CE5-446B-A009-2D650505A9F7}"/>
              </a:ext>
            </a:extLst>
          </p:cNvPr>
          <p:cNvGrpSpPr/>
          <p:nvPr/>
        </p:nvGrpSpPr>
        <p:grpSpPr>
          <a:xfrm>
            <a:off x="3477513" y="1899792"/>
            <a:ext cx="7573567" cy="4213541"/>
            <a:chOff x="214300" y="152400"/>
            <a:chExt cx="8119176" cy="4838701"/>
          </a:xfrm>
        </p:grpSpPr>
        <p:grpSp>
          <p:nvGrpSpPr>
            <p:cNvPr id="13" name="Google Shape;449;g36edeb4292e_1_43">
              <a:extLst>
                <a:ext uri="{FF2B5EF4-FFF2-40B4-BE49-F238E27FC236}">
                  <a16:creationId xmlns:a16="http://schemas.microsoft.com/office/drawing/2014/main" id="{97A60BBA-238F-48FF-A426-3B9283DFEF57}"/>
                </a:ext>
              </a:extLst>
            </p:cNvPr>
            <p:cNvGrpSpPr/>
            <p:nvPr/>
          </p:nvGrpSpPr>
          <p:grpSpPr>
            <a:xfrm>
              <a:off x="214300" y="152400"/>
              <a:ext cx="8119176" cy="4838701"/>
              <a:chOff x="214300" y="152400"/>
              <a:chExt cx="8119176" cy="4838701"/>
            </a:xfrm>
          </p:grpSpPr>
          <p:pic>
            <p:nvPicPr>
              <p:cNvPr id="15" name="Google Shape;450;g36edeb4292e_1_43" title="plot_s1_activation.png">
                <a:extLst>
                  <a:ext uri="{FF2B5EF4-FFF2-40B4-BE49-F238E27FC236}">
                    <a16:creationId xmlns:a16="http://schemas.microsoft.com/office/drawing/2014/main" id="{5A5D8C35-3127-43E8-B557-16113539D214}"/>
                  </a:ext>
                </a:extLst>
              </p:cNvPr>
              <p:cNvPicPr preferRelativeResize="0"/>
              <p:nvPr/>
            </p:nvPicPr>
            <p:blipFill>
              <a:blip r:embed="rId2">
                <a:alphaModFix/>
              </a:blip>
              <a:stretch>
                <a:fillRect/>
              </a:stretch>
            </p:blipFill>
            <p:spPr>
              <a:xfrm>
                <a:off x="214300" y="152400"/>
                <a:ext cx="8119176" cy="4838701"/>
              </a:xfrm>
              <a:prstGeom prst="rect">
                <a:avLst/>
              </a:prstGeom>
              <a:noFill/>
              <a:ln>
                <a:noFill/>
              </a:ln>
            </p:spPr>
          </p:pic>
          <p:sp>
            <p:nvSpPr>
              <p:cNvPr id="16" name="Google Shape;451;g36edeb4292e_1_43">
                <a:extLst>
                  <a:ext uri="{FF2B5EF4-FFF2-40B4-BE49-F238E27FC236}">
                    <a16:creationId xmlns:a16="http://schemas.microsoft.com/office/drawing/2014/main" id="{BD3D5BC5-2D0B-47A5-9236-C1F9278A2FFD}"/>
                  </a:ext>
                </a:extLst>
              </p:cNvPr>
              <p:cNvSpPr/>
              <p:nvPr/>
            </p:nvSpPr>
            <p:spPr>
              <a:xfrm>
                <a:off x="1014400" y="4598375"/>
                <a:ext cx="465900" cy="1422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4" name="Google Shape;452;g36edeb4292e_1_43">
              <a:extLst>
                <a:ext uri="{FF2B5EF4-FFF2-40B4-BE49-F238E27FC236}">
                  <a16:creationId xmlns:a16="http://schemas.microsoft.com/office/drawing/2014/main" id="{37C89EF1-2DD9-4426-A0C4-B84B4B25E013}"/>
                </a:ext>
              </a:extLst>
            </p:cNvPr>
            <p:cNvSpPr/>
            <p:nvPr/>
          </p:nvSpPr>
          <p:spPr>
            <a:xfrm>
              <a:off x="2409275" y="193000"/>
              <a:ext cx="3262200" cy="195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7" name="Google Shape;453;g36edeb4292e_1_43">
            <a:extLst>
              <a:ext uri="{FF2B5EF4-FFF2-40B4-BE49-F238E27FC236}">
                <a16:creationId xmlns:a16="http://schemas.microsoft.com/office/drawing/2014/main" id="{A6ADD7CF-0D4B-4E08-9999-E8CEF4CC0821}"/>
              </a:ext>
            </a:extLst>
          </p:cNvPr>
          <p:cNvSpPr/>
          <p:nvPr/>
        </p:nvSpPr>
        <p:spPr>
          <a:xfrm>
            <a:off x="887494" y="2514100"/>
            <a:ext cx="1192800" cy="295200"/>
          </a:xfrm>
          <a:prstGeom prst="roundRect">
            <a:avLst>
              <a:gd name="adj" fmla="val 50000"/>
            </a:avLst>
          </a:prstGeom>
          <a:solidFill>
            <a:srgbClr val="BBE555"/>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prstClr val="black"/>
                </a:solidFill>
                <a:latin typeface="Source Sans Pro" panose="020B0503030403020204" pitchFamily="34" charset="0"/>
                <a:ea typeface="Source Sans Pro" panose="020B0503030403020204" pitchFamily="34" charset="0"/>
                <a:sym typeface="Fira Sans Extra Condensed"/>
              </a:rPr>
              <a:t>Activation</a:t>
            </a:r>
            <a:endParaRPr sz="1600" b="1" dirty="0">
              <a:solidFill>
                <a:prstClr val="black"/>
              </a:solidFill>
              <a:latin typeface="Source Sans Pro" panose="020B0503030403020204" pitchFamily="34" charset="0"/>
              <a:ea typeface="Source Sans Pro" panose="020B0503030403020204" pitchFamily="34" charset="0"/>
              <a:sym typeface="Arial"/>
            </a:endParaRPr>
          </a:p>
        </p:txBody>
      </p:sp>
    </p:spTree>
    <p:extLst>
      <p:ext uri="{BB962C8B-B14F-4D97-AF65-F5344CB8AC3E}">
        <p14:creationId xmlns:p14="http://schemas.microsoft.com/office/powerpoint/2010/main" val="26283505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26</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D639DFB-8A74-4F32-ABAC-6AFB6128F04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41" name="CuadroTexto 40">
            <a:extLst>
              <a:ext uri="{FF2B5EF4-FFF2-40B4-BE49-F238E27FC236}">
                <a16:creationId xmlns:a16="http://schemas.microsoft.com/office/drawing/2014/main" id="{6B5B392F-8413-4D19-8C59-FECD8A0F992A}"/>
              </a:ext>
            </a:extLst>
          </p:cNvPr>
          <p:cNvSpPr txBox="1"/>
          <p:nvPr/>
        </p:nvSpPr>
        <p:spPr>
          <a:xfrm>
            <a:off x="893443" y="1370254"/>
            <a:ext cx="3244557" cy="1077218"/>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S1 Indices</a:t>
            </a:r>
            <a:endParaRPr lang="es-CO" sz="3600" dirty="0"/>
          </a:p>
        </p:txBody>
      </p:sp>
      <p:sp>
        <p:nvSpPr>
          <p:cNvPr id="2" name="CuadroTexto 1">
            <a:extLst>
              <a:ext uri="{FF2B5EF4-FFF2-40B4-BE49-F238E27FC236}">
                <a16:creationId xmlns:a16="http://schemas.microsoft.com/office/drawing/2014/main" id="{F50BD9C9-10DA-4386-9ADC-1557793A5CAE}"/>
              </a:ext>
            </a:extLst>
          </p:cNvPr>
          <p:cNvSpPr txBox="1"/>
          <p:nvPr/>
        </p:nvSpPr>
        <p:spPr>
          <a:xfrm>
            <a:off x="389106" y="5048655"/>
            <a:ext cx="2089255" cy="954107"/>
          </a:xfrm>
          <a:prstGeom prst="rect">
            <a:avLst/>
          </a:prstGeom>
          <a:noFill/>
        </p:spPr>
        <p:txBody>
          <a:bodyPr wrap="square" rtlCol="0">
            <a:spAutoFit/>
          </a:bodyPr>
          <a:lstStyle/>
          <a:p>
            <a:r>
              <a:rPr lang="es-CO" sz="2800" b="1" dirty="0" err="1">
                <a:solidFill>
                  <a:srgbClr val="FF0000"/>
                </a:solidFill>
              </a:rPr>
              <a:t>Pending</a:t>
            </a:r>
            <a:r>
              <a:rPr lang="es-CO" sz="2800" b="1" dirty="0">
                <a:solidFill>
                  <a:srgbClr val="FF0000"/>
                </a:solidFill>
              </a:rPr>
              <a:t> </a:t>
            </a:r>
            <a:r>
              <a:rPr lang="es-CO" sz="2800" b="1" dirty="0" err="1">
                <a:solidFill>
                  <a:srgbClr val="FF0000"/>
                </a:solidFill>
              </a:rPr>
              <a:t>update</a:t>
            </a:r>
            <a:endParaRPr lang="es-CO" sz="2800" b="1" dirty="0">
              <a:solidFill>
                <a:srgbClr val="FF0000"/>
              </a:solidFill>
            </a:endParaRPr>
          </a:p>
        </p:txBody>
      </p:sp>
      <p:grpSp>
        <p:nvGrpSpPr>
          <p:cNvPr id="12" name="Google Shape;448;g36edeb4292e_1_43">
            <a:extLst>
              <a:ext uri="{FF2B5EF4-FFF2-40B4-BE49-F238E27FC236}">
                <a16:creationId xmlns:a16="http://schemas.microsoft.com/office/drawing/2014/main" id="{CA3F8263-0CE5-446B-A009-2D650505A9F7}"/>
              </a:ext>
            </a:extLst>
          </p:cNvPr>
          <p:cNvGrpSpPr/>
          <p:nvPr/>
        </p:nvGrpSpPr>
        <p:grpSpPr>
          <a:xfrm>
            <a:off x="3477513" y="1899792"/>
            <a:ext cx="7573567" cy="4213541"/>
            <a:chOff x="214300" y="152400"/>
            <a:chExt cx="8119176" cy="4838701"/>
          </a:xfrm>
        </p:grpSpPr>
        <p:grpSp>
          <p:nvGrpSpPr>
            <p:cNvPr id="13" name="Google Shape;449;g36edeb4292e_1_43">
              <a:extLst>
                <a:ext uri="{FF2B5EF4-FFF2-40B4-BE49-F238E27FC236}">
                  <a16:creationId xmlns:a16="http://schemas.microsoft.com/office/drawing/2014/main" id="{97A60BBA-238F-48FF-A426-3B9283DFEF57}"/>
                </a:ext>
              </a:extLst>
            </p:cNvPr>
            <p:cNvGrpSpPr/>
            <p:nvPr/>
          </p:nvGrpSpPr>
          <p:grpSpPr>
            <a:xfrm>
              <a:off x="214300" y="152400"/>
              <a:ext cx="8119176" cy="4838701"/>
              <a:chOff x="214300" y="152400"/>
              <a:chExt cx="8119176" cy="4838701"/>
            </a:xfrm>
          </p:grpSpPr>
          <p:pic>
            <p:nvPicPr>
              <p:cNvPr id="15" name="Google Shape;450;g36edeb4292e_1_43" title="plot_s1_activation.png">
                <a:extLst>
                  <a:ext uri="{FF2B5EF4-FFF2-40B4-BE49-F238E27FC236}">
                    <a16:creationId xmlns:a16="http://schemas.microsoft.com/office/drawing/2014/main" id="{5A5D8C35-3127-43E8-B557-16113539D214}"/>
                  </a:ext>
                </a:extLst>
              </p:cNvPr>
              <p:cNvPicPr preferRelativeResize="0"/>
              <p:nvPr/>
            </p:nvPicPr>
            <p:blipFill>
              <a:blip r:embed="rId2">
                <a:alphaModFix/>
              </a:blip>
              <a:stretch>
                <a:fillRect/>
              </a:stretch>
            </p:blipFill>
            <p:spPr>
              <a:xfrm>
                <a:off x="214300" y="152400"/>
                <a:ext cx="8119176" cy="4838701"/>
              </a:xfrm>
              <a:prstGeom prst="rect">
                <a:avLst/>
              </a:prstGeom>
              <a:noFill/>
              <a:ln>
                <a:noFill/>
              </a:ln>
            </p:spPr>
          </p:pic>
          <p:sp>
            <p:nvSpPr>
              <p:cNvPr id="16" name="Google Shape;451;g36edeb4292e_1_43">
                <a:extLst>
                  <a:ext uri="{FF2B5EF4-FFF2-40B4-BE49-F238E27FC236}">
                    <a16:creationId xmlns:a16="http://schemas.microsoft.com/office/drawing/2014/main" id="{BD3D5BC5-2D0B-47A5-9236-C1F9278A2FFD}"/>
                  </a:ext>
                </a:extLst>
              </p:cNvPr>
              <p:cNvSpPr/>
              <p:nvPr/>
            </p:nvSpPr>
            <p:spPr>
              <a:xfrm>
                <a:off x="1014400" y="4598375"/>
                <a:ext cx="465900" cy="1422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4" name="Google Shape;452;g36edeb4292e_1_43">
              <a:extLst>
                <a:ext uri="{FF2B5EF4-FFF2-40B4-BE49-F238E27FC236}">
                  <a16:creationId xmlns:a16="http://schemas.microsoft.com/office/drawing/2014/main" id="{37C89EF1-2DD9-4426-A0C4-B84B4B25E013}"/>
                </a:ext>
              </a:extLst>
            </p:cNvPr>
            <p:cNvSpPr/>
            <p:nvPr/>
          </p:nvSpPr>
          <p:spPr>
            <a:xfrm>
              <a:off x="2409275" y="193000"/>
              <a:ext cx="3262200" cy="195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8" name="Google Shape;453;g36edeb4292e_1_43">
            <a:extLst>
              <a:ext uri="{FF2B5EF4-FFF2-40B4-BE49-F238E27FC236}">
                <a16:creationId xmlns:a16="http://schemas.microsoft.com/office/drawing/2014/main" id="{D08A0F1F-72EB-4FA7-A0DA-B54AD0223ED6}"/>
              </a:ext>
            </a:extLst>
          </p:cNvPr>
          <p:cNvSpPr/>
          <p:nvPr/>
        </p:nvSpPr>
        <p:spPr>
          <a:xfrm>
            <a:off x="893443" y="2534113"/>
            <a:ext cx="1192800" cy="295200"/>
          </a:xfrm>
          <a:prstGeom prst="roundRect">
            <a:avLst>
              <a:gd name="adj" fmla="val 50000"/>
            </a:avLst>
          </a:prstGeom>
          <a:solidFill>
            <a:srgbClr val="B278E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a:rPr>
              <a:t>Ohmic</a:t>
            </a:r>
            <a:endParaRPr sz="1600" b="1" dirty="0">
              <a:solidFill>
                <a:schemeClr val="bg1"/>
              </a:solidFill>
              <a:latin typeface="Source Sans Pro" panose="020B0503030403020204" pitchFamily="34" charset="0"/>
              <a:ea typeface="Source Sans Pro" panose="020B0503030403020204" pitchFamily="34" charset="0"/>
              <a:sym typeface="Arial"/>
            </a:endParaRPr>
          </a:p>
        </p:txBody>
      </p:sp>
    </p:spTree>
    <p:extLst>
      <p:ext uri="{BB962C8B-B14F-4D97-AF65-F5344CB8AC3E}">
        <p14:creationId xmlns:p14="http://schemas.microsoft.com/office/powerpoint/2010/main" val="15920900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27</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D639DFB-8A74-4F32-ABAC-6AFB6128F04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41" name="CuadroTexto 40">
            <a:extLst>
              <a:ext uri="{FF2B5EF4-FFF2-40B4-BE49-F238E27FC236}">
                <a16:creationId xmlns:a16="http://schemas.microsoft.com/office/drawing/2014/main" id="{6B5B392F-8413-4D19-8C59-FECD8A0F992A}"/>
              </a:ext>
            </a:extLst>
          </p:cNvPr>
          <p:cNvSpPr txBox="1"/>
          <p:nvPr/>
        </p:nvSpPr>
        <p:spPr>
          <a:xfrm>
            <a:off x="893443" y="1370254"/>
            <a:ext cx="3244557" cy="1077218"/>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S1 Indices</a:t>
            </a:r>
            <a:endParaRPr lang="es-CO" sz="3600" dirty="0"/>
          </a:p>
        </p:txBody>
      </p:sp>
      <p:sp>
        <p:nvSpPr>
          <p:cNvPr id="2" name="CuadroTexto 1">
            <a:extLst>
              <a:ext uri="{FF2B5EF4-FFF2-40B4-BE49-F238E27FC236}">
                <a16:creationId xmlns:a16="http://schemas.microsoft.com/office/drawing/2014/main" id="{F50BD9C9-10DA-4386-9ADC-1557793A5CAE}"/>
              </a:ext>
            </a:extLst>
          </p:cNvPr>
          <p:cNvSpPr txBox="1"/>
          <p:nvPr/>
        </p:nvSpPr>
        <p:spPr>
          <a:xfrm>
            <a:off x="389106" y="5048655"/>
            <a:ext cx="2089255" cy="954107"/>
          </a:xfrm>
          <a:prstGeom prst="rect">
            <a:avLst/>
          </a:prstGeom>
          <a:noFill/>
        </p:spPr>
        <p:txBody>
          <a:bodyPr wrap="square" rtlCol="0">
            <a:spAutoFit/>
          </a:bodyPr>
          <a:lstStyle/>
          <a:p>
            <a:r>
              <a:rPr lang="es-CO" sz="2800" b="1" dirty="0" err="1">
                <a:solidFill>
                  <a:srgbClr val="FF0000"/>
                </a:solidFill>
              </a:rPr>
              <a:t>Pending</a:t>
            </a:r>
            <a:r>
              <a:rPr lang="es-CO" sz="2800" b="1" dirty="0">
                <a:solidFill>
                  <a:srgbClr val="FF0000"/>
                </a:solidFill>
              </a:rPr>
              <a:t> </a:t>
            </a:r>
            <a:r>
              <a:rPr lang="es-CO" sz="2800" b="1" dirty="0" err="1">
                <a:solidFill>
                  <a:srgbClr val="FF0000"/>
                </a:solidFill>
              </a:rPr>
              <a:t>update</a:t>
            </a:r>
            <a:endParaRPr lang="es-CO" sz="2800" b="1" dirty="0">
              <a:solidFill>
                <a:srgbClr val="FF0000"/>
              </a:solidFill>
            </a:endParaRPr>
          </a:p>
        </p:txBody>
      </p:sp>
      <p:grpSp>
        <p:nvGrpSpPr>
          <p:cNvPr id="12" name="Google Shape;448;g36edeb4292e_1_43">
            <a:extLst>
              <a:ext uri="{FF2B5EF4-FFF2-40B4-BE49-F238E27FC236}">
                <a16:creationId xmlns:a16="http://schemas.microsoft.com/office/drawing/2014/main" id="{CA3F8263-0CE5-446B-A009-2D650505A9F7}"/>
              </a:ext>
            </a:extLst>
          </p:cNvPr>
          <p:cNvGrpSpPr/>
          <p:nvPr/>
        </p:nvGrpSpPr>
        <p:grpSpPr>
          <a:xfrm>
            <a:off x="3477513" y="1899792"/>
            <a:ext cx="7573567" cy="4213541"/>
            <a:chOff x="214300" y="152400"/>
            <a:chExt cx="8119176" cy="4838701"/>
          </a:xfrm>
        </p:grpSpPr>
        <p:grpSp>
          <p:nvGrpSpPr>
            <p:cNvPr id="13" name="Google Shape;449;g36edeb4292e_1_43">
              <a:extLst>
                <a:ext uri="{FF2B5EF4-FFF2-40B4-BE49-F238E27FC236}">
                  <a16:creationId xmlns:a16="http://schemas.microsoft.com/office/drawing/2014/main" id="{97A60BBA-238F-48FF-A426-3B9283DFEF57}"/>
                </a:ext>
              </a:extLst>
            </p:cNvPr>
            <p:cNvGrpSpPr/>
            <p:nvPr/>
          </p:nvGrpSpPr>
          <p:grpSpPr>
            <a:xfrm>
              <a:off x="214300" y="152400"/>
              <a:ext cx="8119176" cy="4838701"/>
              <a:chOff x="214300" y="152400"/>
              <a:chExt cx="8119176" cy="4838701"/>
            </a:xfrm>
          </p:grpSpPr>
          <p:pic>
            <p:nvPicPr>
              <p:cNvPr id="15" name="Google Shape;450;g36edeb4292e_1_43" title="plot_s1_activation.png">
                <a:extLst>
                  <a:ext uri="{FF2B5EF4-FFF2-40B4-BE49-F238E27FC236}">
                    <a16:creationId xmlns:a16="http://schemas.microsoft.com/office/drawing/2014/main" id="{5A5D8C35-3127-43E8-B557-16113539D214}"/>
                  </a:ext>
                </a:extLst>
              </p:cNvPr>
              <p:cNvPicPr preferRelativeResize="0"/>
              <p:nvPr/>
            </p:nvPicPr>
            <p:blipFill>
              <a:blip r:embed="rId2">
                <a:alphaModFix/>
              </a:blip>
              <a:stretch>
                <a:fillRect/>
              </a:stretch>
            </p:blipFill>
            <p:spPr>
              <a:xfrm>
                <a:off x="214300" y="152400"/>
                <a:ext cx="8119176" cy="4838701"/>
              </a:xfrm>
              <a:prstGeom prst="rect">
                <a:avLst/>
              </a:prstGeom>
              <a:noFill/>
              <a:ln>
                <a:noFill/>
              </a:ln>
            </p:spPr>
          </p:pic>
          <p:sp>
            <p:nvSpPr>
              <p:cNvPr id="16" name="Google Shape;451;g36edeb4292e_1_43">
                <a:extLst>
                  <a:ext uri="{FF2B5EF4-FFF2-40B4-BE49-F238E27FC236}">
                    <a16:creationId xmlns:a16="http://schemas.microsoft.com/office/drawing/2014/main" id="{BD3D5BC5-2D0B-47A5-9236-C1F9278A2FFD}"/>
                  </a:ext>
                </a:extLst>
              </p:cNvPr>
              <p:cNvSpPr/>
              <p:nvPr/>
            </p:nvSpPr>
            <p:spPr>
              <a:xfrm>
                <a:off x="1014400" y="4598375"/>
                <a:ext cx="465900" cy="1422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4" name="Google Shape;452;g36edeb4292e_1_43">
              <a:extLst>
                <a:ext uri="{FF2B5EF4-FFF2-40B4-BE49-F238E27FC236}">
                  <a16:creationId xmlns:a16="http://schemas.microsoft.com/office/drawing/2014/main" id="{37C89EF1-2DD9-4426-A0C4-B84B4B25E013}"/>
                </a:ext>
              </a:extLst>
            </p:cNvPr>
            <p:cNvSpPr/>
            <p:nvPr/>
          </p:nvSpPr>
          <p:spPr>
            <a:xfrm>
              <a:off x="2409275" y="193000"/>
              <a:ext cx="3262200" cy="1959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21" name="Google Shape;453;g36edeb4292e_1_43">
            <a:extLst>
              <a:ext uri="{FF2B5EF4-FFF2-40B4-BE49-F238E27FC236}">
                <a16:creationId xmlns:a16="http://schemas.microsoft.com/office/drawing/2014/main" id="{96311C58-4D3E-4E1A-ABAA-F62AD0CB150C}"/>
              </a:ext>
            </a:extLst>
          </p:cNvPr>
          <p:cNvSpPr/>
          <p:nvPr/>
        </p:nvSpPr>
        <p:spPr>
          <a:xfrm>
            <a:off x="893443" y="2507832"/>
            <a:ext cx="1895293" cy="307777"/>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latin typeface="Source Sans Pro" panose="020B0503030403020204" pitchFamily="34" charset="0"/>
                <a:ea typeface="Source Sans Pro" panose="020B0503030403020204" pitchFamily="34" charset="0"/>
                <a:sym typeface="Fira Sans Extra Condensed"/>
              </a:rPr>
              <a:t>Mass Transport</a:t>
            </a:r>
            <a:endParaRPr sz="1600" b="1" dirty="0">
              <a:latin typeface="Source Sans Pro" panose="020B0503030403020204" pitchFamily="34" charset="0"/>
              <a:ea typeface="Source Sans Pro" panose="020B0503030403020204" pitchFamily="34" charset="0"/>
              <a:sym typeface="Arial"/>
            </a:endParaRPr>
          </a:p>
        </p:txBody>
      </p:sp>
    </p:spTree>
    <p:extLst>
      <p:ext uri="{BB962C8B-B14F-4D97-AF65-F5344CB8AC3E}">
        <p14:creationId xmlns:p14="http://schemas.microsoft.com/office/powerpoint/2010/main" val="9378646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28</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A5749B4-D4A2-4CCC-8A2B-3BF8838A9AEA}"/>
              </a:ext>
            </a:extLst>
          </p:cNvPr>
          <p:cNvSpPr txBox="1"/>
          <p:nvPr/>
        </p:nvSpPr>
        <p:spPr>
          <a:xfrm>
            <a:off x="1372686" y="1304533"/>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10" name="CuadroTexto 9">
            <a:extLst>
              <a:ext uri="{FF2B5EF4-FFF2-40B4-BE49-F238E27FC236}">
                <a16:creationId xmlns:a16="http://schemas.microsoft.com/office/drawing/2014/main" id="{F23A767F-4D9A-46A5-9995-3E2926EAB6D3}"/>
              </a:ext>
            </a:extLst>
          </p:cNvPr>
          <p:cNvSpPr txBox="1"/>
          <p:nvPr/>
        </p:nvSpPr>
        <p:spPr>
          <a:xfrm>
            <a:off x="1372686" y="2034542"/>
            <a:ext cx="2609379" cy="1661993"/>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Data preparation</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We are fitting the voltage as a function of the 13 features &amp; the current density.</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Only valid polarization curves (~55k configurations)</a:t>
            </a:r>
            <a:endPar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Final dataset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size</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XXXX</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sp>
        <p:nvSpPr>
          <p:cNvPr id="11" name="CuadroTexto 10">
            <a:extLst>
              <a:ext uri="{FF2B5EF4-FFF2-40B4-BE49-F238E27FC236}">
                <a16:creationId xmlns:a16="http://schemas.microsoft.com/office/drawing/2014/main" id="{69625FF0-56C5-42F2-8843-035D7DF99122}"/>
              </a:ext>
            </a:extLst>
          </p:cNvPr>
          <p:cNvSpPr txBox="1"/>
          <p:nvPr/>
        </p:nvSpPr>
        <p:spPr>
          <a:xfrm>
            <a:off x="218223" y="496368"/>
            <a:ext cx="2635045"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VERIFY INFORMATION</a:t>
            </a:r>
            <a:endParaRPr kumimoji="0" lang="es-CO" sz="28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4" name="CuadroTexto 13">
            <a:extLst>
              <a:ext uri="{FF2B5EF4-FFF2-40B4-BE49-F238E27FC236}">
                <a16:creationId xmlns:a16="http://schemas.microsoft.com/office/drawing/2014/main" id="{8BFB17B8-F205-4FEE-9C5F-A240216ADA9D}"/>
              </a:ext>
            </a:extLst>
          </p:cNvPr>
          <p:cNvSpPr txBox="1"/>
          <p:nvPr/>
        </p:nvSpPr>
        <p:spPr>
          <a:xfrm>
            <a:off x="1372686" y="3841769"/>
            <a:ext cx="2609379" cy="1446550"/>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Train the model</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XGBoost</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with nested CV</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s-CO" sz="1400" b="1"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Inner</a:t>
            </a:r>
            <a:r>
              <a:rPr kumimoji="0" lang="es-CO"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3-fold CV: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for</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tuning</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XGBoost</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hyperparameters</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Outer 5-fold CV: </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to assess generalization performance</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graphicFrame>
        <p:nvGraphicFramePr>
          <p:cNvPr id="15" name="Tabla 14">
            <a:extLst>
              <a:ext uri="{FF2B5EF4-FFF2-40B4-BE49-F238E27FC236}">
                <a16:creationId xmlns:a16="http://schemas.microsoft.com/office/drawing/2014/main" id="{0929C397-858E-40DC-94F9-7B0325A4CE4E}"/>
              </a:ext>
            </a:extLst>
          </p:cNvPr>
          <p:cNvGraphicFramePr>
            <a:graphicFrameLocks noGrp="1"/>
          </p:cNvGraphicFramePr>
          <p:nvPr/>
        </p:nvGraphicFramePr>
        <p:xfrm>
          <a:off x="4771687" y="1307896"/>
          <a:ext cx="5949305" cy="2428582"/>
        </p:xfrm>
        <a:graphic>
          <a:graphicData uri="http://schemas.openxmlformats.org/drawingml/2006/table">
            <a:tbl>
              <a:tblPr/>
              <a:tblGrid>
                <a:gridCol w="1278363">
                  <a:extLst>
                    <a:ext uri="{9D8B030D-6E8A-4147-A177-3AD203B41FA5}">
                      <a16:colId xmlns:a16="http://schemas.microsoft.com/office/drawing/2014/main" val="2083718658"/>
                    </a:ext>
                  </a:extLst>
                </a:gridCol>
                <a:gridCol w="1475034">
                  <a:extLst>
                    <a:ext uri="{9D8B030D-6E8A-4147-A177-3AD203B41FA5}">
                      <a16:colId xmlns:a16="http://schemas.microsoft.com/office/drawing/2014/main" val="467634460"/>
                    </a:ext>
                  </a:extLst>
                </a:gridCol>
                <a:gridCol w="1534036">
                  <a:extLst>
                    <a:ext uri="{9D8B030D-6E8A-4147-A177-3AD203B41FA5}">
                      <a16:colId xmlns:a16="http://schemas.microsoft.com/office/drawing/2014/main" val="2106801228"/>
                    </a:ext>
                  </a:extLst>
                </a:gridCol>
                <a:gridCol w="1661872">
                  <a:extLst>
                    <a:ext uri="{9D8B030D-6E8A-4147-A177-3AD203B41FA5}">
                      <a16:colId xmlns:a16="http://schemas.microsoft.com/office/drawing/2014/main" val="2480728851"/>
                    </a:ext>
                  </a:extLst>
                </a:gridCol>
              </a:tblGrid>
              <a:tr h="671022">
                <a:tc>
                  <a:txBody>
                    <a:bodyPr/>
                    <a:lstStyle/>
                    <a:p>
                      <a:pPr fontAlgn="ctr"/>
                      <a:r>
                        <a:rPr lang="es-CO">
                          <a:effectLst/>
                        </a:rPr>
                        <a:t> </a:t>
                      </a: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Activation</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Ohmic</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Mass transport</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extLst>
                  <a:ext uri="{0D108BD9-81ED-4DB2-BD59-A6C34878D82A}">
                    <a16:rowId xmlns:a16="http://schemas.microsoft.com/office/drawing/2014/main" val="1074575185"/>
                  </a:ext>
                </a:extLst>
              </a:tr>
              <a:tr h="544377">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MAE </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 0.0042 ± 0.0001</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0.0235 ± 0.0003</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0.0275 ± 0.0004</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3030100613"/>
                  </a:ext>
                </a:extLst>
              </a:tr>
              <a:tr h="544377">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RMSE</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0.0001 ± 0.0000</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0.0045 ± 0.0002</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0.0054 ± 0.0003</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864811186"/>
                  </a:ext>
                </a:extLst>
              </a:tr>
              <a:tr h="668806">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R-squared</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0.8437 ± 0.0047</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 0.7946 ± 0.0092</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0.8388 ± 0.0102</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2089462761"/>
                  </a:ext>
                </a:extLst>
              </a:tr>
            </a:tbl>
          </a:graphicData>
        </a:graphic>
      </p:graphicFrame>
      <p:sp>
        <p:nvSpPr>
          <p:cNvPr id="16" name="Rectangle 1">
            <a:extLst>
              <a:ext uri="{FF2B5EF4-FFF2-40B4-BE49-F238E27FC236}">
                <a16:creationId xmlns:a16="http://schemas.microsoft.com/office/drawing/2014/main" id="{C926CF45-A159-41F0-AF20-19F37B90C1B7}"/>
              </a:ext>
            </a:extLst>
          </p:cNvPr>
          <p:cNvSpPr>
            <a:spLocks noChangeArrowheads="1"/>
          </p:cNvSpPr>
          <p:nvPr/>
        </p:nvSpPr>
        <p:spPr bwMode="auto">
          <a:xfrm>
            <a:off x="10819314" y="3380104"/>
            <a:ext cx="104940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s-CO" altLang="es-CO" sz="1200" b="0" i="0" u="none" strike="noStrike" kern="1200" cap="none" spc="0" normalizeH="0" baseline="0" noProof="0" dirty="0" err="1">
                <a:ln>
                  <a:noFill/>
                </a:ln>
                <a:solidFill>
                  <a:srgbClr val="000000"/>
                </a:solidFill>
                <a:effectLst/>
                <a:uLnTx/>
                <a:uFillTx/>
                <a:latin typeface="Roboto" panose="02000000000000000000" pitchFamily="2" charset="0"/>
                <a:ea typeface="+mn-ea"/>
                <a:cs typeface="+mn-cs"/>
              </a:rPr>
              <a:t>Unit</a:t>
            </a: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a:t>
            </a:r>
            <a:endParaRPr kumimoji="0" lang="es-CO" altLang="es-CO" sz="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Watts/cm²</a:t>
            </a:r>
            <a:endParaRPr kumimoji="0" lang="es-CO" altLang="es-CO"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Rectángulo 16">
            <a:extLst>
              <a:ext uri="{FF2B5EF4-FFF2-40B4-BE49-F238E27FC236}">
                <a16:creationId xmlns:a16="http://schemas.microsoft.com/office/drawing/2014/main" id="{9CF9CD44-FC08-4381-8A9B-991E25B023CC}"/>
              </a:ext>
            </a:extLst>
          </p:cNvPr>
          <p:cNvSpPr/>
          <p:nvPr/>
        </p:nvSpPr>
        <p:spPr>
          <a:xfrm>
            <a:off x="4771687" y="4188542"/>
            <a:ext cx="5949305" cy="187796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3600" b="1" i="0" u="none" strike="noStrike" kern="1200" cap="none" spc="0" normalizeH="0" baseline="0" noProof="0" dirty="0">
                <a:ln>
                  <a:noFill/>
                </a:ln>
                <a:solidFill>
                  <a:srgbClr val="FF0000"/>
                </a:solidFill>
                <a:effectLst/>
                <a:uLnTx/>
                <a:uFillTx/>
                <a:latin typeface="Aptos" panose="02110004020202020204"/>
                <a:ea typeface="+mn-ea"/>
                <a:cs typeface="+mn-cs"/>
              </a:rPr>
              <a:t>RESIDUALS PLOT</a:t>
            </a:r>
            <a:endParaRPr kumimoji="0" lang="es-CO" sz="36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671640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1508105"/>
          </a:xfrm>
          <a:prstGeom prst="rect">
            <a:avLst/>
          </a:prstGeom>
          <a:noFill/>
        </p:spPr>
        <p:txBody>
          <a:bodyPr wrap="square">
            <a:spAutoFit/>
          </a:bodyPr>
          <a:lstStyle/>
          <a:p>
            <a:r>
              <a:rPr lang="en-US" sz="3200" b="1" dirty="0">
                <a:solidFill>
                  <a:srgbClr val="B278E6"/>
                </a:solidFill>
                <a:latin typeface="Source Sans Pro" panose="020B0503030403020204" pitchFamily="34" charset="0"/>
                <a:ea typeface="Source Sans Pro" panose="020B0503030403020204" pitchFamily="34" charset="0"/>
              </a:rPr>
              <a:t>SHAP</a:t>
            </a:r>
            <a:r>
              <a:rPr kumimoji="0" lang="en-US" sz="3600" b="0" i="1" u="none" strike="noStrike" kern="1200" cap="none" spc="0" normalizeH="0" baseline="0" noProof="0" dirty="0">
                <a:ln>
                  <a:noFill/>
                </a:ln>
                <a:solidFill>
                  <a:srgbClr val="B278E6"/>
                </a:solidFill>
                <a:effectLst/>
                <a:uLnTx/>
                <a:uFillTx/>
                <a:latin typeface="Source Sans Pro Light" panose="020B0403030403020204" pitchFamily="34" charset="0"/>
                <a:ea typeface="Source Sans Pro Light" panose="020B0403030403020204" pitchFamily="34" charset="0"/>
                <a:cs typeface="+mn-cs"/>
              </a:rPr>
              <a:t> </a:t>
            </a:r>
          </a:p>
          <a:p>
            <a:r>
              <a:rPr lang="en-US" sz="2800" i="1" dirty="0">
                <a:solidFill>
                  <a:prstClr val="black"/>
                </a:solidFill>
                <a:latin typeface="Source Sans Pro Light" panose="020B0403030403020204" pitchFamily="34" charset="0"/>
                <a:ea typeface="Source Sans Pro Light" panose="020B0403030403020204" pitchFamily="34" charset="0"/>
              </a:rPr>
              <a:t>Rankings per </a:t>
            </a:r>
          </a:p>
          <a:p>
            <a:r>
              <a:rPr lang="en-US" sz="2800" i="1" dirty="0">
                <a:solidFill>
                  <a:prstClr val="black"/>
                </a:solidFill>
                <a:latin typeface="Source Sans Pro Light" panose="020B0403030403020204" pitchFamily="34" charset="0"/>
                <a:ea typeface="Source Sans Pro Light" panose="020B0403030403020204" pitchFamily="34" charset="0"/>
              </a:rPr>
              <a:t>Region</a:t>
            </a:r>
            <a:endParaRPr lang="es-CO" sz="3600" dirty="0"/>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29</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 name="Imagen 2">
            <a:extLst>
              <a:ext uri="{FF2B5EF4-FFF2-40B4-BE49-F238E27FC236}">
                <a16:creationId xmlns:a16="http://schemas.microsoft.com/office/drawing/2014/main" id="{4211E555-AC69-46E7-A6A1-5C04C20DEAC2}"/>
              </a:ext>
            </a:extLst>
          </p:cNvPr>
          <p:cNvPicPr>
            <a:picLocks noChangeAspect="1"/>
          </p:cNvPicPr>
          <p:nvPr/>
        </p:nvPicPr>
        <p:blipFill>
          <a:blip r:embed="rId2"/>
          <a:stretch>
            <a:fillRect/>
          </a:stretch>
        </p:blipFill>
        <p:spPr>
          <a:xfrm>
            <a:off x="3030873" y="943947"/>
            <a:ext cx="8608742" cy="5135650"/>
          </a:xfrm>
          <a:prstGeom prst="rect">
            <a:avLst/>
          </a:prstGeom>
        </p:spPr>
      </p:pic>
      <p:sp>
        <p:nvSpPr>
          <p:cNvPr id="64" name="CuadroTexto 63">
            <a:extLst>
              <a:ext uri="{FF2B5EF4-FFF2-40B4-BE49-F238E27FC236}">
                <a16:creationId xmlns:a16="http://schemas.microsoft.com/office/drawing/2014/main" id="{255BCE0C-44F4-414E-9018-BDE0FAE80B44}"/>
              </a:ext>
            </a:extLst>
          </p:cNvPr>
          <p:cNvSpPr txBox="1"/>
          <p:nvPr/>
        </p:nvSpPr>
        <p:spPr>
          <a:xfrm>
            <a:off x="3902423" y="5929822"/>
            <a:ext cx="6865643" cy="830997"/>
          </a:xfrm>
          <a:prstGeom prst="rect">
            <a:avLst/>
          </a:prstGeom>
          <a:noFill/>
        </p:spPr>
        <p:txBody>
          <a:bodyPr wrap="square">
            <a:spAutoFit/>
          </a:bodyPr>
          <a:lstStyle/>
          <a:p>
            <a:r>
              <a:rPr lang="en" sz="1200" b="1" dirty="0"/>
              <a:t>Figure XX:  </a:t>
            </a:r>
            <a:r>
              <a:rPr lang="en-US" sz="1200" dirty="0"/>
              <a:t>Comparison of parameter rankings across current density regions based on SHAP values. Lines track changes in feature importance from activation to ohmic to mass transport regions, where a lower rank indicates higher influence on model output.</a:t>
            </a:r>
            <a:endParaRPr lang="es-CO" sz="1200" dirty="0"/>
          </a:p>
          <a:p>
            <a:endParaRPr lang="es-CO" sz="1200" dirty="0"/>
          </a:p>
        </p:txBody>
      </p:sp>
      <p:grpSp>
        <p:nvGrpSpPr>
          <p:cNvPr id="9" name="Grupo 8">
            <a:extLst>
              <a:ext uri="{FF2B5EF4-FFF2-40B4-BE49-F238E27FC236}">
                <a16:creationId xmlns:a16="http://schemas.microsoft.com/office/drawing/2014/main" id="{6C9E8FA8-4D05-4168-A850-35A967D9F695}"/>
              </a:ext>
            </a:extLst>
          </p:cNvPr>
          <p:cNvGrpSpPr/>
          <p:nvPr/>
        </p:nvGrpSpPr>
        <p:grpSpPr>
          <a:xfrm>
            <a:off x="10904860" y="1465071"/>
            <a:ext cx="616580" cy="2390736"/>
            <a:chOff x="11410828" y="1465071"/>
            <a:chExt cx="616580" cy="2390736"/>
          </a:xfrm>
        </p:grpSpPr>
        <p:sp>
          <p:nvSpPr>
            <p:cNvPr id="66" name="Rectángulo 65">
              <a:extLst>
                <a:ext uri="{FF2B5EF4-FFF2-40B4-BE49-F238E27FC236}">
                  <a16:creationId xmlns:a16="http://schemas.microsoft.com/office/drawing/2014/main" id="{BE695DB2-D483-472B-AC2E-6DADB42D24E9}"/>
                </a:ext>
              </a:extLst>
            </p:cNvPr>
            <p:cNvSpPr/>
            <p:nvPr/>
          </p:nvSpPr>
          <p:spPr>
            <a:xfrm>
              <a:off x="11410828" y="1465071"/>
              <a:ext cx="616580" cy="239073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s-CO" dirty="0"/>
            </a:p>
          </p:txBody>
        </p:sp>
        <mc:AlternateContent xmlns:mc="http://schemas.openxmlformats.org/markup-compatibility/2006">
          <mc:Choice xmlns:a14="http://schemas.microsoft.com/office/drawing/2010/main" Requires="a14">
            <p:sp>
              <p:nvSpPr>
                <p:cNvPr id="67" name="CuadroTexto 66">
                  <a:extLst>
                    <a:ext uri="{FF2B5EF4-FFF2-40B4-BE49-F238E27FC236}">
                      <a16:creationId xmlns:a16="http://schemas.microsoft.com/office/drawing/2014/main" id="{11F2D5E2-5F50-46CC-B4CA-64FA3373BBA7}"/>
                    </a:ext>
                  </a:extLst>
                </p:cNvPr>
                <p:cNvSpPr txBox="1"/>
                <p:nvPr/>
              </p:nvSpPr>
              <p:spPr>
                <a:xfrm>
                  <a:off x="11437276" y="1820169"/>
                  <a:ext cx="30950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𝑃𝑎</m:t>
                            </m:r>
                          </m:e>
                          <m:sub>
                            <m:r>
                              <a:rPr lang="es-ES" sz="900" b="0" i="1" smtClean="0">
                                <a:latin typeface="Cambria Math" panose="02040503050406030204" pitchFamily="18" charset="0"/>
                              </a:rPr>
                              <m:t>𝑑𝑒𝑠</m:t>
                            </m:r>
                          </m:sub>
                        </m:sSub>
                      </m:oMath>
                    </m:oMathPara>
                  </a14:m>
                  <a:endParaRPr lang="es-CO" sz="900" dirty="0"/>
                </a:p>
              </p:txBody>
            </p:sp>
          </mc:Choice>
          <mc:Fallback>
            <p:sp>
              <p:nvSpPr>
                <p:cNvPr id="67" name="CuadroTexto 66">
                  <a:extLst>
                    <a:ext uri="{FF2B5EF4-FFF2-40B4-BE49-F238E27FC236}">
                      <a16:creationId xmlns:a16="http://schemas.microsoft.com/office/drawing/2014/main" id="{11F2D5E2-5F50-46CC-B4CA-64FA3373BBA7}"/>
                    </a:ext>
                  </a:extLst>
                </p:cNvPr>
                <p:cNvSpPr txBox="1">
                  <a:spLocks noRot="1" noChangeAspect="1" noMove="1" noResize="1" noEditPoints="1" noAdjustHandles="1" noChangeArrowheads="1" noChangeShapeType="1" noTextEdit="1"/>
                </p:cNvSpPr>
                <p:nvPr/>
              </p:nvSpPr>
              <p:spPr>
                <a:xfrm>
                  <a:off x="11437276" y="1820169"/>
                  <a:ext cx="309508" cy="138499"/>
                </a:xfrm>
                <a:prstGeom prst="rect">
                  <a:avLst/>
                </a:prstGeom>
                <a:blipFill>
                  <a:blip r:embed="rId3"/>
                  <a:stretch>
                    <a:fillRect l="-9804" r="-3922" b="-2272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8" name="CuadroTexto 67">
                  <a:extLst>
                    <a:ext uri="{FF2B5EF4-FFF2-40B4-BE49-F238E27FC236}">
                      <a16:creationId xmlns:a16="http://schemas.microsoft.com/office/drawing/2014/main" id="{393E0A1C-AC05-4C91-B49A-3B43D958F22B}"/>
                    </a:ext>
                  </a:extLst>
                </p:cNvPr>
                <p:cNvSpPr txBox="1"/>
                <p:nvPr/>
              </p:nvSpPr>
              <p:spPr>
                <a:xfrm>
                  <a:off x="11437276" y="2837494"/>
                  <a:ext cx="29508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𝜙</m:t>
                            </m:r>
                          </m:e>
                          <m:sub>
                            <m:r>
                              <a:rPr lang="es-ES" sz="900" b="0" i="1" smtClean="0">
                                <a:latin typeface="Cambria Math" panose="02040503050406030204" pitchFamily="18" charset="0"/>
                              </a:rPr>
                              <m:t>𝑐𝑑𝑒𝑠</m:t>
                            </m:r>
                          </m:sub>
                        </m:sSub>
                      </m:oMath>
                    </m:oMathPara>
                  </a14:m>
                  <a:endParaRPr lang="es-CO" sz="900" dirty="0"/>
                </a:p>
              </p:txBody>
            </p:sp>
          </mc:Choice>
          <mc:Fallback>
            <p:sp>
              <p:nvSpPr>
                <p:cNvPr id="68" name="CuadroTexto 67">
                  <a:extLst>
                    <a:ext uri="{FF2B5EF4-FFF2-40B4-BE49-F238E27FC236}">
                      <a16:creationId xmlns:a16="http://schemas.microsoft.com/office/drawing/2014/main" id="{393E0A1C-AC05-4C91-B49A-3B43D958F22B}"/>
                    </a:ext>
                  </a:extLst>
                </p:cNvPr>
                <p:cNvSpPr txBox="1">
                  <a:spLocks noRot="1" noChangeAspect="1" noMove="1" noResize="1" noEditPoints="1" noAdjustHandles="1" noChangeArrowheads="1" noChangeShapeType="1" noTextEdit="1"/>
                </p:cNvSpPr>
                <p:nvPr/>
              </p:nvSpPr>
              <p:spPr>
                <a:xfrm>
                  <a:off x="11437276" y="2837494"/>
                  <a:ext cx="295081" cy="138499"/>
                </a:xfrm>
                <a:prstGeom prst="rect">
                  <a:avLst/>
                </a:prstGeom>
                <a:blipFill>
                  <a:blip r:embed="rId4"/>
                  <a:stretch>
                    <a:fillRect l="-14286" r="-4082" b="-347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9" name="CuadroTexto 68">
                  <a:extLst>
                    <a:ext uri="{FF2B5EF4-FFF2-40B4-BE49-F238E27FC236}">
                      <a16:creationId xmlns:a16="http://schemas.microsoft.com/office/drawing/2014/main" id="{77545A0A-19CC-4EBB-A046-41C909E87414}"/>
                    </a:ext>
                  </a:extLst>
                </p:cNvPr>
                <p:cNvSpPr txBox="1"/>
                <p:nvPr/>
              </p:nvSpPr>
              <p:spPr>
                <a:xfrm>
                  <a:off x="11437276" y="3356594"/>
                  <a:ext cx="223971" cy="1497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𝑔𝑑𝑙</m:t>
                            </m:r>
                          </m:sub>
                        </m:sSub>
                      </m:oMath>
                    </m:oMathPara>
                  </a14:m>
                  <a:endParaRPr lang="es-CO" sz="900" dirty="0"/>
                </a:p>
              </p:txBody>
            </p:sp>
          </mc:Choice>
          <mc:Fallback>
            <p:sp>
              <p:nvSpPr>
                <p:cNvPr id="69" name="CuadroTexto 68">
                  <a:extLst>
                    <a:ext uri="{FF2B5EF4-FFF2-40B4-BE49-F238E27FC236}">
                      <a16:creationId xmlns:a16="http://schemas.microsoft.com/office/drawing/2014/main" id="{77545A0A-19CC-4EBB-A046-41C909E87414}"/>
                    </a:ext>
                  </a:extLst>
                </p:cNvPr>
                <p:cNvSpPr txBox="1">
                  <a:spLocks noRot="1" noChangeAspect="1" noMove="1" noResize="1" noEditPoints="1" noAdjustHandles="1" noChangeArrowheads="1" noChangeShapeType="1" noTextEdit="1"/>
                </p:cNvSpPr>
                <p:nvPr/>
              </p:nvSpPr>
              <p:spPr>
                <a:xfrm>
                  <a:off x="11437276" y="3356594"/>
                  <a:ext cx="223971" cy="149721"/>
                </a:xfrm>
                <a:prstGeom prst="rect">
                  <a:avLst/>
                </a:prstGeom>
                <a:blipFill>
                  <a:blip r:embed="rId5"/>
                  <a:stretch>
                    <a:fillRect l="-8108" r="-8108" b="-2916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0" name="CuadroTexto 69">
                  <a:extLst>
                    <a:ext uri="{FF2B5EF4-FFF2-40B4-BE49-F238E27FC236}">
                      <a16:creationId xmlns:a16="http://schemas.microsoft.com/office/drawing/2014/main" id="{86A45EEB-845A-48B7-8A15-74A4D39320B7}"/>
                    </a:ext>
                  </a:extLst>
                </p:cNvPr>
                <p:cNvSpPr txBox="1"/>
                <p:nvPr/>
              </p:nvSpPr>
              <p:spPr>
                <a:xfrm>
                  <a:off x="11437276" y="2666093"/>
                  <a:ext cx="209480"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𝑚𝑐</m:t>
                            </m:r>
                          </m:sub>
                        </m:sSub>
                      </m:oMath>
                    </m:oMathPara>
                  </a14:m>
                  <a:endParaRPr lang="es-CO" sz="900" dirty="0"/>
                </a:p>
              </p:txBody>
            </p:sp>
          </mc:Choice>
          <mc:Fallback>
            <p:sp>
              <p:nvSpPr>
                <p:cNvPr id="70" name="CuadroTexto 69">
                  <a:extLst>
                    <a:ext uri="{FF2B5EF4-FFF2-40B4-BE49-F238E27FC236}">
                      <a16:creationId xmlns:a16="http://schemas.microsoft.com/office/drawing/2014/main" id="{86A45EEB-845A-48B7-8A15-74A4D39320B7}"/>
                    </a:ext>
                  </a:extLst>
                </p:cNvPr>
                <p:cNvSpPr txBox="1">
                  <a:spLocks noRot="1" noChangeAspect="1" noMove="1" noResize="1" noEditPoints="1" noAdjustHandles="1" noChangeArrowheads="1" noChangeShapeType="1" noTextEdit="1"/>
                </p:cNvSpPr>
                <p:nvPr/>
              </p:nvSpPr>
              <p:spPr>
                <a:xfrm>
                  <a:off x="11437276" y="2666093"/>
                  <a:ext cx="209480" cy="138499"/>
                </a:xfrm>
                <a:prstGeom prst="rect">
                  <a:avLst/>
                </a:prstGeom>
                <a:blipFill>
                  <a:blip r:embed="rId6"/>
                  <a:stretch>
                    <a:fillRect l="-8571" b="-130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1" name="CuadroTexto 70">
                  <a:extLst>
                    <a:ext uri="{FF2B5EF4-FFF2-40B4-BE49-F238E27FC236}">
                      <a16:creationId xmlns:a16="http://schemas.microsoft.com/office/drawing/2014/main" id="{42F855CF-3DB3-491A-89B5-1CCE0F6A50C6}"/>
                    </a:ext>
                  </a:extLst>
                </p:cNvPr>
                <p:cNvSpPr txBox="1"/>
                <p:nvPr/>
              </p:nvSpPr>
              <p:spPr>
                <a:xfrm>
                  <a:off x="11437276" y="3532126"/>
                  <a:ext cx="130933"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𝑐</m:t>
                            </m:r>
                          </m:sub>
                        </m:sSub>
                      </m:oMath>
                    </m:oMathPara>
                  </a14:m>
                  <a:endParaRPr lang="es-CO" sz="900" dirty="0"/>
                </a:p>
              </p:txBody>
            </p:sp>
          </mc:Choice>
          <mc:Fallback>
            <p:sp>
              <p:nvSpPr>
                <p:cNvPr id="71" name="CuadroTexto 70">
                  <a:extLst>
                    <a:ext uri="{FF2B5EF4-FFF2-40B4-BE49-F238E27FC236}">
                      <a16:creationId xmlns:a16="http://schemas.microsoft.com/office/drawing/2014/main" id="{42F855CF-3DB3-491A-89B5-1CCE0F6A50C6}"/>
                    </a:ext>
                  </a:extLst>
                </p:cNvPr>
                <p:cNvSpPr txBox="1">
                  <a:spLocks noRot="1" noChangeAspect="1" noMove="1" noResize="1" noEditPoints="1" noAdjustHandles="1" noChangeArrowheads="1" noChangeShapeType="1" noTextEdit="1"/>
                </p:cNvSpPr>
                <p:nvPr/>
              </p:nvSpPr>
              <p:spPr>
                <a:xfrm>
                  <a:off x="11437276" y="3532126"/>
                  <a:ext cx="130933" cy="138499"/>
                </a:xfrm>
                <a:prstGeom prst="rect">
                  <a:avLst/>
                </a:prstGeom>
                <a:blipFill>
                  <a:blip r:embed="rId7"/>
                  <a:stretch>
                    <a:fillRect l="-13636" b="-130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2" name="CuadroTexto 71">
                  <a:extLst>
                    <a:ext uri="{FF2B5EF4-FFF2-40B4-BE49-F238E27FC236}">
                      <a16:creationId xmlns:a16="http://schemas.microsoft.com/office/drawing/2014/main" id="{D0F0A64E-5CA7-4514-818B-5BB15D968353}"/>
                    </a:ext>
                  </a:extLst>
                </p:cNvPr>
                <p:cNvSpPr txBox="1"/>
                <p:nvPr/>
              </p:nvSpPr>
              <p:spPr>
                <a:xfrm>
                  <a:off x="11437276" y="2513147"/>
                  <a:ext cx="8104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𝜏</m:t>
                        </m:r>
                      </m:oMath>
                    </m:oMathPara>
                  </a14:m>
                  <a:endParaRPr lang="es-CO" sz="900" dirty="0"/>
                </a:p>
              </p:txBody>
            </p:sp>
          </mc:Choice>
          <mc:Fallback>
            <p:sp>
              <p:nvSpPr>
                <p:cNvPr id="72" name="CuadroTexto 71">
                  <a:extLst>
                    <a:ext uri="{FF2B5EF4-FFF2-40B4-BE49-F238E27FC236}">
                      <a16:creationId xmlns:a16="http://schemas.microsoft.com/office/drawing/2014/main" id="{D0F0A64E-5CA7-4514-818B-5BB15D968353}"/>
                    </a:ext>
                  </a:extLst>
                </p:cNvPr>
                <p:cNvSpPr txBox="1">
                  <a:spLocks noRot="1" noChangeAspect="1" noMove="1" noResize="1" noEditPoints="1" noAdjustHandles="1" noChangeArrowheads="1" noChangeShapeType="1" noTextEdit="1"/>
                </p:cNvSpPr>
                <p:nvPr/>
              </p:nvSpPr>
              <p:spPr>
                <a:xfrm>
                  <a:off x="11437276" y="2513147"/>
                  <a:ext cx="81048" cy="138499"/>
                </a:xfrm>
                <a:prstGeom prst="rect">
                  <a:avLst/>
                </a:prstGeom>
                <a:blipFill>
                  <a:blip r:embed="rId8"/>
                  <a:stretch>
                    <a:fillRect l="-23077" r="-2307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3" name="CuadroTexto 72">
                  <a:extLst>
                    <a:ext uri="{FF2B5EF4-FFF2-40B4-BE49-F238E27FC236}">
                      <a16:creationId xmlns:a16="http://schemas.microsoft.com/office/drawing/2014/main" id="{8B35BEB1-96F1-4910-BA2D-28DA1D39D893}"/>
                    </a:ext>
                  </a:extLst>
                </p:cNvPr>
                <p:cNvSpPr txBox="1"/>
                <p:nvPr/>
              </p:nvSpPr>
              <p:spPr>
                <a:xfrm>
                  <a:off x="11437276" y="1659821"/>
                  <a:ext cx="341568" cy="1495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𝑖</m:t>
                            </m:r>
                            <m:r>
                              <a:rPr lang="es-ES" sz="900" b="0" i="1" smtClean="0">
                                <a:latin typeface="Cambria Math" panose="02040503050406030204" pitchFamily="18" charset="0"/>
                              </a:rPr>
                              <m:t>0</m:t>
                            </m:r>
                          </m:e>
                          <m:sub>
                            <m:r>
                              <a:rPr lang="es-ES" sz="900" b="0" i="1" smtClean="0">
                                <a:latin typeface="Cambria Math" panose="02040503050406030204" pitchFamily="18" charset="0"/>
                              </a:rPr>
                              <m:t>𝑐</m:t>
                            </m:r>
                            <m:r>
                              <a:rPr lang="es-ES" sz="900" b="0" i="1" smtClean="0">
                                <a:latin typeface="Cambria Math" panose="02040503050406030204" pitchFamily="18" charset="0"/>
                              </a:rPr>
                              <m:t> </m:t>
                            </m:r>
                            <m:r>
                              <a:rPr lang="es-ES" sz="900" b="0" i="1" smtClean="0">
                                <a:latin typeface="Cambria Math" panose="02040503050406030204" pitchFamily="18" charset="0"/>
                              </a:rPr>
                              <m:t>𝑟𝑒𝑓</m:t>
                            </m:r>
                          </m:sub>
                        </m:sSub>
                      </m:oMath>
                    </m:oMathPara>
                  </a14:m>
                  <a:endParaRPr lang="es-CO" sz="900" dirty="0"/>
                </a:p>
              </p:txBody>
            </p:sp>
          </mc:Choice>
          <mc:Fallback>
            <p:sp>
              <p:nvSpPr>
                <p:cNvPr id="73" name="CuadroTexto 72">
                  <a:extLst>
                    <a:ext uri="{FF2B5EF4-FFF2-40B4-BE49-F238E27FC236}">
                      <a16:creationId xmlns:a16="http://schemas.microsoft.com/office/drawing/2014/main" id="{8B35BEB1-96F1-4910-BA2D-28DA1D39D893}"/>
                    </a:ext>
                  </a:extLst>
                </p:cNvPr>
                <p:cNvSpPr txBox="1">
                  <a:spLocks noRot="1" noChangeAspect="1" noMove="1" noResize="1" noEditPoints="1" noAdjustHandles="1" noChangeArrowheads="1" noChangeShapeType="1" noTextEdit="1"/>
                </p:cNvSpPr>
                <p:nvPr/>
              </p:nvSpPr>
              <p:spPr>
                <a:xfrm>
                  <a:off x="11437276" y="1659821"/>
                  <a:ext cx="341568" cy="149528"/>
                </a:xfrm>
                <a:prstGeom prst="rect">
                  <a:avLst/>
                </a:prstGeom>
                <a:blipFill>
                  <a:blip r:embed="rId9"/>
                  <a:stretch>
                    <a:fillRect l="-8929" r="-5357" b="-28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4" name="CuadroTexto 73">
                  <a:extLst>
                    <a:ext uri="{FF2B5EF4-FFF2-40B4-BE49-F238E27FC236}">
                      <a16:creationId xmlns:a16="http://schemas.microsoft.com/office/drawing/2014/main" id="{819EECB1-20C0-460B-9742-AEF6DC9F2AA1}"/>
                    </a:ext>
                  </a:extLst>
                </p:cNvPr>
                <p:cNvSpPr txBox="1"/>
                <p:nvPr/>
              </p:nvSpPr>
              <p:spPr>
                <a:xfrm>
                  <a:off x="11437276" y="3185944"/>
                  <a:ext cx="18780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𝜅</m:t>
                            </m:r>
                          </m:e>
                          <m:sub>
                            <m:r>
                              <a:rPr lang="es-ES" sz="900" b="0" i="1" smtClean="0">
                                <a:latin typeface="Cambria Math" panose="02040503050406030204" pitchFamily="18" charset="0"/>
                              </a:rPr>
                              <m:t>𝑐𝑜</m:t>
                            </m:r>
                          </m:sub>
                        </m:sSub>
                      </m:oMath>
                    </m:oMathPara>
                  </a14:m>
                  <a:endParaRPr lang="es-CO" sz="900" dirty="0"/>
                </a:p>
              </p:txBody>
            </p:sp>
          </mc:Choice>
          <mc:Fallback>
            <p:sp>
              <p:nvSpPr>
                <p:cNvPr id="74" name="CuadroTexto 73">
                  <a:extLst>
                    <a:ext uri="{FF2B5EF4-FFF2-40B4-BE49-F238E27FC236}">
                      <a16:creationId xmlns:a16="http://schemas.microsoft.com/office/drawing/2014/main" id="{819EECB1-20C0-460B-9742-AEF6DC9F2AA1}"/>
                    </a:ext>
                  </a:extLst>
                </p:cNvPr>
                <p:cNvSpPr txBox="1">
                  <a:spLocks noRot="1" noChangeAspect="1" noMove="1" noResize="1" noEditPoints="1" noAdjustHandles="1" noChangeArrowheads="1" noChangeShapeType="1" noTextEdit="1"/>
                </p:cNvSpPr>
                <p:nvPr/>
              </p:nvSpPr>
              <p:spPr>
                <a:xfrm>
                  <a:off x="11437276" y="3185944"/>
                  <a:ext cx="187808" cy="138499"/>
                </a:xfrm>
                <a:prstGeom prst="rect">
                  <a:avLst/>
                </a:prstGeom>
                <a:blipFill>
                  <a:blip r:embed="rId10"/>
                  <a:stretch>
                    <a:fillRect l="-9677" b="-1818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5" name="CuadroTexto 74">
                  <a:extLst>
                    <a:ext uri="{FF2B5EF4-FFF2-40B4-BE49-F238E27FC236}">
                      <a16:creationId xmlns:a16="http://schemas.microsoft.com/office/drawing/2014/main" id="{51782BE4-BE60-4572-9E91-925AA10C883A}"/>
                    </a:ext>
                  </a:extLst>
                </p:cNvPr>
                <p:cNvSpPr txBox="1"/>
                <p:nvPr/>
              </p:nvSpPr>
              <p:spPr>
                <a:xfrm>
                  <a:off x="11437276" y="2314318"/>
                  <a:ext cx="138949"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𝜅</m:t>
                            </m:r>
                          </m:e>
                          <m:sub>
                            <m:r>
                              <a:rPr lang="es-ES" sz="900" b="0" i="1" smtClean="0">
                                <a:latin typeface="Cambria Math" panose="02040503050406030204" pitchFamily="18" charset="0"/>
                              </a:rPr>
                              <m:t>𝑐</m:t>
                            </m:r>
                          </m:sub>
                        </m:sSub>
                      </m:oMath>
                    </m:oMathPara>
                  </a14:m>
                  <a:endParaRPr lang="es-CO" sz="900" dirty="0"/>
                </a:p>
              </p:txBody>
            </p:sp>
          </mc:Choice>
          <mc:Fallback>
            <p:sp>
              <p:nvSpPr>
                <p:cNvPr id="75" name="CuadroTexto 74">
                  <a:extLst>
                    <a:ext uri="{FF2B5EF4-FFF2-40B4-BE49-F238E27FC236}">
                      <a16:creationId xmlns:a16="http://schemas.microsoft.com/office/drawing/2014/main" id="{51782BE4-BE60-4572-9E91-925AA10C883A}"/>
                    </a:ext>
                  </a:extLst>
                </p:cNvPr>
                <p:cNvSpPr txBox="1">
                  <a:spLocks noRot="1" noChangeAspect="1" noMove="1" noResize="1" noEditPoints="1" noAdjustHandles="1" noChangeArrowheads="1" noChangeShapeType="1" noTextEdit="1"/>
                </p:cNvSpPr>
                <p:nvPr/>
              </p:nvSpPr>
              <p:spPr>
                <a:xfrm>
                  <a:off x="11437276" y="2314318"/>
                  <a:ext cx="138949" cy="138499"/>
                </a:xfrm>
                <a:prstGeom prst="rect">
                  <a:avLst/>
                </a:prstGeom>
                <a:blipFill>
                  <a:blip r:embed="rId11"/>
                  <a:stretch>
                    <a:fillRect l="-13043" b="-1818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6" name="CuadroTexto 75">
                  <a:extLst>
                    <a:ext uri="{FF2B5EF4-FFF2-40B4-BE49-F238E27FC236}">
                      <a16:creationId xmlns:a16="http://schemas.microsoft.com/office/drawing/2014/main" id="{9CB5665E-192E-4CB3-BF52-82DB1225B36B}"/>
                    </a:ext>
                  </a:extLst>
                </p:cNvPr>
                <p:cNvSpPr txBox="1"/>
                <p:nvPr/>
              </p:nvSpPr>
              <p:spPr>
                <a:xfrm>
                  <a:off x="11437276" y="1987912"/>
                  <a:ext cx="215252"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𝑇𝑓𝑐</m:t>
                        </m:r>
                      </m:oMath>
                    </m:oMathPara>
                  </a14:m>
                  <a:endParaRPr lang="es-CO" sz="900" dirty="0"/>
                </a:p>
              </p:txBody>
            </p:sp>
          </mc:Choice>
          <mc:Fallback>
            <p:sp>
              <p:nvSpPr>
                <p:cNvPr id="76" name="CuadroTexto 75">
                  <a:extLst>
                    <a:ext uri="{FF2B5EF4-FFF2-40B4-BE49-F238E27FC236}">
                      <a16:creationId xmlns:a16="http://schemas.microsoft.com/office/drawing/2014/main" id="{9CB5665E-192E-4CB3-BF52-82DB1225B36B}"/>
                    </a:ext>
                  </a:extLst>
                </p:cNvPr>
                <p:cNvSpPr txBox="1">
                  <a:spLocks noRot="1" noChangeAspect="1" noMove="1" noResize="1" noEditPoints="1" noAdjustHandles="1" noChangeArrowheads="1" noChangeShapeType="1" noTextEdit="1"/>
                </p:cNvSpPr>
                <p:nvPr/>
              </p:nvSpPr>
              <p:spPr>
                <a:xfrm>
                  <a:off x="11437276" y="1987912"/>
                  <a:ext cx="215252" cy="138499"/>
                </a:xfrm>
                <a:prstGeom prst="rect">
                  <a:avLst/>
                </a:prstGeom>
                <a:blipFill>
                  <a:blip r:embed="rId12"/>
                  <a:stretch>
                    <a:fillRect l="-19444" r="-13889" b="-347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7" name="CuadroTexto 76">
                  <a:extLst>
                    <a:ext uri="{FF2B5EF4-FFF2-40B4-BE49-F238E27FC236}">
                      <a16:creationId xmlns:a16="http://schemas.microsoft.com/office/drawing/2014/main" id="{08EABFB4-F44A-40CE-9383-59D69C84E4E1}"/>
                    </a:ext>
                  </a:extLst>
                </p:cNvPr>
                <p:cNvSpPr txBox="1"/>
                <p:nvPr/>
              </p:nvSpPr>
              <p:spPr>
                <a:xfrm>
                  <a:off x="11437276" y="3024658"/>
                  <a:ext cx="143116"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𝑆𝑐</m:t>
                        </m:r>
                      </m:oMath>
                    </m:oMathPara>
                  </a14:m>
                  <a:endParaRPr lang="es-CO" sz="900" dirty="0"/>
                </a:p>
              </p:txBody>
            </p:sp>
          </mc:Choice>
          <mc:Fallback>
            <p:sp>
              <p:nvSpPr>
                <p:cNvPr id="77" name="CuadroTexto 76">
                  <a:extLst>
                    <a:ext uri="{FF2B5EF4-FFF2-40B4-BE49-F238E27FC236}">
                      <a16:creationId xmlns:a16="http://schemas.microsoft.com/office/drawing/2014/main" id="{08EABFB4-F44A-40CE-9383-59D69C84E4E1}"/>
                    </a:ext>
                  </a:extLst>
                </p:cNvPr>
                <p:cNvSpPr txBox="1">
                  <a:spLocks noRot="1" noChangeAspect="1" noMove="1" noResize="1" noEditPoints="1" noAdjustHandles="1" noChangeArrowheads="1" noChangeShapeType="1" noTextEdit="1"/>
                </p:cNvSpPr>
                <p:nvPr/>
              </p:nvSpPr>
              <p:spPr>
                <a:xfrm>
                  <a:off x="11437276" y="3024658"/>
                  <a:ext cx="143116" cy="138499"/>
                </a:xfrm>
                <a:prstGeom prst="rect">
                  <a:avLst/>
                </a:prstGeom>
                <a:blipFill>
                  <a:blip r:embed="rId13"/>
                  <a:stretch>
                    <a:fillRect l="-20833" r="-16667" b="-869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8" name="CuadroTexto 77">
                  <a:extLst>
                    <a:ext uri="{FF2B5EF4-FFF2-40B4-BE49-F238E27FC236}">
                      <a16:creationId xmlns:a16="http://schemas.microsoft.com/office/drawing/2014/main" id="{19E004F8-4CFA-455C-91BA-3E078071AF58}"/>
                    </a:ext>
                  </a:extLst>
                </p:cNvPr>
                <p:cNvSpPr txBox="1"/>
                <p:nvPr/>
              </p:nvSpPr>
              <p:spPr>
                <a:xfrm>
                  <a:off x="11437276" y="1465071"/>
                  <a:ext cx="18319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𝑖𝑓𝑐</m:t>
                        </m:r>
                      </m:oMath>
                    </m:oMathPara>
                  </a14:m>
                  <a:endParaRPr lang="es-CO" sz="900" dirty="0"/>
                </a:p>
              </p:txBody>
            </p:sp>
          </mc:Choice>
          <mc:Fallback>
            <p:sp>
              <p:nvSpPr>
                <p:cNvPr id="78" name="CuadroTexto 77">
                  <a:extLst>
                    <a:ext uri="{FF2B5EF4-FFF2-40B4-BE49-F238E27FC236}">
                      <a16:creationId xmlns:a16="http://schemas.microsoft.com/office/drawing/2014/main" id="{19E004F8-4CFA-455C-91BA-3E078071AF58}"/>
                    </a:ext>
                  </a:extLst>
                </p:cNvPr>
                <p:cNvSpPr txBox="1">
                  <a:spLocks noRot="1" noChangeAspect="1" noMove="1" noResize="1" noEditPoints="1" noAdjustHandles="1" noChangeArrowheads="1" noChangeShapeType="1" noTextEdit="1"/>
                </p:cNvSpPr>
                <p:nvPr/>
              </p:nvSpPr>
              <p:spPr>
                <a:xfrm>
                  <a:off x="11437276" y="1465071"/>
                  <a:ext cx="183191" cy="138499"/>
                </a:xfrm>
                <a:prstGeom prst="rect">
                  <a:avLst/>
                </a:prstGeom>
                <a:blipFill>
                  <a:blip r:embed="rId14"/>
                  <a:stretch>
                    <a:fillRect l="-23333" r="-20000" b="-347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9" name="CuadroTexto 78">
                  <a:extLst>
                    <a:ext uri="{FF2B5EF4-FFF2-40B4-BE49-F238E27FC236}">
                      <a16:creationId xmlns:a16="http://schemas.microsoft.com/office/drawing/2014/main" id="{FFEC09D3-8F7F-40BC-AF09-8E88D2974F00}"/>
                    </a:ext>
                  </a:extLst>
                </p:cNvPr>
                <p:cNvSpPr txBox="1"/>
                <p:nvPr/>
              </p:nvSpPr>
              <p:spPr>
                <a:xfrm>
                  <a:off x="11437276" y="3715486"/>
                  <a:ext cx="8592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𝑒</m:t>
                        </m:r>
                      </m:oMath>
                    </m:oMathPara>
                  </a14:m>
                  <a:endParaRPr lang="es-CO" sz="900" dirty="0"/>
                </a:p>
              </p:txBody>
            </p:sp>
          </mc:Choice>
          <mc:Fallback>
            <p:sp>
              <p:nvSpPr>
                <p:cNvPr id="79" name="CuadroTexto 78">
                  <a:extLst>
                    <a:ext uri="{FF2B5EF4-FFF2-40B4-BE49-F238E27FC236}">
                      <a16:creationId xmlns:a16="http://schemas.microsoft.com/office/drawing/2014/main" id="{FFEC09D3-8F7F-40BC-AF09-8E88D2974F00}"/>
                    </a:ext>
                  </a:extLst>
                </p:cNvPr>
                <p:cNvSpPr txBox="1">
                  <a:spLocks noRot="1" noChangeAspect="1" noMove="1" noResize="1" noEditPoints="1" noAdjustHandles="1" noChangeArrowheads="1" noChangeShapeType="1" noTextEdit="1"/>
                </p:cNvSpPr>
                <p:nvPr/>
              </p:nvSpPr>
              <p:spPr>
                <a:xfrm>
                  <a:off x="11437276" y="3715486"/>
                  <a:ext cx="85921" cy="138499"/>
                </a:xfrm>
                <a:prstGeom prst="rect">
                  <a:avLst/>
                </a:prstGeom>
                <a:blipFill>
                  <a:blip r:embed="rId15"/>
                  <a:stretch>
                    <a:fillRect l="-21429" r="-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0" name="CuadroTexto 79">
                  <a:extLst>
                    <a:ext uri="{FF2B5EF4-FFF2-40B4-BE49-F238E27FC236}">
                      <a16:creationId xmlns:a16="http://schemas.microsoft.com/office/drawing/2014/main" id="{96DEB9C8-A95D-43E7-A20A-2875FA82CA0C}"/>
                    </a:ext>
                  </a:extLst>
                </p:cNvPr>
                <p:cNvSpPr txBox="1"/>
                <p:nvPr/>
              </p:nvSpPr>
              <p:spPr>
                <a:xfrm>
                  <a:off x="11437276" y="2157977"/>
                  <a:ext cx="159659"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𝑅𝑒</m:t>
                        </m:r>
                      </m:oMath>
                    </m:oMathPara>
                  </a14:m>
                  <a:endParaRPr lang="es-CO" sz="900" dirty="0"/>
                </a:p>
              </p:txBody>
            </p:sp>
          </mc:Choice>
          <mc:Fallback>
            <p:sp>
              <p:nvSpPr>
                <p:cNvPr id="80" name="CuadroTexto 79">
                  <a:extLst>
                    <a:ext uri="{FF2B5EF4-FFF2-40B4-BE49-F238E27FC236}">
                      <a16:creationId xmlns:a16="http://schemas.microsoft.com/office/drawing/2014/main" id="{96DEB9C8-A95D-43E7-A20A-2875FA82CA0C}"/>
                    </a:ext>
                  </a:extLst>
                </p:cNvPr>
                <p:cNvSpPr txBox="1">
                  <a:spLocks noRot="1" noChangeAspect="1" noMove="1" noResize="1" noEditPoints="1" noAdjustHandles="1" noChangeArrowheads="1" noChangeShapeType="1" noTextEdit="1"/>
                </p:cNvSpPr>
                <p:nvPr/>
              </p:nvSpPr>
              <p:spPr>
                <a:xfrm>
                  <a:off x="11437276" y="2157977"/>
                  <a:ext cx="159659" cy="138499"/>
                </a:xfrm>
                <a:prstGeom prst="rect">
                  <a:avLst/>
                </a:prstGeom>
                <a:blipFill>
                  <a:blip r:embed="rId16"/>
                  <a:stretch>
                    <a:fillRect l="-19231" r="-15385" b="-8696"/>
                  </a:stretch>
                </a:blipFill>
              </p:spPr>
              <p:txBody>
                <a:bodyPr/>
                <a:lstStyle/>
                <a:p>
                  <a:r>
                    <a:rPr lang="es-CO">
                      <a:noFill/>
                    </a:rPr>
                    <a:t> </a:t>
                  </a:r>
                </a:p>
              </p:txBody>
            </p:sp>
          </mc:Fallback>
        </mc:AlternateContent>
      </p:grpSp>
      <p:sp>
        <p:nvSpPr>
          <p:cNvPr id="94" name="CuadroTexto 93">
            <a:extLst>
              <a:ext uri="{FF2B5EF4-FFF2-40B4-BE49-F238E27FC236}">
                <a16:creationId xmlns:a16="http://schemas.microsoft.com/office/drawing/2014/main" id="{9756B309-B3AC-40A3-BAF9-18E6F1EA4ADE}"/>
              </a:ext>
            </a:extLst>
          </p:cNvPr>
          <p:cNvSpPr txBox="1"/>
          <p:nvPr/>
        </p:nvSpPr>
        <p:spPr>
          <a:xfrm>
            <a:off x="954648" y="3147689"/>
            <a:ext cx="2047322" cy="461665"/>
          </a:xfrm>
          <a:prstGeom prst="rect">
            <a:avLst/>
          </a:prstGeom>
          <a:noFill/>
        </p:spPr>
        <p:txBody>
          <a:bodyPr wrap="square">
            <a:spAutoFit/>
          </a:bodyPr>
          <a:lstStyle/>
          <a:p>
            <a:r>
              <a:rPr lang="en-US" sz="1200" b="1" dirty="0">
                <a:solidFill>
                  <a:prstClr val="black"/>
                </a:solidFill>
                <a:latin typeface="Source Sans Pro" panose="020B0503030403020204" pitchFamily="34" charset="0"/>
                <a:ea typeface="Source Sans Pro" panose="020B0503030403020204" pitchFamily="34" charset="0"/>
              </a:rPr>
              <a:t>Union of all selected features across regions</a:t>
            </a:r>
            <a:endParaRPr lang="es-CO" sz="1200" b="1" dirty="0">
              <a:solidFill>
                <a:prstClr val="black"/>
              </a:solidFill>
              <a:latin typeface="Source Sans Pro" panose="020B0503030403020204" pitchFamily="34" charset="0"/>
              <a:ea typeface="Source Sans Pro" panose="020B0503030403020204" pitchFamily="34" charset="0"/>
            </a:endParaRPr>
          </a:p>
        </p:txBody>
      </p:sp>
      <p:grpSp>
        <p:nvGrpSpPr>
          <p:cNvPr id="10" name="Grupo 9">
            <a:extLst>
              <a:ext uri="{FF2B5EF4-FFF2-40B4-BE49-F238E27FC236}">
                <a16:creationId xmlns:a16="http://schemas.microsoft.com/office/drawing/2014/main" id="{A9E6477E-1FA1-42A1-B02E-24DEBB8D04D7}"/>
              </a:ext>
            </a:extLst>
          </p:cNvPr>
          <p:cNvGrpSpPr/>
          <p:nvPr/>
        </p:nvGrpSpPr>
        <p:grpSpPr>
          <a:xfrm>
            <a:off x="1000800" y="3866430"/>
            <a:ext cx="1926849" cy="2701953"/>
            <a:chOff x="862627" y="4310410"/>
            <a:chExt cx="1926849" cy="2701953"/>
          </a:xfrm>
        </p:grpSpPr>
        <p:sp>
          <p:nvSpPr>
            <p:cNvPr id="82" name="CuadroTexto 81">
              <a:extLst>
                <a:ext uri="{FF2B5EF4-FFF2-40B4-BE49-F238E27FC236}">
                  <a16:creationId xmlns:a16="http://schemas.microsoft.com/office/drawing/2014/main" id="{06B61E93-3C3B-4C0F-AFBC-D5AA3D4BA614}"/>
                </a:ext>
              </a:extLst>
            </p:cNvPr>
            <p:cNvSpPr txBox="1"/>
            <p:nvPr/>
          </p:nvSpPr>
          <p:spPr>
            <a:xfrm>
              <a:off x="862627" y="4334707"/>
              <a:ext cx="1926849" cy="2677656"/>
            </a:xfrm>
            <a:prstGeom prst="rect">
              <a:avLst/>
            </a:prstGeom>
            <a:noFill/>
          </p:spPr>
          <p:txBody>
            <a:bodyPr wrap="square">
              <a:spAutoFit/>
            </a:bodyPr>
            <a:lstStyle/>
            <a:p>
              <a:pPr marL="285750" indent="-285750" fontAlgn="base">
                <a:buFontTx/>
                <a:buChar char="→"/>
                <a:defRPr/>
              </a:pPr>
              <a:r>
                <a:rPr lang="es-CO" sz="1400" dirty="0" err="1">
                  <a:solidFill>
                    <a:srgbClr val="242121"/>
                  </a:solidFill>
                  <a:latin typeface="Source Sans Pro" panose="020B0503030403020204" pitchFamily="34" charset="0"/>
                </a:rPr>
                <a:t>Pa_des</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err="1">
                  <a:solidFill>
                    <a:srgbClr val="242121"/>
                  </a:solidFill>
                  <a:latin typeface="Source Sans Pro" panose="020B0503030403020204" pitchFamily="34" charset="0"/>
                </a:rPr>
                <a:t>Phi_c_des</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a:solidFill>
                    <a:srgbClr val="242121"/>
                  </a:solidFill>
                  <a:latin typeface="Source Sans Pro" panose="020B0503030403020204" pitchFamily="34" charset="0"/>
                </a:rPr>
                <a:t>Re</a:t>
              </a:r>
            </a:p>
            <a:p>
              <a:pPr marL="285750" indent="-285750" fontAlgn="base">
                <a:buFontTx/>
                <a:buChar char="→"/>
                <a:defRPr/>
              </a:pPr>
              <a:r>
                <a:rPr lang="es-CO" sz="1400" dirty="0">
                  <a:solidFill>
                    <a:srgbClr val="242121"/>
                  </a:solidFill>
                  <a:latin typeface="Source Sans Pro" panose="020B0503030403020204" pitchFamily="34" charset="0"/>
                </a:rPr>
                <a:t>SC</a:t>
              </a:r>
            </a:p>
            <a:p>
              <a:pPr marL="285750" indent="-285750" fontAlgn="base">
                <a:buFontTx/>
                <a:buChar char="→"/>
                <a:defRPr/>
              </a:pPr>
              <a:r>
                <a:rPr lang="es-CO" sz="1400" dirty="0" err="1">
                  <a:solidFill>
                    <a:srgbClr val="242121"/>
                  </a:solidFill>
                  <a:latin typeface="Source Sans Pro" panose="020B0503030403020204" pitchFamily="34" charset="0"/>
                </a:rPr>
                <a:t>Tfc</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err="1">
                  <a:solidFill>
                    <a:srgbClr val="242121"/>
                  </a:solidFill>
                  <a:latin typeface="Source Sans Pro" panose="020B0503030403020204" pitchFamily="34" charset="0"/>
                </a:rPr>
                <a:t>epsilon_mc</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a:solidFill>
                    <a:srgbClr val="242121"/>
                  </a:solidFill>
                  <a:latin typeface="Source Sans Pro" panose="020B0503030403020204" pitchFamily="34" charset="0"/>
                </a:rPr>
                <a:t>i0_c_ref</a:t>
              </a:r>
            </a:p>
            <a:p>
              <a:pPr marL="285750" indent="-285750" fontAlgn="base">
                <a:buFontTx/>
                <a:buChar char="→"/>
                <a:defRPr/>
              </a:pPr>
              <a:r>
                <a:rPr lang="es-CO" sz="1400" dirty="0" err="1">
                  <a:solidFill>
                    <a:srgbClr val="242121"/>
                  </a:solidFill>
                  <a:latin typeface="Source Sans Pro" panose="020B0503030403020204" pitchFamily="34" charset="0"/>
                </a:rPr>
                <a:t>Ifc</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err="1">
                  <a:solidFill>
                    <a:srgbClr val="242121"/>
                  </a:solidFill>
                  <a:latin typeface="Source Sans Pro" panose="020B0503030403020204" pitchFamily="34" charset="0"/>
                </a:rPr>
                <a:t>kappa_c</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err="1">
                  <a:solidFill>
                    <a:srgbClr val="242121"/>
                  </a:solidFill>
                  <a:latin typeface="Source Sans Pro" panose="020B0503030403020204" pitchFamily="34" charset="0"/>
                </a:rPr>
                <a:t>kappa_co</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a:solidFill>
                    <a:srgbClr val="242121"/>
                  </a:solidFill>
                  <a:latin typeface="Source Sans Pro" panose="020B0503030403020204" pitchFamily="34" charset="0"/>
                </a:rPr>
                <a:t>Tau</a:t>
              </a:r>
            </a:p>
            <a:p>
              <a:pPr fontAlgn="base">
                <a:defRPr/>
              </a:pPr>
              <a:endParaRPr lang="es-CO" sz="1400" dirty="0">
                <a:solidFill>
                  <a:srgbClr val="242121"/>
                </a:solidFill>
                <a:latin typeface="Source Sans Pro" panose="020B0503030403020204" pitchFamily="34" charset="0"/>
              </a:endParaRPr>
            </a:p>
          </p:txBody>
        </p:sp>
        <p:sp>
          <p:nvSpPr>
            <p:cNvPr id="83" name="Rectángulo 82">
              <a:extLst>
                <a:ext uri="{FF2B5EF4-FFF2-40B4-BE49-F238E27FC236}">
                  <a16:creationId xmlns:a16="http://schemas.microsoft.com/office/drawing/2014/main" id="{16CF3367-62F6-4A62-964E-FFA8106289C2}"/>
                </a:ext>
              </a:extLst>
            </p:cNvPr>
            <p:cNvSpPr/>
            <p:nvPr/>
          </p:nvSpPr>
          <p:spPr>
            <a:xfrm>
              <a:off x="1107154" y="4310410"/>
              <a:ext cx="1127760" cy="2485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84" name="CuadroTexto 83">
                  <a:extLst>
                    <a:ext uri="{FF2B5EF4-FFF2-40B4-BE49-F238E27FC236}">
                      <a16:creationId xmlns:a16="http://schemas.microsoft.com/office/drawing/2014/main" id="{6E55A019-51F3-4D01-BB19-F43D22DBD5AD}"/>
                    </a:ext>
                  </a:extLst>
                </p:cNvPr>
                <p:cNvSpPr txBox="1"/>
                <p:nvPr/>
              </p:nvSpPr>
              <p:spPr>
                <a:xfrm>
                  <a:off x="1130455" y="4401670"/>
                  <a:ext cx="41267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𝑃𝑎</m:t>
                            </m:r>
                          </m:e>
                          <m:sub>
                            <m:r>
                              <a:rPr lang="es-ES" sz="1200" b="0" i="1" smtClean="0">
                                <a:latin typeface="Cambria Math" panose="02040503050406030204" pitchFamily="18" charset="0"/>
                              </a:rPr>
                              <m:t>𝑑𝑒𝑠</m:t>
                            </m:r>
                          </m:sub>
                        </m:sSub>
                      </m:oMath>
                    </m:oMathPara>
                  </a14:m>
                  <a:endParaRPr lang="es-CO" sz="1200" dirty="0"/>
                </a:p>
              </p:txBody>
            </p:sp>
          </mc:Choice>
          <mc:Fallback>
            <p:sp>
              <p:nvSpPr>
                <p:cNvPr id="84" name="CuadroTexto 83">
                  <a:extLst>
                    <a:ext uri="{FF2B5EF4-FFF2-40B4-BE49-F238E27FC236}">
                      <a16:creationId xmlns:a16="http://schemas.microsoft.com/office/drawing/2014/main" id="{6E55A019-51F3-4D01-BB19-F43D22DBD5AD}"/>
                    </a:ext>
                  </a:extLst>
                </p:cNvPr>
                <p:cNvSpPr txBox="1">
                  <a:spLocks noRot="1" noChangeAspect="1" noMove="1" noResize="1" noEditPoints="1" noAdjustHandles="1" noChangeArrowheads="1" noChangeShapeType="1" noTextEdit="1"/>
                </p:cNvSpPr>
                <p:nvPr/>
              </p:nvSpPr>
              <p:spPr>
                <a:xfrm>
                  <a:off x="1130455" y="4401670"/>
                  <a:ext cx="412677" cy="184666"/>
                </a:xfrm>
                <a:prstGeom prst="rect">
                  <a:avLst/>
                </a:prstGeom>
                <a:blipFill>
                  <a:blip r:embed="rId17"/>
                  <a:stretch>
                    <a:fillRect l="-8824" r="-4412" b="-1290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5" name="CuadroTexto 84">
                  <a:extLst>
                    <a:ext uri="{FF2B5EF4-FFF2-40B4-BE49-F238E27FC236}">
                      <a16:creationId xmlns:a16="http://schemas.microsoft.com/office/drawing/2014/main" id="{B327548F-1D74-41EB-9ECD-CB7938F51C19}"/>
                    </a:ext>
                  </a:extLst>
                </p:cNvPr>
                <p:cNvSpPr txBox="1"/>
                <p:nvPr/>
              </p:nvSpPr>
              <p:spPr>
                <a:xfrm>
                  <a:off x="1130455" y="4589648"/>
                  <a:ext cx="39344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𝜙</m:t>
                            </m:r>
                          </m:e>
                          <m:sub>
                            <m:r>
                              <a:rPr lang="es-ES" sz="1200" b="0" i="1" smtClean="0">
                                <a:latin typeface="Cambria Math" panose="02040503050406030204" pitchFamily="18" charset="0"/>
                              </a:rPr>
                              <m:t>𝑐𝑑𝑒𝑠</m:t>
                            </m:r>
                          </m:sub>
                        </m:sSub>
                      </m:oMath>
                    </m:oMathPara>
                  </a14:m>
                  <a:endParaRPr lang="es-CO" sz="1200" dirty="0"/>
                </a:p>
              </p:txBody>
            </p:sp>
          </mc:Choice>
          <mc:Fallback>
            <p:sp>
              <p:nvSpPr>
                <p:cNvPr id="85" name="CuadroTexto 84">
                  <a:extLst>
                    <a:ext uri="{FF2B5EF4-FFF2-40B4-BE49-F238E27FC236}">
                      <a16:creationId xmlns:a16="http://schemas.microsoft.com/office/drawing/2014/main" id="{B327548F-1D74-41EB-9ECD-CB7938F51C19}"/>
                    </a:ext>
                  </a:extLst>
                </p:cNvPr>
                <p:cNvSpPr txBox="1">
                  <a:spLocks noRot="1" noChangeAspect="1" noMove="1" noResize="1" noEditPoints="1" noAdjustHandles="1" noChangeArrowheads="1" noChangeShapeType="1" noTextEdit="1"/>
                </p:cNvSpPr>
                <p:nvPr/>
              </p:nvSpPr>
              <p:spPr>
                <a:xfrm>
                  <a:off x="1130455" y="4589648"/>
                  <a:ext cx="393441" cy="184666"/>
                </a:xfrm>
                <a:prstGeom prst="rect">
                  <a:avLst/>
                </a:prstGeom>
                <a:blipFill>
                  <a:blip r:embed="rId18"/>
                  <a:stretch>
                    <a:fillRect l="-12308" r="-3077" b="-33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6" name="CuadroTexto 85">
                  <a:extLst>
                    <a:ext uri="{FF2B5EF4-FFF2-40B4-BE49-F238E27FC236}">
                      <a16:creationId xmlns:a16="http://schemas.microsoft.com/office/drawing/2014/main" id="{C02A7EC7-EC31-441F-BB37-A89E1DFBB93A}"/>
                    </a:ext>
                  </a:extLst>
                </p:cNvPr>
                <p:cNvSpPr txBox="1"/>
                <p:nvPr/>
              </p:nvSpPr>
              <p:spPr>
                <a:xfrm>
                  <a:off x="1130455" y="5443238"/>
                  <a:ext cx="27930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𝑚𝑐</m:t>
                            </m:r>
                          </m:sub>
                        </m:sSub>
                      </m:oMath>
                    </m:oMathPara>
                  </a14:m>
                  <a:endParaRPr lang="es-CO" sz="1200" dirty="0"/>
                </a:p>
              </p:txBody>
            </p:sp>
          </mc:Choice>
          <mc:Fallback>
            <p:sp>
              <p:nvSpPr>
                <p:cNvPr id="86" name="CuadroTexto 85">
                  <a:extLst>
                    <a:ext uri="{FF2B5EF4-FFF2-40B4-BE49-F238E27FC236}">
                      <a16:creationId xmlns:a16="http://schemas.microsoft.com/office/drawing/2014/main" id="{C02A7EC7-EC31-441F-BB37-A89E1DFBB93A}"/>
                    </a:ext>
                  </a:extLst>
                </p:cNvPr>
                <p:cNvSpPr txBox="1">
                  <a:spLocks noRot="1" noChangeAspect="1" noMove="1" noResize="1" noEditPoints="1" noAdjustHandles="1" noChangeArrowheads="1" noChangeShapeType="1" noTextEdit="1"/>
                </p:cNvSpPr>
                <p:nvPr/>
              </p:nvSpPr>
              <p:spPr>
                <a:xfrm>
                  <a:off x="1130455" y="5443238"/>
                  <a:ext cx="279307" cy="184666"/>
                </a:xfrm>
                <a:prstGeom prst="rect">
                  <a:avLst/>
                </a:prstGeom>
                <a:blipFill>
                  <a:blip r:embed="rId19"/>
                  <a:stretch>
                    <a:fillRect l="-6522" b="-1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7" name="CuadroTexto 86">
                  <a:extLst>
                    <a:ext uri="{FF2B5EF4-FFF2-40B4-BE49-F238E27FC236}">
                      <a16:creationId xmlns:a16="http://schemas.microsoft.com/office/drawing/2014/main" id="{1C235BF9-214B-48D7-B607-2618E4C33C1A}"/>
                    </a:ext>
                  </a:extLst>
                </p:cNvPr>
                <p:cNvSpPr txBox="1"/>
                <p:nvPr/>
              </p:nvSpPr>
              <p:spPr>
                <a:xfrm>
                  <a:off x="1130455" y="6517363"/>
                  <a:ext cx="10913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𝜏</m:t>
                        </m:r>
                      </m:oMath>
                    </m:oMathPara>
                  </a14:m>
                  <a:endParaRPr lang="es-CO" sz="1200" dirty="0"/>
                </a:p>
              </p:txBody>
            </p:sp>
          </mc:Choice>
          <mc:Fallback>
            <p:sp>
              <p:nvSpPr>
                <p:cNvPr id="87" name="CuadroTexto 86">
                  <a:extLst>
                    <a:ext uri="{FF2B5EF4-FFF2-40B4-BE49-F238E27FC236}">
                      <a16:creationId xmlns:a16="http://schemas.microsoft.com/office/drawing/2014/main" id="{1C235BF9-214B-48D7-B607-2618E4C33C1A}"/>
                    </a:ext>
                  </a:extLst>
                </p:cNvPr>
                <p:cNvSpPr txBox="1">
                  <a:spLocks noRot="1" noChangeAspect="1" noMove="1" noResize="1" noEditPoints="1" noAdjustHandles="1" noChangeArrowheads="1" noChangeShapeType="1" noTextEdit="1"/>
                </p:cNvSpPr>
                <p:nvPr/>
              </p:nvSpPr>
              <p:spPr>
                <a:xfrm>
                  <a:off x="1130455" y="6517363"/>
                  <a:ext cx="109132" cy="184666"/>
                </a:xfrm>
                <a:prstGeom prst="rect">
                  <a:avLst/>
                </a:prstGeom>
                <a:blipFill>
                  <a:blip r:embed="rId20"/>
                  <a:stretch>
                    <a:fillRect l="-16667" r="-1666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8" name="CuadroTexto 87">
                  <a:extLst>
                    <a:ext uri="{FF2B5EF4-FFF2-40B4-BE49-F238E27FC236}">
                      <a16:creationId xmlns:a16="http://schemas.microsoft.com/office/drawing/2014/main" id="{7533025A-A0C0-408E-B197-58D076AF1483}"/>
                    </a:ext>
                  </a:extLst>
                </p:cNvPr>
                <p:cNvSpPr txBox="1"/>
                <p:nvPr/>
              </p:nvSpPr>
              <p:spPr>
                <a:xfrm>
                  <a:off x="1130455" y="5667596"/>
                  <a:ext cx="449033" cy="19947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𝑖</m:t>
                            </m:r>
                            <m:r>
                              <a:rPr lang="es-ES" sz="1200" b="0" i="1" smtClean="0">
                                <a:latin typeface="Cambria Math" panose="02040503050406030204" pitchFamily="18" charset="0"/>
                              </a:rPr>
                              <m:t>0</m:t>
                            </m:r>
                          </m:e>
                          <m:sub>
                            <m:r>
                              <a:rPr lang="es-ES" sz="1200" b="0" i="1" smtClean="0">
                                <a:latin typeface="Cambria Math" panose="02040503050406030204" pitchFamily="18" charset="0"/>
                              </a:rPr>
                              <m:t>𝑐</m:t>
                            </m:r>
                            <m:r>
                              <a:rPr lang="es-ES" sz="1200" b="0" i="1" smtClean="0">
                                <a:latin typeface="Cambria Math" panose="02040503050406030204" pitchFamily="18" charset="0"/>
                              </a:rPr>
                              <m:t> </m:t>
                            </m:r>
                            <m:r>
                              <a:rPr lang="es-ES" sz="1200" b="0" i="1" smtClean="0">
                                <a:latin typeface="Cambria Math" panose="02040503050406030204" pitchFamily="18" charset="0"/>
                              </a:rPr>
                              <m:t>𝑟𝑒𝑓</m:t>
                            </m:r>
                          </m:sub>
                        </m:sSub>
                      </m:oMath>
                    </m:oMathPara>
                  </a14:m>
                  <a:endParaRPr lang="es-CO" sz="1200" dirty="0"/>
                </a:p>
              </p:txBody>
            </p:sp>
          </mc:Choice>
          <mc:Fallback>
            <p:sp>
              <p:nvSpPr>
                <p:cNvPr id="88" name="CuadroTexto 87">
                  <a:extLst>
                    <a:ext uri="{FF2B5EF4-FFF2-40B4-BE49-F238E27FC236}">
                      <a16:creationId xmlns:a16="http://schemas.microsoft.com/office/drawing/2014/main" id="{7533025A-A0C0-408E-B197-58D076AF1483}"/>
                    </a:ext>
                  </a:extLst>
                </p:cNvPr>
                <p:cNvSpPr txBox="1">
                  <a:spLocks noRot="1" noChangeAspect="1" noMove="1" noResize="1" noEditPoints="1" noAdjustHandles="1" noChangeArrowheads="1" noChangeShapeType="1" noTextEdit="1"/>
                </p:cNvSpPr>
                <p:nvPr/>
              </p:nvSpPr>
              <p:spPr>
                <a:xfrm>
                  <a:off x="1130455" y="5667596"/>
                  <a:ext cx="449033" cy="199478"/>
                </a:xfrm>
                <a:prstGeom prst="rect">
                  <a:avLst/>
                </a:prstGeom>
                <a:blipFill>
                  <a:blip r:embed="rId21"/>
                  <a:stretch>
                    <a:fillRect l="-8108" r="-5405" b="-2424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9" name="CuadroTexto 88">
                  <a:extLst>
                    <a:ext uri="{FF2B5EF4-FFF2-40B4-BE49-F238E27FC236}">
                      <a16:creationId xmlns:a16="http://schemas.microsoft.com/office/drawing/2014/main" id="{D49CA22A-4205-4055-9A0A-CB2307A15D60}"/>
                    </a:ext>
                  </a:extLst>
                </p:cNvPr>
                <p:cNvSpPr txBox="1"/>
                <p:nvPr/>
              </p:nvSpPr>
              <p:spPr>
                <a:xfrm>
                  <a:off x="1130455" y="6276310"/>
                  <a:ext cx="249299"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𝜅</m:t>
                            </m:r>
                          </m:e>
                          <m:sub>
                            <m:r>
                              <a:rPr lang="es-ES" sz="1200" b="0" i="1" smtClean="0">
                                <a:latin typeface="Cambria Math" panose="02040503050406030204" pitchFamily="18" charset="0"/>
                              </a:rPr>
                              <m:t>𝑐𝑜</m:t>
                            </m:r>
                          </m:sub>
                        </m:sSub>
                      </m:oMath>
                    </m:oMathPara>
                  </a14:m>
                  <a:endParaRPr lang="es-CO" sz="1200" dirty="0"/>
                </a:p>
              </p:txBody>
            </p:sp>
          </mc:Choice>
          <mc:Fallback>
            <p:sp>
              <p:nvSpPr>
                <p:cNvPr id="89" name="CuadroTexto 88">
                  <a:extLst>
                    <a:ext uri="{FF2B5EF4-FFF2-40B4-BE49-F238E27FC236}">
                      <a16:creationId xmlns:a16="http://schemas.microsoft.com/office/drawing/2014/main" id="{D49CA22A-4205-4055-9A0A-CB2307A15D60}"/>
                    </a:ext>
                  </a:extLst>
                </p:cNvPr>
                <p:cNvSpPr txBox="1">
                  <a:spLocks noRot="1" noChangeAspect="1" noMove="1" noResize="1" noEditPoints="1" noAdjustHandles="1" noChangeArrowheads="1" noChangeShapeType="1" noTextEdit="1"/>
                </p:cNvSpPr>
                <p:nvPr/>
              </p:nvSpPr>
              <p:spPr>
                <a:xfrm>
                  <a:off x="1130455" y="6276310"/>
                  <a:ext cx="249299" cy="184666"/>
                </a:xfrm>
                <a:prstGeom prst="rect">
                  <a:avLst/>
                </a:prstGeom>
                <a:blipFill>
                  <a:blip r:embed="rId22"/>
                  <a:stretch>
                    <a:fillRect l="-7317" r="-2439" b="-1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0" name="CuadroTexto 89">
                  <a:extLst>
                    <a:ext uri="{FF2B5EF4-FFF2-40B4-BE49-F238E27FC236}">
                      <a16:creationId xmlns:a16="http://schemas.microsoft.com/office/drawing/2014/main" id="{451E097F-24FF-4647-AF33-D4704E1C9587}"/>
                    </a:ext>
                  </a:extLst>
                </p:cNvPr>
                <p:cNvSpPr txBox="1"/>
                <p:nvPr/>
              </p:nvSpPr>
              <p:spPr>
                <a:xfrm>
                  <a:off x="1130455" y="6080989"/>
                  <a:ext cx="184730"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𝜅</m:t>
                            </m:r>
                          </m:e>
                          <m:sub>
                            <m:r>
                              <a:rPr lang="es-ES" sz="1200" b="0" i="1" smtClean="0">
                                <a:latin typeface="Cambria Math" panose="02040503050406030204" pitchFamily="18" charset="0"/>
                              </a:rPr>
                              <m:t>𝑐</m:t>
                            </m:r>
                          </m:sub>
                        </m:sSub>
                      </m:oMath>
                    </m:oMathPara>
                  </a14:m>
                  <a:endParaRPr lang="es-CO" sz="1200" dirty="0"/>
                </a:p>
              </p:txBody>
            </p:sp>
          </mc:Choice>
          <mc:Fallback>
            <p:sp>
              <p:nvSpPr>
                <p:cNvPr id="90" name="CuadroTexto 89">
                  <a:extLst>
                    <a:ext uri="{FF2B5EF4-FFF2-40B4-BE49-F238E27FC236}">
                      <a16:creationId xmlns:a16="http://schemas.microsoft.com/office/drawing/2014/main" id="{451E097F-24FF-4647-AF33-D4704E1C9587}"/>
                    </a:ext>
                  </a:extLst>
                </p:cNvPr>
                <p:cNvSpPr txBox="1">
                  <a:spLocks noRot="1" noChangeAspect="1" noMove="1" noResize="1" noEditPoints="1" noAdjustHandles="1" noChangeArrowheads="1" noChangeShapeType="1" noTextEdit="1"/>
                </p:cNvSpPr>
                <p:nvPr/>
              </p:nvSpPr>
              <p:spPr>
                <a:xfrm>
                  <a:off x="1130455" y="6080989"/>
                  <a:ext cx="184730" cy="184666"/>
                </a:xfrm>
                <a:prstGeom prst="rect">
                  <a:avLst/>
                </a:prstGeom>
                <a:blipFill>
                  <a:blip r:embed="rId23"/>
                  <a:stretch>
                    <a:fillRect l="-10000" r="-3333" b="-1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1" name="CuadroTexto 90">
                  <a:extLst>
                    <a:ext uri="{FF2B5EF4-FFF2-40B4-BE49-F238E27FC236}">
                      <a16:creationId xmlns:a16="http://schemas.microsoft.com/office/drawing/2014/main" id="{E0FF81DA-59D6-486D-9633-F2E2E398D962}"/>
                    </a:ext>
                  </a:extLst>
                </p:cNvPr>
                <p:cNvSpPr txBox="1"/>
                <p:nvPr/>
              </p:nvSpPr>
              <p:spPr>
                <a:xfrm>
                  <a:off x="1152030" y="5280749"/>
                  <a:ext cx="236156"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𝑇𝑓𝑐</m:t>
                        </m:r>
                      </m:oMath>
                    </m:oMathPara>
                  </a14:m>
                  <a:endParaRPr lang="es-CO" sz="1200" dirty="0"/>
                </a:p>
              </p:txBody>
            </p:sp>
          </mc:Choice>
          <mc:Fallback>
            <p:sp>
              <p:nvSpPr>
                <p:cNvPr id="91" name="CuadroTexto 90">
                  <a:extLst>
                    <a:ext uri="{FF2B5EF4-FFF2-40B4-BE49-F238E27FC236}">
                      <a16:creationId xmlns:a16="http://schemas.microsoft.com/office/drawing/2014/main" id="{E0FF81DA-59D6-486D-9633-F2E2E398D962}"/>
                    </a:ext>
                  </a:extLst>
                </p:cNvPr>
                <p:cNvSpPr txBox="1">
                  <a:spLocks noRot="1" noChangeAspect="1" noMove="1" noResize="1" noEditPoints="1" noAdjustHandles="1" noChangeArrowheads="1" noChangeShapeType="1" noTextEdit="1"/>
                </p:cNvSpPr>
                <p:nvPr/>
              </p:nvSpPr>
              <p:spPr>
                <a:xfrm>
                  <a:off x="1152030" y="5280749"/>
                  <a:ext cx="236156" cy="184666"/>
                </a:xfrm>
                <a:prstGeom prst="rect">
                  <a:avLst/>
                </a:prstGeom>
                <a:blipFill>
                  <a:blip r:embed="rId24"/>
                  <a:stretch>
                    <a:fillRect l="-31579" t="-3226" r="-39474" b="-2903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2" name="CuadroTexto 91">
                  <a:extLst>
                    <a:ext uri="{FF2B5EF4-FFF2-40B4-BE49-F238E27FC236}">
                      <a16:creationId xmlns:a16="http://schemas.microsoft.com/office/drawing/2014/main" id="{D219A3DC-AB22-45E4-B18F-867387A217DB}"/>
                    </a:ext>
                  </a:extLst>
                </p:cNvPr>
                <p:cNvSpPr txBox="1"/>
                <p:nvPr/>
              </p:nvSpPr>
              <p:spPr>
                <a:xfrm>
                  <a:off x="1130455" y="5871947"/>
                  <a:ext cx="24372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𝑖𝑓𝑐</m:t>
                        </m:r>
                      </m:oMath>
                    </m:oMathPara>
                  </a14:m>
                  <a:endParaRPr lang="es-CO" sz="1200" dirty="0"/>
                </a:p>
              </p:txBody>
            </p:sp>
          </mc:Choice>
          <mc:Fallback>
            <p:sp>
              <p:nvSpPr>
                <p:cNvPr id="92" name="CuadroTexto 91">
                  <a:extLst>
                    <a:ext uri="{FF2B5EF4-FFF2-40B4-BE49-F238E27FC236}">
                      <a16:creationId xmlns:a16="http://schemas.microsoft.com/office/drawing/2014/main" id="{D219A3DC-AB22-45E4-B18F-867387A217DB}"/>
                    </a:ext>
                  </a:extLst>
                </p:cNvPr>
                <p:cNvSpPr txBox="1">
                  <a:spLocks noRot="1" noChangeAspect="1" noMove="1" noResize="1" noEditPoints="1" noAdjustHandles="1" noChangeArrowheads="1" noChangeShapeType="1" noTextEdit="1"/>
                </p:cNvSpPr>
                <p:nvPr/>
              </p:nvSpPr>
              <p:spPr>
                <a:xfrm>
                  <a:off x="1130455" y="5871947"/>
                  <a:ext cx="243721" cy="184666"/>
                </a:xfrm>
                <a:prstGeom prst="rect">
                  <a:avLst/>
                </a:prstGeom>
                <a:blipFill>
                  <a:blip r:embed="rId25"/>
                  <a:stretch>
                    <a:fillRect l="-22500" t="-3226" r="-22500" b="-2903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3" name="CuadroTexto 92">
                  <a:extLst>
                    <a:ext uri="{FF2B5EF4-FFF2-40B4-BE49-F238E27FC236}">
                      <a16:creationId xmlns:a16="http://schemas.microsoft.com/office/drawing/2014/main" id="{559E7053-FFCB-4CC3-9B0E-52CBB359A033}"/>
                    </a:ext>
                  </a:extLst>
                </p:cNvPr>
                <p:cNvSpPr txBox="1"/>
                <p:nvPr/>
              </p:nvSpPr>
              <p:spPr>
                <a:xfrm>
                  <a:off x="1130455" y="4833554"/>
                  <a:ext cx="21339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𝑅𝑒</m:t>
                        </m:r>
                      </m:oMath>
                    </m:oMathPara>
                  </a14:m>
                  <a:endParaRPr lang="es-CO" sz="1200" dirty="0"/>
                </a:p>
              </p:txBody>
            </p:sp>
          </mc:Choice>
          <mc:Fallback>
            <p:sp>
              <p:nvSpPr>
                <p:cNvPr id="93" name="CuadroTexto 92">
                  <a:extLst>
                    <a:ext uri="{FF2B5EF4-FFF2-40B4-BE49-F238E27FC236}">
                      <a16:creationId xmlns:a16="http://schemas.microsoft.com/office/drawing/2014/main" id="{559E7053-FFCB-4CC3-9B0E-52CBB359A033}"/>
                    </a:ext>
                  </a:extLst>
                </p:cNvPr>
                <p:cNvSpPr txBox="1">
                  <a:spLocks noRot="1" noChangeAspect="1" noMove="1" noResize="1" noEditPoints="1" noAdjustHandles="1" noChangeArrowheads="1" noChangeShapeType="1" noTextEdit="1"/>
                </p:cNvSpPr>
                <p:nvPr/>
              </p:nvSpPr>
              <p:spPr>
                <a:xfrm>
                  <a:off x="1130455" y="4833554"/>
                  <a:ext cx="213392" cy="184666"/>
                </a:xfrm>
                <a:prstGeom prst="rect">
                  <a:avLst/>
                </a:prstGeom>
                <a:blipFill>
                  <a:blip r:embed="rId26"/>
                  <a:stretch>
                    <a:fillRect l="-17143" r="-14286" b="-666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7" name="CuadroTexto 96">
                  <a:extLst>
                    <a:ext uri="{FF2B5EF4-FFF2-40B4-BE49-F238E27FC236}">
                      <a16:creationId xmlns:a16="http://schemas.microsoft.com/office/drawing/2014/main" id="{BB0CC9A1-7E70-455C-982F-8ED961FE8C9A}"/>
                    </a:ext>
                  </a:extLst>
                </p:cNvPr>
                <p:cNvSpPr txBox="1"/>
                <p:nvPr/>
              </p:nvSpPr>
              <p:spPr>
                <a:xfrm>
                  <a:off x="1123401" y="5057912"/>
                  <a:ext cx="192425"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𝑆𝑐</m:t>
                        </m:r>
                      </m:oMath>
                    </m:oMathPara>
                  </a14:m>
                  <a:endParaRPr lang="es-CO" sz="1200" dirty="0"/>
                </a:p>
              </p:txBody>
            </p:sp>
          </mc:Choice>
          <mc:Fallback>
            <p:sp>
              <p:nvSpPr>
                <p:cNvPr id="97" name="CuadroTexto 96">
                  <a:extLst>
                    <a:ext uri="{FF2B5EF4-FFF2-40B4-BE49-F238E27FC236}">
                      <a16:creationId xmlns:a16="http://schemas.microsoft.com/office/drawing/2014/main" id="{BB0CC9A1-7E70-455C-982F-8ED961FE8C9A}"/>
                    </a:ext>
                  </a:extLst>
                </p:cNvPr>
                <p:cNvSpPr txBox="1">
                  <a:spLocks noRot="1" noChangeAspect="1" noMove="1" noResize="1" noEditPoints="1" noAdjustHandles="1" noChangeArrowheads="1" noChangeShapeType="1" noTextEdit="1"/>
                </p:cNvSpPr>
                <p:nvPr/>
              </p:nvSpPr>
              <p:spPr>
                <a:xfrm>
                  <a:off x="1123401" y="5057912"/>
                  <a:ext cx="192425" cy="184666"/>
                </a:xfrm>
                <a:prstGeom prst="rect">
                  <a:avLst/>
                </a:prstGeom>
                <a:blipFill>
                  <a:blip r:embed="rId27"/>
                  <a:stretch>
                    <a:fillRect l="-18750" r="-15625" b="-6667"/>
                  </a:stretch>
                </a:blipFill>
              </p:spPr>
              <p:txBody>
                <a:bodyPr/>
                <a:lstStyle/>
                <a:p>
                  <a:r>
                    <a:rPr lang="es-CO">
                      <a:noFill/>
                    </a:rPr>
                    <a:t> </a:t>
                  </a:r>
                </a:p>
              </p:txBody>
            </p:sp>
          </mc:Fallback>
        </mc:AlternateContent>
      </p:grpSp>
      <p:sp>
        <p:nvSpPr>
          <p:cNvPr id="95" name="CuadroTexto 94">
            <a:extLst>
              <a:ext uri="{FF2B5EF4-FFF2-40B4-BE49-F238E27FC236}">
                <a16:creationId xmlns:a16="http://schemas.microsoft.com/office/drawing/2014/main" id="{5653D427-8DF0-457C-AFCE-C6E8AE09542A}"/>
              </a:ext>
            </a:extLst>
          </p:cNvPr>
          <p:cNvSpPr txBox="1"/>
          <p:nvPr/>
        </p:nvSpPr>
        <p:spPr>
          <a:xfrm>
            <a:off x="938872" y="3552362"/>
            <a:ext cx="1926849" cy="430887"/>
          </a:xfrm>
          <a:prstGeom prst="rect">
            <a:avLst/>
          </a:prstGeom>
          <a:noFill/>
        </p:spPr>
        <p:txBody>
          <a:bodyPr wrap="square">
            <a:spAutoFit/>
          </a:bodyPr>
          <a:lstStyle/>
          <a:p>
            <a:r>
              <a:rPr lang="es-CO" sz="1100" dirty="0">
                <a:solidFill>
                  <a:srgbClr val="242121"/>
                </a:solidFill>
                <a:latin typeface="Source Sans Pro" panose="020B0503030403020204" pitchFamily="34" charset="0"/>
              </a:rPr>
              <a:t>Total </a:t>
            </a:r>
            <a:r>
              <a:rPr lang="es-CO" sz="1100" dirty="0" err="1">
                <a:solidFill>
                  <a:srgbClr val="242121"/>
                </a:solidFill>
                <a:latin typeface="Source Sans Pro" panose="020B0503030403020204" pitchFamily="34" charset="0"/>
              </a:rPr>
              <a:t>importance</a:t>
            </a:r>
            <a:r>
              <a:rPr lang="es-CO" sz="1100" dirty="0">
                <a:solidFill>
                  <a:srgbClr val="242121"/>
                </a:solidFill>
                <a:latin typeface="Source Sans Pro" panose="020B0503030403020204" pitchFamily="34" charset="0"/>
              </a:rPr>
              <a:t> </a:t>
            </a:r>
          </a:p>
          <a:p>
            <a:r>
              <a:rPr lang="es-CO" sz="1100" dirty="0" err="1">
                <a:solidFill>
                  <a:srgbClr val="242121"/>
                </a:solidFill>
                <a:latin typeface="Source Sans Pro" panose="020B0503030403020204" pitchFamily="34" charset="0"/>
              </a:rPr>
              <a:t>explained</a:t>
            </a:r>
            <a:r>
              <a:rPr lang="en-US" sz="1100" dirty="0">
                <a:solidFill>
                  <a:srgbClr val="242121"/>
                </a:solidFill>
                <a:latin typeface="Source Sans Pro" panose="020B0503030403020204" pitchFamily="34" charset="0"/>
              </a:rPr>
              <a:t> &gt;95% - </a:t>
            </a:r>
            <a:r>
              <a:rPr lang="en-US" sz="1100" b="1" dirty="0">
                <a:solidFill>
                  <a:srgbClr val="242121"/>
                </a:solidFill>
                <a:latin typeface="Source Sans Pro" panose="020B0503030403020204" pitchFamily="34" charset="0"/>
              </a:rPr>
              <a:t>11 features</a:t>
            </a:r>
            <a:endParaRPr lang="es-CO" sz="1100" b="1" dirty="0">
              <a:solidFill>
                <a:srgbClr val="242121"/>
              </a:solidFill>
              <a:latin typeface="Source Sans Pro" panose="020B0503030403020204" pitchFamily="34" charset="0"/>
            </a:endParaRPr>
          </a:p>
        </p:txBody>
      </p:sp>
      <p:sp>
        <p:nvSpPr>
          <p:cNvPr id="96" name="Rectángulo: esquinas redondeadas 95">
            <a:extLst>
              <a:ext uri="{FF2B5EF4-FFF2-40B4-BE49-F238E27FC236}">
                <a16:creationId xmlns:a16="http://schemas.microsoft.com/office/drawing/2014/main" id="{0A22B916-488B-4D04-99DC-1F2FDEF2CFCA}"/>
              </a:ext>
            </a:extLst>
          </p:cNvPr>
          <p:cNvSpPr/>
          <p:nvPr/>
        </p:nvSpPr>
        <p:spPr>
          <a:xfrm>
            <a:off x="700043" y="3060087"/>
            <a:ext cx="2218328" cy="3292019"/>
          </a:xfrm>
          <a:prstGeom prst="roundRect">
            <a:avLst/>
          </a:prstGeom>
          <a:solidFill>
            <a:schemeClr val="bg1">
              <a:lumMod val="75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9865416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233CFD7B-28C0-4128-BDFF-BF9755092829}"/>
              </a:ext>
            </a:extLst>
          </p:cNvPr>
          <p:cNvPicPr>
            <a:picLocks/>
          </p:cNvPicPr>
          <p:nvPr/>
        </p:nvPicPr>
        <p:blipFill>
          <a:blip r:embed="rId2"/>
          <a:stretch>
            <a:fillRect/>
          </a:stretch>
        </p:blipFill>
        <p:spPr>
          <a:xfrm>
            <a:off x="3031200" y="943200"/>
            <a:ext cx="8607600" cy="5137200"/>
          </a:xfrm>
          <a:prstGeom prst="rect">
            <a:avLst/>
          </a:prstGeom>
        </p:spPr>
      </p:pic>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1508105"/>
          </a:xfrm>
          <a:prstGeom prst="rect">
            <a:avLst/>
          </a:prstGeom>
          <a:noFill/>
        </p:spPr>
        <p:txBody>
          <a:bodyPr wrap="square">
            <a:spAutoFit/>
          </a:bodyPr>
          <a:lstStyle/>
          <a:p>
            <a:r>
              <a:rPr lang="en-US" sz="3200" b="1" dirty="0" err="1">
                <a:solidFill>
                  <a:srgbClr val="FFB903"/>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srgbClr val="008B2E"/>
                </a:solidFill>
                <a:effectLst/>
                <a:uLnTx/>
                <a:uFillTx/>
                <a:latin typeface="Source Sans Pro Light" panose="020B0403030403020204" pitchFamily="34" charset="0"/>
                <a:ea typeface="Source Sans Pro Light" panose="020B0403030403020204" pitchFamily="34" charset="0"/>
                <a:cs typeface="+mn-cs"/>
              </a:rPr>
              <a:t> </a:t>
            </a:r>
          </a:p>
          <a:p>
            <a:r>
              <a:rPr lang="en-US" sz="2800" i="1" dirty="0">
                <a:solidFill>
                  <a:prstClr val="black"/>
                </a:solidFill>
                <a:latin typeface="Source Sans Pro Light" panose="020B0403030403020204" pitchFamily="34" charset="0"/>
                <a:ea typeface="Source Sans Pro Light" panose="020B0403030403020204" pitchFamily="34" charset="0"/>
              </a:rPr>
              <a:t>Rankings per </a:t>
            </a:r>
          </a:p>
          <a:p>
            <a:r>
              <a:rPr lang="en-US" sz="2800" i="1" dirty="0">
                <a:solidFill>
                  <a:prstClr val="black"/>
                </a:solidFill>
                <a:latin typeface="Source Sans Pro Light" panose="020B0403030403020204" pitchFamily="34" charset="0"/>
                <a:ea typeface="Source Sans Pro Light" panose="020B0403030403020204" pitchFamily="34" charset="0"/>
              </a:rPr>
              <a:t>Region</a:t>
            </a:r>
            <a:endParaRPr lang="es-CO" sz="3600" dirty="0"/>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30</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9" name="Grupo 8">
            <a:extLst>
              <a:ext uri="{FF2B5EF4-FFF2-40B4-BE49-F238E27FC236}">
                <a16:creationId xmlns:a16="http://schemas.microsoft.com/office/drawing/2014/main" id="{6C9E8FA8-4D05-4168-A850-35A967D9F695}"/>
              </a:ext>
            </a:extLst>
          </p:cNvPr>
          <p:cNvGrpSpPr/>
          <p:nvPr/>
        </p:nvGrpSpPr>
        <p:grpSpPr>
          <a:xfrm>
            <a:off x="10860664" y="1446783"/>
            <a:ext cx="685160" cy="2390736"/>
            <a:chOff x="11410828" y="1465071"/>
            <a:chExt cx="685160" cy="2390736"/>
          </a:xfrm>
        </p:grpSpPr>
        <p:sp>
          <p:nvSpPr>
            <p:cNvPr id="66" name="Rectángulo 65">
              <a:extLst>
                <a:ext uri="{FF2B5EF4-FFF2-40B4-BE49-F238E27FC236}">
                  <a16:creationId xmlns:a16="http://schemas.microsoft.com/office/drawing/2014/main" id="{BE695DB2-D483-472B-AC2E-6DADB42D24E9}"/>
                </a:ext>
              </a:extLst>
            </p:cNvPr>
            <p:cNvSpPr/>
            <p:nvPr/>
          </p:nvSpPr>
          <p:spPr>
            <a:xfrm>
              <a:off x="11410828" y="1465071"/>
              <a:ext cx="685160" cy="239073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s-CO" dirty="0"/>
            </a:p>
          </p:txBody>
        </p:sp>
        <mc:AlternateContent xmlns:mc="http://schemas.openxmlformats.org/markup-compatibility/2006">
          <mc:Choice xmlns:a14="http://schemas.microsoft.com/office/drawing/2010/main" Requires="a14">
            <p:sp>
              <p:nvSpPr>
                <p:cNvPr id="67" name="CuadroTexto 66">
                  <a:extLst>
                    <a:ext uri="{FF2B5EF4-FFF2-40B4-BE49-F238E27FC236}">
                      <a16:creationId xmlns:a16="http://schemas.microsoft.com/office/drawing/2014/main" id="{11F2D5E2-5F50-46CC-B4CA-64FA3373BBA7}"/>
                    </a:ext>
                  </a:extLst>
                </p:cNvPr>
                <p:cNvSpPr txBox="1"/>
                <p:nvPr/>
              </p:nvSpPr>
              <p:spPr>
                <a:xfrm>
                  <a:off x="11437276" y="1820169"/>
                  <a:ext cx="30950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𝑃𝑎</m:t>
                            </m:r>
                          </m:e>
                          <m:sub>
                            <m:r>
                              <a:rPr lang="es-ES" sz="900" b="0" i="1" smtClean="0">
                                <a:latin typeface="Cambria Math" panose="02040503050406030204" pitchFamily="18" charset="0"/>
                              </a:rPr>
                              <m:t>𝑑𝑒𝑠</m:t>
                            </m:r>
                          </m:sub>
                        </m:sSub>
                      </m:oMath>
                    </m:oMathPara>
                  </a14:m>
                  <a:endParaRPr lang="es-CO" sz="900" dirty="0"/>
                </a:p>
              </p:txBody>
            </p:sp>
          </mc:Choice>
          <mc:Fallback>
            <p:sp>
              <p:nvSpPr>
                <p:cNvPr id="67" name="CuadroTexto 66">
                  <a:extLst>
                    <a:ext uri="{FF2B5EF4-FFF2-40B4-BE49-F238E27FC236}">
                      <a16:creationId xmlns:a16="http://schemas.microsoft.com/office/drawing/2014/main" id="{11F2D5E2-5F50-46CC-B4CA-64FA3373BBA7}"/>
                    </a:ext>
                  </a:extLst>
                </p:cNvPr>
                <p:cNvSpPr txBox="1">
                  <a:spLocks noRot="1" noChangeAspect="1" noMove="1" noResize="1" noEditPoints="1" noAdjustHandles="1" noChangeArrowheads="1" noChangeShapeType="1" noTextEdit="1"/>
                </p:cNvSpPr>
                <p:nvPr/>
              </p:nvSpPr>
              <p:spPr>
                <a:xfrm>
                  <a:off x="11437276" y="1820169"/>
                  <a:ext cx="309508" cy="138499"/>
                </a:xfrm>
                <a:prstGeom prst="rect">
                  <a:avLst/>
                </a:prstGeom>
                <a:blipFill>
                  <a:blip r:embed="rId3"/>
                  <a:stretch>
                    <a:fillRect l="-9804" r="-3922" b="-2272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8" name="CuadroTexto 67">
                  <a:extLst>
                    <a:ext uri="{FF2B5EF4-FFF2-40B4-BE49-F238E27FC236}">
                      <a16:creationId xmlns:a16="http://schemas.microsoft.com/office/drawing/2014/main" id="{393E0A1C-AC05-4C91-B49A-3B43D958F22B}"/>
                    </a:ext>
                  </a:extLst>
                </p:cNvPr>
                <p:cNvSpPr txBox="1"/>
                <p:nvPr/>
              </p:nvSpPr>
              <p:spPr>
                <a:xfrm>
                  <a:off x="11437276" y="2837494"/>
                  <a:ext cx="29508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𝜙</m:t>
                            </m:r>
                          </m:e>
                          <m:sub>
                            <m:r>
                              <a:rPr lang="es-ES" sz="900" b="0" i="1" smtClean="0">
                                <a:latin typeface="Cambria Math" panose="02040503050406030204" pitchFamily="18" charset="0"/>
                              </a:rPr>
                              <m:t>𝑐𝑑𝑒𝑠</m:t>
                            </m:r>
                          </m:sub>
                        </m:sSub>
                      </m:oMath>
                    </m:oMathPara>
                  </a14:m>
                  <a:endParaRPr lang="es-CO" sz="900" dirty="0"/>
                </a:p>
              </p:txBody>
            </p:sp>
          </mc:Choice>
          <mc:Fallback>
            <p:sp>
              <p:nvSpPr>
                <p:cNvPr id="68" name="CuadroTexto 67">
                  <a:extLst>
                    <a:ext uri="{FF2B5EF4-FFF2-40B4-BE49-F238E27FC236}">
                      <a16:creationId xmlns:a16="http://schemas.microsoft.com/office/drawing/2014/main" id="{393E0A1C-AC05-4C91-B49A-3B43D958F22B}"/>
                    </a:ext>
                  </a:extLst>
                </p:cNvPr>
                <p:cNvSpPr txBox="1">
                  <a:spLocks noRot="1" noChangeAspect="1" noMove="1" noResize="1" noEditPoints="1" noAdjustHandles="1" noChangeArrowheads="1" noChangeShapeType="1" noTextEdit="1"/>
                </p:cNvSpPr>
                <p:nvPr/>
              </p:nvSpPr>
              <p:spPr>
                <a:xfrm>
                  <a:off x="11437276" y="2837494"/>
                  <a:ext cx="295081" cy="138499"/>
                </a:xfrm>
                <a:prstGeom prst="rect">
                  <a:avLst/>
                </a:prstGeom>
                <a:blipFill>
                  <a:blip r:embed="rId4"/>
                  <a:stretch>
                    <a:fillRect l="-14583" r="-6250" b="-347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9" name="CuadroTexto 68">
                  <a:extLst>
                    <a:ext uri="{FF2B5EF4-FFF2-40B4-BE49-F238E27FC236}">
                      <a16:creationId xmlns:a16="http://schemas.microsoft.com/office/drawing/2014/main" id="{77545A0A-19CC-4EBB-A046-41C909E87414}"/>
                    </a:ext>
                  </a:extLst>
                </p:cNvPr>
                <p:cNvSpPr txBox="1"/>
                <p:nvPr/>
              </p:nvSpPr>
              <p:spPr>
                <a:xfrm>
                  <a:off x="11431783" y="3182630"/>
                  <a:ext cx="223971" cy="1497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𝑔𝑑𝑙</m:t>
                            </m:r>
                          </m:sub>
                        </m:sSub>
                      </m:oMath>
                    </m:oMathPara>
                  </a14:m>
                  <a:endParaRPr lang="es-CO" sz="900" dirty="0"/>
                </a:p>
              </p:txBody>
            </p:sp>
          </mc:Choice>
          <mc:Fallback>
            <p:sp>
              <p:nvSpPr>
                <p:cNvPr id="69" name="CuadroTexto 68">
                  <a:extLst>
                    <a:ext uri="{FF2B5EF4-FFF2-40B4-BE49-F238E27FC236}">
                      <a16:creationId xmlns:a16="http://schemas.microsoft.com/office/drawing/2014/main" id="{77545A0A-19CC-4EBB-A046-41C909E87414}"/>
                    </a:ext>
                  </a:extLst>
                </p:cNvPr>
                <p:cNvSpPr txBox="1">
                  <a:spLocks noRot="1" noChangeAspect="1" noMove="1" noResize="1" noEditPoints="1" noAdjustHandles="1" noChangeArrowheads="1" noChangeShapeType="1" noTextEdit="1"/>
                </p:cNvSpPr>
                <p:nvPr/>
              </p:nvSpPr>
              <p:spPr>
                <a:xfrm>
                  <a:off x="11431783" y="3182630"/>
                  <a:ext cx="223971" cy="149721"/>
                </a:xfrm>
                <a:prstGeom prst="rect">
                  <a:avLst/>
                </a:prstGeom>
                <a:blipFill>
                  <a:blip r:embed="rId5"/>
                  <a:stretch>
                    <a:fillRect l="-8108" r="-8108" b="-28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0" name="CuadroTexto 69">
                  <a:extLst>
                    <a:ext uri="{FF2B5EF4-FFF2-40B4-BE49-F238E27FC236}">
                      <a16:creationId xmlns:a16="http://schemas.microsoft.com/office/drawing/2014/main" id="{86A45EEB-845A-48B7-8A15-74A4D39320B7}"/>
                    </a:ext>
                  </a:extLst>
                </p:cNvPr>
                <p:cNvSpPr txBox="1"/>
                <p:nvPr/>
              </p:nvSpPr>
              <p:spPr>
                <a:xfrm>
                  <a:off x="11437276" y="2666093"/>
                  <a:ext cx="209480"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𝑚𝑐</m:t>
                            </m:r>
                          </m:sub>
                        </m:sSub>
                      </m:oMath>
                    </m:oMathPara>
                  </a14:m>
                  <a:endParaRPr lang="es-CO" sz="900" dirty="0"/>
                </a:p>
              </p:txBody>
            </p:sp>
          </mc:Choice>
          <mc:Fallback>
            <p:sp>
              <p:nvSpPr>
                <p:cNvPr id="70" name="CuadroTexto 69">
                  <a:extLst>
                    <a:ext uri="{FF2B5EF4-FFF2-40B4-BE49-F238E27FC236}">
                      <a16:creationId xmlns:a16="http://schemas.microsoft.com/office/drawing/2014/main" id="{86A45EEB-845A-48B7-8A15-74A4D39320B7}"/>
                    </a:ext>
                  </a:extLst>
                </p:cNvPr>
                <p:cNvSpPr txBox="1">
                  <a:spLocks noRot="1" noChangeAspect="1" noMove="1" noResize="1" noEditPoints="1" noAdjustHandles="1" noChangeArrowheads="1" noChangeShapeType="1" noTextEdit="1"/>
                </p:cNvSpPr>
                <p:nvPr/>
              </p:nvSpPr>
              <p:spPr>
                <a:xfrm>
                  <a:off x="11437276" y="2666093"/>
                  <a:ext cx="209480" cy="138499"/>
                </a:xfrm>
                <a:prstGeom prst="rect">
                  <a:avLst/>
                </a:prstGeom>
                <a:blipFill>
                  <a:blip r:embed="rId6"/>
                  <a:stretch>
                    <a:fillRect l="-8824" r="-2941" b="-130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1" name="CuadroTexto 70">
                  <a:extLst>
                    <a:ext uri="{FF2B5EF4-FFF2-40B4-BE49-F238E27FC236}">
                      <a16:creationId xmlns:a16="http://schemas.microsoft.com/office/drawing/2014/main" id="{42F855CF-3DB3-491A-89B5-1CCE0F6A50C6}"/>
                    </a:ext>
                  </a:extLst>
                </p:cNvPr>
                <p:cNvSpPr txBox="1"/>
                <p:nvPr/>
              </p:nvSpPr>
              <p:spPr>
                <a:xfrm>
                  <a:off x="11437276" y="3532126"/>
                  <a:ext cx="130933"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𝑐</m:t>
                            </m:r>
                          </m:sub>
                        </m:sSub>
                      </m:oMath>
                    </m:oMathPara>
                  </a14:m>
                  <a:endParaRPr lang="es-CO" sz="900" dirty="0"/>
                </a:p>
              </p:txBody>
            </p:sp>
          </mc:Choice>
          <mc:Fallback>
            <p:sp>
              <p:nvSpPr>
                <p:cNvPr id="71" name="CuadroTexto 70">
                  <a:extLst>
                    <a:ext uri="{FF2B5EF4-FFF2-40B4-BE49-F238E27FC236}">
                      <a16:creationId xmlns:a16="http://schemas.microsoft.com/office/drawing/2014/main" id="{42F855CF-3DB3-491A-89B5-1CCE0F6A50C6}"/>
                    </a:ext>
                  </a:extLst>
                </p:cNvPr>
                <p:cNvSpPr txBox="1">
                  <a:spLocks noRot="1" noChangeAspect="1" noMove="1" noResize="1" noEditPoints="1" noAdjustHandles="1" noChangeArrowheads="1" noChangeShapeType="1" noTextEdit="1"/>
                </p:cNvSpPr>
                <p:nvPr/>
              </p:nvSpPr>
              <p:spPr>
                <a:xfrm>
                  <a:off x="11437276" y="3532126"/>
                  <a:ext cx="130933" cy="138499"/>
                </a:xfrm>
                <a:prstGeom prst="rect">
                  <a:avLst/>
                </a:prstGeom>
                <a:blipFill>
                  <a:blip r:embed="rId7"/>
                  <a:stretch>
                    <a:fillRect l="-14286" r="-4762" b="-130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2" name="CuadroTexto 71">
                  <a:extLst>
                    <a:ext uri="{FF2B5EF4-FFF2-40B4-BE49-F238E27FC236}">
                      <a16:creationId xmlns:a16="http://schemas.microsoft.com/office/drawing/2014/main" id="{D0F0A64E-5CA7-4514-818B-5BB15D968353}"/>
                    </a:ext>
                  </a:extLst>
                </p:cNvPr>
                <p:cNvSpPr txBox="1"/>
                <p:nvPr/>
              </p:nvSpPr>
              <p:spPr>
                <a:xfrm>
                  <a:off x="11437276" y="2513147"/>
                  <a:ext cx="8104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𝜏</m:t>
                        </m:r>
                      </m:oMath>
                    </m:oMathPara>
                  </a14:m>
                  <a:endParaRPr lang="es-CO" sz="900" dirty="0"/>
                </a:p>
              </p:txBody>
            </p:sp>
          </mc:Choice>
          <mc:Fallback>
            <p:sp>
              <p:nvSpPr>
                <p:cNvPr id="72" name="CuadroTexto 71">
                  <a:extLst>
                    <a:ext uri="{FF2B5EF4-FFF2-40B4-BE49-F238E27FC236}">
                      <a16:creationId xmlns:a16="http://schemas.microsoft.com/office/drawing/2014/main" id="{D0F0A64E-5CA7-4514-818B-5BB15D968353}"/>
                    </a:ext>
                  </a:extLst>
                </p:cNvPr>
                <p:cNvSpPr txBox="1">
                  <a:spLocks noRot="1" noChangeAspect="1" noMove="1" noResize="1" noEditPoints="1" noAdjustHandles="1" noChangeArrowheads="1" noChangeShapeType="1" noTextEdit="1"/>
                </p:cNvSpPr>
                <p:nvPr/>
              </p:nvSpPr>
              <p:spPr>
                <a:xfrm>
                  <a:off x="11437276" y="2513147"/>
                  <a:ext cx="81048" cy="138499"/>
                </a:xfrm>
                <a:prstGeom prst="rect">
                  <a:avLst/>
                </a:prstGeom>
                <a:blipFill>
                  <a:blip r:embed="rId8"/>
                  <a:stretch>
                    <a:fillRect l="-23077" r="-2307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3" name="CuadroTexto 72">
                  <a:extLst>
                    <a:ext uri="{FF2B5EF4-FFF2-40B4-BE49-F238E27FC236}">
                      <a16:creationId xmlns:a16="http://schemas.microsoft.com/office/drawing/2014/main" id="{8B35BEB1-96F1-4910-BA2D-28DA1D39D893}"/>
                    </a:ext>
                  </a:extLst>
                </p:cNvPr>
                <p:cNvSpPr txBox="1"/>
                <p:nvPr/>
              </p:nvSpPr>
              <p:spPr>
                <a:xfrm>
                  <a:off x="11433475" y="1470677"/>
                  <a:ext cx="341568" cy="1495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𝑖</m:t>
                            </m:r>
                            <m:r>
                              <a:rPr lang="es-ES" sz="900" b="0" i="1" smtClean="0">
                                <a:latin typeface="Cambria Math" panose="02040503050406030204" pitchFamily="18" charset="0"/>
                              </a:rPr>
                              <m:t>0</m:t>
                            </m:r>
                          </m:e>
                          <m:sub>
                            <m:r>
                              <a:rPr lang="es-ES" sz="900" b="0" i="1" smtClean="0">
                                <a:latin typeface="Cambria Math" panose="02040503050406030204" pitchFamily="18" charset="0"/>
                              </a:rPr>
                              <m:t>𝑐</m:t>
                            </m:r>
                            <m:r>
                              <a:rPr lang="es-ES" sz="900" b="0" i="1" smtClean="0">
                                <a:latin typeface="Cambria Math" panose="02040503050406030204" pitchFamily="18" charset="0"/>
                              </a:rPr>
                              <m:t> </m:t>
                            </m:r>
                            <m:r>
                              <a:rPr lang="es-ES" sz="900" b="0" i="1" smtClean="0">
                                <a:latin typeface="Cambria Math" panose="02040503050406030204" pitchFamily="18" charset="0"/>
                              </a:rPr>
                              <m:t>𝑟𝑒𝑓</m:t>
                            </m:r>
                          </m:sub>
                        </m:sSub>
                      </m:oMath>
                    </m:oMathPara>
                  </a14:m>
                  <a:endParaRPr lang="es-CO" sz="900" dirty="0"/>
                </a:p>
              </p:txBody>
            </p:sp>
          </mc:Choice>
          <mc:Fallback>
            <p:sp>
              <p:nvSpPr>
                <p:cNvPr id="73" name="CuadroTexto 72">
                  <a:extLst>
                    <a:ext uri="{FF2B5EF4-FFF2-40B4-BE49-F238E27FC236}">
                      <a16:creationId xmlns:a16="http://schemas.microsoft.com/office/drawing/2014/main" id="{8B35BEB1-96F1-4910-BA2D-28DA1D39D893}"/>
                    </a:ext>
                  </a:extLst>
                </p:cNvPr>
                <p:cNvSpPr txBox="1">
                  <a:spLocks noRot="1" noChangeAspect="1" noMove="1" noResize="1" noEditPoints="1" noAdjustHandles="1" noChangeArrowheads="1" noChangeShapeType="1" noTextEdit="1"/>
                </p:cNvSpPr>
                <p:nvPr/>
              </p:nvSpPr>
              <p:spPr>
                <a:xfrm>
                  <a:off x="11433475" y="1470677"/>
                  <a:ext cx="341568" cy="149528"/>
                </a:xfrm>
                <a:prstGeom prst="rect">
                  <a:avLst/>
                </a:prstGeom>
                <a:blipFill>
                  <a:blip r:embed="rId9"/>
                  <a:stretch>
                    <a:fillRect l="-8929" r="-5357" b="-28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4" name="CuadroTexto 73">
                  <a:extLst>
                    <a:ext uri="{FF2B5EF4-FFF2-40B4-BE49-F238E27FC236}">
                      <a16:creationId xmlns:a16="http://schemas.microsoft.com/office/drawing/2014/main" id="{819EECB1-20C0-460B-9742-AEF6DC9F2AA1}"/>
                    </a:ext>
                  </a:extLst>
                </p:cNvPr>
                <p:cNvSpPr txBox="1"/>
                <p:nvPr/>
              </p:nvSpPr>
              <p:spPr>
                <a:xfrm>
                  <a:off x="11432659" y="3369531"/>
                  <a:ext cx="18780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𝜅</m:t>
                            </m:r>
                          </m:e>
                          <m:sub>
                            <m:r>
                              <a:rPr lang="es-ES" sz="900" b="0" i="1" smtClean="0">
                                <a:latin typeface="Cambria Math" panose="02040503050406030204" pitchFamily="18" charset="0"/>
                              </a:rPr>
                              <m:t>𝑐𝑜</m:t>
                            </m:r>
                          </m:sub>
                        </m:sSub>
                      </m:oMath>
                    </m:oMathPara>
                  </a14:m>
                  <a:endParaRPr lang="es-CO" sz="900" dirty="0"/>
                </a:p>
              </p:txBody>
            </p:sp>
          </mc:Choice>
          <mc:Fallback>
            <p:sp>
              <p:nvSpPr>
                <p:cNvPr id="74" name="CuadroTexto 73">
                  <a:extLst>
                    <a:ext uri="{FF2B5EF4-FFF2-40B4-BE49-F238E27FC236}">
                      <a16:creationId xmlns:a16="http://schemas.microsoft.com/office/drawing/2014/main" id="{819EECB1-20C0-460B-9742-AEF6DC9F2AA1}"/>
                    </a:ext>
                  </a:extLst>
                </p:cNvPr>
                <p:cNvSpPr txBox="1">
                  <a:spLocks noRot="1" noChangeAspect="1" noMove="1" noResize="1" noEditPoints="1" noAdjustHandles="1" noChangeArrowheads="1" noChangeShapeType="1" noTextEdit="1"/>
                </p:cNvSpPr>
                <p:nvPr/>
              </p:nvSpPr>
              <p:spPr>
                <a:xfrm>
                  <a:off x="11432659" y="3369531"/>
                  <a:ext cx="187808" cy="138499"/>
                </a:xfrm>
                <a:prstGeom prst="rect">
                  <a:avLst/>
                </a:prstGeom>
                <a:blipFill>
                  <a:blip r:embed="rId10"/>
                  <a:stretch>
                    <a:fillRect l="-9677" b="-1818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5" name="CuadroTexto 74">
                  <a:extLst>
                    <a:ext uri="{FF2B5EF4-FFF2-40B4-BE49-F238E27FC236}">
                      <a16:creationId xmlns:a16="http://schemas.microsoft.com/office/drawing/2014/main" id="{51782BE4-BE60-4572-9E91-925AA10C883A}"/>
                    </a:ext>
                  </a:extLst>
                </p:cNvPr>
                <p:cNvSpPr txBox="1"/>
                <p:nvPr/>
              </p:nvSpPr>
              <p:spPr>
                <a:xfrm>
                  <a:off x="11437276" y="2314318"/>
                  <a:ext cx="138949"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𝜅</m:t>
                            </m:r>
                          </m:e>
                          <m:sub>
                            <m:r>
                              <a:rPr lang="es-ES" sz="900" b="0" i="1" smtClean="0">
                                <a:latin typeface="Cambria Math" panose="02040503050406030204" pitchFamily="18" charset="0"/>
                              </a:rPr>
                              <m:t>𝑐</m:t>
                            </m:r>
                          </m:sub>
                        </m:sSub>
                      </m:oMath>
                    </m:oMathPara>
                  </a14:m>
                  <a:endParaRPr lang="es-CO" sz="900" dirty="0"/>
                </a:p>
              </p:txBody>
            </p:sp>
          </mc:Choice>
          <mc:Fallback>
            <p:sp>
              <p:nvSpPr>
                <p:cNvPr id="75" name="CuadroTexto 74">
                  <a:extLst>
                    <a:ext uri="{FF2B5EF4-FFF2-40B4-BE49-F238E27FC236}">
                      <a16:creationId xmlns:a16="http://schemas.microsoft.com/office/drawing/2014/main" id="{51782BE4-BE60-4572-9E91-925AA10C883A}"/>
                    </a:ext>
                  </a:extLst>
                </p:cNvPr>
                <p:cNvSpPr txBox="1">
                  <a:spLocks noRot="1" noChangeAspect="1" noMove="1" noResize="1" noEditPoints="1" noAdjustHandles="1" noChangeArrowheads="1" noChangeShapeType="1" noTextEdit="1"/>
                </p:cNvSpPr>
                <p:nvPr/>
              </p:nvSpPr>
              <p:spPr>
                <a:xfrm>
                  <a:off x="11437276" y="2314318"/>
                  <a:ext cx="138949" cy="138499"/>
                </a:xfrm>
                <a:prstGeom prst="rect">
                  <a:avLst/>
                </a:prstGeom>
                <a:blipFill>
                  <a:blip r:embed="rId11"/>
                  <a:stretch>
                    <a:fillRect l="-13043" b="-1818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6" name="CuadroTexto 75">
                  <a:extLst>
                    <a:ext uri="{FF2B5EF4-FFF2-40B4-BE49-F238E27FC236}">
                      <a16:creationId xmlns:a16="http://schemas.microsoft.com/office/drawing/2014/main" id="{9CB5665E-192E-4CB3-BF52-82DB1225B36B}"/>
                    </a:ext>
                  </a:extLst>
                </p:cNvPr>
                <p:cNvSpPr txBox="1"/>
                <p:nvPr/>
              </p:nvSpPr>
              <p:spPr>
                <a:xfrm>
                  <a:off x="11437276" y="1987912"/>
                  <a:ext cx="215252"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𝑇𝑓𝑐</m:t>
                        </m:r>
                      </m:oMath>
                    </m:oMathPara>
                  </a14:m>
                  <a:endParaRPr lang="es-CO" sz="900" dirty="0"/>
                </a:p>
              </p:txBody>
            </p:sp>
          </mc:Choice>
          <mc:Fallback>
            <p:sp>
              <p:nvSpPr>
                <p:cNvPr id="76" name="CuadroTexto 75">
                  <a:extLst>
                    <a:ext uri="{FF2B5EF4-FFF2-40B4-BE49-F238E27FC236}">
                      <a16:creationId xmlns:a16="http://schemas.microsoft.com/office/drawing/2014/main" id="{9CB5665E-192E-4CB3-BF52-82DB1225B36B}"/>
                    </a:ext>
                  </a:extLst>
                </p:cNvPr>
                <p:cNvSpPr txBox="1">
                  <a:spLocks noRot="1" noChangeAspect="1" noMove="1" noResize="1" noEditPoints="1" noAdjustHandles="1" noChangeArrowheads="1" noChangeShapeType="1" noTextEdit="1"/>
                </p:cNvSpPr>
                <p:nvPr/>
              </p:nvSpPr>
              <p:spPr>
                <a:xfrm>
                  <a:off x="11437276" y="1987912"/>
                  <a:ext cx="215252" cy="138499"/>
                </a:xfrm>
                <a:prstGeom prst="rect">
                  <a:avLst/>
                </a:prstGeom>
                <a:blipFill>
                  <a:blip r:embed="rId12"/>
                  <a:stretch>
                    <a:fillRect l="-20000" r="-17143" b="-347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7" name="CuadroTexto 76">
                  <a:extLst>
                    <a:ext uri="{FF2B5EF4-FFF2-40B4-BE49-F238E27FC236}">
                      <a16:creationId xmlns:a16="http://schemas.microsoft.com/office/drawing/2014/main" id="{08EABFB4-F44A-40CE-9383-59D69C84E4E1}"/>
                    </a:ext>
                  </a:extLst>
                </p:cNvPr>
                <p:cNvSpPr txBox="1"/>
                <p:nvPr/>
              </p:nvSpPr>
              <p:spPr>
                <a:xfrm>
                  <a:off x="11437276" y="3024658"/>
                  <a:ext cx="143116"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𝑆𝑐</m:t>
                        </m:r>
                      </m:oMath>
                    </m:oMathPara>
                  </a14:m>
                  <a:endParaRPr lang="es-CO" sz="900" dirty="0"/>
                </a:p>
              </p:txBody>
            </p:sp>
          </mc:Choice>
          <mc:Fallback>
            <p:sp>
              <p:nvSpPr>
                <p:cNvPr id="77" name="CuadroTexto 76">
                  <a:extLst>
                    <a:ext uri="{FF2B5EF4-FFF2-40B4-BE49-F238E27FC236}">
                      <a16:creationId xmlns:a16="http://schemas.microsoft.com/office/drawing/2014/main" id="{08EABFB4-F44A-40CE-9383-59D69C84E4E1}"/>
                    </a:ext>
                  </a:extLst>
                </p:cNvPr>
                <p:cNvSpPr txBox="1">
                  <a:spLocks noRot="1" noChangeAspect="1" noMove="1" noResize="1" noEditPoints="1" noAdjustHandles="1" noChangeArrowheads="1" noChangeShapeType="1" noTextEdit="1"/>
                </p:cNvSpPr>
                <p:nvPr/>
              </p:nvSpPr>
              <p:spPr>
                <a:xfrm>
                  <a:off x="11437276" y="3024658"/>
                  <a:ext cx="143116" cy="138499"/>
                </a:xfrm>
                <a:prstGeom prst="rect">
                  <a:avLst/>
                </a:prstGeom>
                <a:blipFill>
                  <a:blip r:embed="rId13"/>
                  <a:stretch>
                    <a:fillRect l="-21739" r="-21739" b="-869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8" name="CuadroTexto 77">
                  <a:extLst>
                    <a:ext uri="{FF2B5EF4-FFF2-40B4-BE49-F238E27FC236}">
                      <a16:creationId xmlns:a16="http://schemas.microsoft.com/office/drawing/2014/main" id="{19E004F8-4CFA-455C-91BA-3E078071AF58}"/>
                    </a:ext>
                  </a:extLst>
                </p:cNvPr>
                <p:cNvSpPr txBox="1"/>
                <p:nvPr/>
              </p:nvSpPr>
              <p:spPr>
                <a:xfrm>
                  <a:off x="11437276" y="1648102"/>
                  <a:ext cx="18319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𝑖𝑓𝑐</m:t>
                        </m:r>
                      </m:oMath>
                    </m:oMathPara>
                  </a14:m>
                  <a:endParaRPr lang="es-CO" sz="900" dirty="0"/>
                </a:p>
              </p:txBody>
            </p:sp>
          </mc:Choice>
          <mc:Fallback>
            <p:sp>
              <p:nvSpPr>
                <p:cNvPr id="78" name="CuadroTexto 77">
                  <a:extLst>
                    <a:ext uri="{FF2B5EF4-FFF2-40B4-BE49-F238E27FC236}">
                      <a16:creationId xmlns:a16="http://schemas.microsoft.com/office/drawing/2014/main" id="{19E004F8-4CFA-455C-91BA-3E078071AF58}"/>
                    </a:ext>
                  </a:extLst>
                </p:cNvPr>
                <p:cNvSpPr txBox="1">
                  <a:spLocks noRot="1" noChangeAspect="1" noMove="1" noResize="1" noEditPoints="1" noAdjustHandles="1" noChangeArrowheads="1" noChangeShapeType="1" noTextEdit="1"/>
                </p:cNvSpPr>
                <p:nvPr/>
              </p:nvSpPr>
              <p:spPr>
                <a:xfrm>
                  <a:off x="11437276" y="1648102"/>
                  <a:ext cx="183191" cy="138499"/>
                </a:xfrm>
                <a:prstGeom prst="rect">
                  <a:avLst/>
                </a:prstGeom>
                <a:blipFill>
                  <a:blip r:embed="rId14"/>
                  <a:stretch>
                    <a:fillRect l="-23333" r="-20000" b="-347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9" name="CuadroTexto 78">
                  <a:extLst>
                    <a:ext uri="{FF2B5EF4-FFF2-40B4-BE49-F238E27FC236}">
                      <a16:creationId xmlns:a16="http://schemas.microsoft.com/office/drawing/2014/main" id="{FFEC09D3-8F7F-40BC-AF09-8E88D2974F00}"/>
                    </a:ext>
                  </a:extLst>
                </p:cNvPr>
                <p:cNvSpPr txBox="1"/>
                <p:nvPr/>
              </p:nvSpPr>
              <p:spPr>
                <a:xfrm>
                  <a:off x="11437276" y="3715486"/>
                  <a:ext cx="8592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𝑒</m:t>
                        </m:r>
                      </m:oMath>
                    </m:oMathPara>
                  </a14:m>
                  <a:endParaRPr lang="es-CO" sz="900" dirty="0"/>
                </a:p>
              </p:txBody>
            </p:sp>
          </mc:Choice>
          <mc:Fallback>
            <p:sp>
              <p:nvSpPr>
                <p:cNvPr id="79" name="CuadroTexto 78">
                  <a:extLst>
                    <a:ext uri="{FF2B5EF4-FFF2-40B4-BE49-F238E27FC236}">
                      <a16:creationId xmlns:a16="http://schemas.microsoft.com/office/drawing/2014/main" id="{FFEC09D3-8F7F-40BC-AF09-8E88D2974F00}"/>
                    </a:ext>
                  </a:extLst>
                </p:cNvPr>
                <p:cNvSpPr txBox="1">
                  <a:spLocks noRot="1" noChangeAspect="1" noMove="1" noResize="1" noEditPoints="1" noAdjustHandles="1" noChangeArrowheads="1" noChangeShapeType="1" noTextEdit="1"/>
                </p:cNvSpPr>
                <p:nvPr/>
              </p:nvSpPr>
              <p:spPr>
                <a:xfrm>
                  <a:off x="11437276" y="3715486"/>
                  <a:ext cx="85921" cy="138499"/>
                </a:xfrm>
                <a:prstGeom prst="rect">
                  <a:avLst/>
                </a:prstGeom>
                <a:blipFill>
                  <a:blip r:embed="rId15"/>
                  <a:stretch>
                    <a:fillRect l="-21429" r="-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0" name="CuadroTexto 79">
                  <a:extLst>
                    <a:ext uri="{FF2B5EF4-FFF2-40B4-BE49-F238E27FC236}">
                      <a16:creationId xmlns:a16="http://schemas.microsoft.com/office/drawing/2014/main" id="{96DEB9C8-A95D-43E7-A20A-2875FA82CA0C}"/>
                    </a:ext>
                  </a:extLst>
                </p:cNvPr>
                <p:cNvSpPr txBox="1"/>
                <p:nvPr/>
              </p:nvSpPr>
              <p:spPr>
                <a:xfrm>
                  <a:off x="11437276" y="2157977"/>
                  <a:ext cx="159659"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𝑅𝑒</m:t>
                        </m:r>
                      </m:oMath>
                    </m:oMathPara>
                  </a14:m>
                  <a:endParaRPr lang="es-CO" sz="900" dirty="0"/>
                </a:p>
              </p:txBody>
            </p:sp>
          </mc:Choice>
          <mc:Fallback>
            <p:sp>
              <p:nvSpPr>
                <p:cNvPr id="80" name="CuadroTexto 79">
                  <a:extLst>
                    <a:ext uri="{FF2B5EF4-FFF2-40B4-BE49-F238E27FC236}">
                      <a16:creationId xmlns:a16="http://schemas.microsoft.com/office/drawing/2014/main" id="{96DEB9C8-A95D-43E7-A20A-2875FA82CA0C}"/>
                    </a:ext>
                  </a:extLst>
                </p:cNvPr>
                <p:cNvSpPr txBox="1">
                  <a:spLocks noRot="1" noChangeAspect="1" noMove="1" noResize="1" noEditPoints="1" noAdjustHandles="1" noChangeArrowheads="1" noChangeShapeType="1" noTextEdit="1"/>
                </p:cNvSpPr>
                <p:nvPr/>
              </p:nvSpPr>
              <p:spPr>
                <a:xfrm>
                  <a:off x="11437276" y="2157977"/>
                  <a:ext cx="159659" cy="138499"/>
                </a:xfrm>
                <a:prstGeom prst="rect">
                  <a:avLst/>
                </a:prstGeom>
                <a:blipFill>
                  <a:blip r:embed="rId16"/>
                  <a:stretch>
                    <a:fillRect l="-19231" r="-15385" b="-8696"/>
                  </a:stretch>
                </a:blipFill>
              </p:spPr>
              <p:txBody>
                <a:bodyPr/>
                <a:lstStyle/>
                <a:p>
                  <a:r>
                    <a:rPr lang="es-CO">
                      <a:noFill/>
                    </a:rPr>
                    <a:t> </a:t>
                  </a:r>
                </a:p>
              </p:txBody>
            </p:sp>
          </mc:Fallback>
        </mc:AlternateContent>
      </p:grpSp>
      <p:sp>
        <p:nvSpPr>
          <p:cNvPr id="64" name="CuadroTexto 63">
            <a:extLst>
              <a:ext uri="{FF2B5EF4-FFF2-40B4-BE49-F238E27FC236}">
                <a16:creationId xmlns:a16="http://schemas.microsoft.com/office/drawing/2014/main" id="{255BCE0C-44F4-414E-9018-BDE0FAE80B44}"/>
              </a:ext>
            </a:extLst>
          </p:cNvPr>
          <p:cNvSpPr txBox="1"/>
          <p:nvPr/>
        </p:nvSpPr>
        <p:spPr>
          <a:xfrm>
            <a:off x="3902423" y="5929822"/>
            <a:ext cx="6865643" cy="830997"/>
          </a:xfrm>
          <a:prstGeom prst="rect">
            <a:avLst/>
          </a:prstGeom>
          <a:noFill/>
        </p:spPr>
        <p:txBody>
          <a:bodyPr wrap="square">
            <a:spAutoFit/>
          </a:bodyPr>
          <a:lstStyle/>
          <a:p>
            <a:r>
              <a:rPr lang="en" sz="1200" b="1" dirty="0"/>
              <a:t>Figure XX:  </a:t>
            </a:r>
            <a:r>
              <a:rPr lang="en-US" sz="1200" dirty="0"/>
              <a:t>Comparison of parameter rankings across current density regions based on </a:t>
            </a:r>
            <a:r>
              <a:rPr lang="en-US" sz="1200" dirty="0" err="1"/>
              <a:t>Sobol</a:t>
            </a:r>
            <a:r>
              <a:rPr lang="en-US" sz="1200" dirty="0"/>
              <a:t> values. Lines track changes in feature importance from activation to ohmic to mass transport regions, where a lower rank indicates higher influence on model output.</a:t>
            </a:r>
            <a:endParaRPr lang="es-CO" sz="1200" dirty="0"/>
          </a:p>
          <a:p>
            <a:endParaRPr lang="es-CO" sz="1200" dirty="0"/>
          </a:p>
        </p:txBody>
      </p:sp>
      <p:grpSp>
        <p:nvGrpSpPr>
          <p:cNvPr id="16" name="Grupo 15">
            <a:extLst>
              <a:ext uri="{FF2B5EF4-FFF2-40B4-BE49-F238E27FC236}">
                <a16:creationId xmlns:a16="http://schemas.microsoft.com/office/drawing/2014/main" id="{27BBF6AE-2B60-41F2-B346-BF436FCCC2D4}"/>
              </a:ext>
            </a:extLst>
          </p:cNvPr>
          <p:cNvGrpSpPr/>
          <p:nvPr/>
        </p:nvGrpSpPr>
        <p:grpSpPr>
          <a:xfrm>
            <a:off x="998926" y="3760632"/>
            <a:ext cx="1926849" cy="2485677"/>
            <a:chOff x="934055" y="3760632"/>
            <a:chExt cx="1926849" cy="2485677"/>
          </a:xfrm>
        </p:grpSpPr>
        <p:sp>
          <p:nvSpPr>
            <p:cNvPr id="30" name="CuadroTexto 29">
              <a:extLst>
                <a:ext uri="{FF2B5EF4-FFF2-40B4-BE49-F238E27FC236}">
                  <a16:creationId xmlns:a16="http://schemas.microsoft.com/office/drawing/2014/main" id="{3C1B5255-2376-4DDA-AE12-091E0536248A}"/>
                </a:ext>
              </a:extLst>
            </p:cNvPr>
            <p:cNvSpPr txBox="1"/>
            <p:nvPr/>
          </p:nvSpPr>
          <p:spPr>
            <a:xfrm>
              <a:off x="934055" y="3923227"/>
              <a:ext cx="1926849" cy="2246769"/>
            </a:xfrm>
            <a:prstGeom prst="rect">
              <a:avLst/>
            </a:prstGeom>
            <a:noFill/>
          </p:spPr>
          <p:txBody>
            <a:bodyPr wrap="square">
              <a:spAutoFit/>
            </a:bodyPr>
            <a:lstStyle/>
            <a:p>
              <a:pPr marL="285750" indent="-285750" fontAlgn="base">
                <a:buFontTx/>
                <a:buChar char="→"/>
                <a:defRPr/>
              </a:pPr>
              <a:r>
                <a:rPr lang="es-CO" sz="1400" dirty="0" err="1">
                  <a:solidFill>
                    <a:srgbClr val="242121"/>
                  </a:solidFill>
                  <a:latin typeface="Source Sans Pro" panose="020B0503030403020204" pitchFamily="34" charset="0"/>
                </a:rPr>
                <a:t>Pa_des</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err="1">
                  <a:solidFill>
                    <a:srgbClr val="242121"/>
                  </a:solidFill>
                  <a:latin typeface="Source Sans Pro" panose="020B0503030403020204" pitchFamily="34" charset="0"/>
                </a:rPr>
                <a:t>Phi_c_des</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a:solidFill>
                    <a:srgbClr val="242121"/>
                  </a:solidFill>
                  <a:latin typeface="Source Sans Pro" panose="020B0503030403020204" pitchFamily="34" charset="0"/>
                </a:rPr>
                <a:t>Re</a:t>
              </a:r>
            </a:p>
            <a:p>
              <a:pPr marL="285750" indent="-285750" fontAlgn="base">
                <a:buFontTx/>
                <a:buChar char="→"/>
                <a:defRPr/>
              </a:pPr>
              <a:r>
                <a:rPr lang="es-CO" sz="1400" dirty="0" err="1">
                  <a:solidFill>
                    <a:srgbClr val="242121"/>
                  </a:solidFill>
                  <a:latin typeface="Source Sans Pro" panose="020B0503030403020204" pitchFamily="34" charset="0"/>
                </a:rPr>
                <a:t>Tfc</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err="1">
                  <a:solidFill>
                    <a:srgbClr val="242121"/>
                  </a:solidFill>
                  <a:latin typeface="Source Sans Pro" panose="020B0503030403020204" pitchFamily="34" charset="0"/>
                </a:rPr>
                <a:t>epsilon_mc</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a:solidFill>
                    <a:srgbClr val="242121"/>
                  </a:solidFill>
                  <a:latin typeface="Source Sans Pro" panose="020B0503030403020204" pitchFamily="34" charset="0"/>
                </a:rPr>
                <a:t>i0_c_ref</a:t>
              </a:r>
            </a:p>
            <a:p>
              <a:pPr marL="285750" indent="-285750" fontAlgn="base">
                <a:buFontTx/>
                <a:buChar char="→"/>
                <a:defRPr/>
              </a:pPr>
              <a:r>
                <a:rPr lang="es-CO" sz="1400" dirty="0" err="1">
                  <a:solidFill>
                    <a:srgbClr val="242121"/>
                  </a:solidFill>
                  <a:latin typeface="Source Sans Pro" panose="020B0503030403020204" pitchFamily="34" charset="0"/>
                </a:rPr>
                <a:t>Ifc</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err="1">
                  <a:solidFill>
                    <a:srgbClr val="242121"/>
                  </a:solidFill>
                  <a:latin typeface="Source Sans Pro" panose="020B0503030403020204" pitchFamily="34" charset="0"/>
                </a:rPr>
                <a:t>kappa_c</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err="1">
                  <a:solidFill>
                    <a:srgbClr val="242121"/>
                  </a:solidFill>
                  <a:latin typeface="Source Sans Pro" panose="020B0503030403020204" pitchFamily="34" charset="0"/>
                </a:rPr>
                <a:t>kappa_co</a:t>
              </a:r>
              <a:endParaRPr lang="es-CO" sz="1400" dirty="0">
                <a:solidFill>
                  <a:srgbClr val="242121"/>
                </a:solidFill>
                <a:latin typeface="Source Sans Pro" panose="020B0503030403020204" pitchFamily="34" charset="0"/>
              </a:endParaRPr>
            </a:p>
            <a:p>
              <a:pPr marL="285750" indent="-285750" fontAlgn="base">
                <a:buFontTx/>
                <a:buChar char="→"/>
                <a:defRPr/>
              </a:pPr>
              <a:r>
                <a:rPr lang="es-CO" sz="1400" dirty="0">
                  <a:solidFill>
                    <a:srgbClr val="242121"/>
                  </a:solidFill>
                  <a:latin typeface="Source Sans Pro" panose="020B0503030403020204" pitchFamily="34" charset="0"/>
                </a:rPr>
                <a:t>tau</a:t>
              </a:r>
            </a:p>
          </p:txBody>
        </p:sp>
        <p:sp>
          <p:nvSpPr>
            <p:cNvPr id="12" name="Rectángulo 11">
              <a:extLst>
                <a:ext uri="{FF2B5EF4-FFF2-40B4-BE49-F238E27FC236}">
                  <a16:creationId xmlns:a16="http://schemas.microsoft.com/office/drawing/2014/main" id="{A9F88BA6-EE32-4182-9956-3636270ADDFF}"/>
                </a:ext>
              </a:extLst>
            </p:cNvPr>
            <p:cNvSpPr/>
            <p:nvPr/>
          </p:nvSpPr>
          <p:spPr>
            <a:xfrm>
              <a:off x="1124042" y="3760632"/>
              <a:ext cx="1127760" cy="2485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35" name="CuadroTexto 34">
                  <a:extLst>
                    <a:ext uri="{FF2B5EF4-FFF2-40B4-BE49-F238E27FC236}">
                      <a16:creationId xmlns:a16="http://schemas.microsoft.com/office/drawing/2014/main" id="{5ED0C9EF-8833-483A-AED0-E82460B49A95}"/>
                    </a:ext>
                  </a:extLst>
                </p:cNvPr>
                <p:cNvSpPr txBox="1"/>
                <p:nvPr/>
              </p:nvSpPr>
              <p:spPr>
                <a:xfrm>
                  <a:off x="1201883" y="3990190"/>
                  <a:ext cx="41267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𝑃𝑎</m:t>
                            </m:r>
                          </m:e>
                          <m:sub>
                            <m:r>
                              <a:rPr lang="es-ES" sz="1200" b="0" i="1" smtClean="0">
                                <a:latin typeface="Cambria Math" panose="02040503050406030204" pitchFamily="18" charset="0"/>
                              </a:rPr>
                              <m:t>𝑑𝑒𝑠</m:t>
                            </m:r>
                          </m:sub>
                        </m:sSub>
                      </m:oMath>
                    </m:oMathPara>
                  </a14:m>
                  <a:endParaRPr lang="es-CO" sz="1200" dirty="0"/>
                </a:p>
              </p:txBody>
            </p:sp>
          </mc:Choice>
          <mc:Fallback>
            <p:sp>
              <p:nvSpPr>
                <p:cNvPr id="35" name="CuadroTexto 34">
                  <a:extLst>
                    <a:ext uri="{FF2B5EF4-FFF2-40B4-BE49-F238E27FC236}">
                      <a16:creationId xmlns:a16="http://schemas.microsoft.com/office/drawing/2014/main" id="{5ED0C9EF-8833-483A-AED0-E82460B49A95}"/>
                    </a:ext>
                  </a:extLst>
                </p:cNvPr>
                <p:cNvSpPr txBox="1">
                  <a:spLocks noRot="1" noChangeAspect="1" noMove="1" noResize="1" noEditPoints="1" noAdjustHandles="1" noChangeArrowheads="1" noChangeShapeType="1" noTextEdit="1"/>
                </p:cNvSpPr>
                <p:nvPr/>
              </p:nvSpPr>
              <p:spPr>
                <a:xfrm>
                  <a:off x="1201883" y="3990190"/>
                  <a:ext cx="412677" cy="184666"/>
                </a:xfrm>
                <a:prstGeom prst="rect">
                  <a:avLst/>
                </a:prstGeom>
                <a:blipFill>
                  <a:blip r:embed="rId17"/>
                  <a:stretch>
                    <a:fillRect l="-8955" r="-4478" b="-13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6" name="CuadroTexto 35">
                  <a:extLst>
                    <a:ext uri="{FF2B5EF4-FFF2-40B4-BE49-F238E27FC236}">
                      <a16:creationId xmlns:a16="http://schemas.microsoft.com/office/drawing/2014/main" id="{45418BF1-1C65-40CE-B621-A43C4F8D04ED}"/>
                    </a:ext>
                  </a:extLst>
                </p:cNvPr>
                <p:cNvSpPr txBox="1"/>
                <p:nvPr/>
              </p:nvSpPr>
              <p:spPr>
                <a:xfrm>
                  <a:off x="1201883" y="4178168"/>
                  <a:ext cx="39344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𝜙</m:t>
                            </m:r>
                          </m:e>
                          <m:sub>
                            <m:r>
                              <a:rPr lang="es-ES" sz="1200" b="0" i="1" smtClean="0">
                                <a:latin typeface="Cambria Math" panose="02040503050406030204" pitchFamily="18" charset="0"/>
                              </a:rPr>
                              <m:t>𝑐𝑑𝑒𝑠</m:t>
                            </m:r>
                          </m:sub>
                        </m:sSub>
                      </m:oMath>
                    </m:oMathPara>
                  </a14:m>
                  <a:endParaRPr lang="es-CO" sz="1200" dirty="0"/>
                </a:p>
              </p:txBody>
            </p:sp>
          </mc:Choice>
          <mc:Fallback>
            <p:sp>
              <p:nvSpPr>
                <p:cNvPr id="36" name="CuadroTexto 35">
                  <a:extLst>
                    <a:ext uri="{FF2B5EF4-FFF2-40B4-BE49-F238E27FC236}">
                      <a16:creationId xmlns:a16="http://schemas.microsoft.com/office/drawing/2014/main" id="{45418BF1-1C65-40CE-B621-A43C4F8D04ED}"/>
                    </a:ext>
                  </a:extLst>
                </p:cNvPr>
                <p:cNvSpPr txBox="1">
                  <a:spLocks noRot="1" noChangeAspect="1" noMove="1" noResize="1" noEditPoints="1" noAdjustHandles="1" noChangeArrowheads="1" noChangeShapeType="1" noTextEdit="1"/>
                </p:cNvSpPr>
                <p:nvPr/>
              </p:nvSpPr>
              <p:spPr>
                <a:xfrm>
                  <a:off x="1201883" y="4178168"/>
                  <a:ext cx="393441" cy="184666"/>
                </a:xfrm>
                <a:prstGeom prst="rect">
                  <a:avLst/>
                </a:prstGeom>
                <a:blipFill>
                  <a:blip r:embed="rId18"/>
                  <a:stretch>
                    <a:fillRect l="-14063" r="-3125" b="-2903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8" name="CuadroTexto 37">
                  <a:extLst>
                    <a:ext uri="{FF2B5EF4-FFF2-40B4-BE49-F238E27FC236}">
                      <a16:creationId xmlns:a16="http://schemas.microsoft.com/office/drawing/2014/main" id="{04CFC5C3-504A-41FB-9255-16C2A038C4DB}"/>
                    </a:ext>
                  </a:extLst>
                </p:cNvPr>
                <p:cNvSpPr txBox="1"/>
                <p:nvPr/>
              </p:nvSpPr>
              <p:spPr>
                <a:xfrm>
                  <a:off x="1201883" y="4838718"/>
                  <a:ext cx="27930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𝑚𝑐</m:t>
                            </m:r>
                          </m:sub>
                        </m:sSub>
                      </m:oMath>
                    </m:oMathPara>
                  </a14:m>
                  <a:endParaRPr lang="es-CO" sz="1200" dirty="0"/>
                </a:p>
              </p:txBody>
            </p:sp>
          </mc:Choice>
          <mc:Fallback>
            <p:sp>
              <p:nvSpPr>
                <p:cNvPr id="38" name="CuadroTexto 37">
                  <a:extLst>
                    <a:ext uri="{FF2B5EF4-FFF2-40B4-BE49-F238E27FC236}">
                      <a16:creationId xmlns:a16="http://schemas.microsoft.com/office/drawing/2014/main" id="{04CFC5C3-504A-41FB-9255-16C2A038C4DB}"/>
                    </a:ext>
                  </a:extLst>
                </p:cNvPr>
                <p:cNvSpPr txBox="1">
                  <a:spLocks noRot="1" noChangeAspect="1" noMove="1" noResize="1" noEditPoints="1" noAdjustHandles="1" noChangeArrowheads="1" noChangeShapeType="1" noTextEdit="1"/>
                </p:cNvSpPr>
                <p:nvPr/>
              </p:nvSpPr>
              <p:spPr>
                <a:xfrm>
                  <a:off x="1201883" y="4838718"/>
                  <a:ext cx="279307" cy="184666"/>
                </a:xfrm>
                <a:prstGeom prst="rect">
                  <a:avLst/>
                </a:prstGeom>
                <a:blipFill>
                  <a:blip r:embed="rId19"/>
                  <a:stretch>
                    <a:fillRect l="-8696" b="-1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0" name="CuadroTexto 39">
                  <a:extLst>
                    <a:ext uri="{FF2B5EF4-FFF2-40B4-BE49-F238E27FC236}">
                      <a16:creationId xmlns:a16="http://schemas.microsoft.com/office/drawing/2014/main" id="{08F9D0BE-9736-4659-B38B-9B4BC69C836E}"/>
                    </a:ext>
                  </a:extLst>
                </p:cNvPr>
                <p:cNvSpPr txBox="1"/>
                <p:nvPr/>
              </p:nvSpPr>
              <p:spPr>
                <a:xfrm>
                  <a:off x="1201883" y="5912843"/>
                  <a:ext cx="10913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𝜏</m:t>
                        </m:r>
                      </m:oMath>
                    </m:oMathPara>
                  </a14:m>
                  <a:endParaRPr lang="es-CO" sz="1200" dirty="0"/>
                </a:p>
              </p:txBody>
            </p:sp>
          </mc:Choice>
          <mc:Fallback>
            <p:sp>
              <p:nvSpPr>
                <p:cNvPr id="40" name="CuadroTexto 39">
                  <a:extLst>
                    <a:ext uri="{FF2B5EF4-FFF2-40B4-BE49-F238E27FC236}">
                      <a16:creationId xmlns:a16="http://schemas.microsoft.com/office/drawing/2014/main" id="{08F9D0BE-9736-4659-B38B-9B4BC69C836E}"/>
                    </a:ext>
                  </a:extLst>
                </p:cNvPr>
                <p:cNvSpPr txBox="1">
                  <a:spLocks noRot="1" noChangeAspect="1" noMove="1" noResize="1" noEditPoints="1" noAdjustHandles="1" noChangeArrowheads="1" noChangeShapeType="1" noTextEdit="1"/>
                </p:cNvSpPr>
                <p:nvPr/>
              </p:nvSpPr>
              <p:spPr>
                <a:xfrm>
                  <a:off x="1201883" y="5912843"/>
                  <a:ext cx="109132" cy="184666"/>
                </a:xfrm>
                <a:prstGeom prst="rect">
                  <a:avLst/>
                </a:prstGeom>
                <a:blipFill>
                  <a:blip r:embed="rId20"/>
                  <a:stretch>
                    <a:fillRect l="-22222" r="-1111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1" name="CuadroTexto 40">
                  <a:extLst>
                    <a:ext uri="{FF2B5EF4-FFF2-40B4-BE49-F238E27FC236}">
                      <a16:creationId xmlns:a16="http://schemas.microsoft.com/office/drawing/2014/main" id="{5F34B42E-2DD2-45D9-93F7-6B12972418AF}"/>
                    </a:ext>
                  </a:extLst>
                </p:cNvPr>
                <p:cNvSpPr txBox="1"/>
                <p:nvPr/>
              </p:nvSpPr>
              <p:spPr>
                <a:xfrm>
                  <a:off x="1201883" y="5063076"/>
                  <a:ext cx="449033" cy="19947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𝑖</m:t>
                            </m:r>
                            <m:r>
                              <a:rPr lang="es-ES" sz="1200" b="0" i="1" smtClean="0">
                                <a:latin typeface="Cambria Math" panose="02040503050406030204" pitchFamily="18" charset="0"/>
                              </a:rPr>
                              <m:t>0</m:t>
                            </m:r>
                          </m:e>
                          <m:sub>
                            <m:r>
                              <a:rPr lang="es-ES" sz="1200" b="0" i="1" smtClean="0">
                                <a:latin typeface="Cambria Math" panose="02040503050406030204" pitchFamily="18" charset="0"/>
                              </a:rPr>
                              <m:t>𝑐</m:t>
                            </m:r>
                            <m:r>
                              <a:rPr lang="es-ES" sz="1200" b="0" i="1" smtClean="0">
                                <a:latin typeface="Cambria Math" panose="02040503050406030204" pitchFamily="18" charset="0"/>
                              </a:rPr>
                              <m:t> </m:t>
                            </m:r>
                            <m:r>
                              <a:rPr lang="es-ES" sz="1200" b="0" i="1" smtClean="0">
                                <a:latin typeface="Cambria Math" panose="02040503050406030204" pitchFamily="18" charset="0"/>
                              </a:rPr>
                              <m:t>𝑟𝑒𝑓</m:t>
                            </m:r>
                          </m:sub>
                        </m:sSub>
                      </m:oMath>
                    </m:oMathPara>
                  </a14:m>
                  <a:endParaRPr lang="es-CO" sz="1200" dirty="0"/>
                </a:p>
              </p:txBody>
            </p:sp>
          </mc:Choice>
          <mc:Fallback>
            <p:sp>
              <p:nvSpPr>
                <p:cNvPr id="41" name="CuadroTexto 40">
                  <a:extLst>
                    <a:ext uri="{FF2B5EF4-FFF2-40B4-BE49-F238E27FC236}">
                      <a16:creationId xmlns:a16="http://schemas.microsoft.com/office/drawing/2014/main" id="{5F34B42E-2DD2-45D9-93F7-6B12972418AF}"/>
                    </a:ext>
                  </a:extLst>
                </p:cNvPr>
                <p:cNvSpPr txBox="1">
                  <a:spLocks noRot="1" noChangeAspect="1" noMove="1" noResize="1" noEditPoints="1" noAdjustHandles="1" noChangeArrowheads="1" noChangeShapeType="1" noTextEdit="1"/>
                </p:cNvSpPr>
                <p:nvPr/>
              </p:nvSpPr>
              <p:spPr>
                <a:xfrm>
                  <a:off x="1201883" y="5063076"/>
                  <a:ext cx="449033" cy="199478"/>
                </a:xfrm>
                <a:prstGeom prst="rect">
                  <a:avLst/>
                </a:prstGeom>
                <a:blipFill>
                  <a:blip r:embed="rId21"/>
                  <a:stretch>
                    <a:fillRect l="-8219" r="-5479" b="-2812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2" name="CuadroTexto 41">
                  <a:extLst>
                    <a:ext uri="{FF2B5EF4-FFF2-40B4-BE49-F238E27FC236}">
                      <a16:creationId xmlns:a16="http://schemas.microsoft.com/office/drawing/2014/main" id="{9F4DA5CE-0479-4C73-BD81-78C9F6D934EF}"/>
                    </a:ext>
                  </a:extLst>
                </p:cNvPr>
                <p:cNvSpPr txBox="1"/>
                <p:nvPr/>
              </p:nvSpPr>
              <p:spPr>
                <a:xfrm>
                  <a:off x="1201883" y="5671790"/>
                  <a:ext cx="249299"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𝜅</m:t>
                            </m:r>
                          </m:e>
                          <m:sub>
                            <m:r>
                              <a:rPr lang="es-ES" sz="1200" b="0" i="1" smtClean="0">
                                <a:latin typeface="Cambria Math" panose="02040503050406030204" pitchFamily="18" charset="0"/>
                              </a:rPr>
                              <m:t>𝑐𝑜</m:t>
                            </m:r>
                          </m:sub>
                        </m:sSub>
                      </m:oMath>
                    </m:oMathPara>
                  </a14:m>
                  <a:endParaRPr lang="es-CO" sz="1200" dirty="0"/>
                </a:p>
              </p:txBody>
            </p:sp>
          </mc:Choice>
          <mc:Fallback>
            <p:sp>
              <p:nvSpPr>
                <p:cNvPr id="42" name="CuadroTexto 41">
                  <a:extLst>
                    <a:ext uri="{FF2B5EF4-FFF2-40B4-BE49-F238E27FC236}">
                      <a16:creationId xmlns:a16="http://schemas.microsoft.com/office/drawing/2014/main" id="{9F4DA5CE-0479-4C73-BD81-78C9F6D934EF}"/>
                    </a:ext>
                  </a:extLst>
                </p:cNvPr>
                <p:cNvSpPr txBox="1">
                  <a:spLocks noRot="1" noChangeAspect="1" noMove="1" noResize="1" noEditPoints="1" noAdjustHandles="1" noChangeArrowheads="1" noChangeShapeType="1" noTextEdit="1"/>
                </p:cNvSpPr>
                <p:nvPr/>
              </p:nvSpPr>
              <p:spPr>
                <a:xfrm>
                  <a:off x="1201883" y="5671790"/>
                  <a:ext cx="249299" cy="184666"/>
                </a:xfrm>
                <a:prstGeom prst="rect">
                  <a:avLst/>
                </a:prstGeom>
                <a:blipFill>
                  <a:blip r:embed="rId22"/>
                  <a:stretch>
                    <a:fillRect l="-9756" r="-2439" b="-645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3" name="CuadroTexto 42">
                  <a:extLst>
                    <a:ext uri="{FF2B5EF4-FFF2-40B4-BE49-F238E27FC236}">
                      <a16:creationId xmlns:a16="http://schemas.microsoft.com/office/drawing/2014/main" id="{1E59CB97-3F4B-4663-B282-D6455FF12BB4}"/>
                    </a:ext>
                  </a:extLst>
                </p:cNvPr>
                <p:cNvSpPr txBox="1"/>
                <p:nvPr/>
              </p:nvSpPr>
              <p:spPr>
                <a:xfrm>
                  <a:off x="1201883" y="5476469"/>
                  <a:ext cx="184730"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𝜅</m:t>
                            </m:r>
                          </m:e>
                          <m:sub>
                            <m:r>
                              <a:rPr lang="es-ES" sz="1200" b="0" i="1" smtClean="0">
                                <a:latin typeface="Cambria Math" panose="02040503050406030204" pitchFamily="18" charset="0"/>
                              </a:rPr>
                              <m:t>𝑐</m:t>
                            </m:r>
                          </m:sub>
                        </m:sSub>
                      </m:oMath>
                    </m:oMathPara>
                  </a14:m>
                  <a:endParaRPr lang="es-CO" sz="1200" dirty="0"/>
                </a:p>
              </p:txBody>
            </p:sp>
          </mc:Choice>
          <mc:Fallback>
            <p:sp>
              <p:nvSpPr>
                <p:cNvPr id="43" name="CuadroTexto 42">
                  <a:extLst>
                    <a:ext uri="{FF2B5EF4-FFF2-40B4-BE49-F238E27FC236}">
                      <a16:creationId xmlns:a16="http://schemas.microsoft.com/office/drawing/2014/main" id="{1E59CB97-3F4B-4663-B282-D6455FF12BB4}"/>
                    </a:ext>
                  </a:extLst>
                </p:cNvPr>
                <p:cNvSpPr txBox="1">
                  <a:spLocks noRot="1" noChangeAspect="1" noMove="1" noResize="1" noEditPoints="1" noAdjustHandles="1" noChangeArrowheads="1" noChangeShapeType="1" noTextEdit="1"/>
                </p:cNvSpPr>
                <p:nvPr/>
              </p:nvSpPr>
              <p:spPr>
                <a:xfrm>
                  <a:off x="1201883" y="5476469"/>
                  <a:ext cx="184730" cy="184666"/>
                </a:xfrm>
                <a:prstGeom prst="rect">
                  <a:avLst/>
                </a:prstGeom>
                <a:blipFill>
                  <a:blip r:embed="rId23"/>
                  <a:stretch>
                    <a:fillRect l="-13333" r="-3333" b="-645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4" name="CuadroTexto 43">
                  <a:extLst>
                    <a:ext uri="{FF2B5EF4-FFF2-40B4-BE49-F238E27FC236}">
                      <a16:creationId xmlns:a16="http://schemas.microsoft.com/office/drawing/2014/main" id="{C02FEC9D-B665-42AC-BAF5-53265084FE6F}"/>
                    </a:ext>
                  </a:extLst>
                </p:cNvPr>
                <p:cNvSpPr txBox="1"/>
                <p:nvPr/>
              </p:nvSpPr>
              <p:spPr>
                <a:xfrm>
                  <a:off x="1201883" y="4614360"/>
                  <a:ext cx="236156"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𝑇𝑓𝑐</m:t>
                        </m:r>
                      </m:oMath>
                    </m:oMathPara>
                  </a14:m>
                  <a:endParaRPr lang="es-CO" sz="1200" dirty="0"/>
                </a:p>
              </p:txBody>
            </p:sp>
          </mc:Choice>
          <mc:Fallback>
            <p:sp>
              <p:nvSpPr>
                <p:cNvPr id="44" name="CuadroTexto 43">
                  <a:extLst>
                    <a:ext uri="{FF2B5EF4-FFF2-40B4-BE49-F238E27FC236}">
                      <a16:creationId xmlns:a16="http://schemas.microsoft.com/office/drawing/2014/main" id="{C02FEC9D-B665-42AC-BAF5-53265084FE6F}"/>
                    </a:ext>
                  </a:extLst>
                </p:cNvPr>
                <p:cNvSpPr txBox="1">
                  <a:spLocks noRot="1" noChangeAspect="1" noMove="1" noResize="1" noEditPoints="1" noAdjustHandles="1" noChangeArrowheads="1" noChangeShapeType="1" noTextEdit="1"/>
                </p:cNvSpPr>
                <p:nvPr/>
              </p:nvSpPr>
              <p:spPr>
                <a:xfrm>
                  <a:off x="1201883" y="4614360"/>
                  <a:ext cx="236156" cy="184666"/>
                </a:xfrm>
                <a:prstGeom prst="rect">
                  <a:avLst/>
                </a:prstGeom>
                <a:blipFill>
                  <a:blip r:embed="rId24"/>
                  <a:stretch>
                    <a:fillRect l="-30769" t="-3333" r="-35897" b="-33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6" name="CuadroTexto 45">
                  <a:extLst>
                    <a:ext uri="{FF2B5EF4-FFF2-40B4-BE49-F238E27FC236}">
                      <a16:creationId xmlns:a16="http://schemas.microsoft.com/office/drawing/2014/main" id="{B6C19137-7CA8-411B-BA65-EF24FACC6E4E}"/>
                    </a:ext>
                  </a:extLst>
                </p:cNvPr>
                <p:cNvSpPr txBox="1"/>
                <p:nvPr/>
              </p:nvSpPr>
              <p:spPr>
                <a:xfrm>
                  <a:off x="1201883" y="5267427"/>
                  <a:ext cx="24372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𝑖𝑓𝑐</m:t>
                        </m:r>
                      </m:oMath>
                    </m:oMathPara>
                  </a14:m>
                  <a:endParaRPr lang="es-CO" sz="1200" dirty="0"/>
                </a:p>
              </p:txBody>
            </p:sp>
          </mc:Choice>
          <mc:Fallback>
            <p:sp>
              <p:nvSpPr>
                <p:cNvPr id="46" name="CuadroTexto 45">
                  <a:extLst>
                    <a:ext uri="{FF2B5EF4-FFF2-40B4-BE49-F238E27FC236}">
                      <a16:creationId xmlns:a16="http://schemas.microsoft.com/office/drawing/2014/main" id="{B6C19137-7CA8-411B-BA65-EF24FACC6E4E}"/>
                    </a:ext>
                  </a:extLst>
                </p:cNvPr>
                <p:cNvSpPr txBox="1">
                  <a:spLocks noRot="1" noChangeAspect="1" noMove="1" noResize="1" noEditPoints="1" noAdjustHandles="1" noChangeArrowheads="1" noChangeShapeType="1" noTextEdit="1"/>
                </p:cNvSpPr>
                <p:nvPr/>
              </p:nvSpPr>
              <p:spPr>
                <a:xfrm>
                  <a:off x="1201883" y="5267427"/>
                  <a:ext cx="243721" cy="184666"/>
                </a:xfrm>
                <a:prstGeom prst="rect">
                  <a:avLst/>
                </a:prstGeom>
                <a:blipFill>
                  <a:blip r:embed="rId25"/>
                  <a:stretch>
                    <a:fillRect l="-22500" t="-3333" r="-22500" b="-33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8" name="CuadroTexto 47">
                  <a:extLst>
                    <a:ext uri="{FF2B5EF4-FFF2-40B4-BE49-F238E27FC236}">
                      <a16:creationId xmlns:a16="http://schemas.microsoft.com/office/drawing/2014/main" id="{E6E65BA4-01FD-4DBE-B1DE-C96ADB376709}"/>
                    </a:ext>
                  </a:extLst>
                </p:cNvPr>
                <p:cNvSpPr txBox="1"/>
                <p:nvPr/>
              </p:nvSpPr>
              <p:spPr>
                <a:xfrm>
                  <a:off x="1201883" y="4422074"/>
                  <a:ext cx="21339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𝑅𝑒</m:t>
                        </m:r>
                      </m:oMath>
                    </m:oMathPara>
                  </a14:m>
                  <a:endParaRPr lang="es-CO" sz="1200" dirty="0"/>
                </a:p>
              </p:txBody>
            </p:sp>
          </mc:Choice>
          <mc:Fallback>
            <p:sp>
              <p:nvSpPr>
                <p:cNvPr id="48" name="CuadroTexto 47">
                  <a:extLst>
                    <a:ext uri="{FF2B5EF4-FFF2-40B4-BE49-F238E27FC236}">
                      <a16:creationId xmlns:a16="http://schemas.microsoft.com/office/drawing/2014/main" id="{E6E65BA4-01FD-4DBE-B1DE-C96ADB376709}"/>
                    </a:ext>
                  </a:extLst>
                </p:cNvPr>
                <p:cNvSpPr txBox="1">
                  <a:spLocks noRot="1" noChangeAspect="1" noMove="1" noResize="1" noEditPoints="1" noAdjustHandles="1" noChangeArrowheads="1" noChangeShapeType="1" noTextEdit="1"/>
                </p:cNvSpPr>
                <p:nvPr/>
              </p:nvSpPr>
              <p:spPr>
                <a:xfrm>
                  <a:off x="1201883" y="4422074"/>
                  <a:ext cx="213392" cy="184666"/>
                </a:xfrm>
                <a:prstGeom prst="rect">
                  <a:avLst/>
                </a:prstGeom>
                <a:blipFill>
                  <a:blip r:embed="rId26"/>
                  <a:stretch>
                    <a:fillRect l="-17143" r="-14286" b="-3226"/>
                  </a:stretch>
                </a:blipFill>
              </p:spPr>
              <p:txBody>
                <a:bodyPr/>
                <a:lstStyle/>
                <a:p>
                  <a:r>
                    <a:rPr lang="es-CO">
                      <a:noFill/>
                    </a:rPr>
                    <a:t> </a:t>
                  </a:r>
                </a:p>
              </p:txBody>
            </p:sp>
          </mc:Fallback>
        </mc:AlternateContent>
      </p:grpSp>
      <p:sp>
        <p:nvSpPr>
          <p:cNvPr id="53" name="CuadroTexto 52">
            <a:extLst>
              <a:ext uri="{FF2B5EF4-FFF2-40B4-BE49-F238E27FC236}">
                <a16:creationId xmlns:a16="http://schemas.microsoft.com/office/drawing/2014/main" id="{006FCBC3-2F01-461E-B4FF-28EFF2FA427B}"/>
              </a:ext>
            </a:extLst>
          </p:cNvPr>
          <p:cNvSpPr txBox="1"/>
          <p:nvPr/>
        </p:nvSpPr>
        <p:spPr>
          <a:xfrm>
            <a:off x="954648" y="3147689"/>
            <a:ext cx="2047322" cy="461665"/>
          </a:xfrm>
          <a:prstGeom prst="rect">
            <a:avLst/>
          </a:prstGeom>
          <a:noFill/>
        </p:spPr>
        <p:txBody>
          <a:bodyPr wrap="square">
            <a:spAutoFit/>
          </a:bodyPr>
          <a:lstStyle/>
          <a:p>
            <a:r>
              <a:rPr lang="en-US" sz="1200" b="1" dirty="0">
                <a:solidFill>
                  <a:prstClr val="black"/>
                </a:solidFill>
                <a:latin typeface="Source Sans Pro" panose="020B0503030403020204" pitchFamily="34" charset="0"/>
                <a:ea typeface="Source Sans Pro" panose="020B0503030403020204" pitchFamily="34" charset="0"/>
              </a:rPr>
              <a:t>Union of all selected features across regions</a:t>
            </a:r>
            <a:endParaRPr lang="es-CO" sz="1200" b="1" dirty="0">
              <a:solidFill>
                <a:prstClr val="black"/>
              </a:solidFill>
              <a:latin typeface="Source Sans Pro" panose="020B0503030403020204" pitchFamily="34" charset="0"/>
              <a:ea typeface="Source Sans Pro" panose="020B0503030403020204" pitchFamily="34" charset="0"/>
            </a:endParaRPr>
          </a:p>
        </p:txBody>
      </p:sp>
      <p:sp>
        <p:nvSpPr>
          <p:cNvPr id="55" name="CuadroTexto 54">
            <a:extLst>
              <a:ext uri="{FF2B5EF4-FFF2-40B4-BE49-F238E27FC236}">
                <a16:creationId xmlns:a16="http://schemas.microsoft.com/office/drawing/2014/main" id="{2918958D-6509-47E6-BA83-2BF940354F4C}"/>
              </a:ext>
            </a:extLst>
          </p:cNvPr>
          <p:cNvSpPr txBox="1"/>
          <p:nvPr/>
        </p:nvSpPr>
        <p:spPr>
          <a:xfrm>
            <a:off x="938872" y="3552362"/>
            <a:ext cx="1926849" cy="430887"/>
          </a:xfrm>
          <a:prstGeom prst="rect">
            <a:avLst/>
          </a:prstGeom>
          <a:noFill/>
        </p:spPr>
        <p:txBody>
          <a:bodyPr wrap="square">
            <a:spAutoFit/>
          </a:bodyPr>
          <a:lstStyle/>
          <a:p>
            <a:r>
              <a:rPr lang="es-CO" sz="1100" dirty="0">
                <a:solidFill>
                  <a:srgbClr val="242121"/>
                </a:solidFill>
                <a:latin typeface="Source Sans Pro" panose="020B0503030403020204" pitchFamily="34" charset="0"/>
              </a:rPr>
              <a:t>Total </a:t>
            </a:r>
            <a:r>
              <a:rPr lang="es-CO" sz="1100" dirty="0" err="1">
                <a:solidFill>
                  <a:srgbClr val="242121"/>
                </a:solidFill>
                <a:latin typeface="Source Sans Pro" panose="020B0503030403020204" pitchFamily="34" charset="0"/>
              </a:rPr>
              <a:t>importance</a:t>
            </a:r>
            <a:r>
              <a:rPr lang="es-CO" sz="1100" dirty="0">
                <a:solidFill>
                  <a:srgbClr val="242121"/>
                </a:solidFill>
                <a:latin typeface="Source Sans Pro" panose="020B0503030403020204" pitchFamily="34" charset="0"/>
              </a:rPr>
              <a:t> </a:t>
            </a:r>
          </a:p>
          <a:p>
            <a:r>
              <a:rPr lang="es-CO" sz="1100" dirty="0" err="1">
                <a:solidFill>
                  <a:srgbClr val="242121"/>
                </a:solidFill>
                <a:latin typeface="Source Sans Pro" panose="020B0503030403020204" pitchFamily="34" charset="0"/>
              </a:rPr>
              <a:t>explained</a:t>
            </a:r>
            <a:r>
              <a:rPr lang="en-US" sz="1100" dirty="0">
                <a:solidFill>
                  <a:srgbClr val="242121"/>
                </a:solidFill>
                <a:latin typeface="Source Sans Pro" panose="020B0503030403020204" pitchFamily="34" charset="0"/>
              </a:rPr>
              <a:t> &gt;95% - </a:t>
            </a:r>
            <a:r>
              <a:rPr lang="en-US" sz="1100" b="1" dirty="0">
                <a:solidFill>
                  <a:srgbClr val="242121"/>
                </a:solidFill>
                <a:latin typeface="Source Sans Pro" panose="020B0503030403020204" pitchFamily="34" charset="0"/>
              </a:rPr>
              <a:t>10 features</a:t>
            </a:r>
            <a:endParaRPr lang="es-CO" sz="1100" b="1" dirty="0">
              <a:solidFill>
                <a:srgbClr val="242121"/>
              </a:solidFill>
              <a:latin typeface="Source Sans Pro" panose="020B0503030403020204" pitchFamily="34" charset="0"/>
            </a:endParaRPr>
          </a:p>
        </p:txBody>
      </p:sp>
      <p:sp>
        <p:nvSpPr>
          <p:cNvPr id="17" name="Rectángulo: esquinas redondeadas 16">
            <a:extLst>
              <a:ext uri="{FF2B5EF4-FFF2-40B4-BE49-F238E27FC236}">
                <a16:creationId xmlns:a16="http://schemas.microsoft.com/office/drawing/2014/main" id="{F4B8F10B-2FA8-4CFD-9209-2B903D3B6322}"/>
              </a:ext>
            </a:extLst>
          </p:cNvPr>
          <p:cNvSpPr/>
          <p:nvPr/>
        </p:nvSpPr>
        <p:spPr>
          <a:xfrm>
            <a:off x="737761" y="3058848"/>
            <a:ext cx="2218328" cy="3095783"/>
          </a:xfrm>
          <a:prstGeom prst="roundRect">
            <a:avLst/>
          </a:prstGeom>
          <a:solidFill>
            <a:schemeClr val="bg1">
              <a:lumMod val="75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40234227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1508105"/>
          </a:xfrm>
          <a:prstGeom prst="rect">
            <a:avLst/>
          </a:prstGeom>
          <a:noFill/>
        </p:spPr>
        <p:txBody>
          <a:bodyPr wrap="square">
            <a:spAutoFit/>
          </a:bodyPr>
          <a:lstStyle/>
          <a:p>
            <a:r>
              <a:rPr lang="en-US" sz="3200" b="1" dirty="0">
                <a:solidFill>
                  <a:srgbClr val="BBE555"/>
                </a:solidFill>
                <a:latin typeface="Source Sans Pro" panose="020B0503030403020204" pitchFamily="34" charset="0"/>
                <a:ea typeface="Source Sans Pro" panose="020B0503030403020204" pitchFamily="34" charset="0"/>
              </a:rPr>
              <a:t>Comparing</a:t>
            </a:r>
            <a:r>
              <a:rPr kumimoji="0" lang="en-US" sz="3600" b="0" i="1" u="none" strike="noStrike" kern="1200" cap="none" spc="0" normalizeH="0" baseline="0" noProof="0" dirty="0">
                <a:ln>
                  <a:noFill/>
                </a:ln>
                <a:solidFill>
                  <a:srgbClr val="BBE555"/>
                </a:solidFill>
                <a:effectLst/>
                <a:uLnTx/>
                <a:uFillTx/>
                <a:latin typeface="Source Sans Pro Light" panose="020B0403030403020204" pitchFamily="34" charset="0"/>
                <a:ea typeface="Source Sans Pro Light" panose="020B0403030403020204" pitchFamily="34" charset="0"/>
                <a:cs typeface="+mn-cs"/>
              </a:rPr>
              <a:t> </a:t>
            </a:r>
          </a:p>
          <a:p>
            <a:r>
              <a:rPr lang="en-US" sz="2800" i="1" dirty="0">
                <a:solidFill>
                  <a:prstClr val="black"/>
                </a:solidFill>
                <a:latin typeface="Source Sans Pro Light" panose="020B0403030403020204" pitchFamily="34" charset="0"/>
                <a:ea typeface="Source Sans Pro Light" panose="020B0403030403020204" pitchFamily="34" charset="0"/>
              </a:rPr>
              <a:t>Rankings per </a:t>
            </a:r>
          </a:p>
          <a:p>
            <a:r>
              <a:rPr lang="en-US" sz="2800" i="1" dirty="0">
                <a:solidFill>
                  <a:prstClr val="black"/>
                </a:solidFill>
                <a:latin typeface="Source Sans Pro Light" panose="020B0403030403020204" pitchFamily="34" charset="0"/>
                <a:ea typeface="Source Sans Pro Light" panose="020B0403030403020204" pitchFamily="34" charset="0"/>
              </a:rPr>
              <a:t>Method</a:t>
            </a:r>
            <a:endParaRPr lang="es-CO" sz="3600" dirty="0"/>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31</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aphicFrame>
        <p:nvGraphicFramePr>
          <p:cNvPr id="2" name="Tabla 1">
            <a:extLst>
              <a:ext uri="{FF2B5EF4-FFF2-40B4-BE49-F238E27FC236}">
                <a16:creationId xmlns:a16="http://schemas.microsoft.com/office/drawing/2014/main" id="{4C47E022-82BD-4AFE-8340-EC14CAD0C12C}"/>
              </a:ext>
            </a:extLst>
          </p:cNvPr>
          <p:cNvGraphicFramePr>
            <a:graphicFrameLocks noGrp="1"/>
          </p:cNvGraphicFramePr>
          <p:nvPr>
            <p:extLst>
              <p:ext uri="{D42A27DB-BD31-4B8C-83A1-F6EECF244321}">
                <p14:modId xmlns:p14="http://schemas.microsoft.com/office/powerpoint/2010/main" val="4001060960"/>
              </p:ext>
            </p:extLst>
          </p:nvPr>
        </p:nvGraphicFramePr>
        <p:xfrm>
          <a:off x="7536260" y="1448464"/>
          <a:ext cx="4278663" cy="3089396"/>
        </p:xfrm>
        <a:graphic>
          <a:graphicData uri="http://schemas.openxmlformats.org/drawingml/2006/table">
            <a:tbl>
              <a:tblPr>
                <a:tableStyleId>{5C22544A-7EE6-4342-B048-85BDC9FD1C3A}</a:tableStyleId>
              </a:tblPr>
              <a:tblGrid>
                <a:gridCol w="978882">
                  <a:extLst>
                    <a:ext uri="{9D8B030D-6E8A-4147-A177-3AD203B41FA5}">
                      <a16:colId xmlns:a16="http://schemas.microsoft.com/office/drawing/2014/main" val="1387526258"/>
                    </a:ext>
                  </a:extLst>
                </a:gridCol>
                <a:gridCol w="978882">
                  <a:extLst>
                    <a:ext uri="{9D8B030D-6E8A-4147-A177-3AD203B41FA5}">
                      <a16:colId xmlns:a16="http://schemas.microsoft.com/office/drawing/2014/main" val="1495067489"/>
                    </a:ext>
                  </a:extLst>
                </a:gridCol>
                <a:gridCol w="978882">
                  <a:extLst>
                    <a:ext uri="{9D8B030D-6E8A-4147-A177-3AD203B41FA5}">
                      <a16:colId xmlns:a16="http://schemas.microsoft.com/office/drawing/2014/main" val="3270977024"/>
                    </a:ext>
                  </a:extLst>
                </a:gridCol>
                <a:gridCol w="1342017">
                  <a:extLst>
                    <a:ext uri="{9D8B030D-6E8A-4147-A177-3AD203B41FA5}">
                      <a16:colId xmlns:a16="http://schemas.microsoft.com/office/drawing/2014/main" val="2852300432"/>
                    </a:ext>
                  </a:extLst>
                </a:gridCol>
              </a:tblGrid>
              <a:tr h="371152">
                <a:tc>
                  <a:txBody>
                    <a:bodyPr/>
                    <a:lstStyle/>
                    <a:p>
                      <a:pPr marL="0" lvl="0" indent="0" algn="ctr" defTabSz="914400" rtl="0" eaLnBrk="1" fontAlgn="ctr" latinLnBrk="0" hangingPunct="1">
                        <a:lnSpc>
                          <a:spcPct val="115000"/>
                        </a:lnSpc>
                        <a:spcBef>
                          <a:spcPts val="0"/>
                        </a:spcBef>
                        <a:spcAft>
                          <a:spcPts val="0"/>
                        </a:spcAft>
                        <a:buNone/>
                      </a:pPr>
                      <a:r>
                        <a:rPr lang="es-CO" sz="1400" b="1" kern="1200" dirty="0" err="1">
                          <a:solidFill>
                            <a:schemeClr val="bg1">
                              <a:lumMod val="95000"/>
                            </a:schemeClr>
                          </a:solidFill>
                          <a:latin typeface="Source Sans Pro" panose="020B0503030403020204" pitchFamily="34" charset="0"/>
                          <a:ea typeface="Source Sans Pro" panose="020B0503030403020204" pitchFamily="34" charset="0"/>
                          <a:cs typeface="+mn-cs"/>
                        </a:rPr>
                        <a:t>Feature</a:t>
                      </a:r>
                      <a:endParaRPr lang="es-CO" sz="1400" b="1" kern="1200" dirty="0">
                        <a:solidFill>
                          <a:schemeClr val="bg1">
                            <a:lumMod val="95000"/>
                          </a:schemeClr>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8879F5"/>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err="1">
                          <a:solidFill>
                            <a:schemeClr val="bg1">
                              <a:lumMod val="95000"/>
                            </a:schemeClr>
                          </a:solidFill>
                          <a:latin typeface="Source Sans Pro" panose="020B0503030403020204" pitchFamily="34" charset="0"/>
                          <a:ea typeface="Source Sans Pro" panose="020B0503030403020204" pitchFamily="34" charset="0"/>
                          <a:cs typeface="+mn-cs"/>
                        </a:rPr>
                        <a:t>Activation</a:t>
                      </a:r>
                      <a:endParaRPr lang="es-CO" sz="1400" b="1" kern="1200" dirty="0">
                        <a:solidFill>
                          <a:schemeClr val="bg1">
                            <a:lumMod val="95000"/>
                          </a:schemeClr>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8879F5"/>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err="1">
                          <a:solidFill>
                            <a:schemeClr val="bg1">
                              <a:lumMod val="95000"/>
                            </a:schemeClr>
                          </a:solidFill>
                          <a:latin typeface="Source Sans Pro" panose="020B0503030403020204" pitchFamily="34" charset="0"/>
                          <a:ea typeface="Source Sans Pro" panose="020B0503030403020204" pitchFamily="34" charset="0"/>
                          <a:cs typeface="+mn-cs"/>
                        </a:rPr>
                        <a:t>Ohmic</a:t>
                      </a:r>
                      <a:endParaRPr lang="es-CO" sz="1400" b="1" kern="1200" dirty="0">
                        <a:solidFill>
                          <a:schemeClr val="bg1">
                            <a:lumMod val="95000"/>
                          </a:schemeClr>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8879F5"/>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err="1">
                          <a:solidFill>
                            <a:schemeClr val="bg1">
                              <a:lumMod val="95000"/>
                            </a:schemeClr>
                          </a:solidFill>
                          <a:latin typeface="Source Sans Pro" panose="020B0503030403020204" pitchFamily="34" charset="0"/>
                          <a:ea typeface="Source Sans Pro" panose="020B0503030403020204" pitchFamily="34" charset="0"/>
                          <a:cs typeface="+mn-cs"/>
                        </a:rPr>
                        <a:t>Mass</a:t>
                      </a:r>
                      <a:r>
                        <a:rPr lang="es-CO" sz="1400" b="1" kern="1200" dirty="0">
                          <a:solidFill>
                            <a:schemeClr val="bg1">
                              <a:lumMod val="95000"/>
                            </a:schemeClr>
                          </a:solidFill>
                          <a:latin typeface="Source Sans Pro" panose="020B0503030403020204" pitchFamily="34" charset="0"/>
                          <a:ea typeface="Source Sans Pro" panose="020B0503030403020204" pitchFamily="34" charset="0"/>
                          <a:cs typeface="+mn-cs"/>
                        </a:rPr>
                        <a:t> </a:t>
                      </a:r>
                      <a:r>
                        <a:rPr lang="es-CO" sz="1400" b="1" kern="1200" dirty="0" err="1">
                          <a:solidFill>
                            <a:schemeClr val="bg1">
                              <a:lumMod val="95000"/>
                            </a:schemeClr>
                          </a:solidFill>
                          <a:latin typeface="Source Sans Pro" panose="020B0503030403020204" pitchFamily="34" charset="0"/>
                          <a:ea typeface="Source Sans Pro" panose="020B0503030403020204" pitchFamily="34" charset="0"/>
                          <a:cs typeface="+mn-cs"/>
                        </a:rPr>
                        <a:t>transport</a:t>
                      </a:r>
                      <a:endParaRPr lang="es-CO" sz="1400" b="1" kern="1200" dirty="0">
                        <a:solidFill>
                          <a:schemeClr val="bg1">
                            <a:lumMod val="95000"/>
                          </a:schemeClr>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8879F5"/>
                    </a:solidFill>
                  </a:tcPr>
                </a:tc>
                <a:extLst>
                  <a:ext uri="{0D108BD9-81ED-4DB2-BD59-A6C34878D82A}">
                    <a16:rowId xmlns:a16="http://schemas.microsoft.com/office/drawing/2014/main" val="1735631120"/>
                  </a:ext>
                </a:extLst>
              </a:tr>
              <a:tr h="241116">
                <a:tc>
                  <a:txBody>
                    <a:bodyPr/>
                    <a:lstStyle/>
                    <a:p>
                      <a:pPr marL="0" lvl="0" indent="0" algn="ctr" defTabSz="914400" rtl="0" eaLnBrk="1" fontAlgn="b" latinLnBrk="0" hangingPunct="1">
                        <a:lnSpc>
                          <a:spcPct val="115000"/>
                        </a:lnSpc>
                        <a:spcBef>
                          <a:spcPts val="0"/>
                        </a:spcBef>
                        <a:spcAft>
                          <a:spcPts val="0"/>
                        </a:spcAft>
                        <a:buNone/>
                      </a:pPr>
                      <a:r>
                        <a:rPr lang="es-CO" sz="1200" kern="1200" dirty="0">
                          <a:solidFill>
                            <a:schemeClr val="bg1"/>
                          </a:solidFill>
                          <a:latin typeface="Source Sans Pro" panose="020B0503030403020204" pitchFamily="34" charset="0"/>
                          <a:ea typeface="Source Sans Pro" panose="020B0503030403020204" pitchFamily="34" charset="0"/>
                          <a:cs typeface="+mn-cs"/>
                        </a:rPr>
                        <a:t>i0_c_ref</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1</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1</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1</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31590850"/>
                  </a:ext>
                </a:extLst>
              </a:tr>
              <a:tr h="241116">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kappa_c</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2</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4</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6</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467669"/>
                  </a:ext>
                </a:extLst>
              </a:tr>
              <a:tr h="241116">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ifc</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3</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2</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2</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37303973"/>
                  </a:ext>
                </a:extLst>
              </a:tr>
              <a:tr h="241116">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Tfc</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4</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5</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4</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1907922"/>
                  </a:ext>
                </a:extLst>
              </a:tr>
              <a:tr h="241116">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Pa_des</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5</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3</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3</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205503"/>
                  </a:ext>
                </a:extLst>
              </a:tr>
              <a:tr h="241116">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kappa_co</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6</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 </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 </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3406486"/>
                  </a:ext>
                </a:extLst>
              </a:tr>
              <a:tr h="241116">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Phi_c_des</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 </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 </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9</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31512276"/>
                  </a:ext>
                </a:extLst>
              </a:tr>
              <a:tr h="241116">
                <a:tc>
                  <a:txBody>
                    <a:bodyPr/>
                    <a:lstStyle/>
                    <a:p>
                      <a:pPr marL="0" lvl="0" indent="0" algn="ctr" defTabSz="914400" rtl="0" eaLnBrk="1" fontAlgn="b" latinLnBrk="0" hangingPunct="1">
                        <a:lnSpc>
                          <a:spcPct val="115000"/>
                        </a:lnSpc>
                        <a:spcBef>
                          <a:spcPts val="0"/>
                        </a:spcBef>
                        <a:spcAft>
                          <a:spcPts val="0"/>
                        </a:spcAft>
                        <a:buNone/>
                      </a:pPr>
                      <a:r>
                        <a:rPr lang="es-CO" sz="1200" kern="1200" dirty="0">
                          <a:solidFill>
                            <a:schemeClr val="bg1"/>
                          </a:solidFill>
                          <a:latin typeface="Source Sans Pro" panose="020B0503030403020204" pitchFamily="34" charset="0"/>
                          <a:ea typeface="Source Sans Pro" panose="020B0503030403020204" pitchFamily="34" charset="0"/>
                          <a:cs typeface="+mn-cs"/>
                        </a:rPr>
                        <a:t>Re</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 </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7</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5</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91756851"/>
                  </a:ext>
                </a:extLst>
              </a:tr>
              <a:tr h="303652">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epsilon_mc</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 </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8</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8</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0661556"/>
                  </a:ext>
                </a:extLst>
              </a:tr>
              <a:tr h="241116">
                <a:tc>
                  <a:txBody>
                    <a:bodyPr/>
                    <a:lstStyle/>
                    <a:p>
                      <a:pPr marL="0" lvl="0" indent="0" algn="ctr" defTabSz="914400" rtl="0" eaLnBrk="1" fontAlgn="b" latinLnBrk="0" hangingPunct="1">
                        <a:lnSpc>
                          <a:spcPct val="115000"/>
                        </a:lnSpc>
                        <a:spcBef>
                          <a:spcPts val="0"/>
                        </a:spcBef>
                        <a:spcAft>
                          <a:spcPts val="0"/>
                        </a:spcAft>
                        <a:buNone/>
                      </a:pPr>
                      <a:r>
                        <a:rPr lang="es-CO" sz="1200" kern="1200" dirty="0">
                          <a:solidFill>
                            <a:schemeClr val="bg1"/>
                          </a:solidFill>
                          <a:latin typeface="Source Sans Pro" panose="020B0503030403020204" pitchFamily="34" charset="0"/>
                          <a:ea typeface="Source Sans Pro" panose="020B0503030403020204" pitchFamily="34" charset="0"/>
                          <a:cs typeface="+mn-cs"/>
                        </a:rPr>
                        <a:t>tau</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 </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6</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7</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2667379"/>
                  </a:ext>
                </a:extLst>
              </a:tr>
            </a:tbl>
          </a:graphicData>
        </a:graphic>
      </p:graphicFrame>
      <p:sp>
        <p:nvSpPr>
          <p:cNvPr id="47" name="CuadroTexto 46">
            <a:extLst>
              <a:ext uri="{FF2B5EF4-FFF2-40B4-BE49-F238E27FC236}">
                <a16:creationId xmlns:a16="http://schemas.microsoft.com/office/drawing/2014/main" id="{AAA301A7-D694-4431-BC02-14AC7A780918}"/>
              </a:ext>
            </a:extLst>
          </p:cNvPr>
          <p:cNvSpPr txBox="1"/>
          <p:nvPr/>
        </p:nvSpPr>
        <p:spPr>
          <a:xfrm>
            <a:off x="8676097" y="943947"/>
            <a:ext cx="1998988" cy="461665"/>
          </a:xfrm>
          <a:prstGeom prst="rect">
            <a:avLst/>
          </a:prstGeom>
          <a:noFill/>
        </p:spPr>
        <p:txBody>
          <a:bodyPr wrap="square">
            <a:spAutoFit/>
          </a:bodyPr>
          <a:lstStyle/>
          <a:p>
            <a:pPr algn="ctr"/>
            <a:r>
              <a:rPr kumimoji="0" lang="en-US" sz="240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Sobol</a:t>
            </a:r>
            <a:r>
              <a:rPr kumimoji="0" lang="en-US" sz="240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(ST)</a:t>
            </a:r>
            <a:endParaRPr lang="es-CO" sz="2400" dirty="0"/>
          </a:p>
        </p:txBody>
      </p:sp>
      <p:graphicFrame>
        <p:nvGraphicFramePr>
          <p:cNvPr id="10" name="Tabla 9">
            <a:extLst>
              <a:ext uri="{FF2B5EF4-FFF2-40B4-BE49-F238E27FC236}">
                <a16:creationId xmlns:a16="http://schemas.microsoft.com/office/drawing/2014/main" id="{71F95B08-BCC2-4E79-B7A8-2D7F46C0BFCF}"/>
              </a:ext>
            </a:extLst>
          </p:cNvPr>
          <p:cNvGraphicFramePr>
            <a:graphicFrameLocks noGrp="1"/>
          </p:cNvGraphicFramePr>
          <p:nvPr>
            <p:extLst>
              <p:ext uri="{D42A27DB-BD31-4B8C-83A1-F6EECF244321}">
                <p14:modId xmlns:p14="http://schemas.microsoft.com/office/powerpoint/2010/main" val="2931555792"/>
              </p:ext>
            </p:extLst>
          </p:nvPr>
        </p:nvGraphicFramePr>
        <p:xfrm>
          <a:off x="3421584" y="1448464"/>
          <a:ext cx="4003679" cy="3324906"/>
        </p:xfrm>
        <a:graphic>
          <a:graphicData uri="http://schemas.openxmlformats.org/drawingml/2006/table">
            <a:tbl>
              <a:tblPr>
                <a:tableStyleId>{5C22544A-7EE6-4342-B048-85BDC9FD1C3A}</a:tableStyleId>
              </a:tblPr>
              <a:tblGrid>
                <a:gridCol w="915971">
                  <a:extLst>
                    <a:ext uri="{9D8B030D-6E8A-4147-A177-3AD203B41FA5}">
                      <a16:colId xmlns:a16="http://schemas.microsoft.com/office/drawing/2014/main" val="2601359947"/>
                    </a:ext>
                  </a:extLst>
                </a:gridCol>
                <a:gridCol w="915971">
                  <a:extLst>
                    <a:ext uri="{9D8B030D-6E8A-4147-A177-3AD203B41FA5}">
                      <a16:colId xmlns:a16="http://schemas.microsoft.com/office/drawing/2014/main" val="1735578645"/>
                    </a:ext>
                  </a:extLst>
                </a:gridCol>
                <a:gridCol w="915971">
                  <a:extLst>
                    <a:ext uri="{9D8B030D-6E8A-4147-A177-3AD203B41FA5}">
                      <a16:colId xmlns:a16="http://schemas.microsoft.com/office/drawing/2014/main" val="2955413578"/>
                    </a:ext>
                  </a:extLst>
                </a:gridCol>
                <a:gridCol w="1255766">
                  <a:extLst>
                    <a:ext uri="{9D8B030D-6E8A-4147-A177-3AD203B41FA5}">
                      <a16:colId xmlns:a16="http://schemas.microsoft.com/office/drawing/2014/main" val="807929448"/>
                    </a:ext>
                  </a:extLst>
                </a:gridCol>
              </a:tblGrid>
              <a:tr h="373738">
                <a:tc>
                  <a:txBody>
                    <a:bodyPr/>
                    <a:lstStyle/>
                    <a:p>
                      <a:pPr marL="0" lvl="0" indent="0" algn="ctr" defTabSz="914400" rtl="0" eaLnBrk="1" fontAlgn="ctr" latinLnBrk="0" hangingPunct="1">
                        <a:lnSpc>
                          <a:spcPct val="115000"/>
                        </a:lnSpc>
                        <a:spcBef>
                          <a:spcPts val="0"/>
                        </a:spcBef>
                        <a:spcAft>
                          <a:spcPts val="0"/>
                        </a:spcAft>
                        <a:buNone/>
                      </a:pPr>
                      <a:r>
                        <a:rPr lang="es-CO" sz="1400" b="1" kern="1200" dirty="0" err="1">
                          <a:solidFill>
                            <a:schemeClr val="tx1"/>
                          </a:solidFill>
                          <a:latin typeface="Source Sans Pro" panose="020B0503030403020204" pitchFamily="34" charset="0"/>
                          <a:ea typeface="Source Sans Pro" panose="020B0503030403020204" pitchFamily="34" charset="0"/>
                          <a:cs typeface="+mn-cs"/>
                        </a:rPr>
                        <a:t>Feature</a:t>
                      </a:r>
                      <a:endParaRPr lang="es-CO" sz="1400" b="1" kern="1200" dirty="0">
                        <a:solidFill>
                          <a:schemeClr val="tx1"/>
                        </a:solidFill>
                        <a:latin typeface="Source Sans Pro" panose="020B0503030403020204" pitchFamily="34" charset="0"/>
                        <a:ea typeface="Source Sans Pro" panose="020B0503030403020204" pitchFamily="34" charset="0"/>
                        <a:cs typeface="+mn-cs"/>
                      </a:endParaRPr>
                    </a:p>
                  </a:txBody>
                  <a:tcPr marL="7620" marR="7620" marT="30480" marB="30480" anchor="ctr">
                    <a:lnB w="12700" cap="flat" cmpd="sng" algn="ctr">
                      <a:solidFill>
                        <a:schemeClr val="bg1">
                          <a:lumMod val="7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err="1">
                          <a:solidFill>
                            <a:schemeClr val="tx1"/>
                          </a:solidFill>
                          <a:latin typeface="Source Sans Pro" panose="020B0503030403020204" pitchFamily="34" charset="0"/>
                          <a:ea typeface="Source Sans Pro" panose="020B0503030403020204" pitchFamily="34" charset="0"/>
                          <a:cs typeface="+mn-cs"/>
                        </a:rPr>
                        <a:t>Activation</a:t>
                      </a:r>
                      <a:endParaRPr lang="es-CO" sz="1400" b="1" kern="1200" dirty="0">
                        <a:solidFill>
                          <a:schemeClr val="tx1"/>
                        </a:solidFill>
                        <a:latin typeface="Source Sans Pro" panose="020B0503030403020204" pitchFamily="34" charset="0"/>
                        <a:ea typeface="Source Sans Pro" panose="020B0503030403020204" pitchFamily="34" charset="0"/>
                        <a:cs typeface="+mn-cs"/>
                      </a:endParaRPr>
                    </a:p>
                  </a:txBody>
                  <a:tcPr marL="7620" marR="7620" marT="7620" marB="0" anchor="ctr">
                    <a:lnB w="12700" cap="flat" cmpd="sng" algn="ctr">
                      <a:solidFill>
                        <a:schemeClr val="bg1">
                          <a:lumMod val="7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err="1">
                          <a:solidFill>
                            <a:schemeClr val="tx1"/>
                          </a:solidFill>
                          <a:latin typeface="Source Sans Pro" panose="020B0503030403020204" pitchFamily="34" charset="0"/>
                          <a:ea typeface="Source Sans Pro" panose="020B0503030403020204" pitchFamily="34" charset="0"/>
                          <a:cs typeface="+mn-cs"/>
                        </a:rPr>
                        <a:t>Ohmic</a:t>
                      </a:r>
                      <a:endParaRPr lang="es-CO" sz="1400" b="1" kern="1200" dirty="0">
                        <a:solidFill>
                          <a:schemeClr val="tx1"/>
                        </a:solidFill>
                        <a:latin typeface="Source Sans Pro" panose="020B0503030403020204" pitchFamily="34" charset="0"/>
                        <a:ea typeface="Source Sans Pro" panose="020B0503030403020204" pitchFamily="34" charset="0"/>
                        <a:cs typeface="+mn-cs"/>
                      </a:endParaRPr>
                    </a:p>
                  </a:txBody>
                  <a:tcPr marL="7620" marR="7620" marT="7620" marB="0" anchor="ctr">
                    <a:lnB w="12700" cap="flat" cmpd="sng" algn="ctr">
                      <a:solidFill>
                        <a:schemeClr val="bg1">
                          <a:lumMod val="7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err="1">
                          <a:solidFill>
                            <a:schemeClr val="tx1"/>
                          </a:solidFill>
                          <a:latin typeface="Source Sans Pro" panose="020B0503030403020204" pitchFamily="34" charset="0"/>
                          <a:ea typeface="Source Sans Pro" panose="020B0503030403020204" pitchFamily="34" charset="0"/>
                          <a:cs typeface="+mn-cs"/>
                        </a:rPr>
                        <a:t>Mass</a:t>
                      </a:r>
                      <a:r>
                        <a:rPr lang="es-CO" sz="1400" b="1" kern="1200" dirty="0">
                          <a:solidFill>
                            <a:schemeClr val="tx1"/>
                          </a:solidFill>
                          <a:latin typeface="Source Sans Pro" panose="020B0503030403020204" pitchFamily="34" charset="0"/>
                          <a:ea typeface="Source Sans Pro" panose="020B0503030403020204" pitchFamily="34" charset="0"/>
                          <a:cs typeface="+mn-cs"/>
                        </a:rPr>
                        <a:t> </a:t>
                      </a:r>
                      <a:r>
                        <a:rPr lang="es-CO" sz="1400" b="1" kern="1200" dirty="0" err="1">
                          <a:solidFill>
                            <a:schemeClr val="tx1"/>
                          </a:solidFill>
                          <a:latin typeface="Source Sans Pro" panose="020B0503030403020204" pitchFamily="34" charset="0"/>
                          <a:ea typeface="Source Sans Pro" panose="020B0503030403020204" pitchFamily="34" charset="0"/>
                          <a:cs typeface="+mn-cs"/>
                        </a:rPr>
                        <a:t>transport</a:t>
                      </a:r>
                      <a:endParaRPr lang="es-CO" sz="1400" b="1" kern="1200" dirty="0">
                        <a:solidFill>
                          <a:schemeClr val="tx1"/>
                        </a:solidFill>
                        <a:latin typeface="Source Sans Pro" panose="020B0503030403020204" pitchFamily="34" charset="0"/>
                        <a:ea typeface="Source Sans Pro" panose="020B0503030403020204" pitchFamily="34" charset="0"/>
                        <a:cs typeface="+mn-cs"/>
                      </a:endParaRPr>
                    </a:p>
                  </a:txBody>
                  <a:tcPr marL="7620" marR="7620" marT="7620" marB="0" anchor="ctr">
                    <a:lnB w="12700" cap="flat" cmpd="sng" algn="ctr">
                      <a:solidFill>
                        <a:schemeClr val="bg1">
                          <a:lumMod val="75000"/>
                        </a:schemeClr>
                      </a:solidFill>
                      <a:prstDash val="solid"/>
                      <a:round/>
                      <a:headEnd type="none" w="med" len="med"/>
                      <a:tailEnd type="none" w="med" len="med"/>
                    </a:lnB>
                    <a:solidFill>
                      <a:srgbClr val="FFB903"/>
                    </a:solidFill>
                  </a:tcPr>
                </a:tc>
                <a:extLst>
                  <a:ext uri="{0D108BD9-81ED-4DB2-BD59-A6C34878D82A}">
                    <a16:rowId xmlns:a16="http://schemas.microsoft.com/office/drawing/2014/main" val="2688239711"/>
                  </a:ext>
                </a:extLst>
              </a:tr>
              <a:tr h="244449">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ifc</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1</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1</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1</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4725859"/>
                  </a:ext>
                </a:extLst>
              </a:tr>
              <a:tr h="244449">
                <a:tc>
                  <a:txBody>
                    <a:bodyPr/>
                    <a:lstStyle/>
                    <a:p>
                      <a:pPr marL="0" lvl="0" indent="0" algn="ctr" defTabSz="914400" rtl="0" eaLnBrk="1" fontAlgn="b" latinLnBrk="0" hangingPunct="1">
                        <a:lnSpc>
                          <a:spcPct val="115000"/>
                        </a:lnSpc>
                        <a:spcBef>
                          <a:spcPts val="0"/>
                        </a:spcBef>
                        <a:spcAft>
                          <a:spcPts val="0"/>
                        </a:spcAft>
                        <a:buNone/>
                      </a:pPr>
                      <a:r>
                        <a:rPr lang="es-CO" sz="1200" kern="1200" dirty="0">
                          <a:solidFill>
                            <a:schemeClr val="bg1"/>
                          </a:solidFill>
                          <a:latin typeface="Source Sans Pro" panose="020B0503030403020204" pitchFamily="34" charset="0"/>
                          <a:ea typeface="Source Sans Pro" panose="020B0503030403020204" pitchFamily="34" charset="0"/>
                          <a:cs typeface="+mn-cs"/>
                        </a:rPr>
                        <a:t>i0_c_ref</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2</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2</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2</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328014786"/>
                  </a:ext>
                </a:extLst>
              </a:tr>
              <a:tr h="244449">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kappa_c</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3</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5</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6</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7874256"/>
                  </a:ext>
                </a:extLst>
              </a:tr>
              <a:tr h="244449">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Tfc</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4</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4</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4</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586225907"/>
                  </a:ext>
                </a:extLst>
              </a:tr>
              <a:tr h="244449">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Pa_des</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5</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3</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3</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925866221"/>
                  </a:ext>
                </a:extLst>
              </a:tr>
              <a:tr h="244449">
                <a:tc>
                  <a:txBody>
                    <a:bodyPr/>
                    <a:lstStyle/>
                    <a:p>
                      <a:pPr marL="0" lvl="0" indent="0" algn="ctr" defTabSz="914400" rtl="0" eaLnBrk="1" fontAlgn="b" latinLnBrk="0" hangingPunct="1">
                        <a:lnSpc>
                          <a:spcPct val="115000"/>
                        </a:lnSpc>
                        <a:spcBef>
                          <a:spcPts val="0"/>
                        </a:spcBef>
                        <a:spcAft>
                          <a:spcPts val="0"/>
                        </a:spcAft>
                        <a:buNone/>
                      </a:pPr>
                      <a:r>
                        <a:rPr lang="es-CO" sz="1200" kern="1200" dirty="0">
                          <a:solidFill>
                            <a:schemeClr val="bg1"/>
                          </a:solidFill>
                          <a:latin typeface="Source Sans Pro" panose="020B0503030403020204" pitchFamily="34" charset="0"/>
                          <a:ea typeface="Source Sans Pro" panose="020B0503030403020204" pitchFamily="34" charset="0"/>
                          <a:cs typeface="+mn-cs"/>
                        </a:rPr>
                        <a:t>Re</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6</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6</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5</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94108794"/>
                  </a:ext>
                </a:extLst>
              </a:tr>
              <a:tr h="244449">
                <a:tc>
                  <a:txBody>
                    <a:bodyPr/>
                    <a:lstStyle/>
                    <a:p>
                      <a:pPr marL="0" lvl="0" indent="0" algn="ctr" defTabSz="914400" rtl="0" eaLnBrk="1" fontAlgn="b" latinLnBrk="0" hangingPunct="1">
                        <a:lnSpc>
                          <a:spcPct val="115000"/>
                        </a:lnSpc>
                        <a:spcBef>
                          <a:spcPts val="0"/>
                        </a:spcBef>
                        <a:spcAft>
                          <a:spcPts val="0"/>
                        </a:spcAft>
                        <a:buNone/>
                      </a:pPr>
                      <a:r>
                        <a:rPr lang="es-CO" sz="1200" kern="1200" dirty="0">
                          <a:solidFill>
                            <a:schemeClr val="bg1"/>
                          </a:solidFill>
                          <a:latin typeface="Source Sans Pro" panose="020B0503030403020204" pitchFamily="34" charset="0"/>
                          <a:ea typeface="Source Sans Pro" panose="020B0503030403020204" pitchFamily="34" charset="0"/>
                          <a:cs typeface="+mn-cs"/>
                        </a:rPr>
                        <a:t>tau</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7</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7</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7</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601310677"/>
                  </a:ext>
                </a:extLst>
              </a:tr>
              <a:tr h="244449">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kappa_co</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8</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 </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 </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79104907"/>
                  </a:ext>
                </a:extLst>
              </a:tr>
              <a:tr h="244449">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epsilon_mc</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9</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8</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8</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28333175"/>
                  </a:ext>
                </a:extLst>
              </a:tr>
              <a:tr h="244449">
                <a:tc>
                  <a:txBody>
                    <a:bodyPr/>
                    <a:lstStyle/>
                    <a:p>
                      <a:pPr marL="0" lvl="0" indent="0" algn="ctr" defTabSz="914400" rtl="0" eaLnBrk="1" fontAlgn="b" latinLnBrk="0" hangingPunct="1">
                        <a:lnSpc>
                          <a:spcPct val="115000"/>
                        </a:lnSpc>
                        <a:spcBef>
                          <a:spcPts val="0"/>
                        </a:spcBef>
                        <a:spcAft>
                          <a:spcPts val="0"/>
                        </a:spcAft>
                        <a:buNone/>
                      </a:pPr>
                      <a:r>
                        <a:rPr lang="es-CO" sz="1200" kern="1200" dirty="0" err="1">
                          <a:solidFill>
                            <a:schemeClr val="bg1"/>
                          </a:solidFill>
                          <a:latin typeface="Source Sans Pro" panose="020B0503030403020204" pitchFamily="34" charset="0"/>
                          <a:ea typeface="Source Sans Pro" panose="020B0503030403020204" pitchFamily="34" charset="0"/>
                          <a:cs typeface="+mn-cs"/>
                        </a:rPr>
                        <a:t>Phi_c_des</a:t>
                      </a:r>
                      <a:endParaRPr lang="es-CO" sz="120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 </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9</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9</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2268778"/>
                  </a:ext>
                </a:extLst>
              </a:tr>
              <a:tr h="244449">
                <a:tc>
                  <a:txBody>
                    <a:bodyPr/>
                    <a:lstStyle/>
                    <a:p>
                      <a:pPr marL="0" lvl="0" indent="0" algn="ctr" defTabSz="914400" rtl="0" eaLnBrk="1" fontAlgn="b" latinLnBrk="0" hangingPunct="1">
                        <a:lnSpc>
                          <a:spcPct val="115000"/>
                        </a:lnSpc>
                        <a:spcBef>
                          <a:spcPts val="0"/>
                        </a:spcBef>
                        <a:spcAft>
                          <a:spcPts val="0"/>
                        </a:spcAft>
                        <a:buNone/>
                      </a:pPr>
                      <a:r>
                        <a:rPr lang="es-CO" sz="1200" kern="1200" dirty="0">
                          <a:solidFill>
                            <a:schemeClr val="bg1"/>
                          </a:solidFill>
                          <a:latin typeface="Source Sans Pro" panose="020B0503030403020204" pitchFamily="34" charset="0"/>
                          <a:ea typeface="Source Sans Pro" panose="020B0503030403020204" pitchFamily="34" charset="0"/>
                          <a:cs typeface="+mn-cs"/>
                        </a:rPr>
                        <a:t>Sc</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 </a:t>
                      </a:r>
                    </a:p>
                  </a:txBody>
                  <a:tcPr marL="7620" marR="7620" marT="762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10</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10</a:t>
                      </a:r>
                    </a:p>
                  </a:txBody>
                  <a:tcPr marL="7620" marR="7620" marT="30480" marB="3048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7738267"/>
                  </a:ext>
                </a:extLst>
              </a:tr>
            </a:tbl>
          </a:graphicData>
        </a:graphic>
      </p:graphicFrame>
      <p:sp>
        <p:nvSpPr>
          <p:cNvPr id="49" name="CuadroTexto 48">
            <a:extLst>
              <a:ext uri="{FF2B5EF4-FFF2-40B4-BE49-F238E27FC236}">
                <a16:creationId xmlns:a16="http://schemas.microsoft.com/office/drawing/2014/main" id="{39B2D7E5-9D13-4BE1-9F89-4DF5B053C211}"/>
              </a:ext>
            </a:extLst>
          </p:cNvPr>
          <p:cNvSpPr txBox="1"/>
          <p:nvPr/>
        </p:nvSpPr>
        <p:spPr>
          <a:xfrm>
            <a:off x="4098055" y="956459"/>
            <a:ext cx="2650736" cy="461665"/>
          </a:xfrm>
          <a:prstGeom prst="rect">
            <a:avLst/>
          </a:prstGeom>
          <a:noFill/>
        </p:spPr>
        <p:txBody>
          <a:bodyPr wrap="square">
            <a:spAutoFit/>
          </a:bodyPr>
          <a:lstStyle/>
          <a:p>
            <a:pPr algn="ctr"/>
            <a:r>
              <a:rPr kumimoji="0" lang="en-US" sz="240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Mean |SHAP| </a:t>
            </a:r>
            <a:endParaRPr lang="es-CO" sz="2400" dirty="0"/>
          </a:p>
        </p:txBody>
      </p:sp>
      <mc:AlternateContent xmlns:mc="http://schemas.openxmlformats.org/markup-compatibility/2006">
        <mc:Choice xmlns:a14="http://schemas.microsoft.com/office/drawing/2010/main" Requires="a14">
          <p:sp>
            <p:nvSpPr>
              <p:cNvPr id="52" name="CuadroTexto 51">
                <a:extLst>
                  <a:ext uri="{FF2B5EF4-FFF2-40B4-BE49-F238E27FC236}">
                    <a16:creationId xmlns:a16="http://schemas.microsoft.com/office/drawing/2014/main" id="{3EE8EDD8-E982-41AB-B2B7-6DD8832563BE}"/>
                  </a:ext>
                </a:extLst>
              </p:cNvPr>
              <p:cNvSpPr txBox="1"/>
              <p:nvPr/>
            </p:nvSpPr>
            <p:spPr>
              <a:xfrm>
                <a:off x="3657573" y="2938785"/>
                <a:ext cx="47820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𝑃𝑎</m:t>
                          </m:r>
                        </m:e>
                        <m:sub>
                          <m:r>
                            <a:rPr lang="es-ES" sz="1400" b="0" i="1" smtClean="0">
                              <a:latin typeface="Cambria Math" panose="02040503050406030204" pitchFamily="18" charset="0"/>
                            </a:rPr>
                            <m:t>𝑑𝑒𝑠</m:t>
                          </m:r>
                        </m:sub>
                      </m:sSub>
                    </m:oMath>
                  </m:oMathPara>
                </a14:m>
                <a:endParaRPr lang="es-CO" sz="1400" dirty="0"/>
              </a:p>
            </p:txBody>
          </p:sp>
        </mc:Choice>
        <mc:Fallback>
          <p:sp>
            <p:nvSpPr>
              <p:cNvPr id="52" name="CuadroTexto 51">
                <a:extLst>
                  <a:ext uri="{FF2B5EF4-FFF2-40B4-BE49-F238E27FC236}">
                    <a16:creationId xmlns:a16="http://schemas.microsoft.com/office/drawing/2014/main" id="{3EE8EDD8-E982-41AB-B2B7-6DD8832563BE}"/>
                  </a:ext>
                </a:extLst>
              </p:cNvPr>
              <p:cNvSpPr txBox="1">
                <a:spLocks noRot="1" noChangeAspect="1" noMove="1" noResize="1" noEditPoints="1" noAdjustHandles="1" noChangeArrowheads="1" noChangeShapeType="1" noTextEdit="1"/>
              </p:cNvSpPr>
              <p:nvPr/>
            </p:nvSpPr>
            <p:spPr>
              <a:xfrm>
                <a:off x="3657573" y="2938785"/>
                <a:ext cx="478208" cy="215444"/>
              </a:xfrm>
              <a:prstGeom prst="rect">
                <a:avLst/>
              </a:prstGeom>
              <a:blipFill>
                <a:blip r:embed="rId3"/>
                <a:stretch>
                  <a:fillRect l="-7692" r="-1282" b="-171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4" name="CuadroTexto 53">
                <a:extLst>
                  <a:ext uri="{FF2B5EF4-FFF2-40B4-BE49-F238E27FC236}">
                    <a16:creationId xmlns:a16="http://schemas.microsoft.com/office/drawing/2014/main" id="{81CA72F5-A447-4AAF-8222-9B648711FC21}"/>
                  </a:ext>
                </a:extLst>
              </p:cNvPr>
              <p:cNvSpPr txBox="1"/>
              <p:nvPr/>
            </p:nvSpPr>
            <p:spPr>
              <a:xfrm>
                <a:off x="3667993" y="4265505"/>
                <a:ext cx="45736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𝜙</m:t>
                          </m:r>
                        </m:e>
                        <m:sub>
                          <m:r>
                            <a:rPr lang="es-ES" sz="1400" b="0" i="1" smtClean="0">
                              <a:latin typeface="Cambria Math" panose="02040503050406030204" pitchFamily="18" charset="0"/>
                            </a:rPr>
                            <m:t>𝑐𝑑𝑒𝑠</m:t>
                          </m:r>
                        </m:sub>
                      </m:sSub>
                    </m:oMath>
                  </m:oMathPara>
                </a14:m>
                <a:endParaRPr lang="es-CO" sz="1400" dirty="0"/>
              </a:p>
            </p:txBody>
          </p:sp>
        </mc:Choice>
        <mc:Fallback>
          <p:sp>
            <p:nvSpPr>
              <p:cNvPr id="54" name="CuadroTexto 53">
                <a:extLst>
                  <a:ext uri="{FF2B5EF4-FFF2-40B4-BE49-F238E27FC236}">
                    <a16:creationId xmlns:a16="http://schemas.microsoft.com/office/drawing/2014/main" id="{81CA72F5-A447-4AAF-8222-9B648711FC21}"/>
                  </a:ext>
                </a:extLst>
              </p:cNvPr>
              <p:cNvSpPr txBox="1">
                <a:spLocks noRot="1" noChangeAspect="1" noMove="1" noResize="1" noEditPoints="1" noAdjustHandles="1" noChangeArrowheads="1" noChangeShapeType="1" noTextEdit="1"/>
              </p:cNvSpPr>
              <p:nvPr/>
            </p:nvSpPr>
            <p:spPr>
              <a:xfrm>
                <a:off x="3667993" y="4265505"/>
                <a:ext cx="457369" cy="215444"/>
              </a:xfrm>
              <a:prstGeom prst="rect">
                <a:avLst/>
              </a:prstGeom>
              <a:blipFill>
                <a:blip r:embed="rId4"/>
                <a:stretch>
                  <a:fillRect l="-13333" r="-1333" b="-3142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7" name="CuadroTexto 56">
                <a:extLst>
                  <a:ext uri="{FF2B5EF4-FFF2-40B4-BE49-F238E27FC236}">
                    <a16:creationId xmlns:a16="http://schemas.microsoft.com/office/drawing/2014/main" id="{81D89E2B-A4B9-4B41-9999-D663506EBE71}"/>
                  </a:ext>
                </a:extLst>
              </p:cNvPr>
              <p:cNvSpPr txBox="1"/>
              <p:nvPr/>
            </p:nvSpPr>
            <p:spPr>
              <a:xfrm>
                <a:off x="3735383" y="4000161"/>
                <a:ext cx="32258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𝜖</m:t>
                          </m:r>
                        </m:e>
                        <m:sub>
                          <m:r>
                            <a:rPr lang="es-ES" sz="1400" b="0" i="1" smtClean="0">
                              <a:latin typeface="Cambria Math" panose="02040503050406030204" pitchFamily="18" charset="0"/>
                            </a:rPr>
                            <m:t>𝑚𝑐</m:t>
                          </m:r>
                        </m:sub>
                      </m:sSub>
                    </m:oMath>
                  </m:oMathPara>
                </a14:m>
                <a:endParaRPr lang="es-CO" sz="1400" dirty="0"/>
              </a:p>
            </p:txBody>
          </p:sp>
        </mc:Choice>
        <mc:Fallback>
          <p:sp>
            <p:nvSpPr>
              <p:cNvPr id="57" name="CuadroTexto 56">
                <a:extLst>
                  <a:ext uri="{FF2B5EF4-FFF2-40B4-BE49-F238E27FC236}">
                    <a16:creationId xmlns:a16="http://schemas.microsoft.com/office/drawing/2014/main" id="{81D89E2B-A4B9-4B41-9999-D663506EBE71}"/>
                  </a:ext>
                </a:extLst>
              </p:cNvPr>
              <p:cNvSpPr txBox="1">
                <a:spLocks noRot="1" noChangeAspect="1" noMove="1" noResize="1" noEditPoints="1" noAdjustHandles="1" noChangeArrowheads="1" noChangeShapeType="1" noTextEdit="1"/>
              </p:cNvSpPr>
              <p:nvPr/>
            </p:nvSpPr>
            <p:spPr>
              <a:xfrm>
                <a:off x="3735383" y="4000161"/>
                <a:ext cx="322589" cy="215444"/>
              </a:xfrm>
              <a:prstGeom prst="rect">
                <a:avLst/>
              </a:prstGeom>
              <a:blipFill>
                <a:blip r:embed="rId5"/>
                <a:stretch>
                  <a:fillRect l="-9434" b="-8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59" name="CuadroTexto 58">
                <a:extLst>
                  <a:ext uri="{FF2B5EF4-FFF2-40B4-BE49-F238E27FC236}">
                    <a16:creationId xmlns:a16="http://schemas.microsoft.com/office/drawing/2014/main" id="{749369F0-D24A-4D35-BC94-7884A0719C63}"/>
                  </a:ext>
                </a:extLst>
              </p:cNvPr>
              <p:cNvSpPr txBox="1"/>
              <p:nvPr/>
            </p:nvSpPr>
            <p:spPr>
              <a:xfrm>
                <a:off x="3833840" y="3469473"/>
                <a:ext cx="125675"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400" b="0" i="1" smtClean="0">
                          <a:latin typeface="Cambria Math" panose="02040503050406030204" pitchFamily="18" charset="0"/>
                        </a:rPr>
                        <m:t>𝜏</m:t>
                      </m:r>
                    </m:oMath>
                  </m:oMathPara>
                </a14:m>
                <a:endParaRPr lang="es-CO" sz="1400" dirty="0"/>
              </a:p>
            </p:txBody>
          </p:sp>
        </mc:Choice>
        <mc:Fallback>
          <p:sp>
            <p:nvSpPr>
              <p:cNvPr id="59" name="CuadroTexto 58">
                <a:extLst>
                  <a:ext uri="{FF2B5EF4-FFF2-40B4-BE49-F238E27FC236}">
                    <a16:creationId xmlns:a16="http://schemas.microsoft.com/office/drawing/2014/main" id="{749369F0-D24A-4D35-BC94-7884A0719C63}"/>
                  </a:ext>
                </a:extLst>
              </p:cNvPr>
              <p:cNvSpPr txBox="1">
                <a:spLocks noRot="1" noChangeAspect="1" noMove="1" noResize="1" noEditPoints="1" noAdjustHandles="1" noChangeArrowheads="1" noChangeShapeType="1" noTextEdit="1"/>
              </p:cNvSpPr>
              <p:nvPr/>
            </p:nvSpPr>
            <p:spPr>
              <a:xfrm>
                <a:off x="3833840" y="3469473"/>
                <a:ext cx="125675" cy="215444"/>
              </a:xfrm>
              <a:prstGeom prst="rect">
                <a:avLst/>
              </a:prstGeom>
              <a:blipFill>
                <a:blip r:embed="rId6"/>
                <a:stretch>
                  <a:fillRect l="-23810" r="-952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0" name="CuadroTexto 59">
                <a:extLst>
                  <a:ext uri="{FF2B5EF4-FFF2-40B4-BE49-F238E27FC236}">
                    <a16:creationId xmlns:a16="http://schemas.microsoft.com/office/drawing/2014/main" id="{C499E088-B9A2-4DC8-8987-47415C5C10B8}"/>
                  </a:ext>
                </a:extLst>
              </p:cNvPr>
              <p:cNvSpPr txBox="1"/>
              <p:nvPr/>
            </p:nvSpPr>
            <p:spPr>
              <a:xfrm>
                <a:off x="3635035" y="2125505"/>
                <a:ext cx="523285" cy="2326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𝑖</m:t>
                          </m:r>
                          <m:r>
                            <a:rPr lang="es-ES" sz="1400" b="0" i="1" smtClean="0">
                              <a:latin typeface="Cambria Math" panose="02040503050406030204" pitchFamily="18" charset="0"/>
                            </a:rPr>
                            <m:t>0</m:t>
                          </m:r>
                        </m:e>
                        <m:sub>
                          <m:r>
                            <a:rPr lang="es-ES" sz="1400" b="0" i="1" smtClean="0">
                              <a:latin typeface="Cambria Math" panose="02040503050406030204" pitchFamily="18" charset="0"/>
                            </a:rPr>
                            <m:t>𝑐</m:t>
                          </m:r>
                          <m:r>
                            <a:rPr lang="es-ES" sz="1400" b="0" i="1" smtClean="0">
                              <a:latin typeface="Cambria Math" panose="02040503050406030204" pitchFamily="18" charset="0"/>
                            </a:rPr>
                            <m:t> </m:t>
                          </m:r>
                          <m:r>
                            <a:rPr lang="es-ES" sz="1400" b="0" i="1" smtClean="0">
                              <a:latin typeface="Cambria Math" panose="02040503050406030204" pitchFamily="18" charset="0"/>
                            </a:rPr>
                            <m:t>𝑟𝑒𝑓</m:t>
                          </m:r>
                        </m:sub>
                      </m:sSub>
                    </m:oMath>
                  </m:oMathPara>
                </a14:m>
                <a:endParaRPr lang="es-CO" sz="1400" dirty="0"/>
              </a:p>
            </p:txBody>
          </p:sp>
        </mc:Choice>
        <mc:Fallback>
          <p:sp>
            <p:nvSpPr>
              <p:cNvPr id="60" name="CuadroTexto 59">
                <a:extLst>
                  <a:ext uri="{FF2B5EF4-FFF2-40B4-BE49-F238E27FC236}">
                    <a16:creationId xmlns:a16="http://schemas.microsoft.com/office/drawing/2014/main" id="{C499E088-B9A2-4DC8-8987-47415C5C10B8}"/>
                  </a:ext>
                </a:extLst>
              </p:cNvPr>
              <p:cNvSpPr txBox="1">
                <a:spLocks noRot="1" noChangeAspect="1" noMove="1" noResize="1" noEditPoints="1" noAdjustHandles="1" noChangeArrowheads="1" noChangeShapeType="1" noTextEdit="1"/>
              </p:cNvSpPr>
              <p:nvPr/>
            </p:nvSpPr>
            <p:spPr>
              <a:xfrm>
                <a:off x="3635035" y="2125505"/>
                <a:ext cx="523285" cy="232692"/>
              </a:xfrm>
              <a:prstGeom prst="rect">
                <a:avLst/>
              </a:prstGeom>
              <a:blipFill>
                <a:blip r:embed="rId7"/>
                <a:stretch>
                  <a:fillRect l="-6977" r="-4651" b="-2368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1" name="CuadroTexto 60">
                <a:extLst>
                  <a:ext uri="{FF2B5EF4-FFF2-40B4-BE49-F238E27FC236}">
                    <a16:creationId xmlns:a16="http://schemas.microsoft.com/office/drawing/2014/main" id="{A55248F3-C517-470D-A04E-8829E1B153D7}"/>
                  </a:ext>
                </a:extLst>
              </p:cNvPr>
              <p:cNvSpPr txBox="1"/>
              <p:nvPr/>
            </p:nvSpPr>
            <p:spPr>
              <a:xfrm>
                <a:off x="3751253" y="3734817"/>
                <a:ext cx="29084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𝜅</m:t>
                          </m:r>
                        </m:e>
                        <m:sub>
                          <m:r>
                            <a:rPr lang="es-ES" sz="1400" b="0" i="1" smtClean="0">
                              <a:latin typeface="Cambria Math" panose="02040503050406030204" pitchFamily="18" charset="0"/>
                            </a:rPr>
                            <m:t>𝑐𝑜</m:t>
                          </m:r>
                        </m:sub>
                      </m:sSub>
                    </m:oMath>
                  </m:oMathPara>
                </a14:m>
                <a:endParaRPr lang="es-CO" sz="1400" dirty="0"/>
              </a:p>
            </p:txBody>
          </p:sp>
        </mc:Choice>
        <mc:Fallback>
          <p:sp>
            <p:nvSpPr>
              <p:cNvPr id="61" name="CuadroTexto 60">
                <a:extLst>
                  <a:ext uri="{FF2B5EF4-FFF2-40B4-BE49-F238E27FC236}">
                    <a16:creationId xmlns:a16="http://schemas.microsoft.com/office/drawing/2014/main" id="{A55248F3-C517-470D-A04E-8829E1B153D7}"/>
                  </a:ext>
                </a:extLst>
              </p:cNvPr>
              <p:cNvSpPr txBox="1">
                <a:spLocks noRot="1" noChangeAspect="1" noMove="1" noResize="1" noEditPoints="1" noAdjustHandles="1" noChangeArrowheads="1" noChangeShapeType="1" noTextEdit="1"/>
              </p:cNvSpPr>
              <p:nvPr/>
            </p:nvSpPr>
            <p:spPr>
              <a:xfrm>
                <a:off x="3751253" y="3734817"/>
                <a:ext cx="290849" cy="215444"/>
              </a:xfrm>
              <a:prstGeom prst="rect">
                <a:avLst/>
              </a:prstGeom>
              <a:blipFill>
                <a:blip r:embed="rId8"/>
                <a:stretch>
                  <a:fillRect l="-8333" b="-857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2" name="CuadroTexto 61">
                <a:extLst>
                  <a:ext uri="{FF2B5EF4-FFF2-40B4-BE49-F238E27FC236}">
                    <a16:creationId xmlns:a16="http://schemas.microsoft.com/office/drawing/2014/main" id="{00437263-FC46-400F-A344-05CB2E230548}"/>
                  </a:ext>
                </a:extLst>
              </p:cNvPr>
              <p:cNvSpPr txBox="1"/>
              <p:nvPr/>
            </p:nvSpPr>
            <p:spPr>
              <a:xfrm>
                <a:off x="3789084" y="2408097"/>
                <a:ext cx="21518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𝜅</m:t>
                          </m:r>
                        </m:e>
                        <m:sub>
                          <m:r>
                            <a:rPr lang="es-ES" sz="1400" b="0" i="1" smtClean="0">
                              <a:latin typeface="Cambria Math" panose="02040503050406030204" pitchFamily="18" charset="0"/>
                            </a:rPr>
                            <m:t>𝑐</m:t>
                          </m:r>
                        </m:sub>
                      </m:sSub>
                    </m:oMath>
                  </m:oMathPara>
                </a14:m>
                <a:endParaRPr lang="es-CO" sz="1400" dirty="0"/>
              </a:p>
            </p:txBody>
          </p:sp>
        </mc:Choice>
        <mc:Fallback>
          <p:sp>
            <p:nvSpPr>
              <p:cNvPr id="62" name="CuadroTexto 61">
                <a:extLst>
                  <a:ext uri="{FF2B5EF4-FFF2-40B4-BE49-F238E27FC236}">
                    <a16:creationId xmlns:a16="http://schemas.microsoft.com/office/drawing/2014/main" id="{00437263-FC46-400F-A344-05CB2E230548}"/>
                  </a:ext>
                </a:extLst>
              </p:cNvPr>
              <p:cNvSpPr txBox="1">
                <a:spLocks noRot="1" noChangeAspect="1" noMove="1" noResize="1" noEditPoints="1" noAdjustHandles="1" noChangeArrowheads="1" noChangeShapeType="1" noTextEdit="1"/>
              </p:cNvSpPr>
              <p:nvPr/>
            </p:nvSpPr>
            <p:spPr>
              <a:xfrm>
                <a:off x="3789084" y="2408097"/>
                <a:ext cx="215187" cy="215444"/>
              </a:xfrm>
              <a:prstGeom prst="rect">
                <a:avLst/>
              </a:prstGeom>
              <a:blipFill>
                <a:blip r:embed="rId9"/>
                <a:stretch>
                  <a:fillRect l="-14286" b="-1142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3" name="CuadroTexto 62">
                <a:extLst>
                  <a:ext uri="{FF2B5EF4-FFF2-40B4-BE49-F238E27FC236}">
                    <a16:creationId xmlns:a16="http://schemas.microsoft.com/office/drawing/2014/main" id="{1167323E-C0CA-4FE4-BD7D-F60B37E926A1}"/>
                  </a:ext>
                </a:extLst>
              </p:cNvPr>
              <p:cNvSpPr txBox="1"/>
              <p:nvPr/>
            </p:nvSpPr>
            <p:spPr>
              <a:xfrm>
                <a:off x="3728714" y="2673441"/>
                <a:ext cx="33592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400" b="0" i="1" smtClean="0">
                          <a:latin typeface="Cambria Math" panose="02040503050406030204" pitchFamily="18" charset="0"/>
                        </a:rPr>
                        <m:t>𝑇𝑓𝑐</m:t>
                      </m:r>
                    </m:oMath>
                  </m:oMathPara>
                </a14:m>
                <a:endParaRPr lang="es-CO" sz="1400" dirty="0"/>
              </a:p>
            </p:txBody>
          </p:sp>
        </mc:Choice>
        <mc:Fallback>
          <p:sp>
            <p:nvSpPr>
              <p:cNvPr id="63" name="CuadroTexto 62">
                <a:extLst>
                  <a:ext uri="{FF2B5EF4-FFF2-40B4-BE49-F238E27FC236}">
                    <a16:creationId xmlns:a16="http://schemas.microsoft.com/office/drawing/2014/main" id="{1167323E-C0CA-4FE4-BD7D-F60B37E926A1}"/>
                  </a:ext>
                </a:extLst>
              </p:cNvPr>
              <p:cNvSpPr txBox="1">
                <a:spLocks noRot="1" noChangeAspect="1" noMove="1" noResize="1" noEditPoints="1" noAdjustHandles="1" noChangeArrowheads="1" noChangeShapeType="1" noTextEdit="1"/>
              </p:cNvSpPr>
              <p:nvPr/>
            </p:nvSpPr>
            <p:spPr>
              <a:xfrm>
                <a:off x="3728714" y="2673441"/>
                <a:ext cx="335926" cy="215444"/>
              </a:xfrm>
              <a:prstGeom prst="rect">
                <a:avLst/>
              </a:prstGeom>
              <a:blipFill>
                <a:blip r:embed="rId10"/>
                <a:stretch>
                  <a:fillRect l="-20000" r="-14545" b="-3142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5" name="CuadroTexto 64">
                <a:extLst>
                  <a:ext uri="{FF2B5EF4-FFF2-40B4-BE49-F238E27FC236}">
                    <a16:creationId xmlns:a16="http://schemas.microsoft.com/office/drawing/2014/main" id="{F6E6E884-B8FE-4E6B-A676-85AA6C6EB79B}"/>
                  </a:ext>
                </a:extLst>
              </p:cNvPr>
              <p:cNvSpPr txBox="1"/>
              <p:nvPr/>
            </p:nvSpPr>
            <p:spPr>
              <a:xfrm>
                <a:off x="3784819" y="4530848"/>
                <a:ext cx="22371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400" b="0" i="1" smtClean="0">
                          <a:latin typeface="Cambria Math" panose="02040503050406030204" pitchFamily="18" charset="0"/>
                        </a:rPr>
                        <m:t>𝑆𝑐</m:t>
                      </m:r>
                    </m:oMath>
                  </m:oMathPara>
                </a14:m>
                <a:endParaRPr lang="es-CO" sz="1400" dirty="0"/>
              </a:p>
            </p:txBody>
          </p:sp>
        </mc:Choice>
        <mc:Fallback>
          <p:sp>
            <p:nvSpPr>
              <p:cNvPr id="65" name="CuadroTexto 64">
                <a:extLst>
                  <a:ext uri="{FF2B5EF4-FFF2-40B4-BE49-F238E27FC236}">
                    <a16:creationId xmlns:a16="http://schemas.microsoft.com/office/drawing/2014/main" id="{F6E6E884-B8FE-4E6B-A676-85AA6C6EB79B}"/>
                  </a:ext>
                </a:extLst>
              </p:cNvPr>
              <p:cNvSpPr txBox="1">
                <a:spLocks noRot="1" noChangeAspect="1" noMove="1" noResize="1" noEditPoints="1" noAdjustHandles="1" noChangeArrowheads="1" noChangeShapeType="1" noTextEdit="1"/>
              </p:cNvSpPr>
              <p:nvPr/>
            </p:nvSpPr>
            <p:spPr>
              <a:xfrm>
                <a:off x="3784819" y="4530848"/>
                <a:ext cx="223716" cy="215444"/>
              </a:xfrm>
              <a:prstGeom prst="rect">
                <a:avLst/>
              </a:prstGeom>
              <a:blipFill>
                <a:blip r:embed="rId11"/>
                <a:stretch>
                  <a:fillRect l="-18919" r="-10811" b="-2778"/>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1" name="CuadroTexto 80">
                <a:extLst>
                  <a:ext uri="{FF2B5EF4-FFF2-40B4-BE49-F238E27FC236}">
                    <a16:creationId xmlns:a16="http://schemas.microsoft.com/office/drawing/2014/main" id="{B11CD6D1-F7AE-4719-9A85-07C6523F7EEC}"/>
                  </a:ext>
                </a:extLst>
              </p:cNvPr>
              <p:cNvSpPr txBox="1"/>
              <p:nvPr/>
            </p:nvSpPr>
            <p:spPr>
              <a:xfrm>
                <a:off x="3754363" y="1860161"/>
                <a:ext cx="28462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400" b="0" i="1" smtClean="0">
                          <a:latin typeface="Cambria Math" panose="02040503050406030204" pitchFamily="18" charset="0"/>
                        </a:rPr>
                        <m:t>𝑖𝑓𝑐</m:t>
                      </m:r>
                    </m:oMath>
                  </m:oMathPara>
                </a14:m>
                <a:endParaRPr lang="es-CO" sz="1400" dirty="0"/>
              </a:p>
            </p:txBody>
          </p:sp>
        </mc:Choice>
        <mc:Fallback>
          <p:sp>
            <p:nvSpPr>
              <p:cNvPr id="81" name="CuadroTexto 80">
                <a:extLst>
                  <a:ext uri="{FF2B5EF4-FFF2-40B4-BE49-F238E27FC236}">
                    <a16:creationId xmlns:a16="http://schemas.microsoft.com/office/drawing/2014/main" id="{B11CD6D1-F7AE-4719-9A85-07C6523F7EEC}"/>
                  </a:ext>
                </a:extLst>
              </p:cNvPr>
              <p:cNvSpPr txBox="1">
                <a:spLocks noRot="1" noChangeAspect="1" noMove="1" noResize="1" noEditPoints="1" noAdjustHandles="1" noChangeArrowheads="1" noChangeShapeType="1" noTextEdit="1"/>
              </p:cNvSpPr>
              <p:nvPr/>
            </p:nvSpPr>
            <p:spPr>
              <a:xfrm>
                <a:off x="3754363" y="1860161"/>
                <a:ext cx="284629" cy="215444"/>
              </a:xfrm>
              <a:prstGeom prst="rect">
                <a:avLst/>
              </a:prstGeom>
              <a:blipFill>
                <a:blip r:embed="rId12"/>
                <a:stretch>
                  <a:fillRect l="-23404" r="-14894" b="-3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3" name="CuadroTexto 82">
                <a:extLst>
                  <a:ext uri="{FF2B5EF4-FFF2-40B4-BE49-F238E27FC236}">
                    <a16:creationId xmlns:a16="http://schemas.microsoft.com/office/drawing/2014/main" id="{C02E47C0-53E3-4DED-A965-49EA2D48BE8E}"/>
                  </a:ext>
                </a:extLst>
              </p:cNvPr>
              <p:cNvSpPr txBox="1"/>
              <p:nvPr/>
            </p:nvSpPr>
            <p:spPr>
              <a:xfrm>
                <a:off x="3772861" y="3204129"/>
                <a:ext cx="24763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400" b="0" i="1" smtClean="0">
                          <a:latin typeface="Cambria Math" panose="02040503050406030204" pitchFamily="18" charset="0"/>
                        </a:rPr>
                        <m:t>𝑅𝑒</m:t>
                      </m:r>
                    </m:oMath>
                  </m:oMathPara>
                </a14:m>
                <a:endParaRPr lang="es-CO" sz="1400" dirty="0"/>
              </a:p>
            </p:txBody>
          </p:sp>
        </mc:Choice>
        <mc:Fallback>
          <p:sp>
            <p:nvSpPr>
              <p:cNvPr id="83" name="CuadroTexto 82">
                <a:extLst>
                  <a:ext uri="{FF2B5EF4-FFF2-40B4-BE49-F238E27FC236}">
                    <a16:creationId xmlns:a16="http://schemas.microsoft.com/office/drawing/2014/main" id="{C02E47C0-53E3-4DED-A965-49EA2D48BE8E}"/>
                  </a:ext>
                </a:extLst>
              </p:cNvPr>
              <p:cNvSpPr txBox="1">
                <a:spLocks noRot="1" noChangeAspect="1" noMove="1" noResize="1" noEditPoints="1" noAdjustHandles="1" noChangeArrowheads="1" noChangeShapeType="1" noTextEdit="1"/>
              </p:cNvSpPr>
              <p:nvPr/>
            </p:nvSpPr>
            <p:spPr>
              <a:xfrm>
                <a:off x="3772861" y="3204129"/>
                <a:ext cx="247632" cy="215444"/>
              </a:xfrm>
              <a:prstGeom prst="rect">
                <a:avLst/>
              </a:prstGeom>
              <a:blipFill>
                <a:blip r:embed="rId13"/>
                <a:stretch>
                  <a:fillRect l="-17073" r="-9756" b="-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4" name="CuadroTexto 83">
                <a:extLst>
                  <a:ext uri="{FF2B5EF4-FFF2-40B4-BE49-F238E27FC236}">
                    <a16:creationId xmlns:a16="http://schemas.microsoft.com/office/drawing/2014/main" id="{B62AAD9F-62D2-49A3-A127-EAF68EEA7FD1}"/>
                  </a:ext>
                </a:extLst>
              </p:cNvPr>
              <p:cNvSpPr txBox="1"/>
              <p:nvPr/>
            </p:nvSpPr>
            <p:spPr>
              <a:xfrm>
                <a:off x="7760723" y="2933424"/>
                <a:ext cx="47820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𝑃𝑎</m:t>
                          </m:r>
                        </m:e>
                        <m:sub>
                          <m:r>
                            <a:rPr lang="es-ES" sz="1400" b="0" i="1" smtClean="0">
                              <a:latin typeface="Cambria Math" panose="02040503050406030204" pitchFamily="18" charset="0"/>
                            </a:rPr>
                            <m:t>𝑑𝑒𝑠</m:t>
                          </m:r>
                        </m:sub>
                      </m:sSub>
                    </m:oMath>
                  </m:oMathPara>
                </a14:m>
                <a:endParaRPr lang="es-CO" sz="1400" dirty="0"/>
              </a:p>
            </p:txBody>
          </p:sp>
        </mc:Choice>
        <mc:Fallback>
          <p:sp>
            <p:nvSpPr>
              <p:cNvPr id="84" name="CuadroTexto 83">
                <a:extLst>
                  <a:ext uri="{FF2B5EF4-FFF2-40B4-BE49-F238E27FC236}">
                    <a16:creationId xmlns:a16="http://schemas.microsoft.com/office/drawing/2014/main" id="{B62AAD9F-62D2-49A3-A127-EAF68EEA7FD1}"/>
                  </a:ext>
                </a:extLst>
              </p:cNvPr>
              <p:cNvSpPr txBox="1">
                <a:spLocks noRot="1" noChangeAspect="1" noMove="1" noResize="1" noEditPoints="1" noAdjustHandles="1" noChangeArrowheads="1" noChangeShapeType="1" noTextEdit="1"/>
              </p:cNvSpPr>
              <p:nvPr/>
            </p:nvSpPr>
            <p:spPr>
              <a:xfrm>
                <a:off x="7760723" y="2933424"/>
                <a:ext cx="478208" cy="215444"/>
              </a:xfrm>
              <a:prstGeom prst="rect">
                <a:avLst/>
              </a:prstGeom>
              <a:blipFill>
                <a:blip r:embed="rId14"/>
                <a:stretch>
                  <a:fillRect l="-7595" r="-1266" b="-1388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5" name="CuadroTexto 84">
                <a:extLst>
                  <a:ext uri="{FF2B5EF4-FFF2-40B4-BE49-F238E27FC236}">
                    <a16:creationId xmlns:a16="http://schemas.microsoft.com/office/drawing/2014/main" id="{7A11FC2D-00A8-4756-B36B-88DAA3826FAA}"/>
                  </a:ext>
                </a:extLst>
              </p:cNvPr>
              <p:cNvSpPr txBox="1"/>
              <p:nvPr/>
            </p:nvSpPr>
            <p:spPr>
              <a:xfrm>
                <a:off x="7771143" y="3471672"/>
                <a:ext cx="45736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𝜙</m:t>
                          </m:r>
                        </m:e>
                        <m:sub>
                          <m:r>
                            <a:rPr lang="es-ES" sz="1400" b="0" i="1" smtClean="0">
                              <a:latin typeface="Cambria Math" panose="02040503050406030204" pitchFamily="18" charset="0"/>
                            </a:rPr>
                            <m:t>𝑐𝑑𝑒𝑠</m:t>
                          </m:r>
                        </m:sub>
                      </m:sSub>
                    </m:oMath>
                  </m:oMathPara>
                </a14:m>
                <a:endParaRPr lang="es-CO" sz="1400" dirty="0"/>
              </a:p>
            </p:txBody>
          </p:sp>
        </mc:Choice>
        <mc:Fallback>
          <p:sp>
            <p:nvSpPr>
              <p:cNvPr id="85" name="CuadroTexto 84">
                <a:extLst>
                  <a:ext uri="{FF2B5EF4-FFF2-40B4-BE49-F238E27FC236}">
                    <a16:creationId xmlns:a16="http://schemas.microsoft.com/office/drawing/2014/main" id="{7A11FC2D-00A8-4756-B36B-88DAA3826FAA}"/>
                  </a:ext>
                </a:extLst>
              </p:cNvPr>
              <p:cNvSpPr txBox="1">
                <a:spLocks noRot="1" noChangeAspect="1" noMove="1" noResize="1" noEditPoints="1" noAdjustHandles="1" noChangeArrowheads="1" noChangeShapeType="1" noTextEdit="1"/>
              </p:cNvSpPr>
              <p:nvPr/>
            </p:nvSpPr>
            <p:spPr>
              <a:xfrm>
                <a:off x="7771143" y="3471672"/>
                <a:ext cx="457369" cy="215444"/>
              </a:xfrm>
              <a:prstGeom prst="rect">
                <a:avLst/>
              </a:prstGeom>
              <a:blipFill>
                <a:blip r:embed="rId4"/>
                <a:stretch>
                  <a:fillRect l="-13333" r="-1333" b="-3142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6" name="CuadroTexto 85">
                <a:extLst>
                  <a:ext uri="{FF2B5EF4-FFF2-40B4-BE49-F238E27FC236}">
                    <a16:creationId xmlns:a16="http://schemas.microsoft.com/office/drawing/2014/main" id="{E288ED07-7646-4507-8936-BDF06EC59162}"/>
                  </a:ext>
                </a:extLst>
              </p:cNvPr>
              <p:cNvSpPr txBox="1"/>
              <p:nvPr/>
            </p:nvSpPr>
            <p:spPr>
              <a:xfrm>
                <a:off x="7838533" y="4009920"/>
                <a:ext cx="32258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𝜖</m:t>
                          </m:r>
                        </m:e>
                        <m:sub>
                          <m:r>
                            <a:rPr lang="es-ES" sz="1400" b="0" i="1" smtClean="0">
                              <a:latin typeface="Cambria Math" panose="02040503050406030204" pitchFamily="18" charset="0"/>
                            </a:rPr>
                            <m:t>𝑚𝑐</m:t>
                          </m:r>
                        </m:sub>
                      </m:sSub>
                    </m:oMath>
                  </m:oMathPara>
                </a14:m>
                <a:endParaRPr lang="es-CO" sz="1400" dirty="0"/>
              </a:p>
            </p:txBody>
          </p:sp>
        </mc:Choice>
        <mc:Fallback>
          <p:sp>
            <p:nvSpPr>
              <p:cNvPr id="86" name="CuadroTexto 85">
                <a:extLst>
                  <a:ext uri="{FF2B5EF4-FFF2-40B4-BE49-F238E27FC236}">
                    <a16:creationId xmlns:a16="http://schemas.microsoft.com/office/drawing/2014/main" id="{E288ED07-7646-4507-8936-BDF06EC59162}"/>
                  </a:ext>
                </a:extLst>
              </p:cNvPr>
              <p:cNvSpPr txBox="1">
                <a:spLocks noRot="1" noChangeAspect="1" noMove="1" noResize="1" noEditPoints="1" noAdjustHandles="1" noChangeArrowheads="1" noChangeShapeType="1" noTextEdit="1"/>
              </p:cNvSpPr>
              <p:nvPr/>
            </p:nvSpPr>
            <p:spPr>
              <a:xfrm>
                <a:off x="7838533" y="4009920"/>
                <a:ext cx="322589" cy="215444"/>
              </a:xfrm>
              <a:prstGeom prst="rect">
                <a:avLst/>
              </a:prstGeom>
              <a:blipFill>
                <a:blip r:embed="rId15"/>
                <a:stretch>
                  <a:fillRect l="-9434" b="-857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7" name="CuadroTexto 86">
                <a:extLst>
                  <a:ext uri="{FF2B5EF4-FFF2-40B4-BE49-F238E27FC236}">
                    <a16:creationId xmlns:a16="http://schemas.microsoft.com/office/drawing/2014/main" id="{ABDEC1E6-D40A-4BE7-805A-D51E2F749361}"/>
                  </a:ext>
                </a:extLst>
              </p:cNvPr>
              <p:cNvSpPr txBox="1"/>
              <p:nvPr/>
            </p:nvSpPr>
            <p:spPr>
              <a:xfrm>
                <a:off x="7936990" y="4279047"/>
                <a:ext cx="125675"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400" b="0" i="1" smtClean="0">
                          <a:latin typeface="Cambria Math" panose="02040503050406030204" pitchFamily="18" charset="0"/>
                        </a:rPr>
                        <m:t>𝜏</m:t>
                      </m:r>
                    </m:oMath>
                  </m:oMathPara>
                </a14:m>
                <a:endParaRPr lang="es-CO" sz="1400" dirty="0"/>
              </a:p>
            </p:txBody>
          </p:sp>
        </mc:Choice>
        <mc:Fallback>
          <p:sp>
            <p:nvSpPr>
              <p:cNvPr id="87" name="CuadroTexto 86">
                <a:extLst>
                  <a:ext uri="{FF2B5EF4-FFF2-40B4-BE49-F238E27FC236}">
                    <a16:creationId xmlns:a16="http://schemas.microsoft.com/office/drawing/2014/main" id="{ABDEC1E6-D40A-4BE7-805A-D51E2F749361}"/>
                  </a:ext>
                </a:extLst>
              </p:cNvPr>
              <p:cNvSpPr txBox="1">
                <a:spLocks noRot="1" noChangeAspect="1" noMove="1" noResize="1" noEditPoints="1" noAdjustHandles="1" noChangeArrowheads="1" noChangeShapeType="1" noTextEdit="1"/>
              </p:cNvSpPr>
              <p:nvPr/>
            </p:nvSpPr>
            <p:spPr>
              <a:xfrm>
                <a:off x="7936990" y="4279047"/>
                <a:ext cx="125675" cy="215444"/>
              </a:xfrm>
              <a:prstGeom prst="rect">
                <a:avLst/>
              </a:prstGeom>
              <a:blipFill>
                <a:blip r:embed="rId16"/>
                <a:stretch>
                  <a:fillRect l="-19048" r="-952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8" name="CuadroTexto 87">
                <a:extLst>
                  <a:ext uri="{FF2B5EF4-FFF2-40B4-BE49-F238E27FC236}">
                    <a16:creationId xmlns:a16="http://schemas.microsoft.com/office/drawing/2014/main" id="{3477FE90-FCC9-4898-B3D2-EE013E3B1257}"/>
                  </a:ext>
                </a:extLst>
              </p:cNvPr>
              <p:cNvSpPr txBox="1"/>
              <p:nvPr/>
            </p:nvSpPr>
            <p:spPr>
              <a:xfrm>
                <a:off x="7738185" y="1839680"/>
                <a:ext cx="523285" cy="2326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𝑖</m:t>
                          </m:r>
                          <m:r>
                            <a:rPr lang="es-ES" sz="1400" b="0" i="1" smtClean="0">
                              <a:latin typeface="Cambria Math" panose="02040503050406030204" pitchFamily="18" charset="0"/>
                            </a:rPr>
                            <m:t>0</m:t>
                          </m:r>
                        </m:e>
                        <m:sub>
                          <m:r>
                            <a:rPr lang="es-ES" sz="1400" b="0" i="1" smtClean="0">
                              <a:latin typeface="Cambria Math" panose="02040503050406030204" pitchFamily="18" charset="0"/>
                            </a:rPr>
                            <m:t>𝑐</m:t>
                          </m:r>
                          <m:r>
                            <a:rPr lang="es-ES" sz="1400" b="0" i="1" smtClean="0">
                              <a:latin typeface="Cambria Math" panose="02040503050406030204" pitchFamily="18" charset="0"/>
                            </a:rPr>
                            <m:t> </m:t>
                          </m:r>
                          <m:r>
                            <a:rPr lang="es-ES" sz="1400" b="0" i="1" smtClean="0">
                              <a:latin typeface="Cambria Math" panose="02040503050406030204" pitchFamily="18" charset="0"/>
                            </a:rPr>
                            <m:t>𝑟𝑒𝑓</m:t>
                          </m:r>
                        </m:sub>
                      </m:sSub>
                    </m:oMath>
                  </m:oMathPara>
                </a14:m>
                <a:endParaRPr lang="es-CO" sz="1400" dirty="0"/>
              </a:p>
            </p:txBody>
          </p:sp>
        </mc:Choice>
        <mc:Fallback>
          <p:sp>
            <p:nvSpPr>
              <p:cNvPr id="88" name="CuadroTexto 87">
                <a:extLst>
                  <a:ext uri="{FF2B5EF4-FFF2-40B4-BE49-F238E27FC236}">
                    <a16:creationId xmlns:a16="http://schemas.microsoft.com/office/drawing/2014/main" id="{3477FE90-FCC9-4898-B3D2-EE013E3B1257}"/>
                  </a:ext>
                </a:extLst>
              </p:cNvPr>
              <p:cNvSpPr txBox="1">
                <a:spLocks noRot="1" noChangeAspect="1" noMove="1" noResize="1" noEditPoints="1" noAdjustHandles="1" noChangeArrowheads="1" noChangeShapeType="1" noTextEdit="1"/>
              </p:cNvSpPr>
              <p:nvPr/>
            </p:nvSpPr>
            <p:spPr>
              <a:xfrm>
                <a:off x="7738185" y="1839680"/>
                <a:ext cx="523285" cy="232692"/>
              </a:xfrm>
              <a:prstGeom prst="rect">
                <a:avLst/>
              </a:prstGeom>
              <a:blipFill>
                <a:blip r:embed="rId7"/>
                <a:stretch>
                  <a:fillRect l="-6977" r="-4651" b="-2368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9" name="CuadroTexto 88">
                <a:extLst>
                  <a:ext uri="{FF2B5EF4-FFF2-40B4-BE49-F238E27FC236}">
                    <a16:creationId xmlns:a16="http://schemas.microsoft.com/office/drawing/2014/main" id="{E343205B-B1BD-4A67-BB1E-C7A3C436A577}"/>
                  </a:ext>
                </a:extLst>
              </p:cNvPr>
              <p:cNvSpPr txBox="1"/>
              <p:nvPr/>
            </p:nvSpPr>
            <p:spPr>
              <a:xfrm>
                <a:off x="7854403" y="3202548"/>
                <a:ext cx="29084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𝜅</m:t>
                          </m:r>
                        </m:e>
                        <m:sub>
                          <m:r>
                            <a:rPr lang="es-ES" sz="1400" b="0" i="1" smtClean="0">
                              <a:latin typeface="Cambria Math" panose="02040503050406030204" pitchFamily="18" charset="0"/>
                            </a:rPr>
                            <m:t>𝑐𝑜</m:t>
                          </m:r>
                        </m:sub>
                      </m:sSub>
                    </m:oMath>
                  </m:oMathPara>
                </a14:m>
                <a:endParaRPr lang="es-CO" sz="1400" dirty="0"/>
              </a:p>
            </p:txBody>
          </p:sp>
        </mc:Choice>
        <mc:Fallback>
          <p:sp>
            <p:nvSpPr>
              <p:cNvPr id="89" name="CuadroTexto 88">
                <a:extLst>
                  <a:ext uri="{FF2B5EF4-FFF2-40B4-BE49-F238E27FC236}">
                    <a16:creationId xmlns:a16="http://schemas.microsoft.com/office/drawing/2014/main" id="{E343205B-B1BD-4A67-BB1E-C7A3C436A577}"/>
                  </a:ext>
                </a:extLst>
              </p:cNvPr>
              <p:cNvSpPr txBox="1">
                <a:spLocks noRot="1" noChangeAspect="1" noMove="1" noResize="1" noEditPoints="1" noAdjustHandles="1" noChangeArrowheads="1" noChangeShapeType="1" noTextEdit="1"/>
              </p:cNvSpPr>
              <p:nvPr/>
            </p:nvSpPr>
            <p:spPr>
              <a:xfrm>
                <a:off x="7854403" y="3202548"/>
                <a:ext cx="290849" cy="215444"/>
              </a:xfrm>
              <a:prstGeom prst="rect">
                <a:avLst/>
              </a:prstGeom>
              <a:blipFill>
                <a:blip r:embed="rId17"/>
                <a:stretch>
                  <a:fillRect l="-8333" b="-8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0" name="CuadroTexto 89">
                <a:extLst>
                  <a:ext uri="{FF2B5EF4-FFF2-40B4-BE49-F238E27FC236}">
                    <a16:creationId xmlns:a16="http://schemas.microsoft.com/office/drawing/2014/main" id="{452871E9-7A83-4F5C-8BFF-F99809C4442C}"/>
                  </a:ext>
                </a:extLst>
              </p:cNvPr>
              <p:cNvSpPr txBox="1"/>
              <p:nvPr/>
            </p:nvSpPr>
            <p:spPr>
              <a:xfrm>
                <a:off x="7892234" y="2126052"/>
                <a:ext cx="21518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𝜅</m:t>
                          </m:r>
                        </m:e>
                        <m:sub>
                          <m:r>
                            <a:rPr lang="es-ES" sz="1400" b="0" i="1" smtClean="0">
                              <a:latin typeface="Cambria Math" panose="02040503050406030204" pitchFamily="18" charset="0"/>
                            </a:rPr>
                            <m:t>𝑐</m:t>
                          </m:r>
                        </m:sub>
                      </m:sSub>
                    </m:oMath>
                  </m:oMathPara>
                </a14:m>
                <a:endParaRPr lang="es-CO" sz="1400" dirty="0"/>
              </a:p>
            </p:txBody>
          </p:sp>
        </mc:Choice>
        <mc:Fallback>
          <p:sp>
            <p:nvSpPr>
              <p:cNvPr id="90" name="CuadroTexto 89">
                <a:extLst>
                  <a:ext uri="{FF2B5EF4-FFF2-40B4-BE49-F238E27FC236}">
                    <a16:creationId xmlns:a16="http://schemas.microsoft.com/office/drawing/2014/main" id="{452871E9-7A83-4F5C-8BFF-F99809C4442C}"/>
                  </a:ext>
                </a:extLst>
              </p:cNvPr>
              <p:cNvSpPr txBox="1">
                <a:spLocks noRot="1" noChangeAspect="1" noMove="1" noResize="1" noEditPoints="1" noAdjustHandles="1" noChangeArrowheads="1" noChangeShapeType="1" noTextEdit="1"/>
              </p:cNvSpPr>
              <p:nvPr/>
            </p:nvSpPr>
            <p:spPr>
              <a:xfrm>
                <a:off x="7892234" y="2126052"/>
                <a:ext cx="215187" cy="215444"/>
              </a:xfrm>
              <a:prstGeom prst="rect">
                <a:avLst/>
              </a:prstGeom>
              <a:blipFill>
                <a:blip r:embed="rId18"/>
                <a:stretch>
                  <a:fillRect l="-14286" b="-857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1" name="CuadroTexto 90">
                <a:extLst>
                  <a:ext uri="{FF2B5EF4-FFF2-40B4-BE49-F238E27FC236}">
                    <a16:creationId xmlns:a16="http://schemas.microsoft.com/office/drawing/2014/main" id="{70B4A061-5EC5-45DF-9AC1-EFC3A6C20C1E}"/>
                  </a:ext>
                </a:extLst>
              </p:cNvPr>
              <p:cNvSpPr txBox="1"/>
              <p:nvPr/>
            </p:nvSpPr>
            <p:spPr>
              <a:xfrm>
                <a:off x="7831864" y="2664300"/>
                <a:ext cx="33592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400" b="0" i="1" smtClean="0">
                          <a:latin typeface="Cambria Math" panose="02040503050406030204" pitchFamily="18" charset="0"/>
                        </a:rPr>
                        <m:t>𝑇𝑓𝑐</m:t>
                      </m:r>
                    </m:oMath>
                  </m:oMathPara>
                </a14:m>
                <a:endParaRPr lang="es-CO" sz="1400" dirty="0"/>
              </a:p>
            </p:txBody>
          </p:sp>
        </mc:Choice>
        <mc:Fallback>
          <p:sp>
            <p:nvSpPr>
              <p:cNvPr id="91" name="CuadroTexto 90">
                <a:extLst>
                  <a:ext uri="{FF2B5EF4-FFF2-40B4-BE49-F238E27FC236}">
                    <a16:creationId xmlns:a16="http://schemas.microsoft.com/office/drawing/2014/main" id="{70B4A061-5EC5-45DF-9AC1-EFC3A6C20C1E}"/>
                  </a:ext>
                </a:extLst>
              </p:cNvPr>
              <p:cNvSpPr txBox="1">
                <a:spLocks noRot="1" noChangeAspect="1" noMove="1" noResize="1" noEditPoints="1" noAdjustHandles="1" noChangeArrowheads="1" noChangeShapeType="1" noTextEdit="1"/>
              </p:cNvSpPr>
              <p:nvPr/>
            </p:nvSpPr>
            <p:spPr>
              <a:xfrm>
                <a:off x="7831864" y="2664300"/>
                <a:ext cx="335926" cy="215444"/>
              </a:xfrm>
              <a:prstGeom prst="rect">
                <a:avLst/>
              </a:prstGeom>
              <a:blipFill>
                <a:blip r:embed="rId19"/>
                <a:stretch>
                  <a:fillRect l="-20000" r="-14545" b="-3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3" name="CuadroTexto 92">
                <a:extLst>
                  <a:ext uri="{FF2B5EF4-FFF2-40B4-BE49-F238E27FC236}">
                    <a16:creationId xmlns:a16="http://schemas.microsoft.com/office/drawing/2014/main" id="{D568EF0D-9DD9-47B5-A964-FC568C896B41}"/>
                  </a:ext>
                </a:extLst>
              </p:cNvPr>
              <p:cNvSpPr txBox="1"/>
              <p:nvPr/>
            </p:nvSpPr>
            <p:spPr>
              <a:xfrm>
                <a:off x="7857513" y="2395176"/>
                <a:ext cx="28462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400" b="0" i="1" smtClean="0">
                          <a:latin typeface="Cambria Math" panose="02040503050406030204" pitchFamily="18" charset="0"/>
                        </a:rPr>
                        <m:t>𝑖𝑓𝑐</m:t>
                      </m:r>
                    </m:oMath>
                  </m:oMathPara>
                </a14:m>
                <a:endParaRPr lang="es-CO" sz="1400" dirty="0"/>
              </a:p>
            </p:txBody>
          </p:sp>
        </mc:Choice>
        <mc:Fallback>
          <p:sp>
            <p:nvSpPr>
              <p:cNvPr id="93" name="CuadroTexto 92">
                <a:extLst>
                  <a:ext uri="{FF2B5EF4-FFF2-40B4-BE49-F238E27FC236}">
                    <a16:creationId xmlns:a16="http://schemas.microsoft.com/office/drawing/2014/main" id="{D568EF0D-9DD9-47B5-A964-FC568C896B41}"/>
                  </a:ext>
                </a:extLst>
              </p:cNvPr>
              <p:cNvSpPr txBox="1">
                <a:spLocks noRot="1" noChangeAspect="1" noMove="1" noResize="1" noEditPoints="1" noAdjustHandles="1" noChangeArrowheads="1" noChangeShapeType="1" noTextEdit="1"/>
              </p:cNvSpPr>
              <p:nvPr/>
            </p:nvSpPr>
            <p:spPr>
              <a:xfrm>
                <a:off x="7857513" y="2395176"/>
                <a:ext cx="284629" cy="215444"/>
              </a:xfrm>
              <a:prstGeom prst="rect">
                <a:avLst/>
              </a:prstGeom>
              <a:blipFill>
                <a:blip r:embed="rId20"/>
                <a:stretch>
                  <a:fillRect l="-23404" r="-14894" b="-3142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4" name="CuadroTexto 93">
                <a:extLst>
                  <a:ext uri="{FF2B5EF4-FFF2-40B4-BE49-F238E27FC236}">
                    <a16:creationId xmlns:a16="http://schemas.microsoft.com/office/drawing/2014/main" id="{545372A7-9FA3-4863-ACB3-695339A998DF}"/>
                  </a:ext>
                </a:extLst>
              </p:cNvPr>
              <p:cNvSpPr txBox="1"/>
              <p:nvPr/>
            </p:nvSpPr>
            <p:spPr>
              <a:xfrm>
                <a:off x="7876011" y="3740796"/>
                <a:ext cx="247632"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400" b="0" i="1" smtClean="0">
                          <a:latin typeface="Cambria Math" panose="02040503050406030204" pitchFamily="18" charset="0"/>
                        </a:rPr>
                        <m:t>𝑅𝑒</m:t>
                      </m:r>
                    </m:oMath>
                  </m:oMathPara>
                </a14:m>
                <a:endParaRPr lang="es-CO" sz="1400" dirty="0"/>
              </a:p>
            </p:txBody>
          </p:sp>
        </mc:Choice>
        <mc:Fallback>
          <p:sp>
            <p:nvSpPr>
              <p:cNvPr id="94" name="CuadroTexto 93">
                <a:extLst>
                  <a:ext uri="{FF2B5EF4-FFF2-40B4-BE49-F238E27FC236}">
                    <a16:creationId xmlns:a16="http://schemas.microsoft.com/office/drawing/2014/main" id="{545372A7-9FA3-4863-ACB3-695339A998DF}"/>
                  </a:ext>
                </a:extLst>
              </p:cNvPr>
              <p:cNvSpPr txBox="1">
                <a:spLocks noRot="1" noChangeAspect="1" noMove="1" noResize="1" noEditPoints="1" noAdjustHandles="1" noChangeArrowheads="1" noChangeShapeType="1" noTextEdit="1"/>
              </p:cNvSpPr>
              <p:nvPr/>
            </p:nvSpPr>
            <p:spPr>
              <a:xfrm>
                <a:off x="7876011" y="3740796"/>
                <a:ext cx="247632" cy="215444"/>
              </a:xfrm>
              <a:prstGeom prst="rect">
                <a:avLst/>
              </a:prstGeom>
              <a:blipFill>
                <a:blip r:embed="rId13"/>
                <a:stretch>
                  <a:fillRect l="-17073" r="-9756" b="-5714"/>
                </a:stretch>
              </a:blipFill>
            </p:spPr>
            <p:txBody>
              <a:bodyPr/>
              <a:lstStyle/>
              <a:p>
                <a:r>
                  <a:rPr lang="es-CO">
                    <a:noFill/>
                  </a:rPr>
                  <a:t> </a:t>
                </a:r>
              </a:p>
            </p:txBody>
          </p:sp>
        </mc:Fallback>
      </mc:AlternateContent>
      <p:sp>
        <p:nvSpPr>
          <p:cNvPr id="96" name="Google Shape;1091;p66">
            <a:extLst>
              <a:ext uri="{FF2B5EF4-FFF2-40B4-BE49-F238E27FC236}">
                <a16:creationId xmlns:a16="http://schemas.microsoft.com/office/drawing/2014/main" id="{3CDE2EB4-97B2-4897-B2E1-15DC0AA30BC5}"/>
              </a:ext>
            </a:extLst>
          </p:cNvPr>
          <p:cNvSpPr txBox="1"/>
          <p:nvPr/>
        </p:nvSpPr>
        <p:spPr>
          <a:xfrm>
            <a:off x="7608143" y="4611602"/>
            <a:ext cx="4134896" cy="498124"/>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1100" b="1" dirty="0"/>
              <a:t>Figure XX: </a:t>
            </a:r>
            <a:r>
              <a:rPr lang="en" sz="1200" dirty="0">
                <a:sym typeface="Roboto"/>
              </a:rPr>
              <a:t>Ranking position of selected features based on total Sobol index across polarization regions. Features are selected so that the accumulated ST equals a threshold (0.95).</a:t>
            </a:r>
            <a:endParaRPr sz="1200" dirty="0">
              <a:sym typeface="Roboto"/>
            </a:endParaRPr>
          </a:p>
        </p:txBody>
      </p:sp>
      <p:sp>
        <p:nvSpPr>
          <p:cNvPr id="99" name="Google Shape;1091;p66">
            <a:extLst>
              <a:ext uri="{FF2B5EF4-FFF2-40B4-BE49-F238E27FC236}">
                <a16:creationId xmlns:a16="http://schemas.microsoft.com/office/drawing/2014/main" id="{42A6DC8B-BF55-4EA5-B024-65A2054BEE32}"/>
              </a:ext>
            </a:extLst>
          </p:cNvPr>
          <p:cNvSpPr txBox="1"/>
          <p:nvPr/>
        </p:nvSpPr>
        <p:spPr>
          <a:xfrm>
            <a:off x="3381807" y="4814601"/>
            <a:ext cx="4134896" cy="730903"/>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1100" b="1" dirty="0"/>
              <a:t>Figure XX: </a:t>
            </a:r>
            <a:r>
              <a:rPr lang="en-US" sz="1200" dirty="0"/>
              <a:t>Ranking positions of selected features based on SHAP values across polarization regions. Features are selected such that their cumulative mean absolute SHAP values account for at least 95% of the total importance in each region.</a:t>
            </a:r>
            <a:endParaRPr sz="1200" dirty="0">
              <a:sym typeface="Roboto"/>
            </a:endParaRPr>
          </a:p>
        </p:txBody>
      </p:sp>
      <p:sp>
        <p:nvSpPr>
          <p:cNvPr id="101" name="Google Shape;1164;p66">
            <a:extLst>
              <a:ext uri="{FF2B5EF4-FFF2-40B4-BE49-F238E27FC236}">
                <a16:creationId xmlns:a16="http://schemas.microsoft.com/office/drawing/2014/main" id="{79CE36B9-6860-4F02-B70A-131BCB123164}"/>
              </a:ext>
            </a:extLst>
          </p:cNvPr>
          <p:cNvSpPr/>
          <p:nvPr/>
        </p:nvSpPr>
        <p:spPr>
          <a:xfrm>
            <a:off x="4424498" y="5626148"/>
            <a:ext cx="5243708" cy="825883"/>
          </a:xfrm>
          <a:prstGeom prst="roundRect">
            <a:avLst>
              <a:gd name="adj" fmla="val 50000"/>
            </a:avLst>
          </a:prstGeom>
          <a:solidFill>
            <a:srgbClr val="B278E6">
              <a:alpha val="11764"/>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sz="1200" b="1" dirty="0">
                <a:solidFill>
                  <a:prstClr val="black"/>
                </a:solidFill>
                <a:latin typeface="Source Sans Pro" panose="020B0503030403020204" pitchFamily="34" charset="0"/>
                <a:ea typeface="Source Sans Pro" panose="020B0503030403020204" pitchFamily="34" charset="0"/>
                <a:sym typeface="Fira Sans Extra Condensed"/>
              </a:rPr>
              <a:t>Common features (intersection): </a:t>
            </a:r>
          </a:p>
          <a:p>
            <a:pPr marL="0" marR="0" lvl="0" indent="0" algn="l" rtl="0">
              <a:lnSpc>
                <a:spcPct val="100000"/>
              </a:lnSpc>
              <a:spcBef>
                <a:spcPts val="0"/>
              </a:spcBef>
              <a:spcAft>
                <a:spcPts val="0"/>
              </a:spcAft>
              <a:buNone/>
            </a:pPr>
            <a:r>
              <a:rPr lang="en" sz="1200" b="1" dirty="0">
                <a:solidFill>
                  <a:prstClr val="black"/>
                </a:solidFill>
                <a:latin typeface="Source Sans Pro" panose="020B0503030403020204" pitchFamily="34" charset="0"/>
                <a:ea typeface="Source Sans Pro" panose="020B0503030403020204" pitchFamily="34" charset="0"/>
                <a:sym typeface="Fira Sans Extra Condensed"/>
              </a:rPr>
              <a:t>Adittional features:</a:t>
            </a:r>
            <a:endParaRPr sz="1200" dirty="0">
              <a:sym typeface="Fira Sans Extra Condensed"/>
            </a:endParaRPr>
          </a:p>
        </p:txBody>
      </p:sp>
      <mc:AlternateContent xmlns:mc="http://schemas.openxmlformats.org/markup-compatibility/2006">
        <mc:Choice xmlns:a14="http://schemas.microsoft.com/office/drawing/2010/main" Requires="a14">
          <p:sp>
            <p:nvSpPr>
              <p:cNvPr id="105" name="CuadroTexto 104">
                <a:extLst>
                  <a:ext uri="{FF2B5EF4-FFF2-40B4-BE49-F238E27FC236}">
                    <a16:creationId xmlns:a16="http://schemas.microsoft.com/office/drawing/2014/main" id="{D44AA20B-75FD-4D3C-8B61-99554F77D751}"/>
                  </a:ext>
                </a:extLst>
              </p:cNvPr>
              <p:cNvSpPr txBox="1"/>
              <p:nvPr/>
            </p:nvSpPr>
            <p:spPr>
              <a:xfrm>
                <a:off x="6950781" y="5808445"/>
                <a:ext cx="478208"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𝑃𝑎</m:t>
                          </m:r>
                        </m:e>
                        <m:sub>
                          <m:r>
                            <a:rPr lang="es-ES" sz="1400" b="0" i="1" smtClean="0">
                              <a:latin typeface="Cambria Math" panose="02040503050406030204" pitchFamily="18" charset="0"/>
                            </a:rPr>
                            <m:t>𝑑𝑒𝑠</m:t>
                          </m:r>
                        </m:sub>
                      </m:sSub>
                    </m:oMath>
                  </m:oMathPara>
                </a14:m>
                <a:endParaRPr lang="es-CO" sz="1400" dirty="0"/>
              </a:p>
            </p:txBody>
          </p:sp>
        </mc:Choice>
        <mc:Fallback>
          <p:sp>
            <p:nvSpPr>
              <p:cNvPr id="105" name="CuadroTexto 104">
                <a:extLst>
                  <a:ext uri="{FF2B5EF4-FFF2-40B4-BE49-F238E27FC236}">
                    <a16:creationId xmlns:a16="http://schemas.microsoft.com/office/drawing/2014/main" id="{D44AA20B-75FD-4D3C-8B61-99554F77D751}"/>
                  </a:ext>
                </a:extLst>
              </p:cNvPr>
              <p:cNvSpPr txBox="1">
                <a:spLocks noRot="1" noChangeAspect="1" noMove="1" noResize="1" noEditPoints="1" noAdjustHandles="1" noChangeArrowheads="1" noChangeShapeType="1" noTextEdit="1"/>
              </p:cNvSpPr>
              <p:nvPr/>
            </p:nvSpPr>
            <p:spPr>
              <a:xfrm>
                <a:off x="6950781" y="5808445"/>
                <a:ext cx="478208" cy="215444"/>
              </a:xfrm>
              <a:prstGeom prst="rect">
                <a:avLst/>
              </a:prstGeom>
              <a:blipFill>
                <a:blip r:embed="rId21"/>
                <a:stretch>
                  <a:fillRect l="-7595" r="-1266"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06" name="CuadroTexto 105">
                <a:extLst>
                  <a:ext uri="{FF2B5EF4-FFF2-40B4-BE49-F238E27FC236}">
                    <a16:creationId xmlns:a16="http://schemas.microsoft.com/office/drawing/2014/main" id="{7C4312B3-8CB8-408C-AFF7-C719A3ED56F3}"/>
                  </a:ext>
                </a:extLst>
              </p:cNvPr>
              <p:cNvSpPr txBox="1"/>
              <p:nvPr/>
            </p:nvSpPr>
            <p:spPr>
              <a:xfrm>
                <a:off x="7565506" y="5808445"/>
                <a:ext cx="335926"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400" b="0" i="1" smtClean="0">
                          <a:latin typeface="Cambria Math" panose="02040503050406030204" pitchFamily="18" charset="0"/>
                        </a:rPr>
                        <m:t>𝑇𝑓𝑐</m:t>
                      </m:r>
                    </m:oMath>
                  </m:oMathPara>
                </a14:m>
                <a:endParaRPr lang="es-CO" sz="1400" dirty="0"/>
              </a:p>
            </p:txBody>
          </p:sp>
        </mc:Choice>
        <mc:Fallback>
          <p:sp>
            <p:nvSpPr>
              <p:cNvPr id="106" name="CuadroTexto 105">
                <a:extLst>
                  <a:ext uri="{FF2B5EF4-FFF2-40B4-BE49-F238E27FC236}">
                    <a16:creationId xmlns:a16="http://schemas.microsoft.com/office/drawing/2014/main" id="{7C4312B3-8CB8-408C-AFF7-C719A3ED56F3}"/>
                  </a:ext>
                </a:extLst>
              </p:cNvPr>
              <p:cNvSpPr txBox="1">
                <a:spLocks noRot="1" noChangeAspect="1" noMove="1" noResize="1" noEditPoints="1" noAdjustHandles="1" noChangeArrowheads="1" noChangeShapeType="1" noTextEdit="1"/>
              </p:cNvSpPr>
              <p:nvPr/>
            </p:nvSpPr>
            <p:spPr>
              <a:xfrm>
                <a:off x="7565506" y="5808445"/>
                <a:ext cx="335926" cy="215444"/>
              </a:xfrm>
              <a:prstGeom prst="rect">
                <a:avLst/>
              </a:prstGeom>
              <a:blipFill>
                <a:blip r:embed="rId22"/>
                <a:stretch>
                  <a:fillRect l="-18182" r="-16364" b="-3142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07" name="CuadroTexto 106">
                <a:extLst>
                  <a:ext uri="{FF2B5EF4-FFF2-40B4-BE49-F238E27FC236}">
                    <a16:creationId xmlns:a16="http://schemas.microsoft.com/office/drawing/2014/main" id="{CD660D91-5F70-4362-AC20-2CF417CE4BF2}"/>
                  </a:ext>
                </a:extLst>
              </p:cNvPr>
              <p:cNvSpPr txBox="1"/>
              <p:nvPr/>
            </p:nvSpPr>
            <p:spPr>
              <a:xfrm>
                <a:off x="8037949" y="5799821"/>
                <a:ext cx="523285" cy="2326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𝑖</m:t>
                          </m:r>
                          <m:r>
                            <a:rPr lang="es-ES" sz="1400" b="0" i="1" smtClean="0">
                              <a:latin typeface="Cambria Math" panose="02040503050406030204" pitchFamily="18" charset="0"/>
                            </a:rPr>
                            <m:t>0</m:t>
                          </m:r>
                        </m:e>
                        <m:sub>
                          <m:r>
                            <a:rPr lang="es-ES" sz="1400" b="0" i="1" smtClean="0">
                              <a:latin typeface="Cambria Math" panose="02040503050406030204" pitchFamily="18" charset="0"/>
                            </a:rPr>
                            <m:t>𝑐</m:t>
                          </m:r>
                          <m:r>
                            <a:rPr lang="es-ES" sz="1400" b="0" i="1" smtClean="0">
                              <a:latin typeface="Cambria Math" panose="02040503050406030204" pitchFamily="18" charset="0"/>
                            </a:rPr>
                            <m:t> </m:t>
                          </m:r>
                          <m:r>
                            <a:rPr lang="es-ES" sz="1400" b="0" i="1" smtClean="0">
                              <a:latin typeface="Cambria Math" panose="02040503050406030204" pitchFamily="18" charset="0"/>
                            </a:rPr>
                            <m:t>𝑟𝑒𝑓</m:t>
                          </m:r>
                        </m:sub>
                      </m:sSub>
                    </m:oMath>
                  </m:oMathPara>
                </a14:m>
                <a:endParaRPr lang="es-CO" sz="1400" dirty="0"/>
              </a:p>
            </p:txBody>
          </p:sp>
        </mc:Choice>
        <mc:Fallback>
          <p:sp>
            <p:nvSpPr>
              <p:cNvPr id="107" name="CuadroTexto 106">
                <a:extLst>
                  <a:ext uri="{FF2B5EF4-FFF2-40B4-BE49-F238E27FC236}">
                    <a16:creationId xmlns:a16="http://schemas.microsoft.com/office/drawing/2014/main" id="{CD660D91-5F70-4362-AC20-2CF417CE4BF2}"/>
                  </a:ext>
                </a:extLst>
              </p:cNvPr>
              <p:cNvSpPr txBox="1">
                <a:spLocks noRot="1" noChangeAspect="1" noMove="1" noResize="1" noEditPoints="1" noAdjustHandles="1" noChangeArrowheads="1" noChangeShapeType="1" noTextEdit="1"/>
              </p:cNvSpPr>
              <p:nvPr/>
            </p:nvSpPr>
            <p:spPr>
              <a:xfrm>
                <a:off x="8037949" y="5799821"/>
                <a:ext cx="523285" cy="232692"/>
              </a:xfrm>
              <a:prstGeom prst="rect">
                <a:avLst/>
              </a:prstGeom>
              <a:blipFill>
                <a:blip r:embed="rId23"/>
                <a:stretch>
                  <a:fillRect l="-8235" r="-4706" b="-2307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08" name="CuadroTexto 107">
                <a:extLst>
                  <a:ext uri="{FF2B5EF4-FFF2-40B4-BE49-F238E27FC236}">
                    <a16:creationId xmlns:a16="http://schemas.microsoft.com/office/drawing/2014/main" id="{A4E93D53-78CA-4F06-B398-00F6C59A6C20}"/>
                  </a:ext>
                </a:extLst>
              </p:cNvPr>
              <p:cNvSpPr txBox="1"/>
              <p:nvPr/>
            </p:nvSpPr>
            <p:spPr>
              <a:xfrm>
                <a:off x="8697752" y="5808445"/>
                <a:ext cx="28462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400" b="0" i="1" smtClean="0">
                          <a:latin typeface="Cambria Math" panose="02040503050406030204" pitchFamily="18" charset="0"/>
                        </a:rPr>
                        <m:t>𝑖𝑓𝑐</m:t>
                      </m:r>
                    </m:oMath>
                  </m:oMathPara>
                </a14:m>
                <a:endParaRPr lang="es-CO" sz="1400" dirty="0"/>
              </a:p>
            </p:txBody>
          </p:sp>
        </mc:Choice>
        <mc:Fallback>
          <p:sp>
            <p:nvSpPr>
              <p:cNvPr id="108" name="CuadroTexto 107">
                <a:extLst>
                  <a:ext uri="{FF2B5EF4-FFF2-40B4-BE49-F238E27FC236}">
                    <a16:creationId xmlns:a16="http://schemas.microsoft.com/office/drawing/2014/main" id="{A4E93D53-78CA-4F06-B398-00F6C59A6C20}"/>
                  </a:ext>
                </a:extLst>
              </p:cNvPr>
              <p:cNvSpPr txBox="1">
                <a:spLocks noRot="1" noChangeAspect="1" noMove="1" noResize="1" noEditPoints="1" noAdjustHandles="1" noChangeArrowheads="1" noChangeShapeType="1" noTextEdit="1"/>
              </p:cNvSpPr>
              <p:nvPr/>
            </p:nvSpPr>
            <p:spPr>
              <a:xfrm>
                <a:off x="8697752" y="5808445"/>
                <a:ext cx="284629" cy="215444"/>
              </a:xfrm>
              <a:prstGeom prst="rect">
                <a:avLst/>
              </a:prstGeom>
              <a:blipFill>
                <a:blip r:embed="rId20"/>
                <a:stretch>
                  <a:fillRect l="-23913" r="-17391" b="-3142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109" name="CuadroTexto 108">
                <a:extLst>
                  <a:ext uri="{FF2B5EF4-FFF2-40B4-BE49-F238E27FC236}">
                    <a16:creationId xmlns:a16="http://schemas.microsoft.com/office/drawing/2014/main" id="{EF081F18-CBE8-455F-980E-21ECBEE4C44F}"/>
                  </a:ext>
                </a:extLst>
              </p:cNvPr>
              <p:cNvSpPr txBox="1"/>
              <p:nvPr/>
            </p:nvSpPr>
            <p:spPr>
              <a:xfrm>
                <a:off x="9118899" y="5808445"/>
                <a:ext cx="215187"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400" i="1" smtClean="0">
                              <a:latin typeface="Cambria Math" panose="02040503050406030204" pitchFamily="18" charset="0"/>
                            </a:rPr>
                          </m:ctrlPr>
                        </m:sSubPr>
                        <m:e>
                          <m:r>
                            <a:rPr lang="es-ES" sz="1400" b="0" i="1" smtClean="0">
                              <a:latin typeface="Cambria Math" panose="02040503050406030204" pitchFamily="18" charset="0"/>
                            </a:rPr>
                            <m:t>𝜅</m:t>
                          </m:r>
                        </m:e>
                        <m:sub>
                          <m:r>
                            <a:rPr lang="es-ES" sz="1400" b="0" i="1" smtClean="0">
                              <a:latin typeface="Cambria Math" panose="02040503050406030204" pitchFamily="18" charset="0"/>
                            </a:rPr>
                            <m:t>𝑐</m:t>
                          </m:r>
                        </m:sub>
                      </m:sSub>
                    </m:oMath>
                  </m:oMathPara>
                </a14:m>
                <a:endParaRPr lang="es-CO" sz="1400" dirty="0"/>
              </a:p>
            </p:txBody>
          </p:sp>
        </mc:Choice>
        <mc:Fallback>
          <p:sp>
            <p:nvSpPr>
              <p:cNvPr id="109" name="CuadroTexto 108">
                <a:extLst>
                  <a:ext uri="{FF2B5EF4-FFF2-40B4-BE49-F238E27FC236}">
                    <a16:creationId xmlns:a16="http://schemas.microsoft.com/office/drawing/2014/main" id="{EF081F18-CBE8-455F-980E-21ECBEE4C44F}"/>
                  </a:ext>
                </a:extLst>
              </p:cNvPr>
              <p:cNvSpPr txBox="1">
                <a:spLocks noRot="1" noChangeAspect="1" noMove="1" noResize="1" noEditPoints="1" noAdjustHandles="1" noChangeArrowheads="1" noChangeShapeType="1" noTextEdit="1"/>
              </p:cNvSpPr>
              <p:nvPr/>
            </p:nvSpPr>
            <p:spPr>
              <a:xfrm>
                <a:off x="9118899" y="5808445"/>
                <a:ext cx="215187" cy="215444"/>
              </a:xfrm>
              <a:prstGeom prst="rect">
                <a:avLst/>
              </a:prstGeom>
              <a:blipFill>
                <a:blip r:embed="rId18"/>
                <a:stretch>
                  <a:fillRect l="-14286" b="-8571"/>
                </a:stretch>
              </a:blipFill>
            </p:spPr>
            <p:txBody>
              <a:bodyPr/>
              <a:lstStyle/>
              <a:p>
                <a:r>
                  <a:rPr lang="es-CO">
                    <a:noFill/>
                  </a:rPr>
                  <a:t> </a:t>
                </a:r>
              </a:p>
            </p:txBody>
          </p:sp>
        </mc:Fallback>
      </mc:AlternateContent>
    </p:spTree>
    <p:extLst>
      <p:ext uri="{BB962C8B-B14F-4D97-AF65-F5344CB8AC3E}">
        <p14:creationId xmlns:p14="http://schemas.microsoft.com/office/powerpoint/2010/main" val="34024399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1508105"/>
          </a:xfrm>
          <a:prstGeom prst="rect">
            <a:avLst/>
          </a:prstGeom>
          <a:noFill/>
        </p:spPr>
        <p:txBody>
          <a:bodyPr wrap="square">
            <a:spAutoFit/>
          </a:bodyPr>
          <a:lstStyle/>
          <a:p>
            <a:r>
              <a:rPr lang="en-US" sz="3200" b="1" dirty="0">
                <a:solidFill>
                  <a:prstClr val="black"/>
                </a:solidFill>
                <a:latin typeface="Source Sans Pro" panose="020B0503030403020204" pitchFamily="34" charset="0"/>
                <a:ea typeface="Source Sans Pro" panose="020B0503030403020204" pitchFamily="34" charset="0"/>
              </a:rPr>
              <a:t>SHAP</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Feature</a:t>
            </a:r>
          </a:p>
          <a:p>
            <a:r>
              <a:rPr lang="en-US" sz="2800" i="1" dirty="0">
                <a:solidFill>
                  <a:prstClr val="black"/>
                </a:solidFill>
                <a:latin typeface="Source Sans Pro Light" panose="020B0403030403020204" pitchFamily="34" charset="0"/>
                <a:ea typeface="Source Sans Pro Light" panose="020B0403030403020204" pitchFamily="34" charset="0"/>
              </a:rPr>
              <a:t>Importance</a:t>
            </a:r>
            <a:endParaRPr lang="es-CO" sz="3600" dirty="0"/>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32</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21" name="Google Shape;453;g36edeb4292e_1_43">
            <a:extLst>
              <a:ext uri="{FF2B5EF4-FFF2-40B4-BE49-F238E27FC236}">
                <a16:creationId xmlns:a16="http://schemas.microsoft.com/office/drawing/2014/main" id="{F2A4A3F0-A046-4B84-ACAE-67C7026FA800}"/>
              </a:ext>
            </a:extLst>
          </p:cNvPr>
          <p:cNvSpPr/>
          <p:nvPr/>
        </p:nvSpPr>
        <p:spPr>
          <a:xfrm>
            <a:off x="893443" y="2909918"/>
            <a:ext cx="1192800" cy="295200"/>
          </a:xfrm>
          <a:prstGeom prst="roundRect">
            <a:avLst>
              <a:gd name="adj" fmla="val 50000"/>
            </a:avLst>
          </a:prstGeom>
          <a:solidFill>
            <a:srgbClr val="BBE555"/>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prstClr val="black"/>
                </a:solidFill>
                <a:latin typeface="Source Sans Pro" panose="020B0503030403020204" pitchFamily="34" charset="0"/>
                <a:ea typeface="Source Sans Pro" panose="020B0503030403020204" pitchFamily="34" charset="0"/>
                <a:sym typeface="Fira Sans Extra Condensed"/>
              </a:rPr>
              <a:t>Activation</a:t>
            </a:r>
            <a:endParaRPr sz="1600" b="1" dirty="0">
              <a:solidFill>
                <a:prstClr val="black"/>
              </a:solidFill>
              <a:latin typeface="Source Sans Pro" panose="020B0503030403020204" pitchFamily="34" charset="0"/>
              <a:ea typeface="Source Sans Pro" panose="020B0503030403020204" pitchFamily="34" charset="0"/>
              <a:sym typeface="Arial"/>
            </a:endParaRPr>
          </a:p>
        </p:txBody>
      </p:sp>
      <p:pic>
        <p:nvPicPr>
          <p:cNvPr id="12" name="Imagen 11">
            <a:extLst>
              <a:ext uri="{FF2B5EF4-FFF2-40B4-BE49-F238E27FC236}">
                <a16:creationId xmlns:a16="http://schemas.microsoft.com/office/drawing/2014/main" id="{0D88F71A-D4BE-4524-8EAD-518DF502CA94}"/>
              </a:ext>
            </a:extLst>
          </p:cNvPr>
          <p:cNvPicPr>
            <a:picLocks noChangeAspect="1"/>
          </p:cNvPicPr>
          <p:nvPr/>
        </p:nvPicPr>
        <p:blipFill>
          <a:blip r:embed="rId2"/>
          <a:stretch>
            <a:fillRect/>
          </a:stretch>
        </p:blipFill>
        <p:spPr>
          <a:xfrm>
            <a:off x="8054002" y="1830356"/>
            <a:ext cx="4027897" cy="3469243"/>
          </a:xfrm>
          <a:prstGeom prst="rect">
            <a:avLst/>
          </a:prstGeom>
        </p:spPr>
      </p:pic>
      <p:pic>
        <p:nvPicPr>
          <p:cNvPr id="23" name="Imagen 22">
            <a:extLst>
              <a:ext uri="{FF2B5EF4-FFF2-40B4-BE49-F238E27FC236}">
                <a16:creationId xmlns:a16="http://schemas.microsoft.com/office/drawing/2014/main" id="{A4AD0AB4-E0E4-4954-AA12-0A9F60FDCD72}"/>
              </a:ext>
            </a:extLst>
          </p:cNvPr>
          <p:cNvPicPr>
            <a:picLocks noChangeAspect="1"/>
          </p:cNvPicPr>
          <p:nvPr/>
        </p:nvPicPr>
        <p:blipFill>
          <a:blip r:embed="rId3"/>
          <a:stretch>
            <a:fillRect/>
          </a:stretch>
        </p:blipFill>
        <p:spPr>
          <a:xfrm>
            <a:off x="2619231" y="1830356"/>
            <a:ext cx="5431242" cy="3373015"/>
          </a:xfrm>
          <a:prstGeom prst="rect">
            <a:avLst/>
          </a:prstGeom>
        </p:spPr>
      </p:pic>
      <p:sp>
        <p:nvSpPr>
          <p:cNvPr id="25" name="CuadroTexto 24">
            <a:extLst>
              <a:ext uri="{FF2B5EF4-FFF2-40B4-BE49-F238E27FC236}">
                <a16:creationId xmlns:a16="http://schemas.microsoft.com/office/drawing/2014/main" id="{DB092F93-DF71-4F57-B7EB-7DC3DD6F69F0}"/>
              </a:ext>
            </a:extLst>
          </p:cNvPr>
          <p:cNvSpPr txBox="1"/>
          <p:nvPr/>
        </p:nvSpPr>
        <p:spPr>
          <a:xfrm>
            <a:off x="9172914" y="1528722"/>
            <a:ext cx="1790071" cy="400110"/>
          </a:xfrm>
          <a:prstGeom prst="rect">
            <a:avLst/>
          </a:prstGeom>
          <a:noFill/>
        </p:spPr>
        <p:txBody>
          <a:bodyPr wrap="square">
            <a:spAutoFit/>
          </a:bodyPr>
          <a:lstStyle/>
          <a:p>
            <a:r>
              <a:rPr lang="es-CO" sz="2000" b="1" dirty="0" err="1">
                <a:solidFill>
                  <a:prstClr val="black"/>
                </a:solidFill>
                <a:latin typeface="Source Sans Pro" panose="020B0503030403020204" pitchFamily="34" charset="0"/>
                <a:ea typeface="Source Sans Pro" panose="020B0503030403020204" pitchFamily="34" charset="0"/>
              </a:rPr>
              <a:t>Summary</a:t>
            </a:r>
            <a:r>
              <a:rPr lang="es-CO" sz="2000" b="1" dirty="0">
                <a:solidFill>
                  <a:prstClr val="black"/>
                </a:solidFill>
                <a:latin typeface="Source Sans Pro" panose="020B0503030403020204" pitchFamily="34" charset="0"/>
                <a:ea typeface="Source Sans Pro" panose="020B0503030403020204" pitchFamily="34" charset="0"/>
              </a:rPr>
              <a:t> </a:t>
            </a:r>
            <a:r>
              <a:rPr lang="es-CO" sz="2000" b="1" dirty="0" err="1">
                <a:solidFill>
                  <a:prstClr val="black"/>
                </a:solidFill>
                <a:latin typeface="Source Sans Pro" panose="020B0503030403020204" pitchFamily="34" charset="0"/>
                <a:ea typeface="Source Sans Pro" panose="020B0503030403020204" pitchFamily="34" charset="0"/>
              </a:rPr>
              <a:t>plot</a:t>
            </a:r>
            <a:r>
              <a:rPr lang="es-CO" sz="2000" b="1" dirty="0">
                <a:solidFill>
                  <a:prstClr val="black"/>
                </a:solidFill>
                <a:latin typeface="Source Sans Pro" panose="020B0503030403020204" pitchFamily="34" charset="0"/>
                <a:ea typeface="Source Sans Pro" panose="020B0503030403020204" pitchFamily="34" charset="0"/>
              </a:rPr>
              <a:t> </a:t>
            </a: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CuadroTexto 26">
            <a:extLst>
              <a:ext uri="{FF2B5EF4-FFF2-40B4-BE49-F238E27FC236}">
                <a16:creationId xmlns:a16="http://schemas.microsoft.com/office/drawing/2014/main" id="{FE181DF9-5FFE-43A4-AE30-75F711D47CF4}"/>
              </a:ext>
            </a:extLst>
          </p:cNvPr>
          <p:cNvSpPr txBox="1"/>
          <p:nvPr/>
        </p:nvSpPr>
        <p:spPr>
          <a:xfrm>
            <a:off x="3942574" y="1528722"/>
            <a:ext cx="2784556" cy="400110"/>
          </a:xfrm>
          <a:prstGeom prst="rect">
            <a:avLst/>
          </a:prstGeom>
          <a:noFill/>
        </p:spPr>
        <p:txBody>
          <a:bodyPr wrap="square">
            <a:spAutoFit/>
          </a:bodyPr>
          <a:lstStyle/>
          <a:p>
            <a:r>
              <a:rPr lang="es-CO" sz="2000" b="1" dirty="0" err="1">
                <a:solidFill>
                  <a:prstClr val="black"/>
                </a:solidFill>
                <a:latin typeface="Source Sans Pro" panose="020B0503030403020204" pitchFamily="34" charset="0"/>
                <a:ea typeface="Source Sans Pro" panose="020B0503030403020204" pitchFamily="34" charset="0"/>
              </a:rPr>
              <a:t>Feature</a:t>
            </a:r>
            <a:r>
              <a:rPr lang="es-CO" sz="2000" b="1" dirty="0">
                <a:solidFill>
                  <a:prstClr val="black"/>
                </a:solidFill>
                <a:latin typeface="Source Sans Pro" panose="020B0503030403020204" pitchFamily="34" charset="0"/>
                <a:ea typeface="Source Sans Pro" panose="020B0503030403020204" pitchFamily="34" charset="0"/>
              </a:rPr>
              <a:t> </a:t>
            </a:r>
            <a:r>
              <a:rPr lang="es-CO" sz="2000" b="1" dirty="0" err="1">
                <a:solidFill>
                  <a:prstClr val="black"/>
                </a:solidFill>
                <a:latin typeface="Source Sans Pro" panose="020B0503030403020204" pitchFamily="34" charset="0"/>
                <a:ea typeface="Source Sans Pro" panose="020B0503030403020204" pitchFamily="34" charset="0"/>
              </a:rPr>
              <a:t>importance</a:t>
            </a:r>
            <a:endParaRPr lang="es-CO" sz="2000" b="1" dirty="0">
              <a:solidFill>
                <a:prstClr val="black"/>
              </a:solidFill>
              <a:latin typeface="Source Sans Pro" panose="020B0503030403020204" pitchFamily="34" charset="0"/>
              <a:ea typeface="Source Sans Pro" panose="020B0503030403020204" pitchFamily="34" charset="0"/>
            </a:endParaRPr>
          </a:p>
        </p:txBody>
      </p:sp>
      <p:grpSp>
        <p:nvGrpSpPr>
          <p:cNvPr id="43" name="Grupo 42">
            <a:extLst>
              <a:ext uri="{FF2B5EF4-FFF2-40B4-BE49-F238E27FC236}">
                <a16:creationId xmlns:a16="http://schemas.microsoft.com/office/drawing/2014/main" id="{2D087BF0-7BC3-4660-A3A6-988909649B9E}"/>
              </a:ext>
            </a:extLst>
          </p:cNvPr>
          <p:cNvGrpSpPr/>
          <p:nvPr/>
        </p:nvGrpSpPr>
        <p:grpSpPr>
          <a:xfrm>
            <a:off x="2682240" y="2124306"/>
            <a:ext cx="488766" cy="2630574"/>
            <a:chOff x="2682240" y="2124306"/>
            <a:chExt cx="488766" cy="2630574"/>
          </a:xfrm>
        </p:grpSpPr>
        <p:sp>
          <p:nvSpPr>
            <p:cNvPr id="42" name="Rectángulo 41">
              <a:extLst>
                <a:ext uri="{FF2B5EF4-FFF2-40B4-BE49-F238E27FC236}">
                  <a16:creationId xmlns:a16="http://schemas.microsoft.com/office/drawing/2014/main" id="{7B6F2F6E-D829-4E01-B66D-A2618AF1E2ED}"/>
                </a:ext>
              </a:extLst>
            </p:cNvPr>
            <p:cNvSpPr/>
            <p:nvPr/>
          </p:nvSpPr>
          <p:spPr>
            <a:xfrm>
              <a:off x="2682240" y="2124306"/>
              <a:ext cx="445008" cy="263057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B908A331-8854-4027-88FC-18854D73E7E0}"/>
                    </a:ext>
                  </a:extLst>
                </p:cNvPr>
                <p:cNvSpPr txBox="1"/>
                <p:nvPr/>
              </p:nvSpPr>
              <p:spPr>
                <a:xfrm>
                  <a:off x="2792762" y="2849198"/>
                  <a:ext cx="37824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𝑃𝑎</m:t>
                            </m:r>
                          </m:e>
                          <m:sub>
                            <m:r>
                              <a:rPr lang="es-ES" sz="1100" b="0" i="1" smtClean="0">
                                <a:latin typeface="Cambria Math" panose="02040503050406030204" pitchFamily="18" charset="0"/>
                              </a:rPr>
                              <m:t>𝑑𝑒𝑠</m:t>
                            </m:r>
                          </m:sub>
                        </m:sSub>
                      </m:oMath>
                    </m:oMathPara>
                  </a14:m>
                  <a:endParaRPr lang="es-CO" sz="1100" dirty="0"/>
                </a:p>
              </p:txBody>
            </p:sp>
          </mc:Choice>
          <mc:Fallback xmlns="">
            <p:sp>
              <p:nvSpPr>
                <p:cNvPr id="28" name="CuadroTexto 27">
                  <a:extLst>
                    <a:ext uri="{FF2B5EF4-FFF2-40B4-BE49-F238E27FC236}">
                      <a16:creationId xmlns:a16="http://schemas.microsoft.com/office/drawing/2014/main" id="{B908A331-8854-4027-88FC-18854D73E7E0}"/>
                    </a:ext>
                  </a:extLst>
                </p:cNvPr>
                <p:cNvSpPr txBox="1">
                  <a:spLocks noRot="1" noChangeAspect="1" noMove="1" noResize="1" noEditPoints="1" noAdjustHandles="1" noChangeArrowheads="1" noChangeShapeType="1" noTextEdit="1"/>
                </p:cNvSpPr>
                <p:nvPr/>
              </p:nvSpPr>
              <p:spPr>
                <a:xfrm>
                  <a:off x="2792762" y="2849198"/>
                  <a:ext cx="378244" cy="169277"/>
                </a:xfrm>
                <a:prstGeom prst="rect">
                  <a:avLst/>
                </a:prstGeom>
                <a:blipFill>
                  <a:blip r:embed="rId4"/>
                  <a:stretch>
                    <a:fillRect l="-8065" r="-3226" b="-17857"/>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C2E78934-9427-4745-A2A2-25EE4537F882}"/>
                    </a:ext>
                  </a:extLst>
                </p:cNvPr>
                <p:cNvSpPr txBox="1"/>
                <p:nvPr/>
              </p:nvSpPr>
              <p:spPr>
                <a:xfrm>
                  <a:off x="2811997" y="3960014"/>
                  <a:ext cx="35900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𝜙</m:t>
                            </m:r>
                          </m:e>
                          <m:sub>
                            <m:r>
                              <a:rPr lang="es-ES" sz="1100" b="0" i="1" smtClean="0">
                                <a:latin typeface="Cambria Math" panose="02040503050406030204" pitchFamily="18" charset="0"/>
                              </a:rPr>
                              <m:t>𝑐𝑑𝑒𝑠</m:t>
                            </m:r>
                          </m:sub>
                        </m:sSub>
                      </m:oMath>
                    </m:oMathPara>
                  </a14:m>
                  <a:endParaRPr lang="es-CO" sz="1100" dirty="0"/>
                </a:p>
              </p:txBody>
            </p:sp>
          </mc:Choice>
          <mc:Fallback xmlns="">
            <p:sp>
              <p:nvSpPr>
                <p:cNvPr id="29" name="CuadroTexto 28">
                  <a:extLst>
                    <a:ext uri="{FF2B5EF4-FFF2-40B4-BE49-F238E27FC236}">
                      <a16:creationId xmlns:a16="http://schemas.microsoft.com/office/drawing/2014/main" id="{C2E78934-9427-4745-A2A2-25EE4537F882}"/>
                    </a:ext>
                  </a:extLst>
                </p:cNvPr>
                <p:cNvSpPr txBox="1">
                  <a:spLocks noRot="1" noChangeAspect="1" noMove="1" noResize="1" noEditPoints="1" noAdjustHandles="1" noChangeArrowheads="1" noChangeShapeType="1" noTextEdit="1"/>
                </p:cNvSpPr>
                <p:nvPr/>
              </p:nvSpPr>
              <p:spPr>
                <a:xfrm>
                  <a:off x="2811997" y="3960014"/>
                  <a:ext cx="359009" cy="169277"/>
                </a:xfrm>
                <a:prstGeom prst="rect">
                  <a:avLst/>
                </a:prstGeom>
                <a:blipFill>
                  <a:blip r:embed="rId5"/>
                  <a:stretch>
                    <a:fillRect l="-13559" r="-5085" b="-40741"/>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0" name="CuadroTexto 29">
                  <a:extLst>
                    <a:ext uri="{FF2B5EF4-FFF2-40B4-BE49-F238E27FC236}">
                      <a16:creationId xmlns:a16="http://schemas.microsoft.com/office/drawing/2014/main" id="{98C3A9D2-B915-4A37-9FFC-E459717B2F5D}"/>
                    </a:ext>
                  </a:extLst>
                </p:cNvPr>
                <p:cNvSpPr txBox="1"/>
                <p:nvPr/>
              </p:nvSpPr>
              <p:spPr>
                <a:xfrm>
                  <a:off x="2899970" y="4137275"/>
                  <a:ext cx="271036" cy="182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𝑔𝑑𝑙</m:t>
                            </m:r>
                          </m:sub>
                        </m:sSub>
                      </m:oMath>
                    </m:oMathPara>
                  </a14:m>
                  <a:endParaRPr lang="es-CO" sz="1100" dirty="0"/>
                </a:p>
              </p:txBody>
            </p:sp>
          </mc:Choice>
          <mc:Fallback xmlns="">
            <p:sp>
              <p:nvSpPr>
                <p:cNvPr id="30" name="CuadroTexto 29">
                  <a:extLst>
                    <a:ext uri="{FF2B5EF4-FFF2-40B4-BE49-F238E27FC236}">
                      <a16:creationId xmlns:a16="http://schemas.microsoft.com/office/drawing/2014/main" id="{98C3A9D2-B915-4A37-9FFC-E459717B2F5D}"/>
                    </a:ext>
                  </a:extLst>
                </p:cNvPr>
                <p:cNvSpPr txBox="1">
                  <a:spLocks noRot="1" noChangeAspect="1" noMove="1" noResize="1" noEditPoints="1" noAdjustHandles="1" noChangeArrowheads="1" noChangeShapeType="1" noTextEdit="1"/>
                </p:cNvSpPr>
                <p:nvPr/>
              </p:nvSpPr>
              <p:spPr>
                <a:xfrm>
                  <a:off x="2899970" y="4137275"/>
                  <a:ext cx="271036" cy="182999"/>
                </a:xfrm>
                <a:prstGeom prst="rect">
                  <a:avLst/>
                </a:prstGeom>
                <a:blipFill>
                  <a:blip r:embed="rId6"/>
                  <a:stretch>
                    <a:fillRect l="-6818" r="-11364" b="-30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EA047C54-2BFC-4269-B72B-64770B085F3A}"/>
                    </a:ext>
                  </a:extLst>
                </p:cNvPr>
                <p:cNvSpPr txBox="1"/>
                <p:nvPr/>
              </p:nvSpPr>
              <p:spPr>
                <a:xfrm>
                  <a:off x="2916641" y="3596163"/>
                  <a:ext cx="25436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𝑚𝑐</m:t>
                            </m:r>
                          </m:sub>
                        </m:sSub>
                      </m:oMath>
                    </m:oMathPara>
                  </a14:m>
                  <a:endParaRPr lang="es-CO" sz="1100" dirty="0"/>
                </a:p>
              </p:txBody>
            </p:sp>
          </mc:Choice>
          <mc:Fallback xmlns="">
            <p:sp>
              <p:nvSpPr>
                <p:cNvPr id="31" name="CuadroTexto 30">
                  <a:extLst>
                    <a:ext uri="{FF2B5EF4-FFF2-40B4-BE49-F238E27FC236}">
                      <a16:creationId xmlns:a16="http://schemas.microsoft.com/office/drawing/2014/main" id="{EA047C54-2BFC-4269-B72B-64770B085F3A}"/>
                    </a:ext>
                  </a:extLst>
                </p:cNvPr>
                <p:cNvSpPr txBox="1">
                  <a:spLocks noRot="1" noChangeAspect="1" noMove="1" noResize="1" noEditPoints="1" noAdjustHandles="1" noChangeArrowheads="1" noChangeShapeType="1" noTextEdit="1"/>
                </p:cNvSpPr>
                <p:nvPr/>
              </p:nvSpPr>
              <p:spPr>
                <a:xfrm>
                  <a:off x="2916641" y="3596163"/>
                  <a:ext cx="254365" cy="169277"/>
                </a:xfrm>
                <a:prstGeom prst="rect">
                  <a:avLst/>
                </a:prstGeom>
                <a:blipFill>
                  <a:blip r:embed="rId7"/>
                  <a:stretch>
                    <a:fillRect l="-7143" r="-2381" b="-10714"/>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1F186997-7A23-4123-A3CB-D6C213AD4F26}"/>
                    </a:ext>
                  </a:extLst>
                </p:cNvPr>
                <p:cNvSpPr txBox="1"/>
                <p:nvPr/>
              </p:nvSpPr>
              <p:spPr>
                <a:xfrm>
                  <a:off x="3012822" y="4346286"/>
                  <a:ext cx="15818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𝑐</m:t>
                            </m:r>
                          </m:sub>
                        </m:sSub>
                      </m:oMath>
                    </m:oMathPara>
                  </a14:m>
                  <a:endParaRPr lang="es-CO" sz="1100" dirty="0"/>
                </a:p>
              </p:txBody>
            </p:sp>
          </mc:Choice>
          <mc:Fallback xmlns="">
            <p:sp>
              <p:nvSpPr>
                <p:cNvPr id="32" name="CuadroTexto 31">
                  <a:extLst>
                    <a:ext uri="{FF2B5EF4-FFF2-40B4-BE49-F238E27FC236}">
                      <a16:creationId xmlns:a16="http://schemas.microsoft.com/office/drawing/2014/main" id="{1F186997-7A23-4123-A3CB-D6C213AD4F26}"/>
                    </a:ext>
                  </a:extLst>
                </p:cNvPr>
                <p:cNvSpPr txBox="1">
                  <a:spLocks noRot="1" noChangeAspect="1" noMove="1" noResize="1" noEditPoints="1" noAdjustHandles="1" noChangeArrowheads="1" noChangeShapeType="1" noTextEdit="1"/>
                </p:cNvSpPr>
                <p:nvPr/>
              </p:nvSpPr>
              <p:spPr>
                <a:xfrm>
                  <a:off x="3012822" y="4346286"/>
                  <a:ext cx="158184" cy="169277"/>
                </a:xfrm>
                <a:prstGeom prst="rect">
                  <a:avLst/>
                </a:prstGeom>
                <a:blipFill>
                  <a:blip r:embed="rId8"/>
                  <a:stretch>
                    <a:fillRect l="-11538" r="-7692" b="-10714"/>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C3FBBE94-2EBD-4D55-A3DA-69DB50558D58}"/>
                    </a:ext>
                  </a:extLst>
                </p:cNvPr>
                <p:cNvSpPr txBox="1"/>
                <p:nvPr/>
              </p:nvSpPr>
              <p:spPr>
                <a:xfrm>
                  <a:off x="3071812" y="3253317"/>
                  <a:ext cx="991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𝜏</m:t>
                        </m:r>
                      </m:oMath>
                    </m:oMathPara>
                  </a14:m>
                  <a:endParaRPr lang="es-CO" sz="1100" dirty="0"/>
                </a:p>
              </p:txBody>
            </p:sp>
          </mc:Choice>
          <mc:Fallback xmlns="">
            <p:sp>
              <p:nvSpPr>
                <p:cNvPr id="33" name="CuadroTexto 32">
                  <a:extLst>
                    <a:ext uri="{FF2B5EF4-FFF2-40B4-BE49-F238E27FC236}">
                      <a16:creationId xmlns:a16="http://schemas.microsoft.com/office/drawing/2014/main" id="{C3FBBE94-2EBD-4D55-A3DA-69DB50558D58}"/>
                    </a:ext>
                  </a:extLst>
                </p:cNvPr>
                <p:cNvSpPr txBox="1">
                  <a:spLocks noRot="1" noChangeAspect="1" noMove="1" noResize="1" noEditPoints="1" noAdjustHandles="1" noChangeArrowheads="1" noChangeShapeType="1" noTextEdit="1"/>
                </p:cNvSpPr>
                <p:nvPr/>
              </p:nvSpPr>
              <p:spPr>
                <a:xfrm>
                  <a:off x="3071812" y="3253317"/>
                  <a:ext cx="99194" cy="169277"/>
                </a:xfrm>
                <a:prstGeom prst="rect">
                  <a:avLst/>
                </a:prstGeom>
                <a:blipFill>
                  <a:blip r:embed="rId9"/>
                  <a:stretch>
                    <a:fillRect l="-18750" r="-25000" b="-3704"/>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4" name="CuadroTexto 33">
                  <a:extLst>
                    <a:ext uri="{FF2B5EF4-FFF2-40B4-BE49-F238E27FC236}">
                      <a16:creationId xmlns:a16="http://schemas.microsoft.com/office/drawing/2014/main" id="{7844387A-917F-4DF1-906B-CBD12FDD79B4}"/>
                    </a:ext>
                  </a:extLst>
                </p:cNvPr>
                <p:cNvSpPr txBox="1"/>
                <p:nvPr/>
              </p:nvSpPr>
              <p:spPr>
                <a:xfrm>
                  <a:off x="2756790" y="2286946"/>
                  <a:ext cx="414216" cy="1828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𝑖</m:t>
                            </m:r>
                            <m:r>
                              <a:rPr lang="es-ES" sz="1100" b="0" i="1" smtClean="0">
                                <a:latin typeface="Cambria Math" panose="02040503050406030204" pitchFamily="18" charset="0"/>
                              </a:rPr>
                              <m:t>0</m:t>
                            </m:r>
                          </m:e>
                          <m:sub>
                            <m:r>
                              <a:rPr lang="es-ES" sz="1100" b="0" i="1" smtClean="0">
                                <a:latin typeface="Cambria Math" panose="02040503050406030204" pitchFamily="18" charset="0"/>
                              </a:rPr>
                              <m:t>𝑐</m:t>
                            </m:r>
                            <m:r>
                              <a:rPr lang="es-ES" sz="1100" b="0" i="1" smtClean="0">
                                <a:latin typeface="Cambria Math" panose="02040503050406030204" pitchFamily="18" charset="0"/>
                              </a:rPr>
                              <m:t> </m:t>
                            </m:r>
                            <m:r>
                              <a:rPr lang="es-ES" sz="1100" b="0" i="1" smtClean="0">
                                <a:latin typeface="Cambria Math" panose="02040503050406030204" pitchFamily="18" charset="0"/>
                              </a:rPr>
                              <m:t>𝑟𝑒𝑓</m:t>
                            </m:r>
                          </m:sub>
                        </m:sSub>
                      </m:oMath>
                    </m:oMathPara>
                  </a14:m>
                  <a:endParaRPr lang="es-CO" sz="1100" dirty="0"/>
                </a:p>
              </p:txBody>
            </p:sp>
          </mc:Choice>
          <mc:Fallback xmlns="">
            <p:sp>
              <p:nvSpPr>
                <p:cNvPr id="34" name="CuadroTexto 33">
                  <a:extLst>
                    <a:ext uri="{FF2B5EF4-FFF2-40B4-BE49-F238E27FC236}">
                      <a16:creationId xmlns:a16="http://schemas.microsoft.com/office/drawing/2014/main" id="{7844387A-917F-4DF1-906B-CBD12FDD79B4}"/>
                    </a:ext>
                  </a:extLst>
                </p:cNvPr>
                <p:cNvSpPr txBox="1">
                  <a:spLocks noRot="1" noChangeAspect="1" noMove="1" noResize="1" noEditPoints="1" noAdjustHandles="1" noChangeArrowheads="1" noChangeShapeType="1" noTextEdit="1"/>
                </p:cNvSpPr>
                <p:nvPr/>
              </p:nvSpPr>
              <p:spPr>
                <a:xfrm>
                  <a:off x="2756790" y="2286946"/>
                  <a:ext cx="414216" cy="182807"/>
                </a:xfrm>
                <a:prstGeom prst="rect">
                  <a:avLst/>
                </a:prstGeom>
                <a:blipFill>
                  <a:blip r:embed="rId10"/>
                  <a:stretch>
                    <a:fillRect l="-7353" r="-5882" b="-30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5" name="CuadroTexto 34">
                  <a:extLst>
                    <a:ext uri="{FF2B5EF4-FFF2-40B4-BE49-F238E27FC236}">
                      <a16:creationId xmlns:a16="http://schemas.microsoft.com/office/drawing/2014/main" id="{6E725AAF-99FF-4746-98A3-982708322466}"/>
                    </a:ext>
                  </a:extLst>
                </p:cNvPr>
                <p:cNvSpPr txBox="1"/>
                <p:nvPr/>
              </p:nvSpPr>
              <p:spPr>
                <a:xfrm>
                  <a:off x="2941712" y="3392923"/>
                  <a:ext cx="2292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𝑐𝑜</m:t>
                            </m:r>
                          </m:sub>
                        </m:sSub>
                      </m:oMath>
                    </m:oMathPara>
                  </a14:m>
                  <a:endParaRPr lang="es-CO" sz="1100" dirty="0"/>
                </a:p>
              </p:txBody>
            </p:sp>
          </mc:Choice>
          <mc:Fallback xmlns="">
            <p:sp>
              <p:nvSpPr>
                <p:cNvPr id="35" name="CuadroTexto 34">
                  <a:extLst>
                    <a:ext uri="{FF2B5EF4-FFF2-40B4-BE49-F238E27FC236}">
                      <a16:creationId xmlns:a16="http://schemas.microsoft.com/office/drawing/2014/main" id="{6E725AAF-99FF-4746-98A3-982708322466}"/>
                    </a:ext>
                  </a:extLst>
                </p:cNvPr>
                <p:cNvSpPr txBox="1">
                  <a:spLocks noRot="1" noChangeAspect="1" noMove="1" noResize="1" noEditPoints="1" noAdjustHandles="1" noChangeArrowheads="1" noChangeShapeType="1" noTextEdit="1"/>
                </p:cNvSpPr>
                <p:nvPr/>
              </p:nvSpPr>
              <p:spPr>
                <a:xfrm>
                  <a:off x="2941712" y="3392923"/>
                  <a:ext cx="229294" cy="169277"/>
                </a:xfrm>
                <a:prstGeom prst="rect">
                  <a:avLst/>
                </a:prstGeom>
                <a:blipFill>
                  <a:blip r:embed="rId11"/>
                  <a:stretch>
                    <a:fillRect l="-8108" r="-2703" b="-14815"/>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6" name="CuadroTexto 35">
                  <a:extLst>
                    <a:ext uri="{FF2B5EF4-FFF2-40B4-BE49-F238E27FC236}">
                      <a16:creationId xmlns:a16="http://schemas.microsoft.com/office/drawing/2014/main" id="{5C2ABCF1-AFED-4F1D-B366-8AB53FD606C2}"/>
                    </a:ext>
                  </a:extLst>
                </p:cNvPr>
                <p:cNvSpPr txBox="1"/>
                <p:nvPr/>
              </p:nvSpPr>
              <p:spPr>
                <a:xfrm>
                  <a:off x="3001601" y="2469753"/>
                  <a:ext cx="16940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m:t>
                            </m:r>
                          </m:sub>
                        </m:sSub>
                      </m:oMath>
                    </m:oMathPara>
                  </a14:m>
                  <a:endParaRPr lang="es-CO" sz="1100" dirty="0"/>
                </a:p>
              </p:txBody>
            </p:sp>
          </mc:Choice>
          <mc:Fallback xmlns="">
            <p:sp>
              <p:nvSpPr>
                <p:cNvPr id="36" name="CuadroTexto 35">
                  <a:extLst>
                    <a:ext uri="{FF2B5EF4-FFF2-40B4-BE49-F238E27FC236}">
                      <a16:creationId xmlns:a16="http://schemas.microsoft.com/office/drawing/2014/main" id="{5C2ABCF1-AFED-4F1D-B366-8AB53FD606C2}"/>
                    </a:ext>
                  </a:extLst>
                </p:cNvPr>
                <p:cNvSpPr txBox="1">
                  <a:spLocks noRot="1" noChangeAspect="1" noMove="1" noResize="1" noEditPoints="1" noAdjustHandles="1" noChangeArrowheads="1" noChangeShapeType="1" noTextEdit="1"/>
                </p:cNvSpPr>
                <p:nvPr/>
              </p:nvSpPr>
              <p:spPr>
                <a:xfrm>
                  <a:off x="3001601" y="2469753"/>
                  <a:ext cx="169405" cy="169277"/>
                </a:xfrm>
                <a:prstGeom prst="rect">
                  <a:avLst/>
                </a:prstGeom>
                <a:blipFill>
                  <a:blip r:embed="rId12"/>
                  <a:stretch>
                    <a:fillRect l="-10714" r="-3571" b="-14286"/>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7" name="CuadroTexto 36">
                  <a:extLst>
                    <a:ext uri="{FF2B5EF4-FFF2-40B4-BE49-F238E27FC236}">
                      <a16:creationId xmlns:a16="http://schemas.microsoft.com/office/drawing/2014/main" id="{E5AF79C3-C541-4F09-8271-A56131A158D9}"/>
                    </a:ext>
                  </a:extLst>
                </p:cNvPr>
                <p:cNvSpPr txBox="1"/>
                <p:nvPr/>
              </p:nvSpPr>
              <p:spPr>
                <a:xfrm>
                  <a:off x="2910037" y="2697814"/>
                  <a:ext cx="26096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𝑇𝑓𝑐</m:t>
                        </m:r>
                      </m:oMath>
                    </m:oMathPara>
                  </a14:m>
                  <a:endParaRPr lang="es-CO" sz="1100" dirty="0"/>
                </a:p>
              </p:txBody>
            </p:sp>
          </mc:Choice>
          <mc:Fallback xmlns="">
            <p:sp>
              <p:nvSpPr>
                <p:cNvPr id="37" name="CuadroTexto 36">
                  <a:extLst>
                    <a:ext uri="{FF2B5EF4-FFF2-40B4-BE49-F238E27FC236}">
                      <a16:creationId xmlns:a16="http://schemas.microsoft.com/office/drawing/2014/main" id="{E5AF79C3-C541-4F09-8271-A56131A158D9}"/>
                    </a:ext>
                  </a:extLst>
                </p:cNvPr>
                <p:cNvSpPr txBox="1">
                  <a:spLocks noRot="1" noChangeAspect="1" noMove="1" noResize="1" noEditPoints="1" noAdjustHandles="1" noChangeArrowheads="1" noChangeShapeType="1" noTextEdit="1"/>
                </p:cNvSpPr>
                <p:nvPr/>
              </p:nvSpPr>
              <p:spPr>
                <a:xfrm>
                  <a:off x="2910037" y="2697814"/>
                  <a:ext cx="260969" cy="169277"/>
                </a:xfrm>
                <a:prstGeom prst="rect">
                  <a:avLst/>
                </a:prstGeom>
                <a:blipFill>
                  <a:blip r:embed="rId13"/>
                  <a:stretch>
                    <a:fillRect l="-18605" r="-18605" b="-40741"/>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8" name="CuadroTexto 37">
                  <a:extLst>
                    <a:ext uri="{FF2B5EF4-FFF2-40B4-BE49-F238E27FC236}">
                      <a16:creationId xmlns:a16="http://schemas.microsoft.com/office/drawing/2014/main" id="{A7DED916-00D3-4253-9146-63A3520EECCD}"/>
                    </a:ext>
                  </a:extLst>
                </p:cNvPr>
                <p:cNvSpPr txBox="1"/>
                <p:nvPr/>
              </p:nvSpPr>
              <p:spPr>
                <a:xfrm>
                  <a:off x="2994996" y="3820408"/>
                  <a:ext cx="17601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𝑆𝑐</m:t>
                        </m:r>
                      </m:oMath>
                    </m:oMathPara>
                  </a14:m>
                  <a:endParaRPr lang="es-CO" sz="1100" dirty="0"/>
                </a:p>
              </p:txBody>
            </p:sp>
          </mc:Choice>
          <mc:Fallback xmlns="">
            <p:sp>
              <p:nvSpPr>
                <p:cNvPr id="38" name="CuadroTexto 37">
                  <a:extLst>
                    <a:ext uri="{FF2B5EF4-FFF2-40B4-BE49-F238E27FC236}">
                      <a16:creationId xmlns:a16="http://schemas.microsoft.com/office/drawing/2014/main" id="{A7DED916-00D3-4253-9146-63A3520EECCD}"/>
                    </a:ext>
                  </a:extLst>
                </p:cNvPr>
                <p:cNvSpPr txBox="1">
                  <a:spLocks noRot="1" noChangeAspect="1" noMove="1" noResize="1" noEditPoints="1" noAdjustHandles="1" noChangeArrowheads="1" noChangeShapeType="1" noTextEdit="1"/>
                </p:cNvSpPr>
                <p:nvPr/>
              </p:nvSpPr>
              <p:spPr>
                <a:xfrm>
                  <a:off x="2994996" y="3820408"/>
                  <a:ext cx="176010" cy="169277"/>
                </a:xfrm>
                <a:prstGeom prst="rect">
                  <a:avLst/>
                </a:prstGeom>
                <a:blipFill>
                  <a:blip r:embed="rId14"/>
                  <a:stretch>
                    <a:fillRect l="-17241" r="-17241" b="-11111"/>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5D2FD654-FB3F-49E2-AED6-3EFF05D53AF9}"/>
                    </a:ext>
                  </a:extLst>
                </p:cNvPr>
                <p:cNvSpPr txBox="1"/>
                <p:nvPr/>
              </p:nvSpPr>
              <p:spPr>
                <a:xfrm>
                  <a:off x="2948509" y="2153736"/>
                  <a:ext cx="222497"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𝑖𝑓𝑐</m:t>
                        </m:r>
                      </m:oMath>
                    </m:oMathPara>
                  </a14:m>
                  <a:endParaRPr lang="es-CO" sz="1100" dirty="0"/>
                </a:p>
              </p:txBody>
            </p:sp>
          </mc:Choice>
          <mc:Fallback xmlns="">
            <p:sp>
              <p:nvSpPr>
                <p:cNvPr id="41" name="CuadroTexto 40">
                  <a:extLst>
                    <a:ext uri="{FF2B5EF4-FFF2-40B4-BE49-F238E27FC236}">
                      <a16:creationId xmlns:a16="http://schemas.microsoft.com/office/drawing/2014/main" id="{5D2FD654-FB3F-49E2-AED6-3EFF05D53AF9}"/>
                    </a:ext>
                  </a:extLst>
                </p:cNvPr>
                <p:cNvSpPr txBox="1">
                  <a:spLocks noRot="1" noChangeAspect="1" noMove="1" noResize="1" noEditPoints="1" noAdjustHandles="1" noChangeArrowheads="1" noChangeShapeType="1" noTextEdit="1"/>
                </p:cNvSpPr>
                <p:nvPr/>
              </p:nvSpPr>
              <p:spPr>
                <a:xfrm>
                  <a:off x="2948509" y="2153736"/>
                  <a:ext cx="222497" cy="169277"/>
                </a:xfrm>
                <a:prstGeom prst="rect">
                  <a:avLst/>
                </a:prstGeom>
                <a:blipFill>
                  <a:blip r:embed="rId15"/>
                  <a:stretch>
                    <a:fillRect l="-22222" r="-25000" b="-35714"/>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D895B1-66FF-4C17-A446-78FBDA4490F1}"/>
                    </a:ext>
                  </a:extLst>
                </p:cNvPr>
                <p:cNvSpPr txBox="1"/>
                <p:nvPr/>
              </p:nvSpPr>
              <p:spPr>
                <a:xfrm>
                  <a:off x="3065336" y="4554275"/>
                  <a:ext cx="10567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𝑒</m:t>
                        </m:r>
                      </m:oMath>
                    </m:oMathPara>
                  </a14:m>
                  <a:endParaRPr lang="es-CO" sz="1100" dirty="0"/>
                </a:p>
              </p:txBody>
            </p:sp>
          </mc:Choice>
          <mc:Fallback xmlns="">
            <p:sp>
              <p:nvSpPr>
                <p:cNvPr id="39" name="CuadroTexto 38">
                  <a:extLst>
                    <a:ext uri="{FF2B5EF4-FFF2-40B4-BE49-F238E27FC236}">
                      <a16:creationId xmlns:a16="http://schemas.microsoft.com/office/drawing/2014/main" id="{97D895B1-66FF-4C17-A446-78FBDA4490F1}"/>
                    </a:ext>
                  </a:extLst>
                </p:cNvPr>
                <p:cNvSpPr txBox="1">
                  <a:spLocks noRot="1" noChangeAspect="1" noMove="1" noResize="1" noEditPoints="1" noAdjustHandles="1" noChangeArrowheads="1" noChangeShapeType="1" noTextEdit="1"/>
                </p:cNvSpPr>
                <p:nvPr/>
              </p:nvSpPr>
              <p:spPr>
                <a:xfrm>
                  <a:off x="3065336" y="4554275"/>
                  <a:ext cx="105670" cy="169277"/>
                </a:xfrm>
                <a:prstGeom prst="rect">
                  <a:avLst/>
                </a:prstGeom>
                <a:blipFill>
                  <a:blip r:embed="rId16"/>
                  <a:stretch>
                    <a:fillRect l="-17647" r="-17647"/>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8CDD01DE-87CA-4754-9495-1958870F20B7}"/>
                    </a:ext>
                  </a:extLst>
                </p:cNvPr>
                <p:cNvSpPr txBox="1"/>
                <p:nvPr/>
              </p:nvSpPr>
              <p:spPr>
                <a:xfrm>
                  <a:off x="2975568" y="3069342"/>
                  <a:ext cx="195438"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𝑅𝑒</m:t>
                        </m:r>
                      </m:oMath>
                    </m:oMathPara>
                  </a14:m>
                  <a:endParaRPr lang="es-CO" sz="1100" dirty="0"/>
                </a:p>
              </p:txBody>
            </p:sp>
          </mc:Choice>
          <mc:Fallback xmlns="">
            <p:sp>
              <p:nvSpPr>
                <p:cNvPr id="40" name="CuadroTexto 39">
                  <a:extLst>
                    <a:ext uri="{FF2B5EF4-FFF2-40B4-BE49-F238E27FC236}">
                      <a16:creationId xmlns:a16="http://schemas.microsoft.com/office/drawing/2014/main" id="{8CDD01DE-87CA-4754-9495-1958870F20B7}"/>
                    </a:ext>
                  </a:extLst>
                </p:cNvPr>
                <p:cNvSpPr txBox="1">
                  <a:spLocks noRot="1" noChangeAspect="1" noMove="1" noResize="1" noEditPoints="1" noAdjustHandles="1" noChangeArrowheads="1" noChangeShapeType="1" noTextEdit="1"/>
                </p:cNvSpPr>
                <p:nvPr/>
              </p:nvSpPr>
              <p:spPr>
                <a:xfrm>
                  <a:off x="2975568" y="3069342"/>
                  <a:ext cx="195438" cy="169277"/>
                </a:xfrm>
                <a:prstGeom prst="rect">
                  <a:avLst/>
                </a:prstGeom>
                <a:blipFill>
                  <a:blip r:embed="rId17"/>
                  <a:stretch>
                    <a:fillRect l="-15625" r="-15625" b="-11111"/>
                  </a:stretch>
                </a:blipFill>
              </p:spPr>
              <p:txBody>
                <a:bodyPr/>
                <a:lstStyle/>
                <a:p>
                  <a:r>
                    <a:rPr lang="es-CO">
                      <a:noFill/>
                    </a:rPr>
                    <a:t> </a:t>
                  </a:r>
                </a:p>
              </p:txBody>
            </p:sp>
          </mc:Fallback>
        </mc:AlternateContent>
      </p:grpSp>
      <p:grpSp>
        <p:nvGrpSpPr>
          <p:cNvPr id="60" name="Grupo 59">
            <a:extLst>
              <a:ext uri="{FF2B5EF4-FFF2-40B4-BE49-F238E27FC236}">
                <a16:creationId xmlns:a16="http://schemas.microsoft.com/office/drawing/2014/main" id="{66C17668-2922-41AE-8740-47D19EE124E6}"/>
              </a:ext>
            </a:extLst>
          </p:cNvPr>
          <p:cNvGrpSpPr/>
          <p:nvPr/>
        </p:nvGrpSpPr>
        <p:grpSpPr>
          <a:xfrm>
            <a:off x="8050473" y="1970853"/>
            <a:ext cx="569970" cy="2969127"/>
            <a:chOff x="8050473" y="1970853"/>
            <a:chExt cx="569970" cy="2969127"/>
          </a:xfrm>
        </p:grpSpPr>
        <p:sp>
          <p:nvSpPr>
            <p:cNvPr id="45" name="Rectángulo 44">
              <a:extLst>
                <a:ext uri="{FF2B5EF4-FFF2-40B4-BE49-F238E27FC236}">
                  <a16:creationId xmlns:a16="http://schemas.microsoft.com/office/drawing/2014/main" id="{48AFD3D0-B83F-4D73-85E2-45C9B2D1785A}"/>
                </a:ext>
              </a:extLst>
            </p:cNvPr>
            <p:cNvSpPr/>
            <p:nvPr/>
          </p:nvSpPr>
          <p:spPr>
            <a:xfrm>
              <a:off x="8050473" y="1970853"/>
              <a:ext cx="569970" cy="296912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xmlns:a14="http://schemas.microsoft.com/office/drawing/2010/main">
          <mc:Choice Requires="a14">
            <p:sp>
              <p:nvSpPr>
                <p:cNvPr id="46" name="CuadroTexto 45">
                  <a:extLst>
                    <a:ext uri="{FF2B5EF4-FFF2-40B4-BE49-F238E27FC236}">
                      <a16:creationId xmlns:a16="http://schemas.microsoft.com/office/drawing/2014/main" id="{8223E0D5-8E94-4ED2-AE63-769D47FB0246}"/>
                    </a:ext>
                  </a:extLst>
                </p:cNvPr>
                <p:cNvSpPr txBox="1"/>
                <p:nvPr/>
              </p:nvSpPr>
              <p:spPr>
                <a:xfrm>
                  <a:off x="8236083" y="2816483"/>
                  <a:ext cx="37824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𝑃𝑎</m:t>
                            </m:r>
                          </m:e>
                          <m:sub>
                            <m:r>
                              <a:rPr lang="es-ES" sz="1100" b="0" i="1" smtClean="0">
                                <a:latin typeface="Cambria Math" panose="02040503050406030204" pitchFamily="18" charset="0"/>
                              </a:rPr>
                              <m:t>𝑑𝑒𝑠</m:t>
                            </m:r>
                          </m:sub>
                        </m:sSub>
                      </m:oMath>
                    </m:oMathPara>
                  </a14:m>
                  <a:endParaRPr lang="es-CO" sz="1100" dirty="0"/>
                </a:p>
              </p:txBody>
            </p:sp>
          </mc:Choice>
          <mc:Fallback xmlns="">
            <p:sp>
              <p:nvSpPr>
                <p:cNvPr id="46" name="CuadroTexto 45">
                  <a:extLst>
                    <a:ext uri="{FF2B5EF4-FFF2-40B4-BE49-F238E27FC236}">
                      <a16:creationId xmlns:a16="http://schemas.microsoft.com/office/drawing/2014/main" id="{8223E0D5-8E94-4ED2-AE63-769D47FB0246}"/>
                    </a:ext>
                  </a:extLst>
                </p:cNvPr>
                <p:cNvSpPr txBox="1">
                  <a:spLocks noRot="1" noChangeAspect="1" noMove="1" noResize="1" noEditPoints="1" noAdjustHandles="1" noChangeArrowheads="1" noChangeShapeType="1" noTextEdit="1"/>
                </p:cNvSpPr>
                <p:nvPr/>
              </p:nvSpPr>
              <p:spPr>
                <a:xfrm>
                  <a:off x="8236083" y="2816483"/>
                  <a:ext cx="378244" cy="169277"/>
                </a:xfrm>
                <a:prstGeom prst="rect">
                  <a:avLst/>
                </a:prstGeom>
                <a:blipFill>
                  <a:blip r:embed="rId4"/>
                  <a:stretch>
                    <a:fillRect l="-8065" r="-3226" b="-17857"/>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D58E39C9-710C-4150-9D86-570F6B04FB7B}"/>
                    </a:ext>
                  </a:extLst>
                </p:cNvPr>
                <p:cNvSpPr txBox="1"/>
                <p:nvPr/>
              </p:nvSpPr>
              <p:spPr>
                <a:xfrm>
                  <a:off x="8255318" y="4034035"/>
                  <a:ext cx="35900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𝜙</m:t>
                            </m:r>
                          </m:e>
                          <m:sub>
                            <m:r>
                              <a:rPr lang="es-ES" sz="1100" b="0" i="1" smtClean="0">
                                <a:latin typeface="Cambria Math" panose="02040503050406030204" pitchFamily="18" charset="0"/>
                              </a:rPr>
                              <m:t>𝑐𝑑𝑒𝑠</m:t>
                            </m:r>
                          </m:sub>
                        </m:sSub>
                      </m:oMath>
                    </m:oMathPara>
                  </a14:m>
                  <a:endParaRPr lang="es-CO" sz="1100" dirty="0"/>
                </a:p>
              </p:txBody>
            </p:sp>
          </mc:Choice>
          <mc:Fallback xmlns="">
            <p:sp>
              <p:nvSpPr>
                <p:cNvPr id="47" name="CuadroTexto 46">
                  <a:extLst>
                    <a:ext uri="{FF2B5EF4-FFF2-40B4-BE49-F238E27FC236}">
                      <a16:creationId xmlns:a16="http://schemas.microsoft.com/office/drawing/2014/main" id="{D58E39C9-710C-4150-9D86-570F6B04FB7B}"/>
                    </a:ext>
                  </a:extLst>
                </p:cNvPr>
                <p:cNvSpPr txBox="1">
                  <a:spLocks noRot="1" noChangeAspect="1" noMove="1" noResize="1" noEditPoints="1" noAdjustHandles="1" noChangeArrowheads="1" noChangeShapeType="1" noTextEdit="1"/>
                </p:cNvSpPr>
                <p:nvPr/>
              </p:nvSpPr>
              <p:spPr>
                <a:xfrm>
                  <a:off x="8255318" y="4034035"/>
                  <a:ext cx="359009" cy="169277"/>
                </a:xfrm>
                <a:prstGeom prst="rect">
                  <a:avLst/>
                </a:prstGeom>
                <a:blipFill>
                  <a:blip r:embed="rId5"/>
                  <a:stretch>
                    <a:fillRect l="-13559" r="-5085" b="-35714"/>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48" name="CuadroTexto 47">
                  <a:extLst>
                    <a:ext uri="{FF2B5EF4-FFF2-40B4-BE49-F238E27FC236}">
                      <a16:creationId xmlns:a16="http://schemas.microsoft.com/office/drawing/2014/main" id="{9D739309-3E62-46B1-AEC8-CEAD3EEDEAE6}"/>
                    </a:ext>
                  </a:extLst>
                </p:cNvPr>
                <p:cNvSpPr txBox="1"/>
                <p:nvPr/>
              </p:nvSpPr>
              <p:spPr>
                <a:xfrm>
                  <a:off x="8343291" y="4242770"/>
                  <a:ext cx="271036" cy="182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𝑔𝑑𝑙</m:t>
                            </m:r>
                          </m:sub>
                        </m:sSub>
                      </m:oMath>
                    </m:oMathPara>
                  </a14:m>
                  <a:endParaRPr lang="es-CO" sz="1100" dirty="0"/>
                </a:p>
              </p:txBody>
            </p:sp>
          </mc:Choice>
          <mc:Fallback xmlns="">
            <p:sp>
              <p:nvSpPr>
                <p:cNvPr id="48" name="CuadroTexto 47">
                  <a:extLst>
                    <a:ext uri="{FF2B5EF4-FFF2-40B4-BE49-F238E27FC236}">
                      <a16:creationId xmlns:a16="http://schemas.microsoft.com/office/drawing/2014/main" id="{9D739309-3E62-46B1-AEC8-CEAD3EEDEAE6}"/>
                    </a:ext>
                  </a:extLst>
                </p:cNvPr>
                <p:cNvSpPr txBox="1">
                  <a:spLocks noRot="1" noChangeAspect="1" noMove="1" noResize="1" noEditPoints="1" noAdjustHandles="1" noChangeArrowheads="1" noChangeShapeType="1" noTextEdit="1"/>
                </p:cNvSpPr>
                <p:nvPr/>
              </p:nvSpPr>
              <p:spPr>
                <a:xfrm>
                  <a:off x="8343291" y="4242770"/>
                  <a:ext cx="271036" cy="182999"/>
                </a:xfrm>
                <a:prstGeom prst="rect">
                  <a:avLst/>
                </a:prstGeom>
                <a:blipFill>
                  <a:blip r:embed="rId6"/>
                  <a:stretch>
                    <a:fillRect l="-6818" r="-11364" b="-30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996934D0-3598-4DC4-95B8-0C32AD37649A}"/>
                    </a:ext>
                  </a:extLst>
                </p:cNvPr>
                <p:cNvSpPr txBox="1"/>
                <p:nvPr/>
              </p:nvSpPr>
              <p:spPr>
                <a:xfrm>
                  <a:off x="8359962" y="3621126"/>
                  <a:ext cx="25436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𝑚𝑐</m:t>
                            </m:r>
                          </m:sub>
                        </m:sSub>
                      </m:oMath>
                    </m:oMathPara>
                  </a14:m>
                  <a:endParaRPr lang="es-CO" sz="1100" dirty="0"/>
                </a:p>
              </p:txBody>
            </p:sp>
          </mc:Choice>
          <mc:Fallback xmlns="">
            <p:sp>
              <p:nvSpPr>
                <p:cNvPr id="49" name="CuadroTexto 48">
                  <a:extLst>
                    <a:ext uri="{FF2B5EF4-FFF2-40B4-BE49-F238E27FC236}">
                      <a16:creationId xmlns:a16="http://schemas.microsoft.com/office/drawing/2014/main" id="{996934D0-3598-4DC4-95B8-0C32AD37649A}"/>
                    </a:ext>
                  </a:extLst>
                </p:cNvPr>
                <p:cNvSpPr txBox="1">
                  <a:spLocks noRot="1" noChangeAspect="1" noMove="1" noResize="1" noEditPoints="1" noAdjustHandles="1" noChangeArrowheads="1" noChangeShapeType="1" noTextEdit="1"/>
                </p:cNvSpPr>
                <p:nvPr/>
              </p:nvSpPr>
              <p:spPr>
                <a:xfrm>
                  <a:off x="8359962" y="3621126"/>
                  <a:ext cx="254365" cy="169277"/>
                </a:xfrm>
                <a:prstGeom prst="rect">
                  <a:avLst/>
                </a:prstGeom>
                <a:blipFill>
                  <a:blip r:embed="rId18"/>
                  <a:stretch>
                    <a:fillRect l="-7143" r="-2381" b="-14286"/>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0" name="CuadroTexto 49">
                  <a:extLst>
                    <a:ext uri="{FF2B5EF4-FFF2-40B4-BE49-F238E27FC236}">
                      <a16:creationId xmlns:a16="http://schemas.microsoft.com/office/drawing/2014/main" id="{308DA5E6-CD97-4AB9-8BFB-AD7ED880E9B9}"/>
                    </a:ext>
                  </a:extLst>
                </p:cNvPr>
                <p:cNvSpPr txBox="1"/>
                <p:nvPr/>
              </p:nvSpPr>
              <p:spPr>
                <a:xfrm>
                  <a:off x="8456143" y="4432151"/>
                  <a:ext cx="15818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𝑐</m:t>
                            </m:r>
                          </m:sub>
                        </m:sSub>
                      </m:oMath>
                    </m:oMathPara>
                  </a14:m>
                  <a:endParaRPr lang="es-CO" sz="1100" dirty="0"/>
                </a:p>
              </p:txBody>
            </p:sp>
          </mc:Choice>
          <mc:Fallback xmlns="">
            <p:sp>
              <p:nvSpPr>
                <p:cNvPr id="50" name="CuadroTexto 49">
                  <a:extLst>
                    <a:ext uri="{FF2B5EF4-FFF2-40B4-BE49-F238E27FC236}">
                      <a16:creationId xmlns:a16="http://schemas.microsoft.com/office/drawing/2014/main" id="{308DA5E6-CD97-4AB9-8BFB-AD7ED880E9B9}"/>
                    </a:ext>
                  </a:extLst>
                </p:cNvPr>
                <p:cNvSpPr txBox="1">
                  <a:spLocks noRot="1" noChangeAspect="1" noMove="1" noResize="1" noEditPoints="1" noAdjustHandles="1" noChangeArrowheads="1" noChangeShapeType="1" noTextEdit="1"/>
                </p:cNvSpPr>
                <p:nvPr/>
              </p:nvSpPr>
              <p:spPr>
                <a:xfrm>
                  <a:off x="8456143" y="4432151"/>
                  <a:ext cx="158184" cy="169277"/>
                </a:xfrm>
                <a:prstGeom prst="rect">
                  <a:avLst/>
                </a:prstGeom>
                <a:blipFill>
                  <a:blip r:embed="rId19"/>
                  <a:stretch>
                    <a:fillRect l="-11538" r="-7692" b="-14286"/>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1" name="CuadroTexto 50">
                  <a:extLst>
                    <a:ext uri="{FF2B5EF4-FFF2-40B4-BE49-F238E27FC236}">
                      <a16:creationId xmlns:a16="http://schemas.microsoft.com/office/drawing/2014/main" id="{667A09E5-33B9-49C7-AFF1-724A1976AEB8}"/>
                    </a:ext>
                  </a:extLst>
                </p:cNvPr>
                <p:cNvSpPr txBox="1"/>
                <p:nvPr/>
              </p:nvSpPr>
              <p:spPr>
                <a:xfrm>
                  <a:off x="8515133" y="3244108"/>
                  <a:ext cx="991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𝜏</m:t>
                        </m:r>
                      </m:oMath>
                    </m:oMathPara>
                  </a14:m>
                  <a:endParaRPr lang="es-CO" sz="1100" dirty="0"/>
                </a:p>
              </p:txBody>
            </p:sp>
          </mc:Choice>
          <mc:Fallback xmlns="">
            <p:sp>
              <p:nvSpPr>
                <p:cNvPr id="51" name="CuadroTexto 50">
                  <a:extLst>
                    <a:ext uri="{FF2B5EF4-FFF2-40B4-BE49-F238E27FC236}">
                      <a16:creationId xmlns:a16="http://schemas.microsoft.com/office/drawing/2014/main" id="{667A09E5-33B9-49C7-AFF1-724A1976AEB8}"/>
                    </a:ext>
                  </a:extLst>
                </p:cNvPr>
                <p:cNvSpPr txBox="1">
                  <a:spLocks noRot="1" noChangeAspect="1" noMove="1" noResize="1" noEditPoints="1" noAdjustHandles="1" noChangeArrowheads="1" noChangeShapeType="1" noTextEdit="1"/>
                </p:cNvSpPr>
                <p:nvPr/>
              </p:nvSpPr>
              <p:spPr>
                <a:xfrm>
                  <a:off x="8515133" y="3244108"/>
                  <a:ext cx="99194" cy="169277"/>
                </a:xfrm>
                <a:prstGeom prst="rect">
                  <a:avLst/>
                </a:prstGeom>
                <a:blipFill>
                  <a:blip r:embed="rId9"/>
                  <a:stretch>
                    <a:fillRect l="-18750" r="-25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2" name="CuadroTexto 51">
                  <a:extLst>
                    <a:ext uri="{FF2B5EF4-FFF2-40B4-BE49-F238E27FC236}">
                      <a16:creationId xmlns:a16="http://schemas.microsoft.com/office/drawing/2014/main" id="{24931D76-4C52-4DAE-9FCD-0765B6160561}"/>
                    </a:ext>
                  </a:extLst>
                </p:cNvPr>
                <p:cNvSpPr txBox="1"/>
                <p:nvPr/>
              </p:nvSpPr>
              <p:spPr>
                <a:xfrm>
                  <a:off x="8200111" y="2191582"/>
                  <a:ext cx="414216" cy="1828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𝑖</m:t>
                            </m:r>
                            <m:r>
                              <a:rPr lang="es-ES" sz="1100" b="0" i="1" smtClean="0">
                                <a:latin typeface="Cambria Math" panose="02040503050406030204" pitchFamily="18" charset="0"/>
                              </a:rPr>
                              <m:t>0</m:t>
                            </m:r>
                          </m:e>
                          <m:sub>
                            <m:r>
                              <a:rPr lang="es-ES" sz="1100" b="0" i="1" smtClean="0">
                                <a:latin typeface="Cambria Math" panose="02040503050406030204" pitchFamily="18" charset="0"/>
                              </a:rPr>
                              <m:t>𝑐</m:t>
                            </m:r>
                            <m:r>
                              <a:rPr lang="es-ES" sz="1100" b="0" i="1" smtClean="0">
                                <a:latin typeface="Cambria Math" panose="02040503050406030204" pitchFamily="18" charset="0"/>
                              </a:rPr>
                              <m:t> </m:t>
                            </m:r>
                            <m:r>
                              <a:rPr lang="es-ES" sz="1100" b="0" i="1" smtClean="0">
                                <a:latin typeface="Cambria Math" panose="02040503050406030204" pitchFamily="18" charset="0"/>
                              </a:rPr>
                              <m:t>𝑟𝑒𝑓</m:t>
                            </m:r>
                          </m:sub>
                        </m:sSub>
                      </m:oMath>
                    </m:oMathPara>
                  </a14:m>
                  <a:endParaRPr lang="es-CO" sz="1100" dirty="0"/>
                </a:p>
              </p:txBody>
            </p:sp>
          </mc:Choice>
          <mc:Fallback xmlns="">
            <p:sp>
              <p:nvSpPr>
                <p:cNvPr id="52" name="CuadroTexto 51">
                  <a:extLst>
                    <a:ext uri="{FF2B5EF4-FFF2-40B4-BE49-F238E27FC236}">
                      <a16:creationId xmlns:a16="http://schemas.microsoft.com/office/drawing/2014/main" id="{24931D76-4C52-4DAE-9FCD-0765B6160561}"/>
                    </a:ext>
                  </a:extLst>
                </p:cNvPr>
                <p:cNvSpPr txBox="1">
                  <a:spLocks noRot="1" noChangeAspect="1" noMove="1" noResize="1" noEditPoints="1" noAdjustHandles="1" noChangeArrowheads="1" noChangeShapeType="1" noTextEdit="1"/>
                </p:cNvSpPr>
                <p:nvPr/>
              </p:nvSpPr>
              <p:spPr>
                <a:xfrm>
                  <a:off x="8200111" y="2191582"/>
                  <a:ext cx="414216" cy="182807"/>
                </a:xfrm>
                <a:prstGeom prst="rect">
                  <a:avLst/>
                </a:prstGeom>
                <a:blipFill>
                  <a:blip r:embed="rId10"/>
                  <a:stretch>
                    <a:fillRect l="-7353" r="-5882" b="-3448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3" name="CuadroTexto 52">
                  <a:extLst>
                    <a:ext uri="{FF2B5EF4-FFF2-40B4-BE49-F238E27FC236}">
                      <a16:creationId xmlns:a16="http://schemas.microsoft.com/office/drawing/2014/main" id="{996EEAC7-41F0-4D24-9832-73EDC199381A}"/>
                    </a:ext>
                  </a:extLst>
                </p:cNvPr>
                <p:cNvSpPr txBox="1"/>
                <p:nvPr/>
              </p:nvSpPr>
              <p:spPr>
                <a:xfrm>
                  <a:off x="8385033" y="3413385"/>
                  <a:ext cx="2292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𝑐𝑜</m:t>
                            </m:r>
                          </m:sub>
                        </m:sSub>
                      </m:oMath>
                    </m:oMathPara>
                  </a14:m>
                  <a:endParaRPr lang="es-CO" sz="1100" dirty="0"/>
                </a:p>
              </p:txBody>
            </p:sp>
          </mc:Choice>
          <mc:Fallback xmlns="">
            <p:sp>
              <p:nvSpPr>
                <p:cNvPr id="53" name="CuadroTexto 52">
                  <a:extLst>
                    <a:ext uri="{FF2B5EF4-FFF2-40B4-BE49-F238E27FC236}">
                      <a16:creationId xmlns:a16="http://schemas.microsoft.com/office/drawing/2014/main" id="{996EEAC7-41F0-4D24-9832-73EDC199381A}"/>
                    </a:ext>
                  </a:extLst>
                </p:cNvPr>
                <p:cNvSpPr txBox="1">
                  <a:spLocks noRot="1" noChangeAspect="1" noMove="1" noResize="1" noEditPoints="1" noAdjustHandles="1" noChangeArrowheads="1" noChangeShapeType="1" noTextEdit="1"/>
                </p:cNvSpPr>
                <p:nvPr/>
              </p:nvSpPr>
              <p:spPr>
                <a:xfrm>
                  <a:off x="8385033" y="3413385"/>
                  <a:ext cx="229294" cy="169277"/>
                </a:xfrm>
                <a:prstGeom prst="rect">
                  <a:avLst/>
                </a:prstGeom>
                <a:blipFill>
                  <a:blip r:embed="rId20"/>
                  <a:stretch>
                    <a:fillRect l="-7895" r="-2632" b="-10714"/>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4" name="CuadroTexto 53">
                  <a:extLst>
                    <a:ext uri="{FF2B5EF4-FFF2-40B4-BE49-F238E27FC236}">
                      <a16:creationId xmlns:a16="http://schemas.microsoft.com/office/drawing/2014/main" id="{7342A977-36C4-480A-AADF-5B6971C5F4BB}"/>
                    </a:ext>
                  </a:extLst>
                </p:cNvPr>
                <p:cNvSpPr txBox="1"/>
                <p:nvPr/>
              </p:nvSpPr>
              <p:spPr>
                <a:xfrm>
                  <a:off x="8444922" y="2405250"/>
                  <a:ext cx="16940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m:t>
                            </m:r>
                          </m:sub>
                        </m:sSub>
                      </m:oMath>
                    </m:oMathPara>
                  </a14:m>
                  <a:endParaRPr lang="es-CO" sz="1100" dirty="0"/>
                </a:p>
              </p:txBody>
            </p:sp>
          </mc:Choice>
          <mc:Fallback xmlns="">
            <p:sp>
              <p:nvSpPr>
                <p:cNvPr id="54" name="CuadroTexto 53">
                  <a:extLst>
                    <a:ext uri="{FF2B5EF4-FFF2-40B4-BE49-F238E27FC236}">
                      <a16:creationId xmlns:a16="http://schemas.microsoft.com/office/drawing/2014/main" id="{7342A977-36C4-480A-AADF-5B6971C5F4BB}"/>
                    </a:ext>
                  </a:extLst>
                </p:cNvPr>
                <p:cNvSpPr txBox="1">
                  <a:spLocks noRot="1" noChangeAspect="1" noMove="1" noResize="1" noEditPoints="1" noAdjustHandles="1" noChangeArrowheads="1" noChangeShapeType="1" noTextEdit="1"/>
                </p:cNvSpPr>
                <p:nvPr/>
              </p:nvSpPr>
              <p:spPr>
                <a:xfrm>
                  <a:off x="8444922" y="2405250"/>
                  <a:ext cx="169405" cy="169277"/>
                </a:xfrm>
                <a:prstGeom prst="rect">
                  <a:avLst/>
                </a:prstGeom>
                <a:blipFill>
                  <a:blip r:embed="rId21"/>
                  <a:stretch>
                    <a:fillRect l="-10714" r="-3571" b="-14815"/>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5" name="CuadroTexto 54">
                  <a:extLst>
                    <a:ext uri="{FF2B5EF4-FFF2-40B4-BE49-F238E27FC236}">
                      <a16:creationId xmlns:a16="http://schemas.microsoft.com/office/drawing/2014/main" id="{7F522A16-5B89-45AD-8394-5C26E1AAA88E}"/>
                    </a:ext>
                  </a:extLst>
                </p:cNvPr>
                <p:cNvSpPr txBox="1"/>
                <p:nvPr/>
              </p:nvSpPr>
              <p:spPr>
                <a:xfrm>
                  <a:off x="8353358" y="2608136"/>
                  <a:ext cx="26096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𝑇𝑓𝑐</m:t>
                        </m:r>
                      </m:oMath>
                    </m:oMathPara>
                  </a14:m>
                  <a:endParaRPr lang="es-CO" sz="1100" dirty="0"/>
                </a:p>
              </p:txBody>
            </p:sp>
          </mc:Choice>
          <mc:Fallback xmlns="">
            <p:sp>
              <p:nvSpPr>
                <p:cNvPr id="55" name="CuadroTexto 54">
                  <a:extLst>
                    <a:ext uri="{FF2B5EF4-FFF2-40B4-BE49-F238E27FC236}">
                      <a16:creationId xmlns:a16="http://schemas.microsoft.com/office/drawing/2014/main" id="{7F522A16-5B89-45AD-8394-5C26E1AAA88E}"/>
                    </a:ext>
                  </a:extLst>
                </p:cNvPr>
                <p:cNvSpPr txBox="1">
                  <a:spLocks noRot="1" noChangeAspect="1" noMove="1" noResize="1" noEditPoints="1" noAdjustHandles="1" noChangeArrowheads="1" noChangeShapeType="1" noTextEdit="1"/>
                </p:cNvSpPr>
                <p:nvPr/>
              </p:nvSpPr>
              <p:spPr>
                <a:xfrm>
                  <a:off x="8353358" y="2608136"/>
                  <a:ext cx="260969" cy="169277"/>
                </a:xfrm>
                <a:prstGeom prst="rect">
                  <a:avLst/>
                </a:prstGeom>
                <a:blipFill>
                  <a:blip r:embed="rId13"/>
                  <a:stretch>
                    <a:fillRect l="-18605" r="-18605" b="-35714"/>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6" name="CuadroTexto 55">
                  <a:extLst>
                    <a:ext uri="{FF2B5EF4-FFF2-40B4-BE49-F238E27FC236}">
                      <a16:creationId xmlns:a16="http://schemas.microsoft.com/office/drawing/2014/main" id="{FE018DD9-E1EC-436E-9B3F-79E2F5EE1ED0}"/>
                    </a:ext>
                  </a:extLst>
                </p:cNvPr>
                <p:cNvSpPr txBox="1"/>
                <p:nvPr/>
              </p:nvSpPr>
              <p:spPr>
                <a:xfrm>
                  <a:off x="8438317" y="3858376"/>
                  <a:ext cx="17601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𝑆𝑐</m:t>
                        </m:r>
                      </m:oMath>
                    </m:oMathPara>
                  </a14:m>
                  <a:endParaRPr lang="es-CO" sz="1100" dirty="0"/>
                </a:p>
              </p:txBody>
            </p:sp>
          </mc:Choice>
          <mc:Fallback xmlns="">
            <p:sp>
              <p:nvSpPr>
                <p:cNvPr id="56" name="CuadroTexto 55">
                  <a:extLst>
                    <a:ext uri="{FF2B5EF4-FFF2-40B4-BE49-F238E27FC236}">
                      <a16:creationId xmlns:a16="http://schemas.microsoft.com/office/drawing/2014/main" id="{FE018DD9-E1EC-436E-9B3F-79E2F5EE1ED0}"/>
                    </a:ext>
                  </a:extLst>
                </p:cNvPr>
                <p:cNvSpPr txBox="1">
                  <a:spLocks noRot="1" noChangeAspect="1" noMove="1" noResize="1" noEditPoints="1" noAdjustHandles="1" noChangeArrowheads="1" noChangeShapeType="1" noTextEdit="1"/>
                </p:cNvSpPr>
                <p:nvPr/>
              </p:nvSpPr>
              <p:spPr>
                <a:xfrm>
                  <a:off x="8438317" y="3858376"/>
                  <a:ext cx="176010" cy="169277"/>
                </a:xfrm>
                <a:prstGeom prst="rect">
                  <a:avLst/>
                </a:prstGeom>
                <a:blipFill>
                  <a:blip r:embed="rId14"/>
                  <a:stretch>
                    <a:fillRect l="-17241" r="-17241" b="-714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7" name="CuadroTexto 56">
                  <a:extLst>
                    <a:ext uri="{FF2B5EF4-FFF2-40B4-BE49-F238E27FC236}">
                      <a16:creationId xmlns:a16="http://schemas.microsoft.com/office/drawing/2014/main" id="{A740E73C-B3C4-4BFE-BEA7-E00CEFE89B1F}"/>
                    </a:ext>
                  </a:extLst>
                </p:cNvPr>
                <p:cNvSpPr txBox="1"/>
                <p:nvPr/>
              </p:nvSpPr>
              <p:spPr>
                <a:xfrm>
                  <a:off x="8391830" y="2015522"/>
                  <a:ext cx="222497"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𝑖𝑓𝑐</m:t>
                        </m:r>
                      </m:oMath>
                    </m:oMathPara>
                  </a14:m>
                  <a:endParaRPr lang="es-CO" sz="1100" dirty="0"/>
                </a:p>
              </p:txBody>
            </p:sp>
          </mc:Choice>
          <mc:Fallback xmlns="">
            <p:sp>
              <p:nvSpPr>
                <p:cNvPr id="57" name="CuadroTexto 56">
                  <a:extLst>
                    <a:ext uri="{FF2B5EF4-FFF2-40B4-BE49-F238E27FC236}">
                      <a16:creationId xmlns:a16="http://schemas.microsoft.com/office/drawing/2014/main" id="{A740E73C-B3C4-4BFE-BEA7-E00CEFE89B1F}"/>
                    </a:ext>
                  </a:extLst>
                </p:cNvPr>
                <p:cNvSpPr txBox="1">
                  <a:spLocks noRot="1" noChangeAspect="1" noMove="1" noResize="1" noEditPoints="1" noAdjustHandles="1" noChangeArrowheads="1" noChangeShapeType="1" noTextEdit="1"/>
                </p:cNvSpPr>
                <p:nvPr/>
              </p:nvSpPr>
              <p:spPr>
                <a:xfrm>
                  <a:off x="8391830" y="2015522"/>
                  <a:ext cx="222497" cy="169277"/>
                </a:xfrm>
                <a:prstGeom prst="rect">
                  <a:avLst/>
                </a:prstGeom>
                <a:blipFill>
                  <a:blip r:embed="rId15"/>
                  <a:stretch>
                    <a:fillRect l="-22222" r="-25000" b="-40741"/>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8" name="CuadroTexto 57">
                  <a:extLst>
                    <a:ext uri="{FF2B5EF4-FFF2-40B4-BE49-F238E27FC236}">
                      <a16:creationId xmlns:a16="http://schemas.microsoft.com/office/drawing/2014/main" id="{C687BB4A-1CBE-4732-A9C4-A559872D56B0}"/>
                    </a:ext>
                  </a:extLst>
                </p:cNvPr>
                <p:cNvSpPr txBox="1"/>
                <p:nvPr/>
              </p:nvSpPr>
              <p:spPr>
                <a:xfrm>
                  <a:off x="8508657" y="4686066"/>
                  <a:ext cx="10567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𝑒</m:t>
                        </m:r>
                      </m:oMath>
                    </m:oMathPara>
                  </a14:m>
                  <a:endParaRPr lang="es-CO" sz="1100" dirty="0"/>
                </a:p>
              </p:txBody>
            </p:sp>
          </mc:Choice>
          <mc:Fallback xmlns="">
            <p:sp>
              <p:nvSpPr>
                <p:cNvPr id="58" name="CuadroTexto 57">
                  <a:extLst>
                    <a:ext uri="{FF2B5EF4-FFF2-40B4-BE49-F238E27FC236}">
                      <a16:creationId xmlns:a16="http://schemas.microsoft.com/office/drawing/2014/main" id="{C687BB4A-1CBE-4732-A9C4-A559872D56B0}"/>
                    </a:ext>
                  </a:extLst>
                </p:cNvPr>
                <p:cNvSpPr txBox="1">
                  <a:spLocks noRot="1" noChangeAspect="1" noMove="1" noResize="1" noEditPoints="1" noAdjustHandles="1" noChangeArrowheads="1" noChangeShapeType="1" noTextEdit="1"/>
                </p:cNvSpPr>
                <p:nvPr/>
              </p:nvSpPr>
              <p:spPr>
                <a:xfrm>
                  <a:off x="8508657" y="4686066"/>
                  <a:ext cx="105670" cy="169277"/>
                </a:xfrm>
                <a:prstGeom prst="rect">
                  <a:avLst/>
                </a:prstGeom>
                <a:blipFill>
                  <a:blip r:embed="rId16"/>
                  <a:stretch>
                    <a:fillRect l="-17647" r="-17647" b="-3704"/>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59" name="CuadroTexto 58">
                  <a:extLst>
                    <a:ext uri="{FF2B5EF4-FFF2-40B4-BE49-F238E27FC236}">
                      <a16:creationId xmlns:a16="http://schemas.microsoft.com/office/drawing/2014/main" id="{E3638183-B676-4E9A-8959-BCF2DF245452}"/>
                    </a:ext>
                  </a:extLst>
                </p:cNvPr>
                <p:cNvSpPr txBox="1"/>
                <p:nvPr/>
              </p:nvSpPr>
              <p:spPr>
                <a:xfrm>
                  <a:off x="8418889" y="3026106"/>
                  <a:ext cx="195438"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𝑅𝑒</m:t>
                        </m:r>
                      </m:oMath>
                    </m:oMathPara>
                  </a14:m>
                  <a:endParaRPr lang="es-CO" sz="1100" dirty="0"/>
                </a:p>
              </p:txBody>
            </p:sp>
          </mc:Choice>
          <mc:Fallback xmlns="">
            <p:sp>
              <p:nvSpPr>
                <p:cNvPr id="59" name="CuadroTexto 58">
                  <a:extLst>
                    <a:ext uri="{FF2B5EF4-FFF2-40B4-BE49-F238E27FC236}">
                      <a16:creationId xmlns:a16="http://schemas.microsoft.com/office/drawing/2014/main" id="{E3638183-B676-4E9A-8959-BCF2DF245452}"/>
                    </a:ext>
                  </a:extLst>
                </p:cNvPr>
                <p:cNvSpPr txBox="1">
                  <a:spLocks noRot="1" noChangeAspect="1" noMove="1" noResize="1" noEditPoints="1" noAdjustHandles="1" noChangeArrowheads="1" noChangeShapeType="1" noTextEdit="1"/>
                </p:cNvSpPr>
                <p:nvPr/>
              </p:nvSpPr>
              <p:spPr>
                <a:xfrm>
                  <a:off x="8418889" y="3026106"/>
                  <a:ext cx="195438" cy="169277"/>
                </a:xfrm>
                <a:prstGeom prst="rect">
                  <a:avLst/>
                </a:prstGeom>
                <a:blipFill>
                  <a:blip r:embed="rId17"/>
                  <a:stretch>
                    <a:fillRect l="-15625" r="-15625" b="-7143"/>
                  </a:stretch>
                </a:blipFill>
              </p:spPr>
              <p:txBody>
                <a:bodyPr/>
                <a:lstStyle/>
                <a:p>
                  <a:r>
                    <a:rPr lang="es-CO">
                      <a:noFill/>
                    </a:rPr>
                    <a:t> </a:t>
                  </a:r>
                </a:p>
              </p:txBody>
            </p:sp>
          </mc:Fallback>
        </mc:AlternateContent>
      </p:grpSp>
      <p:sp>
        <p:nvSpPr>
          <p:cNvPr id="61" name="CuadroTexto 60">
            <a:extLst>
              <a:ext uri="{FF2B5EF4-FFF2-40B4-BE49-F238E27FC236}">
                <a16:creationId xmlns:a16="http://schemas.microsoft.com/office/drawing/2014/main" id="{A5FB4F6E-4673-4113-A43E-2AE399576ABF}"/>
              </a:ext>
            </a:extLst>
          </p:cNvPr>
          <p:cNvSpPr txBox="1"/>
          <p:nvPr/>
        </p:nvSpPr>
        <p:spPr>
          <a:xfrm>
            <a:off x="2997816" y="5136732"/>
            <a:ext cx="4876184" cy="461665"/>
          </a:xfrm>
          <a:prstGeom prst="rect">
            <a:avLst/>
          </a:prstGeom>
          <a:noFill/>
        </p:spPr>
        <p:txBody>
          <a:bodyPr wrap="square">
            <a:spAutoFit/>
          </a:bodyPr>
          <a:lstStyle/>
          <a:p>
            <a:r>
              <a:rPr lang="en" sz="1200" b="1" dirty="0"/>
              <a:t>Figure XX:  </a:t>
            </a:r>
            <a:r>
              <a:rPr lang="en-US" sz="1200" dirty="0"/>
              <a:t>SHAP feature importance ranking based on the </a:t>
            </a:r>
            <a:r>
              <a:rPr lang="en-US" sz="1200" dirty="0" err="1"/>
              <a:t>XGBoost</a:t>
            </a:r>
            <a:r>
              <a:rPr lang="en-US" sz="1200" dirty="0"/>
              <a:t> model, showing the top contributors to the output in the Activation region.</a:t>
            </a:r>
            <a:endParaRPr lang="es-CO" sz="1200" dirty="0"/>
          </a:p>
        </p:txBody>
      </p:sp>
      <p:sp>
        <p:nvSpPr>
          <p:cNvPr id="62" name="CuadroTexto 61">
            <a:extLst>
              <a:ext uri="{FF2B5EF4-FFF2-40B4-BE49-F238E27FC236}">
                <a16:creationId xmlns:a16="http://schemas.microsoft.com/office/drawing/2014/main" id="{C7083B35-AE59-4B39-8E3E-60E2E6E39913}"/>
              </a:ext>
            </a:extLst>
          </p:cNvPr>
          <p:cNvSpPr txBox="1"/>
          <p:nvPr/>
        </p:nvSpPr>
        <p:spPr>
          <a:xfrm>
            <a:off x="8265189" y="5315905"/>
            <a:ext cx="3605523" cy="1015663"/>
          </a:xfrm>
          <a:prstGeom prst="rect">
            <a:avLst/>
          </a:prstGeom>
          <a:noFill/>
        </p:spPr>
        <p:txBody>
          <a:bodyPr wrap="square">
            <a:spAutoFit/>
          </a:bodyPr>
          <a:lstStyle/>
          <a:p>
            <a:r>
              <a:rPr lang="en" sz="1200" b="1" dirty="0"/>
              <a:t>Figure XX:  </a:t>
            </a:r>
            <a:r>
              <a:rPr lang="en-US" sz="1200" dirty="0"/>
              <a:t>SHAP summary plot showing feature impact on the </a:t>
            </a:r>
            <a:r>
              <a:rPr lang="en-US" sz="1200" dirty="0" err="1"/>
              <a:t>XGBoost</a:t>
            </a:r>
            <a:r>
              <a:rPr lang="en-US" sz="1200" dirty="0"/>
              <a:t> model for the Activation region. Color indicates feature value; horizontal spread reflects influence.</a:t>
            </a:r>
            <a:endParaRPr lang="es-CO" sz="1200" dirty="0"/>
          </a:p>
          <a:p>
            <a:endParaRPr lang="es-CO" sz="1200" dirty="0"/>
          </a:p>
        </p:txBody>
      </p:sp>
    </p:spTree>
    <p:extLst>
      <p:ext uri="{BB962C8B-B14F-4D97-AF65-F5344CB8AC3E}">
        <p14:creationId xmlns:p14="http://schemas.microsoft.com/office/powerpoint/2010/main" val="38009838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646331"/>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33</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21" name="Google Shape;453;g36edeb4292e_1_43">
            <a:extLst>
              <a:ext uri="{FF2B5EF4-FFF2-40B4-BE49-F238E27FC236}">
                <a16:creationId xmlns:a16="http://schemas.microsoft.com/office/drawing/2014/main" id="{F2A4A3F0-A046-4B84-ACAE-67C7026FA800}"/>
              </a:ext>
            </a:extLst>
          </p:cNvPr>
          <p:cNvSpPr/>
          <p:nvPr/>
        </p:nvSpPr>
        <p:spPr>
          <a:xfrm>
            <a:off x="893443" y="2909918"/>
            <a:ext cx="1192800" cy="295200"/>
          </a:xfrm>
          <a:prstGeom prst="roundRect">
            <a:avLst>
              <a:gd name="adj" fmla="val 50000"/>
            </a:avLst>
          </a:prstGeom>
          <a:solidFill>
            <a:srgbClr val="BBE555"/>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prstClr val="black"/>
                </a:solidFill>
                <a:latin typeface="Source Sans Pro" panose="020B0503030403020204" pitchFamily="34" charset="0"/>
                <a:ea typeface="Source Sans Pro" panose="020B0503030403020204" pitchFamily="34" charset="0"/>
                <a:sym typeface="Fira Sans Extra Condensed"/>
              </a:rPr>
              <a:t>Activation</a:t>
            </a:r>
            <a:endParaRPr sz="1600" b="1" dirty="0">
              <a:solidFill>
                <a:prstClr val="black"/>
              </a:solidFill>
              <a:latin typeface="Source Sans Pro" panose="020B0503030403020204" pitchFamily="34" charset="0"/>
              <a:ea typeface="Source Sans Pro" panose="020B0503030403020204" pitchFamily="34" charset="0"/>
              <a:sym typeface="Arial"/>
            </a:endParaRP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7" name="CuadroTexto 76">
            <a:extLst>
              <a:ext uri="{FF2B5EF4-FFF2-40B4-BE49-F238E27FC236}">
                <a16:creationId xmlns:a16="http://schemas.microsoft.com/office/drawing/2014/main" id="{780D9CC7-D777-45F3-A749-30B5C18B48F3}"/>
              </a:ext>
            </a:extLst>
          </p:cNvPr>
          <p:cNvSpPr txBox="1"/>
          <p:nvPr/>
        </p:nvSpPr>
        <p:spPr>
          <a:xfrm>
            <a:off x="907097" y="3429000"/>
            <a:ext cx="2358291" cy="1384995"/>
          </a:xfrm>
          <a:prstGeom prst="rect">
            <a:avLst/>
          </a:prstGeom>
          <a:noFill/>
        </p:spPr>
        <p:txBody>
          <a:bodyPr wrap="square">
            <a:spAutoFit/>
          </a:bodyPr>
          <a:lstStyle/>
          <a:p>
            <a:r>
              <a:rPr lang="es-CO" sz="1400" dirty="0"/>
              <a:t>N = 8.192</a:t>
            </a:r>
          </a:p>
          <a:p>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245,760 configurations</a:t>
            </a:r>
            <a:endParaRPr lang="es-CO" sz="1400" b="1" dirty="0"/>
          </a:p>
          <a:p>
            <a:r>
              <a:rPr lang="es-CO" sz="1400" dirty="0"/>
              <a:t>Sum S1 = 0.9547</a:t>
            </a:r>
          </a:p>
          <a:p>
            <a:r>
              <a:rPr lang="es-CO" sz="1400" dirty="0"/>
              <a:t>Sum S2 = 0.0830</a:t>
            </a:r>
          </a:p>
          <a:p>
            <a:r>
              <a:rPr lang="es-CO" sz="1400" dirty="0"/>
              <a:t>Sum S1 + S2 = 1.0377</a:t>
            </a:r>
          </a:p>
          <a:p>
            <a:r>
              <a:rPr lang="es-CO" sz="1400" dirty="0"/>
              <a:t>Sum ST = 1.0665</a:t>
            </a:r>
          </a:p>
        </p:txBody>
      </p:sp>
      <p:graphicFrame>
        <p:nvGraphicFramePr>
          <p:cNvPr id="16" name="Tabla 15">
            <a:extLst>
              <a:ext uri="{FF2B5EF4-FFF2-40B4-BE49-F238E27FC236}">
                <a16:creationId xmlns:a16="http://schemas.microsoft.com/office/drawing/2014/main" id="{CDBB3F57-8E91-4EC2-A620-D052DCF46312}"/>
              </a:ext>
            </a:extLst>
          </p:cNvPr>
          <p:cNvGraphicFramePr>
            <a:graphicFrameLocks noGrp="1"/>
          </p:cNvGraphicFramePr>
          <p:nvPr>
            <p:extLst>
              <p:ext uri="{D42A27DB-BD31-4B8C-83A1-F6EECF244321}">
                <p14:modId xmlns:p14="http://schemas.microsoft.com/office/powerpoint/2010/main" val="610015685"/>
              </p:ext>
            </p:extLst>
          </p:nvPr>
        </p:nvGraphicFramePr>
        <p:xfrm>
          <a:off x="3525520" y="1636947"/>
          <a:ext cx="8118612" cy="4044068"/>
        </p:xfrm>
        <a:graphic>
          <a:graphicData uri="http://schemas.openxmlformats.org/drawingml/2006/table">
            <a:tbl>
              <a:tblPr/>
              <a:tblGrid>
                <a:gridCol w="1216281">
                  <a:extLst>
                    <a:ext uri="{9D8B030D-6E8A-4147-A177-3AD203B41FA5}">
                      <a16:colId xmlns:a16="http://schemas.microsoft.com/office/drawing/2014/main" val="3158671648"/>
                    </a:ext>
                  </a:extLst>
                </a:gridCol>
                <a:gridCol w="1086293">
                  <a:extLst>
                    <a:ext uri="{9D8B030D-6E8A-4147-A177-3AD203B41FA5}">
                      <a16:colId xmlns:a16="http://schemas.microsoft.com/office/drawing/2014/main" val="923774245"/>
                    </a:ext>
                  </a:extLst>
                </a:gridCol>
                <a:gridCol w="1484574">
                  <a:extLst>
                    <a:ext uri="{9D8B030D-6E8A-4147-A177-3AD203B41FA5}">
                      <a16:colId xmlns:a16="http://schemas.microsoft.com/office/drawing/2014/main" val="2406905423"/>
                    </a:ext>
                  </a:extLst>
                </a:gridCol>
                <a:gridCol w="1082866">
                  <a:extLst>
                    <a:ext uri="{9D8B030D-6E8A-4147-A177-3AD203B41FA5}">
                      <a16:colId xmlns:a16="http://schemas.microsoft.com/office/drawing/2014/main" val="2756400743"/>
                    </a:ext>
                  </a:extLst>
                </a:gridCol>
                <a:gridCol w="1082866">
                  <a:extLst>
                    <a:ext uri="{9D8B030D-6E8A-4147-A177-3AD203B41FA5}">
                      <a16:colId xmlns:a16="http://schemas.microsoft.com/office/drawing/2014/main" val="3705247648"/>
                    </a:ext>
                  </a:extLst>
                </a:gridCol>
                <a:gridCol w="1082866">
                  <a:extLst>
                    <a:ext uri="{9D8B030D-6E8A-4147-A177-3AD203B41FA5}">
                      <a16:colId xmlns:a16="http://schemas.microsoft.com/office/drawing/2014/main" val="2855012562"/>
                    </a:ext>
                  </a:extLst>
                </a:gridCol>
                <a:gridCol w="1082866">
                  <a:extLst>
                    <a:ext uri="{9D8B030D-6E8A-4147-A177-3AD203B41FA5}">
                      <a16:colId xmlns:a16="http://schemas.microsoft.com/office/drawing/2014/main" val="930675123"/>
                    </a:ext>
                  </a:extLst>
                </a:gridCol>
              </a:tblGrid>
              <a:tr h="182880">
                <a:tc>
                  <a:txBody>
                    <a:bodyPr/>
                    <a:lstStyle/>
                    <a:p>
                      <a:pPr marL="0" lvl="0" indent="0" algn="ctr" defTabSz="914400" rtl="0" eaLnBrk="1" fontAlgn="ctr" latinLnBrk="0" hangingPunct="1">
                        <a:lnSpc>
                          <a:spcPct val="115000"/>
                        </a:lnSpc>
                        <a:spcBef>
                          <a:spcPts val="0"/>
                        </a:spcBef>
                        <a:spcAft>
                          <a:spcPts val="0"/>
                        </a:spcAft>
                        <a:buNone/>
                      </a:pPr>
                      <a:r>
                        <a:rPr lang="es-CO" sz="1600" b="1" kern="1200" dirty="0" err="1">
                          <a:solidFill>
                            <a:schemeClr val="tx1"/>
                          </a:solidFill>
                          <a:latin typeface="Source Sans Pro" panose="020B0503030403020204" pitchFamily="34" charset="0"/>
                          <a:ea typeface="Source Sans Pro" panose="020B0503030403020204" pitchFamily="34" charset="0"/>
                          <a:cs typeface="+mn-cs"/>
                        </a:rPr>
                        <a:t>Feature</a:t>
                      </a:r>
                      <a:endParaRPr lang="es-CO" sz="1600" b="1" kern="1200" dirty="0">
                        <a:solidFill>
                          <a:schemeClr val="tx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S1</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S1 CI</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ST</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ST CI</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S2 Total</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S2 CI</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extLst>
                  <a:ext uri="{0D108BD9-81ED-4DB2-BD59-A6C34878D82A}">
                    <a16:rowId xmlns:a16="http://schemas.microsoft.com/office/drawing/2014/main" val="2258232817"/>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a:solidFill>
                            <a:schemeClr val="bg1"/>
                          </a:solidFill>
                          <a:latin typeface="Source Sans Pro" panose="020B0503030403020204" pitchFamily="34" charset="0"/>
                          <a:ea typeface="Source Sans Pro" panose="020B0503030403020204" pitchFamily="34" charset="0"/>
                          <a:cs typeface="+mn-cs"/>
                        </a:rPr>
                        <a:t>i0_c_ref</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0.4344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(0.41, 0.459)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0.4422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(0.425, 0.459)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0.0050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(-0.119, 0.129)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528964987"/>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kappa_c</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0.1834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(0.169, 0.198)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0.2108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(0.202, 0.219)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-0.0006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(-0.021, 0.019)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044020541"/>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ifc</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0.1870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(0.175, 0.199)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0.1939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(0.186, 0.202)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(0.0, 0.0)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651730174"/>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Tfc</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0.0768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(0.068, 0.086)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0.0818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(0.079, 0.085)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(-0.184, 0.187)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865401410"/>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Pa_des</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0.0466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(0.038, 0.055)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0.0739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(0.07, 0.078)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0.0725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(-0.078, 0.223)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754199902"/>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kappa_co</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0.0098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(0.006, 0.014)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0.0183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(0.017, 0.019)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0.0114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 0.024)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353622057"/>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a:solidFill>
                            <a:schemeClr val="bg1"/>
                          </a:solidFill>
                          <a:latin typeface="Source Sans Pro" panose="020B0503030403020204" pitchFamily="34" charset="0"/>
                          <a:ea typeface="Source Sans Pro" panose="020B0503030403020204" pitchFamily="34" charset="0"/>
                          <a:cs typeface="+mn-cs"/>
                        </a:rPr>
                        <a:t>Sc</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0.0057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(0.003, 0.009)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0.0136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(0.013, 0.014)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0.0070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(-0.044, 0.058)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551587561"/>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a:solidFill>
                            <a:schemeClr val="bg1"/>
                          </a:solidFill>
                          <a:latin typeface="Source Sans Pro" panose="020B0503030403020204" pitchFamily="34" charset="0"/>
                          <a:ea typeface="Source Sans Pro" panose="020B0503030403020204" pitchFamily="34" charset="0"/>
                          <a:cs typeface="+mn-cs"/>
                        </a:rPr>
                        <a:t>tau</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0.0040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(0.001, 0.007)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0.0095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(0.009, 0.01)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-0.0069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(-0.041, 0.028)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46875804"/>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epsilon_mc</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0.0032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(0.001, 0.006)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0.0071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(0.007, 0.007)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(-0.027, 0.026)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66793425"/>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a:solidFill>
                            <a:schemeClr val="bg1"/>
                          </a:solidFill>
                          <a:latin typeface="Source Sans Pro" panose="020B0503030403020204" pitchFamily="34" charset="0"/>
                          <a:ea typeface="Source Sans Pro" panose="020B0503030403020204" pitchFamily="34" charset="0"/>
                          <a:cs typeface="+mn-cs"/>
                        </a:rPr>
                        <a:t>Re</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 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0.0056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(0.005, 0.006)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(-0.013, 0.014)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573210054"/>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Phi_c_des</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(0.001, 0.004)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0.0046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(0.004, 0.005)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-0.0168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(-0.048, 0.014)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795844322"/>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epsilon_gdl</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-0.0003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 0.001)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(0.002, 0.003)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0.0070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(-0.014, 0.028)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586594164"/>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err="1">
                          <a:solidFill>
                            <a:schemeClr val="bg1"/>
                          </a:solidFill>
                          <a:latin typeface="Source Sans Pro" panose="020B0503030403020204" pitchFamily="34" charset="0"/>
                          <a:ea typeface="Source Sans Pro" panose="020B0503030403020204" pitchFamily="34" charset="0"/>
                          <a:cs typeface="+mn-cs"/>
                        </a:rPr>
                        <a:t>epsilon_c</a:t>
                      </a:r>
                      <a:endParaRPr lang="es-CO" sz="1050" kern="1200" dirty="0">
                        <a:solidFill>
                          <a:schemeClr val="bg1"/>
                        </a:solidFill>
                        <a:latin typeface="Source Sans Pro" panose="020B0503030403020204" pitchFamily="34" charset="0"/>
                        <a:ea typeface="Source Sans Pro" panose="020B0503030403020204" pitchFamily="34" charset="0"/>
                        <a:cs typeface="+mn-cs"/>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-0.0005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 0.001)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(0.002, 0.002)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0.0052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(-0.007, 0.017)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392201228"/>
                  </a:ext>
                </a:extLst>
              </a:tr>
              <a:tr h="182880">
                <a:tc>
                  <a:txBody>
                    <a:bodyPr/>
                    <a:lstStyle/>
                    <a:p>
                      <a:pPr marL="0" lvl="0" indent="0" algn="l" defTabSz="914400" rtl="0" eaLnBrk="1" fontAlgn="b" latinLnBrk="0" hangingPunct="1">
                        <a:lnSpc>
                          <a:spcPct val="115000"/>
                        </a:lnSpc>
                        <a:spcBef>
                          <a:spcPts val="0"/>
                        </a:spcBef>
                        <a:spcAft>
                          <a:spcPts val="0"/>
                        </a:spcAft>
                        <a:buNone/>
                      </a:pPr>
                      <a:r>
                        <a:rPr lang="es-CO" sz="1050" kern="1200" dirty="0">
                          <a:solidFill>
                            <a:schemeClr val="bg1"/>
                          </a:solidFill>
                          <a:latin typeface="Source Sans Pro" panose="020B0503030403020204" pitchFamily="34" charset="0"/>
                          <a:ea typeface="Source Sans Pro" panose="020B0503030403020204" pitchFamily="34" charset="0"/>
                          <a:cs typeface="+mn-cs"/>
                        </a:rPr>
                        <a:t>e</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 0.001)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(0.0, 0.0)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-0.0027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(-0.007, 0.002)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397607277"/>
                  </a:ext>
                </a:extLst>
              </a:tr>
            </a:tbl>
          </a:graphicData>
        </a:graphic>
      </p:graphicFrame>
      <mc:AlternateContent xmlns:mc="http://schemas.openxmlformats.org/markup-compatibility/2006" xmlns:a14="http://schemas.microsoft.com/office/drawing/2010/main">
        <mc:Choice Requires="a14">
          <p:sp>
            <p:nvSpPr>
              <p:cNvPr id="83" name="CuadroTexto 82">
                <a:extLst>
                  <a:ext uri="{FF2B5EF4-FFF2-40B4-BE49-F238E27FC236}">
                    <a16:creationId xmlns:a16="http://schemas.microsoft.com/office/drawing/2014/main" id="{4F2C4ECB-C629-46E7-BF18-754169DA7F57}"/>
                  </a:ext>
                </a:extLst>
              </p:cNvPr>
              <p:cNvSpPr txBox="1"/>
              <p:nvPr/>
            </p:nvSpPr>
            <p:spPr>
              <a:xfrm>
                <a:off x="3984742" y="3040366"/>
                <a:ext cx="41267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𝑃𝑎</m:t>
                          </m:r>
                        </m:e>
                        <m:sub>
                          <m:r>
                            <a:rPr lang="es-ES" sz="1200" b="0" i="1" smtClean="0">
                              <a:latin typeface="Cambria Math" panose="02040503050406030204" pitchFamily="18" charset="0"/>
                            </a:rPr>
                            <m:t>𝑑𝑒𝑠</m:t>
                          </m:r>
                        </m:sub>
                      </m:sSub>
                    </m:oMath>
                  </m:oMathPara>
                </a14:m>
                <a:endParaRPr lang="es-CO" sz="1200" dirty="0"/>
              </a:p>
            </p:txBody>
          </p:sp>
        </mc:Choice>
        <mc:Fallback xmlns="">
          <p:sp>
            <p:nvSpPr>
              <p:cNvPr id="83" name="CuadroTexto 82">
                <a:extLst>
                  <a:ext uri="{FF2B5EF4-FFF2-40B4-BE49-F238E27FC236}">
                    <a16:creationId xmlns:a16="http://schemas.microsoft.com/office/drawing/2014/main" id="{4F2C4ECB-C629-46E7-BF18-754169DA7F57}"/>
                  </a:ext>
                </a:extLst>
              </p:cNvPr>
              <p:cNvSpPr txBox="1">
                <a:spLocks noRot="1" noChangeAspect="1" noMove="1" noResize="1" noEditPoints="1" noAdjustHandles="1" noChangeArrowheads="1" noChangeShapeType="1" noTextEdit="1"/>
              </p:cNvSpPr>
              <p:nvPr/>
            </p:nvSpPr>
            <p:spPr>
              <a:xfrm>
                <a:off x="3984742" y="3040366"/>
                <a:ext cx="412677" cy="184666"/>
              </a:xfrm>
              <a:prstGeom prst="rect">
                <a:avLst/>
              </a:prstGeom>
              <a:blipFill>
                <a:blip r:embed="rId2"/>
                <a:stretch>
                  <a:fillRect l="-8955" r="-4478" b="-1333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84" name="CuadroTexto 83">
                <a:extLst>
                  <a:ext uri="{FF2B5EF4-FFF2-40B4-BE49-F238E27FC236}">
                    <a16:creationId xmlns:a16="http://schemas.microsoft.com/office/drawing/2014/main" id="{1E7BE181-B325-4438-9DEC-D23A5600015F}"/>
                  </a:ext>
                </a:extLst>
              </p:cNvPr>
              <p:cNvSpPr txBox="1"/>
              <p:nvPr/>
            </p:nvSpPr>
            <p:spPr>
              <a:xfrm>
                <a:off x="3991956" y="4636144"/>
                <a:ext cx="39344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𝜙</m:t>
                          </m:r>
                        </m:e>
                        <m:sub>
                          <m:r>
                            <a:rPr lang="es-ES" sz="1200" b="0" i="1" smtClean="0">
                              <a:latin typeface="Cambria Math" panose="02040503050406030204" pitchFamily="18" charset="0"/>
                            </a:rPr>
                            <m:t>𝑐𝑑𝑒𝑠</m:t>
                          </m:r>
                        </m:sub>
                      </m:sSub>
                    </m:oMath>
                  </m:oMathPara>
                </a14:m>
                <a:endParaRPr lang="es-CO" sz="1200" dirty="0"/>
              </a:p>
            </p:txBody>
          </p:sp>
        </mc:Choice>
        <mc:Fallback xmlns="">
          <p:sp>
            <p:nvSpPr>
              <p:cNvPr id="84" name="CuadroTexto 83">
                <a:extLst>
                  <a:ext uri="{FF2B5EF4-FFF2-40B4-BE49-F238E27FC236}">
                    <a16:creationId xmlns:a16="http://schemas.microsoft.com/office/drawing/2014/main" id="{1E7BE181-B325-4438-9DEC-D23A5600015F}"/>
                  </a:ext>
                </a:extLst>
              </p:cNvPr>
              <p:cNvSpPr txBox="1">
                <a:spLocks noRot="1" noChangeAspect="1" noMove="1" noResize="1" noEditPoints="1" noAdjustHandles="1" noChangeArrowheads="1" noChangeShapeType="1" noTextEdit="1"/>
              </p:cNvSpPr>
              <p:nvPr/>
            </p:nvSpPr>
            <p:spPr>
              <a:xfrm>
                <a:off x="3991956" y="4636144"/>
                <a:ext cx="393441" cy="184666"/>
              </a:xfrm>
              <a:prstGeom prst="rect">
                <a:avLst/>
              </a:prstGeom>
              <a:blipFill>
                <a:blip r:embed="rId3"/>
                <a:stretch>
                  <a:fillRect l="-14063" r="-3125" b="-30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85" name="CuadroTexto 84">
                <a:extLst>
                  <a:ext uri="{FF2B5EF4-FFF2-40B4-BE49-F238E27FC236}">
                    <a16:creationId xmlns:a16="http://schemas.microsoft.com/office/drawing/2014/main" id="{3DC2449D-4307-4501-90CB-8E9E1892BF32}"/>
                  </a:ext>
                </a:extLst>
              </p:cNvPr>
              <p:cNvSpPr txBox="1"/>
              <p:nvPr/>
            </p:nvSpPr>
            <p:spPr>
              <a:xfrm>
                <a:off x="4027511" y="4866685"/>
                <a:ext cx="297004" cy="19973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𝑔𝑑𝑙</m:t>
                          </m:r>
                        </m:sub>
                      </m:sSub>
                    </m:oMath>
                  </m:oMathPara>
                </a14:m>
                <a:endParaRPr lang="es-CO" sz="1200" dirty="0"/>
              </a:p>
            </p:txBody>
          </p:sp>
        </mc:Choice>
        <mc:Fallback xmlns="">
          <p:sp>
            <p:nvSpPr>
              <p:cNvPr id="85" name="CuadroTexto 84">
                <a:extLst>
                  <a:ext uri="{FF2B5EF4-FFF2-40B4-BE49-F238E27FC236}">
                    <a16:creationId xmlns:a16="http://schemas.microsoft.com/office/drawing/2014/main" id="{3DC2449D-4307-4501-90CB-8E9E1892BF32}"/>
                  </a:ext>
                </a:extLst>
              </p:cNvPr>
              <p:cNvSpPr txBox="1">
                <a:spLocks noRot="1" noChangeAspect="1" noMove="1" noResize="1" noEditPoints="1" noAdjustHandles="1" noChangeArrowheads="1" noChangeShapeType="1" noTextEdit="1"/>
              </p:cNvSpPr>
              <p:nvPr/>
            </p:nvSpPr>
            <p:spPr>
              <a:xfrm>
                <a:off x="4027511" y="4866685"/>
                <a:ext cx="297004" cy="199735"/>
              </a:xfrm>
              <a:prstGeom prst="rect">
                <a:avLst/>
              </a:prstGeom>
              <a:blipFill>
                <a:blip r:embed="rId4"/>
                <a:stretch>
                  <a:fillRect l="-8333" r="-8333" b="-2727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86" name="CuadroTexto 85">
                <a:extLst>
                  <a:ext uri="{FF2B5EF4-FFF2-40B4-BE49-F238E27FC236}">
                    <a16:creationId xmlns:a16="http://schemas.microsoft.com/office/drawing/2014/main" id="{DBC4CD14-8C46-455C-9086-9FE8F877C5D9}"/>
                  </a:ext>
                </a:extLst>
              </p:cNvPr>
              <p:cNvSpPr txBox="1"/>
              <p:nvPr/>
            </p:nvSpPr>
            <p:spPr>
              <a:xfrm>
                <a:off x="4034756" y="4104218"/>
                <a:ext cx="27930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𝑚𝑐</m:t>
                          </m:r>
                        </m:sub>
                      </m:sSub>
                    </m:oMath>
                  </m:oMathPara>
                </a14:m>
                <a:endParaRPr lang="es-CO" sz="1200" dirty="0"/>
              </a:p>
            </p:txBody>
          </p:sp>
        </mc:Choice>
        <mc:Fallback xmlns="">
          <p:sp>
            <p:nvSpPr>
              <p:cNvPr id="86" name="CuadroTexto 85">
                <a:extLst>
                  <a:ext uri="{FF2B5EF4-FFF2-40B4-BE49-F238E27FC236}">
                    <a16:creationId xmlns:a16="http://schemas.microsoft.com/office/drawing/2014/main" id="{DBC4CD14-8C46-455C-9086-9FE8F877C5D9}"/>
                  </a:ext>
                </a:extLst>
              </p:cNvPr>
              <p:cNvSpPr txBox="1">
                <a:spLocks noRot="1" noChangeAspect="1" noMove="1" noResize="1" noEditPoints="1" noAdjustHandles="1" noChangeArrowheads="1" noChangeShapeType="1" noTextEdit="1"/>
              </p:cNvSpPr>
              <p:nvPr/>
            </p:nvSpPr>
            <p:spPr>
              <a:xfrm>
                <a:off x="4034756" y="4104218"/>
                <a:ext cx="279307" cy="184666"/>
              </a:xfrm>
              <a:prstGeom prst="rect">
                <a:avLst/>
              </a:prstGeom>
              <a:blipFill>
                <a:blip r:embed="rId5"/>
                <a:stretch>
                  <a:fillRect l="-8696" b="-6452"/>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87" name="CuadroTexto 86">
                <a:extLst>
                  <a:ext uri="{FF2B5EF4-FFF2-40B4-BE49-F238E27FC236}">
                    <a16:creationId xmlns:a16="http://schemas.microsoft.com/office/drawing/2014/main" id="{8B1836FB-5579-42D5-9234-9D4ABBFA6E28}"/>
                  </a:ext>
                </a:extLst>
              </p:cNvPr>
              <p:cNvSpPr txBox="1"/>
              <p:nvPr/>
            </p:nvSpPr>
            <p:spPr>
              <a:xfrm>
                <a:off x="4074030" y="5179298"/>
                <a:ext cx="173509"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𝑐</m:t>
                          </m:r>
                        </m:sub>
                      </m:sSub>
                    </m:oMath>
                  </m:oMathPara>
                </a14:m>
                <a:endParaRPr lang="es-CO" sz="1200" dirty="0"/>
              </a:p>
            </p:txBody>
          </p:sp>
        </mc:Choice>
        <mc:Fallback xmlns="">
          <p:sp>
            <p:nvSpPr>
              <p:cNvPr id="87" name="CuadroTexto 86">
                <a:extLst>
                  <a:ext uri="{FF2B5EF4-FFF2-40B4-BE49-F238E27FC236}">
                    <a16:creationId xmlns:a16="http://schemas.microsoft.com/office/drawing/2014/main" id="{8B1836FB-5579-42D5-9234-9D4ABBFA6E28}"/>
                  </a:ext>
                </a:extLst>
              </p:cNvPr>
              <p:cNvSpPr txBox="1">
                <a:spLocks noRot="1" noChangeAspect="1" noMove="1" noResize="1" noEditPoints="1" noAdjustHandles="1" noChangeArrowheads="1" noChangeShapeType="1" noTextEdit="1"/>
              </p:cNvSpPr>
              <p:nvPr/>
            </p:nvSpPr>
            <p:spPr>
              <a:xfrm>
                <a:off x="4074030" y="5179298"/>
                <a:ext cx="173509" cy="184666"/>
              </a:xfrm>
              <a:prstGeom prst="rect">
                <a:avLst/>
              </a:prstGeom>
              <a:blipFill>
                <a:blip r:embed="rId6"/>
                <a:stretch>
                  <a:fillRect l="-10345" b="-10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88" name="CuadroTexto 87">
                <a:extLst>
                  <a:ext uri="{FF2B5EF4-FFF2-40B4-BE49-F238E27FC236}">
                    <a16:creationId xmlns:a16="http://schemas.microsoft.com/office/drawing/2014/main" id="{2345A5BD-D15D-4649-ABCE-0998824A98E7}"/>
                  </a:ext>
                </a:extLst>
              </p:cNvPr>
              <p:cNvSpPr txBox="1"/>
              <p:nvPr/>
            </p:nvSpPr>
            <p:spPr>
              <a:xfrm>
                <a:off x="4098972" y="3838255"/>
                <a:ext cx="10913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𝜏</m:t>
                      </m:r>
                    </m:oMath>
                  </m:oMathPara>
                </a14:m>
                <a:endParaRPr lang="es-CO" sz="1200" dirty="0"/>
              </a:p>
            </p:txBody>
          </p:sp>
        </mc:Choice>
        <mc:Fallback xmlns="">
          <p:sp>
            <p:nvSpPr>
              <p:cNvPr id="88" name="CuadroTexto 87">
                <a:extLst>
                  <a:ext uri="{FF2B5EF4-FFF2-40B4-BE49-F238E27FC236}">
                    <a16:creationId xmlns:a16="http://schemas.microsoft.com/office/drawing/2014/main" id="{2345A5BD-D15D-4649-ABCE-0998824A98E7}"/>
                  </a:ext>
                </a:extLst>
              </p:cNvPr>
              <p:cNvSpPr txBox="1">
                <a:spLocks noRot="1" noChangeAspect="1" noMove="1" noResize="1" noEditPoints="1" noAdjustHandles="1" noChangeArrowheads="1" noChangeShapeType="1" noTextEdit="1"/>
              </p:cNvSpPr>
              <p:nvPr/>
            </p:nvSpPr>
            <p:spPr>
              <a:xfrm>
                <a:off x="4098972" y="3838255"/>
                <a:ext cx="109132" cy="184666"/>
              </a:xfrm>
              <a:prstGeom prst="rect">
                <a:avLst/>
              </a:prstGeom>
              <a:blipFill>
                <a:blip r:embed="rId7"/>
                <a:stretch>
                  <a:fillRect l="-16667" r="-16667"/>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89" name="CuadroTexto 88">
                <a:extLst>
                  <a:ext uri="{FF2B5EF4-FFF2-40B4-BE49-F238E27FC236}">
                    <a16:creationId xmlns:a16="http://schemas.microsoft.com/office/drawing/2014/main" id="{80A0C03C-D2E3-462A-BD1A-F09AA0A6400C}"/>
                  </a:ext>
                </a:extLst>
              </p:cNvPr>
              <p:cNvSpPr txBox="1"/>
              <p:nvPr/>
            </p:nvSpPr>
            <p:spPr>
              <a:xfrm>
                <a:off x="3968712" y="1965485"/>
                <a:ext cx="449034" cy="19947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𝑖</m:t>
                          </m:r>
                          <m:r>
                            <a:rPr lang="es-ES" sz="1200" b="0" i="1" smtClean="0">
                              <a:latin typeface="Cambria Math" panose="02040503050406030204" pitchFamily="18" charset="0"/>
                            </a:rPr>
                            <m:t>0</m:t>
                          </m:r>
                        </m:e>
                        <m:sub>
                          <m:r>
                            <a:rPr lang="es-ES" sz="1200" b="0" i="1" smtClean="0">
                              <a:latin typeface="Cambria Math" panose="02040503050406030204" pitchFamily="18" charset="0"/>
                            </a:rPr>
                            <m:t>𝑐</m:t>
                          </m:r>
                          <m:r>
                            <a:rPr lang="es-ES" sz="1200" b="0" i="1" smtClean="0">
                              <a:latin typeface="Cambria Math" panose="02040503050406030204" pitchFamily="18" charset="0"/>
                            </a:rPr>
                            <m:t> </m:t>
                          </m:r>
                          <m:r>
                            <a:rPr lang="es-ES" sz="1200" b="0" i="1" smtClean="0">
                              <a:latin typeface="Cambria Math" panose="02040503050406030204" pitchFamily="18" charset="0"/>
                            </a:rPr>
                            <m:t>𝑟𝑒𝑓</m:t>
                          </m:r>
                        </m:sub>
                      </m:sSub>
                    </m:oMath>
                  </m:oMathPara>
                </a14:m>
                <a:endParaRPr lang="es-CO" sz="1200" dirty="0"/>
              </a:p>
            </p:txBody>
          </p:sp>
        </mc:Choice>
        <mc:Fallback xmlns="">
          <p:sp>
            <p:nvSpPr>
              <p:cNvPr id="89" name="CuadroTexto 88">
                <a:extLst>
                  <a:ext uri="{FF2B5EF4-FFF2-40B4-BE49-F238E27FC236}">
                    <a16:creationId xmlns:a16="http://schemas.microsoft.com/office/drawing/2014/main" id="{80A0C03C-D2E3-462A-BD1A-F09AA0A6400C}"/>
                  </a:ext>
                </a:extLst>
              </p:cNvPr>
              <p:cNvSpPr txBox="1">
                <a:spLocks noRot="1" noChangeAspect="1" noMove="1" noResize="1" noEditPoints="1" noAdjustHandles="1" noChangeArrowheads="1" noChangeShapeType="1" noTextEdit="1"/>
              </p:cNvSpPr>
              <p:nvPr/>
            </p:nvSpPr>
            <p:spPr>
              <a:xfrm>
                <a:off x="3968712" y="1965485"/>
                <a:ext cx="449034" cy="199478"/>
              </a:xfrm>
              <a:prstGeom prst="rect">
                <a:avLst/>
              </a:prstGeom>
              <a:blipFill>
                <a:blip r:embed="rId8"/>
                <a:stretch>
                  <a:fillRect l="-8108" r="-5405" b="-2727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90" name="CuadroTexto 89">
                <a:extLst>
                  <a:ext uri="{FF2B5EF4-FFF2-40B4-BE49-F238E27FC236}">
                    <a16:creationId xmlns:a16="http://schemas.microsoft.com/office/drawing/2014/main" id="{C53949A9-A964-4687-A178-EF36799CA539}"/>
                  </a:ext>
                </a:extLst>
              </p:cNvPr>
              <p:cNvSpPr txBox="1"/>
              <p:nvPr/>
            </p:nvSpPr>
            <p:spPr>
              <a:xfrm>
                <a:off x="4045592" y="3306329"/>
                <a:ext cx="249299"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𝜅</m:t>
                          </m:r>
                        </m:e>
                        <m:sub>
                          <m:r>
                            <a:rPr lang="es-ES" sz="1200" b="0" i="1" smtClean="0">
                              <a:latin typeface="Cambria Math" panose="02040503050406030204" pitchFamily="18" charset="0"/>
                            </a:rPr>
                            <m:t>𝑐𝑜</m:t>
                          </m:r>
                        </m:sub>
                      </m:sSub>
                    </m:oMath>
                  </m:oMathPara>
                </a14:m>
                <a:endParaRPr lang="es-CO" sz="1200" dirty="0"/>
              </a:p>
            </p:txBody>
          </p:sp>
        </mc:Choice>
        <mc:Fallback xmlns="">
          <p:sp>
            <p:nvSpPr>
              <p:cNvPr id="90" name="CuadroTexto 89">
                <a:extLst>
                  <a:ext uri="{FF2B5EF4-FFF2-40B4-BE49-F238E27FC236}">
                    <a16:creationId xmlns:a16="http://schemas.microsoft.com/office/drawing/2014/main" id="{C53949A9-A964-4687-A178-EF36799CA539}"/>
                  </a:ext>
                </a:extLst>
              </p:cNvPr>
              <p:cNvSpPr txBox="1">
                <a:spLocks noRot="1" noChangeAspect="1" noMove="1" noResize="1" noEditPoints="1" noAdjustHandles="1" noChangeArrowheads="1" noChangeShapeType="1" noTextEdit="1"/>
              </p:cNvSpPr>
              <p:nvPr/>
            </p:nvSpPr>
            <p:spPr>
              <a:xfrm>
                <a:off x="4045592" y="3306329"/>
                <a:ext cx="249299" cy="184666"/>
              </a:xfrm>
              <a:prstGeom prst="rect">
                <a:avLst/>
              </a:prstGeom>
              <a:blipFill>
                <a:blip r:embed="rId9"/>
                <a:stretch>
                  <a:fillRect l="-9756" r="-2439" b="-6452"/>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91" name="CuadroTexto 90">
                <a:extLst>
                  <a:ext uri="{FF2B5EF4-FFF2-40B4-BE49-F238E27FC236}">
                    <a16:creationId xmlns:a16="http://schemas.microsoft.com/office/drawing/2014/main" id="{86D22166-D8EE-45CE-AEAB-0327F5B7230C}"/>
                  </a:ext>
                </a:extLst>
              </p:cNvPr>
              <p:cNvSpPr txBox="1"/>
              <p:nvPr/>
            </p:nvSpPr>
            <p:spPr>
              <a:xfrm>
                <a:off x="4070022" y="2242477"/>
                <a:ext cx="18473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𝜅</m:t>
                          </m:r>
                        </m:e>
                        <m:sub>
                          <m:r>
                            <a:rPr lang="es-ES" sz="1200" b="0" i="1" smtClean="0">
                              <a:latin typeface="Cambria Math" panose="02040503050406030204" pitchFamily="18" charset="0"/>
                            </a:rPr>
                            <m:t>𝑐</m:t>
                          </m:r>
                        </m:sub>
                      </m:sSub>
                    </m:oMath>
                  </m:oMathPara>
                </a14:m>
                <a:endParaRPr lang="es-CO" sz="1200" dirty="0"/>
              </a:p>
            </p:txBody>
          </p:sp>
        </mc:Choice>
        <mc:Fallback xmlns="">
          <p:sp>
            <p:nvSpPr>
              <p:cNvPr id="91" name="CuadroTexto 90">
                <a:extLst>
                  <a:ext uri="{FF2B5EF4-FFF2-40B4-BE49-F238E27FC236}">
                    <a16:creationId xmlns:a16="http://schemas.microsoft.com/office/drawing/2014/main" id="{86D22166-D8EE-45CE-AEAB-0327F5B7230C}"/>
                  </a:ext>
                </a:extLst>
              </p:cNvPr>
              <p:cNvSpPr txBox="1">
                <a:spLocks noRot="1" noChangeAspect="1" noMove="1" noResize="1" noEditPoints="1" noAdjustHandles="1" noChangeArrowheads="1" noChangeShapeType="1" noTextEdit="1"/>
              </p:cNvSpPr>
              <p:nvPr/>
            </p:nvSpPr>
            <p:spPr>
              <a:xfrm>
                <a:off x="4070022" y="2242477"/>
                <a:ext cx="184731" cy="184666"/>
              </a:xfrm>
              <a:prstGeom prst="rect">
                <a:avLst/>
              </a:prstGeom>
              <a:blipFill>
                <a:blip r:embed="rId10"/>
                <a:stretch>
                  <a:fillRect l="-13333" r="-3333" b="-10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92" name="CuadroTexto 91">
                <a:extLst>
                  <a:ext uri="{FF2B5EF4-FFF2-40B4-BE49-F238E27FC236}">
                    <a16:creationId xmlns:a16="http://schemas.microsoft.com/office/drawing/2014/main" id="{67333791-8F16-4277-93CB-DB857270FAD7}"/>
                  </a:ext>
                </a:extLst>
              </p:cNvPr>
              <p:cNvSpPr txBox="1"/>
              <p:nvPr/>
            </p:nvSpPr>
            <p:spPr>
              <a:xfrm>
                <a:off x="4031870" y="2774403"/>
                <a:ext cx="28700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𝑇𝑓𝑐</m:t>
                      </m:r>
                    </m:oMath>
                  </m:oMathPara>
                </a14:m>
                <a:endParaRPr lang="es-CO" sz="1200" dirty="0"/>
              </a:p>
            </p:txBody>
          </p:sp>
        </mc:Choice>
        <mc:Fallback xmlns="">
          <p:sp>
            <p:nvSpPr>
              <p:cNvPr id="92" name="CuadroTexto 91">
                <a:extLst>
                  <a:ext uri="{FF2B5EF4-FFF2-40B4-BE49-F238E27FC236}">
                    <a16:creationId xmlns:a16="http://schemas.microsoft.com/office/drawing/2014/main" id="{67333791-8F16-4277-93CB-DB857270FAD7}"/>
                  </a:ext>
                </a:extLst>
              </p:cNvPr>
              <p:cNvSpPr txBox="1">
                <a:spLocks noRot="1" noChangeAspect="1" noMove="1" noResize="1" noEditPoints="1" noAdjustHandles="1" noChangeArrowheads="1" noChangeShapeType="1" noTextEdit="1"/>
              </p:cNvSpPr>
              <p:nvPr/>
            </p:nvSpPr>
            <p:spPr>
              <a:xfrm>
                <a:off x="4031870" y="2774403"/>
                <a:ext cx="287002" cy="184666"/>
              </a:xfrm>
              <a:prstGeom prst="rect">
                <a:avLst/>
              </a:prstGeom>
              <a:blipFill>
                <a:blip r:embed="rId11"/>
                <a:stretch>
                  <a:fillRect l="-19149" t="-3333" r="-19149" b="-3333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93" name="CuadroTexto 92">
                <a:extLst>
                  <a:ext uri="{FF2B5EF4-FFF2-40B4-BE49-F238E27FC236}">
                    <a16:creationId xmlns:a16="http://schemas.microsoft.com/office/drawing/2014/main" id="{5D349F7A-F390-47C7-B34B-9176C95479F3}"/>
                  </a:ext>
                </a:extLst>
              </p:cNvPr>
              <p:cNvSpPr txBox="1"/>
              <p:nvPr/>
            </p:nvSpPr>
            <p:spPr>
              <a:xfrm>
                <a:off x="4067938" y="3572292"/>
                <a:ext cx="192425"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𝑆𝑐</m:t>
                      </m:r>
                    </m:oMath>
                  </m:oMathPara>
                </a14:m>
                <a:endParaRPr lang="es-CO" sz="1200" dirty="0"/>
              </a:p>
            </p:txBody>
          </p:sp>
        </mc:Choice>
        <mc:Fallback xmlns="">
          <p:sp>
            <p:nvSpPr>
              <p:cNvPr id="93" name="CuadroTexto 92">
                <a:extLst>
                  <a:ext uri="{FF2B5EF4-FFF2-40B4-BE49-F238E27FC236}">
                    <a16:creationId xmlns:a16="http://schemas.microsoft.com/office/drawing/2014/main" id="{5D349F7A-F390-47C7-B34B-9176C95479F3}"/>
                  </a:ext>
                </a:extLst>
              </p:cNvPr>
              <p:cNvSpPr txBox="1">
                <a:spLocks noRot="1" noChangeAspect="1" noMove="1" noResize="1" noEditPoints="1" noAdjustHandles="1" noChangeArrowheads="1" noChangeShapeType="1" noTextEdit="1"/>
              </p:cNvSpPr>
              <p:nvPr/>
            </p:nvSpPr>
            <p:spPr>
              <a:xfrm>
                <a:off x="4067938" y="3572292"/>
                <a:ext cx="192425" cy="184666"/>
              </a:xfrm>
              <a:prstGeom prst="rect">
                <a:avLst/>
              </a:prstGeom>
              <a:blipFill>
                <a:blip r:embed="rId12"/>
                <a:stretch>
                  <a:fillRect l="-18750" r="-15625" b="-6667"/>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94" name="CuadroTexto 93">
                <a:extLst>
                  <a:ext uri="{FF2B5EF4-FFF2-40B4-BE49-F238E27FC236}">
                    <a16:creationId xmlns:a16="http://schemas.microsoft.com/office/drawing/2014/main" id="{E332D206-63C9-4E95-9E04-7DCB24EA1C8D}"/>
                  </a:ext>
                </a:extLst>
              </p:cNvPr>
              <p:cNvSpPr txBox="1"/>
              <p:nvPr/>
            </p:nvSpPr>
            <p:spPr>
              <a:xfrm>
                <a:off x="4047901" y="2508440"/>
                <a:ext cx="24372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𝑖𝑓𝑐</m:t>
                      </m:r>
                    </m:oMath>
                  </m:oMathPara>
                </a14:m>
                <a:endParaRPr lang="es-CO" sz="1200" dirty="0"/>
              </a:p>
            </p:txBody>
          </p:sp>
        </mc:Choice>
        <mc:Fallback xmlns="">
          <p:sp>
            <p:nvSpPr>
              <p:cNvPr id="94" name="CuadroTexto 93">
                <a:extLst>
                  <a:ext uri="{FF2B5EF4-FFF2-40B4-BE49-F238E27FC236}">
                    <a16:creationId xmlns:a16="http://schemas.microsoft.com/office/drawing/2014/main" id="{E332D206-63C9-4E95-9E04-7DCB24EA1C8D}"/>
                  </a:ext>
                </a:extLst>
              </p:cNvPr>
              <p:cNvSpPr txBox="1">
                <a:spLocks noRot="1" noChangeAspect="1" noMove="1" noResize="1" noEditPoints="1" noAdjustHandles="1" noChangeArrowheads="1" noChangeShapeType="1" noTextEdit="1"/>
              </p:cNvSpPr>
              <p:nvPr/>
            </p:nvSpPr>
            <p:spPr>
              <a:xfrm>
                <a:off x="4047901" y="2508440"/>
                <a:ext cx="243721" cy="184666"/>
              </a:xfrm>
              <a:prstGeom prst="rect">
                <a:avLst/>
              </a:prstGeom>
              <a:blipFill>
                <a:blip r:embed="rId13"/>
                <a:stretch>
                  <a:fillRect l="-22500" t="-3226" r="-22500" b="-29032"/>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95" name="CuadroTexto 94">
                <a:extLst>
                  <a:ext uri="{FF2B5EF4-FFF2-40B4-BE49-F238E27FC236}">
                    <a16:creationId xmlns:a16="http://schemas.microsoft.com/office/drawing/2014/main" id="{E7BEED46-3B21-4B8F-AC25-C962244AF413}"/>
                  </a:ext>
                </a:extLst>
              </p:cNvPr>
              <p:cNvSpPr txBox="1"/>
              <p:nvPr/>
            </p:nvSpPr>
            <p:spPr>
              <a:xfrm>
                <a:off x="4096536" y="5445261"/>
                <a:ext cx="115608"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𝑒</m:t>
                      </m:r>
                    </m:oMath>
                  </m:oMathPara>
                </a14:m>
                <a:endParaRPr lang="es-CO" sz="1200" dirty="0"/>
              </a:p>
            </p:txBody>
          </p:sp>
        </mc:Choice>
        <mc:Fallback xmlns="">
          <p:sp>
            <p:nvSpPr>
              <p:cNvPr id="95" name="CuadroTexto 94">
                <a:extLst>
                  <a:ext uri="{FF2B5EF4-FFF2-40B4-BE49-F238E27FC236}">
                    <a16:creationId xmlns:a16="http://schemas.microsoft.com/office/drawing/2014/main" id="{E7BEED46-3B21-4B8F-AC25-C962244AF413}"/>
                  </a:ext>
                </a:extLst>
              </p:cNvPr>
              <p:cNvSpPr txBox="1">
                <a:spLocks noRot="1" noChangeAspect="1" noMove="1" noResize="1" noEditPoints="1" noAdjustHandles="1" noChangeArrowheads="1" noChangeShapeType="1" noTextEdit="1"/>
              </p:cNvSpPr>
              <p:nvPr/>
            </p:nvSpPr>
            <p:spPr>
              <a:xfrm>
                <a:off x="4096536" y="5445261"/>
                <a:ext cx="115608" cy="184666"/>
              </a:xfrm>
              <a:prstGeom prst="rect">
                <a:avLst/>
              </a:prstGeom>
              <a:blipFill>
                <a:blip r:embed="rId14"/>
                <a:stretch>
                  <a:fillRect l="-15789" r="-15789"/>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96" name="CuadroTexto 95">
                <a:extLst>
                  <a:ext uri="{FF2B5EF4-FFF2-40B4-BE49-F238E27FC236}">
                    <a16:creationId xmlns:a16="http://schemas.microsoft.com/office/drawing/2014/main" id="{6A1640CF-3047-4361-8CD2-8821BB2E0C29}"/>
                  </a:ext>
                </a:extLst>
              </p:cNvPr>
              <p:cNvSpPr txBox="1"/>
              <p:nvPr/>
            </p:nvSpPr>
            <p:spPr>
              <a:xfrm>
                <a:off x="4059667" y="4370181"/>
                <a:ext cx="21339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𝑅𝑒</m:t>
                      </m:r>
                    </m:oMath>
                  </m:oMathPara>
                </a14:m>
                <a:endParaRPr lang="es-CO" sz="1200" dirty="0"/>
              </a:p>
            </p:txBody>
          </p:sp>
        </mc:Choice>
        <mc:Fallback xmlns="">
          <p:sp>
            <p:nvSpPr>
              <p:cNvPr id="96" name="CuadroTexto 95">
                <a:extLst>
                  <a:ext uri="{FF2B5EF4-FFF2-40B4-BE49-F238E27FC236}">
                    <a16:creationId xmlns:a16="http://schemas.microsoft.com/office/drawing/2014/main" id="{6A1640CF-3047-4361-8CD2-8821BB2E0C29}"/>
                  </a:ext>
                </a:extLst>
              </p:cNvPr>
              <p:cNvSpPr txBox="1">
                <a:spLocks noRot="1" noChangeAspect="1" noMove="1" noResize="1" noEditPoints="1" noAdjustHandles="1" noChangeArrowheads="1" noChangeShapeType="1" noTextEdit="1"/>
              </p:cNvSpPr>
              <p:nvPr/>
            </p:nvSpPr>
            <p:spPr>
              <a:xfrm>
                <a:off x="4059667" y="4370181"/>
                <a:ext cx="213392" cy="184666"/>
              </a:xfrm>
              <a:prstGeom prst="rect">
                <a:avLst/>
              </a:prstGeom>
              <a:blipFill>
                <a:blip r:embed="rId15"/>
                <a:stretch>
                  <a:fillRect l="-17143" r="-14286" b="-6667"/>
                </a:stretch>
              </a:blipFill>
            </p:spPr>
            <p:txBody>
              <a:bodyPr/>
              <a:lstStyle/>
              <a:p>
                <a:r>
                  <a:rPr lang="es-CO">
                    <a:noFill/>
                  </a:rPr>
                  <a:t> </a:t>
                </a:r>
              </a:p>
            </p:txBody>
          </p:sp>
        </mc:Fallback>
      </mc:AlternateContent>
      <p:sp>
        <p:nvSpPr>
          <p:cNvPr id="29" name="CuadroTexto 28">
            <a:extLst>
              <a:ext uri="{FF2B5EF4-FFF2-40B4-BE49-F238E27FC236}">
                <a16:creationId xmlns:a16="http://schemas.microsoft.com/office/drawing/2014/main" id="{C3652E7E-118C-42FD-9A5E-0FB856AB167A}"/>
              </a:ext>
            </a:extLst>
          </p:cNvPr>
          <p:cNvSpPr txBox="1"/>
          <p:nvPr/>
        </p:nvSpPr>
        <p:spPr>
          <a:xfrm>
            <a:off x="4062039" y="5703218"/>
            <a:ext cx="7045574" cy="646331"/>
          </a:xfrm>
          <a:prstGeom prst="rect">
            <a:avLst/>
          </a:prstGeom>
          <a:noFill/>
        </p:spPr>
        <p:txBody>
          <a:bodyPr wrap="square">
            <a:spAutoFit/>
          </a:bodyPr>
          <a:lstStyle/>
          <a:p>
            <a:r>
              <a:rPr lang="en" sz="1200" b="1" dirty="0"/>
              <a:t>Figure XX:  </a:t>
            </a:r>
            <a:r>
              <a:rPr lang="es-CO" sz="1200" dirty="0" err="1"/>
              <a:t>Sobol</a:t>
            </a:r>
            <a:r>
              <a:rPr lang="es-CO" sz="1200" dirty="0"/>
              <a:t> </a:t>
            </a:r>
            <a:r>
              <a:rPr lang="es-CO" sz="1200" dirty="0" err="1"/>
              <a:t>sensitivity</a:t>
            </a:r>
            <a:r>
              <a:rPr lang="es-CO" sz="1200" dirty="0"/>
              <a:t> </a:t>
            </a:r>
            <a:r>
              <a:rPr lang="es-CO" sz="1200" dirty="0" err="1"/>
              <a:t>indices</a:t>
            </a:r>
            <a:r>
              <a:rPr lang="es-CO" sz="1200" dirty="0"/>
              <a:t> </a:t>
            </a:r>
            <a:r>
              <a:rPr lang="es-CO" sz="1200" dirty="0" err="1"/>
              <a:t>for</a:t>
            </a:r>
            <a:r>
              <a:rPr lang="es-CO" sz="1200" dirty="0"/>
              <a:t> </a:t>
            </a:r>
            <a:r>
              <a:rPr lang="es-CO" sz="1200" dirty="0" err="1"/>
              <a:t>the</a:t>
            </a:r>
            <a:r>
              <a:rPr lang="es-CO" sz="1200" dirty="0"/>
              <a:t> </a:t>
            </a:r>
            <a:r>
              <a:rPr lang="es-CO" sz="1200" dirty="0" err="1"/>
              <a:t>Activation</a:t>
            </a:r>
            <a:r>
              <a:rPr lang="es-CO" sz="1200" dirty="0"/>
              <a:t> </a:t>
            </a:r>
            <a:r>
              <a:rPr lang="es-CO" sz="1200" dirty="0" err="1"/>
              <a:t>region</a:t>
            </a:r>
            <a:r>
              <a:rPr lang="es-CO" sz="1200" dirty="0"/>
              <a:t> </a:t>
            </a:r>
            <a:r>
              <a:rPr lang="es-CO" sz="1200" dirty="0" err="1"/>
              <a:t>based</a:t>
            </a:r>
            <a:r>
              <a:rPr lang="es-CO" sz="1200" dirty="0"/>
              <a:t> </a:t>
            </a:r>
            <a:r>
              <a:rPr lang="es-CO" sz="1200" dirty="0" err="1"/>
              <a:t>on</a:t>
            </a:r>
            <a:r>
              <a:rPr lang="es-CO" sz="1200" dirty="0"/>
              <a:t> </a:t>
            </a:r>
            <a:r>
              <a:rPr lang="es-CO" sz="1200" dirty="0" err="1"/>
              <a:t>the</a:t>
            </a:r>
            <a:r>
              <a:rPr lang="es-CO" sz="1200" dirty="0"/>
              <a:t> </a:t>
            </a:r>
            <a:r>
              <a:rPr lang="es-CO" sz="1200" dirty="0" err="1"/>
              <a:t>XGBoost</a:t>
            </a:r>
            <a:r>
              <a:rPr lang="es-CO" sz="1200" dirty="0"/>
              <a:t> </a:t>
            </a:r>
            <a:r>
              <a:rPr lang="es-CO" sz="1200" dirty="0" err="1"/>
              <a:t>model</a:t>
            </a:r>
            <a:r>
              <a:rPr lang="es-CO" sz="1200" dirty="0"/>
              <a:t>, </a:t>
            </a:r>
            <a:r>
              <a:rPr lang="es-CO" sz="1200" dirty="0" err="1"/>
              <a:t>showing</a:t>
            </a:r>
            <a:r>
              <a:rPr lang="es-CO" sz="1200" dirty="0"/>
              <a:t> </a:t>
            </a:r>
            <a:r>
              <a:rPr lang="es-CO" sz="1200" dirty="0" err="1"/>
              <a:t>first-order</a:t>
            </a:r>
            <a:r>
              <a:rPr lang="es-CO" sz="1200" dirty="0"/>
              <a:t> (S1), total-</a:t>
            </a:r>
            <a:r>
              <a:rPr lang="es-CO" sz="1200" dirty="0" err="1"/>
              <a:t>order</a:t>
            </a:r>
            <a:r>
              <a:rPr lang="es-CO" sz="1200" dirty="0"/>
              <a:t> (ST), and </a:t>
            </a:r>
            <a:r>
              <a:rPr lang="es-CO" sz="1200" dirty="0" err="1"/>
              <a:t>second-order</a:t>
            </a:r>
            <a:r>
              <a:rPr lang="es-CO" sz="1200" dirty="0"/>
              <a:t> (S2) </a:t>
            </a:r>
            <a:r>
              <a:rPr lang="es-CO" sz="1200" dirty="0" err="1"/>
              <a:t>effects</a:t>
            </a:r>
            <a:r>
              <a:rPr lang="es-CO" sz="1200" dirty="0"/>
              <a:t> </a:t>
            </a:r>
            <a:r>
              <a:rPr lang="es-CO" sz="1200" dirty="0" err="1"/>
              <a:t>with</a:t>
            </a:r>
            <a:r>
              <a:rPr lang="es-CO" sz="1200" dirty="0"/>
              <a:t> </a:t>
            </a:r>
            <a:r>
              <a:rPr lang="es-CO" sz="1200" dirty="0" err="1"/>
              <a:t>confidence</a:t>
            </a:r>
            <a:r>
              <a:rPr lang="es-CO" sz="1200" dirty="0"/>
              <a:t> </a:t>
            </a:r>
            <a:r>
              <a:rPr lang="es-CO" sz="1200" dirty="0" err="1"/>
              <a:t>intervals</a:t>
            </a:r>
            <a:r>
              <a:rPr lang="es-CO" sz="1200" dirty="0"/>
              <a:t>. </a:t>
            </a:r>
            <a:r>
              <a:rPr lang="es-CO" sz="1200" dirty="0" err="1"/>
              <a:t>Parameters</a:t>
            </a:r>
            <a:r>
              <a:rPr lang="es-CO" sz="1200" dirty="0"/>
              <a:t> i0_ref, </a:t>
            </a:r>
            <a:r>
              <a:rPr lang="es-CO" sz="1200" dirty="0" err="1"/>
              <a:t>κ_c</a:t>
            </a:r>
            <a:r>
              <a:rPr lang="es-CO" sz="1200" dirty="0"/>
              <a:t>, and </a:t>
            </a:r>
            <a:r>
              <a:rPr lang="es-CO" sz="1200" dirty="0" err="1"/>
              <a:t>ifc</a:t>
            </a:r>
            <a:r>
              <a:rPr lang="es-CO" sz="1200" dirty="0"/>
              <a:t> </a:t>
            </a:r>
            <a:r>
              <a:rPr lang="es-CO" sz="1200" dirty="0" err="1"/>
              <a:t>exhibit</a:t>
            </a:r>
            <a:r>
              <a:rPr lang="es-CO" sz="1200" dirty="0"/>
              <a:t> </a:t>
            </a:r>
            <a:r>
              <a:rPr lang="es-CO" sz="1200" dirty="0" err="1"/>
              <a:t>the</a:t>
            </a:r>
            <a:r>
              <a:rPr lang="es-CO" sz="1200" dirty="0"/>
              <a:t> </a:t>
            </a:r>
            <a:r>
              <a:rPr lang="es-CO" sz="1200" dirty="0" err="1"/>
              <a:t>highest</a:t>
            </a:r>
            <a:r>
              <a:rPr lang="es-CO" sz="1200" dirty="0"/>
              <a:t> </a:t>
            </a:r>
            <a:r>
              <a:rPr lang="es-CO" sz="1200" dirty="0" err="1"/>
              <a:t>influence</a:t>
            </a:r>
            <a:r>
              <a:rPr lang="es-CO" sz="1200" dirty="0"/>
              <a:t> </a:t>
            </a:r>
            <a:r>
              <a:rPr lang="es-CO" sz="1200" dirty="0" err="1"/>
              <a:t>on</a:t>
            </a:r>
            <a:r>
              <a:rPr lang="es-CO" sz="1200" dirty="0"/>
              <a:t> </a:t>
            </a:r>
            <a:r>
              <a:rPr lang="es-CO" sz="1200" dirty="0" err="1"/>
              <a:t>model</a:t>
            </a:r>
            <a:r>
              <a:rPr lang="es-CO" sz="1200" dirty="0"/>
              <a:t> output.</a:t>
            </a:r>
          </a:p>
        </p:txBody>
      </p:sp>
    </p:spTree>
    <p:extLst>
      <p:ext uri="{BB962C8B-B14F-4D97-AF65-F5344CB8AC3E}">
        <p14:creationId xmlns:p14="http://schemas.microsoft.com/office/powerpoint/2010/main" val="19990277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1077218"/>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ST</a:t>
            </a:r>
            <a:endParaRPr lang="es-CO" sz="3600" dirty="0"/>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34</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21" name="Google Shape;453;g36edeb4292e_1_43">
            <a:extLst>
              <a:ext uri="{FF2B5EF4-FFF2-40B4-BE49-F238E27FC236}">
                <a16:creationId xmlns:a16="http://schemas.microsoft.com/office/drawing/2014/main" id="{F2A4A3F0-A046-4B84-ACAE-67C7026FA800}"/>
              </a:ext>
            </a:extLst>
          </p:cNvPr>
          <p:cNvSpPr/>
          <p:nvPr/>
        </p:nvSpPr>
        <p:spPr>
          <a:xfrm>
            <a:off x="893443" y="2909918"/>
            <a:ext cx="1192800" cy="295200"/>
          </a:xfrm>
          <a:prstGeom prst="roundRect">
            <a:avLst>
              <a:gd name="adj" fmla="val 50000"/>
            </a:avLst>
          </a:prstGeom>
          <a:solidFill>
            <a:srgbClr val="BBE555"/>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prstClr val="black"/>
                </a:solidFill>
                <a:latin typeface="Source Sans Pro" panose="020B0503030403020204" pitchFamily="34" charset="0"/>
                <a:ea typeface="Source Sans Pro" panose="020B0503030403020204" pitchFamily="34" charset="0"/>
                <a:sym typeface="Fira Sans Extra Condensed"/>
              </a:rPr>
              <a:t>Activation</a:t>
            </a:r>
            <a:endParaRPr sz="1600" b="1" dirty="0">
              <a:solidFill>
                <a:prstClr val="black"/>
              </a:solidFill>
              <a:latin typeface="Source Sans Pro" panose="020B0503030403020204" pitchFamily="34" charset="0"/>
              <a:ea typeface="Source Sans Pro" panose="020B0503030403020204" pitchFamily="34" charset="0"/>
              <a:sym typeface="Arial"/>
            </a:endParaRP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 name="Imagen 2">
            <a:extLst>
              <a:ext uri="{FF2B5EF4-FFF2-40B4-BE49-F238E27FC236}">
                <a16:creationId xmlns:a16="http://schemas.microsoft.com/office/drawing/2014/main" id="{B8CF9720-0724-4470-91C9-15B532190848}"/>
              </a:ext>
            </a:extLst>
          </p:cNvPr>
          <p:cNvPicPr>
            <a:picLocks noChangeAspect="1"/>
          </p:cNvPicPr>
          <p:nvPr/>
        </p:nvPicPr>
        <p:blipFill>
          <a:blip r:embed="rId3"/>
          <a:stretch>
            <a:fillRect/>
          </a:stretch>
        </p:blipFill>
        <p:spPr>
          <a:xfrm>
            <a:off x="3158195" y="943947"/>
            <a:ext cx="8557387" cy="5089575"/>
          </a:xfrm>
          <a:prstGeom prst="rect">
            <a:avLst/>
          </a:prstGeom>
        </p:spPr>
      </p:pic>
      <p:grpSp>
        <p:nvGrpSpPr>
          <p:cNvPr id="9" name="Grupo 8">
            <a:extLst>
              <a:ext uri="{FF2B5EF4-FFF2-40B4-BE49-F238E27FC236}">
                <a16:creationId xmlns:a16="http://schemas.microsoft.com/office/drawing/2014/main" id="{752AB792-1AB4-4DC8-A1DE-A936E7BA5E88}"/>
              </a:ext>
            </a:extLst>
          </p:cNvPr>
          <p:cNvGrpSpPr/>
          <p:nvPr/>
        </p:nvGrpSpPr>
        <p:grpSpPr>
          <a:xfrm>
            <a:off x="11030630" y="1295490"/>
            <a:ext cx="569970" cy="2338575"/>
            <a:chOff x="10903308" y="1295490"/>
            <a:chExt cx="569970" cy="2338575"/>
          </a:xfrm>
        </p:grpSpPr>
        <p:sp>
          <p:nvSpPr>
            <p:cNvPr id="62" name="Rectángulo 61">
              <a:extLst>
                <a:ext uri="{FF2B5EF4-FFF2-40B4-BE49-F238E27FC236}">
                  <a16:creationId xmlns:a16="http://schemas.microsoft.com/office/drawing/2014/main" id="{5ACB8813-EC56-4327-9560-7072AE81192F}"/>
                </a:ext>
              </a:extLst>
            </p:cNvPr>
            <p:cNvSpPr/>
            <p:nvPr/>
          </p:nvSpPr>
          <p:spPr>
            <a:xfrm>
              <a:off x="10903308" y="1329689"/>
              <a:ext cx="569970" cy="227753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s-CO" dirty="0"/>
            </a:p>
          </p:txBody>
        </p:sp>
        <mc:AlternateContent xmlns:mc="http://schemas.openxmlformats.org/markup-compatibility/2006" xmlns:a14="http://schemas.microsoft.com/office/drawing/2010/main">
          <mc:Choice Requires="a14">
            <p:sp>
              <p:nvSpPr>
                <p:cNvPr id="63" name="CuadroTexto 62">
                  <a:extLst>
                    <a:ext uri="{FF2B5EF4-FFF2-40B4-BE49-F238E27FC236}">
                      <a16:creationId xmlns:a16="http://schemas.microsoft.com/office/drawing/2014/main" id="{267F1AB6-9D1B-40C9-9EBE-67663A7462C9}"/>
                    </a:ext>
                  </a:extLst>
                </p:cNvPr>
                <p:cNvSpPr txBox="1"/>
                <p:nvPr/>
              </p:nvSpPr>
              <p:spPr>
                <a:xfrm>
                  <a:off x="10982628" y="1972001"/>
                  <a:ext cx="30950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𝑃𝑎</m:t>
                            </m:r>
                          </m:e>
                          <m:sub>
                            <m:r>
                              <a:rPr lang="es-ES" sz="900" b="0" i="1" smtClean="0">
                                <a:latin typeface="Cambria Math" panose="02040503050406030204" pitchFamily="18" charset="0"/>
                              </a:rPr>
                              <m:t>𝑑𝑒𝑠</m:t>
                            </m:r>
                          </m:sub>
                        </m:sSub>
                      </m:oMath>
                    </m:oMathPara>
                  </a14:m>
                  <a:endParaRPr lang="es-CO" sz="900" dirty="0"/>
                </a:p>
              </p:txBody>
            </p:sp>
          </mc:Choice>
          <mc:Fallback xmlns="">
            <p:sp>
              <p:nvSpPr>
                <p:cNvPr id="63" name="CuadroTexto 62">
                  <a:extLst>
                    <a:ext uri="{FF2B5EF4-FFF2-40B4-BE49-F238E27FC236}">
                      <a16:creationId xmlns:a16="http://schemas.microsoft.com/office/drawing/2014/main" id="{267F1AB6-9D1B-40C9-9EBE-67663A7462C9}"/>
                    </a:ext>
                  </a:extLst>
                </p:cNvPr>
                <p:cNvSpPr txBox="1">
                  <a:spLocks noRot="1" noChangeAspect="1" noMove="1" noResize="1" noEditPoints="1" noAdjustHandles="1" noChangeArrowheads="1" noChangeShapeType="1" noTextEdit="1"/>
                </p:cNvSpPr>
                <p:nvPr/>
              </p:nvSpPr>
              <p:spPr>
                <a:xfrm>
                  <a:off x="10982628" y="1972001"/>
                  <a:ext cx="309508" cy="138499"/>
                </a:xfrm>
                <a:prstGeom prst="rect">
                  <a:avLst/>
                </a:prstGeom>
                <a:blipFill>
                  <a:blip r:embed="rId4"/>
                  <a:stretch>
                    <a:fillRect l="-9804" r="-3922" b="-17391"/>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64" name="CuadroTexto 63">
                  <a:extLst>
                    <a:ext uri="{FF2B5EF4-FFF2-40B4-BE49-F238E27FC236}">
                      <a16:creationId xmlns:a16="http://schemas.microsoft.com/office/drawing/2014/main" id="{AB0492B2-58E1-476D-BF0E-1CA2EABD299C}"/>
                    </a:ext>
                  </a:extLst>
                </p:cNvPr>
                <p:cNvSpPr txBox="1"/>
                <p:nvPr/>
              </p:nvSpPr>
              <p:spPr>
                <a:xfrm>
                  <a:off x="10958853" y="2992433"/>
                  <a:ext cx="29508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𝜙</m:t>
                            </m:r>
                          </m:e>
                          <m:sub>
                            <m:r>
                              <a:rPr lang="es-ES" sz="900" b="0" i="1" smtClean="0">
                                <a:latin typeface="Cambria Math" panose="02040503050406030204" pitchFamily="18" charset="0"/>
                              </a:rPr>
                              <m:t>𝑐𝑑𝑒𝑠</m:t>
                            </m:r>
                          </m:sub>
                        </m:sSub>
                      </m:oMath>
                    </m:oMathPara>
                  </a14:m>
                  <a:endParaRPr lang="es-CO" sz="900" dirty="0"/>
                </a:p>
              </p:txBody>
            </p:sp>
          </mc:Choice>
          <mc:Fallback xmlns="">
            <p:sp>
              <p:nvSpPr>
                <p:cNvPr id="64" name="CuadroTexto 63">
                  <a:extLst>
                    <a:ext uri="{FF2B5EF4-FFF2-40B4-BE49-F238E27FC236}">
                      <a16:creationId xmlns:a16="http://schemas.microsoft.com/office/drawing/2014/main" id="{AB0492B2-58E1-476D-BF0E-1CA2EABD299C}"/>
                    </a:ext>
                  </a:extLst>
                </p:cNvPr>
                <p:cNvSpPr txBox="1">
                  <a:spLocks noRot="1" noChangeAspect="1" noMove="1" noResize="1" noEditPoints="1" noAdjustHandles="1" noChangeArrowheads="1" noChangeShapeType="1" noTextEdit="1"/>
                </p:cNvSpPr>
                <p:nvPr/>
              </p:nvSpPr>
              <p:spPr>
                <a:xfrm>
                  <a:off x="10958853" y="2992433"/>
                  <a:ext cx="295081" cy="138499"/>
                </a:xfrm>
                <a:prstGeom prst="rect">
                  <a:avLst/>
                </a:prstGeom>
                <a:blipFill>
                  <a:blip r:embed="rId5"/>
                  <a:stretch>
                    <a:fillRect l="-14583" r="-6250" b="-3478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65" name="CuadroTexto 64">
                  <a:extLst>
                    <a:ext uri="{FF2B5EF4-FFF2-40B4-BE49-F238E27FC236}">
                      <a16:creationId xmlns:a16="http://schemas.microsoft.com/office/drawing/2014/main" id="{64CD3A81-9ECD-4EBD-AF2D-380020380477}"/>
                    </a:ext>
                  </a:extLst>
                </p:cNvPr>
                <p:cNvSpPr txBox="1"/>
                <p:nvPr/>
              </p:nvSpPr>
              <p:spPr>
                <a:xfrm>
                  <a:off x="10975461" y="3307955"/>
                  <a:ext cx="223971" cy="1497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𝑔𝑑𝑙</m:t>
                            </m:r>
                          </m:sub>
                        </m:sSub>
                      </m:oMath>
                    </m:oMathPara>
                  </a14:m>
                  <a:endParaRPr lang="es-CO" sz="900" dirty="0"/>
                </a:p>
              </p:txBody>
            </p:sp>
          </mc:Choice>
          <mc:Fallback xmlns="">
            <p:sp>
              <p:nvSpPr>
                <p:cNvPr id="65" name="CuadroTexto 64">
                  <a:extLst>
                    <a:ext uri="{FF2B5EF4-FFF2-40B4-BE49-F238E27FC236}">
                      <a16:creationId xmlns:a16="http://schemas.microsoft.com/office/drawing/2014/main" id="{64CD3A81-9ECD-4EBD-AF2D-380020380477}"/>
                    </a:ext>
                  </a:extLst>
                </p:cNvPr>
                <p:cNvSpPr txBox="1">
                  <a:spLocks noRot="1" noChangeAspect="1" noMove="1" noResize="1" noEditPoints="1" noAdjustHandles="1" noChangeArrowheads="1" noChangeShapeType="1" noTextEdit="1"/>
                </p:cNvSpPr>
                <p:nvPr/>
              </p:nvSpPr>
              <p:spPr>
                <a:xfrm>
                  <a:off x="10975461" y="3307955"/>
                  <a:ext cx="223971" cy="149721"/>
                </a:xfrm>
                <a:prstGeom prst="rect">
                  <a:avLst/>
                </a:prstGeom>
                <a:blipFill>
                  <a:blip r:embed="rId6"/>
                  <a:stretch>
                    <a:fillRect l="-8108" r="-8108" b="-29167"/>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66" name="CuadroTexto 65">
                  <a:extLst>
                    <a:ext uri="{FF2B5EF4-FFF2-40B4-BE49-F238E27FC236}">
                      <a16:creationId xmlns:a16="http://schemas.microsoft.com/office/drawing/2014/main" id="{76A9B451-F317-484B-BA14-5B4AFB975E40}"/>
                    </a:ext>
                  </a:extLst>
                </p:cNvPr>
                <p:cNvSpPr txBox="1"/>
                <p:nvPr/>
              </p:nvSpPr>
              <p:spPr>
                <a:xfrm>
                  <a:off x="10969483" y="2651111"/>
                  <a:ext cx="209480"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𝑚𝑐</m:t>
                            </m:r>
                          </m:sub>
                        </m:sSub>
                      </m:oMath>
                    </m:oMathPara>
                  </a14:m>
                  <a:endParaRPr lang="es-CO" sz="900" dirty="0"/>
                </a:p>
              </p:txBody>
            </p:sp>
          </mc:Choice>
          <mc:Fallback xmlns="">
            <p:sp>
              <p:nvSpPr>
                <p:cNvPr id="66" name="CuadroTexto 65">
                  <a:extLst>
                    <a:ext uri="{FF2B5EF4-FFF2-40B4-BE49-F238E27FC236}">
                      <a16:creationId xmlns:a16="http://schemas.microsoft.com/office/drawing/2014/main" id="{76A9B451-F317-484B-BA14-5B4AFB975E40}"/>
                    </a:ext>
                  </a:extLst>
                </p:cNvPr>
                <p:cNvSpPr txBox="1">
                  <a:spLocks noRot="1" noChangeAspect="1" noMove="1" noResize="1" noEditPoints="1" noAdjustHandles="1" noChangeArrowheads="1" noChangeShapeType="1" noTextEdit="1"/>
                </p:cNvSpPr>
                <p:nvPr/>
              </p:nvSpPr>
              <p:spPr>
                <a:xfrm>
                  <a:off x="10969483" y="2651111"/>
                  <a:ext cx="209480" cy="138499"/>
                </a:xfrm>
                <a:prstGeom prst="rect">
                  <a:avLst/>
                </a:prstGeom>
                <a:blipFill>
                  <a:blip r:embed="rId7"/>
                  <a:stretch>
                    <a:fillRect l="-8571" b="-1304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67" name="CuadroTexto 66">
                  <a:extLst>
                    <a:ext uri="{FF2B5EF4-FFF2-40B4-BE49-F238E27FC236}">
                      <a16:creationId xmlns:a16="http://schemas.microsoft.com/office/drawing/2014/main" id="{C0E0F14F-FE71-472A-A1FE-F777F90E765D}"/>
                    </a:ext>
                  </a:extLst>
                </p:cNvPr>
                <p:cNvSpPr txBox="1"/>
                <p:nvPr/>
              </p:nvSpPr>
              <p:spPr>
                <a:xfrm>
                  <a:off x="10982307" y="3156200"/>
                  <a:ext cx="130933"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𝑐</m:t>
                            </m:r>
                          </m:sub>
                        </m:sSub>
                      </m:oMath>
                    </m:oMathPara>
                  </a14:m>
                  <a:endParaRPr lang="es-CO" sz="900" dirty="0"/>
                </a:p>
              </p:txBody>
            </p:sp>
          </mc:Choice>
          <mc:Fallback xmlns="">
            <p:sp>
              <p:nvSpPr>
                <p:cNvPr id="67" name="CuadroTexto 66">
                  <a:extLst>
                    <a:ext uri="{FF2B5EF4-FFF2-40B4-BE49-F238E27FC236}">
                      <a16:creationId xmlns:a16="http://schemas.microsoft.com/office/drawing/2014/main" id="{C0E0F14F-FE71-472A-A1FE-F777F90E765D}"/>
                    </a:ext>
                  </a:extLst>
                </p:cNvPr>
                <p:cNvSpPr txBox="1">
                  <a:spLocks noRot="1" noChangeAspect="1" noMove="1" noResize="1" noEditPoints="1" noAdjustHandles="1" noChangeArrowheads="1" noChangeShapeType="1" noTextEdit="1"/>
                </p:cNvSpPr>
                <p:nvPr/>
              </p:nvSpPr>
              <p:spPr>
                <a:xfrm>
                  <a:off x="10982307" y="3156200"/>
                  <a:ext cx="130933" cy="138499"/>
                </a:xfrm>
                <a:prstGeom prst="rect">
                  <a:avLst/>
                </a:prstGeom>
                <a:blipFill>
                  <a:blip r:embed="rId8"/>
                  <a:stretch>
                    <a:fillRect l="-13636" b="-18182"/>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68" name="CuadroTexto 67">
                  <a:extLst>
                    <a:ext uri="{FF2B5EF4-FFF2-40B4-BE49-F238E27FC236}">
                      <a16:creationId xmlns:a16="http://schemas.microsoft.com/office/drawing/2014/main" id="{AD2952EC-CADE-4F6F-9CC4-3528A352EE0A}"/>
                    </a:ext>
                  </a:extLst>
                </p:cNvPr>
                <p:cNvSpPr txBox="1"/>
                <p:nvPr/>
              </p:nvSpPr>
              <p:spPr>
                <a:xfrm>
                  <a:off x="10982628" y="2481978"/>
                  <a:ext cx="8104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𝜏</m:t>
                        </m:r>
                      </m:oMath>
                    </m:oMathPara>
                  </a14:m>
                  <a:endParaRPr lang="es-CO" sz="900" dirty="0"/>
                </a:p>
              </p:txBody>
            </p:sp>
          </mc:Choice>
          <mc:Fallback xmlns="">
            <p:sp>
              <p:nvSpPr>
                <p:cNvPr id="68" name="CuadroTexto 67">
                  <a:extLst>
                    <a:ext uri="{FF2B5EF4-FFF2-40B4-BE49-F238E27FC236}">
                      <a16:creationId xmlns:a16="http://schemas.microsoft.com/office/drawing/2014/main" id="{AD2952EC-CADE-4F6F-9CC4-3528A352EE0A}"/>
                    </a:ext>
                  </a:extLst>
                </p:cNvPr>
                <p:cNvSpPr txBox="1">
                  <a:spLocks noRot="1" noChangeAspect="1" noMove="1" noResize="1" noEditPoints="1" noAdjustHandles="1" noChangeArrowheads="1" noChangeShapeType="1" noTextEdit="1"/>
                </p:cNvSpPr>
                <p:nvPr/>
              </p:nvSpPr>
              <p:spPr>
                <a:xfrm>
                  <a:off x="10982628" y="2481978"/>
                  <a:ext cx="81048" cy="138499"/>
                </a:xfrm>
                <a:prstGeom prst="rect">
                  <a:avLst/>
                </a:prstGeom>
                <a:blipFill>
                  <a:blip r:embed="rId9"/>
                  <a:stretch>
                    <a:fillRect l="-21429" r="-14286"/>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69" name="CuadroTexto 68">
                  <a:extLst>
                    <a:ext uri="{FF2B5EF4-FFF2-40B4-BE49-F238E27FC236}">
                      <a16:creationId xmlns:a16="http://schemas.microsoft.com/office/drawing/2014/main" id="{FDD430FD-FAD3-4D96-AC7B-40B98DC8D104}"/>
                    </a:ext>
                  </a:extLst>
                </p:cNvPr>
                <p:cNvSpPr txBox="1"/>
                <p:nvPr/>
              </p:nvSpPr>
              <p:spPr>
                <a:xfrm>
                  <a:off x="10977941" y="1295490"/>
                  <a:ext cx="341568" cy="1495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𝑖</m:t>
                            </m:r>
                            <m:r>
                              <a:rPr lang="es-ES" sz="900" b="0" i="1" smtClean="0">
                                <a:latin typeface="Cambria Math" panose="02040503050406030204" pitchFamily="18" charset="0"/>
                              </a:rPr>
                              <m:t>0</m:t>
                            </m:r>
                          </m:e>
                          <m:sub>
                            <m:r>
                              <a:rPr lang="es-ES" sz="900" b="0" i="1" smtClean="0">
                                <a:latin typeface="Cambria Math" panose="02040503050406030204" pitchFamily="18" charset="0"/>
                              </a:rPr>
                              <m:t>𝑐</m:t>
                            </m:r>
                            <m:r>
                              <a:rPr lang="es-ES" sz="900" b="0" i="1" smtClean="0">
                                <a:latin typeface="Cambria Math" panose="02040503050406030204" pitchFamily="18" charset="0"/>
                              </a:rPr>
                              <m:t> </m:t>
                            </m:r>
                            <m:r>
                              <a:rPr lang="es-ES" sz="900" b="0" i="1" smtClean="0">
                                <a:latin typeface="Cambria Math" panose="02040503050406030204" pitchFamily="18" charset="0"/>
                              </a:rPr>
                              <m:t>𝑟𝑒𝑓</m:t>
                            </m:r>
                          </m:sub>
                        </m:sSub>
                      </m:oMath>
                    </m:oMathPara>
                  </a14:m>
                  <a:endParaRPr lang="es-CO" sz="900" dirty="0"/>
                </a:p>
              </p:txBody>
            </p:sp>
          </mc:Choice>
          <mc:Fallback xmlns="">
            <p:sp>
              <p:nvSpPr>
                <p:cNvPr id="69" name="CuadroTexto 68">
                  <a:extLst>
                    <a:ext uri="{FF2B5EF4-FFF2-40B4-BE49-F238E27FC236}">
                      <a16:creationId xmlns:a16="http://schemas.microsoft.com/office/drawing/2014/main" id="{FDD430FD-FAD3-4D96-AC7B-40B98DC8D104}"/>
                    </a:ext>
                  </a:extLst>
                </p:cNvPr>
                <p:cNvSpPr txBox="1">
                  <a:spLocks noRot="1" noChangeAspect="1" noMove="1" noResize="1" noEditPoints="1" noAdjustHandles="1" noChangeArrowheads="1" noChangeShapeType="1" noTextEdit="1"/>
                </p:cNvSpPr>
                <p:nvPr/>
              </p:nvSpPr>
              <p:spPr>
                <a:xfrm>
                  <a:off x="10977941" y="1295490"/>
                  <a:ext cx="341568" cy="149528"/>
                </a:xfrm>
                <a:prstGeom prst="rect">
                  <a:avLst/>
                </a:prstGeom>
                <a:blipFill>
                  <a:blip r:embed="rId10"/>
                  <a:stretch>
                    <a:fillRect l="-8929" r="-3571" b="-2800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70" name="CuadroTexto 69">
                  <a:extLst>
                    <a:ext uri="{FF2B5EF4-FFF2-40B4-BE49-F238E27FC236}">
                      <a16:creationId xmlns:a16="http://schemas.microsoft.com/office/drawing/2014/main" id="{2E2185EB-023D-40C4-A168-047D7819C39A}"/>
                    </a:ext>
                  </a:extLst>
                </p:cNvPr>
                <p:cNvSpPr txBox="1"/>
                <p:nvPr/>
              </p:nvSpPr>
              <p:spPr>
                <a:xfrm>
                  <a:off x="10974445" y="2132213"/>
                  <a:ext cx="18780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𝜅</m:t>
                            </m:r>
                          </m:e>
                          <m:sub>
                            <m:r>
                              <a:rPr lang="es-ES" sz="900" b="0" i="1" smtClean="0">
                                <a:latin typeface="Cambria Math" panose="02040503050406030204" pitchFamily="18" charset="0"/>
                              </a:rPr>
                              <m:t>𝑐𝑜</m:t>
                            </m:r>
                          </m:sub>
                        </m:sSub>
                      </m:oMath>
                    </m:oMathPara>
                  </a14:m>
                  <a:endParaRPr lang="es-CO" sz="900" dirty="0"/>
                </a:p>
              </p:txBody>
            </p:sp>
          </mc:Choice>
          <mc:Fallback xmlns="">
            <p:sp>
              <p:nvSpPr>
                <p:cNvPr id="70" name="CuadroTexto 69">
                  <a:extLst>
                    <a:ext uri="{FF2B5EF4-FFF2-40B4-BE49-F238E27FC236}">
                      <a16:creationId xmlns:a16="http://schemas.microsoft.com/office/drawing/2014/main" id="{2E2185EB-023D-40C4-A168-047D7819C39A}"/>
                    </a:ext>
                  </a:extLst>
                </p:cNvPr>
                <p:cNvSpPr txBox="1">
                  <a:spLocks noRot="1" noChangeAspect="1" noMove="1" noResize="1" noEditPoints="1" noAdjustHandles="1" noChangeArrowheads="1" noChangeShapeType="1" noTextEdit="1"/>
                </p:cNvSpPr>
                <p:nvPr/>
              </p:nvSpPr>
              <p:spPr>
                <a:xfrm>
                  <a:off x="10974445" y="2132213"/>
                  <a:ext cx="187808" cy="138499"/>
                </a:xfrm>
                <a:prstGeom prst="rect">
                  <a:avLst/>
                </a:prstGeom>
                <a:blipFill>
                  <a:blip r:embed="rId11"/>
                  <a:stretch>
                    <a:fillRect l="-9677" b="-18182"/>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71" name="CuadroTexto 70">
                  <a:extLst>
                    <a:ext uri="{FF2B5EF4-FFF2-40B4-BE49-F238E27FC236}">
                      <a16:creationId xmlns:a16="http://schemas.microsoft.com/office/drawing/2014/main" id="{EDC03CC7-FD8A-4F95-884D-48FFC30DCCC0}"/>
                    </a:ext>
                  </a:extLst>
                </p:cNvPr>
                <p:cNvSpPr txBox="1"/>
                <p:nvPr/>
              </p:nvSpPr>
              <p:spPr>
                <a:xfrm>
                  <a:off x="10985815" y="1456336"/>
                  <a:ext cx="138949"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𝜅</m:t>
                            </m:r>
                          </m:e>
                          <m:sub>
                            <m:r>
                              <a:rPr lang="es-ES" sz="900" b="0" i="1" smtClean="0">
                                <a:latin typeface="Cambria Math" panose="02040503050406030204" pitchFamily="18" charset="0"/>
                              </a:rPr>
                              <m:t>𝑐</m:t>
                            </m:r>
                          </m:sub>
                        </m:sSub>
                      </m:oMath>
                    </m:oMathPara>
                  </a14:m>
                  <a:endParaRPr lang="es-CO" sz="900" dirty="0"/>
                </a:p>
              </p:txBody>
            </p:sp>
          </mc:Choice>
          <mc:Fallback xmlns="">
            <p:sp>
              <p:nvSpPr>
                <p:cNvPr id="71" name="CuadroTexto 70">
                  <a:extLst>
                    <a:ext uri="{FF2B5EF4-FFF2-40B4-BE49-F238E27FC236}">
                      <a16:creationId xmlns:a16="http://schemas.microsoft.com/office/drawing/2014/main" id="{EDC03CC7-FD8A-4F95-884D-48FFC30DCCC0}"/>
                    </a:ext>
                  </a:extLst>
                </p:cNvPr>
                <p:cNvSpPr txBox="1">
                  <a:spLocks noRot="1" noChangeAspect="1" noMove="1" noResize="1" noEditPoints="1" noAdjustHandles="1" noChangeArrowheads="1" noChangeShapeType="1" noTextEdit="1"/>
                </p:cNvSpPr>
                <p:nvPr/>
              </p:nvSpPr>
              <p:spPr>
                <a:xfrm>
                  <a:off x="10985815" y="1456336"/>
                  <a:ext cx="138949" cy="138499"/>
                </a:xfrm>
                <a:prstGeom prst="rect">
                  <a:avLst/>
                </a:prstGeom>
                <a:blipFill>
                  <a:blip r:embed="rId12"/>
                  <a:stretch>
                    <a:fillRect l="-13043" b="-1304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72" name="CuadroTexto 71">
                  <a:extLst>
                    <a:ext uri="{FF2B5EF4-FFF2-40B4-BE49-F238E27FC236}">
                      <a16:creationId xmlns:a16="http://schemas.microsoft.com/office/drawing/2014/main" id="{A4E1F230-5736-42F9-A501-99EC2CB00ABB}"/>
                    </a:ext>
                  </a:extLst>
                </p:cNvPr>
                <p:cNvSpPr txBox="1"/>
                <p:nvPr/>
              </p:nvSpPr>
              <p:spPr>
                <a:xfrm>
                  <a:off x="10972575" y="1816764"/>
                  <a:ext cx="215252"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𝑇𝑓𝑐</m:t>
                        </m:r>
                      </m:oMath>
                    </m:oMathPara>
                  </a14:m>
                  <a:endParaRPr lang="es-CO" sz="900" dirty="0"/>
                </a:p>
              </p:txBody>
            </p:sp>
          </mc:Choice>
          <mc:Fallback xmlns="">
            <p:sp>
              <p:nvSpPr>
                <p:cNvPr id="72" name="CuadroTexto 71">
                  <a:extLst>
                    <a:ext uri="{FF2B5EF4-FFF2-40B4-BE49-F238E27FC236}">
                      <a16:creationId xmlns:a16="http://schemas.microsoft.com/office/drawing/2014/main" id="{A4E1F230-5736-42F9-A501-99EC2CB00ABB}"/>
                    </a:ext>
                  </a:extLst>
                </p:cNvPr>
                <p:cNvSpPr txBox="1">
                  <a:spLocks noRot="1" noChangeAspect="1" noMove="1" noResize="1" noEditPoints="1" noAdjustHandles="1" noChangeArrowheads="1" noChangeShapeType="1" noTextEdit="1"/>
                </p:cNvSpPr>
                <p:nvPr/>
              </p:nvSpPr>
              <p:spPr>
                <a:xfrm>
                  <a:off x="10972575" y="1816764"/>
                  <a:ext cx="215252" cy="138499"/>
                </a:xfrm>
                <a:prstGeom prst="rect">
                  <a:avLst/>
                </a:prstGeom>
                <a:blipFill>
                  <a:blip r:embed="rId13"/>
                  <a:stretch>
                    <a:fillRect l="-20000" r="-17143" b="-3478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73" name="CuadroTexto 72">
                  <a:extLst>
                    <a:ext uri="{FF2B5EF4-FFF2-40B4-BE49-F238E27FC236}">
                      <a16:creationId xmlns:a16="http://schemas.microsoft.com/office/drawing/2014/main" id="{232881F5-4525-42C8-BCFD-B9A0398006CA}"/>
                    </a:ext>
                  </a:extLst>
                </p:cNvPr>
                <p:cNvSpPr txBox="1"/>
                <p:nvPr/>
              </p:nvSpPr>
              <p:spPr>
                <a:xfrm>
                  <a:off x="10972575" y="2327009"/>
                  <a:ext cx="143116"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𝑆𝑐</m:t>
                        </m:r>
                      </m:oMath>
                    </m:oMathPara>
                  </a14:m>
                  <a:endParaRPr lang="es-CO" sz="900" dirty="0"/>
                </a:p>
              </p:txBody>
            </p:sp>
          </mc:Choice>
          <mc:Fallback xmlns="">
            <p:sp>
              <p:nvSpPr>
                <p:cNvPr id="73" name="CuadroTexto 72">
                  <a:extLst>
                    <a:ext uri="{FF2B5EF4-FFF2-40B4-BE49-F238E27FC236}">
                      <a16:creationId xmlns:a16="http://schemas.microsoft.com/office/drawing/2014/main" id="{232881F5-4525-42C8-BCFD-B9A0398006CA}"/>
                    </a:ext>
                  </a:extLst>
                </p:cNvPr>
                <p:cNvSpPr txBox="1">
                  <a:spLocks noRot="1" noChangeAspect="1" noMove="1" noResize="1" noEditPoints="1" noAdjustHandles="1" noChangeArrowheads="1" noChangeShapeType="1" noTextEdit="1"/>
                </p:cNvSpPr>
                <p:nvPr/>
              </p:nvSpPr>
              <p:spPr>
                <a:xfrm>
                  <a:off x="10972575" y="2327009"/>
                  <a:ext cx="143116" cy="138499"/>
                </a:xfrm>
                <a:prstGeom prst="rect">
                  <a:avLst/>
                </a:prstGeom>
                <a:blipFill>
                  <a:blip r:embed="rId14"/>
                  <a:stretch>
                    <a:fillRect l="-21739" r="-21739" b="-13636"/>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74" name="CuadroTexto 73">
                  <a:extLst>
                    <a:ext uri="{FF2B5EF4-FFF2-40B4-BE49-F238E27FC236}">
                      <a16:creationId xmlns:a16="http://schemas.microsoft.com/office/drawing/2014/main" id="{346F945E-10A2-4DD2-A551-B041351A47EC}"/>
                    </a:ext>
                  </a:extLst>
                </p:cNvPr>
                <p:cNvSpPr txBox="1"/>
                <p:nvPr/>
              </p:nvSpPr>
              <p:spPr>
                <a:xfrm>
                  <a:off x="10982628" y="1644066"/>
                  <a:ext cx="18319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𝑖𝑓𝑐</m:t>
                        </m:r>
                      </m:oMath>
                    </m:oMathPara>
                  </a14:m>
                  <a:endParaRPr lang="es-CO" sz="900" dirty="0"/>
                </a:p>
              </p:txBody>
            </p:sp>
          </mc:Choice>
          <mc:Fallback xmlns="">
            <p:sp>
              <p:nvSpPr>
                <p:cNvPr id="74" name="CuadroTexto 73">
                  <a:extLst>
                    <a:ext uri="{FF2B5EF4-FFF2-40B4-BE49-F238E27FC236}">
                      <a16:creationId xmlns:a16="http://schemas.microsoft.com/office/drawing/2014/main" id="{346F945E-10A2-4DD2-A551-B041351A47EC}"/>
                    </a:ext>
                  </a:extLst>
                </p:cNvPr>
                <p:cNvSpPr txBox="1">
                  <a:spLocks noRot="1" noChangeAspect="1" noMove="1" noResize="1" noEditPoints="1" noAdjustHandles="1" noChangeArrowheads="1" noChangeShapeType="1" noTextEdit="1"/>
                </p:cNvSpPr>
                <p:nvPr/>
              </p:nvSpPr>
              <p:spPr>
                <a:xfrm>
                  <a:off x="10982628" y="1644066"/>
                  <a:ext cx="183191" cy="138499"/>
                </a:xfrm>
                <a:prstGeom prst="rect">
                  <a:avLst/>
                </a:prstGeom>
                <a:blipFill>
                  <a:blip r:embed="rId15"/>
                  <a:stretch>
                    <a:fillRect l="-22581" r="-16129" b="-40909"/>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75" name="CuadroTexto 74">
                  <a:extLst>
                    <a:ext uri="{FF2B5EF4-FFF2-40B4-BE49-F238E27FC236}">
                      <a16:creationId xmlns:a16="http://schemas.microsoft.com/office/drawing/2014/main" id="{67CF0A76-9260-48E6-A13E-9CA5AF30F0DA}"/>
                    </a:ext>
                  </a:extLst>
                </p:cNvPr>
                <p:cNvSpPr txBox="1"/>
                <p:nvPr/>
              </p:nvSpPr>
              <p:spPr>
                <a:xfrm>
                  <a:off x="10977755" y="3495566"/>
                  <a:ext cx="8592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𝑒</m:t>
                        </m:r>
                      </m:oMath>
                    </m:oMathPara>
                  </a14:m>
                  <a:endParaRPr lang="es-CO" sz="900" dirty="0"/>
                </a:p>
              </p:txBody>
            </p:sp>
          </mc:Choice>
          <mc:Fallback xmlns="">
            <p:sp>
              <p:nvSpPr>
                <p:cNvPr id="75" name="CuadroTexto 74">
                  <a:extLst>
                    <a:ext uri="{FF2B5EF4-FFF2-40B4-BE49-F238E27FC236}">
                      <a16:creationId xmlns:a16="http://schemas.microsoft.com/office/drawing/2014/main" id="{67CF0A76-9260-48E6-A13E-9CA5AF30F0DA}"/>
                    </a:ext>
                  </a:extLst>
                </p:cNvPr>
                <p:cNvSpPr txBox="1">
                  <a:spLocks noRot="1" noChangeAspect="1" noMove="1" noResize="1" noEditPoints="1" noAdjustHandles="1" noChangeArrowheads="1" noChangeShapeType="1" noTextEdit="1"/>
                </p:cNvSpPr>
                <p:nvPr/>
              </p:nvSpPr>
              <p:spPr>
                <a:xfrm>
                  <a:off x="10977755" y="3495566"/>
                  <a:ext cx="85921" cy="138499"/>
                </a:xfrm>
                <a:prstGeom prst="rect">
                  <a:avLst/>
                </a:prstGeom>
                <a:blipFill>
                  <a:blip r:embed="rId16"/>
                  <a:stretch>
                    <a:fillRect l="-21429" r="-14286"/>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76" name="CuadroTexto 75">
                  <a:extLst>
                    <a:ext uri="{FF2B5EF4-FFF2-40B4-BE49-F238E27FC236}">
                      <a16:creationId xmlns:a16="http://schemas.microsoft.com/office/drawing/2014/main" id="{8B1428FA-134B-476D-8F3C-678BE5C0E1E4}"/>
                    </a:ext>
                  </a:extLst>
                </p:cNvPr>
                <p:cNvSpPr txBox="1"/>
                <p:nvPr/>
              </p:nvSpPr>
              <p:spPr>
                <a:xfrm>
                  <a:off x="10973537" y="2824776"/>
                  <a:ext cx="159659"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𝑅𝑒</m:t>
                        </m:r>
                      </m:oMath>
                    </m:oMathPara>
                  </a14:m>
                  <a:endParaRPr lang="es-CO" sz="900" dirty="0"/>
                </a:p>
              </p:txBody>
            </p:sp>
          </mc:Choice>
          <mc:Fallback xmlns="">
            <p:sp>
              <p:nvSpPr>
                <p:cNvPr id="76" name="CuadroTexto 75">
                  <a:extLst>
                    <a:ext uri="{FF2B5EF4-FFF2-40B4-BE49-F238E27FC236}">
                      <a16:creationId xmlns:a16="http://schemas.microsoft.com/office/drawing/2014/main" id="{8B1428FA-134B-476D-8F3C-678BE5C0E1E4}"/>
                    </a:ext>
                  </a:extLst>
                </p:cNvPr>
                <p:cNvSpPr txBox="1">
                  <a:spLocks noRot="1" noChangeAspect="1" noMove="1" noResize="1" noEditPoints="1" noAdjustHandles="1" noChangeArrowheads="1" noChangeShapeType="1" noTextEdit="1"/>
                </p:cNvSpPr>
                <p:nvPr/>
              </p:nvSpPr>
              <p:spPr>
                <a:xfrm>
                  <a:off x="10973537" y="2824776"/>
                  <a:ext cx="159659" cy="138499"/>
                </a:xfrm>
                <a:prstGeom prst="rect">
                  <a:avLst/>
                </a:prstGeom>
                <a:blipFill>
                  <a:blip r:embed="rId17"/>
                  <a:stretch>
                    <a:fillRect l="-19231" r="-15385" b="-8696"/>
                  </a:stretch>
                </a:blipFill>
              </p:spPr>
              <p:txBody>
                <a:bodyPr/>
                <a:lstStyle/>
                <a:p>
                  <a:r>
                    <a:rPr lang="es-CO">
                      <a:noFill/>
                    </a:rPr>
                    <a:t> </a:t>
                  </a:r>
                </a:p>
              </p:txBody>
            </p:sp>
          </mc:Fallback>
        </mc:AlternateContent>
      </p:grpSp>
      <p:sp>
        <p:nvSpPr>
          <p:cNvPr id="77" name="CuadroTexto 76">
            <a:extLst>
              <a:ext uri="{FF2B5EF4-FFF2-40B4-BE49-F238E27FC236}">
                <a16:creationId xmlns:a16="http://schemas.microsoft.com/office/drawing/2014/main" id="{780D9CC7-D777-45F3-A749-30B5C18B48F3}"/>
              </a:ext>
            </a:extLst>
          </p:cNvPr>
          <p:cNvSpPr txBox="1"/>
          <p:nvPr/>
        </p:nvSpPr>
        <p:spPr>
          <a:xfrm>
            <a:off x="907097" y="3429000"/>
            <a:ext cx="2358291" cy="1384995"/>
          </a:xfrm>
          <a:prstGeom prst="rect">
            <a:avLst/>
          </a:prstGeom>
          <a:noFill/>
        </p:spPr>
        <p:txBody>
          <a:bodyPr wrap="square">
            <a:spAutoFit/>
          </a:bodyPr>
          <a:lstStyle/>
          <a:p>
            <a:r>
              <a:rPr lang="es-CO" sz="1400" dirty="0"/>
              <a:t>N = 8.192</a:t>
            </a:r>
          </a:p>
          <a:p>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245,760 configurations</a:t>
            </a:r>
            <a:endParaRPr lang="es-CO" sz="1400" b="1" dirty="0"/>
          </a:p>
          <a:p>
            <a:r>
              <a:rPr lang="es-CO" sz="1400" dirty="0"/>
              <a:t>Sum S1 = 0.9547</a:t>
            </a:r>
          </a:p>
          <a:p>
            <a:r>
              <a:rPr lang="es-CO" sz="1400" dirty="0"/>
              <a:t>Sum S2 = 0.0830</a:t>
            </a:r>
          </a:p>
          <a:p>
            <a:r>
              <a:rPr lang="es-CO" sz="1400" dirty="0"/>
              <a:t>Sum S1 + S2 = 1.0377</a:t>
            </a:r>
          </a:p>
          <a:p>
            <a:r>
              <a:rPr lang="es-CO" sz="1400" dirty="0"/>
              <a:t>Sum ST = 1.0665</a:t>
            </a:r>
          </a:p>
        </p:txBody>
      </p:sp>
      <p:sp>
        <p:nvSpPr>
          <p:cNvPr id="29" name="CuadroTexto 28">
            <a:extLst>
              <a:ext uri="{FF2B5EF4-FFF2-40B4-BE49-F238E27FC236}">
                <a16:creationId xmlns:a16="http://schemas.microsoft.com/office/drawing/2014/main" id="{7CE4640A-1ED6-4C0F-8710-167B4A86E956}"/>
              </a:ext>
            </a:extLst>
          </p:cNvPr>
          <p:cNvSpPr txBox="1"/>
          <p:nvPr/>
        </p:nvSpPr>
        <p:spPr>
          <a:xfrm>
            <a:off x="4050510" y="5884952"/>
            <a:ext cx="6431636" cy="646331"/>
          </a:xfrm>
          <a:prstGeom prst="rect">
            <a:avLst/>
          </a:prstGeom>
          <a:noFill/>
        </p:spPr>
        <p:txBody>
          <a:bodyPr wrap="square">
            <a:spAutoFit/>
          </a:bodyPr>
          <a:lstStyle/>
          <a:p>
            <a:r>
              <a:rPr lang="en" sz="1200" b="1" dirty="0"/>
              <a:t>Figure XX:  </a:t>
            </a:r>
            <a:r>
              <a:rPr lang="es-CO" sz="1200" dirty="0" err="1"/>
              <a:t>Convergence</a:t>
            </a:r>
            <a:r>
              <a:rPr lang="es-CO" sz="1200" dirty="0"/>
              <a:t> </a:t>
            </a:r>
            <a:r>
              <a:rPr lang="es-CO" sz="1200" dirty="0" err="1"/>
              <a:t>of</a:t>
            </a:r>
            <a:r>
              <a:rPr lang="es-CO" sz="1200" dirty="0"/>
              <a:t> total-</a:t>
            </a:r>
            <a:r>
              <a:rPr lang="es-CO" sz="1200" dirty="0" err="1"/>
              <a:t>order</a:t>
            </a:r>
            <a:r>
              <a:rPr lang="es-CO" sz="1200" dirty="0"/>
              <a:t> (ST) </a:t>
            </a:r>
            <a:r>
              <a:rPr lang="es-CO" sz="1200" dirty="0" err="1"/>
              <a:t>Sobol</a:t>
            </a:r>
            <a:r>
              <a:rPr lang="es-CO" sz="1200" dirty="0"/>
              <a:t> </a:t>
            </a:r>
            <a:r>
              <a:rPr lang="es-CO" sz="1200" dirty="0" err="1"/>
              <a:t>indices</a:t>
            </a:r>
            <a:r>
              <a:rPr lang="es-CO" sz="1200" dirty="0"/>
              <a:t> </a:t>
            </a:r>
            <a:r>
              <a:rPr lang="es-CO" sz="1200" dirty="0" err="1"/>
              <a:t>for</a:t>
            </a:r>
            <a:r>
              <a:rPr lang="es-CO" sz="1200" dirty="0"/>
              <a:t> </a:t>
            </a:r>
            <a:r>
              <a:rPr lang="es-CO" sz="1200" dirty="0" err="1"/>
              <a:t>features</a:t>
            </a:r>
            <a:r>
              <a:rPr lang="es-CO" sz="1200" dirty="0"/>
              <a:t> in </a:t>
            </a:r>
            <a:r>
              <a:rPr lang="es-CO" sz="1200" dirty="0" err="1"/>
              <a:t>the</a:t>
            </a:r>
            <a:r>
              <a:rPr lang="es-CO" sz="1200" dirty="0"/>
              <a:t> </a:t>
            </a:r>
            <a:r>
              <a:rPr lang="es-CO" sz="1200" dirty="0" err="1"/>
              <a:t>Activation</a:t>
            </a:r>
            <a:r>
              <a:rPr lang="es-CO" sz="1200" dirty="0"/>
              <a:t> </a:t>
            </a:r>
            <a:r>
              <a:rPr lang="es-CO" sz="1200" dirty="0" err="1"/>
              <a:t>region</a:t>
            </a:r>
            <a:r>
              <a:rPr lang="es-CO" sz="1200" dirty="0"/>
              <a:t> </a:t>
            </a:r>
            <a:r>
              <a:rPr lang="es-CO" sz="1200" dirty="0" err="1"/>
              <a:t>across</a:t>
            </a:r>
            <a:r>
              <a:rPr lang="es-CO" sz="1200" dirty="0"/>
              <a:t> </a:t>
            </a:r>
            <a:r>
              <a:rPr lang="es-CO" sz="1200" dirty="0" err="1"/>
              <a:t>increasing</a:t>
            </a:r>
            <a:r>
              <a:rPr lang="es-CO" sz="1200" dirty="0"/>
              <a:t> </a:t>
            </a:r>
            <a:r>
              <a:rPr lang="es-CO" sz="1200" dirty="0" err="1"/>
              <a:t>sample</a:t>
            </a:r>
            <a:r>
              <a:rPr lang="es-CO" sz="1200" dirty="0"/>
              <a:t> </a:t>
            </a:r>
            <a:r>
              <a:rPr lang="es-CO" sz="1200" dirty="0" err="1"/>
              <a:t>sizes</a:t>
            </a:r>
            <a:r>
              <a:rPr lang="es-CO" sz="1200" dirty="0"/>
              <a:t>. </a:t>
            </a:r>
            <a:r>
              <a:rPr lang="es-CO" sz="1200" dirty="0" err="1"/>
              <a:t>The</a:t>
            </a:r>
            <a:r>
              <a:rPr lang="es-CO" sz="1200" dirty="0"/>
              <a:t> </a:t>
            </a:r>
            <a:r>
              <a:rPr lang="es-CO" sz="1200" dirty="0" err="1"/>
              <a:t>indices</a:t>
            </a:r>
            <a:r>
              <a:rPr lang="es-CO" sz="1200" dirty="0"/>
              <a:t> </a:t>
            </a:r>
            <a:r>
              <a:rPr lang="es-CO" sz="1200" dirty="0" err="1"/>
              <a:t>stabilize</a:t>
            </a:r>
            <a:r>
              <a:rPr lang="es-CO" sz="1200" dirty="0"/>
              <a:t> as </a:t>
            </a:r>
            <a:r>
              <a:rPr lang="es-CO" sz="1200" dirty="0" err="1"/>
              <a:t>sample</a:t>
            </a:r>
            <a:r>
              <a:rPr lang="es-CO" sz="1200" dirty="0"/>
              <a:t> </a:t>
            </a:r>
            <a:r>
              <a:rPr lang="es-CO" sz="1200" dirty="0" err="1"/>
              <a:t>size</a:t>
            </a:r>
            <a:r>
              <a:rPr lang="es-CO" sz="1200" dirty="0"/>
              <a:t> </a:t>
            </a:r>
            <a:r>
              <a:rPr lang="es-CO" sz="1200" dirty="0" err="1"/>
              <a:t>grows</a:t>
            </a:r>
            <a:r>
              <a:rPr lang="es-CO" sz="1200" dirty="0"/>
              <a:t>, </a:t>
            </a:r>
            <a:r>
              <a:rPr lang="es-CO" sz="1200" dirty="0" err="1"/>
              <a:t>with</a:t>
            </a:r>
            <a:r>
              <a:rPr lang="es-CO" sz="1200" dirty="0"/>
              <a:t> i0'_c </a:t>
            </a:r>
            <a:r>
              <a:rPr lang="es-CO" sz="1200" dirty="0" err="1"/>
              <a:t>ref</a:t>
            </a:r>
            <a:r>
              <a:rPr lang="es-CO" sz="1200" dirty="0"/>
              <a:t>, </a:t>
            </a:r>
            <a:r>
              <a:rPr lang="es-CO" sz="1200" dirty="0" err="1"/>
              <a:t>κ_c</a:t>
            </a:r>
            <a:r>
              <a:rPr lang="es-CO" sz="1200" dirty="0"/>
              <a:t>, and </a:t>
            </a:r>
            <a:r>
              <a:rPr lang="es-CO" sz="1200" dirty="0" err="1"/>
              <a:t>ifc</a:t>
            </a:r>
            <a:r>
              <a:rPr lang="es-CO" sz="1200" dirty="0"/>
              <a:t> </a:t>
            </a:r>
            <a:r>
              <a:rPr lang="es-CO" sz="1200" dirty="0" err="1"/>
              <a:t>showing</a:t>
            </a:r>
            <a:r>
              <a:rPr lang="es-CO" sz="1200" dirty="0"/>
              <a:t> </a:t>
            </a:r>
            <a:r>
              <a:rPr lang="es-CO" sz="1200" dirty="0" err="1"/>
              <a:t>the</a:t>
            </a:r>
            <a:r>
              <a:rPr lang="es-CO" sz="1200" dirty="0"/>
              <a:t> </a:t>
            </a:r>
            <a:r>
              <a:rPr lang="es-CO" sz="1200" dirty="0" err="1"/>
              <a:t>highest</a:t>
            </a:r>
            <a:r>
              <a:rPr lang="es-CO" sz="1200" dirty="0"/>
              <a:t> total </a:t>
            </a:r>
            <a:r>
              <a:rPr lang="es-CO" sz="1200" dirty="0" err="1"/>
              <a:t>contributions</a:t>
            </a:r>
            <a:r>
              <a:rPr lang="es-CO" sz="1200" dirty="0"/>
              <a:t> </a:t>
            </a:r>
            <a:r>
              <a:rPr lang="es-CO" sz="1200" dirty="0" err="1"/>
              <a:t>to</a:t>
            </a:r>
            <a:r>
              <a:rPr lang="es-CO" sz="1200" dirty="0"/>
              <a:t> output </a:t>
            </a:r>
            <a:r>
              <a:rPr lang="es-CO" sz="1200" dirty="0" err="1"/>
              <a:t>variance</a:t>
            </a:r>
            <a:r>
              <a:rPr lang="es-CO" sz="1200" dirty="0"/>
              <a:t>.</a:t>
            </a:r>
          </a:p>
        </p:txBody>
      </p:sp>
    </p:spTree>
    <p:extLst>
      <p:ext uri="{BB962C8B-B14F-4D97-AF65-F5344CB8AC3E}">
        <p14:creationId xmlns:p14="http://schemas.microsoft.com/office/powerpoint/2010/main" val="13067486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Imagen 14">
            <a:extLst>
              <a:ext uri="{FF2B5EF4-FFF2-40B4-BE49-F238E27FC236}">
                <a16:creationId xmlns:a16="http://schemas.microsoft.com/office/drawing/2014/main" id="{95F39DA7-3ED0-4E6C-A3C1-0D9DF75DC4D4}"/>
              </a:ext>
            </a:extLst>
          </p:cNvPr>
          <p:cNvPicPr>
            <a:picLocks noChangeAspect="1"/>
          </p:cNvPicPr>
          <p:nvPr/>
        </p:nvPicPr>
        <p:blipFill>
          <a:blip r:embed="rId2"/>
          <a:stretch>
            <a:fillRect/>
          </a:stretch>
        </p:blipFill>
        <p:spPr>
          <a:xfrm>
            <a:off x="8053200" y="1828800"/>
            <a:ext cx="4029241" cy="3470400"/>
          </a:xfrm>
          <a:prstGeom prst="rect">
            <a:avLst/>
          </a:prstGeom>
        </p:spPr>
      </p:pic>
      <p:pic>
        <p:nvPicPr>
          <p:cNvPr id="3" name="Imagen 2">
            <a:extLst>
              <a:ext uri="{FF2B5EF4-FFF2-40B4-BE49-F238E27FC236}">
                <a16:creationId xmlns:a16="http://schemas.microsoft.com/office/drawing/2014/main" id="{96DAE3EE-308F-41C1-8DDD-E9BBC20A0C7C}"/>
              </a:ext>
            </a:extLst>
          </p:cNvPr>
          <p:cNvPicPr>
            <a:picLocks noChangeAspect="1"/>
          </p:cNvPicPr>
          <p:nvPr/>
        </p:nvPicPr>
        <p:blipFill>
          <a:blip r:embed="rId3"/>
          <a:stretch>
            <a:fillRect/>
          </a:stretch>
        </p:blipFill>
        <p:spPr>
          <a:xfrm>
            <a:off x="2619969" y="1828800"/>
            <a:ext cx="5431540" cy="3373200"/>
          </a:xfrm>
          <a:prstGeom prst="rect">
            <a:avLst/>
          </a:prstGeom>
        </p:spPr>
      </p:pic>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1508105"/>
          </a:xfrm>
          <a:prstGeom prst="rect">
            <a:avLst/>
          </a:prstGeom>
          <a:noFill/>
        </p:spPr>
        <p:txBody>
          <a:bodyPr wrap="square">
            <a:spAutoFit/>
          </a:bodyPr>
          <a:lstStyle/>
          <a:p>
            <a:r>
              <a:rPr lang="en-US" sz="3200" b="1" dirty="0">
                <a:solidFill>
                  <a:prstClr val="black"/>
                </a:solidFill>
                <a:latin typeface="Source Sans Pro" panose="020B0503030403020204" pitchFamily="34" charset="0"/>
                <a:ea typeface="Source Sans Pro" panose="020B0503030403020204" pitchFamily="34" charset="0"/>
              </a:rPr>
              <a:t>SHAP</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Feature</a:t>
            </a:r>
          </a:p>
          <a:p>
            <a:r>
              <a:rPr lang="en-US" sz="2800" i="1" dirty="0">
                <a:solidFill>
                  <a:prstClr val="black"/>
                </a:solidFill>
                <a:latin typeface="Source Sans Pro Light" panose="020B0403030403020204" pitchFamily="34" charset="0"/>
                <a:ea typeface="Source Sans Pro Light" panose="020B0403030403020204" pitchFamily="34" charset="0"/>
              </a:rPr>
              <a:t>Importance</a:t>
            </a:r>
            <a:endParaRPr lang="es-CO" sz="3600" dirty="0"/>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35</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25" name="CuadroTexto 24">
            <a:extLst>
              <a:ext uri="{FF2B5EF4-FFF2-40B4-BE49-F238E27FC236}">
                <a16:creationId xmlns:a16="http://schemas.microsoft.com/office/drawing/2014/main" id="{DB092F93-DF71-4F57-B7EB-7DC3DD6F69F0}"/>
              </a:ext>
            </a:extLst>
          </p:cNvPr>
          <p:cNvSpPr txBox="1"/>
          <p:nvPr/>
        </p:nvSpPr>
        <p:spPr>
          <a:xfrm>
            <a:off x="9172914" y="1528722"/>
            <a:ext cx="1790071" cy="400110"/>
          </a:xfrm>
          <a:prstGeom prst="rect">
            <a:avLst/>
          </a:prstGeom>
          <a:noFill/>
        </p:spPr>
        <p:txBody>
          <a:bodyPr wrap="square">
            <a:spAutoFit/>
          </a:bodyPr>
          <a:lstStyle/>
          <a:p>
            <a:r>
              <a:rPr lang="es-CO" sz="2000" b="1" dirty="0" err="1">
                <a:solidFill>
                  <a:prstClr val="black"/>
                </a:solidFill>
                <a:latin typeface="Source Sans Pro" panose="020B0503030403020204" pitchFamily="34" charset="0"/>
                <a:ea typeface="Source Sans Pro" panose="020B0503030403020204" pitchFamily="34" charset="0"/>
              </a:rPr>
              <a:t>Summary</a:t>
            </a:r>
            <a:r>
              <a:rPr lang="es-CO" sz="2000" b="1" dirty="0">
                <a:solidFill>
                  <a:prstClr val="black"/>
                </a:solidFill>
                <a:latin typeface="Source Sans Pro" panose="020B0503030403020204" pitchFamily="34" charset="0"/>
                <a:ea typeface="Source Sans Pro" panose="020B0503030403020204" pitchFamily="34" charset="0"/>
              </a:rPr>
              <a:t> </a:t>
            </a:r>
            <a:r>
              <a:rPr lang="es-CO" sz="2000" b="1" dirty="0" err="1">
                <a:solidFill>
                  <a:prstClr val="black"/>
                </a:solidFill>
                <a:latin typeface="Source Sans Pro" panose="020B0503030403020204" pitchFamily="34" charset="0"/>
                <a:ea typeface="Source Sans Pro" panose="020B0503030403020204" pitchFamily="34" charset="0"/>
              </a:rPr>
              <a:t>plot</a:t>
            </a:r>
            <a:r>
              <a:rPr lang="es-CO" sz="2000" b="1" dirty="0">
                <a:solidFill>
                  <a:prstClr val="black"/>
                </a:solidFill>
                <a:latin typeface="Source Sans Pro" panose="020B0503030403020204" pitchFamily="34" charset="0"/>
                <a:ea typeface="Source Sans Pro" panose="020B0503030403020204" pitchFamily="34" charset="0"/>
              </a:rPr>
              <a:t> </a:t>
            </a: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CuadroTexto 26">
            <a:extLst>
              <a:ext uri="{FF2B5EF4-FFF2-40B4-BE49-F238E27FC236}">
                <a16:creationId xmlns:a16="http://schemas.microsoft.com/office/drawing/2014/main" id="{FE181DF9-5FFE-43A4-AE30-75F711D47CF4}"/>
              </a:ext>
            </a:extLst>
          </p:cNvPr>
          <p:cNvSpPr txBox="1"/>
          <p:nvPr/>
        </p:nvSpPr>
        <p:spPr>
          <a:xfrm>
            <a:off x="3942574" y="1528722"/>
            <a:ext cx="2784556" cy="400110"/>
          </a:xfrm>
          <a:prstGeom prst="rect">
            <a:avLst/>
          </a:prstGeom>
          <a:noFill/>
        </p:spPr>
        <p:txBody>
          <a:bodyPr wrap="square">
            <a:spAutoFit/>
          </a:bodyPr>
          <a:lstStyle/>
          <a:p>
            <a:r>
              <a:rPr lang="es-CO" sz="2000" b="1" dirty="0" err="1">
                <a:solidFill>
                  <a:prstClr val="black"/>
                </a:solidFill>
                <a:latin typeface="Source Sans Pro" panose="020B0503030403020204" pitchFamily="34" charset="0"/>
                <a:ea typeface="Source Sans Pro" panose="020B0503030403020204" pitchFamily="34" charset="0"/>
              </a:rPr>
              <a:t>Feature</a:t>
            </a:r>
            <a:r>
              <a:rPr lang="es-CO" sz="2000" b="1" dirty="0">
                <a:solidFill>
                  <a:prstClr val="black"/>
                </a:solidFill>
                <a:latin typeface="Source Sans Pro" panose="020B0503030403020204" pitchFamily="34" charset="0"/>
                <a:ea typeface="Source Sans Pro" panose="020B0503030403020204" pitchFamily="34" charset="0"/>
              </a:rPr>
              <a:t> </a:t>
            </a:r>
            <a:r>
              <a:rPr lang="es-CO" sz="2000" b="1" dirty="0" err="1">
                <a:solidFill>
                  <a:prstClr val="black"/>
                </a:solidFill>
                <a:latin typeface="Source Sans Pro" panose="020B0503030403020204" pitchFamily="34" charset="0"/>
                <a:ea typeface="Source Sans Pro" panose="020B0503030403020204" pitchFamily="34" charset="0"/>
              </a:rPr>
              <a:t>importance</a:t>
            </a:r>
            <a:endParaRPr lang="es-CO" sz="2000" b="1" dirty="0">
              <a:solidFill>
                <a:prstClr val="black"/>
              </a:solidFill>
              <a:latin typeface="Source Sans Pro" panose="020B0503030403020204" pitchFamily="34" charset="0"/>
              <a:ea typeface="Source Sans Pro" panose="020B0503030403020204" pitchFamily="34" charset="0"/>
            </a:endParaRPr>
          </a:p>
        </p:txBody>
      </p:sp>
      <p:grpSp>
        <p:nvGrpSpPr>
          <p:cNvPr id="8" name="Grupo 7">
            <a:extLst>
              <a:ext uri="{FF2B5EF4-FFF2-40B4-BE49-F238E27FC236}">
                <a16:creationId xmlns:a16="http://schemas.microsoft.com/office/drawing/2014/main" id="{436BCDFC-D00E-4F58-99B8-433C72DB0942}"/>
              </a:ext>
            </a:extLst>
          </p:cNvPr>
          <p:cNvGrpSpPr/>
          <p:nvPr/>
        </p:nvGrpSpPr>
        <p:grpSpPr>
          <a:xfrm>
            <a:off x="2688347" y="2124132"/>
            <a:ext cx="450147" cy="2630574"/>
            <a:chOff x="2342907" y="2124132"/>
            <a:chExt cx="450147" cy="2630574"/>
          </a:xfrm>
        </p:grpSpPr>
        <p:sp>
          <p:nvSpPr>
            <p:cNvPr id="42" name="Rectángulo 41">
              <a:extLst>
                <a:ext uri="{FF2B5EF4-FFF2-40B4-BE49-F238E27FC236}">
                  <a16:creationId xmlns:a16="http://schemas.microsoft.com/office/drawing/2014/main" id="{7B6F2F6E-D829-4E01-B66D-A2618AF1E2ED}"/>
                </a:ext>
              </a:extLst>
            </p:cNvPr>
            <p:cNvSpPr/>
            <p:nvPr/>
          </p:nvSpPr>
          <p:spPr>
            <a:xfrm>
              <a:off x="2342907" y="2124132"/>
              <a:ext cx="445008" cy="263057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28" name="CuadroTexto 27">
                  <a:extLst>
                    <a:ext uri="{FF2B5EF4-FFF2-40B4-BE49-F238E27FC236}">
                      <a16:creationId xmlns:a16="http://schemas.microsoft.com/office/drawing/2014/main" id="{B908A331-8854-4027-88FC-18854D73E7E0}"/>
                    </a:ext>
                  </a:extLst>
                </p:cNvPr>
                <p:cNvSpPr txBox="1"/>
                <p:nvPr/>
              </p:nvSpPr>
              <p:spPr>
                <a:xfrm>
                  <a:off x="2414810" y="2470198"/>
                  <a:ext cx="37824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𝑃𝑎</m:t>
                            </m:r>
                          </m:e>
                          <m:sub>
                            <m:r>
                              <a:rPr lang="es-ES" sz="1100" b="0" i="1" smtClean="0">
                                <a:latin typeface="Cambria Math" panose="02040503050406030204" pitchFamily="18" charset="0"/>
                              </a:rPr>
                              <m:t>𝑑𝑒𝑠</m:t>
                            </m:r>
                          </m:sub>
                        </m:sSub>
                      </m:oMath>
                    </m:oMathPara>
                  </a14:m>
                  <a:endParaRPr lang="es-CO" sz="1100" dirty="0"/>
                </a:p>
              </p:txBody>
            </p:sp>
          </mc:Choice>
          <mc:Fallback>
            <p:sp>
              <p:nvSpPr>
                <p:cNvPr id="28" name="CuadroTexto 27">
                  <a:extLst>
                    <a:ext uri="{FF2B5EF4-FFF2-40B4-BE49-F238E27FC236}">
                      <a16:creationId xmlns:a16="http://schemas.microsoft.com/office/drawing/2014/main" id="{B908A331-8854-4027-88FC-18854D73E7E0}"/>
                    </a:ext>
                  </a:extLst>
                </p:cNvPr>
                <p:cNvSpPr txBox="1">
                  <a:spLocks noRot="1" noChangeAspect="1" noMove="1" noResize="1" noEditPoints="1" noAdjustHandles="1" noChangeArrowheads="1" noChangeShapeType="1" noTextEdit="1"/>
                </p:cNvSpPr>
                <p:nvPr/>
              </p:nvSpPr>
              <p:spPr>
                <a:xfrm>
                  <a:off x="2414810" y="2470198"/>
                  <a:ext cx="378244" cy="169277"/>
                </a:xfrm>
                <a:prstGeom prst="rect">
                  <a:avLst/>
                </a:prstGeom>
                <a:blipFill>
                  <a:blip r:embed="rId4"/>
                  <a:stretch>
                    <a:fillRect l="-8065" r="-3226" b="-1785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9" name="CuadroTexto 28">
                  <a:extLst>
                    <a:ext uri="{FF2B5EF4-FFF2-40B4-BE49-F238E27FC236}">
                      <a16:creationId xmlns:a16="http://schemas.microsoft.com/office/drawing/2014/main" id="{C2E78934-9427-4745-A2A2-25EE4537F882}"/>
                    </a:ext>
                  </a:extLst>
                </p:cNvPr>
                <p:cNvSpPr txBox="1"/>
                <p:nvPr/>
              </p:nvSpPr>
              <p:spPr>
                <a:xfrm>
                  <a:off x="2434045" y="3571601"/>
                  <a:ext cx="35900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𝜙</m:t>
                            </m:r>
                          </m:e>
                          <m:sub>
                            <m:r>
                              <a:rPr lang="es-ES" sz="1100" b="0" i="1" smtClean="0">
                                <a:latin typeface="Cambria Math" panose="02040503050406030204" pitchFamily="18" charset="0"/>
                              </a:rPr>
                              <m:t>𝑐𝑑𝑒𝑠</m:t>
                            </m:r>
                          </m:sub>
                        </m:sSub>
                      </m:oMath>
                    </m:oMathPara>
                  </a14:m>
                  <a:endParaRPr lang="es-CO" sz="1100" dirty="0"/>
                </a:p>
              </p:txBody>
            </p:sp>
          </mc:Choice>
          <mc:Fallback>
            <p:sp>
              <p:nvSpPr>
                <p:cNvPr id="29" name="CuadroTexto 28">
                  <a:extLst>
                    <a:ext uri="{FF2B5EF4-FFF2-40B4-BE49-F238E27FC236}">
                      <a16:creationId xmlns:a16="http://schemas.microsoft.com/office/drawing/2014/main" id="{C2E78934-9427-4745-A2A2-25EE4537F882}"/>
                    </a:ext>
                  </a:extLst>
                </p:cNvPr>
                <p:cNvSpPr txBox="1">
                  <a:spLocks noRot="1" noChangeAspect="1" noMove="1" noResize="1" noEditPoints="1" noAdjustHandles="1" noChangeArrowheads="1" noChangeShapeType="1" noTextEdit="1"/>
                </p:cNvSpPr>
                <p:nvPr/>
              </p:nvSpPr>
              <p:spPr>
                <a:xfrm>
                  <a:off x="2434045" y="3571601"/>
                  <a:ext cx="359009" cy="169277"/>
                </a:xfrm>
                <a:prstGeom prst="rect">
                  <a:avLst/>
                </a:prstGeom>
                <a:blipFill>
                  <a:blip r:embed="rId5"/>
                  <a:stretch>
                    <a:fillRect l="-13559" r="-5085"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0" name="CuadroTexto 29">
                  <a:extLst>
                    <a:ext uri="{FF2B5EF4-FFF2-40B4-BE49-F238E27FC236}">
                      <a16:creationId xmlns:a16="http://schemas.microsoft.com/office/drawing/2014/main" id="{98C3A9D2-B915-4A37-9FFC-E459717B2F5D}"/>
                    </a:ext>
                  </a:extLst>
                </p:cNvPr>
                <p:cNvSpPr txBox="1"/>
                <p:nvPr/>
              </p:nvSpPr>
              <p:spPr>
                <a:xfrm>
                  <a:off x="2522018" y="4137275"/>
                  <a:ext cx="271036" cy="182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𝑔𝑑𝑙</m:t>
                            </m:r>
                          </m:sub>
                        </m:sSub>
                      </m:oMath>
                    </m:oMathPara>
                  </a14:m>
                  <a:endParaRPr lang="es-CO" sz="1100" dirty="0"/>
                </a:p>
              </p:txBody>
            </p:sp>
          </mc:Choice>
          <mc:Fallback>
            <p:sp>
              <p:nvSpPr>
                <p:cNvPr id="30" name="CuadroTexto 29">
                  <a:extLst>
                    <a:ext uri="{FF2B5EF4-FFF2-40B4-BE49-F238E27FC236}">
                      <a16:creationId xmlns:a16="http://schemas.microsoft.com/office/drawing/2014/main" id="{98C3A9D2-B915-4A37-9FFC-E459717B2F5D}"/>
                    </a:ext>
                  </a:extLst>
                </p:cNvPr>
                <p:cNvSpPr txBox="1">
                  <a:spLocks noRot="1" noChangeAspect="1" noMove="1" noResize="1" noEditPoints="1" noAdjustHandles="1" noChangeArrowheads="1" noChangeShapeType="1" noTextEdit="1"/>
                </p:cNvSpPr>
                <p:nvPr/>
              </p:nvSpPr>
              <p:spPr>
                <a:xfrm>
                  <a:off x="2522018" y="4137275"/>
                  <a:ext cx="271036" cy="182999"/>
                </a:xfrm>
                <a:prstGeom prst="rect">
                  <a:avLst/>
                </a:prstGeom>
                <a:blipFill>
                  <a:blip r:embed="rId6"/>
                  <a:stretch>
                    <a:fillRect l="-6667" r="-8889"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1" name="CuadroTexto 30">
                  <a:extLst>
                    <a:ext uri="{FF2B5EF4-FFF2-40B4-BE49-F238E27FC236}">
                      <a16:creationId xmlns:a16="http://schemas.microsoft.com/office/drawing/2014/main" id="{EA047C54-2BFC-4269-B72B-64770B085F3A}"/>
                    </a:ext>
                  </a:extLst>
                </p:cNvPr>
                <p:cNvSpPr txBox="1"/>
                <p:nvPr/>
              </p:nvSpPr>
              <p:spPr>
                <a:xfrm>
                  <a:off x="2538689" y="3389126"/>
                  <a:ext cx="25436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𝑚𝑐</m:t>
                            </m:r>
                          </m:sub>
                        </m:sSub>
                      </m:oMath>
                    </m:oMathPara>
                  </a14:m>
                  <a:endParaRPr lang="es-CO" sz="1100" dirty="0"/>
                </a:p>
              </p:txBody>
            </p:sp>
          </mc:Choice>
          <mc:Fallback>
            <p:sp>
              <p:nvSpPr>
                <p:cNvPr id="31" name="CuadroTexto 30">
                  <a:extLst>
                    <a:ext uri="{FF2B5EF4-FFF2-40B4-BE49-F238E27FC236}">
                      <a16:creationId xmlns:a16="http://schemas.microsoft.com/office/drawing/2014/main" id="{EA047C54-2BFC-4269-B72B-64770B085F3A}"/>
                    </a:ext>
                  </a:extLst>
                </p:cNvPr>
                <p:cNvSpPr txBox="1">
                  <a:spLocks noRot="1" noChangeAspect="1" noMove="1" noResize="1" noEditPoints="1" noAdjustHandles="1" noChangeArrowheads="1" noChangeShapeType="1" noTextEdit="1"/>
                </p:cNvSpPr>
                <p:nvPr/>
              </p:nvSpPr>
              <p:spPr>
                <a:xfrm>
                  <a:off x="2538689" y="3389126"/>
                  <a:ext cx="254365" cy="169277"/>
                </a:xfrm>
                <a:prstGeom prst="rect">
                  <a:avLst/>
                </a:prstGeom>
                <a:blipFill>
                  <a:blip r:embed="rId7"/>
                  <a:stretch>
                    <a:fillRect l="-7143" r="-2381"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2" name="CuadroTexto 31">
                  <a:extLst>
                    <a:ext uri="{FF2B5EF4-FFF2-40B4-BE49-F238E27FC236}">
                      <a16:creationId xmlns:a16="http://schemas.microsoft.com/office/drawing/2014/main" id="{1F186997-7A23-4123-A3CB-D6C213AD4F26}"/>
                    </a:ext>
                  </a:extLst>
                </p:cNvPr>
                <p:cNvSpPr txBox="1"/>
                <p:nvPr/>
              </p:nvSpPr>
              <p:spPr>
                <a:xfrm>
                  <a:off x="2634870" y="4346286"/>
                  <a:ext cx="15818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𝑐</m:t>
                            </m:r>
                          </m:sub>
                        </m:sSub>
                      </m:oMath>
                    </m:oMathPara>
                  </a14:m>
                  <a:endParaRPr lang="es-CO" sz="1100" dirty="0"/>
                </a:p>
              </p:txBody>
            </p:sp>
          </mc:Choice>
          <mc:Fallback>
            <p:sp>
              <p:nvSpPr>
                <p:cNvPr id="32" name="CuadroTexto 31">
                  <a:extLst>
                    <a:ext uri="{FF2B5EF4-FFF2-40B4-BE49-F238E27FC236}">
                      <a16:creationId xmlns:a16="http://schemas.microsoft.com/office/drawing/2014/main" id="{1F186997-7A23-4123-A3CB-D6C213AD4F26}"/>
                    </a:ext>
                  </a:extLst>
                </p:cNvPr>
                <p:cNvSpPr txBox="1">
                  <a:spLocks noRot="1" noChangeAspect="1" noMove="1" noResize="1" noEditPoints="1" noAdjustHandles="1" noChangeArrowheads="1" noChangeShapeType="1" noTextEdit="1"/>
                </p:cNvSpPr>
                <p:nvPr/>
              </p:nvSpPr>
              <p:spPr>
                <a:xfrm>
                  <a:off x="2634870" y="4346286"/>
                  <a:ext cx="158184" cy="169277"/>
                </a:xfrm>
                <a:prstGeom prst="rect">
                  <a:avLst/>
                </a:prstGeom>
                <a:blipFill>
                  <a:blip r:embed="rId8"/>
                  <a:stretch>
                    <a:fillRect l="-11538" r="-3846"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3" name="CuadroTexto 32">
                  <a:extLst>
                    <a:ext uri="{FF2B5EF4-FFF2-40B4-BE49-F238E27FC236}">
                      <a16:creationId xmlns:a16="http://schemas.microsoft.com/office/drawing/2014/main" id="{C3FBBE94-2EBD-4D55-A3DA-69DB50558D58}"/>
                    </a:ext>
                  </a:extLst>
                </p:cNvPr>
                <p:cNvSpPr txBox="1"/>
                <p:nvPr/>
              </p:nvSpPr>
              <p:spPr>
                <a:xfrm>
                  <a:off x="2693860" y="3253317"/>
                  <a:ext cx="991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𝜏</m:t>
                        </m:r>
                      </m:oMath>
                    </m:oMathPara>
                  </a14:m>
                  <a:endParaRPr lang="es-CO" sz="1100" dirty="0"/>
                </a:p>
              </p:txBody>
            </p:sp>
          </mc:Choice>
          <mc:Fallback>
            <p:sp>
              <p:nvSpPr>
                <p:cNvPr id="33" name="CuadroTexto 32">
                  <a:extLst>
                    <a:ext uri="{FF2B5EF4-FFF2-40B4-BE49-F238E27FC236}">
                      <a16:creationId xmlns:a16="http://schemas.microsoft.com/office/drawing/2014/main" id="{C3FBBE94-2EBD-4D55-A3DA-69DB50558D58}"/>
                    </a:ext>
                  </a:extLst>
                </p:cNvPr>
                <p:cNvSpPr txBox="1">
                  <a:spLocks noRot="1" noChangeAspect="1" noMove="1" noResize="1" noEditPoints="1" noAdjustHandles="1" noChangeArrowheads="1" noChangeShapeType="1" noTextEdit="1"/>
                </p:cNvSpPr>
                <p:nvPr/>
              </p:nvSpPr>
              <p:spPr>
                <a:xfrm>
                  <a:off x="2693860" y="3253317"/>
                  <a:ext cx="99194" cy="169277"/>
                </a:xfrm>
                <a:prstGeom prst="rect">
                  <a:avLst/>
                </a:prstGeom>
                <a:blipFill>
                  <a:blip r:embed="rId9"/>
                  <a:stretch>
                    <a:fillRect l="-18750" r="-25000" b="-370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4" name="CuadroTexto 33">
                  <a:extLst>
                    <a:ext uri="{FF2B5EF4-FFF2-40B4-BE49-F238E27FC236}">
                      <a16:creationId xmlns:a16="http://schemas.microsoft.com/office/drawing/2014/main" id="{7844387A-917F-4DF1-906B-CBD12FDD79B4}"/>
                    </a:ext>
                  </a:extLst>
                </p:cNvPr>
                <p:cNvSpPr txBox="1"/>
                <p:nvPr/>
              </p:nvSpPr>
              <p:spPr>
                <a:xfrm>
                  <a:off x="2378838" y="2286946"/>
                  <a:ext cx="414216" cy="1828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𝑖</m:t>
                            </m:r>
                            <m:r>
                              <a:rPr lang="es-ES" sz="1100" b="0" i="1" smtClean="0">
                                <a:latin typeface="Cambria Math" panose="02040503050406030204" pitchFamily="18" charset="0"/>
                              </a:rPr>
                              <m:t>0</m:t>
                            </m:r>
                          </m:e>
                          <m:sub>
                            <m:r>
                              <a:rPr lang="es-ES" sz="1100" b="0" i="1" smtClean="0">
                                <a:latin typeface="Cambria Math" panose="02040503050406030204" pitchFamily="18" charset="0"/>
                              </a:rPr>
                              <m:t>𝑐</m:t>
                            </m:r>
                            <m:r>
                              <a:rPr lang="es-ES" sz="1100" b="0" i="1" smtClean="0">
                                <a:latin typeface="Cambria Math" panose="02040503050406030204" pitchFamily="18" charset="0"/>
                              </a:rPr>
                              <m:t> </m:t>
                            </m:r>
                            <m:r>
                              <a:rPr lang="es-ES" sz="1100" b="0" i="1" smtClean="0">
                                <a:latin typeface="Cambria Math" panose="02040503050406030204" pitchFamily="18" charset="0"/>
                              </a:rPr>
                              <m:t>𝑟𝑒𝑓</m:t>
                            </m:r>
                          </m:sub>
                        </m:sSub>
                      </m:oMath>
                    </m:oMathPara>
                  </a14:m>
                  <a:endParaRPr lang="es-CO" sz="1100" dirty="0"/>
                </a:p>
              </p:txBody>
            </p:sp>
          </mc:Choice>
          <mc:Fallback>
            <p:sp>
              <p:nvSpPr>
                <p:cNvPr id="34" name="CuadroTexto 33">
                  <a:extLst>
                    <a:ext uri="{FF2B5EF4-FFF2-40B4-BE49-F238E27FC236}">
                      <a16:creationId xmlns:a16="http://schemas.microsoft.com/office/drawing/2014/main" id="{7844387A-917F-4DF1-906B-CBD12FDD79B4}"/>
                    </a:ext>
                  </a:extLst>
                </p:cNvPr>
                <p:cNvSpPr txBox="1">
                  <a:spLocks noRot="1" noChangeAspect="1" noMove="1" noResize="1" noEditPoints="1" noAdjustHandles="1" noChangeArrowheads="1" noChangeShapeType="1" noTextEdit="1"/>
                </p:cNvSpPr>
                <p:nvPr/>
              </p:nvSpPr>
              <p:spPr>
                <a:xfrm>
                  <a:off x="2378838" y="2286946"/>
                  <a:ext cx="414216" cy="182807"/>
                </a:xfrm>
                <a:prstGeom prst="rect">
                  <a:avLst/>
                </a:prstGeom>
                <a:blipFill>
                  <a:blip r:embed="rId10"/>
                  <a:stretch>
                    <a:fillRect l="-7353" r="-5882"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5" name="CuadroTexto 34">
                  <a:extLst>
                    <a:ext uri="{FF2B5EF4-FFF2-40B4-BE49-F238E27FC236}">
                      <a16:creationId xmlns:a16="http://schemas.microsoft.com/office/drawing/2014/main" id="{6E725AAF-99FF-4746-98A3-982708322466}"/>
                    </a:ext>
                  </a:extLst>
                </p:cNvPr>
                <p:cNvSpPr txBox="1"/>
                <p:nvPr/>
              </p:nvSpPr>
              <p:spPr>
                <a:xfrm>
                  <a:off x="2563760" y="3941783"/>
                  <a:ext cx="2292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𝑐𝑜</m:t>
                            </m:r>
                          </m:sub>
                        </m:sSub>
                      </m:oMath>
                    </m:oMathPara>
                  </a14:m>
                  <a:endParaRPr lang="es-CO" sz="1100" dirty="0"/>
                </a:p>
              </p:txBody>
            </p:sp>
          </mc:Choice>
          <mc:Fallback>
            <p:sp>
              <p:nvSpPr>
                <p:cNvPr id="35" name="CuadroTexto 34">
                  <a:extLst>
                    <a:ext uri="{FF2B5EF4-FFF2-40B4-BE49-F238E27FC236}">
                      <a16:creationId xmlns:a16="http://schemas.microsoft.com/office/drawing/2014/main" id="{6E725AAF-99FF-4746-98A3-982708322466}"/>
                    </a:ext>
                  </a:extLst>
                </p:cNvPr>
                <p:cNvSpPr txBox="1">
                  <a:spLocks noRot="1" noChangeAspect="1" noMove="1" noResize="1" noEditPoints="1" noAdjustHandles="1" noChangeArrowheads="1" noChangeShapeType="1" noTextEdit="1"/>
                </p:cNvSpPr>
                <p:nvPr/>
              </p:nvSpPr>
              <p:spPr>
                <a:xfrm>
                  <a:off x="2563760" y="3941783"/>
                  <a:ext cx="229294" cy="169277"/>
                </a:xfrm>
                <a:prstGeom prst="rect">
                  <a:avLst/>
                </a:prstGeom>
                <a:blipFill>
                  <a:blip r:embed="rId11"/>
                  <a:stretch>
                    <a:fillRect l="-7895" r="-2632" b="-1481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6" name="CuadroTexto 35">
                  <a:extLst>
                    <a:ext uri="{FF2B5EF4-FFF2-40B4-BE49-F238E27FC236}">
                      <a16:creationId xmlns:a16="http://schemas.microsoft.com/office/drawing/2014/main" id="{5C2ABCF1-AFED-4F1D-B366-8AB53FD606C2}"/>
                    </a:ext>
                  </a:extLst>
                </p:cNvPr>
                <p:cNvSpPr txBox="1"/>
                <p:nvPr/>
              </p:nvSpPr>
              <p:spPr>
                <a:xfrm>
                  <a:off x="2623649" y="2843893"/>
                  <a:ext cx="16940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m:t>
                            </m:r>
                          </m:sub>
                        </m:sSub>
                      </m:oMath>
                    </m:oMathPara>
                  </a14:m>
                  <a:endParaRPr lang="es-CO" sz="1100" dirty="0"/>
                </a:p>
              </p:txBody>
            </p:sp>
          </mc:Choice>
          <mc:Fallback>
            <p:sp>
              <p:nvSpPr>
                <p:cNvPr id="36" name="CuadroTexto 35">
                  <a:extLst>
                    <a:ext uri="{FF2B5EF4-FFF2-40B4-BE49-F238E27FC236}">
                      <a16:creationId xmlns:a16="http://schemas.microsoft.com/office/drawing/2014/main" id="{5C2ABCF1-AFED-4F1D-B366-8AB53FD606C2}"/>
                    </a:ext>
                  </a:extLst>
                </p:cNvPr>
                <p:cNvSpPr txBox="1">
                  <a:spLocks noRot="1" noChangeAspect="1" noMove="1" noResize="1" noEditPoints="1" noAdjustHandles="1" noChangeArrowheads="1" noChangeShapeType="1" noTextEdit="1"/>
                </p:cNvSpPr>
                <p:nvPr/>
              </p:nvSpPr>
              <p:spPr>
                <a:xfrm>
                  <a:off x="2623649" y="2843893"/>
                  <a:ext cx="169405" cy="169277"/>
                </a:xfrm>
                <a:prstGeom prst="rect">
                  <a:avLst/>
                </a:prstGeom>
                <a:blipFill>
                  <a:blip r:embed="rId12"/>
                  <a:stretch>
                    <a:fillRect l="-10714" r="-3571" b="-1481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7" name="CuadroTexto 36">
                  <a:extLst>
                    <a:ext uri="{FF2B5EF4-FFF2-40B4-BE49-F238E27FC236}">
                      <a16:creationId xmlns:a16="http://schemas.microsoft.com/office/drawing/2014/main" id="{E5AF79C3-C541-4F09-8271-A56131A158D9}"/>
                    </a:ext>
                  </a:extLst>
                </p:cNvPr>
                <p:cNvSpPr txBox="1"/>
                <p:nvPr/>
              </p:nvSpPr>
              <p:spPr>
                <a:xfrm>
                  <a:off x="2532085" y="2697814"/>
                  <a:ext cx="26096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𝑇𝑓𝑐</m:t>
                        </m:r>
                      </m:oMath>
                    </m:oMathPara>
                  </a14:m>
                  <a:endParaRPr lang="es-CO" sz="1100" dirty="0"/>
                </a:p>
              </p:txBody>
            </p:sp>
          </mc:Choice>
          <mc:Fallback>
            <p:sp>
              <p:nvSpPr>
                <p:cNvPr id="37" name="CuadroTexto 36">
                  <a:extLst>
                    <a:ext uri="{FF2B5EF4-FFF2-40B4-BE49-F238E27FC236}">
                      <a16:creationId xmlns:a16="http://schemas.microsoft.com/office/drawing/2014/main" id="{E5AF79C3-C541-4F09-8271-A56131A158D9}"/>
                    </a:ext>
                  </a:extLst>
                </p:cNvPr>
                <p:cNvSpPr txBox="1">
                  <a:spLocks noRot="1" noChangeAspect="1" noMove="1" noResize="1" noEditPoints="1" noAdjustHandles="1" noChangeArrowheads="1" noChangeShapeType="1" noTextEdit="1"/>
                </p:cNvSpPr>
                <p:nvPr/>
              </p:nvSpPr>
              <p:spPr>
                <a:xfrm>
                  <a:off x="2532085" y="2697814"/>
                  <a:ext cx="260969" cy="169277"/>
                </a:xfrm>
                <a:prstGeom prst="rect">
                  <a:avLst/>
                </a:prstGeom>
                <a:blipFill>
                  <a:blip r:embed="rId13"/>
                  <a:stretch>
                    <a:fillRect l="-18605" r="-18605" b="-4074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8" name="CuadroTexto 37">
                  <a:extLst>
                    <a:ext uri="{FF2B5EF4-FFF2-40B4-BE49-F238E27FC236}">
                      <a16:creationId xmlns:a16="http://schemas.microsoft.com/office/drawing/2014/main" id="{A7DED916-00D3-4253-9146-63A3520EECCD}"/>
                    </a:ext>
                  </a:extLst>
                </p:cNvPr>
                <p:cNvSpPr txBox="1"/>
                <p:nvPr/>
              </p:nvSpPr>
              <p:spPr>
                <a:xfrm>
                  <a:off x="2617044" y="3820408"/>
                  <a:ext cx="17601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𝑆𝑐</m:t>
                        </m:r>
                      </m:oMath>
                    </m:oMathPara>
                  </a14:m>
                  <a:endParaRPr lang="es-CO" sz="1100" dirty="0"/>
                </a:p>
              </p:txBody>
            </p:sp>
          </mc:Choice>
          <mc:Fallback>
            <p:sp>
              <p:nvSpPr>
                <p:cNvPr id="38" name="CuadroTexto 37">
                  <a:extLst>
                    <a:ext uri="{FF2B5EF4-FFF2-40B4-BE49-F238E27FC236}">
                      <a16:creationId xmlns:a16="http://schemas.microsoft.com/office/drawing/2014/main" id="{A7DED916-00D3-4253-9146-63A3520EECCD}"/>
                    </a:ext>
                  </a:extLst>
                </p:cNvPr>
                <p:cNvSpPr txBox="1">
                  <a:spLocks noRot="1" noChangeAspect="1" noMove="1" noResize="1" noEditPoints="1" noAdjustHandles="1" noChangeArrowheads="1" noChangeShapeType="1" noTextEdit="1"/>
                </p:cNvSpPr>
                <p:nvPr/>
              </p:nvSpPr>
              <p:spPr>
                <a:xfrm>
                  <a:off x="2617044" y="3820408"/>
                  <a:ext cx="176010" cy="169277"/>
                </a:xfrm>
                <a:prstGeom prst="rect">
                  <a:avLst/>
                </a:prstGeom>
                <a:blipFill>
                  <a:blip r:embed="rId14"/>
                  <a:stretch>
                    <a:fillRect l="-17241" r="-17241" b="-1111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1" name="CuadroTexto 40">
                  <a:extLst>
                    <a:ext uri="{FF2B5EF4-FFF2-40B4-BE49-F238E27FC236}">
                      <a16:creationId xmlns:a16="http://schemas.microsoft.com/office/drawing/2014/main" id="{5D2FD654-FB3F-49E2-AED6-3EFF05D53AF9}"/>
                    </a:ext>
                  </a:extLst>
                </p:cNvPr>
                <p:cNvSpPr txBox="1"/>
                <p:nvPr/>
              </p:nvSpPr>
              <p:spPr>
                <a:xfrm>
                  <a:off x="2570557" y="2153736"/>
                  <a:ext cx="222497"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𝑖𝑓𝑐</m:t>
                        </m:r>
                      </m:oMath>
                    </m:oMathPara>
                  </a14:m>
                  <a:endParaRPr lang="es-CO" sz="1100" dirty="0"/>
                </a:p>
              </p:txBody>
            </p:sp>
          </mc:Choice>
          <mc:Fallback>
            <p:sp>
              <p:nvSpPr>
                <p:cNvPr id="41" name="CuadroTexto 40">
                  <a:extLst>
                    <a:ext uri="{FF2B5EF4-FFF2-40B4-BE49-F238E27FC236}">
                      <a16:creationId xmlns:a16="http://schemas.microsoft.com/office/drawing/2014/main" id="{5D2FD654-FB3F-49E2-AED6-3EFF05D53AF9}"/>
                    </a:ext>
                  </a:extLst>
                </p:cNvPr>
                <p:cNvSpPr txBox="1">
                  <a:spLocks noRot="1" noChangeAspect="1" noMove="1" noResize="1" noEditPoints="1" noAdjustHandles="1" noChangeArrowheads="1" noChangeShapeType="1" noTextEdit="1"/>
                </p:cNvSpPr>
                <p:nvPr/>
              </p:nvSpPr>
              <p:spPr>
                <a:xfrm>
                  <a:off x="2570557" y="2153736"/>
                  <a:ext cx="222497" cy="169277"/>
                </a:xfrm>
                <a:prstGeom prst="rect">
                  <a:avLst/>
                </a:prstGeom>
                <a:blipFill>
                  <a:blip r:embed="rId15"/>
                  <a:stretch>
                    <a:fillRect l="-21622" r="-21622"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9" name="CuadroTexto 38">
                  <a:extLst>
                    <a:ext uri="{FF2B5EF4-FFF2-40B4-BE49-F238E27FC236}">
                      <a16:creationId xmlns:a16="http://schemas.microsoft.com/office/drawing/2014/main" id="{97D895B1-66FF-4C17-A446-78FBDA4490F1}"/>
                    </a:ext>
                  </a:extLst>
                </p:cNvPr>
                <p:cNvSpPr txBox="1"/>
                <p:nvPr/>
              </p:nvSpPr>
              <p:spPr>
                <a:xfrm>
                  <a:off x="2687384" y="4554275"/>
                  <a:ext cx="10567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𝑒</m:t>
                        </m:r>
                      </m:oMath>
                    </m:oMathPara>
                  </a14:m>
                  <a:endParaRPr lang="es-CO" sz="1100" dirty="0"/>
                </a:p>
              </p:txBody>
            </p:sp>
          </mc:Choice>
          <mc:Fallback>
            <p:sp>
              <p:nvSpPr>
                <p:cNvPr id="39" name="CuadroTexto 38">
                  <a:extLst>
                    <a:ext uri="{FF2B5EF4-FFF2-40B4-BE49-F238E27FC236}">
                      <a16:creationId xmlns:a16="http://schemas.microsoft.com/office/drawing/2014/main" id="{97D895B1-66FF-4C17-A446-78FBDA4490F1}"/>
                    </a:ext>
                  </a:extLst>
                </p:cNvPr>
                <p:cNvSpPr txBox="1">
                  <a:spLocks noRot="1" noChangeAspect="1" noMove="1" noResize="1" noEditPoints="1" noAdjustHandles="1" noChangeArrowheads="1" noChangeShapeType="1" noTextEdit="1"/>
                </p:cNvSpPr>
                <p:nvPr/>
              </p:nvSpPr>
              <p:spPr>
                <a:xfrm>
                  <a:off x="2687384" y="4554275"/>
                  <a:ext cx="105670" cy="169277"/>
                </a:xfrm>
                <a:prstGeom prst="rect">
                  <a:avLst/>
                </a:prstGeom>
                <a:blipFill>
                  <a:blip r:embed="rId16"/>
                  <a:stretch>
                    <a:fillRect l="-17647" r="-1764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0" name="CuadroTexto 39">
                  <a:extLst>
                    <a:ext uri="{FF2B5EF4-FFF2-40B4-BE49-F238E27FC236}">
                      <a16:creationId xmlns:a16="http://schemas.microsoft.com/office/drawing/2014/main" id="{8CDD01DE-87CA-4754-9495-1958870F20B7}"/>
                    </a:ext>
                  </a:extLst>
                </p:cNvPr>
                <p:cNvSpPr txBox="1"/>
                <p:nvPr/>
              </p:nvSpPr>
              <p:spPr>
                <a:xfrm>
                  <a:off x="2597616" y="3069342"/>
                  <a:ext cx="195438"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𝑅𝑒</m:t>
                        </m:r>
                      </m:oMath>
                    </m:oMathPara>
                  </a14:m>
                  <a:endParaRPr lang="es-CO" sz="1100" dirty="0"/>
                </a:p>
              </p:txBody>
            </p:sp>
          </mc:Choice>
          <mc:Fallback>
            <p:sp>
              <p:nvSpPr>
                <p:cNvPr id="40" name="CuadroTexto 39">
                  <a:extLst>
                    <a:ext uri="{FF2B5EF4-FFF2-40B4-BE49-F238E27FC236}">
                      <a16:creationId xmlns:a16="http://schemas.microsoft.com/office/drawing/2014/main" id="{8CDD01DE-87CA-4754-9495-1958870F20B7}"/>
                    </a:ext>
                  </a:extLst>
                </p:cNvPr>
                <p:cNvSpPr txBox="1">
                  <a:spLocks noRot="1" noChangeAspect="1" noMove="1" noResize="1" noEditPoints="1" noAdjustHandles="1" noChangeArrowheads="1" noChangeShapeType="1" noTextEdit="1"/>
                </p:cNvSpPr>
                <p:nvPr/>
              </p:nvSpPr>
              <p:spPr>
                <a:xfrm>
                  <a:off x="2597616" y="3069342"/>
                  <a:ext cx="195438" cy="169277"/>
                </a:xfrm>
                <a:prstGeom prst="rect">
                  <a:avLst/>
                </a:prstGeom>
                <a:blipFill>
                  <a:blip r:embed="rId17"/>
                  <a:stretch>
                    <a:fillRect l="-15625" r="-15625" b="-11111"/>
                  </a:stretch>
                </a:blipFill>
              </p:spPr>
              <p:txBody>
                <a:bodyPr/>
                <a:lstStyle/>
                <a:p>
                  <a:r>
                    <a:rPr lang="es-CO">
                      <a:noFill/>
                    </a:rPr>
                    <a:t> </a:t>
                  </a:r>
                </a:p>
              </p:txBody>
            </p:sp>
          </mc:Fallback>
        </mc:AlternateContent>
      </p:grpSp>
      <p:sp>
        <p:nvSpPr>
          <p:cNvPr id="61" name="Google Shape;453;g36edeb4292e_1_43">
            <a:extLst>
              <a:ext uri="{FF2B5EF4-FFF2-40B4-BE49-F238E27FC236}">
                <a16:creationId xmlns:a16="http://schemas.microsoft.com/office/drawing/2014/main" id="{0EFE991A-ABA7-47BC-B01E-10C5E809DEDF}"/>
              </a:ext>
            </a:extLst>
          </p:cNvPr>
          <p:cNvSpPr/>
          <p:nvPr/>
        </p:nvSpPr>
        <p:spPr>
          <a:xfrm>
            <a:off x="892800" y="2908800"/>
            <a:ext cx="1192800" cy="295200"/>
          </a:xfrm>
          <a:prstGeom prst="roundRect">
            <a:avLst>
              <a:gd name="adj" fmla="val 50000"/>
            </a:avLst>
          </a:prstGeom>
          <a:solidFill>
            <a:srgbClr val="B278E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a:rPr>
              <a:t>Ohmic</a:t>
            </a:r>
            <a:endParaRPr sz="1600" b="1" dirty="0">
              <a:solidFill>
                <a:schemeClr val="bg1"/>
              </a:solidFill>
              <a:latin typeface="Source Sans Pro" panose="020B0503030403020204" pitchFamily="34" charset="0"/>
              <a:ea typeface="Source Sans Pro" panose="020B0503030403020204" pitchFamily="34" charset="0"/>
              <a:sym typeface="Arial"/>
            </a:endParaRPr>
          </a:p>
        </p:txBody>
      </p:sp>
      <p:sp>
        <p:nvSpPr>
          <p:cNvPr id="63" name="CuadroTexto 62">
            <a:extLst>
              <a:ext uri="{FF2B5EF4-FFF2-40B4-BE49-F238E27FC236}">
                <a16:creationId xmlns:a16="http://schemas.microsoft.com/office/drawing/2014/main" id="{771F9AF2-44F0-445C-91F2-F3A3E7B34443}"/>
              </a:ext>
            </a:extLst>
          </p:cNvPr>
          <p:cNvSpPr txBox="1"/>
          <p:nvPr/>
        </p:nvSpPr>
        <p:spPr>
          <a:xfrm>
            <a:off x="2997816" y="5136732"/>
            <a:ext cx="4675847" cy="461665"/>
          </a:xfrm>
          <a:prstGeom prst="rect">
            <a:avLst/>
          </a:prstGeom>
          <a:noFill/>
        </p:spPr>
        <p:txBody>
          <a:bodyPr wrap="square">
            <a:spAutoFit/>
          </a:bodyPr>
          <a:lstStyle/>
          <a:p>
            <a:r>
              <a:rPr lang="en" sz="1200" b="1" dirty="0"/>
              <a:t>Figure XX:  </a:t>
            </a:r>
            <a:r>
              <a:rPr lang="en-US" sz="1200" dirty="0"/>
              <a:t>SHAP feature importance ranking based on the </a:t>
            </a:r>
            <a:r>
              <a:rPr lang="en-US" sz="1200" dirty="0" err="1"/>
              <a:t>XGBoost</a:t>
            </a:r>
            <a:r>
              <a:rPr lang="en-US" sz="1200" dirty="0"/>
              <a:t> model, showing the top contributors to the output in the Ohmic region.</a:t>
            </a:r>
            <a:endParaRPr lang="es-CO" sz="1200" dirty="0"/>
          </a:p>
        </p:txBody>
      </p:sp>
      <p:sp>
        <p:nvSpPr>
          <p:cNvPr id="66" name="CuadroTexto 65">
            <a:extLst>
              <a:ext uri="{FF2B5EF4-FFF2-40B4-BE49-F238E27FC236}">
                <a16:creationId xmlns:a16="http://schemas.microsoft.com/office/drawing/2014/main" id="{3896E080-0E53-48E4-B458-F980106CCA52}"/>
              </a:ext>
            </a:extLst>
          </p:cNvPr>
          <p:cNvSpPr txBox="1"/>
          <p:nvPr/>
        </p:nvSpPr>
        <p:spPr>
          <a:xfrm>
            <a:off x="8265189" y="5315905"/>
            <a:ext cx="3605523" cy="1015663"/>
          </a:xfrm>
          <a:prstGeom prst="rect">
            <a:avLst/>
          </a:prstGeom>
          <a:noFill/>
        </p:spPr>
        <p:txBody>
          <a:bodyPr wrap="square">
            <a:spAutoFit/>
          </a:bodyPr>
          <a:lstStyle/>
          <a:p>
            <a:r>
              <a:rPr lang="en" sz="1200" b="1" dirty="0"/>
              <a:t>Figure XX:  </a:t>
            </a:r>
            <a:r>
              <a:rPr lang="en-US" sz="1200" dirty="0"/>
              <a:t>SHAP summary plot showing feature impact on the </a:t>
            </a:r>
            <a:r>
              <a:rPr lang="en-US" sz="1200" dirty="0" err="1"/>
              <a:t>XGBoost</a:t>
            </a:r>
            <a:r>
              <a:rPr lang="en-US" sz="1200" dirty="0"/>
              <a:t> model for the Ohmic region. Color indicates feature value; horizontal spread reflects influence.</a:t>
            </a:r>
            <a:endParaRPr lang="es-CO" sz="1200" dirty="0"/>
          </a:p>
          <a:p>
            <a:endParaRPr lang="es-CO" sz="1200" dirty="0"/>
          </a:p>
        </p:txBody>
      </p:sp>
      <p:grpSp>
        <p:nvGrpSpPr>
          <p:cNvPr id="69" name="Grupo 68">
            <a:extLst>
              <a:ext uri="{FF2B5EF4-FFF2-40B4-BE49-F238E27FC236}">
                <a16:creationId xmlns:a16="http://schemas.microsoft.com/office/drawing/2014/main" id="{6690D451-C1B7-4DED-AE73-9401828F3A86}"/>
              </a:ext>
            </a:extLst>
          </p:cNvPr>
          <p:cNvGrpSpPr/>
          <p:nvPr/>
        </p:nvGrpSpPr>
        <p:grpSpPr>
          <a:xfrm>
            <a:off x="8114875" y="2014782"/>
            <a:ext cx="450147" cy="2973778"/>
            <a:chOff x="2342907" y="2124132"/>
            <a:chExt cx="450147" cy="2973778"/>
          </a:xfrm>
        </p:grpSpPr>
        <p:sp>
          <p:nvSpPr>
            <p:cNvPr id="70" name="Rectángulo 69">
              <a:extLst>
                <a:ext uri="{FF2B5EF4-FFF2-40B4-BE49-F238E27FC236}">
                  <a16:creationId xmlns:a16="http://schemas.microsoft.com/office/drawing/2014/main" id="{33BF5018-203D-4841-AB26-C96F5BAD9D12}"/>
                </a:ext>
              </a:extLst>
            </p:cNvPr>
            <p:cNvSpPr/>
            <p:nvPr/>
          </p:nvSpPr>
          <p:spPr>
            <a:xfrm>
              <a:off x="2342907" y="2124132"/>
              <a:ext cx="445008" cy="2973778"/>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71" name="CuadroTexto 70">
                  <a:extLst>
                    <a:ext uri="{FF2B5EF4-FFF2-40B4-BE49-F238E27FC236}">
                      <a16:creationId xmlns:a16="http://schemas.microsoft.com/office/drawing/2014/main" id="{2B0FC92E-A682-492D-B7B4-9A20EB0D14A2}"/>
                    </a:ext>
                  </a:extLst>
                </p:cNvPr>
                <p:cNvSpPr txBox="1"/>
                <p:nvPr/>
              </p:nvSpPr>
              <p:spPr>
                <a:xfrm>
                  <a:off x="2414810" y="2510838"/>
                  <a:ext cx="37824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𝑃𝑎</m:t>
                            </m:r>
                          </m:e>
                          <m:sub>
                            <m:r>
                              <a:rPr lang="es-ES" sz="1100" b="0" i="1" smtClean="0">
                                <a:latin typeface="Cambria Math" panose="02040503050406030204" pitchFamily="18" charset="0"/>
                              </a:rPr>
                              <m:t>𝑑𝑒𝑠</m:t>
                            </m:r>
                          </m:sub>
                        </m:sSub>
                      </m:oMath>
                    </m:oMathPara>
                  </a14:m>
                  <a:endParaRPr lang="es-CO" sz="1100" dirty="0"/>
                </a:p>
              </p:txBody>
            </p:sp>
          </mc:Choice>
          <mc:Fallback>
            <p:sp>
              <p:nvSpPr>
                <p:cNvPr id="71" name="CuadroTexto 70">
                  <a:extLst>
                    <a:ext uri="{FF2B5EF4-FFF2-40B4-BE49-F238E27FC236}">
                      <a16:creationId xmlns:a16="http://schemas.microsoft.com/office/drawing/2014/main" id="{2B0FC92E-A682-492D-B7B4-9A20EB0D14A2}"/>
                    </a:ext>
                  </a:extLst>
                </p:cNvPr>
                <p:cNvSpPr txBox="1">
                  <a:spLocks noRot="1" noChangeAspect="1" noMove="1" noResize="1" noEditPoints="1" noAdjustHandles="1" noChangeArrowheads="1" noChangeShapeType="1" noTextEdit="1"/>
                </p:cNvSpPr>
                <p:nvPr/>
              </p:nvSpPr>
              <p:spPr>
                <a:xfrm>
                  <a:off x="2414810" y="2510838"/>
                  <a:ext cx="378244" cy="169277"/>
                </a:xfrm>
                <a:prstGeom prst="rect">
                  <a:avLst/>
                </a:prstGeom>
                <a:blipFill>
                  <a:blip r:embed="rId4"/>
                  <a:stretch>
                    <a:fillRect l="-8065" r="-3226" b="-1785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2" name="CuadroTexto 71">
                  <a:extLst>
                    <a:ext uri="{FF2B5EF4-FFF2-40B4-BE49-F238E27FC236}">
                      <a16:creationId xmlns:a16="http://schemas.microsoft.com/office/drawing/2014/main" id="{2B79C0DB-9C32-4493-A91C-DE4521312620}"/>
                    </a:ext>
                  </a:extLst>
                </p:cNvPr>
                <p:cNvSpPr txBox="1"/>
                <p:nvPr/>
              </p:nvSpPr>
              <p:spPr>
                <a:xfrm>
                  <a:off x="2434045" y="3729081"/>
                  <a:ext cx="35900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𝜙</m:t>
                            </m:r>
                          </m:e>
                          <m:sub>
                            <m:r>
                              <a:rPr lang="es-ES" sz="1100" b="0" i="1" smtClean="0">
                                <a:latin typeface="Cambria Math" panose="02040503050406030204" pitchFamily="18" charset="0"/>
                              </a:rPr>
                              <m:t>𝑐𝑑𝑒𝑠</m:t>
                            </m:r>
                          </m:sub>
                        </m:sSub>
                      </m:oMath>
                    </m:oMathPara>
                  </a14:m>
                  <a:endParaRPr lang="es-CO" sz="1100" dirty="0"/>
                </a:p>
              </p:txBody>
            </p:sp>
          </mc:Choice>
          <mc:Fallback>
            <p:sp>
              <p:nvSpPr>
                <p:cNvPr id="72" name="CuadroTexto 71">
                  <a:extLst>
                    <a:ext uri="{FF2B5EF4-FFF2-40B4-BE49-F238E27FC236}">
                      <a16:creationId xmlns:a16="http://schemas.microsoft.com/office/drawing/2014/main" id="{2B79C0DB-9C32-4493-A91C-DE4521312620}"/>
                    </a:ext>
                  </a:extLst>
                </p:cNvPr>
                <p:cNvSpPr txBox="1">
                  <a:spLocks noRot="1" noChangeAspect="1" noMove="1" noResize="1" noEditPoints="1" noAdjustHandles="1" noChangeArrowheads="1" noChangeShapeType="1" noTextEdit="1"/>
                </p:cNvSpPr>
                <p:nvPr/>
              </p:nvSpPr>
              <p:spPr>
                <a:xfrm>
                  <a:off x="2434045" y="3729081"/>
                  <a:ext cx="359009" cy="169277"/>
                </a:xfrm>
                <a:prstGeom prst="rect">
                  <a:avLst/>
                </a:prstGeom>
                <a:blipFill>
                  <a:blip r:embed="rId5"/>
                  <a:stretch>
                    <a:fillRect l="-13559" r="-5085"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3" name="CuadroTexto 72">
                  <a:extLst>
                    <a:ext uri="{FF2B5EF4-FFF2-40B4-BE49-F238E27FC236}">
                      <a16:creationId xmlns:a16="http://schemas.microsoft.com/office/drawing/2014/main" id="{F77250B0-B8D9-4311-A169-B7CBE14280EA}"/>
                    </a:ext>
                  </a:extLst>
                </p:cNvPr>
                <p:cNvSpPr txBox="1"/>
                <p:nvPr/>
              </p:nvSpPr>
              <p:spPr>
                <a:xfrm>
                  <a:off x="2522018" y="4345555"/>
                  <a:ext cx="271036" cy="182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𝑔𝑑𝑙</m:t>
                            </m:r>
                          </m:sub>
                        </m:sSub>
                      </m:oMath>
                    </m:oMathPara>
                  </a14:m>
                  <a:endParaRPr lang="es-CO" sz="1100" dirty="0"/>
                </a:p>
              </p:txBody>
            </p:sp>
          </mc:Choice>
          <mc:Fallback>
            <p:sp>
              <p:nvSpPr>
                <p:cNvPr id="73" name="CuadroTexto 72">
                  <a:extLst>
                    <a:ext uri="{FF2B5EF4-FFF2-40B4-BE49-F238E27FC236}">
                      <a16:creationId xmlns:a16="http://schemas.microsoft.com/office/drawing/2014/main" id="{F77250B0-B8D9-4311-A169-B7CBE14280EA}"/>
                    </a:ext>
                  </a:extLst>
                </p:cNvPr>
                <p:cNvSpPr txBox="1">
                  <a:spLocks noRot="1" noChangeAspect="1" noMove="1" noResize="1" noEditPoints="1" noAdjustHandles="1" noChangeArrowheads="1" noChangeShapeType="1" noTextEdit="1"/>
                </p:cNvSpPr>
                <p:nvPr/>
              </p:nvSpPr>
              <p:spPr>
                <a:xfrm>
                  <a:off x="2522018" y="4345555"/>
                  <a:ext cx="271036" cy="182999"/>
                </a:xfrm>
                <a:prstGeom prst="rect">
                  <a:avLst/>
                </a:prstGeom>
                <a:blipFill>
                  <a:blip r:embed="rId6"/>
                  <a:stretch>
                    <a:fillRect l="-6818" r="-11364"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4" name="CuadroTexto 73">
                  <a:extLst>
                    <a:ext uri="{FF2B5EF4-FFF2-40B4-BE49-F238E27FC236}">
                      <a16:creationId xmlns:a16="http://schemas.microsoft.com/office/drawing/2014/main" id="{3E2504CF-2EA0-4475-AB66-63B38CDDB0F7}"/>
                    </a:ext>
                  </a:extLst>
                </p:cNvPr>
                <p:cNvSpPr txBox="1"/>
                <p:nvPr/>
              </p:nvSpPr>
              <p:spPr>
                <a:xfrm>
                  <a:off x="2538689" y="3521206"/>
                  <a:ext cx="25436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𝑚𝑐</m:t>
                            </m:r>
                          </m:sub>
                        </m:sSub>
                      </m:oMath>
                    </m:oMathPara>
                  </a14:m>
                  <a:endParaRPr lang="es-CO" sz="1100" dirty="0"/>
                </a:p>
              </p:txBody>
            </p:sp>
          </mc:Choice>
          <mc:Fallback>
            <p:sp>
              <p:nvSpPr>
                <p:cNvPr id="74" name="CuadroTexto 73">
                  <a:extLst>
                    <a:ext uri="{FF2B5EF4-FFF2-40B4-BE49-F238E27FC236}">
                      <a16:creationId xmlns:a16="http://schemas.microsoft.com/office/drawing/2014/main" id="{3E2504CF-2EA0-4475-AB66-63B38CDDB0F7}"/>
                    </a:ext>
                  </a:extLst>
                </p:cNvPr>
                <p:cNvSpPr txBox="1">
                  <a:spLocks noRot="1" noChangeAspect="1" noMove="1" noResize="1" noEditPoints="1" noAdjustHandles="1" noChangeArrowheads="1" noChangeShapeType="1" noTextEdit="1"/>
                </p:cNvSpPr>
                <p:nvPr/>
              </p:nvSpPr>
              <p:spPr>
                <a:xfrm>
                  <a:off x="2538689" y="3521206"/>
                  <a:ext cx="254365" cy="169277"/>
                </a:xfrm>
                <a:prstGeom prst="rect">
                  <a:avLst/>
                </a:prstGeom>
                <a:blipFill>
                  <a:blip r:embed="rId7"/>
                  <a:stretch>
                    <a:fillRect l="-7143" r="-2381" b="-1481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5" name="CuadroTexto 74">
                  <a:extLst>
                    <a:ext uri="{FF2B5EF4-FFF2-40B4-BE49-F238E27FC236}">
                      <a16:creationId xmlns:a16="http://schemas.microsoft.com/office/drawing/2014/main" id="{A7E70C11-8029-4C79-AA49-C43A28982FB0}"/>
                    </a:ext>
                  </a:extLst>
                </p:cNvPr>
                <p:cNvSpPr txBox="1"/>
                <p:nvPr/>
              </p:nvSpPr>
              <p:spPr>
                <a:xfrm>
                  <a:off x="2634870" y="4554566"/>
                  <a:ext cx="15818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𝑐</m:t>
                            </m:r>
                          </m:sub>
                        </m:sSub>
                      </m:oMath>
                    </m:oMathPara>
                  </a14:m>
                  <a:endParaRPr lang="es-CO" sz="1100" dirty="0"/>
                </a:p>
              </p:txBody>
            </p:sp>
          </mc:Choice>
          <mc:Fallback>
            <p:sp>
              <p:nvSpPr>
                <p:cNvPr id="75" name="CuadroTexto 74">
                  <a:extLst>
                    <a:ext uri="{FF2B5EF4-FFF2-40B4-BE49-F238E27FC236}">
                      <a16:creationId xmlns:a16="http://schemas.microsoft.com/office/drawing/2014/main" id="{A7E70C11-8029-4C79-AA49-C43A28982FB0}"/>
                    </a:ext>
                  </a:extLst>
                </p:cNvPr>
                <p:cNvSpPr txBox="1">
                  <a:spLocks noRot="1" noChangeAspect="1" noMove="1" noResize="1" noEditPoints="1" noAdjustHandles="1" noChangeArrowheads="1" noChangeShapeType="1" noTextEdit="1"/>
                </p:cNvSpPr>
                <p:nvPr/>
              </p:nvSpPr>
              <p:spPr>
                <a:xfrm>
                  <a:off x="2634870" y="4554566"/>
                  <a:ext cx="158184" cy="169277"/>
                </a:xfrm>
                <a:prstGeom prst="rect">
                  <a:avLst/>
                </a:prstGeom>
                <a:blipFill>
                  <a:blip r:embed="rId18"/>
                  <a:stretch>
                    <a:fillRect l="-11538" r="-7692"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6" name="CuadroTexto 75">
                  <a:extLst>
                    <a:ext uri="{FF2B5EF4-FFF2-40B4-BE49-F238E27FC236}">
                      <a16:creationId xmlns:a16="http://schemas.microsoft.com/office/drawing/2014/main" id="{4A7BBF78-8FC3-4F9F-AF5B-E0B8AD6B2190}"/>
                    </a:ext>
                  </a:extLst>
                </p:cNvPr>
                <p:cNvSpPr txBox="1"/>
                <p:nvPr/>
              </p:nvSpPr>
              <p:spPr>
                <a:xfrm>
                  <a:off x="2693860" y="3339677"/>
                  <a:ext cx="991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𝜏</m:t>
                        </m:r>
                      </m:oMath>
                    </m:oMathPara>
                  </a14:m>
                  <a:endParaRPr lang="es-CO" sz="1100" dirty="0"/>
                </a:p>
              </p:txBody>
            </p:sp>
          </mc:Choice>
          <mc:Fallback>
            <p:sp>
              <p:nvSpPr>
                <p:cNvPr id="76" name="CuadroTexto 75">
                  <a:extLst>
                    <a:ext uri="{FF2B5EF4-FFF2-40B4-BE49-F238E27FC236}">
                      <a16:creationId xmlns:a16="http://schemas.microsoft.com/office/drawing/2014/main" id="{4A7BBF78-8FC3-4F9F-AF5B-E0B8AD6B2190}"/>
                    </a:ext>
                  </a:extLst>
                </p:cNvPr>
                <p:cNvSpPr txBox="1">
                  <a:spLocks noRot="1" noChangeAspect="1" noMove="1" noResize="1" noEditPoints="1" noAdjustHandles="1" noChangeArrowheads="1" noChangeShapeType="1" noTextEdit="1"/>
                </p:cNvSpPr>
                <p:nvPr/>
              </p:nvSpPr>
              <p:spPr>
                <a:xfrm>
                  <a:off x="2693860" y="3339677"/>
                  <a:ext cx="99194" cy="169277"/>
                </a:xfrm>
                <a:prstGeom prst="rect">
                  <a:avLst/>
                </a:prstGeom>
                <a:blipFill>
                  <a:blip r:embed="rId9"/>
                  <a:stretch>
                    <a:fillRect l="-18750" r="-25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7" name="CuadroTexto 76">
                  <a:extLst>
                    <a:ext uri="{FF2B5EF4-FFF2-40B4-BE49-F238E27FC236}">
                      <a16:creationId xmlns:a16="http://schemas.microsoft.com/office/drawing/2014/main" id="{9CC4E2E9-34C2-4D9B-9CE4-385A9E38ECA5}"/>
                    </a:ext>
                  </a:extLst>
                </p:cNvPr>
                <p:cNvSpPr txBox="1"/>
                <p:nvPr/>
              </p:nvSpPr>
              <p:spPr>
                <a:xfrm>
                  <a:off x="2378838" y="2302186"/>
                  <a:ext cx="414216" cy="1828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𝑖</m:t>
                            </m:r>
                            <m:r>
                              <a:rPr lang="es-ES" sz="1100" b="0" i="1" smtClean="0">
                                <a:latin typeface="Cambria Math" panose="02040503050406030204" pitchFamily="18" charset="0"/>
                              </a:rPr>
                              <m:t>0</m:t>
                            </m:r>
                          </m:e>
                          <m:sub>
                            <m:r>
                              <a:rPr lang="es-ES" sz="1100" b="0" i="1" smtClean="0">
                                <a:latin typeface="Cambria Math" panose="02040503050406030204" pitchFamily="18" charset="0"/>
                              </a:rPr>
                              <m:t>𝑐</m:t>
                            </m:r>
                            <m:r>
                              <a:rPr lang="es-ES" sz="1100" b="0" i="1" smtClean="0">
                                <a:latin typeface="Cambria Math" panose="02040503050406030204" pitchFamily="18" charset="0"/>
                              </a:rPr>
                              <m:t> </m:t>
                            </m:r>
                            <m:r>
                              <a:rPr lang="es-ES" sz="1100" b="0" i="1" smtClean="0">
                                <a:latin typeface="Cambria Math" panose="02040503050406030204" pitchFamily="18" charset="0"/>
                              </a:rPr>
                              <m:t>𝑟𝑒𝑓</m:t>
                            </m:r>
                          </m:sub>
                        </m:sSub>
                      </m:oMath>
                    </m:oMathPara>
                  </a14:m>
                  <a:endParaRPr lang="es-CO" sz="1100" dirty="0"/>
                </a:p>
              </p:txBody>
            </p:sp>
          </mc:Choice>
          <mc:Fallback>
            <p:sp>
              <p:nvSpPr>
                <p:cNvPr id="77" name="CuadroTexto 76">
                  <a:extLst>
                    <a:ext uri="{FF2B5EF4-FFF2-40B4-BE49-F238E27FC236}">
                      <a16:creationId xmlns:a16="http://schemas.microsoft.com/office/drawing/2014/main" id="{9CC4E2E9-34C2-4D9B-9CE4-385A9E38ECA5}"/>
                    </a:ext>
                  </a:extLst>
                </p:cNvPr>
                <p:cNvSpPr txBox="1">
                  <a:spLocks noRot="1" noChangeAspect="1" noMove="1" noResize="1" noEditPoints="1" noAdjustHandles="1" noChangeArrowheads="1" noChangeShapeType="1" noTextEdit="1"/>
                </p:cNvSpPr>
                <p:nvPr/>
              </p:nvSpPr>
              <p:spPr>
                <a:xfrm>
                  <a:off x="2378838" y="2302186"/>
                  <a:ext cx="414216" cy="182807"/>
                </a:xfrm>
                <a:prstGeom prst="rect">
                  <a:avLst/>
                </a:prstGeom>
                <a:blipFill>
                  <a:blip r:embed="rId10"/>
                  <a:stretch>
                    <a:fillRect l="-7353" r="-5882"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8" name="CuadroTexto 77">
                  <a:extLst>
                    <a:ext uri="{FF2B5EF4-FFF2-40B4-BE49-F238E27FC236}">
                      <a16:creationId xmlns:a16="http://schemas.microsoft.com/office/drawing/2014/main" id="{5F500BD2-E6A8-441A-A25D-1569D4FD4740}"/>
                    </a:ext>
                  </a:extLst>
                </p:cNvPr>
                <p:cNvSpPr txBox="1"/>
                <p:nvPr/>
              </p:nvSpPr>
              <p:spPr>
                <a:xfrm>
                  <a:off x="2563760" y="4150063"/>
                  <a:ext cx="2292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𝑐𝑜</m:t>
                            </m:r>
                          </m:sub>
                        </m:sSub>
                      </m:oMath>
                    </m:oMathPara>
                  </a14:m>
                  <a:endParaRPr lang="es-CO" sz="1100" dirty="0"/>
                </a:p>
              </p:txBody>
            </p:sp>
          </mc:Choice>
          <mc:Fallback>
            <p:sp>
              <p:nvSpPr>
                <p:cNvPr id="78" name="CuadroTexto 77">
                  <a:extLst>
                    <a:ext uri="{FF2B5EF4-FFF2-40B4-BE49-F238E27FC236}">
                      <a16:creationId xmlns:a16="http://schemas.microsoft.com/office/drawing/2014/main" id="{5F500BD2-E6A8-441A-A25D-1569D4FD4740}"/>
                    </a:ext>
                  </a:extLst>
                </p:cNvPr>
                <p:cNvSpPr txBox="1">
                  <a:spLocks noRot="1" noChangeAspect="1" noMove="1" noResize="1" noEditPoints="1" noAdjustHandles="1" noChangeArrowheads="1" noChangeShapeType="1" noTextEdit="1"/>
                </p:cNvSpPr>
                <p:nvPr/>
              </p:nvSpPr>
              <p:spPr>
                <a:xfrm>
                  <a:off x="2563760" y="4150063"/>
                  <a:ext cx="229294" cy="169277"/>
                </a:xfrm>
                <a:prstGeom prst="rect">
                  <a:avLst/>
                </a:prstGeom>
                <a:blipFill>
                  <a:blip r:embed="rId11"/>
                  <a:stretch>
                    <a:fillRect l="-7895" r="-2632"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9" name="CuadroTexto 78">
                  <a:extLst>
                    <a:ext uri="{FF2B5EF4-FFF2-40B4-BE49-F238E27FC236}">
                      <a16:creationId xmlns:a16="http://schemas.microsoft.com/office/drawing/2014/main" id="{FAF9C2EB-76DE-4B4C-A324-B95B5DC8FB36}"/>
                    </a:ext>
                  </a:extLst>
                </p:cNvPr>
                <p:cNvSpPr txBox="1"/>
                <p:nvPr/>
              </p:nvSpPr>
              <p:spPr>
                <a:xfrm>
                  <a:off x="2623649" y="2920093"/>
                  <a:ext cx="16940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m:t>
                            </m:r>
                          </m:sub>
                        </m:sSub>
                      </m:oMath>
                    </m:oMathPara>
                  </a14:m>
                  <a:endParaRPr lang="es-CO" sz="1100" dirty="0"/>
                </a:p>
              </p:txBody>
            </p:sp>
          </mc:Choice>
          <mc:Fallback>
            <p:sp>
              <p:nvSpPr>
                <p:cNvPr id="79" name="CuadroTexto 78">
                  <a:extLst>
                    <a:ext uri="{FF2B5EF4-FFF2-40B4-BE49-F238E27FC236}">
                      <a16:creationId xmlns:a16="http://schemas.microsoft.com/office/drawing/2014/main" id="{FAF9C2EB-76DE-4B4C-A324-B95B5DC8FB36}"/>
                    </a:ext>
                  </a:extLst>
                </p:cNvPr>
                <p:cNvSpPr txBox="1">
                  <a:spLocks noRot="1" noChangeAspect="1" noMove="1" noResize="1" noEditPoints="1" noAdjustHandles="1" noChangeArrowheads="1" noChangeShapeType="1" noTextEdit="1"/>
                </p:cNvSpPr>
                <p:nvPr/>
              </p:nvSpPr>
              <p:spPr>
                <a:xfrm>
                  <a:off x="2623649" y="2920093"/>
                  <a:ext cx="169405" cy="169277"/>
                </a:xfrm>
                <a:prstGeom prst="rect">
                  <a:avLst/>
                </a:prstGeom>
                <a:blipFill>
                  <a:blip r:embed="rId19"/>
                  <a:stretch>
                    <a:fillRect l="-10714" r="-3571"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0" name="CuadroTexto 79">
                  <a:extLst>
                    <a:ext uri="{FF2B5EF4-FFF2-40B4-BE49-F238E27FC236}">
                      <a16:creationId xmlns:a16="http://schemas.microsoft.com/office/drawing/2014/main" id="{BCE2370F-8963-4F35-81E6-09984B538B71}"/>
                    </a:ext>
                  </a:extLst>
                </p:cNvPr>
                <p:cNvSpPr txBox="1"/>
                <p:nvPr/>
              </p:nvSpPr>
              <p:spPr>
                <a:xfrm>
                  <a:off x="2532085" y="2733374"/>
                  <a:ext cx="26096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𝑇𝑓𝑐</m:t>
                        </m:r>
                      </m:oMath>
                    </m:oMathPara>
                  </a14:m>
                  <a:endParaRPr lang="es-CO" sz="1100" dirty="0"/>
                </a:p>
              </p:txBody>
            </p:sp>
          </mc:Choice>
          <mc:Fallback>
            <p:sp>
              <p:nvSpPr>
                <p:cNvPr id="80" name="CuadroTexto 79">
                  <a:extLst>
                    <a:ext uri="{FF2B5EF4-FFF2-40B4-BE49-F238E27FC236}">
                      <a16:creationId xmlns:a16="http://schemas.microsoft.com/office/drawing/2014/main" id="{BCE2370F-8963-4F35-81E6-09984B538B71}"/>
                    </a:ext>
                  </a:extLst>
                </p:cNvPr>
                <p:cNvSpPr txBox="1">
                  <a:spLocks noRot="1" noChangeAspect="1" noMove="1" noResize="1" noEditPoints="1" noAdjustHandles="1" noChangeArrowheads="1" noChangeShapeType="1" noTextEdit="1"/>
                </p:cNvSpPr>
                <p:nvPr/>
              </p:nvSpPr>
              <p:spPr>
                <a:xfrm>
                  <a:off x="2532085" y="2733374"/>
                  <a:ext cx="260969" cy="169277"/>
                </a:xfrm>
                <a:prstGeom prst="rect">
                  <a:avLst/>
                </a:prstGeom>
                <a:blipFill>
                  <a:blip r:embed="rId13"/>
                  <a:stretch>
                    <a:fillRect l="-18605" r="-18605"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1" name="CuadroTexto 80">
                  <a:extLst>
                    <a:ext uri="{FF2B5EF4-FFF2-40B4-BE49-F238E27FC236}">
                      <a16:creationId xmlns:a16="http://schemas.microsoft.com/office/drawing/2014/main" id="{1F68B1B0-4705-407D-88E6-5EC328B697EA}"/>
                    </a:ext>
                  </a:extLst>
                </p:cNvPr>
                <p:cNvSpPr txBox="1"/>
                <p:nvPr/>
              </p:nvSpPr>
              <p:spPr>
                <a:xfrm>
                  <a:off x="2617044" y="3967728"/>
                  <a:ext cx="17601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𝑆𝑐</m:t>
                        </m:r>
                      </m:oMath>
                    </m:oMathPara>
                  </a14:m>
                  <a:endParaRPr lang="es-CO" sz="1100" dirty="0"/>
                </a:p>
              </p:txBody>
            </p:sp>
          </mc:Choice>
          <mc:Fallback>
            <p:sp>
              <p:nvSpPr>
                <p:cNvPr id="81" name="CuadroTexto 80">
                  <a:extLst>
                    <a:ext uri="{FF2B5EF4-FFF2-40B4-BE49-F238E27FC236}">
                      <a16:creationId xmlns:a16="http://schemas.microsoft.com/office/drawing/2014/main" id="{1F68B1B0-4705-407D-88E6-5EC328B697EA}"/>
                    </a:ext>
                  </a:extLst>
                </p:cNvPr>
                <p:cNvSpPr txBox="1">
                  <a:spLocks noRot="1" noChangeAspect="1" noMove="1" noResize="1" noEditPoints="1" noAdjustHandles="1" noChangeArrowheads="1" noChangeShapeType="1" noTextEdit="1"/>
                </p:cNvSpPr>
                <p:nvPr/>
              </p:nvSpPr>
              <p:spPr>
                <a:xfrm>
                  <a:off x="2617044" y="3967728"/>
                  <a:ext cx="176010" cy="169277"/>
                </a:xfrm>
                <a:prstGeom prst="rect">
                  <a:avLst/>
                </a:prstGeom>
                <a:blipFill>
                  <a:blip r:embed="rId14"/>
                  <a:stretch>
                    <a:fillRect l="-17241" r="-17241" b="-71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2" name="CuadroTexto 81">
                  <a:extLst>
                    <a:ext uri="{FF2B5EF4-FFF2-40B4-BE49-F238E27FC236}">
                      <a16:creationId xmlns:a16="http://schemas.microsoft.com/office/drawing/2014/main" id="{F5A3AD49-57E3-4ABD-B1E5-BADF0B87261D}"/>
                    </a:ext>
                  </a:extLst>
                </p:cNvPr>
                <p:cNvSpPr txBox="1"/>
                <p:nvPr/>
              </p:nvSpPr>
              <p:spPr>
                <a:xfrm>
                  <a:off x="2570557" y="2153736"/>
                  <a:ext cx="222497"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𝑖𝑓𝑐</m:t>
                        </m:r>
                      </m:oMath>
                    </m:oMathPara>
                  </a14:m>
                  <a:endParaRPr lang="es-CO" sz="1100" dirty="0"/>
                </a:p>
              </p:txBody>
            </p:sp>
          </mc:Choice>
          <mc:Fallback>
            <p:sp>
              <p:nvSpPr>
                <p:cNvPr id="82" name="CuadroTexto 81">
                  <a:extLst>
                    <a:ext uri="{FF2B5EF4-FFF2-40B4-BE49-F238E27FC236}">
                      <a16:creationId xmlns:a16="http://schemas.microsoft.com/office/drawing/2014/main" id="{F5A3AD49-57E3-4ABD-B1E5-BADF0B87261D}"/>
                    </a:ext>
                  </a:extLst>
                </p:cNvPr>
                <p:cNvSpPr txBox="1">
                  <a:spLocks noRot="1" noChangeAspect="1" noMove="1" noResize="1" noEditPoints="1" noAdjustHandles="1" noChangeArrowheads="1" noChangeShapeType="1" noTextEdit="1"/>
                </p:cNvSpPr>
                <p:nvPr/>
              </p:nvSpPr>
              <p:spPr>
                <a:xfrm>
                  <a:off x="2570557" y="2153736"/>
                  <a:ext cx="222497" cy="169277"/>
                </a:xfrm>
                <a:prstGeom prst="rect">
                  <a:avLst/>
                </a:prstGeom>
                <a:blipFill>
                  <a:blip r:embed="rId15"/>
                  <a:stretch>
                    <a:fillRect l="-22222" r="-25000"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3" name="CuadroTexto 82">
                  <a:extLst>
                    <a:ext uri="{FF2B5EF4-FFF2-40B4-BE49-F238E27FC236}">
                      <a16:creationId xmlns:a16="http://schemas.microsoft.com/office/drawing/2014/main" id="{D27FA1C1-A0A7-4AE0-A174-1318259ED40C}"/>
                    </a:ext>
                  </a:extLst>
                </p:cNvPr>
                <p:cNvSpPr txBox="1"/>
                <p:nvPr/>
              </p:nvSpPr>
              <p:spPr>
                <a:xfrm>
                  <a:off x="2687384" y="4762555"/>
                  <a:ext cx="10567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𝑒</m:t>
                        </m:r>
                      </m:oMath>
                    </m:oMathPara>
                  </a14:m>
                  <a:endParaRPr lang="es-CO" sz="1100" dirty="0"/>
                </a:p>
              </p:txBody>
            </p:sp>
          </mc:Choice>
          <mc:Fallback>
            <p:sp>
              <p:nvSpPr>
                <p:cNvPr id="83" name="CuadroTexto 82">
                  <a:extLst>
                    <a:ext uri="{FF2B5EF4-FFF2-40B4-BE49-F238E27FC236}">
                      <a16:creationId xmlns:a16="http://schemas.microsoft.com/office/drawing/2014/main" id="{D27FA1C1-A0A7-4AE0-A174-1318259ED40C}"/>
                    </a:ext>
                  </a:extLst>
                </p:cNvPr>
                <p:cNvSpPr txBox="1">
                  <a:spLocks noRot="1" noChangeAspect="1" noMove="1" noResize="1" noEditPoints="1" noAdjustHandles="1" noChangeArrowheads="1" noChangeShapeType="1" noTextEdit="1"/>
                </p:cNvSpPr>
                <p:nvPr/>
              </p:nvSpPr>
              <p:spPr>
                <a:xfrm>
                  <a:off x="2687384" y="4762555"/>
                  <a:ext cx="105670" cy="169277"/>
                </a:xfrm>
                <a:prstGeom prst="rect">
                  <a:avLst/>
                </a:prstGeom>
                <a:blipFill>
                  <a:blip r:embed="rId16"/>
                  <a:stretch>
                    <a:fillRect l="-17647" r="-1764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4" name="CuadroTexto 83">
                  <a:extLst>
                    <a:ext uri="{FF2B5EF4-FFF2-40B4-BE49-F238E27FC236}">
                      <a16:creationId xmlns:a16="http://schemas.microsoft.com/office/drawing/2014/main" id="{AE5A6338-6FE0-49BC-8A6A-9C0BDEFC9EBC}"/>
                    </a:ext>
                  </a:extLst>
                </p:cNvPr>
                <p:cNvSpPr txBox="1"/>
                <p:nvPr/>
              </p:nvSpPr>
              <p:spPr>
                <a:xfrm>
                  <a:off x="2597616" y="3135382"/>
                  <a:ext cx="195438"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𝑅𝑒</m:t>
                        </m:r>
                      </m:oMath>
                    </m:oMathPara>
                  </a14:m>
                  <a:endParaRPr lang="es-CO" sz="1100" dirty="0"/>
                </a:p>
              </p:txBody>
            </p:sp>
          </mc:Choice>
          <mc:Fallback>
            <p:sp>
              <p:nvSpPr>
                <p:cNvPr id="84" name="CuadroTexto 83">
                  <a:extLst>
                    <a:ext uri="{FF2B5EF4-FFF2-40B4-BE49-F238E27FC236}">
                      <a16:creationId xmlns:a16="http://schemas.microsoft.com/office/drawing/2014/main" id="{AE5A6338-6FE0-49BC-8A6A-9C0BDEFC9EBC}"/>
                    </a:ext>
                  </a:extLst>
                </p:cNvPr>
                <p:cNvSpPr txBox="1">
                  <a:spLocks noRot="1" noChangeAspect="1" noMove="1" noResize="1" noEditPoints="1" noAdjustHandles="1" noChangeArrowheads="1" noChangeShapeType="1" noTextEdit="1"/>
                </p:cNvSpPr>
                <p:nvPr/>
              </p:nvSpPr>
              <p:spPr>
                <a:xfrm>
                  <a:off x="2597616" y="3135382"/>
                  <a:ext cx="195438" cy="169277"/>
                </a:xfrm>
                <a:prstGeom prst="rect">
                  <a:avLst/>
                </a:prstGeom>
                <a:blipFill>
                  <a:blip r:embed="rId17"/>
                  <a:stretch>
                    <a:fillRect l="-15625" r="-15625" b="-7143"/>
                  </a:stretch>
                </a:blipFill>
              </p:spPr>
              <p:txBody>
                <a:bodyPr/>
                <a:lstStyle/>
                <a:p>
                  <a:r>
                    <a:rPr lang="es-CO">
                      <a:noFill/>
                    </a:rPr>
                    <a:t> </a:t>
                  </a:r>
                </a:p>
              </p:txBody>
            </p:sp>
          </mc:Fallback>
        </mc:AlternateContent>
      </p:grpSp>
    </p:spTree>
    <p:extLst>
      <p:ext uri="{BB962C8B-B14F-4D97-AF65-F5344CB8AC3E}">
        <p14:creationId xmlns:p14="http://schemas.microsoft.com/office/powerpoint/2010/main" val="27325205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646331"/>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36</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7" name="CuadroTexto 76">
            <a:extLst>
              <a:ext uri="{FF2B5EF4-FFF2-40B4-BE49-F238E27FC236}">
                <a16:creationId xmlns:a16="http://schemas.microsoft.com/office/drawing/2014/main" id="{780D9CC7-D777-45F3-A749-30B5C18B48F3}"/>
              </a:ext>
            </a:extLst>
          </p:cNvPr>
          <p:cNvSpPr txBox="1"/>
          <p:nvPr/>
        </p:nvSpPr>
        <p:spPr>
          <a:xfrm>
            <a:off x="907097" y="3429000"/>
            <a:ext cx="2358291" cy="1384995"/>
          </a:xfrm>
          <a:prstGeom prst="rect">
            <a:avLst/>
          </a:prstGeom>
          <a:noFill/>
        </p:spPr>
        <p:txBody>
          <a:bodyPr wrap="square">
            <a:spAutoFit/>
          </a:bodyPr>
          <a:lstStyle/>
          <a:p>
            <a:r>
              <a:rPr lang="es-CO" sz="1400" dirty="0"/>
              <a:t>N = 8.192</a:t>
            </a:r>
          </a:p>
          <a:p>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245,760 configurations</a:t>
            </a:r>
            <a:endParaRPr lang="es-CO" sz="1400" b="1" dirty="0"/>
          </a:p>
          <a:p>
            <a:r>
              <a:rPr lang="es-CO" sz="1400" dirty="0"/>
              <a:t>Sum S1 = 0.9464</a:t>
            </a:r>
          </a:p>
          <a:p>
            <a:r>
              <a:rPr lang="es-CO" sz="1400" dirty="0"/>
              <a:t>Sum S2 = 0.0675</a:t>
            </a:r>
          </a:p>
          <a:p>
            <a:r>
              <a:rPr lang="es-CO" sz="1400" dirty="0"/>
              <a:t>Sum S1 + S2 = 1.0139 </a:t>
            </a:r>
          </a:p>
          <a:p>
            <a:r>
              <a:rPr lang="es-CO" sz="1400" dirty="0"/>
              <a:t>Sum ST = 1.0799</a:t>
            </a:r>
          </a:p>
        </p:txBody>
      </p:sp>
      <p:graphicFrame>
        <p:nvGraphicFramePr>
          <p:cNvPr id="16" name="Tabla 15">
            <a:extLst>
              <a:ext uri="{FF2B5EF4-FFF2-40B4-BE49-F238E27FC236}">
                <a16:creationId xmlns:a16="http://schemas.microsoft.com/office/drawing/2014/main" id="{CDBB3F57-8E91-4EC2-A620-D052DCF46312}"/>
              </a:ext>
            </a:extLst>
          </p:cNvPr>
          <p:cNvGraphicFramePr>
            <a:graphicFrameLocks noGrp="1"/>
          </p:cNvGraphicFramePr>
          <p:nvPr>
            <p:extLst>
              <p:ext uri="{D42A27DB-BD31-4B8C-83A1-F6EECF244321}">
                <p14:modId xmlns:p14="http://schemas.microsoft.com/office/powerpoint/2010/main" val="3512021525"/>
              </p:ext>
            </p:extLst>
          </p:nvPr>
        </p:nvGraphicFramePr>
        <p:xfrm>
          <a:off x="3525520" y="1636947"/>
          <a:ext cx="8118612" cy="4044068"/>
        </p:xfrm>
        <a:graphic>
          <a:graphicData uri="http://schemas.openxmlformats.org/drawingml/2006/table">
            <a:tbl>
              <a:tblPr/>
              <a:tblGrid>
                <a:gridCol w="1216281">
                  <a:extLst>
                    <a:ext uri="{9D8B030D-6E8A-4147-A177-3AD203B41FA5}">
                      <a16:colId xmlns:a16="http://schemas.microsoft.com/office/drawing/2014/main" val="3158671648"/>
                    </a:ext>
                  </a:extLst>
                </a:gridCol>
                <a:gridCol w="1086293">
                  <a:extLst>
                    <a:ext uri="{9D8B030D-6E8A-4147-A177-3AD203B41FA5}">
                      <a16:colId xmlns:a16="http://schemas.microsoft.com/office/drawing/2014/main" val="923774245"/>
                    </a:ext>
                  </a:extLst>
                </a:gridCol>
                <a:gridCol w="1484574">
                  <a:extLst>
                    <a:ext uri="{9D8B030D-6E8A-4147-A177-3AD203B41FA5}">
                      <a16:colId xmlns:a16="http://schemas.microsoft.com/office/drawing/2014/main" val="2406905423"/>
                    </a:ext>
                  </a:extLst>
                </a:gridCol>
                <a:gridCol w="1082866">
                  <a:extLst>
                    <a:ext uri="{9D8B030D-6E8A-4147-A177-3AD203B41FA5}">
                      <a16:colId xmlns:a16="http://schemas.microsoft.com/office/drawing/2014/main" val="2756400743"/>
                    </a:ext>
                  </a:extLst>
                </a:gridCol>
                <a:gridCol w="1082866">
                  <a:extLst>
                    <a:ext uri="{9D8B030D-6E8A-4147-A177-3AD203B41FA5}">
                      <a16:colId xmlns:a16="http://schemas.microsoft.com/office/drawing/2014/main" val="3705247648"/>
                    </a:ext>
                  </a:extLst>
                </a:gridCol>
                <a:gridCol w="1082866">
                  <a:extLst>
                    <a:ext uri="{9D8B030D-6E8A-4147-A177-3AD203B41FA5}">
                      <a16:colId xmlns:a16="http://schemas.microsoft.com/office/drawing/2014/main" val="2855012562"/>
                    </a:ext>
                  </a:extLst>
                </a:gridCol>
                <a:gridCol w="1082866">
                  <a:extLst>
                    <a:ext uri="{9D8B030D-6E8A-4147-A177-3AD203B41FA5}">
                      <a16:colId xmlns:a16="http://schemas.microsoft.com/office/drawing/2014/main" val="930675123"/>
                    </a:ext>
                  </a:extLst>
                </a:gridCol>
              </a:tblGrid>
              <a:tr h="182880">
                <a:tc>
                  <a:txBody>
                    <a:bodyPr/>
                    <a:lstStyle/>
                    <a:p>
                      <a:pPr marL="0" lvl="0" indent="0" algn="ctr" defTabSz="914400" rtl="0" eaLnBrk="1" fontAlgn="ctr" latinLnBrk="0" hangingPunct="1">
                        <a:lnSpc>
                          <a:spcPct val="115000"/>
                        </a:lnSpc>
                        <a:spcBef>
                          <a:spcPts val="0"/>
                        </a:spcBef>
                        <a:spcAft>
                          <a:spcPts val="0"/>
                        </a:spcAft>
                        <a:buNone/>
                      </a:pPr>
                      <a:r>
                        <a:rPr lang="es-CO" sz="1600" b="1" kern="1200" dirty="0" err="1">
                          <a:solidFill>
                            <a:schemeClr val="tx1"/>
                          </a:solidFill>
                          <a:latin typeface="Source Sans Pro" panose="020B0503030403020204" pitchFamily="34" charset="0"/>
                          <a:ea typeface="Source Sans Pro" panose="020B0503030403020204" pitchFamily="34" charset="0"/>
                          <a:cs typeface="+mn-cs"/>
                        </a:rPr>
                        <a:t>Feature</a:t>
                      </a:r>
                      <a:endParaRPr lang="es-CO" sz="1600" b="1" kern="1200" dirty="0">
                        <a:solidFill>
                          <a:schemeClr val="tx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S1</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S1 CI</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ST</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ST CI</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S2 Total</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S2 CI</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extLst>
                  <a:ext uri="{0D108BD9-81ED-4DB2-BD59-A6C34878D82A}">
                    <a16:rowId xmlns:a16="http://schemas.microsoft.com/office/drawing/2014/main" val="2258232817"/>
                  </a:ext>
                </a:extLst>
              </a:tr>
              <a:tr h="182880">
                <a:tc>
                  <a:txBody>
                    <a:bodyPr/>
                    <a:lstStyle/>
                    <a:p>
                      <a:pPr algn="r" fontAlgn="ctr"/>
                      <a:r>
                        <a:rPr lang="es-CO" sz="800" b="0" i="0" u="none" strike="noStrike" dirty="0">
                          <a:solidFill>
                            <a:schemeClr val="bg1"/>
                          </a:solidFill>
                          <a:effectLst/>
                          <a:latin typeface="Segoe UI" panose="020B0502040204020203" pitchFamily="34" charset="0"/>
                        </a:rPr>
                        <a:t>i0_c_ref</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0.3046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(0.285, 0.324)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0.3145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(0.3, 0.329)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0.0055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(-0.089, 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528964987"/>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ifc</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0.2770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(0.262, 0.292)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0.2881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(0.277, 0.299)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(0.0, 0.0)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044020541"/>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Pa_des</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0.1069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(0.096, 0.118)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0.1319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(0.126, 0.138)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0.0479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(-0.158, 0.254)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651730174"/>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kappa_c</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0.0958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(0.085, 0.107)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0.1191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(0.114, 0.124)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(-0.016, 0.017)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865401410"/>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Tfc</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0.1050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(0.095, 0.115)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0.1164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(0.112, 0.121)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0.0102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(-0.193, 0.213)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754199902"/>
                  </a:ext>
                </a:extLst>
              </a:tr>
              <a:tr h="182880">
                <a:tc>
                  <a:txBody>
                    <a:bodyPr/>
                    <a:lstStyle/>
                    <a:p>
                      <a:pPr algn="r" fontAlgn="ctr"/>
                      <a:r>
                        <a:rPr lang="es-CO" sz="800" b="0" i="0" u="none" strike="noStrike" dirty="0">
                          <a:solidFill>
                            <a:schemeClr val="bg1"/>
                          </a:solidFill>
                          <a:effectLst/>
                          <a:latin typeface="Segoe UI" panose="020B0502040204020203" pitchFamily="34" charset="0"/>
                        </a:rPr>
                        <a:t>tau</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0.0183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(0.014, 0.023)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0.0286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(0.027, 0.03)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0.0088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(-0.049, 0.066)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353622057"/>
                  </a:ext>
                </a:extLst>
              </a:tr>
              <a:tr h="182880">
                <a:tc>
                  <a:txBody>
                    <a:bodyPr/>
                    <a:lstStyle/>
                    <a:p>
                      <a:pPr algn="r" fontAlgn="ctr"/>
                      <a:r>
                        <a:rPr lang="es-CO" sz="800" b="0" i="0" u="none" strike="noStrike" dirty="0">
                          <a:solidFill>
                            <a:schemeClr val="bg1"/>
                          </a:solidFill>
                          <a:effectLst/>
                          <a:latin typeface="Segoe UI" panose="020B0502040204020203" pitchFamily="34" charset="0"/>
                        </a:rPr>
                        <a:t>Re</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0.0151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(0.01, 0.02)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0.0231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(0.022, 0.024)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(-0.025, 0.031)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551587561"/>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epsilon_mc</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0.0116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(0.007, 0.016)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0.0193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(0.018, 0.02)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-0.0039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(-0.047, 0.039)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46875804"/>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Phi_c_des</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0.0083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(0.005, 0.012)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0.0151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(0.014, 0.016)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-0.0051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(-0.058, 0.048)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66793425"/>
                  </a:ext>
                </a:extLst>
              </a:tr>
              <a:tr h="182880">
                <a:tc>
                  <a:txBody>
                    <a:bodyPr/>
                    <a:lstStyle/>
                    <a:p>
                      <a:pPr algn="r" fontAlgn="ctr"/>
                      <a:r>
                        <a:rPr lang="es-CO" sz="800" b="0" i="0" u="none" strike="noStrike" dirty="0">
                          <a:solidFill>
                            <a:schemeClr val="bg1"/>
                          </a:solidFill>
                          <a:effectLst/>
                          <a:latin typeface="Segoe UI" panose="020B0502040204020203" pitchFamily="34" charset="0"/>
                        </a:rPr>
                        <a:t>Sc</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 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0.0096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(0.009, 0.01)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-0.0058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(-0.047, 0.036)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573210054"/>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kappa_co</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 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0.0063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(0.006, 0.007)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0.0023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(-0.004, 0.009)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795844322"/>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epsilon_gdl</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 0.002)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0.0039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(0.003, 0.004)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0.0051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(-0.021, 0.031)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586594164"/>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epsilon_c</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 0.001)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0.0034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(0.003, 0.004)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0.0008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(-0.014, 0.016)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392201228"/>
                  </a:ext>
                </a:extLst>
              </a:tr>
              <a:tr h="182880">
                <a:tc>
                  <a:txBody>
                    <a:bodyPr/>
                    <a:lstStyle/>
                    <a:p>
                      <a:pPr algn="r" fontAlgn="ctr"/>
                      <a:r>
                        <a:rPr lang="es-CO" sz="800" b="0" i="0" u="none" strike="noStrike" dirty="0">
                          <a:solidFill>
                            <a:schemeClr val="bg1"/>
                          </a:solidFill>
                          <a:effectLst/>
                          <a:latin typeface="Segoe UI" panose="020B0502040204020203" pitchFamily="34" charset="0"/>
                        </a:rPr>
                        <a:t>e</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 0.001)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(0.0, 0.001)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-0.0016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(-0.006, 0.003)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397607277"/>
                  </a:ext>
                </a:extLst>
              </a:tr>
            </a:tbl>
          </a:graphicData>
        </a:graphic>
      </p:graphicFrame>
      <mc:AlternateContent xmlns:mc="http://schemas.openxmlformats.org/markup-compatibility/2006">
        <mc:Choice xmlns:a14="http://schemas.microsoft.com/office/drawing/2010/main" Requires="a14">
          <p:sp>
            <p:nvSpPr>
              <p:cNvPr id="83" name="CuadroTexto 82">
                <a:extLst>
                  <a:ext uri="{FF2B5EF4-FFF2-40B4-BE49-F238E27FC236}">
                    <a16:creationId xmlns:a16="http://schemas.microsoft.com/office/drawing/2014/main" id="{4F2C4ECB-C629-46E7-BF18-754169DA7F57}"/>
                  </a:ext>
                </a:extLst>
              </p:cNvPr>
              <p:cNvSpPr txBox="1"/>
              <p:nvPr/>
            </p:nvSpPr>
            <p:spPr>
              <a:xfrm>
                <a:off x="3986891" y="2467068"/>
                <a:ext cx="41267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𝑃𝑎</m:t>
                          </m:r>
                        </m:e>
                        <m:sub>
                          <m:r>
                            <a:rPr lang="es-ES" sz="1200" b="0" i="1" smtClean="0">
                              <a:latin typeface="Cambria Math" panose="02040503050406030204" pitchFamily="18" charset="0"/>
                            </a:rPr>
                            <m:t>𝑑𝑒𝑠</m:t>
                          </m:r>
                        </m:sub>
                      </m:sSub>
                    </m:oMath>
                  </m:oMathPara>
                </a14:m>
                <a:endParaRPr lang="es-CO" sz="1200" dirty="0"/>
              </a:p>
            </p:txBody>
          </p:sp>
        </mc:Choice>
        <mc:Fallback>
          <p:sp>
            <p:nvSpPr>
              <p:cNvPr id="83" name="CuadroTexto 82">
                <a:extLst>
                  <a:ext uri="{FF2B5EF4-FFF2-40B4-BE49-F238E27FC236}">
                    <a16:creationId xmlns:a16="http://schemas.microsoft.com/office/drawing/2014/main" id="{4F2C4ECB-C629-46E7-BF18-754169DA7F57}"/>
                  </a:ext>
                </a:extLst>
              </p:cNvPr>
              <p:cNvSpPr txBox="1">
                <a:spLocks noRot="1" noChangeAspect="1" noMove="1" noResize="1" noEditPoints="1" noAdjustHandles="1" noChangeArrowheads="1" noChangeShapeType="1" noTextEdit="1"/>
              </p:cNvSpPr>
              <p:nvPr/>
            </p:nvSpPr>
            <p:spPr>
              <a:xfrm>
                <a:off x="3986891" y="2467068"/>
                <a:ext cx="412677" cy="184666"/>
              </a:xfrm>
              <a:prstGeom prst="rect">
                <a:avLst/>
              </a:prstGeom>
              <a:blipFill>
                <a:blip r:embed="rId2"/>
                <a:stretch>
                  <a:fillRect l="-8824" r="-4412" b="-13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4" name="CuadroTexto 83">
                <a:extLst>
                  <a:ext uri="{FF2B5EF4-FFF2-40B4-BE49-F238E27FC236}">
                    <a16:creationId xmlns:a16="http://schemas.microsoft.com/office/drawing/2014/main" id="{1E7BE181-B325-4438-9DEC-D23A5600015F}"/>
                  </a:ext>
                </a:extLst>
              </p:cNvPr>
              <p:cNvSpPr txBox="1"/>
              <p:nvPr/>
            </p:nvSpPr>
            <p:spPr>
              <a:xfrm>
                <a:off x="3996509" y="4052253"/>
                <a:ext cx="39344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𝜙</m:t>
                          </m:r>
                        </m:e>
                        <m:sub>
                          <m:r>
                            <a:rPr lang="es-ES" sz="1200" b="0" i="1" smtClean="0">
                              <a:latin typeface="Cambria Math" panose="02040503050406030204" pitchFamily="18" charset="0"/>
                            </a:rPr>
                            <m:t>𝑐𝑑𝑒𝑠</m:t>
                          </m:r>
                        </m:sub>
                      </m:sSub>
                    </m:oMath>
                  </m:oMathPara>
                </a14:m>
                <a:endParaRPr lang="es-CO" sz="1200" dirty="0"/>
              </a:p>
            </p:txBody>
          </p:sp>
        </mc:Choice>
        <mc:Fallback>
          <p:sp>
            <p:nvSpPr>
              <p:cNvPr id="84" name="CuadroTexto 83">
                <a:extLst>
                  <a:ext uri="{FF2B5EF4-FFF2-40B4-BE49-F238E27FC236}">
                    <a16:creationId xmlns:a16="http://schemas.microsoft.com/office/drawing/2014/main" id="{1E7BE181-B325-4438-9DEC-D23A5600015F}"/>
                  </a:ext>
                </a:extLst>
              </p:cNvPr>
              <p:cNvSpPr txBox="1">
                <a:spLocks noRot="1" noChangeAspect="1" noMove="1" noResize="1" noEditPoints="1" noAdjustHandles="1" noChangeArrowheads="1" noChangeShapeType="1" noTextEdit="1"/>
              </p:cNvSpPr>
              <p:nvPr/>
            </p:nvSpPr>
            <p:spPr>
              <a:xfrm>
                <a:off x="3996509" y="4052253"/>
                <a:ext cx="393441" cy="184666"/>
              </a:xfrm>
              <a:prstGeom prst="rect">
                <a:avLst/>
              </a:prstGeom>
              <a:blipFill>
                <a:blip r:embed="rId3"/>
                <a:stretch>
                  <a:fillRect l="-14063" r="-3125"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5" name="CuadroTexto 84">
                <a:extLst>
                  <a:ext uri="{FF2B5EF4-FFF2-40B4-BE49-F238E27FC236}">
                    <a16:creationId xmlns:a16="http://schemas.microsoft.com/office/drawing/2014/main" id="{3DC2449D-4307-4501-90CB-8E9E1892BF32}"/>
                  </a:ext>
                </a:extLst>
              </p:cNvPr>
              <p:cNvSpPr txBox="1"/>
              <p:nvPr/>
            </p:nvSpPr>
            <p:spPr>
              <a:xfrm>
                <a:off x="4044727" y="4866685"/>
                <a:ext cx="297004" cy="19973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𝑔𝑑𝑙</m:t>
                          </m:r>
                        </m:sub>
                      </m:sSub>
                    </m:oMath>
                  </m:oMathPara>
                </a14:m>
                <a:endParaRPr lang="es-CO" sz="1200" dirty="0"/>
              </a:p>
            </p:txBody>
          </p:sp>
        </mc:Choice>
        <mc:Fallback>
          <p:sp>
            <p:nvSpPr>
              <p:cNvPr id="85" name="CuadroTexto 84">
                <a:extLst>
                  <a:ext uri="{FF2B5EF4-FFF2-40B4-BE49-F238E27FC236}">
                    <a16:creationId xmlns:a16="http://schemas.microsoft.com/office/drawing/2014/main" id="{3DC2449D-4307-4501-90CB-8E9E1892BF32}"/>
                  </a:ext>
                </a:extLst>
              </p:cNvPr>
              <p:cNvSpPr txBox="1">
                <a:spLocks noRot="1" noChangeAspect="1" noMove="1" noResize="1" noEditPoints="1" noAdjustHandles="1" noChangeArrowheads="1" noChangeShapeType="1" noTextEdit="1"/>
              </p:cNvSpPr>
              <p:nvPr/>
            </p:nvSpPr>
            <p:spPr>
              <a:xfrm>
                <a:off x="4044727" y="4866685"/>
                <a:ext cx="297004" cy="199735"/>
              </a:xfrm>
              <a:prstGeom prst="rect">
                <a:avLst/>
              </a:prstGeom>
              <a:blipFill>
                <a:blip r:embed="rId4"/>
                <a:stretch>
                  <a:fillRect l="-8333" r="-8333" b="-2727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6" name="CuadroTexto 85">
                <a:extLst>
                  <a:ext uri="{FF2B5EF4-FFF2-40B4-BE49-F238E27FC236}">
                    <a16:creationId xmlns:a16="http://schemas.microsoft.com/office/drawing/2014/main" id="{DBC4CD14-8C46-455C-9086-9FE8F877C5D9}"/>
                  </a:ext>
                </a:extLst>
              </p:cNvPr>
              <p:cNvSpPr txBox="1"/>
              <p:nvPr/>
            </p:nvSpPr>
            <p:spPr>
              <a:xfrm>
                <a:off x="4053576" y="3818763"/>
                <a:ext cx="27930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𝑚𝑐</m:t>
                          </m:r>
                        </m:sub>
                      </m:sSub>
                    </m:oMath>
                  </m:oMathPara>
                </a14:m>
                <a:endParaRPr lang="es-CO" sz="1200" dirty="0"/>
              </a:p>
            </p:txBody>
          </p:sp>
        </mc:Choice>
        <mc:Fallback>
          <p:sp>
            <p:nvSpPr>
              <p:cNvPr id="86" name="CuadroTexto 85">
                <a:extLst>
                  <a:ext uri="{FF2B5EF4-FFF2-40B4-BE49-F238E27FC236}">
                    <a16:creationId xmlns:a16="http://schemas.microsoft.com/office/drawing/2014/main" id="{DBC4CD14-8C46-455C-9086-9FE8F877C5D9}"/>
                  </a:ext>
                </a:extLst>
              </p:cNvPr>
              <p:cNvSpPr txBox="1">
                <a:spLocks noRot="1" noChangeAspect="1" noMove="1" noResize="1" noEditPoints="1" noAdjustHandles="1" noChangeArrowheads="1" noChangeShapeType="1" noTextEdit="1"/>
              </p:cNvSpPr>
              <p:nvPr/>
            </p:nvSpPr>
            <p:spPr>
              <a:xfrm>
                <a:off x="4053576" y="3818763"/>
                <a:ext cx="279307" cy="184666"/>
              </a:xfrm>
              <a:prstGeom prst="rect">
                <a:avLst/>
              </a:prstGeom>
              <a:blipFill>
                <a:blip r:embed="rId5"/>
                <a:stretch>
                  <a:fillRect l="-8696" b="-645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7" name="CuadroTexto 86">
                <a:extLst>
                  <a:ext uri="{FF2B5EF4-FFF2-40B4-BE49-F238E27FC236}">
                    <a16:creationId xmlns:a16="http://schemas.microsoft.com/office/drawing/2014/main" id="{8B1836FB-5579-42D5-9234-9D4ABBFA6E28}"/>
                  </a:ext>
                </a:extLst>
              </p:cNvPr>
              <p:cNvSpPr txBox="1"/>
              <p:nvPr/>
            </p:nvSpPr>
            <p:spPr>
              <a:xfrm>
                <a:off x="4106475" y="5179298"/>
                <a:ext cx="173509"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𝑐</m:t>
                          </m:r>
                        </m:sub>
                      </m:sSub>
                    </m:oMath>
                  </m:oMathPara>
                </a14:m>
                <a:endParaRPr lang="es-CO" sz="1200" dirty="0"/>
              </a:p>
            </p:txBody>
          </p:sp>
        </mc:Choice>
        <mc:Fallback>
          <p:sp>
            <p:nvSpPr>
              <p:cNvPr id="87" name="CuadroTexto 86">
                <a:extLst>
                  <a:ext uri="{FF2B5EF4-FFF2-40B4-BE49-F238E27FC236}">
                    <a16:creationId xmlns:a16="http://schemas.microsoft.com/office/drawing/2014/main" id="{8B1836FB-5579-42D5-9234-9D4ABBFA6E28}"/>
                  </a:ext>
                </a:extLst>
              </p:cNvPr>
              <p:cNvSpPr txBox="1">
                <a:spLocks noRot="1" noChangeAspect="1" noMove="1" noResize="1" noEditPoints="1" noAdjustHandles="1" noChangeArrowheads="1" noChangeShapeType="1" noTextEdit="1"/>
              </p:cNvSpPr>
              <p:nvPr/>
            </p:nvSpPr>
            <p:spPr>
              <a:xfrm>
                <a:off x="4106475" y="5179298"/>
                <a:ext cx="173509" cy="184666"/>
              </a:xfrm>
              <a:prstGeom prst="rect">
                <a:avLst/>
              </a:prstGeom>
              <a:blipFill>
                <a:blip r:embed="rId6"/>
                <a:stretch>
                  <a:fillRect l="-14286" r="-3571" b="-1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8" name="CuadroTexto 87">
                <a:extLst>
                  <a:ext uri="{FF2B5EF4-FFF2-40B4-BE49-F238E27FC236}">
                    <a16:creationId xmlns:a16="http://schemas.microsoft.com/office/drawing/2014/main" id="{2345A5BD-D15D-4649-ABCE-0998824A98E7}"/>
                  </a:ext>
                </a:extLst>
              </p:cNvPr>
              <p:cNvSpPr txBox="1"/>
              <p:nvPr/>
            </p:nvSpPr>
            <p:spPr>
              <a:xfrm>
                <a:off x="4138663" y="3306329"/>
                <a:ext cx="10913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𝜏</m:t>
                      </m:r>
                    </m:oMath>
                  </m:oMathPara>
                </a14:m>
                <a:endParaRPr lang="es-CO" sz="1200" dirty="0"/>
              </a:p>
            </p:txBody>
          </p:sp>
        </mc:Choice>
        <mc:Fallback>
          <p:sp>
            <p:nvSpPr>
              <p:cNvPr id="88" name="CuadroTexto 87">
                <a:extLst>
                  <a:ext uri="{FF2B5EF4-FFF2-40B4-BE49-F238E27FC236}">
                    <a16:creationId xmlns:a16="http://schemas.microsoft.com/office/drawing/2014/main" id="{2345A5BD-D15D-4649-ABCE-0998824A98E7}"/>
                  </a:ext>
                </a:extLst>
              </p:cNvPr>
              <p:cNvSpPr txBox="1">
                <a:spLocks noRot="1" noChangeAspect="1" noMove="1" noResize="1" noEditPoints="1" noAdjustHandles="1" noChangeArrowheads="1" noChangeShapeType="1" noTextEdit="1"/>
              </p:cNvSpPr>
              <p:nvPr/>
            </p:nvSpPr>
            <p:spPr>
              <a:xfrm>
                <a:off x="4138663" y="3306329"/>
                <a:ext cx="109132" cy="184666"/>
              </a:xfrm>
              <a:prstGeom prst="rect">
                <a:avLst/>
              </a:prstGeom>
              <a:blipFill>
                <a:blip r:embed="rId7"/>
                <a:stretch>
                  <a:fillRect l="-22222" r="-1111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9" name="CuadroTexto 88">
                <a:extLst>
                  <a:ext uri="{FF2B5EF4-FFF2-40B4-BE49-F238E27FC236}">
                    <a16:creationId xmlns:a16="http://schemas.microsoft.com/office/drawing/2014/main" id="{80A0C03C-D2E3-462A-BD1A-F09AA0A6400C}"/>
                  </a:ext>
                </a:extLst>
              </p:cNvPr>
              <p:cNvSpPr txBox="1"/>
              <p:nvPr/>
            </p:nvSpPr>
            <p:spPr>
              <a:xfrm>
                <a:off x="3968712" y="1965485"/>
                <a:ext cx="449034" cy="19947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𝑖</m:t>
                          </m:r>
                          <m:r>
                            <a:rPr lang="es-ES" sz="1200" b="0" i="1" smtClean="0">
                              <a:latin typeface="Cambria Math" panose="02040503050406030204" pitchFamily="18" charset="0"/>
                            </a:rPr>
                            <m:t>0</m:t>
                          </m:r>
                        </m:e>
                        <m:sub>
                          <m:r>
                            <a:rPr lang="es-ES" sz="1200" b="0" i="1" smtClean="0">
                              <a:latin typeface="Cambria Math" panose="02040503050406030204" pitchFamily="18" charset="0"/>
                            </a:rPr>
                            <m:t>𝑐</m:t>
                          </m:r>
                          <m:r>
                            <a:rPr lang="es-ES" sz="1200" b="0" i="1" smtClean="0">
                              <a:latin typeface="Cambria Math" panose="02040503050406030204" pitchFamily="18" charset="0"/>
                            </a:rPr>
                            <m:t> </m:t>
                          </m:r>
                          <m:r>
                            <a:rPr lang="es-ES" sz="1200" b="0" i="1" smtClean="0">
                              <a:latin typeface="Cambria Math" panose="02040503050406030204" pitchFamily="18" charset="0"/>
                            </a:rPr>
                            <m:t>𝑟𝑒𝑓</m:t>
                          </m:r>
                        </m:sub>
                      </m:sSub>
                    </m:oMath>
                  </m:oMathPara>
                </a14:m>
                <a:endParaRPr lang="es-CO" sz="1200" dirty="0"/>
              </a:p>
            </p:txBody>
          </p:sp>
        </mc:Choice>
        <mc:Fallback>
          <p:sp>
            <p:nvSpPr>
              <p:cNvPr id="89" name="CuadroTexto 88">
                <a:extLst>
                  <a:ext uri="{FF2B5EF4-FFF2-40B4-BE49-F238E27FC236}">
                    <a16:creationId xmlns:a16="http://schemas.microsoft.com/office/drawing/2014/main" id="{80A0C03C-D2E3-462A-BD1A-F09AA0A6400C}"/>
                  </a:ext>
                </a:extLst>
              </p:cNvPr>
              <p:cNvSpPr txBox="1">
                <a:spLocks noRot="1" noChangeAspect="1" noMove="1" noResize="1" noEditPoints="1" noAdjustHandles="1" noChangeArrowheads="1" noChangeShapeType="1" noTextEdit="1"/>
              </p:cNvSpPr>
              <p:nvPr/>
            </p:nvSpPr>
            <p:spPr>
              <a:xfrm>
                <a:off x="3968712" y="1965485"/>
                <a:ext cx="449034" cy="199478"/>
              </a:xfrm>
              <a:prstGeom prst="rect">
                <a:avLst/>
              </a:prstGeom>
              <a:blipFill>
                <a:blip r:embed="rId8"/>
                <a:stretch>
                  <a:fillRect l="-8108" r="-5405" b="-2727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0" name="CuadroTexto 89">
                <a:extLst>
                  <a:ext uri="{FF2B5EF4-FFF2-40B4-BE49-F238E27FC236}">
                    <a16:creationId xmlns:a16="http://schemas.microsoft.com/office/drawing/2014/main" id="{C53949A9-A964-4687-A178-EF36799CA539}"/>
                  </a:ext>
                </a:extLst>
              </p:cNvPr>
              <p:cNvSpPr txBox="1"/>
              <p:nvPr/>
            </p:nvSpPr>
            <p:spPr>
              <a:xfrm>
                <a:off x="4068580" y="4641006"/>
                <a:ext cx="249299"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𝜅</m:t>
                          </m:r>
                        </m:e>
                        <m:sub>
                          <m:r>
                            <a:rPr lang="es-ES" sz="1200" b="0" i="1" smtClean="0">
                              <a:latin typeface="Cambria Math" panose="02040503050406030204" pitchFamily="18" charset="0"/>
                            </a:rPr>
                            <m:t>𝑐𝑜</m:t>
                          </m:r>
                        </m:sub>
                      </m:sSub>
                    </m:oMath>
                  </m:oMathPara>
                </a14:m>
                <a:endParaRPr lang="es-CO" sz="1200" dirty="0"/>
              </a:p>
            </p:txBody>
          </p:sp>
        </mc:Choice>
        <mc:Fallback>
          <p:sp>
            <p:nvSpPr>
              <p:cNvPr id="90" name="CuadroTexto 89">
                <a:extLst>
                  <a:ext uri="{FF2B5EF4-FFF2-40B4-BE49-F238E27FC236}">
                    <a16:creationId xmlns:a16="http://schemas.microsoft.com/office/drawing/2014/main" id="{C53949A9-A964-4687-A178-EF36799CA539}"/>
                  </a:ext>
                </a:extLst>
              </p:cNvPr>
              <p:cNvSpPr txBox="1">
                <a:spLocks noRot="1" noChangeAspect="1" noMove="1" noResize="1" noEditPoints="1" noAdjustHandles="1" noChangeArrowheads="1" noChangeShapeType="1" noTextEdit="1"/>
              </p:cNvSpPr>
              <p:nvPr/>
            </p:nvSpPr>
            <p:spPr>
              <a:xfrm>
                <a:off x="4068580" y="4641006"/>
                <a:ext cx="249299" cy="184666"/>
              </a:xfrm>
              <a:prstGeom prst="rect">
                <a:avLst/>
              </a:prstGeom>
              <a:blipFill>
                <a:blip r:embed="rId9"/>
                <a:stretch>
                  <a:fillRect l="-7317" r="-2439" b="-645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1" name="CuadroTexto 90">
                <a:extLst>
                  <a:ext uri="{FF2B5EF4-FFF2-40B4-BE49-F238E27FC236}">
                    <a16:creationId xmlns:a16="http://schemas.microsoft.com/office/drawing/2014/main" id="{86D22166-D8EE-45CE-AEAB-0327F5B7230C}"/>
                  </a:ext>
                </a:extLst>
              </p:cNvPr>
              <p:cNvSpPr txBox="1"/>
              <p:nvPr/>
            </p:nvSpPr>
            <p:spPr>
              <a:xfrm>
                <a:off x="4100864" y="2722719"/>
                <a:ext cx="18473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𝜅</m:t>
                          </m:r>
                        </m:e>
                        <m:sub>
                          <m:r>
                            <a:rPr lang="es-ES" sz="1200" b="0" i="1" smtClean="0">
                              <a:latin typeface="Cambria Math" panose="02040503050406030204" pitchFamily="18" charset="0"/>
                            </a:rPr>
                            <m:t>𝑐</m:t>
                          </m:r>
                        </m:sub>
                      </m:sSub>
                    </m:oMath>
                  </m:oMathPara>
                </a14:m>
                <a:endParaRPr lang="es-CO" sz="1200" dirty="0"/>
              </a:p>
            </p:txBody>
          </p:sp>
        </mc:Choice>
        <mc:Fallback>
          <p:sp>
            <p:nvSpPr>
              <p:cNvPr id="91" name="CuadroTexto 90">
                <a:extLst>
                  <a:ext uri="{FF2B5EF4-FFF2-40B4-BE49-F238E27FC236}">
                    <a16:creationId xmlns:a16="http://schemas.microsoft.com/office/drawing/2014/main" id="{86D22166-D8EE-45CE-AEAB-0327F5B7230C}"/>
                  </a:ext>
                </a:extLst>
              </p:cNvPr>
              <p:cNvSpPr txBox="1">
                <a:spLocks noRot="1" noChangeAspect="1" noMove="1" noResize="1" noEditPoints="1" noAdjustHandles="1" noChangeArrowheads="1" noChangeShapeType="1" noTextEdit="1"/>
              </p:cNvSpPr>
              <p:nvPr/>
            </p:nvSpPr>
            <p:spPr>
              <a:xfrm>
                <a:off x="4100864" y="2722719"/>
                <a:ext cx="184731" cy="184666"/>
              </a:xfrm>
              <a:prstGeom prst="rect">
                <a:avLst/>
              </a:prstGeom>
              <a:blipFill>
                <a:blip r:embed="rId10"/>
                <a:stretch>
                  <a:fillRect l="-13333" r="-3333" b="-1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2" name="CuadroTexto 91">
                <a:extLst>
                  <a:ext uri="{FF2B5EF4-FFF2-40B4-BE49-F238E27FC236}">
                    <a16:creationId xmlns:a16="http://schemas.microsoft.com/office/drawing/2014/main" id="{67333791-8F16-4277-93CB-DB857270FAD7}"/>
                  </a:ext>
                </a:extLst>
              </p:cNvPr>
              <p:cNvSpPr txBox="1"/>
              <p:nvPr/>
            </p:nvSpPr>
            <p:spPr>
              <a:xfrm>
                <a:off x="4049728" y="3026769"/>
                <a:ext cx="28700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𝑇𝑓𝑐</m:t>
                      </m:r>
                    </m:oMath>
                  </m:oMathPara>
                </a14:m>
                <a:endParaRPr lang="es-CO" sz="1200" dirty="0"/>
              </a:p>
            </p:txBody>
          </p:sp>
        </mc:Choice>
        <mc:Fallback>
          <p:sp>
            <p:nvSpPr>
              <p:cNvPr id="92" name="CuadroTexto 91">
                <a:extLst>
                  <a:ext uri="{FF2B5EF4-FFF2-40B4-BE49-F238E27FC236}">
                    <a16:creationId xmlns:a16="http://schemas.microsoft.com/office/drawing/2014/main" id="{67333791-8F16-4277-93CB-DB857270FAD7}"/>
                  </a:ext>
                </a:extLst>
              </p:cNvPr>
              <p:cNvSpPr txBox="1">
                <a:spLocks noRot="1" noChangeAspect="1" noMove="1" noResize="1" noEditPoints="1" noAdjustHandles="1" noChangeArrowheads="1" noChangeShapeType="1" noTextEdit="1"/>
              </p:cNvSpPr>
              <p:nvPr/>
            </p:nvSpPr>
            <p:spPr>
              <a:xfrm>
                <a:off x="4049728" y="3026769"/>
                <a:ext cx="287002" cy="184666"/>
              </a:xfrm>
              <a:prstGeom prst="rect">
                <a:avLst/>
              </a:prstGeom>
              <a:blipFill>
                <a:blip r:embed="rId11"/>
                <a:stretch>
                  <a:fillRect l="-19149" t="-6667" r="-19149" b="-33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3" name="CuadroTexto 92">
                <a:extLst>
                  <a:ext uri="{FF2B5EF4-FFF2-40B4-BE49-F238E27FC236}">
                    <a16:creationId xmlns:a16="http://schemas.microsoft.com/office/drawing/2014/main" id="{5D349F7A-F390-47C7-B34B-9176C95479F3}"/>
                  </a:ext>
                </a:extLst>
              </p:cNvPr>
              <p:cNvSpPr txBox="1"/>
              <p:nvPr/>
            </p:nvSpPr>
            <p:spPr>
              <a:xfrm>
                <a:off x="4097017" y="4393296"/>
                <a:ext cx="192425"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𝑆𝑐</m:t>
                      </m:r>
                    </m:oMath>
                  </m:oMathPara>
                </a14:m>
                <a:endParaRPr lang="es-CO" sz="1200" dirty="0"/>
              </a:p>
            </p:txBody>
          </p:sp>
        </mc:Choice>
        <mc:Fallback>
          <p:sp>
            <p:nvSpPr>
              <p:cNvPr id="93" name="CuadroTexto 92">
                <a:extLst>
                  <a:ext uri="{FF2B5EF4-FFF2-40B4-BE49-F238E27FC236}">
                    <a16:creationId xmlns:a16="http://schemas.microsoft.com/office/drawing/2014/main" id="{5D349F7A-F390-47C7-B34B-9176C95479F3}"/>
                  </a:ext>
                </a:extLst>
              </p:cNvPr>
              <p:cNvSpPr txBox="1">
                <a:spLocks noRot="1" noChangeAspect="1" noMove="1" noResize="1" noEditPoints="1" noAdjustHandles="1" noChangeArrowheads="1" noChangeShapeType="1" noTextEdit="1"/>
              </p:cNvSpPr>
              <p:nvPr/>
            </p:nvSpPr>
            <p:spPr>
              <a:xfrm>
                <a:off x="4097017" y="4393296"/>
                <a:ext cx="192425" cy="184666"/>
              </a:xfrm>
              <a:prstGeom prst="rect">
                <a:avLst/>
              </a:prstGeom>
              <a:blipFill>
                <a:blip r:embed="rId12"/>
                <a:stretch>
                  <a:fillRect l="-18750" r="-15625" b="-666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4" name="CuadroTexto 93">
                <a:extLst>
                  <a:ext uri="{FF2B5EF4-FFF2-40B4-BE49-F238E27FC236}">
                    <a16:creationId xmlns:a16="http://schemas.microsoft.com/office/drawing/2014/main" id="{E332D206-63C9-4E95-9E04-7DCB24EA1C8D}"/>
                  </a:ext>
                </a:extLst>
              </p:cNvPr>
              <p:cNvSpPr txBox="1"/>
              <p:nvPr/>
            </p:nvSpPr>
            <p:spPr>
              <a:xfrm>
                <a:off x="4071369" y="2252790"/>
                <a:ext cx="24372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𝑖𝑓𝑐</m:t>
                      </m:r>
                    </m:oMath>
                  </m:oMathPara>
                </a14:m>
                <a:endParaRPr lang="es-CO" sz="1200" dirty="0"/>
              </a:p>
            </p:txBody>
          </p:sp>
        </mc:Choice>
        <mc:Fallback>
          <p:sp>
            <p:nvSpPr>
              <p:cNvPr id="94" name="CuadroTexto 93">
                <a:extLst>
                  <a:ext uri="{FF2B5EF4-FFF2-40B4-BE49-F238E27FC236}">
                    <a16:creationId xmlns:a16="http://schemas.microsoft.com/office/drawing/2014/main" id="{E332D206-63C9-4E95-9E04-7DCB24EA1C8D}"/>
                  </a:ext>
                </a:extLst>
              </p:cNvPr>
              <p:cNvSpPr txBox="1">
                <a:spLocks noRot="1" noChangeAspect="1" noMove="1" noResize="1" noEditPoints="1" noAdjustHandles="1" noChangeArrowheads="1" noChangeShapeType="1" noTextEdit="1"/>
              </p:cNvSpPr>
              <p:nvPr/>
            </p:nvSpPr>
            <p:spPr>
              <a:xfrm>
                <a:off x="4071369" y="2252790"/>
                <a:ext cx="243721" cy="184666"/>
              </a:xfrm>
              <a:prstGeom prst="rect">
                <a:avLst/>
              </a:prstGeom>
              <a:blipFill>
                <a:blip r:embed="rId13"/>
                <a:stretch>
                  <a:fillRect l="-22500" t="-6667" r="-22500" b="-33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5" name="CuadroTexto 94">
                <a:extLst>
                  <a:ext uri="{FF2B5EF4-FFF2-40B4-BE49-F238E27FC236}">
                    <a16:creationId xmlns:a16="http://schemas.microsoft.com/office/drawing/2014/main" id="{E7BEED46-3B21-4B8F-AC25-C962244AF413}"/>
                  </a:ext>
                </a:extLst>
              </p:cNvPr>
              <p:cNvSpPr txBox="1"/>
              <p:nvPr/>
            </p:nvSpPr>
            <p:spPr>
              <a:xfrm>
                <a:off x="4135425" y="5445261"/>
                <a:ext cx="115608"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𝑒</m:t>
                      </m:r>
                    </m:oMath>
                  </m:oMathPara>
                </a14:m>
                <a:endParaRPr lang="es-CO" sz="1200" dirty="0"/>
              </a:p>
            </p:txBody>
          </p:sp>
        </mc:Choice>
        <mc:Fallback>
          <p:sp>
            <p:nvSpPr>
              <p:cNvPr id="95" name="CuadroTexto 94">
                <a:extLst>
                  <a:ext uri="{FF2B5EF4-FFF2-40B4-BE49-F238E27FC236}">
                    <a16:creationId xmlns:a16="http://schemas.microsoft.com/office/drawing/2014/main" id="{E7BEED46-3B21-4B8F-AC25-C962244AF413}"/>
                  </a:ext>
                </a:extLst>
              </p:cNvPr>
              <p:cNvSpPr txBox="1">
                <a:spLocks noRot="1" noChangeAspect="1" noMove="1" noResize="1" noEditPoints="1" noAdjustHandles="1" noChangeArrowheads="1" noChangeShapeType="1" noTextEdit="1"/>
              </p:cNvSpPr>
              <p:nvPr/>
            </p:nvSpPr>
            <p:spPr>
              <a:xfrm>
                <a:off x="4135425" y="5445261"/>
                <a:ext cx="115608" cy="184666"/>
              </a:xfrm>
              <a:prstGeom prst="rect">
                <a:avLst/>
              </a:prstGeom>
              <a:blipFill>
                <a:blip r:embed="rId14"/>
                <a:stretch>
                  <a:fillRect l="-15789" r="-1578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6" name="CuadroTexto 95">
                <a:extLst>
                  <a:ext uri="{FF2B5EF4-FFF2-40B4-BE49-F238E27FC236}">
                    <a16:creationId xmlns:a16="http://schemas.microsoft.com/office/drawing/2014/main" id="{6A1640CF-3047-4361-8CD2-8821BB2E0C29}"/>
                  </a:ext>
                </a:extLst>
              </p:cNvPr>
              <p:cNvSpPr txBox="1"/>
              <p:nvPr/>
            </p:nvSpPr>
            <p:spPr>
              <a:xfrm>
                <a:off x="4086533" y="3574220"/>
                <a:ext cx="21339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𝑅𝑒</m:t>
                      </m:r>
                    </m:oMath>
                  </m:oMathPara>
                </a14:m>
                <a:endParaRPr lang="es-CO" sz="1200" dirty="0"/>
              </a:p>
            </p:txBody>
          </p:sp>
        </mc:Choice>
        <mc:Fallback>
          <p:sp>
            <p:nvSpPr>
              <p:cNvPr id="96" name="CuadroTexto 95">
                <a:extLst>
                  <a:ext uri="{FF2B5EF4-FFF2-40B4-BE49-F238E27FC236}">
                    <a16:creationId xmlns:a16="http://schemas.microsoft.com/office/drawing/2014/main" id="{6A1640CF-3047-4361-8CD2-8821BB2E0C29}"/>
                  </a:ext>
                </a:extLst>
              </p:cNvPr>
              <p:cNvSpPr txBox="1">
                <a:spLocks noRot="1" noChangeAspect="1" noMove="1" noResize="1" noEditPoints="1" noAdjustHandles="1" noChangeArrowheads="1" noChangeShapeType="1" noTextEdit="1"/>
              </p:cNvSpPr>
              <p:nvPr/>
            </p:nvSpPr>
            <p:spPr>
              <a:xfrm>
                <a:off x="4086533" y="3574220"/>
                <a:ext cx="213392" cy="184666"/>
              </a:xfrm>
              <a:prstGeom prst="rect">
                <a:avLst/>
              </a:prstGeom>
              <a:blipFill>
                <a:blip r:embed="rId15"/>
                <a:stretch>
                  <a:fillRect l="-17143" r="-14286" b="-3226"/>
                </a:stretch>
              </a:blipFill>
            </p:spPr>
            <p:txBody>
              <a:bodyPr/>
              <a:lstStyle/>
              <a:p>
                <a:r>
                  <a:rPr lang="es-CO">
                    <a:noFill/>
                  </a:rPr>
                  <a:t> </a:t>
                </a:r>
              </a:p>
            </p:txBody>
          </p:sp>
        </mc:Fallback>
      </mc:AlternateContent>
      <p:sp>
        <p:nvSpPr>
          <p:cNvPr id="29" name="CuadroTexto 28">
            <a:extLst>
              <a:ext uri="{FF2B5EF4-FFF2-40B4-BE49-F238E27FC236}">
                <a16:creationId xmlns:a16="http://schemas.microsoft.com/office/drawing/2014/main" id="{C3652E7E-118C-42FD-9A5E-0FB856AB167A}"/>
              </a:ext>
            </a:extLst>
          </p:cNvPr>
          <p:cNvSpPr txBox="1"/>
          <p:nvPr/>
        </p:nvSpPr>
        <p:spPr>
          <a:xfrm>
            <a:off x="4062039" y="5703218"/>
            <a:ext cx="7045574" cy="646331"/>
          </a:xfrm>
          <a:prstGeom prst="rect">
            <a:avLst/>
          </a:prstGeom>
          <a:noFill/>
        </p:spPr>
        <p:txBody>
          <a:bodyPr wrap="square">
            <a:spAutoFit/>
          </a:bodyPr>
          <a:lstStyle/>
          <a:p>
            <a:r>
              <a:rPr lang="en" sz="1200" b="1" dirty="0"/>
              <a:t>Figure XX:  </a:t>
            </a:r>
            <a:r>
              <a:rPr lang="es-CO" sz="1200" dirty="0" err="1"/>
              <a:t>Sobol</a:t>
            </a:r>
            <a:r>
              <a:rPr lang="es-CO" sz="1200" dirty="0"/>
              <a:t> </a:t>
            </a:r>
            <a:r>
              <a:rPr lang="es-CO" sz="1200" dirty="0" err="1"/>
              <a:t>sensitivity</a:t>
            </a:r>
            <a:r>
              <a:rPr lang="es-CO" sz="1200" dirty="0"/>
              <a:t> </a:t>
            </a:r>
            <a:r>
              <a:rPr lang="es-CO" sz="1200" dirty="0" err="1"/>
              <a:t>indices</a:t>
            </a:r>
            <a:r>
              <a:rPr lang="es-CO" sz="1200" dirty="0"/>
              <a:t> </a:t>
            </a:r>
            <a:r>
              <a:rPr lang="es-CO" sz="1200" dirty="0" err="1"/>
              <a:t>for</a:t>
            </a:r>
            <a:r>
              <a:rPr lang="es-CO" sz="1200" dirty="0"/>
              <a:t> </a:t>
            </a:r>
            <a:r>
              <a:rPr lang="es-CO" sz="1200" dirty="0" err="1"/>
              <a:t>the</a:t>
            </a:r>
            <a:r>
              <a:rPr lang="es-CO" sz="1200" dirty="0"/>
              <a:t> </a:t>
            </a:r>
            <a:r>
              <a:rPr lang="es-CO" sz="1200" dirty="0" err="1"/>
              <a:t>Ohmic</a:t>
            </a:r>
            <a:r>
              <a:rPr lang="es-CO" sz="1200" dirty="0"/>
              <a:t> </a:t>
            </a:r>
            <a:r>
              <a:rPr lang="es-CO" sz="1200" dirty="0" err="1"/>
              <a:t>region</a:t>
            </a:r>
            <a:r>
              <a:rPr lang="es-CO" sz="1200" dirty="0"/>
              <a:t> </a:t>
            </a:r>
            <a:r>
              <a:rPr lang="es-CO" sz="1200" dirty="0" err="1"/>
              <a:t>based</a:t>
            </a:r>
            <a:r>
              <a:rPr lang="es-CO" sz="1200" dirty="0"/>
              <a:t> </a:t>
            </a:r>
            <a:r>
              <a:rPr lang="es-CO" sz="1200" dirty="0" err="1"/>
              <a:t>on</a:t>
            </a:r>
            <a:r>
              <a:rPr lang="es-CO" sz="1200" dirty="0"/>
              <a:t> </a:t>
            </a:r>
            <a:r>
              <a:rPr lang="es-CO" sz="1200" dirty="0" err="1"/>
              <a:t>the</a:t>
            </a:r>
            <a:r>
              <a:rPr lang="es-CO" sz="1200" dirty="0"/>
              <a:t> </a:t>
            </a:r>
            <a:r>
              <a:rPr lang="es-CO" sz="1200" dirty="0" err="1"/>
              <a:t>XGBoost</a:t>
            </a:r>
            <a:r>
              <a:rPr lang="es-CO" sz="1200" dirty="0"/>
              <a:t> </a:t>
            </a:r>
            <a:r>
              <a:rPr lang="es-CO" sz="1200" dirty="0" err="1"/>
              <a:t>model</a:t>
            </a:r>
            <a:r>
              <a:rPr lang="es-CO" sz="1200" dirty="0"/>
              <a:t>, </a:t>
            </a:r>
            <a:r>
              <a:rPr lang="es-CO" sz="1200" dirty="0" err="1"/>
              <a:t>showing</a:t>
            </a:r>
            <a:r>
              <a:rPr lang="es-CO" sz="1200" dirty="0"/>
              <a:t> </a:t>
            </a:r>
            <a:r>
              <a:rPr lang="es-CO" sz="1200" dirty="0" err="1"/>
              <a:t>first-order</a:t>
            </a:r>
            <a:r>
              <a:rPr lang="es-CO" sz="1200" dirty="0"/>
              <a:t> (S1), total-</a:t>
            </a:r>
            <a:r>
              <a:rPr lang="es-CO" sz="1200" dirty="0" err="1"/>
              <a:t>order</a:t>
            </a:r>
            <a:r>
              <a:rPr lang="es-CO" sz="1200" dirty="0"/>
              <a:t> (ST), and </a:t>
            </a:r>
            <a:r>
              <a:rPr lang="es-CO" sz="1200" dirty="0" err="1"/>
              <a:t>second-order</a:t>
            </a:r>
            <a:r>
              <a:rPr lang="es-CO" sz="1200" dirty="0"/>
              <a:t> (S2) </a:t>
            </a:r>
            <a:r>
              <a:rPr lang="es-CO" sz="1200" dirty="0" err="1"/>
              <a:t>effects</a:t>
            </a:r>
            <a:r>
              <a:rPr lang="es-CO" sz="1200" dirty="0"/>
              <a:t> </a:t>
            </a:r>
            <a:r>
              <a:rPr lang="es-CO" sz="1200" dirty="0" err="1"/>
              <a:t>with</a:t>
            </a:r>
            <a:r>
              <a:rPr lang="es-CO" sz="1200" dirty="0"/>
              <a:t> </a:t>
            </a:r>
            <a:r>
              <a:rPr lang="es-CO" sz="1200" dirty="0" err="1"/>
              <a:t>confidence</a:t>
            </a:r>
            <a:r>
              <a:rPr lang="es-CO" sz="1200" dirty="0"/>
              <a:t> </a:t>
            </a:r>
            <a:r>
              <a:rPr lang="es-CO" sz="1200" dirty="0" err="1"/>
              <a:t>intervals</a:t>
            </a:r>
            <a:r>
              <a:rPr lang="es-CO" sz="1200" dirty="0"/>
              <a:t>. </a:t>
            </a:r>
            <a:r>
              <a:rPr lang="es-CO" sz="1200" dirty="0" err="1"/>
              <a:t>Parameters</a:t>
            </a:r>
            <a:r>
              <a:rPr lang="es-CO" sz="1200" dirty="0"/>
              <a:t> i0_ref, </a:t>
            </a:r>
            <a:r>
              <a:rPr lang="es-CO" sz="1200" dirty="0" err="1"/>
              <a:t>κ_c</a:t>
            </a:r>
            <a:r>
              <a:rPr lang="es-CO" sz="1200" dirty="0"/>
              <a:t>, and </a:t>
            </a:r>
            <a:r>
              <a:rPr lang="es-CO" sz="1200" dirty="0" err="1"/>
              <a:t>ifc</a:t>
            </a:r>
            <a:r>
              <a:rPr lang="es-CO" sz="1200" dirty="0"/>
              <a:t> </a:t>
            </a:r>
            <a:r>
              <a:rPr lang="es-CO" sz="1200" dirty="0" err="1"/>
              <a:t>exhibit</a:t>
            </a:r>
            <a:r>
              <a:rPr lang="es-CO" sz="1200" dirty="0"/>
              <a:t> </a:t>
            </a:r>
            <a:r>
              <a:rPr lang="es-CO" sz="1200" dirty="0" err="1"/>
              <a:t>the</a:t>
            </a:r>
            <a:r>
              <a:rPr lang="es-CO" sz="1200" dirty="0"/>
              <a:t> </a:t>
            </a:r>
            <a:r>
              <a:rPr lang="es-CO" sz="1200" dirty="0" err="1"/>
              <a:t>highest</a:t>
            </a:r>
            <a:r>
              <a:rPr lang="es-CO" sz="1200" dirty="0"/>
              <a:t> </a:t>
            </a:r>
            <a:r>
              <a:rPr lang="es-CO" sz="1200" dirty="0" err="1"/>
              <a:t>influence</a:t>
            </a:r>
            <a:r>
              <a:rPr lang="es-CO" sz="1200" dirty="0"/>
              <a:t> </a:t>
            </a:r>
            <a:r>
              <a:rPr lang="es-CO" sz="1200" dirty="0" err="1"/>
              <a:t>on</a:t>
            </a:r>
            <a:r>
              <a:rPr lang="es-CO" sz="1200" dirty="0"/>
              <a:t> </a:t>
            </a:r>
            <a:r>
              <a:rPr lang="es-CO" sz="1200" dirty="0" err="1"/>
              <a:t>model</a:t>
            </a:r>
            <a:r>
              <a:rPr lang="es-CO" sz="1200" dirty="0"/>
              <a:t> output.</a:t>
            </a:r>
          </a:p>
        </p:txBody>
      </p:sp>
      <p:sp>
        <p:nvSpPr>
          <p:cNvPr id="28" name="Google Shape;453;g36edeb4292e_1_43">
            <a:extLst>
              <a:ext uri="{FF2B5EF4-FFF2-40B4-BE49-F238E27FC236}">
                <a16:creationId xmlns:a16="http://schemas.microsoft.com/office/drawing/2014/main" id="{5A48B51F-1D6D-444B-AA86-D531D516D141}"/>
              </a:ext>
            </a:extLst>
          </p:cNvPr>
          <p:cNvSpPr/>
          <p:nvPr/>
        </p:nvSpPr>
        <p:spPr>
          <a:xfrm>
            <a:off x="892800" y="2908800"/>
            <a:ext cx="1192800" cy="295200"/>
          </a:xfrm>
          <a:prstGeom prst="roundRect">
            <a:avLst>
              <a:gd name="adj" fmla="val 50000"/>
            </a:avLst>
          </a:prstGeom>
          <a:solidFill>
            <a:srgbClr val="B278E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a:rPr>
              <a:t>Ohmic</a:t>
            </a:r>
            <a:endParaRPr sz="1600" b="1" dirty="0">
              <a:solidFill>
                <a:schemeClr val="bg1"/>
              </a:solidFill>
              <a:latin typeface="Source Sans Pro" panose="020B0503030403020204" pitchFamily="34" charset="0"/>
              <a:ea typeface="Source Sans Pro" panose="020B0503030403020204" pitchFamily="34" charset="0"/>
              <a:sym typeface="Arial"/>
            </a:endParaRPr>
          </a:p>
        </p:txBody>
      </p:sp>
    </p:spTree>
    <p:extLst>
      <p:ext uri="{BB962C8B-B14F-4D97-AF65-F5344CB8AC3E}">
        <p14:creationId xmlns:p14="http://schemas.microsoft.com/office/powerpoint/2010/main" val="32678613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28F9E2E-910A-496D-AE1D-B0B87993C61E}"/>
              </a:ext>
            </a:extLst>
          </p:cNvPr>
          <p:cNvPicPr>
            <a:picLocks noChangeAspect="1"/>
          </p:cNvPicPr>
          <p:nvPr/>
        </p:nvPicPr>
        <p:blipFill>
          <a:blip r:embed="rId3"/>
          <a:stretch>
            <a:fillRect/>
          </a:stretch>
        </p:blipFill>
        <p:spPr>
          <a:xfrm>
            <a:off x="3157200" y="943200"/>
            <a:ext cx="8558774" cy="5090400"/>
          </a:xfrm>
          <a:prstGeom prst="rect">
            <a:avLst/>
          </a:prstGeom>
        </p:spPr>
      </p:pic>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1077218"/>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ST</a:t>
            </a:r>
            <a:endParaRPr lang="es-CO" sz="3600" dirty="0"/>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37</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9" name="Grupo 8">
            <a:extLst>
              <a:ext uri="{FF2B5EF4-FFF2-40B4-BE49-F238E27FC236}">
                <a16:creationId xmlns:a16="http://schemas.microsoft.com/office/drawing/2014/main" id="{752AB792-1AB4-4DC8-A1DE-A936E7BA5E88}"/>
              </a:ext>
            </a:extLst>
          </p:cNvPr>
          <p:cNvGrpSpPr/>
          <p:nvPr/>
        </p:nvGrpSpPr>
        <p:grpSpPr>
          <a:xfrm>
            <a:off x="11008492" y="1288344"/>
            <a:ext cx="569970" cy="2338575"/>
            <a:chOff x="10903308" y="1295490"/>
            <a:chExt cx="569970" cy="2338575"/>
          </a:xfrm>
        </p:grpSpPr>
        <p:sp>
          <p:nvSpPr>
            <p:cNvPr id="62" name="Rectángulo 61">
              <a:extLst>
                <a:ext uri="{FF2B5EF4-FFF2-40B4-BE49-F238E27FC236}">
                  <a16:creationId xmlns:a16="http://schemas.microsoft.com/office/drawing/2014/main" id="{5ACB8813-EC56-4327-9560-7072AE81192F}"/>
                </a:ext>
              </a:extLst>
            </p:cNvPr>
            <p:cNvSpPr/>
            <p:nvPr/>
          </p:nvSpPr>
          <p:spPr>
            <a:xfrm>
              <a:off x="10903308" y="1329689"/>
              <a:ext cx="569970" cy="227753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s-CO" dirty="0"/>
            </a:p>
          </p:txBody>
        </p:sp>
        <mc:AlternateContent xmlns:mc="http://schemas.openxmlformats.org/markup-compatibility/2006">
          <mc:Choice xmlns:a14="http://schemas.microsoft.com/office/drawing/2010/main" Requires="a14">
            <p:sp>
              <p:nvSpPr>
                <p:cNvPr id="63" name="CuadroTexto 62">
                  <a:extLst>
                    <a:ext uri="{FF2B5EF4-FFF2-40B4-BE49-F238E27FC236}">
                      <a16:creationId xmlns:a16="http://schemas.microsoft.com/office/drawing/2014/main" id="{267F1AB6-9D1B-40C9-9EBE-67663A7462C9}"/>
                    </a:ext>
                  </a:extLst>
                </p:cNvPr>
                <p:cNvSpPr txBox="1"/>
                <p:nvPr/>
              </p:nvSpPr>
              <p:spPr>
                <a:xfrm>
                  <a:off x="10962061" y="1638763"/>
                  <a:ext cx="30950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𝑃𝑎</m:t>
                            </m:r>
                          </m:e>
                          <m:sub>
                            <m:r>
                              <a:rPr lang="es-ES" sz="900" b="0" i="1" smtClean="0">
                                <a:latin typeface="Cambria Math" panose="02040503050406030204" pitchFamily="18" charset="0"/>
                              </a:rPr>
                              <m:t>𝑑𝑒𝑠</m:t>
                            </m:r>
                          </m:sub>
                        </m:sSub>
                      </m:oMath>
                    </m:oMathPara>
                  </a14:m>
                  <a:endParaRPr lang="es-CO" sz="900" dirty="0"/>
                </a:p>
              </p:txBody>
            </p:sp>
          </mc:Choice>
          <mc:Fallback>
            <p:sp>
              <p:nvSpPr>
                <p:cNvPr id="63" name="CuadroTexto 62">
                  <a:extLst>
                    <a:ext uri="{FF2B5EF4-FFF2-40B4-BE49-F238E27FC236}">
                      <a16:creationId xmlns:a16="http://schemas.microsoft.com/office/drawing/2014/main" id="{267F1AB6-9D1B-40C9-9EBE-67663A7462C9}"/>
                    </a:ext>
                  </a:extLst>
                </p:cNvPr>
                <p:cNvSpPr txBox="1">
                  <a:spLocks noRot="1" noChangeAspect="1" noMove="1" noResize="1" noEditPoints="1" noAdjustHandles="1" noChangeArrowheads="1" noChangeShapeType="1" noTextEdit="1"/>
                </p:cNvSpPr>
                <p:nvPr/>
              </p:nvSpPr>
              <p:spPr>
                <a:xfrm>
                  <a:off x="10962061" y="1638763"/>
                  <a:ext cx="309508" cy="138499"/>
                </a:xfrm>
                <a:prstGeom prst="rect">
                  <a:avLst/>
                </a:prstGeom>
                <a:blipFill>
                  <a:blip r:embed="rId4"/>
                  <a:stretch>
                    <a:fillRect l="-9804" r="-3922" b="-2272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4" name="CuadroTexto 63">
                  <a:extLst>
                    <a:ext uri="{FF2B5EF4-FFF2-40B4-BE49-F238E27FC236}">
                      <a16:creationId xmlns:a16="http://schemas.microsoft.com/office/drawing/2014/main" id="{AB0492B2-58E1-476D-BF0E-1CA2EABD299C}"/>
                    </a:ext>
                  </a:extLst>
                </p:cNvPr>
                <p:cNvSpPr txBox="1"/>
                <p:nvPr/>
              </p:nvSpPr>
              <p:spPr>
                <a:xfrm>
                  <a:off x="10956742" y="2687551"/>
                  <a:ext cx="29508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𝜙</m:t>
                            </m:r>
                          </m:e>
                          <m:sub>
                            <m:r>
                              <a:rPr lang="es-ES" sz="900" b="0" i="1" smtClean="0">
                                <a:latin typeface="Cambria Math" panose="02040503050406030204" pitchFamily="18" charset="0"/>
                              </a:rPr>
                              <m:t>𝑐𝑑𝑒𝑠</m:t>
                            </m:r>
                          </m:sub>
                        </m:sSub>
                      </m:oMath>
                    </m:oMathPara>
                  </a14:m>
                  <a:endParaRPr lang="es-CO" sz="900" dirty="0"/>
                </a:p>
              </p:txBody>
            </p:sp>
          </mc:Choice>
          <mc:Fallback>
            <p:sp>
              <p:nvSpPr>
                <p:cNvPr id="64" name="CuadroTexto 63">
                  <a:extLst>
                    <a:ext uri="{FF2B5EF4-FFF2-40B4-BE49-F238E27FC236}">
                      <a16:creationId xmlns:a16="http://schemas.microsoft.com/office/drawing/2014/main" id="{AB0492B2-58E1-476D-BF0E-1CA2EABD299C}"/>
                    </a:ext>
                  </a:extLst>
                </p:cNvPr>
                <p:cNvSpPr txBox="1">
                  <a:spLocks noRot="1" noChangeAspect="1" noMove="1" noResize="1" noEditPoints="1" noAdjustHandles="1" noChangeArrowheads="1" noChangeShapeType="1" noTextEdit="1"/>
                </p:cNvSpPr>
                <p:nvPr/>
              </p:nvSpPr>
              <p:spPr>
                <a:xfrm>
                  <a:off x="10956742" y="2687551"/>
                  <a:ext cx="295081" cy="138499"/>
                </a:xfrm>
                <a:prstGeom prst="rect">
                  <a:avLst/>
                </a:prstGeom>
                <a:blipFill>
                  <a:blip r:embed="rId5"/>
                  <a:stretch>
                    <a:fillRect l="-14583" r="-6250" b="-4090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5" name="CuadroTexto 64">
                  <a:extLst>
                    <a:ext uri="{FF2B5EF4-FFF2-40B4-BE49-F238E27FC236}">
                      <a16:creationId xmlns:a16="http://schemas.microsoft.com/office/drawing/2014/main" id="{64CD3A81-9ECD-4EBD-AF2D-380020380477}"/>
                    </a:ext>
                  </a:extLst>
                </p:cNvPr>
                <p:cNvSpPr txBox="1"/>
                <p:nvPr/>
              </p:nvSpPr>
              <p:spPr>
                <a:xfrm>
                  <a:off x="10975461" y="3183268"/>
                  <a:ext cx="223971" cy="1497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𝑔𝑑𝑙</m:t>
                            </m:r>
                          </m:sub>
                        </m:sSub>
                      </m:oMath>
                    </m:oMathPara>
                  </a14:m>
                  <a:endParaRPr lang="es-CO" sz="900" dirty="0"/>
                </a:p>
              </p:txBody>
            </p:sp>
          </mc:Choice>
          <mc:Fallback>
            <p:sp>
              <p:nvSpPr>
                <p:cNvPr id="65" name="CuadroTexto 64">
                  <a:extLst>
                    <a:ext uri="{FF2B5EF4-FFF2-40B4-BE49-F238E27FC236}">
                      <a16:creationId xmlns:a16="http://schemas.microsoft.com/office/drawing/2014/main" id="{64CD3A81-9ECD-4EBD-AF2D-380020380477}"/>
                    </a:ext>
                  </a:extLst>
                </p:cNvPr>
                <p:cNvSpPr txBox="1">
                  <a:spLocks noRot="1" noChangeAspect="1" noMove="1" noResize="1" noEditPoints="1" noAdjustHandles="1" noChangeArrowheads="1" noChangeShapeType="1" noTextEdit="1"/>
                </p:cNvSpPr>
                <p:nvPr/>
              </p:nvSpPr>
              <p:spPr>
                <a:xfrm>
                  <a:off x="10975461" y="3183268"/>
                  <a:ext cx="223971" cy="149721"/>
                </a:xfrm>
                <a:prstGeom prst="rect">
                  <a:avLst/>
                </a:prstGeom>
                <a:blipFill>
                  <a:blip r:embed="rId6"/>
                  <a:stretch>
                    <a:fillRect l="-8333" r="-8333" b="-28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6" name="CuadroTexto 65">
                  <a:extLst>
                    <a:ext uri="{FF2B5EF4-FFF2-40B4-BE49-F238E27FC236}">
                      <a16:creationId xmlns:a16="http://schemas.microsoft.com/office/drawing/2014/main" id="{76A9B451-F317-484B-BA14-5B4AFB975E40}"/>
                    </a:ext>
                  </a:extLst>
                </p:cNvPr>
                <p:cNvSpPr txBox="1"/>
                <p:nvPr/>
              </p:nvSpPr>
              <p:spPr>
                <a:xfrm>
                  <a:off x="10958936" y="2514038"/>
                  <a:ext cx="209480"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𝑚𝑐</m:t>
                            </m:r>
                          </m:sub>
                        </m:sSub>
                      </m:oMath>
                    </m:oMathPara>
                  </a14:m>
                  <a:endParaRPr lang="es-CO" sz="900" dirty="0"/>
                </a:p>
              </p:txBody>
            </p:sp>
          </mc:Choice>
          <mc:Fallback>
            <p:sp>
              <p:nvSpPr>
                <p:cNvPr id="66" name="CuadroTexto 65">
                  <a:extLst>
                    <a:ext uri="{FF2B5EF4-FFF2-40B4-BE49-F238E27FC236}">
                      <a16:creationId xmlns:a16="http://schemas.microsoft.com/office/drawing/2014/main" id="{76A9B451-F317-484B-BA14-5B4AFB975E40}"/>
                    </a:ext>
                  </a:extLst>
                </p:cNvPr>
                <p:cNvSpPr txBox="1">
                  <a:spLocks noRot="1" noChangeAspect="1" noMove="1" noResize="1" noEditPoints="1" noAdjustHandles="1" noChangeArrowheads="1" noChangeShapeType="1" noTextEdit="1"/>
                </p:cNvSpPr>
                <p:nvPr/>
              </p:nvSpPr>
              <p:spPr>
                <a:xfrm>
                  <a:off x="10958936" y="2514038"/>
                  <a:ext cx="209480" cy="138499"/>
                </a:xfrm>
                <a:prstGeom prst="rect">
                  <a:avLst/>
                </a:prstGeom>
                <a:blipFill>
                  <a:blip r:embed="rId7"/>
                  <a:stretch>
                    <a:fillRect l="-8824" r="-2941" b="-130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7" name="CuadroTexto 66">
                  <a:extLst>
                    <a:ext uri="{FF2B5EF4-FFF2-40B4-BE49-F238E27FC236}">
                      <a16:creationId xmlns:a16="http://schemas.microsoft.com/office/drawing/2014/main" id="{C0E0F14F-FE71-472A-A1FE-F777F90E765D}"/>
                    </a:ext>
                  </a:extLst>
                </p:cNvPr>
                <p:cNvSpPr txBox="1"/>
                <p:nvPr/>
              </p:nvSpPr>
              <p:spPr>
                <a:xfrm>
                  <a:off x="10961042" y="3353768"/>
                  <a:ext cx="130933"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𝑐</m:t>
                            </m:r>
                          </m:sub>
                        </m:sSub>
                      </m:oMath>
                    </m:oMathPara>
                  </a14:m>
                  <a:endParaRPr lang="es-CO" sz="900" dirty="0"/>
                </a:p>
              </p:txBody>
            </p:sp>
          </mc:Choice>
          <mc:Fallback>
            <p:sp>
              <p:nvSpPr>
                <p:cNvPr id="67" name="CuadroTexto 66">
                  <a:extLst>
                    <a:ext uri="{FF2B5EF4-FFF2-40B4-BE49-F238E27FC236}">
                      <a16:creationId xmlns:a16="http://schemas.microsoft.com/office/drawing/2014/main" id="{C0E0F14F-FE71-472A-A1FE-F777F90E765D}"/>
                    </a:ext>
                  </a:extLst>
                </p:cNvPr>
                <p:cNvSpPr txBox="1">
                  <a:spLocks noRot="1" noChangeAspect="1" noMove="1" noResize="1" noEditPoints="1" noAdjustHandles="1" noChangeArrowheads="1" noChangeShapeType="1" noTextEdit="1"/>
                </p:cNvSpPr>
                <p:nvPr/>
              </p:nvSpPr>
              <p:spPr>
                <a:xfrm>
                  <a:off x="10961042" y="3353768"/>
                  <a:ext cx="130933" cy="138499"/>
                </a:xfrm>
                <a:prstGeom prst="rect">
                  <a:avLst/>
                </a:prstGeom>
                <a:blipFill>
                  <a:blip r:embed="rId8"/>
                  <a:stretch>
                    <a:fillRect l="-13636" b="-130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8" name="CuadroTexto 67">
                  <a:extLst>
                    <a:ext uri="{FF2B5EF4-FFF2-40B4-BE49-F238E27FC236}">
                      <a16:creationId xmlns:a16="http://schemas.microsoft.com/office/drawing/2014/main" id="{AD2952EC-CADE-4F6F-9CC4-3528A352EE0A}"/>
                    </a:ext>
                  </a:extLst>
                </p:cNvPr>
                <p:cNvSpPr txBox="1"/>
                <p:nvPr/>
              </p:nvSpPr>
              <p:spPr>
                <a:xfrm>
                  <a:off x="10976004" y="2173055"/>
                  <a:ext cx="8104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𝜏</m:t>
                        </m:r>
                      </m:oMath>
                    </m:oMathPara>
                  </a14:m>
                  <a:endParaRPr lang="es-CO" sz="900" dirty="0"/>
                </a:p>
              </p:txBody>
            </p:sp>
          </mc:Choice>
          <mc:Fallback>
            <p:sp>
              <p:nvSpPr>
                <p:cNvPr id="68" name="CuadroTexto 67">
                  <a:extLst>
                    <a:ext uri="{FF2B5EF4-FFF2-40B4-BE49-F238E27FC236}">
                      <a16:creationId xmlns:a16="http://schemas.microsoft.com/office/drawing/2014/main" id="{AD2952EC-CADE-4F6F-9CC4-3528A352EE0A}"/>
                    </a:ext>
                  </a:extLst>
                </p:cNvPr>
                <p:cNvSpPr txBox="1">
                  <a:spLocks noRot="1" noChangeAspect="1" noMove="1" noResize="1" noEditPoints="1" noAdjustHandles="1" noChangeArrowheads="1" noChangeShapeType="1" noTextEdit="1"/>
                </p:cNvSpPr>
                <p:nvPr/>
              </p:nvSpPr>
              <p:spPr>
                <a:xfrm>
                  <a:off x="10976004" y="2173055"/>
                  <a:ext cx="81048" cy="138499"/>
                </a:xfrm>
                <a:prstGeom prst="rect">
                  <a:avLst/>
                </a:prstGeom>
                <a:blipFill>
                  <a:blip r:embed="rId9"/>
                  <a:stretch>
                    <a:fillRect l="-23077" r="-23077"/>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69" name="CuadroTexto 68">
                  <a:extLst>
                    <a:ext uri="{FF2B5EF4-FFF2-40B4-BE49-F238E27FC236}">
                      <a16:creationId xmlns:a16="http://schemas.microsoft.com/office/drawing/2014/main" id="{FDD430FD-FAD3-4D96-AC7B-40B98DC8D104}"/>
                    </a:ext>
                  </a:extLst>
                </p:cNvPr>
                <p:cNvSpPr txBox="1"/>
                <p:nvPr/>
              </p:nvSpPr>
              <p:spPr>
                <a:xfrm>
                  <a:off x="10977941" y="1295490"/>
                  <a:ext cx="341568" cy="1495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𝑖</m:t>
                            </m:r>
                            <m:r>
                              <a:rPr lang="es-ES" sz="900" b="0" i="1" smtClean="0">
                                <a:latin typeface="Cambria Math" panose="02040503050406030204" pitchFamily="18" charset="0"/>
                              </a:rPr>
                              <m:t>0</m:t>
                            </m:r>
                          </m:e>
                          <m:sub>
                            <m:r>
                              <a:rPr lang="es-ES" sz="900" b="0" i="1" smtClean="0">
                                <a:latin typeface="Cambria Math" panose="02040503050406030204" pitchFamily="18" charset="0"/>
                              </a:rPr>
                              <m:t>𝑐</m:t>
                            </m:r>
                            <m:r>
                              <a:rPr lang="es-ES" sz="900" b="0" i="1" smtClean="0">
                                <a:latin typeface="Cambria Math" panose="02040503050406030204" pitchFamily="18" charset="0"/>
                              </a:rPr>
                              <m:t> </m:t>
                            </m:r>
                            <m:r>
                              <a:rPr lang="es-ES" sz="900" b="0" i="1" smtClean="0">
                                <a:latin typeface="Cambria Math" panose="02040503050406030204" pitchFamily="18" charset="0"/>
                              </a:rPr>
                              <m:t>𝑟𝑒𝑓</m:t>
                            </m:r>
                          </m:sub>
                        </m:sSub>
                      </m:oMath>
                    </m:oMathPara>
                  </a14:m>
                  <a:endParaRPr lang="es-CO" sz="900" dirty="0"/>
                </a:p>
              </p:txBody>
            </p:sp>
          </mc:Choice>
          <mc:Fallback xmlns="">
            <p:sp>
              <p:nvSpPr>
                <p:cNvPr id="69" name="CuadroTexto 68">
                  <a:extLst>
                    <a:ext uri="{FF2B5EF4-FFF2-40B4-BE49-F238E27FC236}">
                      <a16:creationId xmlns:a16="http://schemas.microsoft.com/office/drawing/2014/main" id="{FDD430FD-FAD3-4D96-AC7B-40B98DC8D104}"/>
                    </a:ext>
                  </a:extLst>
                </p:cNvPr>
                <p:cNvSpPr txBox="1">
                  <a:spLocks noRot="1" noChangeAspect="1" noMove="1" noResize="1" noEditPoints="1" noAdjustHandles="1" noChangeArrowheads="1" noChangeShapeType="1" noTextEdit="1"/>
                </p:cNvSpPr>
                <p:nvPr/>
              </p:nvSpPr>
              <p:spPr>
                <a:xfrm>
                  <a:off x="10977941" y="1295490"/>
                  <a:ext cx="341568" cy="149528"/>
                </a:xfrm>
                <a:prstGeom prst="rect">
                  <a:avLst/>
                </a:prstGeom>
                <a:blipFill>
                  <a:blip r:embed="rId10"/>
                  <a:stretch>
                    <a:fillRect l="-8929" r="-3571" b="-28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0" name="CuadroTexto 69">
                  <a:extLst>
                    <a:ext uri="{FF2B5EF4-FFF2-40B4-BE49-F238E27FC236}">
                      <a16:creationId xmlns:a16="http://schemas.microsoft.com/office/drawing/2014/main" id="{2E2185EB-023D-40C4-A168-047D7819C39A}"/>
                    </a:ext>
                  </a:extLst>
                </p:cNvPr>
                <p:cNvSpPr txBox="1"/>
                <p:nvPr/>
              </p:nvSpPr>
              <p:spPr>
                <a:xfrm>
                  <a:off x="10975461" y="3005642"/>
                  <a:ext cx="18780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𝜅</m:t>
                            </m:r>
                          </m:e>
                          <m:sub>
                            <m:r>
                              <a:rPr lang="es-ES" sz="900" b="0" i="1" smtClean="0">
                                <a:latin typeface="Cambria Math" panose="02040503050406030204" pitchFamily="18" charset="0"/>
                              </a:rPr>
                              <m:t>𝑐𝑜</m:t>
                            </m:r>
                          </m:sub>
                        </m:sSub>
                      </m:oMath>
                    </m:oMathPara>
                  </a14:m>
                  <a:endParaRPr lang="es-CO" sz="900" dirty="0"/>
                </a:p>
              </p:txBody>
            </p:sp>
          </mc:Choice>
          <mc:Fallback>
            <p:sp>
              <p:nvSpPr>
                <p:cNvPr id="70" name="CuadroTexto 69">
                  <a:extLst>
                    <a:ext uri="{FF2B5EF4-FFF2-40B4-BE49-F238E27FC236}">
                      <a16:creationId xmlns:a16="http://schemas.microsoft.com/office/drawing/2014/main" id="{2E2185EB-023D-40C4-A168-047D7819C39A}"/>
                    </a:ext>
                  </a:extLst>
                </p:cNvPr>
                <p:cNvSpPr txBox="1">
                  <a:spLocks noRot="1" noChangeAspect="1" noMove="1" noResize="1" noEditPoints="1" noAdjustHandles="1" noChangeArrowheads="1" noChangeShapeType="1" noTextEdit="1"/>
                </p:cNvSpPr>
                <p:nvPr/>
              </p:nvSpPr>
              <p:spPr>
                <a:xfrm>
                  <a:off x="10975461" y="3005642"/>
                  <a:ext cx="187808" cy="138499"/>
                </a:xfrm>
                <a:prstGeom prst="rect">
                  <a:avLst/>
                </a:prstGeom>
                <a:blipFill>
                  <a:blip r:embed="rId11"/>
                  <a:stretch>
                    <a:fillRect l="-10000" r="-3333" b="-130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1" name="CuadroTexto 70">
                  <a:extLst>
                    <a:ext uri="{FF2B5EF4-FFF2-40B4-BE49-F238E27FC236}">
                      <a16:creationId xmlns:a16="http://schemas.microsoft.com/office/drawing/2014/main" id="{EDC03CC7-FD8A-4F95-884D-48FFC30DCCC0}"/>
                    </a:ext>
                  </a:extLst>
                </p:cNvPr>
                <p:cNvSpPr txBox="1"/>
                <p:nvPr/>
              </p:nvSpPr>
              <p:spPr>
                <a:xfrm>
                  <a:off x="10967444" y="1811198"/>
                  <a:ext cx="138949"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𝜅</m:t>
                            </m:r>
                          </m:e>
                          <m:sub>
                            <m:r>
                              <a:rPr lang="es-ES" sz="900" b="0" i="1" smtClean="0">
                                <a:latin typeface="Cambria Math" panose="02040503050406030204" pitchFamily="18" charset="0"/>
                              </a:rPr>
                              <m:t>𝑐</m:t>
                            </m:r>
                          </m:sub>
                        </m:sSub>
                      </m:oMath>
                    </m:oMathPara>
                  </a14:m>
                  <a:endParaRPr lang="es-CO" sz="900" dirty="0"/>
                </a:p>
              </p:txBody>
            </p:sp>
          </mc:Choice>
          <mc:Fallback>
            <p:sp>
              <p:nvSpPr>
                <p:cNvPr id="71" name="CuadroTexto 70">
                  <a:extLst>
                    <a:ext uri="{FF2B5EF4-FFF2-40B4-BE49-F238E27FC236}">
                      <a16:creationId xmlns:a16="http://schemas.microsoft.com/office/drawing/2014/main" id="{EDC03CC7-FD8A-4F95-884D-48FFC30DCCC0}"/>
                    </a:ext>
                  </a:extLst>
                </p:cNvPr>
                <p:cNvSpPr txBox="1">
                  <a:spLocks noRot="1" noChangeAspect="1" noMove="1" noResize="1" noEditPoints="1" noAdjustHandles="1" noChangeArrowheads="1" noChangeShapeType="1" noTextEdit="1"/>
                </p:cNvSpPr>
                <p:nvPr/>
              </p:nvSpPr>
              <p:spPr>
                <a:xfrm>
                  <a:off x="10967444" y="1811198"/>
                  <a:ext cx="138949" cy="138499"/>
                </a:xfrm>
                <a:prstGeom prst="rect">
                  <a:avLst/>
                </a:prstGeom>
                <a:blipFill>
                  <a:blip r:embed="rId12"/>
                  <a:stretch>
                    <a:fillRect l="-13043" b="-130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2" name="CuadroTexto 71">
                  <a:extLst>
                    <a:ext uri="{FF2B5EF4-FFF2-40B4-BE49-F238E27FC236}">
                      <a16:creationId xmlns:a16="http://schemas.microsoft.com/office/drawing/2014/main" id="{A4E1F230-5736-42F9-A501-99EC2CB00ABB}"/>
                    </a:ext>
                  </a:extLst>
                </p:cNvPr>
                <p:cNvSpPr txBox="1"/>
                <p:nvPr/>
              </p:nvSpPr>
              <p:spPr>
                <a:xfrm>
                  <a:off x="10973041" y="1978320"/>
                  <a:ext cx="215252"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𝑇𝑓𝑐</m:t>
                        </m:r>
                      </m:oMath>
                    </m:oMathPara>
                  </a14:m>
                  <a:endParaRPr lang="es-CO" sz="900" dirty="0"/>
                </a:p>
              </p:txBody>
            </p:sp>
          </mc:Choice>
          <mc:Fallback>
            <p:sp>
              <p:nvSpPr>
                <p:cNvPr id="72" name="CuadroTexto 71">
                  <a:extLst>
                    <a:ext uri="{FF2B5EF4-FFF2-40B4-BE49-F238E27FC236}">
                      <a16:creationId xmlns:a16="http://schemas.microsoft.com/office/drawing/2014/main" id="{A4E1F230-5736-42F9-A501-99EC2CB00ABB}"/>
                    </a:ext>
                  </a:extLst>
                </p:cNvPr>
                <p:cNvSpPr txBox="1">
                  <a:spLocks noRot="1" noChangeAspect="1" noMove="1" noResize="1" noEditPoints="1" noAdjustHandles="1" noChangeArrowheads="1" noChangeShapeType="1" noTextEdit="1"/>
                </p:cNvSpPr>
                <p:nvPr/>
              </p:nvSpPr>
              <p:spPr>
                <a:xfrm>
                  <a:off x="10973041" y="1978320"/>
                  <a:ext cx="215252" cy="138499"/>
                </a:xfrm>
                <a:prstGeom prst="rect">
                  <a:avLst/>
                </a:prstGeom>
                <a:blipFill>
                  <a:blip r:embed="rId13"/>
                  <a:stretch>
                    <a:fillRect l="-19444" r="-13889" b="-347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3" name="CuadroTexto 72">
                  <a:extLst>
                    <a:ext uri="{FF2B5EF4-FFF2-40B4-BE49-F238E27FC236}">
                      <a16:creationId xmlns:a16="http://schemas.microsoft.com/office/drawing/2014/main" id="{232881F5-4525-42C8-BCFD-B9A0398006CA}"/>
                    </a:ext>
                  </a:extLst>
                </p:cNvPr>
                <p:cNvSpPr txBox="1"/>
                <p:nvPr/>
              </p:nvSpPr>
              <p:spPr>
                <a:xfrm>
                  <a:off x="10978203" y="2855548"/>
                  <a:ext cx="143116"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𝑆𝑐</m:t>
                        </m:r>
                      </m:oMath>
                    </m:oMathPara>
                  </a14:m>
                  <a:endParaRPr lang="es-CO" sz="900" dirty="0"/>
                </a:p>
              </p:txBody>
            </p:sp>
          </mc:Choice>
          <mc:Fallback>
            <p:sp>
              <p:nvSpPr>
                <p:cNvPr id="73" name="CuadroTexto 72">
                  <a:extLst>
                    <a:ext uri="{FF2B5EF4-FFF2-40B4-BE49-F238E27FC236}">
                      <a16:creationId xmlns:a16="http://schemas.microsoft.com/office/drawing/2014/main" id="{232881F5-4525-42C8-BCFD-B9A0398006CA}"/>
                    </a:ext>
                  </a:extLst>
                </p:cNvPr>
                <p:cNvSpPr txBox="1">
                  <a:spLocks noRot="1" noChangeAspect="1" noMove="1" noResize="1" noEditPoints="1" noAdjustHandles="1" noChangeArrowheads="1" noChangeShapeType="1" noTextEdit="1"/>
                </p:cNvSpPr>
                <p:nvPr/>
              </p:nvSpPr>
              <p:spPr>
                <a:xfrm>
                  <a:off x="10978203" y="2855548"/>
                  <a:ext cx="143116" cy="138499"/>
                </a:xfrm>
                <a:prstGeom prst="rect">
                  <a:avLst/>
                </a:prstGeom>
                <a:blipFill>
                  <a:blip r:embed="rId14"/>
                  <a:stretch>
                    <a:fillRect l="-20833" r="-16667" b="-869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4" name="CuadroTexto 73">
                  <a:extLst>
                    <a:ext uri="{FF2B5EF4-FFF2-40B4-BE49-F238E27FC236}">
                      <a16:creationId xmlns:a16="http://schemas.microsoft.com/office/drawing/2014/main" id="{346F945E-10A2-4DD2-A551-B041351A47EC}"/>
                    </a:ext>
                  </a:extLst>
                </p:cNvPr>
                <p:cNvSpPr txBox="1"/>
                <p:nvPr/>
              </p:nvSpPr>
              <p:spPr>
                <a:xfrm>
                  <a:off x="10977513" y="1472641"/>
                  <a:ext cx="18319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𝑖𝑓𝑐</m:t>
                        </m:r>
                      </m:oMath>
                    </m:oMathPara>
                  </a14:m>
                  <a:endParaRPr lang="es-CO" sz="900" dirty="0"/>
                </a:p>
              </p:txBody>
            </p:sp>
          </mc:Choice>
          <mc:Fallback>
            <p:sp>
              <p:nvSpPr>
                <p:cNvPr id="74" name="CuadroTexto 73">
                  <a:extLst>
                    <a:ext uri="{FF2B5EF4-FFF2-40B4-BE49-F238E27FC236}">
                      <a16:creationId xmlns:a16="http://schemas.microsoft.com/office/drawing/2014/main" id="{346F945E-10A2-4DD2-A551-B041351A47EC}"/>
                    </a:ext>
                  </a:extLst>
                </p:cNvPr>
                <p:cNvSpPr txBox="1">
                  <a:spLocks noRot="1" noChangeAspect="1" noMove="1" noResize="1" noEditPoints="1" noAdjustHandles="1" noChangeArrowheads="1" noChangeShapeType="1" noTextEdit="1"/>
                </p:cNvSpPr>
                <p:nvPr/>
              </p:nvSpPr>
              <p:spPr>
                <a:xfrm>
                  <a:off x="10977513" y="1472641"/>
                  <a:ext cx="183191" cy="138499"/>
                </a:xfrm>
                <a:prstGeom prst="rect">
                  <a:avLst/>
                </a:prstGeom>
                <a:blipFill>
                  <a:blip r:embed="rId15"/>
                  <a:stretch>
                    <a:fillRect l="-23333" r="-20000" b="-34783"/>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75" name="CuadroTexto 74">
                  <a:extLst>
                    <a:ext uri="{FF2B5EF4-FFF2-40B4-BE49-F238E27FC236}">
                      <a16:creationId xmlns:a16="http://schemas.microsoft.com/office/drawing/2014/main" id="{67CF0A76-9260-48E6-A13E-9CA5AF30F0DA}"/>
                    </a:ext>
                  </a:extLst>
                </p:cNvPr>
                <p:cNvSpPr txBox="1"/>
                <p:nvPr/>
              </p:nvSpPr>
              <p:spPr>
                <a:xfrm>
                  <a:off x="10977755" y="3495566"/>
                  <a:ext cx="8592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𝑒</m:t>
                        </m:r>
                      </m:oMath>
                    </m:oMathPara>
                  </a14:m>
                  <a:endParaRPr lang="es-CO" sz="900" dirty="0"/>
                </a:p>
              </p:txBody>
            </p:sp>
          </mc:Choice>
          <mc:Fallback xmlns="">
            <p:sp>
              <p:nvSpPr>
                <p:cNvPr id="75" name="CuadroTexto 74">
                  <a:extLst>
                    <a:ext uri="{FF2B5EF4-FFF2-40B4-BE49-F238E27FC236}">
                      <a16:creationId xmlns:a16="http://schemas.microsoft.com/office/drawing/2014/main" id="{67CF0A76-9260-48E6-A13E-9CA5AF30F0DA}"/>
                    </a:ext>
                  </a:extLst>
                </p:cNvPr>
                <p:cNvSpPr txBox="1">
                  <a:spLocks noRot="1" noChangeAspect="1" noMove="1" noResize="1" noEditPoints="1" noAdjustHandles="1" noChangeArrowheads="1" noChangeShapeType="1" noTextEdit="1"/>
                </p:cNvSpPr>
                <p:nvPr/>
              </p:nvSpPr>
              <p:spPr>
                <a:xfrm>
                  <a:off x="10977755" y="3495566"/>
                  <a:ext cx="85921" cy="138499"/>
                </a:xfrm>
                <a:prstGeom prst="rect">
                  <a:avLst/>
                </a:prstGeom>
                <a:blipFill>
                  <a:blip r:embed="rId16"/>
                  <a:stretch>
                    <a:fillRect l="-21429" r="-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6" name="CuadroTexto 75">
                  <a:extLst>
                    <a:ext uri="{FF2B5EF4-FFF2-40B4-BE49-F238E27FC236}">
                      <a16:creationId xmlns:a16="http://schemas.microsoft.com/office/drawing/2014/main" id="{8B1428FA-134B-476D-8F3C-678BE5C0E1E4}"/>
                    </a:ext>
                  </a:extLst>
                </p:cNvPr>
                <p:cNvSpPr txBox="1"/>
                <p:nvPr/>
              </p:nvSpPr>
              <p:spPr>
                <a:xfrm>
                  <a:off x="10969045" y="2341949"/>
                  <a:ext cx="159659"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𝑅𝑒</m:t>
                        </m:r>
                      </m:oMath>
                    </m:oMathPara>
                  </a14:m>
                  <a:endParaRPr lang="es-CO" sz="900" dirty="0"/>
                </a:p>
              </p:txBody>
            </p:sp>
          </mc:Choice>
          <mc:Fallback>
            <p:sp>
              <p:nvSpPr>
                <p:cNvPr id="76" name="CuadroTexto 75">
                  <a:extLst>
                    <a:ext uri="{FF2B5EF4-FFF2-40B4-BE49-F238E27FC236}">
                      <a16:creationId xmlns:a16="http://schemas.microsoft.com/office/drawing/2014/main" id="{8B1428FA-134B-476D-8F3C-678BE5C0E1E4}"/>
                    </a:ext>
                  </a:extLst>
                </p:cNvPr>
                <p:cNvSpPr txBox="1">
                  <a:spLocks noRot="1" noChangeAspect="1" noMove="1" noResize="1" noEditPoints="1" noAdjustHandles="1" noChangeArrowheads="1" noChangeShapeType="1" noTextEdit="1"/>
                </p:cNvSpPr>
                <p:nvPr/>
              </p:nvSpPr>
              <p:spPr>
                <a:xfrm>
                  <a:off x="10969045" y="2341949"/>
                  <a:ext cx="159659" cy="138499"/>
                </a:xfrm>
                <a:prstGeom prst="rect">
                  <a:avLst/>
                </a:prstGeom>
                <a:blipFill>
                  <a:blip r:embed="rId17"/>
                  <a:stretch>
                    <a:fillRect l="-19231" r="-15385" b="-8696"/>
                  </a:stretch>
                </a:blipFill>
              </p:spPr>
              <p:txBody>
                <a:bodyPr/>
                <a:lstStyle/>
                <a:p>
                  <a:r>
                    <a:rPr lang="es-CO">
                      <a:noFill/>
                    </a:rPr>
                    <a:t> </a:t>
                  </a:r>
                </a:p>
              </p:txBody>
            </p:sp>
          </mc:Fallback>
        </mc:AlternateContent>
      </p:grpSp>
      <p:sp>
        <p:nvSpPr>
          <p:cNvPr id="29" name="CuadroTexto 28">
            <a:extLst>
              <a:ext uri="{FF2B5EF4-FFF2-40B4-BE49-F238E27FC236}">
                <a16:creationId xmlns:a16="http://schemas.microsoft.com/office/drawing/2014/main" id="{7CE4640A-1ED6-4C0F-8710-167B4A86E956}"/>
              </a:ext>
            </a:extLst>
          </p:cNvPr>
          <p:cNvSpPr txBox="1"/>
          <p:nvPr/>
        </p:nvSpPr>
        <p:spPr>
          <a:xfrm>
            <a:off x="4050510" y="5884952"/>
            <a:ext cx="6431636" cy="646331"/>
          </a:xfrm>
          <a:prstGeom prst="rect">
            <a:avLst/>
          </a:prstGeom>
          <a:noFill/>
        </p:spPr>
        <p:txBody>
          <a:bodyPr wrap="square">
            <a:spAutoFit/>
          </a:bodyPr>
          <a:lstStyle/>
          <a:p>
            <a:r>
              <a:rPr lang="en" sz="1200" b="1" dirty="0"/>
              <a:t>Figure XX:  </a:t>
            </a:r>
            <a:r>
              <a:rPr lang="es-CO" sz="1200" dirty="0" err="1"/>
              <a:t>Convergence</a:t>
            </a:r>
            <a:r>
              <a:rPr lang="es-CO" sz="1200" dirty="0"/>
              <a:t> </a:t>
            </a:r>
            <a:r>
              <a:rPr lang="es-CO" sz="1200" dirty="0" err="1"/>
              <a:t>of</a:t>
            </a:r>
            <a:r>
              <a:rPr lang="es-CO" sz="1200" dirty="0"/>
              <a:t> total-</a:t>
            </a:r>
            <a:r>
              <a:rPr lang="es-CO" sz="1200" dirty="0" err="1"/>
              <a:t>order</a:t>
            </a:r>
            <a:r>
              <a:rPr lang="es-CO" sz="1200" dirty="0"/>
              <a:t> (ST) </a:t>
            </a:r>
            <a:r>
              <a:rPr lang="es-CO" sz="1200" dirty="0" err="1"/>
              <a:t>Sobol</a:t>
            </a:r>
            <a:r>
              <a:rPr lang="es-CO" sz="1200" dirty="0"/>
              <a:t> </a:t>
            </a:r>
            <a:r>
              <a:rPr lang="es-CO" sz="1200" dirty="0" err="1"/>
              <a:t>indices</a:t>
            </a:r>
            <a:r>
              <a:rPr lang="es-CO" sz="1200" dirty="0"/>
              <a:t> </a:t>
            </a:r>
            <a:r>
              <a:rPr lang="es-CO" sz="1200" dirty="0" err="1"/>
              <a:t>for</a:t>
            </a:r>
            <a:r>
              <a:rPr lang="es-CO" sz="1200" dirty="0"/>
              <a:t> </a:t>
            </a:r>
            <a:r>
              <a:rPr lang="es-CO" sz="1200" dirty="0" err="1"/>
              <a:t>features</a:t>
            </a:r>
            <a:r>
              <a:rPr lang="es-CO" sz="1200" dirty="0"/>
              <a:t> in </a:t>
            </a:r>
            <a:r>
              <a:rPr lang="es-CO" sz="1200" dirty="0" err="1"/>
              <a:t>the</a:t>
            </a:r>
            <a:r>
              <a:rPr lang="es-CO" sz="1200" dirty="0"/>
              <a:t> </a:t>
            </a:r>
            <a:r>
              <a:rPr lang="es-CO" sz="1200" dirty="0" err="1"/>
              <a:t>Ohmic</a:t>
            </a:r>
            <a:r>
              <a:rPr lang="es-CO" sz="1200" dirty="0"/>
              <a:t> </a:t>
            </a:r>
            <a:r>
              <a:rPr lang="es-CO" sz="1200" dirty="0" err="1"/>
              <a:t>region</a:t>
            </a:r>
            <a:r>
              <a:rPr lang="es-CO" sz="1200" dirty="0"/>
              <a:t> </a:t>
            </a:r>
            <a:r>
              <a:rPr lang="es-CO" sz="1200" dirty="0" err="1"/>
              <a:t>across</a:t>
            </a:r>
            <a:r>
              <a:rPr lang="es-CO" sz="1200" dirty="0"/>
              <a:t> </a:t>
            </a:r>
            <a:r>
              <a:rPr lang="es-CO" sz="1200" dirty="0" err="1"/>
              <a:t>increasing</a:t>
            </a:r>
            <a:r>
              <a:rPr lang="es-CO" sz="1200" dirty="0"/>
              <a:t> </a:t>
            </a:r>
            <a:r>
              <a:rPr lang="es-CO" sz="1200" dirty="0" err="1"/>
              <a:t>sample</a:t>
            </a:r>
            <a:r>
              <a:rPr lang="es-CO" sz="1200" dirty="0"/>
              <a:t> </a:t>
            </a:r>
            <a:r>
              <a:rPr lang="es-CO" sz="1200" dirty="0" err="1"/>
              <a:t>sizes</a:t>
            </a:r>
            <a:r>
              <a:rPr lang="es-CO" sz="1200" dirty="0"/>
              <a:t>. </a:t>
            </a:r>
            <a:r>
              <a:rPr lang="es-CO" sz="1200" dirty="0" err="1"/>
              <a:t>The</a:t>
            </a:r>
            <a:r>
              <a:rPr lang="es-CO" sz="1200" dirty="0"/>
              <a:t> </a:t>
            </a:r>
            <a:r>
              <a:rPr lang="es-CO" sz="1200" dirty="0" err="1"/>
              <a:t>indices</a:t>
            </a:r>
            <a:r>
              <a:rPr lang="es-CO" sz="1200" dirty="0"/>
              <a:t> </a:t>
            </a:r>
            <a:r>
              <a:rPr lang="es-CO" sz="1200" dirty="0" err="1"/>
              <a:t>stabilize</a:t>
            </a:r>
            <a:r>
              <a:rPr lang="es-CO" sz="1200" dirty="0"/>
              <a:t> as </a:t>
            </a:r>
            <a:r>
              <a:rPr lang="es-CO" sz="1200" dirty="0" err="1"/>
              <a:t>sample</a:t>
            </a:r>
            <a:r>
              <a:rPr lang="es-CO" sz="1200" dirty="0"/>
              <a:t> </a:t>
            </a:r>
            <a:r>
              <a:rPr lang="es-CO" sz="1200" dirty="0" err="1"/>
              <a:t>size</a:t>
            </a:r>
            <a:r>
              <a:rPr lang="es-CO" sz="1200" dirty="0"/>
              <a:t> </a:t>
            </a:r>
            <a:r>
              <a:rPr lang="es-CO" sz="1200" dirty="0" err="1"/>
              <a:t>grows</a:t>
            </a:r>
            <a:r>
              <a:rPr lang="es-CO" sz="1200" dirty="0"/>
              <a:t>, </a:t>
            </a:r>
            <a:r>
              <a:rPr lang="es-CO" sz="1200" dirty="0" err="1"/>
              <a:t>with</a:t>
            </a:r>
            <a:r>
              <a:rPr lang="es-CO" sz="1200" dirty="0"/>
              <a:t> i0'_c </a:t>
            </a:r>
            <a:r>
              <a:rPr lang="es-CO" sz="1200" dirty="0" err="1"/>
              <a:t>ref</a:t>
            </a:r>
            <a:r>
              <a:rPr lang="es-CO" sz="1200" dirty="0"/>
              <a:t>, </a:t>
            </a:r>
            <a:r>
              <a:rPr lang="es-CO" sz="1200" dirty="0" err="1"/>
              <a:t>κ_c</a:t>
            </a:r>
            <a:r>
              <a:rPr lang="es-CO" sz="1200" dirty="0"/>
              <a:t>, and </a:t>
            </a:r>
            <a:r>
              <a:rPr lang="es-CO" sz="1200" dirty="0" err="1"/>
              <a:t>ifc</a:t>
            </a:r>
            <a:r>
              <a:rPr lang="es-CO" sz="1200" dirty="0"/>
              <a:t> </a:t>
            </a:r>
            <a:r>
              <a:rPr lang="es-CO" sz="1200" dirty="0" err="1"/>
              <a:t>showing</a:t>
            </a:r>
            <a:r>
              <a:rPr lang="es-CO" sz="1200" dirty="0"/>
              <a:t> </a:t>
            </a:r>
            <a:r>
              <a:rPr lang="es-CO" sz="1200" dirty="0" err="1"/>
              <a:t>the</a:t>
            </a:r>
            <a:r>
              <a:rPr lang="es-CO" sz="1200" dirty="0"/>
              <a:t> </a:t>
            </a:r>
            <a:r>
              <a:rPr lang="es-CO" sz="1200" dirty="0" err="1"/>
              <a:t>highest</a:t>
            </a:r>
            <a:r>
              <a:rPr lang="es-CO" sz="1200" dirty="0"/>
              <a:t> total </a:t>
            </a:r>
            <a:r>
              <a:rPr lang="es-CO" sz="1200" dirty="0" err="1"/>
              <a:t>contributions</a:t>
            </a:r>
            <a:r>
              <a:rPr lang="es-CO" sz="1200" dirty="0"/>
              <a:t> </a:t>
            </a:r>
            <a:r>
              <a:rPr lang="es-CO" sz="1200" dirty="0" err="1"/>
              <a:t>to</a:t>
            </a:r>
            <a:r>
              <a:rPr lang="es-CO" sz="1200" dirty="0"/>
              <a:t> output </a:t>
            </a:r>
            <a:r>
              <a:rPr lang="es-CO" sz="1200" dirty="0" err="1"/>
              <a:t>variance</a:t>
            </a:r>
            <a:r>
              <a:rPr lang="es-CO" sz="1200" dirty="0"/>
              <a:t>.</a:t>
            </a:r>
          </a:p>
        </p:txBody>
      </p:sp>
      <p:sp>
        <p:nvSpPr>
          <p:cNvPr id="30" name="CuadroTexto 29">
            <a:extLst>
              <a:ext uri="{FF2B5EF4-FFF2-40B4-BE49-F238E27FC236}">
                <a16:creationId xmlns:a16="http://schemas.microsoft.com/office/drawing/2014/main" id="{C675E6FA-151D-49FF-9779-9B41C27CC8BB}"/>
              </a:ext>
            </a:extLst>
          </p:cNvPr>
          <p:cNvSpPr txBox="1"/>
          <p:nvPr/>
        </p:nvSpPr>
        <p:spPr>
          <a:xfrm>
            <a:off x="907097" y="3429000"/>
            <a:ext cx="2358291" cy="1384995"/>
          </a:xfrm>
          <a:prstGeom prst="rect">
            <a:avLst/>
          </a:prstGeom>
          <a:noFill/>
        </p:spPr>
        <p:txBody>
          <a:bodyPr wrap="square">
            <a:spAutoFit/>
          </a:bodyPr>
          <a:lstStyle/>
          <a:p>
            <a:r>
              <a:rPr lang="es-CO" sz="1400" dirty="0"/>
              <a:t>N = 8.192</a:t>
            </a:r>
          </a:p>
          <a:p>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245,760 configurations</a:t>
            </a:r>
            <a:endParaRPr lang="es-CO" sz="1400" b="1" dirty="0"/>
          </a:p>
          <a:p>
            <a:r>
              <a:rPr lang="es-CO" sz="1400" dirty="0"/>
              <a:t>Sum S1 = 0.9464</a:t>
            </a:r>
          </a:p>
          <a:p>
            <a:r>
              <a:rPr lang="es-CO" sz="1400" dirty="0"/>
              <a:t>Sum S2 = 0.0675</a:t>
            </a:r>
          </a:p>
          <a:p>
            <a:r>
              <a:rPr lang="es-CO" sz="1400" dirty="0"/>
              <a:t>Sum S1 + S2 = 1.0139 </a:t>
            </a:r>
          </a:p>
          <a:p>
            <a:r>
              <a:rPr lang="es-CO" sz="1400" dirty="0"/>
              <a:t>Sum ST = 1.0799</a:t>
            </a:r>
          </a:p>
        </p:txBody>
      </p:sp>
      <p:sp>
        <p:nvSpPr>
          <p:cNvPr id="31" name="Google Shape;453;g36edeb4292e_1_43">
            <a:extLst>
              <a:ext uri="{FF2B5EF4-FFF2-40B4-BE49-F238E27FC236}">
                <a16:creationId xmlns:a16="http://schemas.microsoft.com/office/drawing/2014/main" id="{91C4D2A8-ED01-4C1A-AC91-9F36895E3D3C}"/>
              </a:ext>
            </a:extLst>
          </p:cNvPr>
          <p:cNvSpPr/>
          <p:nvPr/>
        </p:nvSpPr>
        <p:spPr>
          <a:xfrm>
            <a:off x="892800" y="2908800"/>
            <a:ext cx="1192800" cy="295200"/>
          </a:xfrm>
          <a:prstGeom prst="roundRect">
            <a:avLst>
              <a:gd name="adj" fmla="val 50000"/>
            </a:avLst>
          </a:prstGeom>
          <a:solidFill>
            <a:srgbClr val="B278E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a:rPr>
              <a:t>Ohmic</a:t>
            </a:r>
            <a:endParaRPr sz="1600" b="1" dirty="0">
              <a:solidFill>
                <a:schemeClr val="bg1"/>
              </a:solidFill>
              <a:latin typeface="Source Sans Pro" panose="020B0503030403020204" pitchFamily="34" charset="0"/>
              <a:ea typeface="Source Sans Pro" panose="020B0503030403020204" pitchFamily="34" charset="0"/>
              <a:sym typeface="Arial"/>
            </a:endParaRPr>
          </a:p>
        </p:txBody>
      </p:sp>
    </p:spTree>
    <p:extLst>
      <p:ext uri="{BB962C8B-B14F-4D97-AF65-F5344CB8AC3E}">
        <p14:creationId xmlns:p14="http://schemas.microsoft.com/office/powerpoint/2010/main" val="3040168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8B3627A4-5FDB-4409-8D94-43164444C5CE}"/>
              </a:ext>
            </a:extLst>
          </p:cNvPr>
          <p:cNvPicPr>
            <a:picLocks noChangeAspect="1"/>
          </p:cNvPicPr>
          <p:nvPr/>
        </p:nvPicPr>
        <p:blipFill>
          <a:blip r:embed="rId2"/>
          <a:stretch>
            <a:fillRect/>
          </a:stretch>
        </p:blipFill>
        <p:spPr>
          <a:xfrm>
            <a:off x="8053200" y="1828800"/>
            <a:ext cx="4029241" cy="3470400"/>
          </a:xfrm>
          <a:prstGeom prst="rect">
            <a:avLst/>
          </a:prstGeom>
        </p:spPr>
      </p:pic>
      <p:pic>
        <p:nvPicPr>
          <p:cNvPr id="11" name="Imagen 10">
            <a:extLst>
              <a:ext uri="{FF2B5EF4-FFF2-40B4-BE49-F238E27FC236}">
                <a16:creationId xmlns:a16="http://schemas.microsoft.com/office/drawing/2014/main" id="{81AA09D6-3FB3-40A7-BEB2-5D0B25D12E34}"/>
              </a:ext>
            </a:extLst>
          </p:cNvPr>
          <p:cNvPicPr>
            <a:picLocks noChangeAspect="1"/>
          </p:cNvPicPr>
          <p:nvPr/>
        </p:nvPicPr>
        <p:blipFill>
          <a:blip r:embed="rId3"/>
          <a:stretch>
            <a:fillRect/>
          </a:stretch>
        </p:blipFill>
        <p:spPr>
          <a:xfrm>
            <a:off x="2620800" y="1828800"/>
            <a:ext cx="5431540" cy="3373200"/>
          </a:xfrm>
          <a:prstGeom prst="rect">
            <a:avLst/>
          </a:prstGeom>
        </p:spPr>
      </p:pic>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1508105"/>
          </a:xfrm>
          <a:prstGeom prst="rect">
            <a:avLst/>
          </a:prstGeom>
          <a:noFill/>
        </p:spPr>
        <p:txBody>
          <a:bodyPr wrap="square">
            <a:spAutoFit/>
          </a:bodyPr>
          <a:lstStyle/>
          <a:p>
            <a:r>
              <a:rPr lang="en-US" sz="3200" b="1" dirty="0">
                <a:solidFill>
                  <a:prstClr val="black"/>
                </a:solidFill>
                <a:latin typeface="Source Sans Pro" panose="020B0503030403020204" pitchFamily="34" charset="0"/>
                <a:ea typeface="Source Sans Pro" panose="020B0503030403020204" pitchFamily="34" charset="0"/>
              </a:rPr>
              <a:t>SHAP</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Feature</a:t>
            </a:r>
          </a:p>
          <a:p>
            <a:r>
              <a:rPr lang="en-US" sz="2800" i="1" dirty="0">
                <a:solidFill>
                  <a:prstClr val="black"/>
                </a:solidFill>
                <a:latin typeface="Source Sans Pro Light" panose="020B0403030403020204" pitchFamily="34" charset="0"/>
                <a:ea typeface="Source Sans Pro Light" panose="020B0403030403020204" pitchFamily="34" charset="0"/>
              </a:rPr>
              <a:t>Importance</a:t>
            </a:r>
            <a:endParaRPr lang="es-CO" sz="3600" dirty="0"/>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38</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25" name="CuadroTexto 24">
            <a:extLst>
              <a:ext uri="{FF2B5EF4-FFF2-40B4-BE49-F238E27FC236}">
                <a16:creationId xmlns:a16="http://schemas.microsoft.com/office/drawing/2014/main" id="{DB092F93-DF71-4F57-B7EB-7DC3DD6F69F0}"/>
              </a:ext>
            </a:extLst>
          </p:cNvPr>
          <p:cNvSpPr txBox="1"/>
          <p:nvPr/>
        </p:nvSpPr>
        <p:spPr>
          <a:xfrm>
            <a:off x="9172914" y="1528722"/>
            <a:ext cx="1790071" cy="400110"/>
          </a:xfrm>
          <a:prstGeom prst="rect">
            <a:avLst/>
          </a:prstGeom>
          <a:noFill/>
        </p:spPr>
        <p:txBody>
          <a:bodyPr wrap="square">
            <a:spAutoFit/>
          </a:bodyPr>
          <a:lstStyle/>
          <a:p>
            <a:r>
              <a:rPr lang="es-CO" sz="2000" b="1" dirty="0" err="1">
                <a:solidFill>
                  <a:prstClr val="black"/>
                </a:solidFill>
                <a:latin typeface="Source Sans Pro" panose="020B0503030403020204" pitchFamily="34" charset="0"/>
                <a:ea typeface="Source Sans Pro" panose="020B0503030403020204" pitchFamily="34" charset="0"/>
              </a:rPr>
              <a:t>Summary</a:t>
            </a:r>
            <a:r>
              <a:rPr lang="es-CO" sz="2000" b="1" dirty="0">
                <a:solidFill>
                  <a:prstClr val="black"/>
                </a:solidFill>
                <a:latin typeface="Source Sans Pro" panose="020B0503030403020204" pitchFamily="34" charset="0"/>
                <a:ea typeface="Source Sans Pro" panose="020B0503030403020204" pitchFamily="34" charset="0"/>
              </a:rPr>
              <a:t> </a:t>
            </a:r>
            <a:r>
              <a:rPr lang="es-CO" sz="2000" b="1" dirty="0" err="1">
                <a:solidFill>
                  <a:prstClr val="black"/>
                </a:solidFill>
                <a:latin typeface="Source Sans Pro" panose="020B0503030403020204" pitchFamily="34" charset="0"/>
                <a:ea typeface="Source Sans Pro" panose="020B0503030403020204" pitchFamily="34" charset="0"/>
              </a:rPr>
              <a:t>plot</a:t>
            </a:r>
            <a:r>
              <a:rPr lang="es-CO" sz="2000" b="1" dirty="0">
                <a:solidFill>
                  <a:prstClr val="black"/>
                </a:solidFill>
                <a:latin typeface="Source Sans Pro" panose="020B0503030403020204" pitchFamily="34" charset="0"/>
                <a:ea typeface="Source Sans Pro" panose="020B0503030403020204" pitchFamily="34" charset="0"/>
              </a:rPr>
              <a:t> </a:t>
            </a: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7" name="CuadroTexto 26">
            <a:extLst>
              <a:ext uri="{FF2B5EF4-FFF2-40B4-BE49-F238E27FC236}">
                <a16:creationId xmlns:a16="http://schemas.microsoft.com/office/drawing/2014/main" id="{FE181DF9-5FFE-43A4-AE30-75F711D47CF4}"/>
              </a:ext>
            </a:extLst>
          </p:cNvPr>
          <p:cNvSpPr txBox="1"/>
          <p:nvPr/>
        </p:nvSpPr>
        <p:spPr>
          <a:xfrm>
            <a:off x="3942574" y="1528722"/>
            <a:ext cx="2784556" cy="400110"/>
          </a:xfrm>
          <a:prstGeom prst="rect">
            <a:avLst/>
          </a:prstGeom>
          <a:noFill/>
        </p:spPr>
        <p:txBody>
          <a:bodyPr wrap="square">
            <a:spAutoFit/>
          </a:bodyPr>
          <a:lstStyle/>
          <a:p>
            <a:r>
              <a:rPr lang="es-CO" sz="2000" b="1" dirty="0" err="1">
                <a:solidFill>
                  <a:prstClr val="black"/>
                </a:solidFill>
                <a:latin typeface="Source Sans Pro" panose="020B0503030403020204" pitchFamily="34" charset="0"/>
                <a:ea typeface="Source Sans Pro" panose="020B0503030403020204" pitchFamily="34" charset="0"/>
              </a:rPr>
              <a:t>Feature</a:t>
            </a:r>
            <a:r>
              <a:rPr lang="es-CO" sz="2000" b="1" dirty="0">
                <a:solidFill>
                  <a:prstClr val="black"/>
                </a:solidFill>
                <a:latin typeface="Source Sans Pro" panose="020B0503030403020204" pitchFamily="34" charset="0"/>
                <a:ea typeface="Source Sans Pro" panose="020B0503030403020204" pitchFamily="34" charset="0"/>
              </a:rPr>
              <a:t> </a:t>
            </a:r>
            <a:r>
              <a:rPr lang="es-CO" sz="2000" b="1" dirty="0" err="1">
                <a:solidFill>
                  <a:prstClr val="black"/>
                </a:solidFill>
                <a:latin typeface="Source Sans Pro" panose="020B0503030403020204" pitchFamily="34" charset="0"/>
                <a:ea typeface="Source Sans Pro" panose="020B0503030403020204" pitchFamily="34" charset="0"/>
              </a:rPr>
              <a:t>importance</a:t>
            </a:r>
            <a:endParaRPr lang="es-CO" sz="2000" b="1" dirty="0">
              <a:solidFill>
                <a:prstClr val="black"/>
              </a:solidFill>
              <a:latin typeface="Source Sans Pro" panose="020B0503030403020204" pitchFamily="34" charset="0"/>
              <a:ea typeface="Source Sans Pro" panose="020B0503030403020204" pitchFamily="34" charset="0"/>
            </a:endParaRPr>
          </a:p>
        </p:txBody>
      </p:sp>
      <p:grpSp>
        <p:nvGrpSpPr>
          <p:cNvPr id="8" name="Grupo 7">
            <a:extLst>
              <a:ext uri="{FF2B5EF4-FFF2-40B4-BE49-F238E27FC236}">
                <a16:creationId xmlns:a16="http://schemas.microsoft.com/office/drawing/2014/main" id="{436BCDFC-D00E-4F58-99B8-433C72DB0942}"/>
              </a:ext>
            </a:extLst>
          </p:cNvPr>
          <p:cNvGrpSpPr/>
          <p:nvPr/>
        </p:nvGrpSpPr>
        <p:grpSpPr>
          <a:xfrm>
            <a:off x="2676155" y="2124132"/>
            <a:ext cx="456463" cy="2630574"/>
            <a:chOff x="2342907" y="2124132"/>
            <a:chExt cx="456463" cy="2630574"/>
          </a:xfrm>
        </p:grpSpPr>
        <p:sp>
          <p:nvSpPr>
            <p:cNvPr id="42" name="Rectángulo 41">
              <a:extLst>
                <a:ext uri="{FF2B5EF4-FFF2-40B4-BE49-F238E27FC236}">
                  <a16:creationId xmlns:a16="http://schemas.microsoft.com/office/drawing/2014/main" id="{7B6F2F6E-D829-4E01-B66D-A2618AF1E2ED}"/>
                </a:ext>
              </a:extLst>
            </p:cNvPr>
            <p:cNvSpPr/>
            <p:nvPr/>
          </p:nvSpPr>
          <p:spPr>
            <a:xfrm>
              <a:off x="2342907" y="2124132"/>
              <a:ext cx="445008" cy="263057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28" name="CuadroTexto 27">
                  <a:extLst>
                    <a:ext uri="{FF2B5EF4-FFF2-40B4-BE49-F238E27FC236}">
                      <a16:creationId xmlns:a16="http://schemas.microsoft.com/office/drawing/2014/main" id="{B908A331-8854-4027-88FC-18854D73E7E0}"/>
                    </a:ext>
                  </a:extLst>
                </p:cNvPr>
                <p:cNvSpPr txBox="1"/>
                <p:nvPr/>
              </p:nvSpPr>
              <p:spPr>
                <a:xfrm>
                  <a:off x="2414810" y="2500678"/>
                  <a:ext cx="37824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𝑃𝑎</m:t>
                            </m:r>
                          </m:e>
                          <m:sub>
                            <m:r>
                              <a:rPr lang="es-ES" sz="1100" b="0" i="1" smtClean="0">
                                <a:latin typeface="Cambria Math" panose="02040503050406030204" pitchFamily="18" charset="0"/>
                              </a:rPr>
                              <m:t>𝑑𝑒𝑠</m:t>
                            </m:r>
                          </m:sub>
                        </m:sSub>
                      </m:oMath>
                    </m:oMathPara>
                  </a14:m>
                  <a:endParaRPr lang="es-CO" sz="1100" dirty="0"/>
                </a:p>
              </p:txBody>
            </p:sp>
          </mc:Choice>
          <mc:Fallback>
            <p:sp>
              <p:nvSpPr>
                <p:cNvPr id="28" name="CuadroTexto 27">
                  <a:extLst>
                    <a:ext uri="{FF2B5EF4-FFF2-40B4-BE49-F238E27FC236}">
                      <a16:creationId xmlns:a16="http://schemas.microsoft.com/office/drawing/2014/main" id="{B908A331-8854-4027-88FC-18854D73E7E0}"/>
                    </a:ext>
                  </a:extLst>
                </p:cNvPr>
                <p:cNvSpPr txBox="1">
                  <a:spLocks noRot="1" noChangeAspect="1" noMove="1" noResize="1" noEditPoints="1" noAdjustHandles="1" noChangeArrowheads="1" noChangeShapeType="1" noTextEdit="1"/>
                </p:cNvSpPr>
                <p:nvPr/>
              </p:nvSpPr>
              <p:spPr>
                <a:xfrm>
                  <a:off x="2414810" y="2500678"/>
                  <a:ext cx="378244" cy="169277"/>
                </a:xfrm>
                <a:prstGeom prst="rect">
                  <a:avLst/>
                </a:prstGeom>
                <a:blipFill>
                  <a:blip r:embed="rId4"/>
                  <a:stretch>
                    <a:fillRect l="-8065" r="-3226" b="-1785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29" name="CuadroTexto 28">
                  <a:extLst>
                    <a:ext uri="{FF2B5EF4-FFF2-40B4-BE49-F238E27FC236}">
                      <a16:creationId xmlns:a16="http://schemas.microsoft.com/office/drawing/2014/main" id="{C2E78934-9427-4745-A2A2-25EE4537F882}"/>
                    </a:ext>
                  </a:extLst>
                </p:cNvPr>
                <p:cNvSpPr txBox="1"/>
                <p:nvPr/>
              </p:nvSpPr>
              <p:spPr>
                <a:xfrm>
                  <a:off x="2434045" y="3608177"/>
                  <a:ext cx="35900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𝜙</m:t>
                            </m:r>
                          </m:e>
                          <m:sub>
                            <m:r>
                              <a:rPr lang="es-ES" sz="1100" b="0" i="1" smtClean="0">
                                <a:latin typeface="Cambria Math" panose="02040503050406030204" pitchFamily="18" charset="0"/>
                              </a:rPr>
                              <m:t>𝑐𝑑𝑒𝑠</m:t>
                            </m:r>
                          </m:sub>
                        </m:sSub>
                      </m:oMath>
                    </m:oMathPara>
                  </a14:m>
                  <a:endParaRPr lang="es-CO" sz="1100" dirty="0"/>
                </a:p>
              </p:txBody>
            </p:sp>
          </mc:Choice>
          <mc:Fallback>
            <p:sp>
              <p:nvSpPr>
                <p:cNvPr id="29" name="CuadroTexto 28">
                  <a:extLst>
                    <a:ext uri="{FF2B5EF4-FFF2-40B4-BE49-F238E27FC236}">
                      <a16:creationId xmlns:a16="http://schemas.microsoft.com/office/drawing/2014/main" id="{C2E78934-9427-4745-A2A2-25EE4537F882}"/>
                    </a:ext>
                  </a:extLst>
                </p:cNvPr>
                <p:cNvSpPr txBox="1">
                  <a:spLocks noRot="1" noChangeAspect="1" noMove="1" noResize="1" noEditPoints="1" noAdjustHandles="1" noChangeArrowheads="1" noChangeShapeType="1" noTextEdit="1"/>
                </p:cNvSpPr>
                <p:nvPr/>
              </p:nvSpPr>
              <p:spPr>
                <a:xfrm>
                  <a:off x="2434045" y="3608177"/>
                  <a:ext cx="359009" cy="169277"/>
                </a:xfrm>
                <a:prstGeom prst="rect">
                  <a:avLst/>
                </a:prstGeom>
                <a:blipFill>
                  <a:blip r:embed="rId5"/>
                  <a:stretch>
                    <a:fillRect l="-13559" r="-5085"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0" name="CuadroTexto 29">
                  <a:extLst>
                    <a:ext uri="{FF2B5EF4-FFF2-40B4-BE49-F238E27FC236}">
                      <a16:creationId xmlns:a16="http://schemas.microsoft.com/office/drawing/2014/main" id="{98C3A9D2-B915-4A37-9FFC-E459717B2F5D}"/>
                    </a:ext>
                  </a:extLst>
                </p:cNvPr>
                <p:cNvSpPr txBox="1"/>
                <p:nvPr/>
              </p:nvSpPr>
              <p:spPr>
                <a:xfrm>
                  <a:off x="2522018" y="4161659"/>
                  <a:ext cx="271036" cy="182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𝑔𝑑𝑙</m:t>
                            </m:r>
                          </m:sub>
                        </m:sSub>
                      </m:oMath>
                    </m:oMathPara>
                  </a14:m>
                  <a:endParaRPr lang="es-CO" sz="1100" dirty="0"/>
                </a:p>
              </p:txBody>
            </p:sp>
          </mc:Choice>
          <mc:Fallback>
            <p:sp>
              <p:nvSpPr>
                <p:cNvPr id="30" name="CuadroTexto 29">
                  <a:extLst>
                    <a:ext uri="{FF2B5EF4-FFF2-40B4-BE49-F238E27FC236}">
                      <a16:creationId xmlns:a16="http://schemas.microsoft.com/office/drawing/2014/main" id="{98C3A9D2-B915-4A37-9FFC-E459717B2F5D}"/>
                    </a:ext>
                  </a:extLst>
                </p:cNvPr>
                <p:cNvSpPr txBox="1">
                  <a:spLocks noRot="1" noChangeAspect="1" noMove="1" noResize="1" noEditPoints="1" noAdjustHandles="1" noChangeArrowheads="1" noChangeShapeType="1" noTextEdit="1"/>
                </p:cNvSpPr>
                <p:nvPr/>
              </p:nvSpPr>
              <p:spPr>
                <a:xfrm>
                  <a:off x="2522018" y="4161659"/>
                  <a:ext cx="271036" cy="182999"/>
                </a:xfrm>
                <a:prstGeom prst="rect">
                  <a:avLst/>
                </a:prstGeom>
                <a:blipFill>
                  <a:blip r:embed="rId6"/>
                  <a:stretch>
                    <a:fillRect l="-6667" r="-8889"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1" name="CuadroTexto 30">
                  <a:extLst>
                    <a:ext uri="{FF2B5EF4-FFF2-40B4-BE49-F238E27FC236}">
                      <a16:creationId xmlns:a16="http://schemas.microsoft.com/office/drawing/2014/main" id="{EA047C54-2BFC-4269-B72B-64770B085F3A}"/>
                    </a:ext>
                  </a:extLst>
                </p:cNvPr>
                <p:cNvSpPr txBox="1"/>
                <p:nvPr/>
              </p:nvSpPr>
              <p:spPr>
                <a:xfrm>
                  <a:off x="2538689" y="3389126"/>
                  <a:ext cx="25436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𝑚𝑐</m:t>
                            </m:r>
                          </m:sub>
                        </m:sSub>
                      </m:oMath>
                    </m:oMathPara>
                  </a14:m>
                  <a:endParaRPr lang="es-CO" sz="1100" dirty="0"/>
                </a:p>
              </p:txBody>
            </p:sp>
          </mc:Choice>
          <mc:Fallback>
            <p:sp>
              <p:nvSpPr>
                <p:cNvPr id="31" name="CuadroTexto 30">
                  <a:extLst>
                    <a:ext uri="{FF2B5EF4-FFF2-40B4-BE49-F238E27FC236}">
                      <a16:creationId xmlns:a16="http://schemas.microsoft.com/office/drawing/2014/main" id="{EA047C54-2BFC-4269-B72B-64770B085F3A}"/>
                    </a:ext>
                  </a:extLst>
                </p:cNvPr>
                <p:cNvSpPr txBox="1">
                  <a:spLocks noRot="1" noChangeAspect="1" noMove="1" noResize="1" noEditPoints="1" noAdjustHandles="1" noChangeArrowheads="1" noChangeShapeType="1" noTextEdit="1"/>
                </p:cNvSpPr>
                <p:nvPr/>
              </p:nvSpPr>
              <p:spPr>
                <a:xfrm>
                  <a:off x="2538689" y="3389126"/>
                  <a:ext cx="254365" cy="169277"/>
                </a:xfrm>
                <a:prstGeom prst="rect">
                  <a:avLst/>
                </a:prstGeom>
                <a:blipFill>
                  <a:blip r:embed="rId7"/>
                  <a:stretch>
                    <a:fillRect l="-7143" r="-2381"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2" name="CuadroTexto 31">
                  <a:extLst>
                    <a:ext uri="{FF2B5EF4-FFF2-40B4-BE49-F238E27FC236}">
                      <a16:creationId xmlns:a16="http://schemas.microsoft.com/office/drawing/2014/main" id="{1F186997-7A23-4123-A3CB-D6C213AD4F26}"/>
                    </a:ext>
                  </a:extLst>
                </p:cNvPr>
                <p:cNvSpPr txBox="1"/>
                <p:nvPr/>
              </p:nvSpPr>
              <p:spPr>
                <a:xfrm>
                  <a:off x="2634870" y="4346286"/>
                  <a:ext cx="15818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𝑐</m:t>
                            </m:r>
                          </m:sub>
                        </m:sSub>
                      </m:oMath>
                    </m:oMathPara>
                  </a14:m>
                  <a:endParaRPr lang="es-CO" sz="1100" dirty="0"/>
                </a:p>
              </p:txBody>
            </p:sp>
          </mc:Choice>
          <mc:Fallback>
            <p:sp>
              <p:nvSpPr>
                <p:cNvPr id="32" name="CuadroTexto 31">
                  <a:extLst>
                    <a:ext uri="{FF2B5EF4-FFF2-40B4-BE49-F238E27FC236}">
                      <a16:creationId xmlns:a16="http://schemas.microsoft.com/office/drawing/2014/main" id="{1F186997-7A23-4123-A3CB-D6C213AD4F26}"/>
                    </a:ext>
                  </a:extLst>
                </p:cNvPr>
                <p:cNvSpPr txBox="1">
                  <a:spLocks noRot="1" noChangeAspect="1" noMove="1" noResize="1" noEditPoints="1" noAdjustHandles="1" noChangeArrowheads="1" noChangeShapeType="1" noTextEdit="1"/>
                </p:cNvSpPr>
                <p:nvPr/>
              </p:nvSpPr>
              <p:spPr>
                <a:xfrm>
                  <a:off x="2634870" y="4346286"/>
                  <a:ext cx="158184" cy="169277"/>
                </a:xfrm>
                <a:prstGeom prst="rect">
                  <a:avLst/>
                </a:prstGeom>
                <a:blipFill>
                  <a:blip r:embed="rId8"/>
                  <a:stretch>
                    <a:fillRect l="-11538" r="-3846"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3" name="CuadroTexto 32">
                  <a:extLst>
                    <a:ext uri="{FF2B5EF4-FFF2-40B4-BE49-F238E27FC236}">
                      <a16:creationId xmlns:a16="http://schemas.microsoft.com/office/drawing/2014/main" id="{C3FBBE94-2EBD-4D55-A3DA-69DB50558D58}"/>
                    </a:ext>
                  </a:extLst>
                </p:cNvPr>
                <p:cNvSpPr txBox="1"/>
                <p:nvPr/>
              </p:nvSpPr>
              <p:spPr>
                <a:xfrm>
                  <a:off x="2693860" y="3241125"/>
                  <a:ext cx="991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𝜏</m:t>
                        </m:r>
                      </m:oMath>
                    </m:oMathPara>
                  </a14:m>
                  <a:endParaRPr lang="es-CO" sz="1100" dirty="0"/>
                </a:p>
              </p:txBody>
            </p:sp>
          </mc:Choice>
          <mc:Fallback>
            <p:sp>
              <p:nvSpPr>
                <p:cNvPr id="33" name="CuadroTexto 32">
                  <a:extLst>
                    <a:ext uri="{FF2B5EF4-FFF2-40B4-BE49-F238E27FC236}">
                      <a16:creationId xmlns:a16="http://schemas.microsoft.com/office/drawing/2014/main" id="{C3FBBE94-2EBD-4D55-A3DA-69DB50558D58}"/>
                    </a:ext>
                  </a:extLst>
                </p:cNvPr>
                <p:cNvSpPr txBox="1">
                  <a:spLocks noRot="1" noChangeAspect="1" noMove="1" noResize="1" noEditPoints="1" noAdjustHandles="1" noChangeArrowheads="1" noChangeShapeType="1" noTextEdit="1"/>
                </p:cNvSpPr>
                <p:nvPr/>
              </p:nvSpPr>
              <p:spPr>
                <a:xfrm>
                  <a:off x="2693860" y="3241125"/>
                  <a:ext cx="99194" cy="169277"/>
                </a:xfrm>
                <a:prstGeom prst="rect">
                  <a:avLst/>
                </a:prstGeom>
                <a:blipFill>
                  <a:blip r:embed="rId9"/>
                  <a:stretch>
                    <a:fillRect l="-18750" r="-25000" b="-370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4" name="CuadroTexto 33">
                  <a:extLst>
                    <a:ext uri="{FF2B5EF4-FFF2-40B4-BE49-F238E27FC236}">
                      <a16:creationId xmlns:a16="http://schemas.microsoft.com/office/drawing/2014/main" id="{7844387A-917F-4DF1-906B-CBD12FDD79B4}"/>
                    </a:ext>
                  </a:extLst>
                </p:cNvPr>
                <p:cNvSpPr txBox="1"/>
                <p:nvPr/>
              </p:nvSpPr>
              <p:spPr>
                <a:xfrm>
                  <a:off x="2378838" y="2286946"/>
                  <a:ext cx="414216" cy="1828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𝑖</m:t>
                            </m:r>
                            <m:r>
                              <a:rPr lang="es-ES" sz="1100" b="0" i="1" smtClean="0">
                                <a:latin typeface="Cambria Math" panose="02040503050406030204" pitchFamily="18" charset="0"/>
                              </a:rPr>
                              <m:t>0</m:t>
                            </m:r>
                          </m:e>
                          <m:sub>
                            <m:r>
                              <a:rPr lang="es-ES" sz="1100" b="0" i="1" smtClean="0">
                                <a:latin typeface="Cambria Math" panose="02040503050406030204" pitchFamily="18" charset="0"/>
                              </a:rPr>
                              <m:t>𝑐</m:t>
                            </m:r>
                            <m:r>
                              <a:rPr lang="es-ES" sz="1100" b="0" i="1" smtClean="0">
                                <a:latin typeface="Cambria Math" panose="02040503050406030204" pitchFamily="18" charset="0"/>
                              </a:rPr>
                              <m:t> </m:t>
                            </m:r>
                            <m:r>
                              <a:rPr lang="es-ES" sz="1100" b="0" i="1" smtClean="0">
                                <a:latin typeface="Cambria Math" panose="02040503050406030204" pitchFamily="18" charset="0"/>
                              </a:rPr>
                              <m:t>𝑟𝑒𝑓</m:t>
                            </m:r>
                          </m:sub>
                        </m:sSub>
                      </m:oMath>
                    </m:oMathPara>
                  </a14:m>
                  <a:endParaRPr lang="es-CO" sz="1100" dirty="0"/>
                </a:p>
              </p:txBody>
            </p:sp>
          </mc:Choice>
          <mc:Fallback>
            <p:sp>
              <p:nvSpPr>
                <p:cNvPr id="34" name="CuadroTexto 33">
                  <a:extLst>
                    <a:ext uri="{FF2B5EF4-FFF2-40B4-BE49-F238E27FC236}">
                      <a16:creationId xmlns:a16="http://schemas.microsoft.com/office/drawing/2014/main" id="{7844387A-917F-4DF1-906B-CBD12FDD79B4}"/>
                    </a:ext>
                  </a:extLst>
                </p:cNvPr>
                <p:cNvSpPr txBox="1">
                  <a:spLocks noRot="1" noChangeAspect="1" noMove="1" noResize="1" noEditPoints="1" noAdjustHandles="1" noChangeArrowheads="1" noChangeShapeType="1" noTextEdit="1"/>
                </p:cNvSpPr>
                <p:nvPr/>
              </p:nvSpPr>
              <p:spPr>
                <a:xfrm>
                  <a:off x="2378838" y="2286946"/>
                  <a:ext cx="414216" cy="182807"/>
                </a:xfrm>
                <a:prstGeom prst="rect">
                  <a:avLst/>
                </a:prstGeom>
                <a:blipFill>
                  <a:blip r:embed="rId10"/>
                  <a:stretch>
                    <a:fillRect l="-7353" r="-5882"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5" name="CuadroTexto 34">
                  <a:extLst>
                    <a:ext uri="{FF2B5EF4-FFF2-40B4-BE49-F238E27FC236}">
                      <a16:creationId xmlns:a16="http://schemas.microsoft.com/office/drawing/2014/main" id="{6E725AAF-99FF-4746-98A3-982708322466}"/>
                    </a:ext>
                  </a:extLst>
                </p:cNvPr>
                <p:cNvSpPr txBox="1"/>
                <p:nvPr/>
              </p:nvSpPr>
              <p:spPr>
                <a:xfrm>
                  <a:off x="2563760" y="3972263"/>
                  <a:ext cx="2292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𝑐𝑜</m:t>
                            </m:r>
                          </m:sub>
                        </m:sSub>
                      </m:oMath>
                    </m:oMathPara>
                  </a14:m>
                  <a:endParaRPr lang="es-CO" sz="1100" dirty="0"/>
                </a:p>
              </p:txBody>
            </p:sp>
          </mc:Choice>
          <mc:Fallback>
            <p:sp>
              <p:nvSpPr>
                <p:cNvPr id="35" name="CuadroTexto 34">
                  <a:extLst>
                    <a:ext uri="{FF2B5EF4-FFF2-40B4-BE49-F238E27FC236}">
                      <a16:creationId xmlns:a16="http://schemas.microsoft.com/office/drawing/2014/main" id="{6E725AAF-99FF-4746-98A3-982708322466}"/>
                    </a:ext>
                  </a:extLst>
                </p:cNvPr>
                <p:cNvSpPr txBox="1">
                  <a:spLocks noRot="1" noChangeAspect="1" noMove="1" noResize="1" noEditPoints="1" noAdjustHandles="1" noChangeArrowheads="1" noChangeShapeType="1" noTextEdit="1"/>
                </p:cNvSpPr>
                <p:nvPr/>
              </p:nvSpPr>
              <p:spPr>
                <a:xfrm>
                  <a:off x="2563760" y="3972263"/>
                  <a:ext cx="229294" cy="169277"/>
                </a:xfrm>
                <a:prstGeom prst="rect">
                  <a:avLst/>
                </a:prstGeom>
                <a:blipFill>
                  <a:blip r:embed="rId11"/>
                  <a:stretch>
                    <a:fillRect l="-7895" r="-2632" b="-1481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6" name="CuadroTexto 35">
                  <a:extLst>
                    <a:ext uri="{FF2B5EF4-FFF2-40B4-BE49-F238E27FC236}">
                      <a16:creationId xmlns:a16="http://schemas.microsoft.com/office/drawing/2014/main" id="{5C2ABCF1-AFED-4F1D-B366-8AB53FD606C2}"/>
                    </a:ext>
                  </a:extLst>
                </p:cNvPr>
                <p:cNvSpPr txBox="1"/>
                <p:nvPr/>
              </p:nvSpPr>
              <p:spPr>
                <a:xfrm>
                  <a:off x="2624237" y="3064976"/>
                  <a:ext cx="16940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m:t>
                            </m:r>
                          </m:sub>
                        </m:sSub>
                      </m:oMath>
                    </m:oMathPara>
                  </a14:m>
                  <a:endParaRPr lang="es-CO" sz="1100" dirty="0"/>
                </a:p>
              </p:txBody>
            </p:sp>
          </mc:Choice>
          <mc:Fallback>
            <p:sp>
              <p:nvSpPr>
                <p:cNvPr id="36" name="CuadroTexto 35">
                  <a:extLst>
                    <a:ext uri="{FF2B5EF4-FFF2-40B4-BE49-F238E27FC236}">
                      <a16:creationId xmlns:a16="http://schemas.microsoft.com/office/drawing/2014/main" id="{5C2ABCF1-AFED-4F1D-B366-8AB53FD606C2}"/>
                    </a:ext>
                  </a:extLst>
                </p:cNvPr>
                <p:cNvSpPr txBox="1">
                  <a:spLocks noRot="1" noChangeAspect="1" noMove="1" noResize="1" noEditPoints="1" noAdjustHandles="1" noChangeArrowheads="1" noChangeShapeType="1" noTextEdit="1"/>
                </p:cNvSpPr>
                <p:nvPr/>
              </p:nvSpPr>
              <p:spPr>
                <a:xfrm>
                  <a:off x="2624237" y="3064976"/>
                  <a:ext cx="169405" cy="169277"/>
                </a:xfrm>
                <a:prstGeom prst="rect">
                  <a:avLst/>
                </a:prstGeom>
                <a:blipFill>
                  <a:blip r:embed="rId12"/>
                  <a:stretch>
                    <a:fillRect l="-10714" r="-3571" b="-10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7" name="CuadroTexto 36">
                  <a:extLst>
                    <a:ext uri="{FF2B5EF4-FFF2-40B4-BE49-F238E27FC236}">
                      <a16:creationId xmlns:a16="http://schemas.microsoft.com/office/drawing/2014/main" id="{E5AF79C3-C541-4F09-8271-A56131A158D9}"/>
                    </a:ext>
                  </a:extLst>
                </p:cNvPr>
                <p:cNvSpPr txBox="1"/>
                <p:nvPr/>
              </p:nvSpPr>
              <p:spPr>
                <a:xfrm>
                  <a:off x="2532085" y="2703910"/>
                  <a:ext cx="26096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𝑇𝑓𝑐</m:t>
                        </m:r>
                      </m:oMath>
                    </m:oMathPara>
                  </a14:m>
                  <a:endParaRPr lang="es-CO" sz="1100" dirty="0"/>
                </a:p>
              </p:txBody>
            </p:sp>
          </mc:Choice>
          <mc:Fallback>
            <p:sp>
              <p:nvSpPr>
                <p:cNvPr id="37" name="CuadroTexto 36">
                  <a:extLst>
                    <a:ext uri="{FF2B5EF4-FFF2-40B4-BE49-F238E27FC236}">
                      <a16:creationId xmlns:a16="http://schemas.microsoft.com/office/drawing/2014/main" id="{E5AF79C3-C541-4F09-8271-A56131A158D9}"/>
                    </a:ext>
                  </a:extLst>
                </p:cNvPr>
                <p:cNvSpPr txBox="1">
                  <a:spLocks noRot="1" noChangeAspect="1" noMove="1" noResize="1" noEditPoints="1" noAdjustHandles="1" noChangeArrowheads="1" noChangeShapeType="1" noTextEdit="1"/>
                </p:cNvSpPr>
                <p:nvPr/>
              </p:nvSpPr>
              <p:spPr>
                <a:xfrm>
                  <a:off x="2532085" y="2703910"/>
                  <a:ext cx="260969" cy="169277"/>
                </a:xfrm>
                <a:prstGeom prst="rect">
                  <a:avLst/>
                </a:prstGeom>
                <a:blipFill>
                  <a:blip r:embed="rId13"/>
                  <a:stretch>
                    <a:fillRect l="-18605" r="-18605" b="-4074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8" name="CuadroTexto 37">
                  <a:extLst>
                    <a:ext uri="{FF2B5EF4-FFF2-40B4-BE49-F238E27FC236}">
                      <a16:creationId xmlns:a16="http://schemas.microsoft.com/office/drawing/2014/main" id="{A7DED916-00D3-4253-9146-63A3520EECCD}"/>
                    </a:ext>
                  </a:extLst>
                </p:cNvPr>
                <p:cNvSpPr txBox="1"/>
                <p:nvPr/>
              </p:nvSpPr>
              <p:spPr>
                <a:xfrm>
                  <a:off x="2617044" y="3820408"/>
                  <a:ext cx="17601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𝑆𝑐</m:t>
                        </m:r>
                      </m:oMath>
                    </m:oMathPara>
                  </a14:m>
                  <a:endParaRPr lang="es-CO" sz="1100" dirty="0"/>
                </a:p>
              </p:txBody>
            </p:sp>
          </mc:Choice>
          <mc:Fallback>
            <p:sp>
              <p:nvSpPr>
                <p:cNvPr id="38" name="CuadroTexto 37">
                  <a:extLst>
                    <a:ext uri="{FF2B5EF4-FFF2-40B4-BE49-F238E27FC236}">
                      <a16:creationId xmlns:a16="http://schemas.microsoft.com/office/drawing/2014/main" id="{A7DED916-00D3-4253-9146-63A3520EECCD}"/>
                    </a:ext>
                  </a:extLst>
                </p:cNvPr>
                <p:cNvSpPr txBox="1">
                  <a:spLocks noRot="1" noChangeAspect="1" noMove="1" noResize="1" noEditPoints="1" noAdjustHandles="1" noChangeArrowheads="1" noChangeShapeType="1" noTextEdit="1"/>
                </p:cNvSpPr>
                <p:nvPr/>
              </p:nvSpPr>
              <p:spPr>
                <a:xfrm>
                  <a:off x="2617044" y="3820408"/>
                  <a:ext cx="176010" cy="169277"/>
                </a:xfrm>
                <a:prstGeom prst="rect">
                  <a:avLst/>
                </a:prstGeom>
                <a:blipFill>
                  <a:blip r:embed="rId14"/>
                  <a:stretch>
                    <a:fillRect l="-17241" r="-17241" b="-1111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1" name="CuadroTexto 40">
                  <a:extLst>
                    <a:ext uri="{FF2B5EF4-FFF2-40B4-BE49-F238E27FC236}">
                      <a16:creationId xmlns:a16="http://schemas.microsoft.com/office/drawing/2014/main" id="{5D2FD654-FB3F-49E2-AED6-3EFF05D53AF9}"/>
                    </a:ext>
                  </a:extLst>
                </p:cNvPr>
                <p:cNvSpPr txBox="1"/>
                <p:nvPr/>
              </p:nvSpPr>
              <p:spPr>
                <a:xfrm>
                  <a:off x="2570557" y="2153736"/>
                  <a:ext cx="222497"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𝑖𝑓𝑐</m:t>
                        </m:r>
                      </m:oMath>
                    </m:oMathPara>
                  </a14:m>
                  <a:endParaRPr lang="es-CO" sz="1100" dirty="0"/>
                </a:p>
              </p:txBody>
            </p:sp>
          </mc:Choice>
          <mc:Fallback>
            <p:sp>
              <p:nvSpPr>
                <p:cNvPr id="41" name="CuadroTexto 40">
                  <a:extLst>
                    <a:ext uri="{FF2B5EF4-FFF2-40B4-BE49-F238E27FC236}">
                      <a16:creationId xmlns:a16="http://schemas.microsoft.com/office/drawing/2014/main" id="{5D2FD654-FB3F-49E2-AED6-3EFF05D53AF9}"/>
                    </a:ext>
                  </a:extLst>
                </p:cNvPr>
                <p:cNvSpPr txBox="1">
                  <a:spLocks noRot="1" noChangeAspect="1" noMove="1" noResize="1" noEditPoints="1" noAdjustHandles="1" noChangeArrowheads="1" noChangeShapeType="1" noTextEdit="1"/>
                </p:cNvSpPr>
                <p:nvPr/>
              </p:nvSpPr>
              <p:spPr>
                <a:xfrm>
                  <a:off x="2570557" y="2153736"/>
                  <a:ext cx="222497" cy="169277"/>
                </a:xfrm>
                <a:prstGeom prst="rect">
                  <a:avLst/>
                </a:prstGeom>
                <a:blipFill>
                  <a:blip r:embed="rId15"/>
                  <a:stretch>
                    <a:fillRect l="-21622" r="-21622"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39" name="CuadroTexto 38">
                  <a:extLst>
                    <a:ext uri="{FF2B5EF4-FFF2-40B4-BE49-F238E27FC236}">
                      <a16:creationId xmlns:a16="http://schemas.microsoft.com/office/drawing/2014/main" id="{97D895B1-66FF-4C17-A446-78FBDA4490F1}"/>
                    </a:ext>
                  </a:extLst>
                </p:cNvPr>
                <p:cNvSpPr txBox="1"/>
                <p:nvPr/>
              </p:nvSpPr>
              <p:spPr>
                <a:xfrm>
                  <a:off x="2687384" y="4554275"/>
                  <a:ext cx="10567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𝑒</m:t>
                        </m:r>
                      </m:oMath>
                    </m:oMathPara>
                  </a14:m>
                  <a:endParaRPr lang="es-CO" sz="1100" dirty="0"/>
                </a:p>
              </p:txBody>
            </p:sp>
          </mc:Choice>
          <mc:Fallback>
            <p:sp>
              <p:nvSpPr>
                <p:cNvPr id="39" name="CuadroTexto 38">
                  <a:extLst>
                    <a:ext uri="{FF2B5EF4-FFF2-40B4-BE49-F238E27FC236}">
                      <a16:creationId xmlns:a16="http://schemas.microsoft.com/office/drawing/2014/main" id="{97D895B1-66FF-4C17-A446-78FBDA4490F1}"/>
                    </a:ext>
                  </a:extLst>
                </p:cNvPr>
                <p:cNvSpPr txBox="1">
                  <a:spLocks noRot="1" noChangeAspect="1" noMove="1" noResize="1" noEditPoints="1" noAdjustHandles="1" noChangeArrowheads="1" noChangeShapeType="1" noTextEdit="1"/>
                </p:cNvSpPr>
                <p:nvPr/>
              </p:nvSpPr>
              <p:spPr>
                <a:xfrm>
                  <a:off x="2687384" y="4554275"/>
                  <a:ext cx="105670" cy="169277"/>
                </a:xfrm>
                <a:prstGeom prst="rect">
                  <a:avLst/>
                </a:prstGeom>
                <a:blipFill>
                  <a:blip r:embed="rId16"/>
                  <a:stretch>
                    <a:fillRect l="-17647" r="-1764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40" name="CuadroTexto 39">
                  <a:extLst>
                    <a:ext uri="{FF2B5EF4-FFF2-40B4-BE49-F238E27FC236}">
                      <a16:creationId xmlns:a16="http://schemas.microsoft.com/office/drawing/2014/main" id="{8CDD01DE-87CA-4754-9495-1958870F20B7}"/>
                    </a:ext>
                  </a:extLst>
                </p:cNvPr>
                <p:cNvSpPr txBox="1"/>
                <p:nvPr/>
              </p:nvSpPr>
              <p:spPr>
                <a:xfrm>
                  <a:off x="2603932" y="2898231"/>
                  <a:ext cx="195438"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𝑅𝑒</m:t>
                        </m:r>
                      </m:oMath>
                    </m:oMathPara>
                  </a14:m>
                  <a:endParaRPr lang="es-CO" sz="1100" dirty="0"/>
                </a:p>
              </p:txBody>
            </p:sp>
          </mc:Choice>
          <mc:Fallback>
            <p:sp>
              <p:nvSpPr>
                <p:cNvPr id="40" name="CuadroTexto 39">
                  <a:extLst>
                    <a:ext uri="{FF2B5EF4-FFF2-40B4-BE49-F238E27FC236}">
                      <a16:creationId xmlns:a16="http://schemas.microsoft.com/office/drawing/2014/main" id="{8CDD01DE-87CA-4754-9495-1958870F20B7}"/>
                    </a:ext>
                  </a:extLst>
                </p:cNvPr>
                <p:cNvSpPr txBox="1">
                  <a:spLocks noRot="1" noChangeAspect="1" noMove="1" noResize="1" noEditPoints="1" noAdjustHandles="1" noChangeArrowheads="1" noChangeShapeType="1" noTextEdit="1"/>
                </p:cNvSpPr>
                <p:nvPr/>
              </p:nvSpPr>
              <p:spPr>
                <a:xfrm>
                  <a:off x="2603932" y="2898231"/>
                  <a:ext cx="195438" cy="169277"/>
                </a:xfrm>
                <a:prstGeom prst="rect">
                  <a:avLst/>
                </a:prstGeom>
                <a:blipFill>
                  <a:blip r:embed="rId17"/>
                  <a:stretch>
                    <a:fillRect l="-15625" r="-15625" b="-7143"/>
                  </a:stretch>
                </a:blipFill>
              </p:spPr>
              <p:txBody>
                <a:bodyPr/>
                <a:lstStyle/>
                <a:p>
                  <a:r>
                    <a:rPr lang="es-CO">
                      <a:noFill/>
                    </a:rPr>
                    <a:t> </a:t>
                  </a:r>
                </a:p>
              </p:txBody>
            </p:sp>
          </mc:Fallback>
        </mc:AlternateContent>
      </p:grpSp>
      <p:sp>
        <p:nvSpPr>
          <p:cNvPr id="63" name="CuadroTexto 62">
            <a:extLst>
              <a:ext uri="{FF2B5EF4-FFF2-40B4-BE49-F238E27FC236}">
                <a16:creationId xmlns:a16="http://schemas.microsoft.com/office/drawing/2014/main" id="{771F9AF2-44F0-445C-91F2-F3A3E7B34443}"/>
              </a:ext>
            </a:extLst>
          </p:cNvPr>
          <p:cNvSpPr txBox="1"/>
          <p:nvPr/>
        </p:nvSpPr>
        <p:spPr>
          <a:xfrm>
            <a:off x="2997816" y="5136732"/>
            <a:ext cx="4675847" cy="646331"/>
          </a:xfrm>
          <a:prstGeom prst="rect">
            <a:avLst/>
          </a:prstGeom>
          <a:noFill/>
        </p:spPr>
        <p:txBody>
          <a:bodyPr wrap="square">
            <a:spAutoFit/>
          </a:bodyPr>
          <a:lstStyle/>
          <a:p>
            <a:r>
              <a:rPr lang="en" sz="1200" b="1" dirty="0"/>
              <a:t>Figure XX:  </a:t>
            </a:r>
            <a:r>
              <a:rPr lang="en-US" sz="1200" dirty="0"/>
              <a:t>SHAP feature importance ranking based on the </a:t>
            </a:r>
            <a:r>
              <a:rPr lang="en-US" sz="1200" dirty="0" err="1"/>
              <a:t>XGBoost</a:t>
            </a:r>
            <a:r>
              <a:rPr lang="en-US" sz="1200" dirty="0"/>
              <a:t> model, showing the top contributors to the output in the Mass Transport region.</a:t>
            </a:r>
            <a:endParaRPr lang="es-CO" sz="1200" dirty="0"/>
          </a:p>
        </p:txBody>
      </p:sp>
      <p:sp>
        <p:nvSpPr>
          <p:cNvPr id="66" name="CuadroTexto 65">
            <a:extLst>
              <a:ext uri="{FF2B5EF4-FFF2-40B4-BE49-F238E27FC236}">
                <a16:creationId xmlns:a16="http://schemas.microsoft.com/office/drawing/2014/main" id="{3896E080-0E53-48E4-B458-F980106CCA52}"/>
              </a:ext>
            </a:extLst>
          </p:cNvPr>
          <p:cNvSpPr txBox="1"/>
          <p:nvPr/>
        </p:nvSpPr>
        <p:spPr>
          <a:xfrm>
            <a:off x="8265189" y="5315905"/>
            <a:ext cx="3605523" cy="1015663"/>
          </a:xfrm>
          <a:prstGeom prst="rect">
            <a:avLst/>
          </a:prstGeom>
          <a:noFill/>
        </p:spPr>
        <p:txBody>
          <a:bodyPr wrap="square">
            <a:spAutoFit/>
          </a:bodyPr>
          <a:lstStyle/>
          <a:p>
            <a:r>
              <a:rPr lang="en" sz="1200" b="1" dirty="0"/>
              <a:t>Figure XX:  </a:t>
            </a:r>
            <a:r>
              <a:rPr lang="en-US" sz="1200" dirty="0"/>
              <a:t>SHAP summary plot showing feature impact on the </a:t>
            </a:r>
            <a:r>
              <a:rPr lang="en-US" sz="1200" dirty="0" err="1"/>
              <a:t>XGBoost</a:t>
            </a:r>
            <a:r>
              <a:rPr lang="en-US" sz="1200" dirty="0"/>
              <a:t> model for the Mass Transport region. Color indicates feature value; horizontal spread reflects influence.</a:t>
            </a:r>
            <a:endParaRPr lang="es-CO" sz="1200" dirty="0"/>
          </a:p>
          <a:p>
            <a:endParaRPr lang="es-CO" sz="1200" dirty="0"/>
          </a:p>
        </p:txBody>
      </p:sp>
      <p:sp>
        <p:nvSpPr>
          <p:cNvPr id="62" name="Google Shape;453;g36edeb4292e_1_43">
            <a:extLst>
              <a:ext uri="{FF2B5EF4-FFF2-40B4-BE49-F238E27FC236}">
                <a16:creationId xmlns:a16="http://schemas.microsoft.com/office/drawing/2014/main" id="{C1B5E6F0-657B-4C87-8CD4-0EE7DD712DC6}"/>
              </a:ext>
            </a:extLst>
          </p:cNvPr>
          <p:cNvSpPr/>
          <p:nvPr/>
        </p:nvSpPr>
        <p:spPr>
          <a:xfrm>
            <a:off x="893443" y="2908800"/>
            <a:ext cx="1895293" cy="307777"/>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latin typeface="Source Sans Pro" panose="020B0503030403020204" pitchFamily="34" charset="0"/>
                <a:ea typeface="Source Sans Pro" panose="020B0503030403020204" pitchFamily="34" charset="0"/>
                <a:sym typeface="Fira Sans Extra Condensed"/>
              </a:rPr>
              <a:t>Mass Transport</a:t>
            </a:r>
            <a:endParaRPr sz="1600" b="1" dirty="0">
              <a:latin typeface="Source Sans Pro" panose="020B0503030403020204" pitchFamily="34" charset="0"/>
              <a:ea typeface="Source Sans Pro" panose="020B0503030403020204" pitchFamily="34" charset="0"/>
              <a:sym typeface="Arial"/>
            </a:endParaRPr>
          </a:p>
        </p:txBody>
      </p:sp>
      <p:grpSp>
        <p:nvGrpSpPr>
          <p:cNvPr id="64" name="Grupo 63">
            <a:extLst>
              <a:ext uri="{FF2B5EF4-FFF2-40B4-BE49-F238E27FC236}">
                <a16:creationId xmlns:a16="http://schemas.microsoft.com/office/drawing/2014/main" id="{DB86981C-5C0B-4092-B799-295DB352CBE2}"/>
              </a:ext>
            </a:extLst>
          </p:cNvPr>
          <p:cNvGrpSpPr/>
          <p:nvPr/>
        </p:nvGrpSpPr>
        <p:grpSpPr>
          <a:xfrm>
            <a:off x="8116414" y="2017150"/>
            <a:ext cx="456463" cy="2829170"/>
            <a:chOff x="2342907" y="2124132"/>
            <a:chExt cx="456463" cy="2829170"/>
          </a:xfrm>
        </p:grpSpPr>
        <p:sp>
          <p:nvSpPr>
            <p:cNvPr id="65" name="Rectángulo 64">
              <a:extLst>
                <a:ext uri="{FF2B5EF4-FFF2-40B4-BE49-F238E27FC236}">
                  <a16:creationId xmlns:a16="http://schemas.microsoft.com/office/drawing/2014/main" id="{B8C8FE5D-7A1A-4E3D-A543-184E15AF862C}"/>
                </a:ext>
              </a:extLst>
            </p:cNvPr>
            <p:cNvSpPr/>
            <p:nvPr/>
          </p:nvSpPr>
          <p:spPr>
            <a:xfrm>
              <a:off x="2342907" y="2124132"/>
              <a:ext cx="445008" cy="282917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mc:AlternateContent xmlns:mc="http://schemas.openxmlformats.org/markup-compatibility/2006">
          <mc:Choice xmlns:a14="http://schemas.microsoft.com/office/drawing/2010/main" Requires="a14">
            <p:sp>
              <p:nvSpPr>
                <p:cNvPr id="67" name="CuadroTexto 66">
                  <a:extLst>
                    <a:ext uri="{FF2B5EF4-FFF2-40B4-BE49-F238E27FC236}">
                      <a16:creationId xmlns:a16="http://schemas.microsoft.com/office/drawing/2014/main" id="{07BFA5DB-4E45-421E-A7EE-80D5CB397803}"/>
                    </a:ext>
                  </a:extLst>
                </p:cNvPr>
                <p:cNvSpPr txBox="1"/>
                <p:nvPr/>
              </p:nvSpPr>
              <p:spPr>
                <a:xfrm>
                  <a:off x="2414810" y="2500678"/>
                  <a:ext cx="37824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𝑃𝑎</m:t>
                            </m:r>
                          </m:e>
                          <m:sub>
                            <m:r>
                              <a:rPr lang="es-ES" sz="1100" b="0" i="1" smtClean="0">
                                <a:latin typeface="Cambria Math" panose="02040503050406030204" pitchFamily="18" charset="0"/>
                              </a:rPr>
                              <m:t>𝑑𝑒𝑠</m:t>
                            </m:r>
                          </m:sub>
                        </m:sSub>
                      </m:oMath>
                    </m:oMathPara>
                  </a14:m>
                  <a:endParaRPr lang="es-CO" sz="1100" dirty="0"/>
                </a:p>
              </p:txBody>
            </p:sp>
          </mc:Choice>
          <mc:Fallback>
            <p:sp>
              <p:nvSpPr>
                <p:cNvPr id="67" name="CuadroTexto 66">
                  <a:extLst>
                    <a:ext uri="{FF2B5EF4-FFF2-40B4-BE49-F238E27FC236}">
                      <a16:creationId xmlns:a16="http://schemas.microsoft.com/office/drawing/2014/main" id="{07BFA5DB-4E45-421E-A7EE-80D5CB397803}"/>
                    </a:ext>
                  </a:extLst>
                </p:cNvPr>
                <p:cNvSpPr txBox="1">
                  <a:spLocks noRot="1" noChangeAspect="1" noMove="1" noResize="1" noEditPoints="1" noAdjustHandles="1" noChangeArrowheads="1" noChangeShapeType="1" noTextEdit="1"/>
                </p:cNvSpPr>
                <p:nvPr/>
              </p:nvSpPr>
              <p:spPr>
                <a:xfrm>
                  <a:off x="2414810" y="2500678"/>
                  <a:ext cx="378244" cy="169277"/>
                </a:xfrm>
                <a:prstGeom prst="rect">
                  <a:avLst/>
                </a:prstGeom>
                <a:blipFill>
                  <a:blip r:embed="rId4"/>
                  <a:stretch>
                    <a:fillRect l="-8065" r="-3226" b="-2222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8" name="CuadroTexto 67">
                  <a:extLst>
                    <a:ext uri="{FF2B5EF4-FFF2-40B4-BE49-F238E27FC236}">
                      <a16:creationId xmlns:a16="http://schemas.microsoft.com/office/drawing/2014/main" id="{950D3884-A3BE-4AC3-9323-0227CE5FC559}"/>
                    </a:ext>
                  </a:extLst>
                </p:cNvPr>
                <p:cNvSpPr txBox="1"/>
                <p:nvPr/>
              </p:nvSpPr>
              <p:spPr>
                <a:xfrm>
                  <a:off x="2434045" y="3736193"/>
                  <a:ext cx="35900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𝜙</m:t>
                            </m:r>
                          </m:e>
                          <m:sub>
                            <m:r>
                              <a:rPr lang="es-ES" sz="1100" b="0" i="1" smtClean="0">
                                <a:latin typeface="Cambria Math" panose="02040503050406030204" pitchFamily="18" charset="0"/>
                              </a:rPr>
                              <m:t>𝑐𝑑𝑒𝑠</m:t>
                            </m:r>
                          </m:sub>
                        </m:sSub>
                      </m:oMath>
                    </m:oMathPara>
                  </a14:m>
                  <a:endParaRPr lang="es-CO" sz="1100" dirty="0"/>
                </a:p>
              </p:txBody>
            </p:sp>
          </mc:Choice>
          <mc:Fallback>
            <p:sp>
              <p:nvSpPr>
                <p:cNvPr id="68" name="CuadroTexto 67">
                  <a:extLst>
                    <a:ext uri="{FF2B5EF4-FFF2-40B4-BE49-F238E27FC236}">
                      <a16:creationId xmlns:a16="http://schemas.microsoft.com/office/drawing/2014/main" id="{950D3884-A3BE-4AC3-9323-0227CE5FC559}"/>
                    </a:ext>
                  </a:extLst>
                </p:cNvPr>
                <p:cNvSpPr txBox="1">
                  <a:spLocks noRot="1" noChangeAspect="1" noMove="1" noResize="1" noEditPoints="1" noAdjustHandles="1" noChangeArrowheads="1" noChangeShapeType="1" noTextEdit="1"/>
                </p:cNvSpPr>
                <p:nvPr/>
              </p:nvSpPr>
              <p:spPr>
                <a:xfrm>
                  <a:off x="2434045" y="3736193"/>
                  <a:ext cx="359009" cy="169277"/>
                </a:xfrm>
                <a:prstGeom prst="rect">
                  <a:avLst/>
                </a:prstGeom>
                <a:blipFill>
                  <a:blip r:embed="rId5"/>
                  <a:stretch>
                    <a:fillRect l="-13559" r="-5085"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9" name="CuadroTexto 68">
                  <a:extLst>
                    <a:ext uri="{FF2B5EF4-FFF2-40B4-BE49-F238E27FC236}">
                      <a16:creationId xmlns:a16="http://schemas.microsoft.com/office/drawing/2014/main" id="{80BC2B16-ED90-4629-A636-85B9D08BB751}"/>
                    </a:ext>
                  </a:extLst>
                </p:cNvPr>
                <p:cNvSpPr txBox="1"/>
                <p:nvPr/>
              </p:nvSpPr>
              <p:spPr>
                <a:xfrm>
                  <a:off x="2522018" y="4350635"/>
                  <a:ext cx="271036" cy="182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𝑔𝑑𝑙</m:t>
                            </m:r>
                          </m:sub>
                        </m:sSub>
                      </m:oMath>
                    </m:oMathPara>
                  </a14:m>
                  <a:endParaRPr lang="es-CO" sz="1100" dirty="0"/>
                </a:p>
              </p:txBody>
            </p:sp>
          </mc:Choice>
          <mc:Fallback>
            <p:sp>
              <p:nvSpPr>
                <p:cNvPr id="69" name="CuadroTexto 68">
                  <a:extLst>
                    <a:ext uri="{FF2B5EF4-FFF2-40B4-BE49-F238E27FC236}">
                      <a16:creationId xmlns:a16="http://schemas.microsoft.com/office/drawing/2014/main" id="{80BC2B16-ED90-4629-A636-85B9D08BB751}"/>
                    </a:ext>
                  </a:extLst>
                </p:cNvPr>
                <p:cNvSpPr txBox="1">
                  <a:spLocks noRot="1" noChangeAspect="1" noMove="1" noResize="1" noEditPoints="1" noAdjustHandles="1" noChangeArrowheads="1" noChangeShapeType="1" noTextEdit="1"/>
                </p:cNvSpPr>
                <p:nvPr/>
              </p:nvSpPr>
              <p:spPr>
                <a:xfrm>
                  <a:off x="2522018" y="4350635"/>
                  <a:ext cx="271036" cy="182999"/>
                </a:xfrm>
                <a:prstGeom prst="rect">
                  <a:avLst/>
                </a:prstGeom>
                <a:blipFill>
                  <a:blip r:embed="rId6"/>
                  <a:stretch>
                    <a:fillRect l="-6818" r="-11364"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0" name="CuadroTexto 69">
                  <a:extLst>
                    <a:ext uri="{FF2B5EF4-FFF2-40B4-BE49-F238E27FC236}">
                      <a16:creationId xmlns:a16="http://schemas.microsoft.com/office/drawing/2014/main" id="{8894E718-3C33-4BCE-85D7-E335CB1CC189}"/>
                    </a:ext>
                  </a:extLst>
                </p:cNvPr>
                <p:cNvSpPr txBox="1"/>
                <p:nvPr/>
              </p:nvSpPr>
              <p:spPr>
                <a:xfrm>
                  <a:off x="2538689" y="3517142"/>
                  <a:ext cx="25436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𝑚𝑐</m:t>
                            </m:r>
                          </m:sub>
                        </m:sSub>
                      </m:oMath>
                    </m:oMathPara>
                  </a14:m>
                  <a:endParaRPr lang="es-CO" sz="1100" dirty="0"/>
                </a:p>
              </p:txBody>
            </p:sp>
          </mc:Choice>
          <mc:Fallback>
            <p:sp>
              <p:nvSpPr>
                <p:cNvPr id="70" name="CuadroTexto 69">
                  <a:extLst>
                    <a:ext uri="{FF2B5EF4-FFF2-40B4-BE49-F238E27FC236}">
                      <a16:creationId xmlns:a16="http://schemas.microsoft.com/office/drawing/2014/main" id="{8894E718-3C33-4BCE-85D7-E335CB1CC189}"/>
                    </a:ext>
                  </a:extLst>
                </p:cNvPr>
                <p:cNvSpPr txBox="1">
                  <a:spLocks noRot="1" noChangeAspect="1" noMove="1" noResize="1" noEditPoints="1" noAdjustHandles="1" noChangeArrowheads="1" noChangeShapeType="1" noTextEdit="1"/>
                </p:cNvSpPr>
                <p:nvPr/>
              </p:nvSpPr>
              <p:spPr>
                <a:xfrm>
                  <a:off x="2538689" y="3517142"/>
                  <a:ext cx="254365" cy="169277"/>
                </a:xfrm>
                <a:prstGeom prst="rect">
                  <a:avLst/>
                </a:prstGeom>
                <a:blipFill>
                  <a:blip r:embed="rId18"/>
                  <a:stretch>
                    <a:fillRect l="-7317" r="-2439"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1" name="CuadroTexto 70">
                  <a:extLst>
                    <a:ext uri="{FF2B5EF4-FFF2-40B4-BE49-F238E27FC236}">
                      <a16:creationId xmlns:a16="http://schemas.microsoft.com/office/drawing/2014/main" id="{6968FC30-2FC4-43D6-AA01-D5E63381906C}"/>
                    </a:ext>
                  </a:extLst>
                </p:cNvPr>
                <p:cNvSpPr txBox="1"/>
                <p:nvPr/>
              </p:nvSpPr>
              <p:spPr>
                <a:xfrm>
                  <a:off x="2634870" y="4535262"/>
                  <a:ext cx="15818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𝜖</m:t>
                            </m:r>
                          </m:e>
                          <m:sub>
                            <m:r>
                              <a:rPr lang="es-ES" sz="1100" b="0" i="1" smtClean="0">
                                <a:latin typeface="Cambria Math" panose="02040503050406030204" pitchFamily="18" charset="0"/>
                              </a:rPr>
                              <m:t>𝑐</m:t>
                            </m:r>
                          </m:sub>
                        </m:sSub>
                      </m:oMath>
                    </m:oMathPara>
                  </a14:m>
                  <a:endParaRPr lang="es-CO" sz="1100" dirty="0"/>
                </a:p>
              </p:txBody>
            </p:sp>
          </mc:Choice>
          <mc:Fallback>
            <p:sp>
              <p:nvSpPr>
                <p:cNvPr id="71" name="CuadroTexto 70">
                  <a:extLst>
                    <a:ext uri="{FF2B5EF4-FFF2-40B4-BE49-F238E27FC236}">
                      <a16:creationId xmlns:a16="http://schemas.microsoft.com/office/drawing/2014/main" id="{6968FC30-2FC4-43D6-AA01-D5E63381906C}"/>
                    </a:ext>
                  </a:extLst>
                </p:cNvPr>
                <p:cNvSpPr txBox="1">
                  <a:spLocks noRot="1" noChangeAspect="1" noMove="1" noResize="1" noEditPoints="1" noAdjustHandles="1" noChangeArrowheads="1" noChangeShapeType="1" noTextEdit="1"/>
                </p:cNvSpPr>
                <p:nvPr/>
              </p:nvSpPr>
              <p:spPr>
                <a:xfrm>
                  <a:off x="2634870" y="4535262"/>
                  <a:ext cx="158184" cy="169277"/>
                </a:xfrm>
                <a:prstGeom prst="rect">
                  <a:avLst/>
                </a:prstGeom>
                <a:blipFill>
                  <a:blip r:embed="rId19"/>
                  <a:stretch>
                    <a:fillRect l="-11538" r="-7692"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2" name="CuadroTexto 71">
                  <a:extLst>
                    <a:ext uri="{FF2B5EF4-FFF2-40B4-BE49-F238E27FC236}">
                      <a16:creationId xmlns:a16="http://schemas.microsoft.com/office/drawing/2014/main" id="{C3B5E7E0-1E42-43F5-B725-F33DB379F1AA}"/>
                    </a:ext>
                  </a:extLst>
                </p:cNvPr>
                <p:cNvSpPr txBox="1"/>
                <p:nvPr/>
              </p:nvSpPr>
              <p:spPr>
                <a:xfrm>
                  <a:off x="2693860" y="3369141"/>
                  <a:ext cx="991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𝜏</m:t>
                        </m:r>
                      </m:oMath>
                    </m:oMathPara>
                  </a14:m>
                  <a:endParaRPr lang="es-CO" sz="1100" dirty="0"/>
                </a:p>
              </p:txBody>
            </p:sp>
          </mc:Choice>
          <mc:Fallback>
            <p:sp>
              <p:nvSpPr>
                <p:cNvPr id="72" name="CuadroTexto 71">
                  <a:extLst>
                    <a:ext uri="{FF2B5EF4-FFF2-40B4-BE49-F238E27FC236}">
                      <a16:creationId xmlns:a16="http://schemas.microsoft.com/office/drawing/2014/main" id="{C3B5E7E0-1E42-43F5-B725-F33DB379F1AA}"/>
                    </a:ext>
                  </a:extLst>
                </p:cNvPr>
                <p:cNvSpPr txBox="1">
                  <a:spLocks noRot="1" noChangeAspect="1" noMove="1" noResize="1" noEditPoints="1" noAdjustHandles="1" noChangeArrowheads="1" noChangeShapeType="1" noTextEdit="1"/>
                </p:cNvSpPr>
                <p:nvPr/>
              </p:nvSpPr>
              <p:spPr>
                <a:xfrm>
                  <a:off x="2693860" y="3369141"/>
                  <a:ext cx="99194" cy="169277"/>
                </a:xfrm>
                <a:prstGeom prst="rect">
                  <a:avLst/>
                </a:prstGeom>
                <a:blipFill>
                  <a:blip r:embed="rId9"/>
                  <a:stretch>
                    <a:fillRect l="-18750" r="-25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3" name="CuadroTexto 72">
                  <a:extLst>
                    <a:ext uri="{FF2B5EF4-FFF2-40B4-BE49-F238E27FC236}">
                      <a16:creationId xmlns:a16="http://schemas.microsoft.com/office/drawing/2014/main" id="{E066B26C-0B4C-4523-BA93-FD2B71080E84}"/>
                    </a:ext>
                  </a:extLst>
                </p:cNvPr>
                <p:cNvSpPr txBox="1"/>
                <p:nvPr/>
              </p:nvSpPr>
              <p:spPr>
                <a:xfrm>
                  <a:off x="2378838" y="2286946"/>
                  <a:ext cx="414216" cy="1828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𝑖</m:t>
                            </m:r>
                            <m:r>
                              <a:rPr lang="es-ES" sz="1100" b="0" i="1" smtClean="0">
                                <a:latin typeface="Cambria Math" panose="02040503050406030204" pitchFamily="18" charset="0"/>
                              </a:rPr>
                              <m:t>0</m:t>
                            </m:r>
                          </m:e>
                          <m:sub>
                            <m:r>
                              <a:rPr lang="es-ES" sz="1100" b="0" i="1" smtClean="0">
                                <a:latin typeface="Cambria Math" panose="02040503050406030204" pitchFamily="18" charset="0"/>
                              </a:rPr>
                              <m:t>𝑐</m:t>
                            </m:r>
                            <m:r>
                              <a:rPr lang="es-ES" sz="1100" b="0" i="1" smtClean="0">
                                <a:latin typeface="Cambria Math" panose="02040503050406030204" pitchFamily="18" charset="0"/>
                              </a:rPr>
                              <m:t> </m:t>
                            </m:r>
                            <m:r>
                              <a:rPr lang="es-ES" sz="1100" b="0" i="1" smtClean="0">
                                <a:latin typeface="Cambria Math" panose="02040503050406030204" pitchFamily="18" charset="0"/>
                              </a:rPr>
                              <m:t>𝑟𝑒𝑓</m:t>
                            </m:r>
                          </m:sub>
                        </m:sSub>
                      </m:oMath>
                    </m:oMathPara>
                  </a14:m>
                  <a:endParaRPr lang="es-CO" sz="1100" dirty="0"/>
                </a:p>
              </p:txBody>
            </p:sp>
          </mc:Choice>
          <mc:Fallback>
            <p:sp>
              <p:nvSpPr>
                <p:cNvPr id="73" name="CuadroTexto 72">
                  <a:extLst>
                    <a:ext uri="{FF2B5EF4-FFF2-40B4-BE49-F238E27FC236}">
                      <a16:creationId xmlns:a16="http://schemas.microsoft.com/office/drawing/2014/main" id="{E066B26C-0B4C-4523-BA93-FD2B71080E84}"/>
                    </a:ext>
                  </a:extLst>
                </p:cNvPr>
                <p:cNvSpPr txBox="1">
                  <a:spLocks noRot="1" noChangeAspect="1" noMove="1" noResize="1" noEditPoints="1" noAdjustHandles="1" noChangeArrowheads="1" noChangeShapeType="1" noTextEdit="1"/>
                </p:cNvSpPr>
                <p:nvPr/>
              </p:nvSpPr>
              <p:spPr>
                <a:xfrm>
                  <a:off x="2378838" y="2286946"/>
                  <a:ext cx="414216" cy="182807"/>
                </a:xfrm>
                <a:prstGeom prst="rect">
                  <a:avLst/>
                </a:prstGeom>
                <a:blipFill>
                  <a:blip r:embed="rId10"/>
                  <a:stretch>
                    <a:fillRect l="-7353" r="-5882"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4" name="CuadroTexto 73">
                  <a:extLst>
                    <a:ext uri="{FF2B5EF4-FFF2-40B4-BE49-F238E27FC236}">
                      <a16:creationId xmlns:a16="http://schemas.microsoft.com/office/drawing/2014/main" id="{EB5640F2-48BF-4484-956A-520351F30B11}"/>
                    </a:ext>
                  </a:extLst>
                </p:cNvPr>
                <p:cNvSpPr txBox="1"/>
                <p:nvPr/>
              </p:nvSpPr>
              <p:spPr>
                <a:xfrm>
                  <a:off x="2563760" y="4136855"/>
                  <a:ext cx="229294"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𝑐𝑜</m:t>
                            </m:r>
                          </m:sub>
                        </m:sSub>
                      </m:oMath>
                    </m:oMathPara>
                  </a14:m>
                  <a:endParaRPr lang="es-CO" sz="1100" dirty="0"/>
                </a:p>
              </p:txBody>
            </p:sp>
          </mc:Choice>
          <mc:Fallback>
            <p:sp>
              <p:nvSpPr>
                <p:cNvPr id="74" name="CuadroTexto 73">
                  <a:extLst>
                    <a:ext uri="{FF2B5EF4-FFF2-40B4-BE49-F238E27FC236}">
                      <a16:creationId xmlns:a16="http://schemas.microsoft.com/office/drawing/2014/main" id="{EB5640F2-48BF-4484-956A-520351F30B11}"/>
                    </a:ext>
                  </a:extLst>
                </p:cNvPr>
                <p:cNvSpPr txBox="1">
                  <a:spLocks noRot="1" noChangeAspect="1" noMove="1" noResize="1" noEditPoints="1" noAdjustHandles="1" noChangeArrowheads="1" noChangeShapeType="1" noTextEdit="1"/>
                </p:cNvSpPr>
                <p:nvPr/>
              </p:nvSpPr>
              <p:spPr>
                <a:xfrm>
                  <a:off x="2563760" y="4136855"/>
                  <a:ext cx="229294" cy="169277"/>
                </a:xfrm>
                <a:prstGeom prst="rect">
                  <a:avLst/>
                </a:prstGeom>
                <a:blipFill>
                  <a:blip r:embed="rId20"/>
                  <a:stretch>
                    <a:fillRect l="-8108" r="-2703"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5" name="CuadroTexto 74">
                  <a:extLst>
                    <a:ext uri="{FF2B5EF4-FFF2-40B4-BE49-F238E27FC236}">
                      <a16:creationId xmlns:a16="http://schemas.microsoft.com/office/drawing/2014/main" id="{E814499C-99C8-482C-B46E-6296DDE2EAF3}"/>
                    </a:ext>
                  </a:extLst>
                </p:cNvPr>
                <p:cNvSpPr txBox="1"/>
                <p:nvPr/>
              </p:nvSpPr>
              <p:spPr>
                <a:xfrm>
                  <a:off x="2618510" y="3132831"/>
                  <a:ext cx="169405"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100" i="1" smtClean="0">
                                <a:latin typeface="Cambria Math" panose="02040503050406030204" pitchFamily="18" charset="0"/>
                              </a:rPr>
                            </m:ctrlPr>
                          </m:sSubPr>
                          <m:e>
                            <m:r>
                              <a:rPr lang="es-ES" sz="1100" b="0" i="1" smtClean="0">
                                <a:latin typeface="Cambria Math" panose="02040503050406030204" pitchFamily="18" charset="0"/>
                              </a:rPr>
                              <m:t>𝜅</m:t>
                            </m:r>
                          </m:e>
                          <m:sub>
                            <m:r>
                              <a:rPr lang="es-ES" sz="1100" b="0" i="1" smtClean="0">
                                <a:latin typeface="Cambria Math" panose="02040503050406030204" pitchFamily="18" charset="0"/>
                              </a:rPr>
                              <m:t>𝑐</m:t>
                            </m:r>
                          </m:sub>
                        </m:sSub>
                      </m:oMath>
                    </m:oMathPara>
                  </a14:m>
                  <a:endParaRPr lang="es-CO" sz="1100" dirty="0"/>
                </a:p>
              </p:txBody>
            </p:sp>
          </mc:Choice>
          <mc:Fallback>
            <p:sp>
              <p:nvSpPr>
                <p:cNvPr id="75" name="CuadroTexto 74">
                  <a:extLst>
                    <a:ext uri="{FF2B5EF4-FFF2-40B4-BE49-F238E27FC236}">
                      <a16:creationId xmlns:a16="http://schemas.microsoft.com/office/drawing/2014/main" id="{E814499C-99C8-482C-B46E-6296DDE2EAF3}"/>
                    </a:ext>
                  </a:extLst>
                </p:cNvPr>
                <p:cNvSpPr txBox="1">
                  <a:spLocks noRot="1" noChangeAspect="1" noMove="1" noResize="1" noEditPoints="1" noAdjustHandles="1" noChangeArrowheads="1" noChangeShapeType="1" noTextEdit="1"/>
                </p:cNvSpPr>
                <p:nvPr/>
              </p:nvSpPr>
              <p:spPr>
                <a:xfrm>
                  <a:off x="2618510" y="3132831"/>
                  <a:ext cx="169405" cy="169277"/>
                </a:xfrm>
                <a:prstGeom prst="rect">
                  <a:avLst/>
                </a:prstGeom>
                <a:blipFill>
                  <a:blip r:embed="rId21"/>
                  <a:stretch>
                    <a:fillRect l="-11111" r="-3704" b="-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6" name="CuadroTexto 75">
                  <a:extLst>
                    <a:ext uri="{FF2B5EF4-FFF2-40B4-BE49-F238E27FC236}">
                      <a16:creationId xmlns:a16="http://schemas.microsoft.com/office/drawing/2014/main" id="{8A43ED78-4E5B-4703-96D6-3F6DC26E5F9C}"/>
                    </a:ext>
                  </a:extLst>
                </p:cNvPr>
                <p:cNvSpPr txBox="1"/>
                <p:nvPr/>
              </p:nvSpPr>
              <p:spPr>
                <a:xfrm>
                  <a:off x="2532085" y="2734390"/>
                  <a:ext cx="260969"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𝑇𝑓𝑐</m:t>
                        </m:r>
                      </m:oMath>
                    </m:oMathPara>
                  </a14:m>
                  <a:endParaRPr lang="es-CO" sz="1100" dirty="0"/>
                </a:p>
              </p:txBody>
            </p:sp>
          </mc:Choice>
          <mc:Fallback>
            <p:sp>
              <p:nvSpPr>
                <p:cNvPr id="76" name="CuadroTexto 75">
                  <a:extLst>
                    <a:ext uri="{FF2B5EF4-FFF2-40B4-BE49-F238E27FC236}">
                      <a16:creationId xmlns:a16="http://schemas.microsoft.com/office/drawing/2014/main" id="{8A43ED78-4E5B-4703-96D6-3F6DC26E5F9C}"/>
                    </a:ext>
                  </a:extLst>
                </p:cNvPr>
                <p:cNvSpPr txBox="1">
                  <a:spLocks noRot="1" noChangeAspect="1" noMove="1" noResize="1" noEditPoints="1" noAdjustHandles="1" noChangeArrowheads="1" noChangeShapeType="1" noTextEdit="1"/>
                </p:cNvSpPr>
                <p:nvPr/>
              </p:nvSpPr>
              <p:spPr>
                <a:xfrm>
                  <a:off x="2532085" y="2734390"/>
                  <a:ext cx="260969" cy="169277"/>
                </a:xfrm>
                <a:prstGeom prst="rect">
                  <a:avLst/>
                </a:prstGeom>
                <a:blipFill>
                  <a:blip r:embed="rId13"/>
                  <a:stretch>
                    <a:fillRect l="-18605" r="-18605"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7" name="CuadroTexto 76">
                  <a:extLst>
                    <a:ext uri="{FF2B5EF4-FFF2-40B4-BE49-F238E27FC236}">
                      <a16:creationId xmlns:a16="http://schemas.microsoft.com/office/drawing/2014/main" id="{67208A35-CBAD-42AA-B40C-916FD2172873}"/>
                    </a:ext>
                  </a:extLst>
                </p:cNvPr>
                <p:cNvSpPr txBox="1"/>
                <p:nvPr/>
              </p:nvSpPr>
              <p:spPr>
                <a:xfrm>
                  <a:off x="2617044" y="3954520"/>
                  <a:ext cx="17601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𝑆𝑐</m:t>
                        </m:r>
                      </m:oMath>
                    </m:oMathPara>
                  </a14:m>
                  <a:endParaRPr lang="es-CO" sz="1100" dirty="0"/>
                </a:p>
              </p:txBody>
            </p:sp>
          </mc:Choice>
          <mc:Fallback>
            <p:sp>
              <p:nvSpPr>
                <p:cNvPr id="77" name="CuadroTexto 76">
                  <a:extLst>
                    <a:ext uri="{FF2B5EF4-FFF2-40B4-BE49-F238E27FC236}">
                      <a16:creationId xmlns:a16="http://schemas.microsoft.com/office/drawing/2014/main" id="{67208A35-CBAD-42AA-B40C-916FD2172873}"/>
                    </a:ext>
                  </a:extLst>
                </p:cNvPr>
                <p:cNvSpPr txBox="1">
                  <a:spLocks noRot="1" noChangeAspect="1" noMove="1" noResize="1" noEditPoints="1" noAdjustHandles="1" noChangeArrowheads="1" noChangeShapeType="1" noTextEdit="1"/>
                </p:cNvSpPr>
                <p:nvPr/>
              </p:nvSpPr>
              <p:spPr>
                <a:xfrm>
                  <a:off x="2617044" y="3954520"/>
                  <a:ext cx="176010" cy="169277"/>
                </a:xfrm>
                <a:prstGeom prst="rect">
                  <a:avLst/>
                </a:prstGeom>
                <a:blipFill>
                  <a:blip r:embed="rId14"/>
                  <a:stretch>
                    <a:fillRect l="-17241" r="-17241" b="-71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8" name="CuadroTexto 77">
                  <a:extLst>
                    <a:ext uri="{FF2B5EF4-FFF2-40B4-BE49-F238E27FC236}">
                      <a16:creationId xmlns:a16="http://schemas.microsoft.com/office/drawing/2014/main" id="{1F422C9E-E1B3-44A1-A8E4-C5B17392607E}"/>
                    </a:ext>
                  </a:extLst>
                </p:cNvPr>
                <p:cNvSpPr txBox="1"/>
                <p:nvPr/>
              </p:nvSpPr>
              <p:spPr>
                <a:xfrm>
                  <a:off x="2570557" y="2153736"/>
                  <a:ext cx="222497"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𝑖𝑓𝑐</m:t>
                        </m:r>
                      </m:oMath>
                    </m:oMathPara>
                  </a14:m>
                  <a:endParaRPr lang="es-CO" sz="1100" dirty="0"/>
                </a:p>
              </p:txBody>
            </p:sp>
          </mc:Choice>
          <mc:Fallback>
            <p:sp>
              <p:nvSpPr>
                <p:cNvPr id="78" name="CuadroTexto 77">
                  <a:extLst>
                    <a:ext uri="{FF2B5EF4-FFF2-40B4-BE49-F238E27FC236}">
                      <a16:creationId xmlns:a16="http://schemas.microsoft.com/office/drawing/2014/main" id="{1F422C9E-E1B3-44A1-A8E4-C5B17392607E}"/>
                    </a:ext>
                  </a:extLst>
                </p:cNvPr>
                <p:cNvSpPr txBox="1">
                  <a:spLocks noRot="1" noChangeAspect="1" noMove="1" noResize="1" noEditPoints="1" noAdjustHandles="1" noChangeArrowheads="1" noChangeShapeType="1" noTextEdit="1"/>
                </p:cNvSpPr>
                <p:nvPr/>
              </p:nvSpPr>
              <p:spPr>
                <a:xfrm>
                  <a:off x="2570557" y="2153736"/>
                  <a:ext cx="222497" cy="169277"/>
                </a:xfrm>
                <a:prstGeom prst="rect">
                  <a:avLst/>
                </a:prstGeom>
                <a:blipFill>
                  <a:blip r:embed="rId15"/>
                  <a:stretch>
                    <a:fillRect l="-22222" r="-25000" b="-3571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9" name="CuadroTexto 78">
                  <a:extLst>
                    <a:ext uri="{FF2B5EF4-FFF2-40B4-BE49-F238E27FC236}">
                      <a16:creationId xmlns:a16="http://schemas.microsoft.com/office/drawing/2014/main" id="{DFA89055-275B-469F-9F88-946A0D958B73}"/>
                    </a:ext>
                  </a:extLst>
                </p:cNvPr>
                <p:cNvSpPr txBox="1"/>
                <p:nvPr/>
              </p:nvSpPr>
              <p:spPr>
                <a:xfrm>
                  <a:off x="2687384" y="4767635"/>
                  <a:ext cx="105670"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𝑒</m:t>
                        </m:r>
                      </m:oMath>
                    </m:oMathPara>
                  </a14:m>
                  <a:endParaRPr lang="es-CO" sz="1100" dirty="0"/>
                </a:p>
              </p:txBody>
            </p:sp>
          </mc:Choice>
          <mc:Fallback>
            <p:sp>
              <p:nvSpPr>
                <p:cNvPr id="79" name="CuadroTexto 78">
                  <a:extLst>
                    <a:ext uri="{FF2B5EF4-FFF2-40B4-BE49-F238E27FC236}">
                      <a16:creationId xmlns:a16="http://schemas.microsoft.com/office/drawing/2014/main" id="{DFA89055-275B-469F-9F88-946A0D958B73}"/>
                    </a:ext>
                  </a:extLst>
                </p:cNvPr>
                <p:cNvSpPr txBox="1">
                  <a:spLocks noRot="1" noChangeAspect="1" noMove="1" noResize="1" noEditPoints="1" noAdjustHandles="1" noChangeArrowheads="1" noChangeShapeType="1" noTextEdit="1"/>
                </p:cNvSpPr>
                <p:nvPr/>
              </p:nvSpPr>
              <p:spPr>
                <a:xfrm>
                  <a:off x="2687384" y="4767635"/>
                  <a:ext cx="105670" cy="169277"/>
                </a:xfrm>
                <a:prstGeom prst="rect">
                  <a:avLst/>
                </a:prstGeom>
                <a:blipFill>
                  <a:blip r:embed="rId16"/>
                  <a:stretch>
                    <a:fillRect l="-17647" r="-17647" b="-3704"/>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0" name="CuadroTexto 79">
                  <a:extLst>
                    <a:ext uri="{FF2B5EF4-FFF2-40B4-BE49-F238E27FC236}">
                      <a16:creationId xmlns:a16="http://schemas.microsoft.com/office/drawing/2014/main" id="{2662CF1A-70BF-4D22-A351-D4194EB1FCF7}"/>
                    </a:ext>
                  </a:extLst>
                </p:cNvPr>
                <p:cNvSpPr txBox="1"/>
                <p:nvPr/>
              </p:nvSpPr>
              <p:spPr>
                <a:xfrm>
                  <a:off x="2603932" y="2928649"/>
                  <a:ext cx="195438"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100" b="0" i="1" smtClean="0">
                            <a:latin typeface="Cambria Math" panose="02040503050406030204" pitchFamily="18" charset="0"/>
                          </a:rPr>
                          <m:t>𝑅𝑒</m:t>
                        </m:r>
                      </m:oMath>
                    </m:oMathPara>
                  </a14:m>
                  <a:endParaRPr lang="es-CO" sz="1100" dirty="0"/>
                </a:p>
              </p:txBody>
            </p:sp>
          </mc:Choice>
          <mc:Fallback>
            <p:sp>
              <p:nvSpPr>
                <p:cNvPr id="80" name="CuadroTexto 79">
                  <a:extLst>
                    <a:ext uri="{FF2B5EF4-FFF2-40B4-BE49-F238E27FC236}">
                      <a16:creationId xmlns:a16="http://schemas.microsoft.com/office/drawing/2014/main" id="{2662CF1A-70BF-4D22-A351-D4194EB1FCF7}"/>
                    </a:ext>
                  </a:extLst>
                </p:cNvPr>
                <p:cNvSpPr txBox="1">
                  <a:spLocks noRot="1" noChangeAspect="1" noMove="1" noResize="1" noEditPoints="1" noAdjustHandles="1" noChangeArrowheads="1" noChangeShapeType="1" noTextEdit="1"/>
                </p:cNvSpPr>
                <p:nvPr/>
              </p:nvSpPr>
              <p:spPr>
                <a:xfrm>
                  <a:off x="2603932" y="2928649"/>
                  <a:ext cx="195438" cy="169277"/>
                </a:xfrm>
                <a:prstGeom prst="rect">
                  <a:avLst/>
                </a:prstGeom>
                <a:blipFill>
                  <a:blip r:embed="rId17"/>
                  <a:stretch>
                    <a:fillRect l="-15625" r="-15625" b="-7143"/>
                  </a:stretch>
                </a:blipFill>
              </p:spPr>
              <p:txBody>
                <a:bodyPr/>
                <a:lstStyle/>
                <a:p>
                  <a:r>
                    <a:rPr lang="es-CO">
                      <a:noFill/>
                    </a:rPr>
                    <a:t> </a:t>
                  </a:r>
                </a:p>
              </p:txBody>
            </p:sp>
          </mc:Fallback>
        </mc:AlternateContent>
      </p:grpSp>
    </p:spTree>
    <p:extLst>
      <p:ext uri="{BB962C8B-B14F-4D97-AF65-F5344CB8AC3E}">
        <p14:creationId xmlns:p14="http://schemas.microsoft.com/office/powerpoint/2010/main" val="27067481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646331"/>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39</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7" name="CuadroTexto 76">
            <a:extLst>
              <a:ext uri="{FF2B5EF4-FFF2-40B4-BE49-F238E27FC236}">
                <a16:creationId xmlns:a16="http://schemas.microsoft.com/office/drawing/2014/main" id="{780D9CC7-D777-45F3-A749-30B5C18B48F3}"/>
              </a:ext>
            </a:extLst>
          </p:cNvPr>
          <p:cNvSpPr txBox="1"/>
          <p:nvPr/>
        </p:nvSpPr>
        <p:spPr>
          <a:xfrm>
            <a:off x="907097" y="3429000"/>
            <a:ext cx="2358291" cy="1384995"/>
          </a:xfrm>
          <a:prstGeom prst="rect">
            <a:avLst/>
          </a:prstGeom>
          <a:noFill/>
        </p:spPr>
        <p:txBody>
          <a:bodyPr wrap="square">
            <a:spAutoFit/>
          </a:bodyPr>
          <a:lstStyle/>
          <a:p>
            <a:r>
              <a:rPr lang="es-CO" sz="1400" dirty="0"/>
              <a:t>N = 8.192</a:t>
            </a:r>
          </a:p>
          <a:p>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245,760 configurations</a:t>
            </a:r>
            <a:endParaRPr lang="es-CO" sz="1400" b="1" dirty="0"/>
          </a:p>
          <a:p>
            <a:r>
              <a:rPr lang="es-CO" sz="1400" dirty="0"/>
              <a:t>Sum S1 = 0.9217</a:t>
            </a:r>
          </a:p>
          <a:p>
            <a:r>
              <a:rPr lang="es-CO" sz="1400" dirty="0"/>
              <a:t>Sum S2 = 0.0510</a:t>
            </a:r>
          </a:p>
          <a:p>
            <a:r>
              <a:rPr lang="es-CO" sz="1400" dirty="0"/>
              <a:t>Sum S1 + S2 = 0.9727</a:t>
            </a:r>
          </a:p>
          <a:p>
            <a:r>
              <a:rPr lang="es-CO" sz="1400" dirty="0"/>
              <a:t>Sum ST = 1.1068</a:t>
            </a:r>
          </a:p>
        </p:txBody>
      </p:sp>
      <p:graphicFrame>
        <p:nvGraphicFramePr>
          <p:cNvPr id="16" name="Tabla 15">
            <a:extLst>
              <a:ext uri="{FF2B5EF4-FFF2-40B4-BE49-F238E27FC236}">
                <a16:creationId xmlns:a16="http://schemas.microsoft.com/office/drawing/2014/main" id="{CDBB3F57-8E91-4EC2-A620-D052DCF46312}"/>
              </a:ext>
            </a:extLst>
          </p:cNvPr>
          <p:cNvGraphicFramePr>
            <a:graphicFrameLocks noGrp="1"/>
          </p:cNvGraphicFramePr>
          <p:nvPr>
            <p:extLst>
              <p:ext uri="{D42A27DB-BD31-4B8C-83A1-F6EECF244321}">
                <p14:modId xmlns:p14="http://schemas.microsoft.com/office/powerpoint/2010/main" val="3609128099"/>
              </p:ext>
            </p:extLst>
          </p:nvPr>
        </p:nvGraphicFramePr>
        <p:xfrm>
          <a:off x="3525520" y="1636947"/>
          <a:ext cx="8118612" cy="4044068"/>
        </p:xfrm>
        <a:graphic>
          <a:graphicData uri="http://schemas.openxmlformats.org/drawingml/2006/table">
            <a:tbl>
              <a:tblPr/>
              <a:tblGrid>
                <a:gridCol w="1216281">
                  <a:extLst>
                    <a:ext uri="{9D8B030D-6E8A-4147-A177-3AD203B41FA5}">
                      <a16:colId xmlns:a16="http://schemas.microsoft.com/office/drawing/2014/main" val="3158671648"/>
                    </a:ext>
                  </a:extLst>
                </a:gridCol>
                <a:gridCol w="1086293">
                  <a:extLst>
                    <a:ext uri="{9D8B030D-6E8A-4147-A177-3AD203B41FA5}">
                      <a16:colId xmlns:a16="http://schemas.microsoft.com/office/drawing/2014/main" val="923774245"/>
                    </a:ext>
                  </a:extLst>
                </a:gridCol>
                <a:gridCol w="1484574">
                  <a:extLst>
                    <a:ext uri="{9D8B030D-6E8A-4147-A177-3AD203B41FA5}">
                      <a16:colId xmlns:a16="http://schemas.microsoft.com/office/drawing/2014/main" val="2406905423"/>
                    </a:ext>
                  </a:extLst>
                </a:gridCol>
                <a:gridCol w="1082866">
                  <a:extLst>
                    <a:ext uri="{9D8B030D-6E8A-4147-A177-3AD203B41FA5}">
                      <a16:colId xmlns:a16="http://schemas.microsoft.com/office/drawing/2014/main" val="2756400743"/>
                    </a:ext>
                  </a:extLst>
                </a:gridCol>
                <a:gridCol w="1082866">
                  <a:extLst>
                    <a:ext uri="{9D8B030D-6E8A-4147-A177-3AD203B41FA5}">
                      <a16:colId xmlns:a16="http://schemas.microsoft.com/office/drawing/2014/main" val="3705247648"/>
                    </a:ext>
                  </a:extLst>
                </a:gridCol>
                <a:gridCol w="1082866">
                  <a:extLst>
                    <a:ext uri="{9D8B030D-6E8A-4147-A177-3AD203B41FA5}">
                      <a16:colId xmlns:a16="http://schemas.microsoft.com/office/drawing/2014/main" val="2855012562"/>
                    </a:ext>
                  </a:extLst>
                </a:gridCol>
                <a:gridCol w="1082866">
                  <a:extLst>
                    <a:ext uri="{9D8B030D-6E8A-4147-A177-3AD203B41FA5}">
                      <a16:colId xmlns:a16="http://schemas.microsoft.com/office/drawing/2014/main" val="930675123"/>
                    </a:ext>
                  </a:extLst>
                </a:gridCol>
              </a:tblGrid>
              <a:tr h="182880">
                <a:tc>
                  <a:txBody>
                    <a:bodyPr/>
                    <a:lstStyle/>
                    <a:p>
                      <a:pPr marL="0" lvl="0" indent="0" algn="ctr" defTabSz="914400" rtl="0" eaLnBrk="1" fontAlgn="ctr" latinLnBrk="0" hangingPunct="1">
                        <a:lnSpc>
                          <a:spcPct val="115000"/>
                        </a:lnSpc>
                        <a:spcBef>
                          <a:spcPts val="0"/>
                        </a:spcBef>
                        <a:spcAft>
                          <a:spcPts val="0"/>
                        </a:spcAft>
                        <a:buNone/>
                      </a:pPr>
                      <a:r>
                        <a:rPr lang="es-CO" sz="1600" b="1" kern="1200" dirty="0" err="1">
                          <a:solidFill>
                            <a:schemeClr val="tx1"/>
                          </a:solidFill>
                          <a:latin typeface="Source Sans Pro" panose="020B0503030403020204" pitchFamily="34" charset="0"/>
                          <a:ea typeface="Source Sans Pro" panose="020B0503030403020204" pitchFamily="34" charset="0"/>
                          <a:cs typeface="+mn-cs"/>
                        </a:rPr>
                        <a:t>Feature</a:t>
                      </a:r>
                      <a:endParaRPr lang="es-CO" sz="1600" b="1" kern="1200" dirty="0">
                        <a:solidFill>
                          <a:schemeClr val="tx1"/>
                        </a:solidFill>
                        <a:latin typeface="Source Sans Pro" panose="020B0503030403020204" pitchFamily="34" charset="0"/>
                        <a:ea typeface="Source Sans Pro" panose="020B0503030403020204" pitchFamily="34" charset="0"/>
                        <a:cs typeface="+mn-cs"/>
                      </a:endParaRP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S1</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S1 CI</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ST</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ST CI</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S2 Total</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tc>
                  <a:txBody>
                    <a:bodyPr/>
                    <a:lstStyle/>
                    <a:p>
                      <a:pPr marL="0" lvl="0" indent="0" algn="ctr" defTabSz="914400" rtl="0" eaLnBrk="1" fontAlgn="ctr" latinLnBrk="0" hangingPunct="1">
                        <a:lnSpc>
                          <a:spcPct val="115000"/>
                        </a:lnSpc>
                        <a:spcBef>
                          <a:spcPts val="0"/>
                        </a:spcBef>
                        <a:spcAft>
                          <a:spcPts val="0"/>
                        </a:spcAft>
                        <a:buNone/>
                      </a:pPr>
                      <a:r>
                        <a:rPr lang="es-CO" sz="1400" b="1" kern="1200" dirty="0">
                          <a:solidFill>
                            <a:schemeClr val="tx1"/>
                          </a:solidFill>
                          <a:latin typeface="Source Sans Pro" panose="020B0503030403020204" pitchFamily="34" charset="0"/>
                          <a:ea typeface="Source Sans Pro" panose="020B0503030403020204" pitchFamily="34" charset="0"/>
                          <a:cs typeface="+mn-cs"/>
                        </a:rPr>
                        <a:t>S2 CI</a:t>
                      </a:r>
                    </a:p>
                  </a:txBody>
                  <a:tcPr marL="7620" marR="7620" marT="7620" marB="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B903"/>
                    </a:solidFill>
                  </a:tcPr>
                </a:tc>
                <a:extLst>
                  <a:ext uri="{0D108BD9-81ED-4DB2-BD59-A6C34878D82A}">
                    <a16:rowId xmlns:a16="http://schemas.microsoft.com/office/drawing/2014/main" val="2258232817"/>
                  </a:ext>
                </a:extLst>
              </a:tr>
              <a:tr h="182880">
                <a:tc>
                  <a:txBody>
                    <a:bodyPr/>
                    <a:lstStyle/>
                    <a:p>
                      <a:pPr algn="r" fontAlgn="ctr"/>
                      <a:r>
                        <a:rPr lang="es-CO" sz="800" b="0" i="0" u="none" strike="noStrike" dirty="0">
                          <a:solidFill>
                            <a:schemeClr val="bg1"/>
                          </a:solidFill>
                          <a:effectLst/>
                          <a:latin typeface="Segoe UI" panose="020B0502040204020203" pitchFamily="34" charset="0"/>
                        </a:rPr>
                        <a:t>i0_c_ref</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0.2734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(0.255, 0.291)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0.2852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(0.272, 0.299)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0.0044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(-0.08, 0.089)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528964987"/>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ifc</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0.1726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(0.161, 0.185)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0.1863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(0.179, 0.194)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(0.0, 0.0)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044020541"/>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Pa_des</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0.1524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(0.14, 0.165)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0.1853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(0.178, 0.193)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0.0381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(-0.203, 0.28)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651730174"/>
                  </a:ext>
                </a:extLst>
              </a:tr>
              <a:tr h="182880">
                <a:tc>
                  <a:txBody>
                    <a:bodyPr/>
                    <a:lstStyle/>
                    <a:p>
                      <a:pPr algn="r" fontAlgn="ctr"/>
                      <a:r>
                        <a:rPr lang="es-CO" sz="800" b="0" i="0" u="none" strike="noStrike">
                          <a:solidFill>
                            <a:schemeClr val="bg1"/>
                          </a:solidFill>
                          <a:effectLst/>
                          <a:latin typeface="Segoe UI" panose="020B0502040204020203" pitchFamily="34" charset="0"/>
                        </a:rPr>
                        <a:t>Tfc</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0.1282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(0.118, 0.139)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0.1486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(0.142, 0.155)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-0.0148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(-0.232, 0.203)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865401410"/>
                  </a:ext>
                </a:extLst>
              </a:tr>
              <a:tr h="182880">
                <a:tc>
                  <a:txBody>
                    <a:bodyPr/>
                    <a:lstStyle/>
                    <a:p>
                      <a:pPr algn="r" fontAlgn="ctr"/>
                      <a:r>
                        <a:rPr lang="es-CO" sz="800" b="0" i="0" u="none" strike="noStrike" dirty="0">
                          <a:solidFill>
                            <a:schemeClr val="bg1"/>
                          </a:solidFill>
                          <a:effectLst/>
                          <a:latin typeface="Segoe UI" panose="020B0502040204020203" pitchFamily="34" charset="0"/>
                        </a:rPr>
                        <a:t>Re</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0.0696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(0.06, 0.079)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0.0830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(0.08, 0.086)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0.0045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(-0.05, 0.059)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754199902"/>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kappa_c</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0.0361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(0.028, 0.044)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0.0608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(0.058, 0.063)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(-0.009, 0.013)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353622057"/>
                  </a:ext>
                </a:extLst>
              </a:tr>
              <a:tr h="182880">
                <a:tc>
                  <a:txBody>
                    <a:bodyPr/>
                    <a:lstStyle/>
                    <a:p>
                      <a:pPr algn="r" fontAlgn="ctr"/>
                      <a:r>
                        <a:rPr lang="es-CO" sz="800" b="0" i="0" u="none" strike="noStrike" dirty="0">
                          <a:solidFill>
                            <a:schemeClr val="bg1"/>
                          </a:solidFill>
                          <a:effectLst/>
                          <a:latin typeface="Segoe UI" panose="020B0502040204020203" pitchFamily="34" charset="0"/>
                        </a:rPr>
                        <a:t>tau</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0.0426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(0.036, 0.049)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0.0550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(0.052, 0.058)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0.0069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(-0.066, 0.08)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551587561"/>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epsilon_mc</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0.0290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(0.022, 0.036)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0.0395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(0.038, 0.041)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-0.0114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(-0.076, 0.053)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46875804"/>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Phi_c_des</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0.0104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(0.006, 0.015)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0.0235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(0.021, 0.025)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-0.0081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(-0.076, 0.06)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66793425"/>
                  </a:ext>
                </a:extLst>
              </a:tr>
              <a:tr h="182880">
                <a:tc>
                  <a:txBody>
                    <a:bodyPr/>
                    <a:lstStyle/>
                    <a:p>
                      <a:pPr algn="r" fontAlgn="ctr"/>
                      <a:r>
                        <a:rPr lang="es-CO" sz="800" b="0" i="0" u="none" strike="noStrike" dirty="0">
                          <a:solidFill>
                            <a:schemeClr val="bg1"/>
                          </a:solidFill>
                          <a:effectLst/>
                          <a:latin typeface="Segoe UI" panose="020B0502040204020203" pitchFamily="34" charset="0"/>
                        </a:rPr>
                        <a:t>Sc</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0.0047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(0.001, 0.009)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0.0190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(0.018, 0.02)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0.0176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(-0.046, 0.082)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573210054"/>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epsilon_gdl</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0.0010</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 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0.0093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(0.009, 0.01)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0.0076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(-0.032, 0.047)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795844322"/>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kappa_co</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0.0023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 0.005)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0.0057</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(0.005, 0.006)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-0.0004</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(-0.007, 0.006)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586594164"/>
                  </a:ext>
                </a:extLst>
              </a:tr>
              <a:tr h="182880">
                <a:tc>
                  <a:txBody>
                    <a:bodyPr/>
                    <a:lstStyle/>
                    <a:p>
                      <a:pPr algn="r" fontAlgn="ctr"/>
                      <a:r>
                        <a:rPr lang="es-CO" sz="800" b="0" i="0" u="none" strike="noStrike" dirty="0" err="1">
                          <a:solidFill>
                            <a:schemeClr val="bg1"/>
                          </a:solidFill>
                          <a:effectLst/>
                          <a:latin typeface="Segoe UI" panose="020B0502040204020203" pitchFamily="34" charset="0"/>
                        </a:rPr>
                        <a:t>epsilon_c</a:t>
                      </a:r>
                      <a:endParaRPr lang="es-CO" sz="800" b="0" i="0" u="none" strike="noStrike" dirty="0">
                        <a:solidFill>
                          <a:schemeClr val="bg1"/>
                        </a:solidFill>
                        <a:effectLst/>
                        <a:latin typeface="Segoe UI" panose="020B0502040204020203" pitchFamily="34" charset="0"/>
                      </a:endParaRP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-0.0009</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(-0.003, 0.001)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0.0048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(0.004, 0.006)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0.0066</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(-0.011, 0.025)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392201228"/>
                  </a:ext>
                </a:extLst>
              </a:tr>
              <a:tr h="182880">
                <a:tc>
                  <a:txBody>
                    <a:bodyPr/>
                    <a:lstStyle/>
                    <a:p>
                      <a:pPr algn="r" fontAlgn="ctr"/>
                      <a:r>
                        <a:rPr lang="es-CO" sz="800" b="0" i="0" u="none" strike="noStrike" dirty="0">
                          <a:solidFill>
                            <a:schemeClr val="bg1"/>
                          </a:solidFill>
                          <a:effectLst/>
                          <a:latin typeface="Segoe UI" panose="020B0502040204020203" pitchFamily="34" charset="0"/>
                        </a:rPr>
                        <a:t>e</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0.0003</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(-0.001, 0.001)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a:solidFill>
                            <a:schemeClr val="tx1"/>
                          </a:solidFill>
                          <a:latin typeface="Source Sans Pro" panose="020B0503030403020204" pitchFamily="34" charset="0"/>
                          <a:ea typeface="Source Sans Pro" panose="020B0503030403020204" pitchFamily="34" charset="0"/>
                          <a:cs typeface="+mn-cs"/>
                        </a:rPr>
                        <a:t>0.0008</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(0.001, 0.001)</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-0.0022</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lvl="0" indent="0" algn="ctr" defTabSz="914400" rtl="0" eaLnBrk="1" fontAlgn="b" latinLnBrk="0" hangingPunct="1">
                        <a:lnSpc>
                          <a:spcPct val="115000"/>
                        </a:lnSpc>
                        <a:spcBef>
                          <a:spcPts val="0"/>
                        </a:spcBef>
                        <a:spcAft>
                          <a:spcPts val="0"/>
                        </a:spcAft>
                        <a:buNone/>
                      </a:pPr>
                      <a:r>
                        <a:rPr lang="es-CO" sz="1400" kern="1200" dirty="0">
                          <a:solidFill>
                            <a:schemeClr val="tx1"/>
                          </a:solidFill>
                          <a:latin typeface="Source Sans Pro" panose="020B0503030403020204" pitchFamily="34" charset="0"/>
                          <a:ea typeface="Source Sans Pro" panose="020B0503030403020204" pitchFamily="34" charset="0"/>
                          <a:cs typeface="+mn-cs"/>
                        </a:rPr>
                        <a:t>(-0.009, 0.005)</a:t>
                      </a:r>
                    </a:p>
                  </a:txBody>
                  <a:tcPr marL="7620" marR="7620" marT="30480" marB="30480"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2397607277"/>
                  </a:ext>
                </a:extLst>
              </a:tr>
            </a:tbl>
          </a:graphicData>
        </a:graphic>
      </p:graphicFrame>
      <mc:AlternateContent xmlns:mc="http://schemas.openxmlformats.org/markup-compatibility/2006">
        <mc:Choice xmlns:a14="http://schemas.microsoft.com/office/drawing/2010/main" Requires="a14">
          <p:sp>
            <p:nvSpPr>
              <p:cNvPr id="83" name="CuadroTexto 82">
                <a:extLst>
                  <a:ext uri="{FF2B5EF4-FFF2-40B4-BE49-F238E27FC236}">
                    <a16:creationId xmlns:a16="http://schemas.microsoft.com/office/drawing/2014/main" id="{4F2C4ECB-C629-46E7-BF18-754169DA7F57}"/>
                  </a:ext>
                </a:extLst>
              </p:cNvPr>
              <p:cNvSpPr txBox="1"/>
              <p:nvPr/>
            </p:nvSpPr>
            <p:spPr>
              <a:xfrm>
                <a:off x="3986891" y="2467068"/>
                <a:ext cx="41267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𝑃𝑎</m:t>
                          </m:r>
                        </m:e>
                        <m:sub>
                          <m:r>
                            <a:rPr lang="es-ES" sz="1200" b="0" i="1" smtClean="0">
                              <a:latin typeface="Cambria Math" panose="02040503050406030204" pitchFamily="18" charset="0"/>
                            </a:rPr>
                            <m:t>𝑑𝑒𝑠</m:t>
                          </m:r>
                        </m:sub>
                      </m:sSub>
                    </m:oMath>
                  </m:oMathPara>
                </a14:m>
                <a:endParaRPr lang="es-CO" sz="1200" dirty="0"/>
              </a:p>
            </p:txBody>
          </p:sp>
        </mc:Choice>
        <mc:Fallback>
          <p:sp>
            <p:nvSpPr>
              <p:cNvPr id="83" name="CuadroTexto 82">
                <a:extLst>
                  <a:ext uri="{FF2B5EF4-FFF2-40B4-BE49-F238E27FC236}">
                    <a16:creationId xmlns:a16="http://schemas.microsoft.com/office/drawing/2014/main" id="{4F2C4ECB-C629-46E7-BF18-754169DA7F57}"/>
                  </a:ext>
                </a:extLst>
              </p:cNvPr>
              <p:cNvSpPr txBox="1">
                <a:spLocks noRot="1" noChangeAspect="1" noMove="1" noResize="1" noEditPoints="1" noAdjustHandles="1" noChangeArrowheads="1" noChangeShapeType="1" noTextEdit="1"/>
              </p:cNvSpPr>
              <p:nvPr/>
            </p:nvSpPr>
            <p:spPr>
              <a:xfrm>
                <a:off x="3986891" y="2467068"/>
                <a:ext cx="412677" cy="184666"/>
              </a:xfrm>
              <a:prstGeom prst="rect">
                <a:avLst/>
              </a:prstGeom>
              <a:blipFill>
                <a:blip r:embed="rId2"/>
                <a:stretch>
                  <a:fillRect l="-8824" r="-4412" b="-13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4" name="CuadroTexto 83">
                <a:extLst>
                  <a:ext uri="{FF2B5EF4-FFF2-40B4-BE49-F238E27FC236}">
                    <a16:creationId xmlns:a16="http://schemas.microsoft.com/office/drawing/2014/main" id="{1E7BE181-B325-4438-9DEC-D23A5600015F}"/>
                  </a:ext>
                </a:extLst>
              </p:cNvPr>
              <p:cNvSpPr txBox="1"/>
              <p:nvPr/>
            </p:nvSpPr>
            <p:spPr>
              <a:xfrm>
                <a:off x="3996509" y="4052253"/>
                <a:ext cx="39344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𝜙</m:t>
                          </m:r>
                        </m:e>
                        <m:sub>
                          <m:r>
                            <a:rPr lang="es-ES" sz="1200" b="0" i="1" smtClean="0">
                              <a:latin typeface="Cambria Math" panose="02040503050406030204" pitchFamily="18" charset="0"/>
                            </a:rPr>
                            <m:t>𝑐𝑑𝑒𝑠</m:t>
                          </m:r>
                        </m:sub>
                      </m:sSub>
                    </m:oMath>
                  </m:oMathPara>
                </a14:m>
                <a:endParaRPr lang="es-CO" sz="1200" dirty="0"/>
              </a:p>
            </p:txBody>
          </p:sp>
        </mc:Choice>
        <mc:Fallback>
          <p:sp>
            <p:nvSpPr>
              <p:cNvPr id="84" name="CuadroTexto 83">
                <a:extLst>
                  <a:ext uri="{FF2B5EF4-FFF2-40B4-BE49-F238E27FC236}">
                    <a16:creationId xmlns:a16="http://schemas.microsoft.com/office/drawing/2014/main" id="{1E7BE181-B325-4438-9DEC-D23A5600015F}"/>
                  </a:ext>
                </a:extLst>
              </p:cNvPr>
              <p:cNvSpPr txBox="1">
                <a:spLocks noRot="1" noChangeAspect="1" noMove="1" noResize="1" noEditPoints="1" noAdjustHandles="1" noChangeArrowheads="1" noChangeShapeType="1" noTextEdit="1"/>
              </p:cNvSpPr>
              <p:nvPr/>
            </p:nvSpPr>
            <p:spPr>
              <a:xfrm>
                <a:off x="3996509" y="4052253"/>
                <a:ext cx="393441" cy="184666"/>
              </a:xfrm>
              <a:prstGeom prst="rect">
                <a:avLst/>
              </a:prstGeom>
              <a:blipFill>
                <a:blip r:embed="rId3"/>
                <a:stretch>
                  <a:fillRect l="-14063" r="-3125" b="-3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5" name="CuadroTexto 84">
                <a:extLst>
                  <a:ext uri="{FF2B5EF4-FFF2-40B4-BE49-F238E27FC236}">
                    <a16:creationId xmlns:a16="http://schemas.microsoft.com/office/drawing/2014/main" id="{3DC2449D-4307-4501-90CB-8E9E1892BF32}"/>
                  </a:ext>
                </a:extLst>
              </p:cNvPr>
              <p:cNvSpPr txBox="1"/>
              <p:nvPr/>
            </p:nvSpPr>
            <p:spPr>
              <a:xfrm>
                <a:off x="4044727" y="4600706"/>
                <a:ext cx="297004" cy="19973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𝑔𝑑𝑙</m:t>
                          </m:r>
                        </m:sub>
                      </m:sSub>
                    </m:oMath>
                  </m:oMathPara>
                </a14:m>
                <a:endParaRPr lang="es-CO" sz="1200" dirty="0"/>
              </a:p>
            </p:txBody>
          </p:sp>
        </mc:Choice>
        <mc:Fallback>
          <p:sp>
            <p:nvSpPr>
              <p:cNvPr id="85" name="CuadroTexto 84">
                <a:extLst>
                  <a:ext uri="{FF2B5EF4-FFF2-40B4-BE49-F238E27FC236}">
                    <a16:creationId xmlns:a16="http://schemas.microsoft.com/office/drawing/2014/main" id="{3DC2449D-4307-4501-90CB-8E9E1892BF32}"/>
                  </a:ext>
                </a:extLst>
              </p:cNvPr>
              <p:cNvSpPr txBox="1">
                <a:spLocks noRot="1" noChangeAspect="1" noMove="1" noResize="1" noEditPoints="1" noAdjustHandles="1" noChangeArrowheads="1" noChangeShapeType="1" noTextEdit="1"/>
              </p:cNvSpPr>
              <p:nvPr/>
            </p:nvSpPr>
            <p:spPr>
              <a:xfrm>
                <a:off x="4044727" y="4600706"/>
                <a:ext cx="297004" cy="199735"/>
              </a:xfrm>
              <a:prstGeom prst="rect">
                <a:avLst/>
              </a:prstGeom>
              <a:blipFill>
                <a:blip r:embed="rId4"/>
                <a:stretch>
                  <a:fillRect l="-8333" r="-8333" b="-28125"/>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6" name="CuadroTexto 85">
                <a:extLst>
                  <a:ext uri="{FF2B5EF4-FFF2-40B4-BE49-F238E27FC236}">
                    <a16:creationId xmlns:a16="http://schemas.microsoft.com/office/drawing/2014/main" id="{DBC4CD14-8C46-455C-9086-9FE8F877C5D9}"/>
                  </a:ext>
                </a:extLst>
              </p:cNvPr>
              <p:cNvSpPr txBox="1"/>
              <p:nvPr/>
            </p:nvSpPr>
            <p:spPr>
              <a:xfrm>
                <a:off x="4053576" y="3818763"/>
                <a:ext cx="27930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𝑚𝑐</m:t>
                          </m:r>
                        </m:sub>
                      </m:sSub>
                    </m:oMath>
                  </m:oMathPara>
                </a14:m>
                <a:endParaRPr lang="es-CO" sz="1200" dirty="0"/>
              </a:p>
            </p:txBody>
          </p:sp>
        </mc:Choice>
        <mc:Fallback>
          <p:sp>
            <p:nvSpPr>
              <p:cNvPr id="86" name="CuadroTexto 85">
                <a:extLst>
                  <a:ext uri="{FF2B5EF4-FFF2-40B4-BE49-F238E27FC236}">
                    <a16:creationId xmlns:a16="http://schemas.microsoft.com/office/drawing/2014/main" id="{DBC4CD14-8C46-455C-9086-9FE8F877C5D9}"/>
                  </a:ext>
                </a:extLst>
              </p:cNvPr>
              <p:cNvSpPr txBox="1">
                <a:spLocks noRot="1" noChangeAspect="1" noMove="1" noResize="1" noEditPoints="1" noAdjustHandles="1" noChangeArrowheads="1" noChangeShapeType="1" noTextEdit="1"/>
              </p:cNvSpPr>
              <p:nvPr/>
            </p:nvSpPr>
            <p:spPr>
              <a:xfrm>
                <a:off x="4053576" y="3818763"/>
                <a:ext cx="279307" cy="184666"/>
              </a:xfrm>
              <a:prstGeom prst="rect">
                <a:avLst/>
              </a:prstGeom>
              <a:blipFill>
                <a:blip r:embed="rId5"/>
                <a:stretch>
                  <a:fillRect l="-8696" b="-645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7" name="CuadroTexto 86">
                <a:extLst>
                  <a:ext uri="{FF2B5EF4-FFF2-40B4-BE49-F238E27FC236}">
                    <a16:creationId xmlns:a16="http://schemas.microsoft.com/office/drawing/2014/main" id="{8B1836FB-5579-42D5-9234-9D4ABBFA6E28}"/>
                  </a:ext>
                </a:extLst>
              </p:cNvPr>
              <p:cNvSpPr txBox="1"/>
              <p:nvPr/>
            </p:nvSpPr>
            <p:spPr>
              <a:xfrm>
                <a:off x="4106475" y="5127249"/>
                <a:ext cx="173509"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𝜖</m:t>
                          </m:r>
                        </m:e>
                        <m:sub>
                          <m:r>
                            <a:rPr lang="es-ES" sz="1200" b="0" i="1" smtClean="0">
                              <a:latin typeface="Cambria Math" panose="02040503050406030204" pitchFamily="18" charset="0"/>
                            </a:rPr>
                            <m:t>𝑐</m:t>
                          </m:r>
                        </m:sub>
                      </m:sSub>
                    </m:oMath>
                  </m:oMathPara>
                </a14:m>
                <a:endParaRPr lang="es-CO" sz="1200" dirty="0"/>
              </a:p>
            </p:txBody>
          </p:sp>
        </mc:Choice>
        <mc:Fallback>
          <p:sp>
            <p:nvSpPr>
              <p:cNvPr id="87" name="CuadroTexto 86">
                <a:extLst>
                  <a:ext uri="{FF2B5EF4-FFF2-40B4-BE49-F238E27FC236}">
                    <a16:creationId xmlns:a16="http://schemas.microsoft.com/office/drawing/2014/main" id="{8B1836FB-5579-42D5-9234-9D4ABBFA6E28}"/>
                  </a:ext>
                </a:extLst>
              </p:cNvPr>
              <p:cNvSpPr txBox="1">
                <a:spLocks noRot="1" noChangeAspect="1" noMove="1" noResize="1" noEditPoints="1" noAdjustHandles="1" noChangeArrowheads="1" noChangeShapeType="1" noTextEdit="1"/>
              </p:cNvSpPr>
              <p:nvPr/>
            </p:nvSpPr>
            <p:spPr>
              <a:xfrm>
                <a:off x="4106475" y="5127249"/>
                <a:ext cx="173509" cy="184666"/>
              </a:xfrm>
              <a:prstGeom prst="rect">
                <a:avLst/>
              </a:prstGeom>
              <a:blipFill>
                <a:blip r:embed="rId6"/>
                <a:stretch>
                  <a:fillRect l="-14286" r="-3571" b="-1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8" name="CuadroTexto 87">
                <a:extLst>
                  <a:ext uri="{FF2B5EF4-FFF2-40B4-BE49-F238E27FC236}">
                    <a16:creationId xmlns:a16="http://schemas.microsoft.com/office/drawing/2014/main" id="{2345A5BD-D15D-4649-ABCE-0998824A98E7}"/>
                  </a:ext>
                </a:extLst>
              </p:cNvPr>
              <p:cNvSpPr txBox="1"/>
              <p:nvPr/>
            </p:nvSpPr>
            <p:spPr>
              <a:xfrm>
                <a:off x="4138663" y="3602575"/>
                <a:ext cx="10913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𝜏</m:t>
                      </m:r>
                    </m:oMath>
                  </m:oMathPara>
                </a14:m>
                <a:endParaRPr lang="es-CO" sz="1200" dirty="0"/>
              </a:p>
            </p:txBody>
          </p:sp>
        </mc:Choice>
        <mc:Fallback>
          <p:sp>
            <p:nvSpPr>
              <p:cNvPr id="88" name="CuadroTexto 87">
                <a:extLst>
                  <a:ext uri="{FF2B5EF4-FFF2-40B4-BE49-F238E27FC236}">
                    <a16:creationId xmlns:a16="http://schemas.microsoft.com/office/drawing/2014/main" id="{2345A5BD-D15D-4649-ABCE-0998824A98E7}"/>
                  </a:ext>
                </a:extLst>
              </p:cNvPr>
              <p:cNvSpPr txBox="1">
                <a:spLocks noRot="1" noChangeAspect="1" noMove="1" noResize="1" noEditPoints="1" noAdjustHandles="1" noChangeArrowheads="1" noChangeShapeType="1" noTextEdit="1"/>
              </p:cNvSpPr>
              <p:nvPr/>
            </p:nvSpPr>
            <p:spPr>
              <a:xfrm>
                <a:off x="4138663" y="3602575"/>
                <a:ext cx="109132" cy="184666"/>
              </a:xfrm>
              <a:prstGeom prst="rect">
                <a:avLst/>
              </a:prstGeom>
              <a:blipFill>
                <a:blip r:embed="rId7"/>
                <a:stretch>
                  <a:fillRect l="-22222" r="-11111"/>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89" name="CuadroTexto 88">
                <a:extLst>
                  <a:ext uri="{FF2B5EF4-FFF2-40B4-BE49-F238E27FC236}">
                    <a16:creationId xmlns:a16="http://schemas.microsoft.com/office/drawing/2014/main" id="{80A0C03C-D2E3-462A-BD1A-F09AA0A6400C}"/>
                  </a:ext>
                </a:extLst>
              </p:cNvPr>
              <p:cNvSpPr txBox="1"/>
              <p:nvPr/>
            </p:nvSpPr>
            <p:spPr>
              <a:xfrm>
                <a:off x="3968712" y="1965485"/>
                <a:ext cx="449034" cy="19947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𝑖</m:t>
                          </m:r>
                          <m:r>
                            <a:rPr lang="es-ES" sz="1200" b="0" i="1" smtClean="0">
                              <a:latin typeface="Cambria Math" panose="02040503050406030204" pitchFamily="18" charset="0"/>
                            </a:rPr>
                            <m:t>0</m:t>
                          </m:r>
                        </m:e>
                        <m:sub>
                          <m:r>
                            <a:rPr lang="es-ES" sz="1200" b="0" i="1" smtClean="0">
                              <a:latin typeface="Cambria Math" panose="02040503050406030204" pitchFamily="18" charset="0"/>
                            </a:rPr>
                            <m:t>𝑐</m:t>
                          </m:r>
                          <m:r>
                            <a:rPr lang="es-ES" sz="1200" b="0" i="1" smtClean="0">
                              <a:latin typeface="Cambria Math" panose="02040503050406030204" pitchFamily="18" charset="0"/>
                            </a:rPr>
                            <m:t> </m:t>
                          </m:r>
                          <m:r>
                            <a:rPr lang="es-ES" sz="1200" b="0" i="1" smtClean="0">
                              <a:latin typeface="Cambria Math" panose="02040503050406030204" pitchFamily="18" charset="0"/>
                            </a:rPr>
                            <m:t>𝑟𝑒𝑓</m:t>
                          </m:r>
                        </m:sub>
                      </m:sSub>
                    </m:oMath>
                  </m:oMathPara>
                </a14:m>
                <a:endParaRPr lang="es-CO" sz="1200" dirty="0"/>
              </a:p>
            </p:txBody>
          </p:sp>
        </mc:Choice>
        <mc:Fallback>
          <p:sp>
            <p:nvSpPr>
              <p:cNvPr id="89" name="CuadroTexto 88">
                <a:extLst>
                  <a:ext uri="{FF2B5EF4-FFF2-40B4-BE49-F238E27FC236}">
                    <a16:creationId xmlns:a16="http://schemas.microsoft.com/office/drawing/2014/main" id="{80A0C03C-D2E3-462A-BD1A-F09AA0A6400C}"/>
                  </a:ext>
                </a:extLst>
              </p:cNvPr>
              <p:cNvSpPr txBox="1">
                <a:spLocks noRot="1" noChangeAspect="1" noMove="1" noResize="1" noEditPoints="1" noAdjustHandles="1" noChangeArrowheads="1" noChangeShapeType="1" noTextEdit="1"/>
              </p:cNvSpPr>
              <p:nvPr/>
            </p:nvSpPr>
            <p:spPr>
              <a:xfrm>
                <a:off x="3968712" y="1965485"/>
                <a:ext cx="449034" cy="199478"/>
              </a:xfrm>
              <a:prstGeom prst="rect">
                <a:avLst/>
              </a:prstGeom>
              <a:blipFill>
                <a:blip r:embed="rId8"/>
                <a:stretch>
                  <a:fillRect l="-8108" r="-5405" b="-2727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0" name="CuadroTexto 89">
                <a:extLst>
                  <a:ext uri="{FF2B5EF4-FFF2-40B4-BE49-F238E27FC236}">
                    <a16:creationId xmlns:a16="http://schemas.microsoft.com/office/drawing/2014/main" id="{C53949A9-A964-4687-A178-EF36799CA539}"/>
                  </a:ext>
                </a:extLst>
              </p:cNvPr>
              <p:cNvSpPr txBox="1"/>
              <p:nvPr/>
            </p:nvSpPr>
            <p:spPr>
              <a:xfrm>
                <a:off x="4068580" y="4855611"/>
                <a:ext cx="249299"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𝜅</m:t>
                          </m:r>
                        </m:e>
                        <m:sub>
                          <m:r>
                            <a:rPr lang="es-ES" sz="1200" b="0" i="1" smtClean="0">
                              <a:latin typeface="Cambria Math" panose="02040503050406030204" pitchFamily="18" charset="0"/>
                            </a:rPr>
                            <m:t>𝑐𝑜</m:t>
                          </m:r>
                        </m:sub>
                      </m:sSub>
                    </m:oMath>
                  </m:oMathPara>
                </a14:m>
                <a:endParaRPr lang="es-CO" sz="1200" dirty="0"/>
              </a:p>
            </p:txBody>
          </p:sp>
        </mc:Choice>
        <mc:Fallback>
          <p:sp>
            <p:nvSpPr>
              <p:cNvPr id="90" name="CuadroTexto 89">
                <a:extLst>
                  <a:ext uri="{FF2B5EF4-FFF2-40B4-BE49-F238E27FC236}">
                    <a16:creationId xmlns:a16="http://schemas.microsoft.com/office/drawing/2014/main" id="{C53949A9-A964-4687-A178-EF36799CA539}"/>
                  </a:ext>
                </a:extLst>
              </p:cNvPr>
              <p:cNvSpPr txBox="1">
                <a:spLocks noRot="1" noChangeAspect="1" noMove="1" noResize="1" noEditPoints="1" noAdjustHandles="1" noChangeArrowheads="1" noChangeShapeType="1" noTextEdit="1"/>
              </p:cNvSpPr>
              <p:nvPr/>
            </p:nvSpPr>
            <p:spPr>
              <a:xfrm>
                <a:off x="4068580" y="4855611"/>
                <a:ext cx="249299" cy="184666"/>
              </a:xfrm>
              <a:prstGeom prst="rect">
                <a:avLst/>
              </a:prstGeom>
              <a:blipFill>
                <a:blip r:embed="rId9"/>
                <a:stretch>
                  <a:fillRect l="-7317" r="-2439" b="-1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1" name="CuadroTexto 90">
                <a:extLst>
                  <a:ext uri="{FF2B5EF4-FFF2-40B4-BE49-F238E27FC236}">
                    <a16:creationId xmlns:a16="http://schemas.microsoft.com/office/drawing/2014/main" id="{86D22166-D8EE-45CE-AEAB-0327F5B7230C}"/>
                  </a:ext>
                </a:extLst>
              </p:cNvPr>
              <p:cNvSpPr txBox="1"/>
              <p:nvPr/>
            </p:nvSpPr>
            <p:spPr>
              <a:xfrm>
                <a:off x="4100864" y="3317046"/>
                <a:ext cx="18473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1200" i="1" smtClean="0">
                              <a:latin typeface="Cambria Math" panose="02040503050406030204" pitchFamily="18" charset="0"/>
                            </a:rPr>
                          </m:ctrlPr>
                        </m:sSubPr>
                        <m:e>
                          <m:r>
                            <a:rPr lang="es-ES" sz="1200" b="0" i="1" smtClean="0">
                              <a:latin typeface="Cambria Math" panose="02040503050406030204" pitchFamily="18" charset="0"/>
                            </a:rPr>
                            <m:t>𝜅</m:t>
                          </m:r>
                        </m:e>
                        <m:sub>
                          <m:r>
                            <a:rPr lang="es-ES" sz="1200" b="0" i="1" smtClean="0">
                              <a:latin typeface="Cambria Math" panose="02040503050406030204" pitchFamily="18" charset="0"/>
                            </a:rPr>
                            <m:t>𝑐</m:t>
                          </m:r>
                        </m:sub>
                      </m:sSub>
                    </m:oMath>
                  </m:oMathPara>
                </a14:m>
                <a:endParaRPr lang="es-CO" sz="1200" dirty="0"/>
              </a:p>
            </p:txBody>
          </p:sp>
        </mc:Choice>
        <mc:Fallback>
          <p:sp>
            <p:nvSpPr>
              <p:cNvPr id="91" name="CuadroTexto 90">
                <a:extLst>
                  <a:ext uri="{FF2B5EF4-FFF2-40B4-BE49-F238E27FC236}">
                    <a16:creationId xmlns:a16="http://schemas.microsoft.com/office/drawing/2014/main" id="{86D22166-D8EE-45CE-AEAB-0327F5B7230C}"/>
                  </a:ext>
                </a:extLst>
              </p:cNvPr>
              <p:cNvSpPr txBox="1">
                <a:spLocks noRot="1" noChangeAspect="1" noMove="1" noResize="1" noEditPoints="1" noAdjustHandles="1" noChangeArrowheads="1" noChangeShapeType="1" noTextEdit="1"/>
              </p:cNvSpPr>
              <p:nvPr/>
            </p:nvSpPr>
            <p:spPr>
              <a:xfrm>
                <a:off x="4100864" y="3317046"/>
                <a:ext cx="184731" cy="184666"/>
              </a:xfrm>
              <a:prstGeom prst="rect">
                <a:avLst/>
              </a:prstGeom>
              <a:blipFill>
                <a:blip r:embed="rId10"/>
                <a:stretch>
                  <a:fillRect l="-13333" r="-3333" b="-10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2" name="CuadroTexto 91">
                <a:extLst>
                  <a:ext uri="{FF2B5EF4-FFF2-40B4-BE49-F238E27FC236}">
                    <a16:creationId xmlns:a16="http://schemas.microsoft.com/office/drawing/2014/main" id="{67333791-8F16-4277-93CB-DB857270FAD7}"/>
                  </a:ext>
                </a:extLst>
              </p:cNvPr>
              <p:cNvSpPr txBox="1"/>
              <p:nvPr/>
            </p:nvSpPr>
            <p:spPr>
              <a:xfrm>
                <a:off x="4049728" y="2793895"/>
                <a:ext cx="28700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𝑇𝑓𝑐</m:t>
                      </m:r>
                    </m:oMath>
                  </m:oMathPara>
                </a14:m>
                <a:endParaRPr lang="es-CO" sz="1200" dirty="0"/>
              </a:p>
            </p:txBody>
          </p:sp>
        </mc:Choice>
        <mc:Fallback>
          <p:sp>
            <p:nvSpPr>
              <p:cNvPr id="92" name="CuadroTexto 91">
                <a:extLst>
                  <a:ext uri="{FF2B5EF4-FFF2-40B4-BE49-F238E27FC236}">
                    <a16:creationId xmlns:a16="http://schemas.microsoft.com/office/drawing/2014/main" id="{67333791-8F16-4277-93CB-DB857270FAD7}"/>
                  </a:ext>
                </a:extLst>
              </p:cNvPr>
              <p:cNvSpPr txBox="1">
                <a:spLocks noRot="1" noChangeAspect="1" noMove="1" noResize="1" noEditPoints="1" noAdjustHandles="1" noChangeArrowheads="1" noChangeShapeType="1" noTextEdit="1"/>
              </p:cNvSpPr>
              <p:nvPr/>
            </p:nvSpPr>
            <p:spPr>
              <a:xfrm>
                <a:off x="4049728" y="2793895"/>
                <a:ext cx="287002" cy="184666"/>
              </a:xfrm>
              <a:prstGeom prst="rect">
                <a:avLst/>
              </a:prstGeom>
              <a:blipFill>
                <a:blip r:embed="rId11"/>
                <a:stretch>
                  <a:fillRect l="-19149" t="-3226" r="-19149" b="-2903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3" name="CuadroTexto 92">
                <a:extLst>
                  <a:ext uri="{FF2B5EF4-FFF2-40B4-BE49-F238E27FC236}">
                    <a16:creationId xmlns:a16="http://schemas.microsoft.com/office/drawing/2014/main" id="{5D349F7A-F390-47C7-B34B-9176C95479F3}"/>
                  </a:ext>
                </a:extLst>
              </p:cNvPr>
              <p:cNvSpPr txBox="1"/>
              <p:nvPr/>
            </p:nvSpPr>
            <p:spPr>
              <a:xfrm>
                <a:off x="4097017" y="4393296"/>
                <a:ext cx="192425"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𝑆𝑐</m:t>
                      </m:r>
                    </m:oMath>
                  </m:oMathPara>
                </a14:m>
                <a:endParaRPr lang="es-CO" sz="1200" dirty="0"/>
              </a:p>
            </p:txBody>
          </p:sp>
        </mc:Choice>
        <mc:Fallback>
          <p:sp>
            <p:nvSpPr>
              <p:cNvPr id="93" name="CuadroTexto 92">
                <a:extLst>
                  <a:ext uri="{FF2B5EF4-FFF2-40B4-BE49-F238E27FC236}">
                    <a16:creationId xmlns:a16="http://schemas.microsoft.com/office/drawing/2014/main" id="{5D349F7A-F390-47C7-B34B-9176C95479F3}"/>
                  </a:ext>
                </a:extLst>
              </p:cNvPr>
              <p:cNvSpPr txBox="1">
                <a:spLocks noRot="1" noChangeAspect="1" noMove="1" noResize="1" noEditPoints="1" noAdjustHandles="1" noChangeArrowheads="1" noChangeShapeType="1" noTextEdit="1"/>
              </p:cNvSpPr>
              <p:nvPr/>
            </p:nvSpPr>
            <p:spPr>
              <a:xfrm>
                <a:off x="4097017" y="4393296"/>
                <a:ext cx="192425" cy="184666"/>
              </a:xfrm>
              <a:prstGeom prst="rect">
                <a:avLst/>
              </a:prstGeom>
              <a:blipFill>
                <a:blip r:embed="rId12"/>
                <a:stretch>
                  <a:fillRect l="-18750" r="-15625" b="-666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4" name="CuadroTexto 93">
                <a:extLst>
                  <a:ext uri="{FF2B5EF4-FFF2-40B4-BE49-F238E27FC236}">
                    <a16:creationId xmlns:a16="http://schemas.microsoft.com/office/drawing/2014/main" id="{E332D206-63C9-4E95-9E04-7DCB24EA1C8D}"/>
                  </a:ext>
                </a:extLst>
              </p:cNvPr>
              <p:cNvSpPr txBox="1"/>
              <p:nvPr/>
            </p:nvSpPr>
            <p:spPr>
              <a:xfrm>
                <a:off x="4071369" y="2252790"/>
                <a:ext cx="243721"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𝑖𝑓𝑐</m:t>
                      </m:r>
                    </m:oMath>
                  </m:oMathPara>
                </a14:m>
                <a:endParaRPr lang="es-CO" sz="1200" dirty="0"/>
              </a:p>
            </p:txBody>
          </p:sp>
        </mc:Choice>
        <mc:Fallback>
          <p:sp>
            <p:nvSpPr>
              <p:cNvPr id="94" name="CuadroTexto 93">
                <a:extLst>
                  <a:ext uri="{FF2B5EF4-FFF2-40B4-BE49-F238E27FC236}">
                    <a16:creationId xmlns:a16="http://schemas.microsoft.com/office/drawing/2014/main" id="{E332D206-63C9-4E95-9E04-7DCB24EA1C8D}"/>
                  </a:ext>
                </a:extLst>
              </p:cNvPr>
              <p:cNvSpPr txBox="1">
                <a:spLocks noRot="1" noChangeAspect="1" noMove="1" noResize="1" noEditPoints="1" noAdjustHandles="1" noChangeArrowheads="1" noChangeShapeType="1" noTextEdit="1"/>
              </p:cNvSpPr>
              <p:nvPr/>
            </p:nvSpPr>
            <p:spPr>
              <a:xfrm>
                <a:off x="4071369" y="2252790"/>
                <a:ext cx="243721" cy="184666"/>
              </a:xfrm>
              <a:prstGeom prst="rect">
                <a:avLst/>
              </a:prstGeom>
              <a:blipFill>
                <a:blip r:embed="rId13"/>
                <a:stretch>
                  <a:fillRect l="-22500" t="-6667" r="-22500" b="-3333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5" name="CuadroTexto 94">
                <a:extLst>
                  <a:ext uri="{FF2B5EF4-FFF2-40B4-BE49-F238E27FC236}">
                    <a16:creationId xmlns:a16="http://schemas.microsoft.com/office/drawing/2014/main" id="{E7BEED46-3B21-4B8F-AC25-C962244AF413}"/>
                  </a:ext>
                </a:extLst>
              </p:cNvPr>
              <p:cNvSpPr txBox="1"/>
              <p:nvPr/>
            </p:nvSpPr>
            <p:spPr>
              <a:xfrm>
                <a:off x="4135425" y="5445261"/>
                <a:ext cx="115608"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𝑒</m:t>
                      </m:r>
                    </m:oMath>
                  </m:oMathPara>
                </a14:m>
                <a:endParaRPr lang="es-CO" sz="1200" dirty="0"/>
              </a:p>
            </p:txBody>
          </p:sp>
        </mc:Choice>
        <mc:Fallback>
          <p:sp>
            <p:nvSpPr>
              <p:cNvPr id="95" name="CuadroTexto 94">
                <a:extLst>
                  <a:ext uri="{FF2B5EF4-FFF2-40B4-BE49-F238E27FC236}">
                    <a16:creationId xmlns:a16="http://schemas.microsoft.com/office/drawing/2014/main" id="{E7BEED46-3B21-4B8F-AC25-C962244AF413}"/>
                  </a:ext>
                </a:extLst>
              </p:cNvPr>
              <p:cNvSpPr txBox="1">
                <a:spLocks noRot="1" noChangeAspect="1" noMove="1" noResize="1" noEditPoints="1" noAdjustHandles="1" noChangeArrowheads="1" noChangeShapeType="1" noTextEdit="1"/>
              </p:cNvSpPr>
              <p:nvPr/>
            </p:nvSpPr>
            <p:spPr>
              <a:xfrm>
                <a:off x="4135425" y="5445261"/>
                <a:ext cx="115608" cy="184666"/>
              </a:xfrm>
              <a:prstGeom prst="rect">
                <a:avLst/>
              </a:prstGeom>
              <a:blipFill>
                <a:blip r:embed="rId14"/>
                <a:stretch>
                  <a:fillRect l="-15789" r="-1578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96" name="CuadroTexto 95">
                <a:extLst>
                  <a:ext uri="{FF2B5EF4-FFF2-40B4-BE49-F238E27FC236}">
                    <a16:creationId xmlns:a16="http://schemas.microsoft.com/office/drawing/2014/main" id="{6A1640CF-3047-4361-8CD2-8821BB2E0C29}"/>
                  </a:ext>
                </a:extLst>
              </p:cNvPr>
              <p:cNvSpPr txBox="1"/>
              <p:nvPr/>
            </p:nvSpPr>
            <p:spPr>
              <a:xfrm>
                <a:off x="4086533" y="3070575"/>
                <a:ext cx="213392"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rPr>
                        <m:t>𝑅𝑒</m:t>
                      </m:r>
                    </m:oMath>
                  </m:oMathPara>
                </a14:m>
                <a:endParaRPr lang="es-CO" sz="1200" dirty="0"/>
              </a:p>
            </p:txBody>
          </p:sp>
        </mc:Choice>
        <mc:Fallback>
          <p:sp>
            <p:nvSpPr>
              <p:cNvPr id="96" name="CuadroTexto 95">
                <a:extLst>
                  <a:ext uri="{FF2B5EF4-FFF2-40B4-BE49-F238E27FC236}">
                    <a16:creationId xmlns:a16="http://schemas.microsoft.com/office/drawing/2014/main" id="{6A1640CF-3047-4361-8CD2-8821BB2E0C29}"/>
                  </a:ext>
                </a:extLst>
              </p:cNvPr>
              <p:cNvSpPr txBox="1">
                <a:spLocks noRot="1" noChangeAspect="1" noMove="1" noResize="1" noEditPoints="1" noAdjustHandles="1" noChangeArrowheads="1" noChangeShapeType="1" noTextEdit="1"/>
              </p:cNvSpPr>
              <p:nvPr/>
            </p:nvSpPr>
            <p:spPr>
              <a:xfrm>
                <a:off x="4086533" y="3070575"/>
                <a:ext cx="213392" cy="184666"/>
              </a:xfrm>
              <a:prstGeom prst="rect">
                <a:avLst/>
              </a:prstGeom>
              <a:blipFill>
                <a:blip r:embed="rId15"/>
                <a:stretch>
                  <a:fillRect l="-17143" r="-14286" b="-6667"/>
                </a:stretch>
              </a:blipFill>
            </p:spPr>
            <p:txBody>
              <a:bodyPr/>
              <a:lstStyle/>
              <a:p>
                <a:r>
                  <a:rPr lang="es-CO">
                    <a:noFill/>
                  </a:rPr>
                  <a:t> </a:t>
                </a:r>
              </a:p>
            </p:txBody>
          </p:sp>
        </mc:Fallback>
      </mc:AlternateContent>
      <p:sp>
        <p:nvSpPr>
          <p:cNvPr id="29" name="CuadroTexto 28">
            <a:extLst>
              <a:ext uri="{FF2B5EF4-FFF2-40B4-BE49-F238E27FC236}">
                <a16:creationId xmlns:a16="http://schemas.microsoft.com/office/drawing/2014/main" id="{C3652E7E-118C-42FD-9A5E-0FB856AB167A}"/>
              </a:ext>
            </a:extLst>
          </p:cNvPr>
          <p:cNvSpPr txBox="1"/>
          <p:nvPr/>
        </p:nvSpPr>
        <p:spPr>
          <a:xfrm>
            <a:off x="4062039" y="5703218"/>
            <a:ext cx="7045574" cy="646331"/>
          </a:xfrm>
          <a:prstGeom prst="rect">
            <a:avLst/>
          </a:prstGeom>
          <a:noFill/>
        </p:spPr>
        <p:txBody>
          <a:bodyPr wrap="square">
            <a:spAutoFit/>
          </a:bodyPr>
          <a:lstStyle/>
          <a:p>
            <a:r>
              <a:rPr lang="en" sz="1200" b="1" dirty="0"/>
              <a:t>Figure XX:  </a:t>
            </a:r>
            <a:r>
              <a:rPr lang="es-CO" sz="1200" dirty="0" err="1"/>
              <a:t>Sobol</a:t>
            </a:r>
            <a:r>
              <a:rPr lang="es-CO" sz="1200" dirty="0"/>
              <a:t> </a:t>
            </a:r>
            <a:r>
              <a:rPr lang="es-CO" sz="1200" dirty="0" err="1"/>
              <a:t>sensitivity</a:t>
            </a:r>
            <a:r>
              <a:rPr lang="es-CO" sz="1200" dirty="0"/>
              <a:t> </a:t>
            </a:r>
            <a:r>
              <a:rPr lang="es-CO" sz="1200" dirty="0" err="1"/>
              <a:t>indices</a:t>
            </a:r>
            <a:r>
              <a:rPr lang="es-CO" sz="1200" dirty="0"/>
              <a:t> </a:t>
            </a:r>
            <a:r>
              <a:rPr lang="es-CO" sz="1200" dirty="0" err="1"/>
              <a:t>for</a:t>
            </a:r>
            <a:r>
              <a:rPr lang="es-CO" sz="1200" dirty="0"/>
              <a:t> </a:t>
            </a:r>
            <a:r>
              <a:rPr lang="es-CO" sz="1200" dirty="0" err="1"/>
              <a:t>the</a:t>
            </a:r>
            <a:r>
              <a:rPr lang="es-CO" sz="1200" dirty="0"/>
              <a:t> </a:t>
            </a:r>
            <a:r>
              <a:rPr lang="es-CO" sz="1200" dirty="0" err="1"/>
              <a:t>Mass</a:t>
            </a:r>
            <a:r>
              <a:rPr lang="es-CO" sz="1200" dirty="0"/>
              <a:t> </a:t>
            </a:r>
            <a:r>
              <a:rPr lang="en-US" sz="1200" dirty="0"/>
              <a:t>Transport </a:t>
            </a:r>
            <a:r>
              <a:rPr lang="es-CO" sz="1200" dirty="0" err="1"/>
              <a:t>region</a:t>
            </a:r>
            <a:r>
              <a:rPr lang="es-CO" sz="1200" dirty="0"/>
              <a:t> </a:t>
            </a:r>
            <a:r>
              <a:rPr lang="es-CO" sz="1200" dirty="0" err="1"/>
              <a:t>based</a:t>
            </a:r>
            <a:r>
              <a:rPr lang="es-CO" sz="1200" dirty="0"/>
              <a:t> </a:t>
            </a:r>
            <a:r>
              <a:rPr lang="es-CO" sz="1200" dirty="0" err="1"/>
              <a:t>on</a:t>
            </a:r>
            <a:r>
              <a:rPr lang="es-CO" sz="1200" dirty="0"/>
              <a:t> </a:t>
            </a:r>
            <a:r>
              <a:rPr lang="es-CO" sz="1200" dirty="0" err="1"/>
              <a:t>the</a:t>
            </a:r>
            <a:r>
              <a:rPr lang="es-CO" sz="1200" dirty="0"/>
              <a:t> </a:t>
            </a:r>
            <a:r>
              <a:rPr lang="es-CO" sz="1200" dirty="0" err="1"/>
              <a:t>XGBoost</a:t>
            </a:r>
            <a:r>
              <a:rPr lang="es-CO" sz="1200" dirty="0"/>
              <a:t> </a:t>
            </a:r>
            <a:r>
              <a:rPr lang="es-CO" sz="1200" dirty="0" err="1"/>
              <a:t>model</a:t>
            </a:r>
            <a:r>
              <a:rPr lang="es-CO" sz="1200" dirty="0"/>
              <a:t>, </a:t>
            </a:r>
            <a:r>
              <a:rPr lang="es-CO" sz="1200" dirty="0" err="1"/>
              <a:t>showing</a:t>
            </a:r>
            <a:r>
              <a:rPr lang="es-CO" sz="1200" dirty="0"/>
              <a:t> </a:t>
            </a:r>
            <a:r>
              <a:rPr lang="es-CO" sz="1200" dirty="0" err="1"/>
              <a:t>first-order</a:t>
            </a:r>
            <a:r>
              <a:rPr lang="es-CO" sz="1200" dirty="0"/>
              <a:t> (S1), total-</a:t>
            </a:r>
            <a:r>
              <a:rPr lang="es-CO" sz="1200" dirty="0" err="1"/>
              <a:t>order</a:t>
            </a:r>
            <a:r>
              <a:rPr lang="es-CO" sz="1200" dirty="0"/>
              <a:t> (ST), and </a:t>
            </a:r>
            <a:r>
              <a:rPr lang="es-CO" sz="1200" dirty="0" err="1"/>
              <a:t>second-order</a:t>
            </a:r>
            <a:r>
              <a:rPr lang="es-CO" sz="1200" dirty="0"/>
              <a:t> (S2) </a:t>
            </a:r>
            <a:r>
              <a:rPr lang="es-CO" sz="1200" dirty="0" err="1"/>
              <a:t>effects</a:t>
            </a:r>
            <a:r>
              <a:rPr lang="es-CO" sz="1200" dirty="0"/>
              <a:t> </a:t>
            </a:r>
            <a:r>
              <a:rPr lang="es-CO" sz="1200" dirty="0" err="1"/>
              <a:t>with</a:t>
            </a:r>
            <a:r>
              <a:rPr lang="es-CO" sz="1200" dirty="0"/>
              <a:t> </a:t>
            </a:r>
            <a:r>
              <a:rPr lang="es-CO" sz="1200" dirty="0" err="1"/>
              <a:t>confidence</a:t>
            </a:r>
            <a:r>
              <a:rPr lang="es-CO" sz="1200" dirty="0"/>
              <a:t> </a:t>
            </a:r>
            <a:r>
              <a:rPr lang="es-CO" sz="1200" dirty="0" err="1"/>
              <a:t>intervals</a:t>
            </a:r>
            <a:r>
              <a:rPr lang="es-CO" sz="1200" dirty="0"/>
              <a:t>. </a:t>
            </a:r>
            <a:r>
              <a:rPr lang="es-CO" sz="1200" dirty="0" err="1"/>
              <a:t>Parameters</a:t>
            </a:r>
            <a:r>
              <a:rPr lang="es-CO" sz="1200" dirty="0"/>
              <a:t> i0_ref, </a:t>
            </a:r>
            <a:r>
              <a:rPr lang="es-CO" sz="1200" dirty="0" err="1"/>
              <a:t>Pa_des</a:t>
            </a:r>
            <a:r>
              <a:rPr lang="es-CO" sz="1200" dirty="0"/>
              <a:t>, and </a:t>
            </a:r>
            <a:r>
              <a:rPr lang="es-CO" sz="1200" dirty="0" err="1"/>
              <a:t>ifc</a:t>
            </a:r>
            <a:r>
              <a:rPr lang="es-CO" sz="1200" dirty="0"/>
              <a:t> </a:t>
            </a:r>
            <a:r>
              <a:rPr lang="es-CO" sz="1200" dirty="0" err="1"/>
              <a:t>exhibit</a:t>
            </a:r>
            <a:r>
              <a:rPr lang="es-CO" sz="1200" dirty="0"/>
              <a:t> </a:t>
            </a:r>
            <a:r>
              <a:rPr lang="es-CO" sz="1200" dirty="0" err="1"/>
              <a:t>the</a:t>
            </a:r>
            <a:r>
              <a:rPr lang="es-CO" sz="1200" dirty="0"/>
              <a:t> </a:t>
            </a:r>
            <a:r>
              <a:rPr lang="es-CO" sz="1200" dirty="0" err="1"/>
              <a:t>highest</a:t>
            </a:r>
            <a:r>
              <a:rPr lang="es-CO" sz="1200" dirty="0"/>
              <a:t> </a:t>
            </a:r>
            <a:r>
              <a:rPr lang="es-CO" sz="1200" dirty="0" err="1"/>
              <a:t>influence</a:t>
            </a:r>
            <a:r>
              <a:rPr lang="es-CO" sz="1200" dirty="0"/>
              <a:t> </a:t>
            </a:r>
            <a:r>
              <a:rPr lang="es-CO" sz="1200" dirty="0" err="1"/>
              <a:t>on</a:t>
            </a:r>
            <a:r>
              <a:rPr lang="es-CO" sz="1200" dirty="0"/>
              <a:t> </a:t>
            </a:r>
            <a:r>
              <a:rPr lang="es-CO" sz="1200" dirty="0" err="1"/>
              <a:t>model</a:t>
            </a:r>
            <a:r>
              <a:rPr lang="es-CO" sz="1200" dirty="0"/>
              <a:t> output.</a:t>
            </a:r>
          </a:p>
        </p:txBody>
      </p:sp>
      <p:sp>
        <p:nvSpPr>
          <p:cNvPr id="27" name="Google Shape;453;g36edeb4292e_1_43">
            <a:extLst>
              <a:ext uri="{FF2B5EF4-FFF2-40B4-BE49-F238E27FC236}">
                <a16:creationId xmlns:a16="http://schemas.microsoft.com/office/drawing/2014/main" id="{8231D075-0BD2-4667-A868-3AF7AB227A0D}"/>
              </a:ext>
            </a:extLst>
          </p:cNvPr>
          <p:cNvSpPr/>
          <p:nvPr/>
        </p:nvSpPr>
        <p:spPr>
          <a:xfrm>
            <a:off x="893443" y="2908800"/>
            <a:ext cx="1895293" cy="307777"/>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latin typeface="Source Sans Pro" panose="020B0503030403020204" pitchFamily="34" charset="0"/>
                <a:ea typeface="Source Sans Pro" panose="020B0503030403020204" pitchFamily="34" charset="0"/>
                <a:sym typeface="Fira Sans Extra Condensed"/>
              </a:rPr>
              <a:t>Mass Transport</a:t>
            </a:r>
            <a:endParaRPr sz="1600" b="1" dirty="0">
              <a:latin typeface="Source Sans Pro" panose="020B0503030403020204" pitchFamily="34" charset="0"/>
              <a:ea typeface="Source Sans Pro" panose="020B0503030403020204" pitchFamily="34" charset="0"/>
              <a:sym typeface="Arial"/>
            </a:endParaRPr>
          </a:p>
        </p:txBody>
      </p:sp>
    </p:spTree>
    <p:extLst>
      <p:ext uri="{BB962C8B-B14F-4D97-AF65-F5344CB8AC3E}">
        <p14:creationId xmlns:p14="http://schemas.microsoft.com/office/powerpoint/2010/main" val="20699833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99E996A5-1B4A-4451-98C8-B52B2081C260}"/>
              </a:ext>
            </a:extLst>
          </p:cNvPr>
          <p:cNvPicPr>
            <a:picLocks noChangeAspect="1"/>
          </p:cNvPicPr>
          <p:nvPr/>
        </p:nvPicPr>
        <p:blipFill>
          <a:blip r:embed="rId3"/>
          <a:stretch>
            <a:fillRect/>
          </a:stretch>
        </p:blipFill>
        <p:spPr>
          <a:xfrm>
            <a:off x="3157200" y="943200"/>
            <a:ext cx="8558774" cy="5090400"/>
          </a:xfrm>
          <a:prstGeom prst="rect">
            <a:avLst/>
          </a:prstGeom>
        </p:spPr>
      </p:pic>
      <p:sp>
        <p:nvSpPr>
          <p:cNvPr id="20" name="CuadroTexto 19">
            <a:extLst>
              <a:ext uri="{FF2B5EF4-FFF2-40B4-BE49-F238E27FC236}">
                <a16:creationId xmlns:a16="http://schemas.microsoft.com/office/drawing/2014/main" id="{930EF675-A3B6-443F-A291-A402B178BE10}"/>
              </a:ext>
            </a:extLst>
          </p:cNvPr>
          <p:cNvSpPr txBox="1"/>
          <p:nvPr/>
        </p:nvSpPr>
        <p:spPr>
          <a:xfrm>
            <a:off x="893443" y="1370254"/>
            <a:ext cx="3244557" cy="1077218"/>
          </a:xfrm>
          <a:prstGeom prst="rect">
            <a:avLst/>
          </a:prstGeom>
          <a:noFill/>
        </p:spPr>
        <p:txBody>
          <a:bodyPr wrap="square">
            <a:spAutoFit/>
          </a:bodyPr>
          <a:lstStyle/>
          <a:p>
            <a:r>
              <a:rPr lang="en-US" sz="3200" b="1" dirty="0" err="1">
                <a:solidFill>
                  <a:prstClr val="black"/>
                </a:solidFill>
                <a:latin typeface="Source Sans Pro" panose="020B0503030403020204" pitchFamily="34" charset="0"/>
                <a:ea typeface="Source Sans Pro" panose="020B0503030403020204" pitchFamily="34" charset="0"/>
              </a:rPr>
              <a:t>Sobol</a:t>
            </a:r>
            <a:r>
              <a:rPr kumimoji="0" lang="en-US"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p>
          <a:p>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ST</a:t>
            </a:r>
            <a:endParaRPr lang="es-CO" sz="3600" dirty="0"/>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40</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9" name="CuadroTexto 18">
            <a:extLst>
              <a:ext uri="{FF2B5EF4-FFF2-40B4-BE49-F238E27FC236}">
                <a16:creationId xmlns:a16="http://schemas.microsoft.com/office/drawing/2014/main" id="{E86630B0-2AF7-45BA-A028-A6EB132952DB}"/>
              </a:ext>
            </a:extLst>
          </p:cNvPr>
          <p:cNvSpPr txBox="1"/>
          <p:nvPr/>
        </p:nvSpPr>
        <p:spPr>
          <a:xfrm>
            <a:off x="893443" y="943947"/>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26" name="Rectángulo 25">
            <a:extLst>
              <a:ext uri="{FF2B5EF4-FFF2-40B4-BE49-F238E27FC236}">
                <a16:creationId xmlns:a16="http://schemas.microsoft.com/office/drawing/2014/main" id="{E0DC2F22-F733-44B8-B511-7D4675098093}"/>
              </a:ext>
            </a:extLst>
          </p:cNvPr>
          <p:cNvSpPr/>
          <p:nvPr/>
        </p:nvSpPr>
        <p:spPr>
          <a:xfrm>
            <a:off x="4757057" y="1707005"/>
            <a:ext cx="1643743" cy="30777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10" name="Grupo 9">
            <a:extLst>
              <a:ext uri="{FF2B5EF4-FFF2-40B4-BE49-F238E27FC236}">
                <a16:creationId xmlns:a16="http://schemas.microsoft.com/office/drawing/2014/main" id="{A45FB23E-BDCF-4721-A026-289114204ABF}"/>
              </a:ext>
            </a:extLst>
          </p:cNvPr>
          <p:cNvGrpSpPr/>
          <p:nvPr/>
        </p:nvGrpSpPr>
        <p:grpSpPr>
          <a:xfrm>
            <a:off x="11008492" y="1288344"/>
            <a:ext cx="569970" cy="2338575"/>
            <a:chOff x="11582532" y="1288344"/>
            <a:chExt cx="569970" cy="2338575"/>
          </a:xfrm>
        </p:grpSpPr>
        <p:sp>
          <p:nvSpPr>
            <p:cNvPr id="62" name="Rectángulo 61">
              <a:extLst>
                <a:ext uri="{FF2B5EF4-FFF2-40B4-BE49-F238E27FC236}">
                  <a16:creationId xmlns:a16="http://schemas.microsoft.com/office/drawing/2014/main" id="{5ACB8813-EC56-4327-9560-7072AE81192F}"/>
                </a:ext>
              </a:extLst>
            </p:cNvPr>
            <p:cNvSpPr/>
            <p:nvPr/>
          </p:nvSpPr>
          <p:spPr>
            <a:xfrm>
              <a:off x="11582532" y="1322543"/>
              <a:ext cx="569970" cy="230437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s-CO" dirty="0"/>
            </a:p>
          </p:txBody>
        </p:sp>
        <mc:AlternateContent xmlns:mc="http://schemas.openxmlformats.org/markup-compatibility/2006">
          <mc:Choice xmlns:a14="http://schemas.microsoft.com/office/drawing/2010/main" Requires="a14">
            <p:sp>
              <p:nvSpPr>
                <p:cNvPr id="63" name="CuadroTexto 62">
                  <a:extLst>
                    <a:ext uri="{FF2B5EF4-FFF2-40B4-BE49-F238E27FC236}">
                      <a16:creationId xmlns:a16="http://schemas.microsoft.com/office/drawing/2014/main" id="{267F1AB6-9D1B-40C9-9EBE-67663A7462C9}"/>
                    </a:ext>
                  </a:extLst>
                </p:cNvPr>
                <p:cNvSpPr txBox="1"/>
                <p:nvPr/>
              </p:nvSpPr>
              <p:spPr>
                <a:xfrm>
                  <a:off x="11632388" y="1631617"/>
                  <a:ext cx="30950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𝑃𝑎</m:t>
                            </m:r>
                          </m:e>
                          <m:sub>
                            <m:r>
                              <a:rPr lang="es-ES" sz="900" b="0" i="1" smtClean="0">
                                <a:latin typeface="Cambria Math" panose="02040503050406030204" pitchFamily="18" charset="0"/>
                              </a:rPr>
                              <m:t>𝑑𝑒𝑠</m:t>
                            </m:r>
                          </m:sub>
                        </m:sSub>
                      </m:oMath>
                    </m:oMathPara>
                  </a14:m>
                  <a:endParaRPr lang="es-CO" sz="900" dirty="0"/>
                </a:p>
              </p:txBody>
            </p:sp>
          </mc:Choice>
          <mc:Fallback>
            <p:sp>
              <p:nvSpPr>
                <p:cNvPr id="63" name="CuadroTexto 62">
                  <a:extLst>
                    <a:ext uri="{FF2B5EF4-FFF2-40B4-BE49-F238E27FC236}">
                      <a16:creationId xmlns:a16="http://schemas.microsoft.com/office/drawing/2014/main" id="{267F1AB6-9D1B-40C9-9EBE-67663A7462C9}"/>
                    </a:ext>
                  </a:extLst>
                </p:cNvPr>
                <p:cNvSpPr txBox="1">
                  <a:spLocks noRot="1" noChangeAspect="1" noMove="1" noResize="1" noEditPoints="1" noAdjustHandles="1" noChangeArrowheads="1" noChangeShapeType="1" noTextEdit="1"/>
                </p:cNvSpPr>
                <p:nvPr/>
              </p:nvSpPr>
              <p:spPr>
                <a:xfrm>
                  <a:off x="11632388" y="1631617"/>
                  <a:ext cx="309508" cy="138499"/>
                </a:xfrm>
                <a:prstGeom prst="rect">
                  <a:avLst/>
                </a:prstGeom>
                <a:blipFill>
                  <a:blip r:embed="rId4"/>
                  <a:stretch>
                    <a:fillRect l="-9804" r="-3922" b="-2272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4" name="CuadroTexto 63">
                  <a:extLst>
                    <a:ext uri="{FF2B5EF4-FFF2-40B4-BE49-F238E27FC236}">
                      <a16:creationId xmlns:a16="http://schemas.microsoft.com/office/drawing/2014/main" id="{AB0492B2-58E1-476D-BF0E-1CA2EABD299C}"/>
                    </a:ext>
                  </a:extLst>
                </p:cNvPr>
                <p:cNvSpPr txBox="1"/>
                <p:nvPr/>
              </p:nvSpPr>
              <p:spPr>
                <a:xfrm>
                  <a:off x="11632388" y="2655005"/>
                  <a:ext cx="29508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𝜙</m:t>
                            </m:r>
                          </m:e>
                          <m:sub>
                            <m:r>
                              <a:rPr lang="es-ES" sz="900" b="0" i="1" smtClean="0">
                                <a:latin typeface="Cambria Math" panose="02040503050406030204" pitchFamily="18" charset="0"/>
                              </a:rPr>
                              <m:t>𝑐𝑑𝑒𝑠</m:t>
                            </m:r>
                          </m:sub>
                        </m:sSub>
                      </m:oMath>
                    </m:oMathPara>
                  </a14:m>
                  <a:endParaRPr lang="es-CO" sz="900" dirty="0"/>
                </a:p>
              </p:txBody>
            </p:sp>
          </mc:Choice>
          <mc:Fallback>
            <p:sp>
              <p:nvSpPr>
                <p:cNvPr id="64" name="CuadroTexto 63">
                  <a:extLst>
                    <a:ext uri="{FF2B5EF4-FFF2-40B4-BE49-F238E27FC236}">
                      <a16:creationId xmlns:a16="http://schemas.microsoft.com/office/drawing/2014/main" id="{AB0492B2-58E1-476D-BF0E-1CA2EABD299C}"/>
                    </a:ext>
                  </a:extLst>
                </p:cNvPr>
                <p:cNvSpPr txBox="1">
                  <a:spLocks noRot="1" noChangeAspect="1" noMove="1" noResize="1" noEditPoints="1" noAdjustHandles="1" noChangeArrowheads="1" noChangeShapeType="1" noTextEdit="1"/>
                </p:cNvSpPr>
                <p:nvPr/>
              </p:nvSpPr>
              <p:spPr>
                <a:xfrm>
                  <a:off x="11632388" y="2655005"/>
                  <a:ext cx="295081" cy="138499"/>
                </a:xfrm>
                <a:prstGeom prst="rect">
                  <a:avLst/>
                </a:prstGeom>
                <a:blipFill>
                  <a:blip r:embed="rId5"/>
                  <a:stretch>
                    <a:fillRect l="-14583" r="-6250" b="-40909"/>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5" name="CuadroTexto 64">
                  <a:extLst>
                    <a:ext uri="{FF2B5EF4-FFF2-40B4-BE49-F238E27FC236}">
                      <a16:creationId xmlns:a16="http://schemas.microsoft.com/office/drawing/2014/main" id="{64CD3A81-9ECD-4EBD-AF2D-380020380477}"/>
                    </a:ext>
                  </a:extLst>
                </p:cNvPr>
                <p:cNvSpPr txBox="1"/>
                <p:nvPr/>
              </p:nvSpPr>
              <p:spPr>
                <a:xfrm>
                  <a:off x="11632388" y="3150722"/>
                  <a:ext cx="223971" cy="1497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𝑔𝑑𝑙</m:t>
                            </m:r>
                          </m:sub>
                        </m:sSub>
                      </m:oMath>
                    </m:oMathPara>
                  </a14:m>
                  <a:endParaRPr lang="es-CO" sz="900" dirty="0"/>
                </a:p>
              </p:txBody>
            </p:sp>
          </mc:Choice>
          <mc:Fallback>
            <p:sp>
              <p:nvSpPr>
                <p:cNvPr id="65" name="CuadroTexto 64">
                  <a:extLst>
                    <a:ext uri="{FF2B5EF4-FFF2-40B4-BE49-F238E27FC236}">
                      <a16:creationId xmlns:a16="http://schemas.microsoft.com/office/drawing/2014/main" id="{64CD3A81-9ECD-4EBD-AF2D-380020380477}"/>
                    </a:ext>
                  </a:extLst>
                </p:cNvPr>
                <p:cNvSpPr txBox="1">
                  <a:spLocks noRot="1" noChangeAspect="1" noMove="1" noResize="1" noEditPoints="1" noAdjustHandles="1" noChangeArrowheads="1" noChangeShapeType="1" noTextEdit="1"/>
                </p:cNvSpPr>
                <p:nvPr/>
              </p:nvSpPr>
              <p:spPr>
                <a:xfrm>
                  <a:off x="11632388" y="3150722"/>
                  <a:ext cx="223971" cy="149721"/>
                </a:xfrm>
                <a:prstGeom prst="rect">
                  <a:avLst/>
                </a:prstGeom>
                <a:blipFill>
                  <a:blip r:embed="rId6"/>
                  <a:stretch>
                    <a:fillRect l="-8108" r="-8108" b="-2916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6" name="CuadroTexto 65">
                  <a:extLst>
                    <a:ext uri="{FF2B5EF4-FFF2-40B4-BE49-F238E27FC236}">
                      <a16:creationId xmlns:a16="http://schemas.microsoft.com/office/drawing/2014/main" id="{76A9B451-F317-484B-BA14-5B4AFB975E40}"/>
                    </a:ext>
                  </a:extLst>
                </p:cNvPr>
                <p:cNvSpPr txBox="1"/>
                <p:nvPr/>
              </p:nvSpPr>
              <p:spPr>
                <a:xfrm>
                  <a:off x="11632388" y="2476412"/>
                  <a:ext cx="209480"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𝑚𝑐</m:t>
                            </m:r>
                          </m:sub>
                        </m:sSub>
                      </m:oMath>
                    </m:oMathPara>
                  </a14:m>
                  <a:endParaRPr lang="es-CO" sz="900" dirty="0"/>
                </a:p>
              </p:txBody>
            </p:sp>
          </mc:Choice>
          <mc:Fallback>
            <p:sp>
              <p:nvSpPr>
                <p:cNvPr id="66" name="CuadroTexto 65">
                  <a:extLst>
                    <a:ext uri="{FF2B5EF4-FFF2-40B4-BE49-F238E27FC236}">
                      <a16:creationId xmlns:a16="http://schemas.microsoft.com/office/drawing/2014/main" id="{76A9B451-F317-484B-BA14-5B4AFB975E40}"/>
                    </a:ext>
                  </a:extLst>
                </p:cNvPr>
                <p:cNvSpPr txBox="1">
                  <a:spLocks noRot="1" noChangeAspect="1" noMove="1" noResize="1" noEditPoints="1" noAdjustHandles="1" noChangeArrowheads="1" noChangeShapeType="1" noTextEdit="1"/>
                </p:cNvSpPr>
                <p:nvPr/>
              </p:nvSpPr>
              <p:spPr>
                <a:xfrm>
                  <a:off x="11632388" y="2476412"/>
                  <a:ext cx="209480" cy="138499"/>
                </a:xfrm>
                <a:prstGeom prst="rect">
                  <a:avLst/>
                </a:prstGeom>
                <a:blipFill>
                  <a:blip r:embed="rId7"/>
                  <a:stretch>
                    <a:fillRect l="-8824" r="-2941" b="-130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7" name="CuadroTexto 66">
                  <a:extLst>
                    <a:ext uri="{FF2B5EF4-FFF2-40B4-BE49-F238E27FC236}">
                      <a16:creationId xmlns:a16="http://schemas.microsoft.com/office/drawing/2014/main" id="{C0E0F14F-FE71-472A-A1FE-F777F90E765D}"/>
                    </a:ext>
                  </a:extLst>
                </p:cNvPr>
                <p:cNvSpPr txBox="1"/>
                <p:nvPr/>
              </p:nvSpPr>
              <p:spPr>
                <a:xfrm>
                  <a:off x="11632388" y="3483782"/>
                  <a:ext cx="130933"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𝜖</m:t>
                            </m:r>
                          </m:e>
                          <m:sub>
                            <m:r>
                              <a:rPr lang="es-ES" sz="900" b="0" i="1" smtClean="0">
                                <a:latin typeface="Cambria Math" panose="02040503050406030204" pitchFamily="18" charset="0"/>
                              </a:rPr>
                              <m:t>𝑐</m:t>
                            </m:r>
                          </m:sub>
                        </m:sSub>
                      </m:oMath>
                    </m:oMathPara>
                  </a14:m>
                  <a:endParaRPr lang="es-CO" sz="900" dirty="0"/>
                </a:p>
              </p:txBody>
            </p:sp>
          </mc:Choice>
          <mc:Fallback>
            <p:sp>
              <p:nvSpPr>
                <p:cNvPr id="67" name="CuadroTexto 66">
                  <a:extLst>
                    <a:ext uri="{FF2B5EF4-FFF2-40B4-BE49-F238E27FC236}">
                      <a16:creationId xmlns:a16="http://schemas.microsoft.com/office/drawing/2014/main" id="{C0E0F14F-FE71-472A-A1FE-F777F90E765D}"/>
                    </a:ext>
                  </a:extLst>
                </p:cNvPr>
                <p:cNvSpPr txBox="1">
                  <a:spLocks noRot="1" noChangeAspect="1" noMove="1" noResize="1" noEditPoints="1" noAdjustHandles="1" noChangeArrowheads="1" noChangeShapeType="1" noTextEdit="1"/>
                </p:cNvSpPr>
                <p:nvPr/>
              </p:nvSpPr>
              <p:spPr>
                <a:xfrm>
                  <a:off x="11632388" y="3483782"/>
                  <a:ext cx="130933" cy="138499"/>
                </a:xfrm>
                <a:prstGeom prst="rect">
                  <a:avLst/>
                </a:prstGeom>
                <a:blipFill>
                  <a:blip r:embed="rId8"/>
                  <a:stretch>
                    <a:fillRect l="-13636" b="-130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8" name="CuadroTexto 67">
                  <a:extLst>
                    <a:ext uri="{FF2B5EF4-FFF2-40B4-BE49-F238E27FC236}">
                      <a16:creationId xmlns:a16="http://schemas.microsoft.com/office/drawing/2014/main" id="{AD2952EC-CADE-4F6F-9CC4-3528A352EE0A}"/>
                    </a:ext>
                  </a:extLst>
                </p:cNvPr>
                <p:cNvSpPr txBox="1"/>
                <p:nvPr/>
              </p:nvSpPr>
              <p:spPr>
                <a:xfrm>
                  <a:off x="11632388" y="2165909"/>
                  <a:ext cx="8104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𝜏</m:t>
                        </m:r>
                      </m:oMath>
                    </m:oMathPara>
                  </a14:m>
                  <a:endParaRPr lang="es-CO" sz="900" dirty="0"/>
                </a:p>
              </p:txBody>
            </p:sp>
          </mc:Choice>
          <mc:Fallback>
            <p:sp>
              <p:nvSpPr>
                <p:cNvPr id="68" name="CuadroTexto 67">
                  <a:extLst>
                    <a:ext uri="{FF2B5EF4-FFF2-40B4-BE49-F238E27FC236}">
                      <a16:creationId xmlns:a16="http://schemas.microsoft.com/office/drawing/2014/main" id="{AD2952EC-CADE-4F6F-9CC4-3528A352EE0A}"/>
                    </a:ext>
                  </a:extLst>
                </p:cNvPr>
                <p:cNvSpPr txBox="1">
                  <a:spLocks noRot="1" noChangeAspect="1" noMove="1" noResize="1" noEditPoints="1" noAdjustHandles="1" noChangeArrowheads="1" noChangeShapeType="1" noTextEdit="1"/>
                </p:cNvSpPr>
                <p:nvPr/>
              </p:nvSpPr>
              <p:spPr>
                <a:xfrm>
                  <a:off x="11632388" y="2165909"/>
                  <a:ext cx="81048" cy="138499"/>
                </a:xfrm>
                <a:prstGeom prst="rect">
                  <a:avLst/>
                </a:prstGeom>
                <a:blipFill>
                  <a:blip r:embed="rId9"/>
                  <a:stretch>
                    <a:fillRect l="-23077" r="-23077"/>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69" name="CuadroTexto 68">
                  <a:extLst>
                    <a:ext uri="{FF2B5EF4-FFF2-40B4-BE49-F238E27FC236}">
                      <a16:creationId xmlns:a16="http://schemas.microsoft.com/office/drawing/2014/main" id="{FDD430FD-FAD3-4D96-AC7B-40B98DC8D104}"/>
                    </a:ext>
                  </a:extLst>
                </p:cNvPr>
                <p:cNvSpPr txBox="1"/>
                <p:nvPr/>
              </p:nvSpPr>
              <p:spPr>
                <a:xfrm>
                  <a:off x="11632388" y="1288344"/>
                  <a:ext cx="341568" cy="1495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𝑖</m:t>
                            </m:r>
                            <m:r>
                              <a:rPr lang="es-ES" sz="900" b="0" i="1" smtClean="0">
                                <a:latin typeface="Cambria Math" panose="02040503050406030204" pitchFamily="18" charset="0"/>
                              </a:rPr>
                              <m:t>0</m:t>
                            </m:r>
                          </m:e>
                          <m:sub>
                            <m:r>
                              <a:rPr lang="es-ES" sz="900" b="0" i="1" smtClean="0">
                                <a:latin typeface="Cambria Math" panose="02040503050406030204" pitchFamily="18" charset="0"/>
                              </a:rPr>
                              <m:t>𝑐</m:t>
                            </m:r>
                            <m:r>
                              <a:rPr lang="es-ES" sz="900" b="0" i="1" smtClean="0">
                                <a:latin typeface="Cambria Math" panose="02040503050406030204" pitchFamily="18" charset="0"/>
                              </a:rPr>
                              <m:t> </m:t>
                            </m:r>
                            <m:r>
                              <a:rPr lang="es-ES" sz="900" b="0" i="1" smtClean="0">
                                <a:latin typeface="Cambria Math" panose="02040503050406030204" pitchFamily="18" charset="0"/>
                              </a:rPr>
                              <m:t>𝑟𝑒𝑓</m:t>
                            </m:r>
                          </m:sub>
                        </m:sSub>
                      </m:oMath>
                    </m:oMathPara>
                  </a14:m>
                  <a:endParaRPr lang="es-CO" sz="900" dirty="0"/>
                </a:p>
              </p:txBody>
            </p:sp>
          </mc:Choice>
          <mc:Fallback>
            <p:sp>
              <p:nvSpPr>
                <p:cNvPr id="69" name="CuadroTexto 68">
                  <a:extLst>
                    <a:ext uri="{FF2B5EF4-FFF2-40B4-BE49-F238E27FC236}">
                      <a16:creationId xmlns:a16="http://schemas.microsoft.com/office/drawing/2014/main" id="{FDD430FD-FAD3-4D96-AC7B-40B98DC8D104}"/>
                    </a:ext>
                  </a:extLst>
                </p:cNvPr>
                <p:cNvSpPr txBox="1">
                  <a:spLocks noRot="1" noChangeAspect="1" noMove="1" noResize="1" noEditPoints="1" noAdjustHandles="1" noChangeArrowheads="1" noChangeShapeType="1" noTextEdit="1"/>
                </p:cNvSpPr>
                <p:nvPr/>
              </p:nvSpPr>
              <p:spPr>
                <a:xfrm>
                  <a:off x="11632388" y="1288344"/>
                  <a:ext cx="341568" cy="149528"/>
                </a:xfrm>
                <a:prstGeom prst="rect">
                  <a:avLst/>
                </a:prstGeom>
                <a:blipFill>
                  <a:blip r:embed="rId10"/>
                  <a:stretch>
                    <a:fillRect l="-8929" r="-5357" b="-28000"/>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0" name="CuadroTexto 69">
                  <a:extLst>
                    <a:ext uri="{FF2B5EF4-FFF2-40B4-BE49-F238E27FC236}">
                      <a16:creationId xmlns:a16="http://schemas.microsoft.com/office/drawing/2014/main" id="{2E2185EB-023D-40C4-A168-047D7819C39A}"/>
                    </a:ext>
                  </a:extLst>
                </p:cNvPr>
                <p:cNvSpPr txBox="1"/>
                <p:nvPr/>
              </p:nvSpPr>
              <p:spPr>
                <a:xfrm>
                  <a:off x="11632388" y="2983256"/>
                  <a:ext cx="187808"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𝜅</m:t>
                            </m:r>
                          </m:e>
                          <m:sub>
                            <m:r>
                              <a:rPr lang="es-ES" sz="900" b="0" i="1" smtClean="0">
                                <a:latin typeface="Cambria Math" panose="02040503050406030204" pitchFamily="18" charset="0"/>
                              </a:rPr>
                              <m:t>𝑐𝑜</m:t>
                            </m:r>
                          </m:sub>
                        </m:sSub>
                      </m:oMath>
                    </m:oMathPara>
                  </a14:m>
                  <a:endParaRPr lang="es-CO" sz="900" dirty="0"/>
                </a:p>
              </p:txBody>
            </p:sp>
          </mc:Choice>
          <mc:Fallback>
            <p:sp>
              <p:nvSpPr>
                <p:cNvPr id="70" name="CuadroTexto 69">
                  <a:extLst>
                    <a:ext uri="{FF2B5EF4-FFF2-40B4-BE49-F238E27FC236}">
                      <a16:creationId xmlns:a16="http://schemas.microsoft.com/office/drawing/2014/main" id="{2E2185EB-023D-40C4-A168-047D7819C39A}"/>
                    </a:ext>
                  </a:extLst>
                </p:cNvPr>
                <p:cNvSpPr txBox="1">
                  <a:spLocks noRot="1" noChangeAspect="1" noMove="1" noResize="1" noEditPoints="1" noAdjustHandles="1" noChangeArrowheads="1" noChangeShapeType="1" noTextEdit="1"/>
                </p:cNvSpPr>
                <p:nvPr/>
              </p:nvSpPr>
              <p:spPr>
                <a:xfrm>
                  <a:off x="11632388" y="2983256"/>
                  <a:ext cx="187808" cy="138499"/>
                </a:xfrm>
                <a:prstGeom prst="rect">
                  <a:avLst/>
                </a:prstGeom>
                <a:blipFill>
                  <a:blip r:embed="rId11"/>
                  <a:stretch>
                    <a:fillRect l="-9677" b="-1304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1" name="CuadroTexto 70">
                  <a:extLst>
                    <a:ext uri="{FF2B5EF4-FFF2-40B4-BE49-F238E27FC236}">
                      <a16:creationId xmlns:a16="http://schemas.microsoft.com/office/drawing/2014/main" id="{EDC03CC7-FD8A-4F95-884D-48FFC30DCCC0}"/>
                    </a:ext>
                  </a:extLst>
                </p:cNvPr>
                <p:cNvSpPr txBox="1"/>
                <p:nvPr/>
              </p:nvSpPr>
              <p:spPr>
                <a:xfrm>
                  <a:off x="11632388" y="2314742"/>
                  <a:ext cx="138949"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CO" sz="900" i="1" smtClean="0">
                                <a:latin typeface="Cambria Math" panose="02040503050406030204" pitchFamily="18" charset="0"/>
                              </a:rPr>
                            </m:ctrlPr>
                          </m:sSubPr>
                          <m:e>
                            <m:r>
                              <a:rPr lang="es-ES" sz="900" b="0" i="1" smtClean="0">
                                <a:latin typeface="Cambria Math" panose="02040503050406030204" pitchFamily="18" charset="0"/>
                              </a:rPr>
                              <m:t>𝜅</m:t>
                            </m:r>
                          </m:e>
                          <m:sub>
                            <m:r>
                              <a:rPr lang="es-ES" sz="900" b="0" i="1" smtClean="0">
                                <a:latin typeface="Cambria Math" panose="02040503050406030204" pitchFamily="18" charset="0"/>
                              </a:rPr>
                              <m:t>𝑐</m:t>
                            </m:r>
                          </m:sub>
                        </m:sSub>
                      </m:oMath>
                    </m:oMathPara>
                  </a14:m>
                  <a:endParaRPr lang="es-CO" sz="900" dirty="0"/>
                </a:p>
              </p:txBody>
            </p:sp>
          </mc:Choice>
          <mc:Fallback>
            <p:sp>
              <p:nvSpPr>
                <p:cNvPr id="71" name="CuadroTexto 70">
                  <a:extLst>
                    <a:ext uri="{FF2B5EF4-FFF2-40B4-BE49-F238E27FC236}">
                      <a16:creationId xmlns:a16="http://schemas.microsoft.com/office/drawing/2014/main" id="{EDC03CC7-FD8A-4F95-884D-48FFC30DCCC0}"/>
                    </a:ext>
                  </a:extLst>
                </p:cNvPr>
                <p:cNvSpPr txBox="1">
                  <a:spLocks noRot="1" noChangeAspect="1" noMove="1" noResize="1" noEditPoints="1" noAdjustHandles="1" noChangeArrowheads="1" noChangeShapeType="1" noTextEdit="1"/>
                </p:cNvSpPr>
                <p:nvPr/>
              </p:nvSpPr>
              <p:spPr>
                <a:xfrm>
                  <a:off x="11632388" y="2314742"/>
                  <a:ext cx="138949" cy="138499"/>
                </a:xfrm>
                <a:prstGeom prst="rect">
                  <a:avLst/>
                </a:prstGeom>
                <a:blipFill>
                  <a:blip r:embed="rId12"/>
                  <a:stretch>
                    <a:fillRect l="-13043" b="-18182"/>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2" name="CuadroTexto 71">
                  <a:extLst>
                    <a:ext uri="{FF2B5EF4-FFF2-40B4-BE49-F238E27FC236}">
                      <a16:creationId xmlns:a16="http://schemas.microsoft.com/office/drawing/2014/main" id="{A4E1F230-5736-42F9-A501-99EC2CB00ABB}"/>
                    </a:ext>
                  </a:extLst>
                </p:cNvPr>
                <p:cNvSpPr txBox="1"/>
                <p:nvPr/>
              </p:nvSpPr>
              <p:spPr>
                <a:xfrm>
                  <a:off x="11632388" y="1823767"/>
                  <a:ext cx="215252"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𝑇𝑓𝑐</m:t>
                        </m:r>
                      </m:oMath>
                    </m:oMathPara>
                  </a14:m>
                  <a:endParaRPr lang="es-CO" sz="900" dirty="0"/>
                </a:p>
              </p:txBody>
            </p:sp>
          </mc:Choice>
          <mc:Fallback>
            <p:sp>
              <p:nvSpPr>
                <p:cNvPr id="72" name="CuadroTexto 71">
                  <a:extLst>
                    <a:ext uri="{FF2B5EF4-FFF2-40B4-BE49-F238E27FC236}">
                      <a16:creationId xmlns:a16="http://schemas.microsoft.com/office/drawing/2014/main" id="{A4E1F230-5736-42F9-A501-99EC2CB00ABB}"/>
                    </a:ext>
                  </a:extLst>
                </p:cNvPr>
                <p:cNvSpPr txBox="1">
                  <a:spLocks noRot="1" noChangeAspect="1" noMove="1" noResize="1" noEditPoints="1" noAdjustHandles="1" noChangeArrowheads="1" noChangeShapeType="1" noTextEdit="1"/>
                </p:cNvSpPr>
                <p:nvPr/>
              </p:nvSpPr>
              <p:spPr>
                <a:xfrm>
                  <a:off x="11632388" y="1823767"/>
                  <a:ext cx="215252" cy="138499"/>
                </a:xfrm>
                <a:prstGeom prst="rect">
                  <a:avLst/>
                </a:prstGeom>
                <a:blipFill>
                  <a:blip r:embed="rId13"/>
                  <a:stretch>
                    <a:fillRect l="-20000" r="-17143" b="-347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3" name="CuadroTexto 72">
                  <a:extLst>
                    <a:ext uri="{FF2B5EF4-FFF2-40B4-BE49-F238E27FC236}">
                      <a16:creationId xmlns:a16="http://schemas.microsoft.com/office/drawing/2014/main" id="{232881F5-4525-42C8-BCFD-B9A0398006CA}"/>
                    </a:ext>
                  </a:extLst>
                </p:cNvPr>
                <p:cNvSpPr txBox="1"/>
                <p:nvPr/>
              </p:nvSpPr>
              <p:spPr>
                <a:xfrm>
                  <a:off x="11632388" y="2848402"/>
                  <a:ext cx="143116"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𝑆𝑐</m:t>
                        </m:r>
                      </m:oMath>
                    </m:oMathPara>
                  </a14:m>
                  <a:endParaRPr lang="es-CO" sz="900" dirty="0"/>
                </a:p>
              </p:txBody>
            </p:sp>
          </mc:Choice>
          <mc:Fallback>
            <p:sp>
              <p:nvSpPr>
                <p:cNvPr id="73" name="CuadroTexto 72">
                  <a:extLst>
                    <a:ext uri="{FF2B5EF4-FFF2-40B4-BE49-F238E27FC236}">
                      <a16:creationId xmlns:a16="http://schemas.microsoft.com/office/drawing/2014/main" id="{232881F5-4525-42C8-BCFD-B9A0398006CA}"/>
                    </a:ext>
                  </a:extLst>
                </p:cNvPr>
                <p:cNvSpPr txBox="1">
                  <a:spLocks noRot="1" noChangeAspect="1" noMove="1" noResize="1" noEditPoints="1" noAdjustHandles="1" noChangeArrowheads="1" noChangeShapeType="1" noTextEdit="1"/>
                </p:cNvSpPr>
                <p:nvPr/>
              </p:nvSpPr>
              <p:spPr>
                <a:xfrm>
                  <a:off x="11632388" y="2848402"/>
                  <a:ext cx="143116" cy="138499"/>
                </a:xfrm>
                <a:prstGeom prst="rect">
                  <a:avLst/>
                </a:prstGeom>
                <a:blipFill>
                  <a:blip r:embed="rId14"/>
                  <a:stretch>
                    <a:fillRect l="-20833" r="-16667" b="-869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4" name="CuadroTexto 73">
                  <a:extLst>
                    <a:ext uri="{FF2B5EF4-FFF2-40B4-BE49-F238E27FC236}">
                      <a16:creationId xmlns:a16="http://schemas.microsoft.com/office/drawing/2014/main" id="{346F945E-10A2-4DD2-A551-B041351A47EC}"/>
                    </a:ext>
                  </a:extLst>
                </p:cNvPr>
                <p:cNvSpPr txBox="1"/>
                <p:nvPr/>
              </p:nvSpPr>
              <p:spPr>
                <a:xfrm>
                  <a:off x="11632388" y="1465495"/>
                  <a:ext cx="18319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𝑖𝑓𝑐</m:t>
                        </m:r>
                      </m:oMath>
                    </m:oMathPara>
                  </a14:m>
                  <a:endParaRPr lang="es-CO" sz="900" dirty="0"/>
                </a:p>
              </p:txBody>
            </p:sp>
          </mc:Choice>
          <mc:Fallback>
            <p:sp>
              <p:nvSpPr>
                <p:cNvPr id="74" name="CuadroTexto 73">
                  <a:extLst>
                    <a:ext uri="{FF2B5EF4-FFF2-40B4-BE49-F238E27FC236}">
                      <a16:creationId xmlns:a16="http://schemas.microsoft.com/office/drawing/2014/main" id="{346F945E-10A2-4DD2-A551-B041351A47EC}"/>
                    </a:ext>
                  </a:extLst>
                </p:cNvPr>
                <p:cNvSpPr txBox="1">
                  <a:spLocks noRot="1" noChangeAspect="1" noMove="1" noResize="1" noEditPoints="1" noAdjustHandles="1" noChangeArrowheads="1" noChangeShapeType="1" noTextEdit="1"/>
                </p:cNvSpPr>
                <p:nvPr/>
              </p:nvSpPr>
              <p:spPr>
                <a:xfrm>
                  <a:off x="11632388" y="1465495"/>
                  <a:ext cx="183191" cy="138499"/>
                </a:xfrm>
                <a:prstGeom prst="rect">
                  <a:avLst/>
                </a:prstGeom>
                <a:blipFill>
                  <a:blip r:embed="rId15"/>
                  <a:stretch>
                    <a:fillRect l="-23333" r="-20000" b="-34783"/>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5" name="CuadroTexto 74">
                  <a:extLst>
                    <a:ext uri="{FF2B5EF4-FFF2-40B4-BE49-F238E27FC236}">
                      <a16:creationId xmlns:a16="http://schemas.microsoft.com/office/drawing/2014/main" id="{67CF0A76-9260-48E6-A13E-9CA5AF30F0DA}"/>
                    </a:ext>
                  </a:extLst>
                </p:cNvPr>
                <p:cNvSpPr txBox="1"/>
                <p:nvPr/>
              </p:nvSpPr>
              <p:spPr>
                <a:xfrm>
                  <a:off x="11632388" y="3335764"/>
                  <a:ext cx="85921"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𝑒</m:t>
                        </m:r>
                      </m:oMath>
                    </m:oMathPara>
                  </a14:m>
                  <a:endParaRPr lang="es-CO" sz="900" dirty="0"/>
                </a:p>
              </p:txBody>
            </p:sp>
          </mc:Choice>
          <mc:Fallback>
            <p:sp>
              <p:nvSpPr>
                <p:cNvPr id="75" name="CuadroTexto 74">
                  <a:extLst>
                    <a:ext uri="{FF2B5EF4-FFF2-40B4-BE49-F238E27FC236}">
                      <a16:creationId xmlns:a16="http://schemas.microsoft.com/office/drawing/2014/main" id="{67CF0A76-9260-48E6-A13E-9CA5AF30F0DA}"/>
                    </a:ext>
                  </a:extLst>
                </p:cNvPr>
                <p:cNvSpPr txBox="1">
                  <a:spLocks noRot="1" noChangeAspect="1" noMove="1" noResize="1" noEditPoints="1" noAdjustHandles="1" noChangeArrowheads="1" noChangeShapeType="1" noTextEdit="1"/>
                </p:cNvSpPr>
                <p:nvPr/>
              </p:nvSpPr>
              <p:spPr>
                <a:xfrm>
                  <a:off x="11632388" y="3335764"/>
                  <a:ext cx="85921" cy="138499"/>
                </a:xfrm>
                <a:prstGeom prst="rect">
                  <a:avLst/>
                </a:prstGeom>
                <a:blipFill>
                  <a:blip r:embed="rId16"/>
                  <a:stretch>
                    <a:fillRect l="-21429" r="-14286"/>
                  </a:stretch>
                </a:blipFill>
              </p:spPr>
              <p:txBody>
                <a:bodyPr/>
                <a:lstStyle/>
                <a:p>
                  <a:r>
                    <a:rPr lang="es-CO">
                      <a:noFill/>
                    </a:rPr>
                    <a:t> </a:t>
                  </a:r>
                </a:p>
              </p:txBody>
            </p:sp>
          </mc:Fallback>
        </mc:AlternateContent>
        <mc:AlternateContent xmlns:mc="http://schemas.openxmlformats.org/markup-compatibility/2006">
          <mc:Choice xmlns:a14="http://schemas.microsoft.com/office/drawing/2010/main" Requires="a14">
            <p:sp>
              <p:nvSpPr>
                <p:cNvPr id="76" name="CuadroTexto 75">
                  <a:extLst>
                    <a:ext uri="{FF2B5EF4-FFF2-40B4-BE49-F238E27FC236}">
                      <a16:creationId xmlns:a16="http://schemas.microsoft.com/office/drawing/2014/main" id="{8B1428FA-134B-476D-8F3C-678BE5C0E1E4}"/>
                    </a:ext>
                  </a:extLst>
                </p:cNvPr>
                <p:cNvSpPr txBox="1"/>
                <p:nvPr/>
              </p:nvSpPr>
              <p:spPr>
                <a:xfrm>
                  <a:off x="11632388" y="2006746"/>
                  <a:ext cx="159659" cy="138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900" b="0" i="1" smtClean="0">
                            <a:latin typeface="Cambria Math" panose="02040503050406030204" pitchFamily="18" charset="0"/>
                          </a:rPr>
                          <m:t>𝑅𝑒</m:t>
                        </m:r>
                      </m:oMath>
                    </m:oMathPara>
                  </a14:m>
                  <a:endParaRPr lang="es-CO" sz="900" dirty="0"/>
                </a:p>
              </p:txBody>
            </p:sp>
          </mc:Choice>
          <mc:Fallback>
            <p:sp>
              <p:nvSpPr>
                <p:cNvPr id="76" name="CuadroTexto 75">
                  <a:extLst>
                    <a:ext uri="{FF2B5EF4-FFF2-40B4-BE49-F238E27FC236}">
                      <a16:creationId xmlns:a16="http://schemas.microsoft.com/office/drawing/2014/main" id="{8B1428FA-134B-476D-8F3C-678BE5C0E1E4}"/>
                    </a:ext>
                  </a:extLst>
                </p:cNvPr>
                <p:cNvSpPr txBox="1">
                  <a:spLocks noRot="1" noChangeAspect="1" noMove="1" noResize="1" noEditPoints="1" noAdjustHandles="1" noChangeArrowheads="1" noChangeShapeType="1" noTextEdit="1"/>
                </p:cNvSpPr>
                <p:nvPr/>
              </p:nvSpPr>
              <p:spPr>
                <a:xfrm>
                  <a:off x="11632388" y="2006746"/>
                  <a:ext cx="159659" cy="138499"/>
                </a:xfrm>
                <a:prstGeom prst="rect">
                  <a:avLst/>
                </a:prstGeom>
                <a:blipFill>
                  <a:blip r:embed="rId17"/>
                  <a:stretch>
                    <a:fillRect l="-19231" r="-15385" b="-8696"/>
                  </a:stretch>
                </a:blipFill>
              </p:spPr>
              <p:txBody>
                <a:bodyPr/>
                <a:lstStyle/>
                <a:p>
                  <a:r>
                    <a:rPr lang="es-CO">
                      <a:noFill/>
                    </a:rPr>
                    <a:t> </a:t>
                  </a:r>
                </a:p>
              </p:txBody>
            </p:sp>
          </mc:Fallback>
        </mc:AlternateContent>
      </p:grpSp>
      <p:sp>
        <p:nvSpPr>
          <p:cNvPr id="29" name="CuadroTexto 28">
            <a:extLst>
              <a:ext uri="{FF2B5EF4-FFF2-40B4-BE49-F238E27FC236}">
                <a16:creationId xmlns:a16="http://schemas.microsoft.com/office/drawing/2014/main" id="{7CE4640A-1ED6-4C0F-8710-167B4A86E956}"/>
              </a:ext>
            </a:extLst>
          </p:cNvPr>
          <p:cNvSpPr txBox="1"/>
          <p:nvPr/>
        </p:nvSpPr>
        <p:spPr>
          <a:xfrm>
            <a:off x="4050510" y="5884952"/>
            <a:ext cx="6431636" cy="646331"/>
          </a:xfrm>
          <a:prstGeom prst="rect">
            <a:avLst/>
          </a:prstGeom>
          <a:noFill/>
        </p:spPr>
        <p:txBody>
          <a:bodyPr wrap="square">
            <a:spAutoFit/>
          </a:bodyPr>
          <a:lstStyle/>
          <a:p>
            <a:r>
              <a:rPr lang="en" sz="1200" b="1" dirty="0"/>
              <a:t>Figure XX:  </a:t>
            </a:r>
            <a:r>
              <a:rPr lang="es-CO" sz="1200" dirty="0" err="1"/>
              <a:t>Convergence</a:t>
            </a:r>
            <a:r>
              <a:rPr lang="es-CO" sz="1200" dirty="0"/>
              <a:t> </a:t>
            </a:r>
            <a:r>
              <a:rPr lang="es-CO" sz="1200" dirty="0" err="1"/>
              <a:t>of</a:t>
            </a:r>
            <a:r>
              <a:rPr lang="es-CO" sz="1200" dirty="0"/>
              <a:t> total-</a:t>
            </a:r>
            <a:r>
              <a:rPr lang="es-CO" sz="1200" dirty="0" err="1"/>
              <a:t>order</a:t>
            </a:r>
            <a:r>
              <a:rPr lang="es-CO" sz="1200" dirty="0"/>
              <a:t> (ST) </a:t>
            </a:r>
            <a:r>
              <a:rPr lang="es-CO" sz="1200" dirty="0" err="1"/>
              <a:t>Sobol</a:t>
            </a:r>
            <a:r>
              <a:rPr lang="es-CO" sz="1200" dirty="0"/>
              <a:t> </a:t>
            </a:r>
            <a:r>
              <a:rPr lang="es-CO" sz="1200" dirty="0" err="1"/>
              <a:t>indices</a:t>
            </a:r>
            <a:r>
              <a:rPr lang="es-CO" sz="1200" dirty="0"/>
              <a:t> </a:t>
            </a:r>
            <a:r>
              <a:rPr lang="es-CO" sz="1200" dirty="0" err="1"/>
              <a:t>for</a:t>
            </a:r>
            <a:r>
              <a:rPr lang="es-CO" sz="1200" dirty="0"/>
              <a:t> </a:t>
            </a:r>
            <a:r>
              <a:rPr lang="es-CO" sz="1200" dirty="0" err="1"/>
              <a:t>features</a:t>
            </a:r>
            <a:r>
              <a:rPr lang="es-CO" sz="1200" dirty="0"/>
              <a:t> in </a:t>
            </a:r>
            <a:r>
              <a:rPr lang="es-CO" sz="1200" dirty="0" err="1"/>
              <a:t>the</a:t>
            </a:r>
            <a:r>
              <a:rPr lang="es-CO" sz="1200" dirty="0"/>
              <a:t> </a:t>
            </a:r>
            <a:r>
              <a:rPr lang="es-CO" sz="1200" dirty="0" err="1"/>
              <a:t>Mass</a:t>
            </a:r>
            <a:r>
              <a:rPr lang="es-CO" sz="1200" dirty="0"/>
              <a:t> </a:t>
            </a:r>
            <a:r>
              <a:rPr lang="es-CO" sz="1200" dirty="0" err="1"/>
              <a:t>transport</a:t>
            </a:r>
            <a:r>
              <a:rPr lang="es-CO" sz="1200" dirty="0"/>
              <a:t> </a:t>
            </a:r>
            <a:r>
              <a:rPr lang="es-CO" sz="1200" dirty="0" err="1"/>
              <a:t>region</a:t>
            </a:r>
            <a:r>
              <a:rPr lang="es-CO" sz="1200" dirty="0"/>
              <a:t> </a:t>
            </a:r>
            <a:r>
              <a:rPr lang="es-CO" sz="1200" dirty="0" err="1"/>
              <a:t>across</a:t>
            </a:r>
            <a:r>
              <a:rPr lang="es-CO" sz="1200" dirty="0"/>
              <a:t> </a:t>
            </a:r>
            <a:r>
              <a:rPr lang="es-CO" sz="1200" dirty="0" err="1"/>
              <a:t>increasing</a:t>
            </a:r>
            <a:r>
              <a:rPr lang="es-CO" sz="1200" dirty="0"/>
              <a:t> </a:t>
            </a:r>
            <a:r>
              <a:rPr lang="es-CO" sz="1200" dirty="0" err="1"/>
              <a:t>sample</a:t>
            </a:r>
            <a:r>
              <a:rPr lang="es-CO" sz="1200" dirty="0"/>
              <a:t> </a:t>
            </a:r>
            <a:r>
              <a:rPr lang="es-CO" sz="1200" dirty="0" err="1"/>
              <a:t>sizes</a:t>
            </a:r>
            <a:r>
              <a:rPr lang="es-CO" sz="1200" dirty="0"/>
              <a:t>. </a:t>
            </a:r>
            <a:r>
              <a:rPr lang="es-CO" sz="1200" dirty="0" err="1"/>
              <a:t>The</a:t>
            </a:r>
            <a:r>
              <a:rPr lang="es-CO" sz="1200" dirty="0"/>
              <a:t> </a:t>
            </a:r>
            <a:r>
              <a:rPr lang="es-CO" sz="1200" dirty="0" err="1"/>
              <a:t>indices</a:t>
            </a:r>
            <a:r>
              <a:rPr lang="es-CO" sz="1200" dirty="0"/>
              <a:t> </a:t>
            </a:r>
            <a:r>
              <a:rPr lang="es-CO" sz="1200" dirty="0" err="1"/>
              <a:t>stabilize</a:t>
            </a:r>
            <a:r>
              <a:rPr lang="es-CO" sz="1200" dirty="0"/>
              <a:t> as </a:t>
            </a:r>
            <a:r>
              <a:rPr lang="es-CO" sz="1200" dirty="0" err="1"/>
              <a:t>sample</a:t>
            </a:r>
            <a:r>
              <a:rPr lang="es-CO" sz="1200" dirty="0"/>
              <a:t> </a:t>
            </a:r>
            <a:r>
              <a:rPr lang="es-CO" sz="1200" dirty="0" err="1"/>
              <a:t>size</a:t>
            </a:r>
            <a:r>
              <a:rPr lang="es-CO" sz="1200" dirty="0"/>
              <a:t> </a:t>
            </a:r>
            <a:r>
              <a:rPr lang="es-CO" sz="1200" dirty="0" err="1"/>
              <a:t>grows</a:t>
            </a:r>
            <a:r>
              <a:rPr lang="es-CO" sz="1200" dirty="0"/>
              <a:t>, </a:t>
            </a:r>
            <a:r>
              <a:rPr lang="es-CO" sz="1200" dirty="0" err="1"/>
              <a:t>with</a:t>
            </a:r>
            <a:r>
              <a:rPr lang="es-CO" sz="1200" dirty="0"/>
              <a:t> i0'_c </a:t>
            </a:r>
            <a:r>
              <a:rPr lang="es-CO" sz="1200" dirty="0" err="1"/>
              <a:t>ref</a:t>
            </a:r>
            <a:r>
              <a:rPr lang="es-CO" sz="1200" dirty="0"/>
              <a:t>, </a:t>
            </a:r>
            <a:r>
              <a:rPr lang="es-CO" sz="1200" dirty="0" err="1"/>
              <a:t>Pa_des</a:t>
            </a:r>
            <a:r>
              <a:rPr lang="es-CO" sz="1200" dirty="0"/>
              <a:t>, and </a:t>
            </a:r>
            <a:r>
              <a:rPr lang="es-CO" sz="1200" dirty="0" err="1"/>
              <a:t>ifc</a:t>
            </a:r>
            <a:r>
              <a:rPr lang="es-CO" sz="1200" dirty="0"/>
              <a:t> </a:t>
            </a:r>
            <a:r>
              <a:rPr lang="es-CO" sz="1200" dirty="0" err="1"/>
              <a:t>showing</a:t>
            </a:r>
            <a:r>
              <a:rPr lang="es-CO" sz="1200" dirty="0"/>
              <a:t> </a:t>
            </a:r>
            <a:r>
              <a:rPr lang="es-CO" sz="1200" dirty="0" err="1"/>
              <a:t>the</a:t>
            </a:r>
            <a:r>
              <a:rPr lang="es-CO" sz="1200" dirty="0"/>
              <a:t> </a:t>
            </a:r>
            <a:r>
              <a:rPr lang="es-CO" sz="1200" dirty="0" err="1"/>
              <a:t>highest</a:t>
            </a:r>
            <a:r>
              <a:rPr lang="es-CO" sz="1200" dirty="0"/>
              <a:t> total </a:t>
            </a:r>
            <a:r>
              <a:rPr lang="es-CO" sz="1200" dirty="0" err="1"/>
              <a:t>contributions</a:t>
            </a:r>
            <a:r>
              <a:rPr lang="es-CO" sz="1200" dirty="0"/>
              <a:t> </a:t>
            </a:r>
            <a:r>
              <a:rPr lang="es-CO" sz="1200" dirty="0" err="1"/>
              <a:t>to</a:t>
            </a:r>
            <a:r>
              <a:rPr lang="es-CO" sz="1200" dirty="0"/>
              <a:t> output </a:t>
            </a:r>
            <a:r>
              <a:rPr lang="es-CO" sz="1200" dirty="0" err="1"/>
              <a:t>variance</a:t>
            </a:r>
            <a:r>
              <a:rPr lang="es-CO" sz="1200" dirty="0"/>
              <a:t>.</a:t>
            </a:r>
          </a:p>
        </p:txBody>
      </p:sp>
      <p:sp>
        <p:nvSpPr>
          <p:cNvPr id="32" name="CuadroTexto 31">
            <a:extLst>
              <a:ext uri="{FF2B5EF4-FFF2-40B4-BE49-F238E27FC236}">
                <a16:creationId xmlns:a16="http://schemas.microsoft.com/office/drawing/2014/main" id="{C11204BC-55DF-4625-A02D-8849511FAE93}"/>
              </a:ext>
            </a:extLst>
          </p:cNvPr>
          <p:cNvSpPr txBox="1"/>
          <p:nvPr/>
        </p:nvSpPr>
        <p:spPr>
          <a:xfrm>
            <a:off x="907097" y="3429000"/>
            <a:ext cx="2358291" cy="1384995"/>
          </a:xfrm>
          <a:prstGeom prst="rect">
            <a:avLst/>
          </a:prstGeom>
          <a:noFill/>
        </p:spPr>
        <p:txBody>
          <a:bodyPr wrap="square">
            <a:spAutoFit/>
          </a:bodyPr>
          <a:lstStyle/>
          <a:p>
            <a:r>
              <a:rPr lang="es-CO" sz="1400" dirty="0"/>
              <a:t>N = 8.192</a:t>
            </a:r>
          </a:p>
          <a:p>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245,760 configurations</a:t>
            </a:r>
            <a:endParaRPr lang="es-CO" sz="1400" b="1" dirty="0"/>
          </a:p>
          <a:p>
            <a:r>
              <a:rPr lang="es-CO" sz="1400" dirty="0"/>
              <a:t>Sum S1 = 0.9217</a:t>
            </a:r>
          </a:p>
          <a:p>
            <a:r>
              <a:rPr lang="es-CO" sz="1400" dirty="0"/>
              <a:t>Sum S2 = 0.0510</a:t>
            </a:r>
          </a:p>
          <a:p>
            <a:r>
              <a:rPr lang="es-CO" sz="1400" dirty="0"/>
              <a:t>Sum S1 + S2 = 0.9727</a:t>
            </a:r>
          </a:p>
          <a:p>
            <a:r>
              <a:rPr lang="es-CO" sz="1400" dirty="0"/>
              <a:t>Sum ST = 1.1068</a:t>
            </a:r>
          </a:p>
        </p:txBody>
      </p:sp>
      <p:sp>
        <p:nvSpPr>
          <p:cNvPr id="33" name="Google Shape;453;g36edeb4292e_1_43">
            <a:extLst>
              <a:ext uri="{FF2B5EF4-FFF2-40B4-BE49-F238E27FC236}">
                <a16:creationId xmlns:a16="http://schemas.microsoft.com/office/drawing/2014/main" id="{CC156C94-C0F6-4161-B58B-9B98A4125A96}"/>
              </a:ext>
            </a:extLst>
          </p:cNvPr>
          <p:cNvSpPr/>
          <p:nvPr/>
        </p:nvSpPr>
        <p:spPr>
          <a:xfrm>
            <a:off x="893443" y="2908800"/>
            <a:ext cx="1895293" cy="307777"/>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600" b="1" dirty="0">
                <a:latin typeface="Source Sans Pro" panose="020B0503030403020204" pitchFamily="34" charset="0"/>
                <a:ea typeface="Source Sans Pro" panose="020B0503030403020204" pitchFamily="34" charset="0"/>
                <a:sym typeface="Fira Sans Extra Condensed"/>
              </a:rPr>
              <a:t>Mass Transport</a:t>
            </a:r>
            <a:endParaRPr sz="1600" b="1" dirty="0">
              <a:latin typeface="Source Sans Pro" panose="020B0503030403020204" pitchFamily="34" charset="0"/>
              <a:ea typeface="Source Sans Pro" panose="020B0503030403020204" pitchFamily="34" charset="0"/>
              <a:sym typeface="Arial"/>
            </a:endParaRPr>
          </a:p>
        </p:txBody>
      </p:sp>
    </p:spTree>
    <p:extLst>
      <p:ext uri="{BB962C8B-B14F-4D97-AF65-F5344CB8AC3E}">
        <p14:creationId xmlns:p14="http://schemas.microsoft.com/office/powerpoint/2010/main" val="18008046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41</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A5749B4-D4A2-4CCC-8A2B-3BF8838A9AEA}"/>
              </a:ext>
            </a:extLst>
          </p:cNvPr>
          <p:cNvSpPr txBox="1"/>
          <p:nvPr/>
        </p:nvSpPr>
        <p:spPr>
          <a:xfrm>
            <a:off x="1372686" y="1304533"/>
            <a:ext cx="4154354"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Random</a:t>
            </a:r>
            <a:r>
              <a:rPr lang="en-US" sz="3200" b="1" dirty="0">
                <a:solidFill>
                  <a:prstClr val="black"/>
                </a:solidFill>
                <a:latin typeface="Source Sans Pro" panose="020B0503030403020204" pitchFamily="34" charset="0"/>
                <a:ea typeface="Source Sans Pro" panose="020B0503030403020204" pitchFamily="34" charset="0"/>
              </a:rPr>
              <a:t>Forest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11" name="CuadroTexto 10">
            <a:extLst>
              <a:ext uri="{FF2B5EF4-FFF2-40B4-BE49-F238E27FC236}">
                <a16:creationId xmlns:a16="http://schemas.microsoft.com/office/drawing/2014/main" id="{69625FF0-56C5-42F2-8843-035D7DF99122}"/>
              </a:ext>
            </a:extLst>
          </p:cNvPr>
          <p:cNvSpPr txBox="1"/>
          <p:nvPr/>
        </p:nvSpPr>
        <p:spPr>
          <a:xfrm>
            <a:off x="218223" y="496368"/>
            <a:ext cx="2635045"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VERIFY INFORMATION</a:t>
            </a:r>
            <a:endParaRPr kumimoji="0" lang="es-CO" sz="28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graphicFrame>
        <p:nvGraphicFramePr>
          <p:cNvPr id="15" name="Tabla 14">
            <a:extLst>
              <a:ext uri="{FF2B5EF4-FFF2-40B4-BE49-F238E27FC236}">
                <a16:creationId xmlns:a16="http://schemas.microsoft.com/office/drawing/2014/main" id="{0929C397-858E-40DC-94F9-7B0325A4CE4E}"/>
              </a:ext>
            </a:extLst>
          </p:cNvPr>
          <p:cNvGraphicFramePr>
            <a:graphicFrameLocks noGrp="1"/>
          </p:cNvGraphicFramePr>
          <p:nvPr/>
        </p:nvGraphicFramePr>
        <p:xfrm>
          <a:off x="4771687" y="1307896"/>
          <a:ext cx="5949305" cy="2428582"/>
        </p:xfrm>
        <a:graphic>
          <a:graphicData uri="http://schemas.openxmlformats.org/drawingml/2006/table">
            <a:tbl>
              <a:tblPr/>
              <a:tblGrid>
                <a:gridCol w="1278363">
                  <a:extLst>
                    <a:ext uri="{9D8B030D-6E8A-4147-A177-3AD203B41FA5}">
                      <a16:colId xmlns:a16="http://schemas.microsoft.com/office/drawing/2014/main" val="2083718658"/>
                    </a:ext>
                  </a:extLst>
                </a:gridCol>
                <a:gridCol w="1475034">
                  <a:extLst>
                    <a:ext uri="{9D8B030D-6E8A-4147-A177-3AD203B41FA5}">
                      <a16:colId xmlns:a16="http://schemas.microsoft.com/office/drawing/2014/main" val="467634460"/>
                    </a:ext>
                  </a:extLst>
                </a:gridCol>
                <a:gridCol w="1534036">
                  <a:extLst>
                    <a:ext uri="{9D8B030D-6E8A-4147-A177-3AD203B41FA5}">
                      <a16:colId xmlns:a16="http://schemas.microsoft.com/office/drawing/2014/main" val="2106801228"/>
                    </a:ext>
                  </a:extLst>
                </a:gridCol>
                <a:gridCol w="1661872">
                  <a:extLst>
                    <a:ext uri="{9D8B030D-6E8A-4147-A177-3AD203B41FA5}">
                      <a16:colId xmlns:a16="http://schemas.microsoft.com/office/drawing/2014/main" val="2480728851"/>
                    </a:ext>
                  </a:extLst>
                </a:gridCol>
              </a:tblGrid>
              <a:tr h="671022">
                <a:tc>
                  <a:txBody>
                    <a:bodyPr/>
                    <a:lstStyle/>
                    <a:p>
                      <a:pPr fontAlgn="ctr"/>
                      <a:r>
                        <a:rPr lang="es-CO">
                          <a:effectLst/>
                        </a:rPr>
                        <a:t> </a:t>
                      </a: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Activation</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Ohmic</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Mass transport</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extLst>
                  <a:ext uri="{0D108BD9-81ED-4DB2-BD59-A6C34878D82A}">
                    <a16:rowId xmlns:a16="http://schemas.microsoft.com/office/drawing/2014/main" val="1074575185"/>
                  </a:ext>
                </a:extLst>
              </a:tr>
              <a:tr h="544377">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MAE </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 0.0042 ± 0.0001</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0.0235 ± 0.0003</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0.0275 ± 0.0004</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3030100613"/>
                  </a:ext>
                </a:extLst>
              </a:tr>
              <a:tr h="544377">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RMSE</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0.0001 ± 0.0000</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0.0045 ± 0.0002</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0.0054 ± 0.0003</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864811186"/>
                  </a:ext>
                </a:extLst>
              </a:tr>
              <a:tr h="668806">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R-squared</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0.8437 ± 0.0047</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 0.7946 ± 0.0092</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0.8388 ± 0.0102</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2089462761"/>
                  </a:ext>
                </a:extLst>
              </a:tr>
            </a:tbl>
          </a:graphicData>
        </a:graphic>
      </p:graphicFrame>
      <p:sp>
        <p:nvSpPr>
          <p:cNvPr id="16" name="Rectangle 1">
            <a:extLst>
              <a:ext uri="{FF2B5EF4-FFF2-40B4-BE49-F238E27FC236}">
                <a16:creationId xmlns:a16="http://schemas.microsoft.com/office/drawing/2014/main" id="{C926CF45-A159-41F0-AF20-19F37B90C1B7}"/>
              </a:ext>
            </a:extLst>
          </p:cNvPr>
          <p:cNvSpPr>
            <a:spLocks noChangeArrowheads="1"/>
          </p:cNvSpPr>
          <p:nvPr/>
        </p:nvSpPr>
        <p:spPr bwMode="auto">
          <a:xfrm>
            <a:off x="10819314" y="3380104"/>
            <a:ext cx="104940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s-CO" altLang="es-CO" sz="1200" b="0" i="0" u="none" strike="noStrike" kern="1200" cap="none" spc="0" normalizeH="0" baseline="0" noProof="0" dirty="0" err="1">
                <a:ln>
                  <a:noFill/>
                </a:ln>
                <a:solidFill>
                  <a:srgbClr val="000000"/>
                </a:solidFill>
                <a:effectLst/>
                <a:uLnTx/>
                <a:uFillTx/>
                <a:latin typeface="Roboto" panose="02000000000000000000" pitchFamily="2" charset="0"/>
                <a:ea typeface="+mn-ea"/>
                <a:cs typeface="+mn-cs"/>
              </a:rPr>
              <a:t>Unit</a:t>
            </a: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a:t>
            </a:r>
            <a:endParaRPr kumimoji="0" lang="es-CO" altLang="es-CO" sz="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Watts/cm²</a:t>
            </a:r>
            <a:endParaRPr kumimoji="0" lang="es-CO" altLang="es-CO"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Rectángulo 16">
            <a:extLst>
              <a:ext uri="{FF2B5EF4-FFF2-40B4-BE49-F238E27FC236}">
                <a16:creationId xmlns:a16="http://schemas.microsoft.com/office/drawing/2014/main" id="{9CF9CD44-FC08-4381-8A9B-991E25B023CC}"/>
              </a:ext>
            </a:extLst>
          </p:cNvPr>
          <p:cNvSpPr/>
          <p:nvPr/>
        </p:nvSpPr>
        <p:spPr>
          <a:xfrm>
            <a:off x="4771687" y="4188542"/>
            <a:ext cx="5949305" cy="187796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3600" b="1" i="0" u="none" strike="noStrike" kern="1200" cap="none" spc="0" normalizeH="0" baseline="0" noProof="0" dirty="0">
                <a:ln>
                  <a:noFill/>
                </a:ln>
                <a:solidFill>
                  <a:srgbClr val="FF0000"/>
                </a:solidFill>
                <a:effectLst/>
                <a:uLnTx/>
                <a:uFillTx/>
                <a:latin typeface="Aptos" panose="02110004020202020204"/>
                <a:ea typeface="+mn-ea"/>
                <a:cs typeface="+mn-cs"/>
              </a:rPr>
              <a:t>RESIDUALS PLOT</a:t>
            </a:r>
            <a:endParaRPr kumimoji="0" lang="es-CO" sz="36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3" name="CuadroTexto 12">
            <a:extLst>
              <a:ext uri="{FF2B5EF4-FFF2-40B4-BE49-F238E27FC236}">
                <a16:creationId xmlns:a16="http://schemas.microsoft.com/office/drawing/2014/main" id="{CFE04AE1-D3A7-4788-BA36-9748556F408E}"/>
              </a:ext>
            </a:extLst>
          </p:cNvPr>
          <p:cNvSpPr txBox="1"/>
          <p:nvPr/>
        </p:nvSpPr>
        <p:spPr>
          <a:xfrm>
            <a:off x="1372686" y="2034542"/>
            <a:ext cx="2609379" cy="1661993"/>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Data preparation</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We are fitting the voltage as a function of the 13 features &amp; the current density.</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Only valid polarization curves (~55k configurations)</a:t>
            </a:r>
            <a:endPar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Final dataset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size</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XXXX</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sp>
        <p:nvSpPr>
          <p:cNvPr id="18" name="CuadroTexto 17">
            <a:extLst>
              <a:ext uri="{FF2B5EF4-FFF2-40B4-BE49-F238E27FC236}">
                <a16:creationId xmlns:a16="http://schemas.microsoft.com/office/drawing/2014/main" id="{7B6C0992-A7CB-4F5F-818D-8F6B9D95AF56}"/>
              </a:ext>
            </a:extLst>
          </p:cNvPr>
          <p:cNvSpPr txBox="1"/>
          <p:nvPr/>
        </p:nvSpPr>
        <p:spPr>
          <a:xfrm>
            <a:off x="1372686" y="3841769"/>
            <a:ext cx="2609379" cy="1446550"/>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Train the model</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XGBoost</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with nested CV</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s-CO" sz="1400" b="1"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Inner</a:t>
            </a:r>
            <a:r>
              <a:rPr kumimoji="0" lang="es-CO"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3-fold CV: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for</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tuning</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XGBoost</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hyperparameters</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Outer 5-fold CV: </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to assess generalization performance</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spTree>
    <p:extLst>
      <p:ext uri="{BB962C8B-B14F-4D97-AF65-F5344CB8AC3E}">
        <p14:creationId xmlns:p14="http://schemas.microsoft.com/office/powerpoint/2010/main" val="37705907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4. </a:t>
            </a:r>
            <a:r>
              <a:rPr lang="es-CO" sz="9600" i="1" dirty="0" err="1">
                <a:solidFill>
                  <a:schemeClr val="bg1"/>
                </a:solidFill>
                <a:latin typeface="Source Sans Pro Light" panose="020B0503030403020204" pitchFamily="34" charset="0"/>
                <a:ea typeface="Source Sans Pro Light" panose="020B0503030403020204" pitchFamily="34" charset="0"/>
              </a:rPr>
              <a:t>Surrogate</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model</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456BFBA3-950A-448F-9E53-67794D429BA7}"/>
              </a:ext>
            </a:extLst>
          </p:cNvPr>
          <p:cNvSpPr txBox="1"/>
          <p:nvPr/>
        </p:nvSpPr>
        <p:spPr>
          <a:xfrm>
            <a:off x="4924472" y="1079439"/>
            <a:ext cx="1875162" cy="830997"/>
          </a:xfrm>
          <a:prstGeom prst="rect">
            <a:avLst/>
          </a:prstGeom>
          <a:solidFill>
            <a:schemeClr val="bg1">
              <a:lumMod val="95000"/>
            </a:schemeClr>
          </a:solidFill>
        </p:spPr>
        <p:txBody>
          <a:bodyPr wrap="square" rtlCol="0">
            <a:spAutoFit/>
          </a:bodyPr>
          <a:lstStyle/>
          <a:p>
            <a:pPr algn="ctr"/>
            <a:r>
              <a:rPr lang="es-ES" sz="4800" b="1" dirty="0" err="1">
                <a:solidFill>
                  <a:srgbClr val="FF0000"/>
                </a:solidFill>
              </a:rPr>
              <a:t>Dejvis</a:t>
            </a:r>
            <a:endParaRPr lang="es-CO" sz="4800" b="1" dirty="0">
              <a:solidFill>
                <a:srgbClr val="FF0000"/>
              </a:solidFill>
            </a:endParaRPr>
          </a:p>
        </p:txBody>
      </p:sp>
    </p:spTree>
    <p:extLst>
      <p:ext uri="{BB962C8B-B14F-4D97-AF65-F5344CB8AC3E}">
        <p14:creationId xmlns:p14="http://schemas.microsoft.com/office/powerpoint/2010/main" val="131159683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60AA4-A975-A430-DCCB-F63AC73BE8F2}"/>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C39F4E13-3544-4A6F-5638-A6C4AD85EBD0}"/>
              </a:ext>
            </a:extLst>
          </p:cNvPr>
          <p:cNvSpPr>
            <a:spLocks noGrp="1"/>
          </p:cNvSpPr>
          <p:nvPr>
            <p:ph type="sldNum" sz="quarter" idx="12"/>
          </p:nvPr>
        </p:nvSpPr>
        <p:spPr/>
        <p:txBody>
          <a:bodyPr/>
          <a:lstStyle/>
          <a:p>
            <a:fld id="{B75BC28E-972B-EC47-BE79-29D89D46B9CA}" type="slidenum">
              <a:rPr lang="es-ES_tradnl" b="1" smtClean="0"/>
              <a:t>43</a:t>
            </a:fld>
            <a:endParaRPr lang="es-ES_tradnl" b="1" dirty="0"/>
          </a:p>
        </p:txBody>
      </p:sp>
      <p:sp>
        <p:nvSpPr>
          <p:cNvPr id="3" name="CuadroTexto 2">
            <a:extLst>
              <a:ext uri="{FF2B5EF4-FFF2-40B4-BE49-F238E27FC236}">
                <a16:creationId xmlns:a16="http://schemas.microsoft.com/office/drawing/2014/main" id="{3D2A2317-0828-9EF9-C187-8610091C0A3A}"/>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89AF4E0-236C-0CB8-C878-FA1604E998DD}"/>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7E52D42E-E18E-0E20-9C2C-D2FC6A94C07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8" name="CuadroTexto 25">
            <a:extLst>
              <a:ext uri="{FF2B5EF4-FFF2-40B4-BE49-F238E27FC236}">
                <a16:creationId xmlns:a16="http://schemas.microsoft.com/office/drawing/2014/main" id="{B83A4979-3AD8-0732-09B4-B3961E6DD012}"/>
              </a:ext>
            </a:extLst>
          </p:cNvPr>
          <p:cNvSpPr txBox="1"/>
          <p:nvPr/>
        </p:nvSpPr>
        <p:spPr>
          <a:xfrm>
            <a:off x="1477412" y="979888"/>
            <a:ext cx="4618588" cy="400110"/>
          </a:xfrm>
          <a:prstGeom prst="rect">
            <a:avLst/>
          </a:prstGeom>
          <a:noFill/>
        </p:spPr>
        <p:txBody>
          <a:bodyPr wrap="square">
            <a:spAutoFit/>
          </a:bodyPr>
          <a:lstStyle/>
          <a:p>
            <a:pPr rtl="0" fontAlgn="base">
              <a:spcBef>
                <a:spcPts val="0"/>
              </a:spcBef>
              <a:spcAft>
                <a:spcPts val="0"/>
              </a:spcAft>
            </a:pPr>
            <a:r>
              <a:rPr lang="en-US" sz="2000" b="1" dirty="0" err="1"/>
              <a:t>PySR</a:t>
            </a:r>
            <a:r>
              <a:rPr lang="en-US" sz="2000" b="1" dirty="0"/>
              <a:t>: Symbolic Regression in Python</a:t>
            </a:r>
            <a:endParaRPr lang="en-US" sz="2000" b="1" i="0" u="none" strike="noStrike" dirty="0">
              <a:solidFill>
                <a:srgbClr val="000000"/>
              </a:solidFill>
              <a:effectLst/>
              <a:latin typeface="Roboto" panose="02000000000000000000" pitchFamily="2" charset="0"/>
            </a:endParaRPr>
          </a:p>
        </p:txBody>
      </p:sp>
      <p:sp>
        <p:nvSpPr>
          <p:cNvPr id="10" name="CuadroTexto 25">
            <a:extLst>
              <a:ext uri="{FF2B5EF4-FFF2-40B4-BE49-F238E27FC236}">
                <a16:creationId xmlns:a16="http://schemas.microsoft.com/office/drawing/2014/main" id="{DFC1148E-3029-88F3-4718-639847077B80}"/>
              </a:ext>
            </a:extLst>
          </p:cNvPr>
          <p:cNvSpPr txBox="1"/>
          <p:nvPr/>
        </p:nvSpPr>
        <p:spPr>
          <a:xfrm>
            <a:off x="1477412" y="1962965"/>
            <a:ext cx="4618588" cy="2585323"/>
          </a:xfrm>
          <a:prstGeom prst="rect">
            <a:avLst/>
          </a:prstGeom>
          <a:noFill/>
        </p:spPr>
        <p:txBody>
          <a:bodyPr wrap="square">
            <a:spAutoFit/>
          </a:bodyPr>
          <a:lstStyle/>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Uses evolutionary algorithms to search for mathematical expressions to fit data</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Discovers both the form and the parameters of the model</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i="0" u="none" strike="noStrike" dirty="0">
                <a:solidFill>
                  <a:srgbClr val="000000"/>
                </a:solidFill>
                <a:effectLst/>
                <a:latin typeface="Roboto" panose="02000000000000000000" pitchFamily="2" charset="0"/>
              </a:rPr>
              <a:t>No assum</a:t>
            </a:r>
            <a:r>
              <a:rPr lang="en-US" dirty="0">
                <a:solidFill>
                  <a:srgbClr val="000000"/>
                </a:solidFill>
                <a:latin typeface="Roboto" panose="02000000000000000000" pitchFamily="2" charset="0"/>
              </a:rPr>
              <a:t>ption on functional form</a:t>
            </a:r>
          </a:p>
          <a:p>
            <a:pPr marL="285750" indent="-285750" rtl="0" fontAlgn="base">
              <a:spcBef>
                <a:spcPts val="0"/>
              </a:spcBef>
              <a:spcAft>
                <a:spcPts val="0"/>
              </a:spcAft>
              <a:buFont typeface="Arial" panose="020B0604020202020204" pitchFamily="34" charset="0"/>
              <a:buChar char="•"/>
            </a:pPr>
            <a:endParaRPr lang="en-US" i="0" u="none" strike="noStrike" dirty="0">
              <a:solidFill>
                <a:srgbClr val="000000"/>
              </a:solidFill>
              <a:effectLst/>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Expressions are represented as trees</a:t>
            </a:r>
            <a:endParaRPr lang="en-US" i="0" u="none" strike="noStrike" dirty="0">
              <a:solidFill>
                <a:srgbClr val="000000"/>
              </a:solidFill>
              <a:effectLst/>
              <a:latin typeface="Roboto" panose="02000000000000000000" pitchFamily="2" charset="0"/>
            </a:endParaRPr>
          </a:p>
        </p:txBody>
      </p:sp>
      <p:pic>
        <p:nvPicPr>
          <p:cNvPr id="1026" name="Picture 2">
            <a:extLst>
              <a:ext uri="{FF2B5EF4-FFF2-40B4-BE49-F238E27FC236}">
                <a16:creationId xmlns:a16="http://schemas.microsoft.com/office/drawing/2014/main" id="{113C3726-A40C-535F-3ED4-55EBB038FF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64997" y="1430870"/>
            <a:ext cx="3417148" cy="364951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476939EA-7759-B216-B420-58F729D144E2}"/>
              </a:ext>
            </a:extLst>
          </p:cNvPr>
          <p:cNvSpPr txBox="1"/>
          <p:nvPr/>
        </p:nvSpPr>
        <p:spPr>
          <a:xfrm>
            <a:off x="1289957" y="5868941"/>
            <a:ext cx="9112137" cy="307777"/>
          </a:xfrm>
          <a:prstGeom prst="rect">
            <a:avLst/>
          </a:prstGeom>
          <a:noFill/>
        </p:spPr>
        <p:txBody>
          <a:bodyPr wrap="square">
            <a:spAutoFit/>
          </a:bodyPr>
          <a:lstStyle/>
          <a:p>
            <a:r>
              <a:rPr lang="en-US" sz="1400" dirty="0">
                <a:solidFill>
                  <a:schemeClr val="bg2">
                    <a:lumMod val="75000"/>
                  </a:schemeClr>
                </a:solidFill>
              </a:rPr>
              <a:t>[Source] Interpretable Machine Learning for Science with </a:t>
            </a:r>
            <a:r>
              <a:rPr lang="en-US" sz="1400" dirty="0" err="1">
                <a:solidFill>
                  <a:schemeClr val="bg2">
                    <a:lumMod val="75000"/>
                  </a:schemeClr>
                </a:solidFill>
              </a:rPr>
              <a:t>PySR</a:t>
            </a:r>
            <a:r>
              <a:rPr lang="en-US" sz="1400" dirty="0">
                <a:solidFill>
                  <a:schemeClr val="bg2">
                    <a:lumMod val="75000"/>
                  </a:schemeClr>
                </a:solidFill>
              </a:rPr>
              <a:t> </a:t>
            </a:r>
            <a:r>
              <a:rPr lang="en-US" sz="1200" dirty="0">
                <a:solidFill>
                  <a:schemeClr val="bg2">
                    <a:lumMod val="75000"/>
                  </a:schemeClr>
                </a:solidFill>
              </a:rPr>
              <a:t>and</a:t>
            </a:r>
            <a:r>
              <a:rPr lang="en-US" sz="1400" dirty="0">
                <a:solidFill>
                  <a:schemeClr val="bg2">
                    <a:lumMod val="75000"/>
                  </a:schemeClr>
                </a:solidFill>
              </a:rPr>
              <a:t> </a:t>
            </a:r>
            <a:r>
              <a:rPr lang="en-US" sz="1400" dirty="0" err="1">
                <a:solidFill>
                  <a:schemeClr val="bg2">
                    <a:lumMod val="75000"/>
                  </a:schemeClr>
                </a:solidFill>
              </a:rPr>
              <a:t>SymbolicRegression.jl</a:t>
            </a:r>
            <a:endParaRPr lang="es-ES_tradnl" sz="14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3918782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3872C-659E-F07E-FA26-9CC4A647F49A}"/>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AD70F0D4-DCD1-7B4C-901B-C905A7489308}"/>
              </a:ext>
            </a:extLst>
          </p:cNvPr>
          <p:cNvSpPr>
            <a:spLocks noGrp="1"/>
          </p:cNvSpPr>
          <p:nvPr>
            <p:ph type="sldNum" sz="quarter" idx="12"/>
          </p:nvPr>
        </p:nvSpPr>
        <p:spPr/>
        <p:txBody>
          <a:bodyPr/>
          <a:lstStyle/>
          <a:p>
            <a:fld id="{B75BC28E-972B-EC47-BE79-29D89D46B9CA}" type="slidenum">
              <a:rPr lang="es-ES_tradnl" b="1" smtClean="0"/>
              <a:t>44</a:t>
            </a:fld>
            <a:endParaRPr lang="es-ES_tradnl" b="1" dirty="0"/>
          </a:p>
        </p:txBody>
      </p:sp>
      <p:sp>
        <p:nvSpPr>
          <p:cNvPr id="3" name="CuadroTexto 2">
            <a:extLst>
              <a:ext uri="{FF2B5EF4-FFF2-40B4-BE49-F238E27FC236}">
                <a16:creationId xmlns:a16="http://schemas.microsoft.com/office/drawing/2014/main" id="{568C24E8-F584-636E-0E8A-5D87ED5DB0B4}"/>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7A6AC18C-5608-E641-2339-2D82BDFDC4C2}"/>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0AAD9DF-D8EC-8041-9561-44D98C05A099}"/>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7" name="Picture 6">
            <a:extLst>
              <a:ext uri="{FF2B5EF4-FFF2-40B4-BE49-F238E27FC236}">
                <a16:creationId xmlns:a16="http://schemas.microsoft.com/office/drawing/2014/main" id="{FCB8FF50-C17A-23C8-83C6-CDC320403A8F}"/>
              </a:ext>
            </a:extLst>
          </p:cNvPr>
          <p:cNvPicPr>
            <a:picLocks noChangeAspect="1"/>
          </p:cNvPicPr>
          <p:nvPr/>
        </p:nvPicPr>
        <p:blipFill>
          <a:blip r:embed="rId2"/>
          <a:stretch>
            <a:fillRect/>
          </a:stretch>
        </p:blipFill>
        <p:spPr>
          <a:xfrm>
            <a:off x="1201424" y="2066735"/>
            <a:ext cx="5020376" cy="2724530"/>
          </a:xfrm>
          <a:prstGeom prst="rect">
            <a:avLst/>
          </a:prstGeom>
        </p:spPr>
      </p:pic>
      <p:pic>
        <p:nvPicPr>
          <p:cNvPr id="9" name="Picture 8">
            <a:extLst>
              <a:ext uri="{FF2B5EF4-FFF2-40B4-BE49-F238E27FC236}">
                <a16:creationId xmlns:a16="http://schemas.microsoft.com/office/drawing/2014/main" id="{519D710B-6292-E190-AFA4-B176541917CD}"/>
              </a:ext>
            </a:extLst>
          </p:cNvPr>
          <p:cNvPicPr>
            <a:picLocks noChangeAspect="1"/>
          </p:cNvPicPr>
          <p:nvPr/>
        </p:nvPicPr>
        <p:blipFill>
          <a:blip r:embed="rId3"/>
          <a:stretch>
            <a:fillRect/>
          </a:stretch>
        </p:blipFill>
        <p:spPr>
          <a:xfrm>
            <a:off x="7725033" y="1759027"/>
            <a:ext cx="3333388" cy="3622955"/>
          </a:xfrm>
          <a:prstGeom prst="rect">
            <a:avLst/>
          </a:prstGeom>
        </p:spPr>
      </p:pic>
      <p:sp>
        <p:nvSpPr>
          <p:cNvPr id="11" name="CuadroTexto 25">
            <a:extLst>
              <a:ext uri="{FF2B5EF4-FFF2-40B4-BE49-F238E27FC236}">
                <a16:creationId xmlns:a16="http://schemas.microsoft.com/office/drawing/2014/main" id="{CD77B3C7-7D81-590B-80A3-14DCB6A66E99}"/>
              </a:ext>
            </a:extLst>
          </p:cNvPr>
          <p:cNvSpPr txBox="1"/>
          <p:nvPr/>
        </p:nvSpPr>
        <p:spPr>
          <a:xfrm>
            <a:off x="3090215" y="1177028"/>
            <a:ext cx="1242793" cy="369332"/>
          </a:xfrm>
          <a:prstGeom prst="rect">
            <a:avLst/>
          </a:prstGeom>
          <a:noFill/>
        </p:spPr>
        <p:txBody>
          <a:bodyPr wrap="square">
            <a:spAutoFit/>
          </a:bodyPr>
          <a:lstStyle/>
          <a:p>
            <a:pPr rtl="0" fontAlgn="base">
              <a:spcBef>
                <a:spcPts val="0"/>
              </a:spcBef>
              <a:spcAft>
                <a:spcPts val="0"/>
              </a:spcAft>
            </a:pPr>
            <a:r>
              <a:rPr lang="en-US" b="1" dirty="0"/>
              <a:t>Mutation</a:t>
            </a:r>
            <a:endParaRPr lang="en-US" sz="1400" b="1" i="0" u="none" strike="noStrike" dirty="0">
              <a:solidFill>
                <a:srgbClr val="000000"/>
              </a:solidFill>
              <a:effectLst/>
              <a:latin typeface="Roboto" panose="02000000000000000000" pitchFamily="2" charset="0"/>
            </a:endParaRPr>
          </a:p>
        </p:txBody>
      </p:sp>
      <p:sp>
        <p:nvSpPr>
          <p:cNvPr id="13" name="TextBox 12">
            <a:extLst>
              <a:ext uri="{FF2B5EF4-FFF2-40B4-BE49-F238E27FC236}">
                <a16:creationId xmlns:a16="http://schemas.microsoft.com/office/drawing/2014/main" id="{5343B98C-F1C9-8976-CF39-2BD394CB7AB1}"/>
              </a:ext>
            </a:extLst>
          </p:cNvPr>
          <p:cNvSpPr txBox="1"/>
          <p:nvPr/>
        </p:nvSpPr>
        <p:spPr>
          <a:xfrm>
            <a:off x="8890866" y="1136955"/>
            <a:ext cx="1319934" cy="369332"/>
          </a:xfrm>
          <a:prstGeom prst="rect">
            <a:avLst/>
          </a:prstGeom>
          <a:noFill/>
        </p:spPr>
        <p:txBody>
          <a:bodyPr wrap="square">
            <a:spAutoFit/>
          </a:bodyPr>
          <a:lstStyle/>
          <a:p>
            <a:r>
              <a:rPr lang="en-US" sz="1800" b="1" dirty="0"/>
              <a:t>Crossover</a:t>
            </a:r>
            <a:endParaRPr lang="en-DE" dirty="0"/>
          </a:p>
        </p:txBody>
      </p:sp>
      <p:sp>
        <p:nvSpPr>
          <p:cNvPr id="14" name="CuadroTexto 4">
            <a:extLst>
              <a:ext uri="{FF2B5EF4-FFF2-40B4-BE49-F238E27FC236}">
                <a16:creationId xmlns:a16="http://schemas.microsoft.com/office/drawing/2014/main" id="{C1AD2714-DB70-265D-3AFD-53A2E1221467}"/>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2709455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BB90E-F0E9-4ED4-2D8F-A5EB8AC3952B}"/>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D2F7C19D-F81A-0DBB-36A6-C2ECCF74A5F4}"/>
              </a:ext>
            </a:extLst>
          </p:cNvPr>
          <p:cNvSpPr>
            <a:spLocks noGrp="1"/>
          </p:cNvSpPr>
          <p:nvPr>
            <p:ph type="sldNum" sz="quarter" idx="12"/>
          </p:nvPr>
        </p:nvSpPr>
        <p:spPr/>
        <p:txBody>
          <a:bodyPr/>
          <a:lstStyle/>
          <a:p>
            <a:fld id="{B75BC28E-972B-EC47-BE79-29D89D46B9CA}" type="slidenum">
              <a:rPr lang="es-ES_tradnl" b="1" smtClean="0"/>
              <a:t>45</a:t>
            </a:fld>
            <a:endParaRPr lang="es-ES_tradnl" b="1" dirty="0"/>
          </a:p>
        </p:txBody>
      </p:sp>
      <p:sp>
        <p:nvSpPr>
          <p:cNvPr id="3" name="CuadroTexto 2">
            <a:extLst>
              <a:ext uri="{FF2B5EF4-FFF2-40B4-BE49-F238E27FC236}">
                <a16:creationId xmlns:a16="http://schemas.microsoft.com/office/drawing/2014/main" id="{045352C2-48C2-C99F-9671-44742B2825F2}"/>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3385EA4-2708-FDF3-DFA6-F5DA41BE5150}"/>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67FE31C-956C-C654-041D-DB9EB3DFEC61}"/>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0" name="Picture 9">
            <a:extLst>
              <a:ext uri="{FF2B5EF4-FFF2-40B4-BE49-F238E27FC236}">
                <a16:creationId xmlns:a16="http://schemas.microsoft.com/office/drawing/2014/main" id="{2D34AA41-23F1-18BF-B737-8BE3382E154F}"/>
              </a:ext>
            </a:extLst>
          </p:cNvPr>
          <p:cNvPicPr>
            <a:picLocks noChangeAspect="1"/>
          </p:cNvPicPr>
          <p:nvPr/>
        </p:nvPicPr>
        <p:blipFill>
          <a:blip r:embed="rId2"/>
          <a:stretch>
            <a:fillRect/>
          </a:stretch>
        </p:blipFill>
        <p:spPr>
          <a:xfrm>
            <a:off x="1672277" y="1557489"/>
            <a:ext cx="9050013" cy="4020111"/>
          </a:xfrm>
          <a:prstGeom prst="rect">
            <a:avLst/>
          </a:prstGeom>
        </p:spPr>
      </p:pic>
      <p:sp>
        <p:nvSpPr>
          <p:cNvPr id="6" name="CuadroTexto 25">
            <a:extLst>
              <a:ext uri="{FF2B5EF4-FFF2-40B4-BE49-F238E27FC236}">
                <a16:creationId xmlns:a16="http://schemas.microsoft.com/office/drawing/2014/main" id="{651F8756-2301-6D30-B92D-13301335A027}"/>
              </a:ext>
            </a:extLst>
          </p:cNvPr>
          <p:cNvSpPr txBox="1"/>
          <p:nvPr/>
        </p:nvSpPr>
        <p:spPr>
          <a:xfrm>
            <a:off x="4868059" y="915233"/>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Inner Loop</a:t>
            </a:r>
            <a:endParaRPr lang="en-US" sz="1400" b="1" i="0" u="none" strike="noStrike" dirty="0">
              <a:solidFill>
                <a:srgbClr val="000000"/>
              </a:solidFill>
              <a:effectLst/>
              <a:latin typeface="Roboto" panose="02000000000000000000" pitchFamily="2" charset="0"/>
            </a:endParaRPr>
          </a:p>
        </p:txBody>
      </p:sp>
      <p:sp>
        <p:nvSpPr>
          <p:cNvPr id="7" name="CuadroTexto 4">
            <a:extLst>
              <a:ext uri="{FF2B5EF4-FFF2-40B4-BE49-F238E27FC236}">
                <a16:creationId xmlns:a16="http://schemas.microsoft.com/office/drawing/2014/main" id="{DB8D5879-6709-E745-2854-9CD1583D13D2}"/>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6938049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46</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2" name="Picture 11">
            <a:extLst>
              <a:ext uri="{FF2B5EF4-FFF2-40B4-BE49-F238E27FC236}">
                <a16:creationId xmlns:a16="http://schemas.microsoft.com/office/drawing/2014/main" id="{B9BD64DB-8E93-F8B4-E234-F0ABED0DA54D}"/>
              </a:ext>
            </a:extLst>
          </p:cNvPr>
          <p:cNvPicPr>
            <a:picLocks noChangeAspect="1"/>
          </p:cNvPicPr>
          <p:nvPr/>
        </p:nvPicPr>
        <p:blipFill>
          <a:blip r:embed="rId2"/>
          <a:stretch>
            <a:fillRect/>
          </a:stretch>
        </p:blipFill>
        <p:spPr>
          <a:xfrm>
            <a:off x="2611736" y="1064854"/>
            <a:ext cx="6876983" cy="4943319"/>
          </a:xfrm>
          <a:prstGeom prst="rect">
            <a:avLst/>
          </a:prstGeom>
        </p:spPr>
      </p:pic>
      <p:sp>
        <p:nvSpPr>
          <p:cNvPr id="13" name="CuadroTexto 25">
            <a:extLst>
              <a:ext uri="{FF2B5EF4-FFF2-40B4-BE49-F238E27FC236}">
                <a16:creationId xmlns:a16="http://schemas.microsoft.com/office/drawing/2014/main" id="{21686647-B55D-D50B-29B8-42037B047B62}"/>
              </a:ext>
            </a:extLst>
          </p:cNvPr>
          <p:cNvSpPr txBox="1"/>
          <p:nvPr/>
        </p:nvSpPr>
        <p:spPr>
          <a:xfrm>
            <a:off x="4233001" y="766700"/>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Outer Loop</a:t>
            </a:r>
            <a:endParaRPr lang="en-US" sz="1400" b="1" i="0" u="none" strike="noStrike" dirty="0">
              <a:solidFill>
                <a:srgbClr val="000000"/>
              </a:solidFill>
              <a:effectLst/>
              <a:latin typeface="Roboto" panose="02000000000000000000" pitchFamily="2" charset="0"/>
            </a:endParaRPr>
          </a:p>
        </p:txBody>
      </p:sp>
      <p:sp>
        <p:nvSpPr>
          <p:cNvPr id="14" name="CuadroTexto 4">
            <a:extLst>
              <a:ext uri="{FF2B5EF4-FFF2-40B4-BE49-F238E27FC236}">
                <a16:creationId xmlns:a16="http://schemas.microsoft.com/office/drawing/2014/main" id="{3CCA015B-142B-33F6-FA26-7B8021E50F29}"/>
              </a:ext>
            </a:extLst>
          </p:cNvPr>
          <p:cNvSpPr txBox="1"/>
          <p:nvPr/>
        </p:nvSpPr>
        <p:spPr>
          <a:xfrm>
            <a:off x="1651215" y="6091300"/>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7855271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47</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extLst>
              <p:ext uri="{D42A27DB-BD31-4B8C-83A1-F6EECF244321}">
                <p14:modId xmlns:p14="http://schemas.microsoft.com/office/powerpoint/2010/main" val="1754904732"/>
              </p:ext>
            </p:extLst>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3895364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48</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4047892"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Communication</a:t>
            </a:r>
            <a:r>
              <a:rPr lang="es-ES_tradnl" dirty="0">
                <a:solidFill>
                  <a:schemeClr val="tx1"/>
                </a:solidFill>
                <a:latin typeface="Source Sans Pro" panose="020B0503030403020204" pitchFamily="34" charset="0"/>
                <a:ea typeface="Source Sans Pro" panose="020B0503030403020204" pitchFamily="34" charset="0"/>
              </a:rPr>
              <a:t> plan </a:t>
            </a:r>
            <a:endParaRPr lang="es-ES_tradnl" dirty="0">
              <a:solidFill>
                <a:schemeClr val="tx1"/>
              </a:solidFill>
            </a:endParaRPr>
          </a:p>
        </p:txBody>
      </p:sp>
      <p:sp>
        <p:nvSpPr>
          <p:cNvPr id="5" name="CuadroTexto 4">
            <a:extLst>
              <a:ext uri="{FF2B5EF4-FFF2-40B4-BE49-F238E27FC236}">
                <a16:creationId xmlns:a16="http://schemas.microsoft.com/office/drawing/2014/main" id="{99C08F30-B294-BDBF-DF3D-1BC32AD35E10}"/>
              </a:ext>
            </a:extLst>
          </p:cNvPr>
          <p:cNvSpPr txBox="1"/>
          <p:nvPr/>
        </p:nvSpPr>
        <p:spPr>
          <a:xfrm>
            <a:off x="914397" y="334535"/>
            <a:ext cx="3245007"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5684687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5" y="2151728"/>
            <a:ext cx="6639571" cy="2554545"/>
          </a:xfrm>
          <a:prstGeom prst="rect">
            <a:avLst/>
          </a:prstGeom>
          <a:noFill/>
        </p:spPr>
        <p:txBody>
          <a:bodyPr wrap="square" rtlCol="0">
            <a:spAutoFit/>
          </a:bodyPr>
          <a:lstStyle/>
          <a:p>
            <a:pPr algn="ctr"/>
            <a:r>
              <a:rPr lang="es-ES_tradnl" sz="8000" i="1" dirty="0">
                <a:solidFill>
                  <a:schemeClr val="bg1"/>
                </a:solidFill>
                <a:latin typeface="Source Sans Pro Light" panose="020B0503030403020204" pitchFamily="34" charset="0"/>
                <a:ea typeface="Source Sans Pro Light" panose="020B0503030403020204" pitchFamily="34" charset="0"/>
              </a:rPr>
              <a:t>5. </a:t>
            </a:r>
            <a:r>
              <a:rPr lang="es-CO" sz="8000" i="1" dirty="0" err="1">
                <a:solidFill>
                  <a:schemeClr val="bg1"/>
                </a:solidFill>
                <a:latin typeface="Source Sans Pro Light" panose="020B0503030403020204" pitchFamily="34" charset="0"/>
                <a:ea typeface="Source Sans Pro Light" panose="020B0503030403020204" pitchFamily="34" charset="0"/>
              </a:rPr>
              <a:t>Conclusions</a:t>
            </a:r>
            <a:r>
              <a:rPr lang="es-CO" sz="8000" i="1" dirty="0">
                <a:solidFill>
                  <a:schemeClr val="bg1"/>
                </a:solidFill>
                <a:latin typeface="Source Sans Pro Light" panose="020B0503030403020204" pitchFamily="34" charset="0"/>
                <a:ea typeface="Source Sans Pro Light" panose="020B0503030403020204" pitchFamily="34" charset="0"/>
              </a:rPr>
              <a:t> and </a:t>
            </a:r>
            <a:r>
              <a:rPr lang="es-CO" sz="8000" i="1" dirty="0" err="1">
                <a:solidFill>
                  <a:schemeClr val="bg1"/>
                </a:solidFill>
                <a:latin typeface="Source Sans Pro Light" panose="020B0503030403020204" pitchFamily="34" charset="0"/>
                <a:ea typeface="Source Sans Pro Light" panose="020B0503030403020204" pitchFamily="34" charset="0"/>
              </a:rPr>
              <a:t>next</a:t>
            </a:r>
            <a:r>
              <a:rPr lang="es-CO" sz="8000" i="1" dirty="0">
                <a:solidFill>
                  <a:schemeClr val="bg1"/>
                </a:solidFill>
                <a:latin typeface="Source Sans Pro Light" panose="020B0503030403020204" pitchFamily="34" charset="0"/>
                <a:ea typeface="Source Sans Pro Light" panose="020B0503030403020204" pitchFamily="34" charset="0"/>
              </a:rPr>
              <a:t> </a:t>
            </a:r>
            <a:r>
              <a:rPr lang="es-CO" sz="8000" i="1" dirty="0" err="1">
                <a:solidFill>
                  <a:schemeClr val="bg1"/>
                </a:solidFill>
                <a:latin typeface="Source Sans Pro Light" panose="020B0503030403020204" pitchFamily="34" charset="0"/>
                <a:ea typeface="Source Sans Pro Light" panose="020B0503030403020204" pitchFamily="34" charset="0"/>
              </a:rPr>
              <a:t>steps</a:t>
            </a:r>
            <a:r>
              <a:rPr lang="es-ES_tradnl" sz="8000" i="1" dirty="0">
                <a:solidFill>
                  <a:schemeClr val="bg1"/>
                </a:solidFill>
                <a:latin typeface="Source Sans Pro Light" panose="020B0503030403020204" pitchFamily="34" charset="0"/>
                <a:ea typeface="Source Sans Pro Light" panose="020B0503030403020204" pitchFamily="34" charset="0"/>
              </a:rPr>
              <a:t>.</a:t>
            </a:r>
          </a:p>
        </p:txBody>
      </p:sp>
    </p:spTree>
    <p:extLst>
      <p:ext uri="{BB962C8B-B14F-4D97-AF65-F5344CB8AC3E}">
        <p14:creationId xmlns:p14="http://schemas.microsoft.com/office/powerpoint/2010/main" val="5826457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6" name="CuadroTexto 5">
            <a:extLst>
              <a:ext uri="{FF2B5EF4-FFF2-40B4-BE49-F238E27FC236}">
                <a16:creationId xmlns:a16="http://schemas.microsoft.com/office/drawing/2014/main" id="{EC78812D-F332-9054-04DC-D11A0073CB36}"/>
              </a:ext>
            </a:extLst>
          </p:cNvPr>
          <p:cNvSpPr txBox="1"/>
          <p:nvPr/>
        </p:nvSpPr>
        <p:spPr>
          <a:xfrm>
            <a:off x="1604352" y="334535"/>
            <a:ext cx="6432208"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7165997" y="334535"/>
            <a:ext cx="3153294"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Conclusions</a:t>
            </a:r>
            <a:r>
              <a:rPr lang="es-ES_tradnl" dirty="0">
                <a:solidFill>
                  <a:schemeClr val="tx1"/>
                </a:solidFill>
                <a:latin typeface="Source Sans Pro" panose="020B0503030403020204" pitchFamily="34" charset="0"/>
                <a:ea typeface="Source Sans Pro" panose="020B0503030403020204" pitchFamily="34" charset="0"/>
              </a:rPr>
              <a:t> and </a:t>
            </a:r>
            <a:r>
              <a:rPr lang="es-ES_tradnl" dirty="0" err="1">
                <a:solidFill>
                  <a:schemeClr val="tx1"/>
                </a:solidFill>
                <a:latin typeface="Source Sans Pro" panose="020B0503030403020204" pitchFamily="34" charset="0"/>
                <a:ea typeface="Source Sans Pro" panose="020B0503030403020204" pitchFamily="34" charset="0"/>
              </a:rPr>
              <a:t>next</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steps</a:t>
            </a:r>
            <a:endParaRPr lang="es-ES_tradnl" dirty="0">
              <a:solidFill>
                <a:schemeClr val="tx1"/>
              </a:solidFill>
              <a:latin typeface="Source Sans Pro" panose="020B0503030403020204" pitchFamily="34" charset="0"/>
              <a:ea typeface="Source Sans Pro" panose="020B0503030403020204" pitchFamily="34" charset="0"/>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50</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156854" y="917863"/>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341588600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4" name="CuadroTexto 3">
            <a:extLst>
              <a:ext uri="{FF2B5EF4-FFF2-40B4-BE49-F238E27FC236}">
                <a16:creationId xmlns:a16="http://schemas.microsoft.com/office/drawing/2014/main" id="{6882A9A9-0B39-CABB-2219-2909D4FAE4E7}"/>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CuadroTexto 5">
            <a:extLst>
              <a:ext uri="{FF2B5EF4-FFF2-40B4-BE49-F238E27FC236}">
                <a16:creationId xmlns:a16="http://schemas.microsoft.com/office/drawing/2014/main" id="{EC78812D-F332-9054-04DC-D11A0073CB36}"/>
              </a:ext>
            </a:extLst>
          </p:cNvPr>
          <p:cNvSpPr txBox="1"/>
          <p:nvPr/>
        </p:nvSpPr>
        <p:spPr>
          <a:xfrm>
            <a:off x="568033" y="334535"/>
            <a:ext cx="49460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5391783" y="334535"/>
            <a:ext cx="3461271"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Other</a:t>
            </a:r>
            <a:r>
              <a:rPr lang="es-ES_tradnl" dirty="0">
                <a:solidFill>
                  <a:schemeClr val="tx1"/>
                </a:solidFill>
                <a:latin typeface="Source Sans Pro" panose="020B0503030403020204" pitchFamily="34" charset="0"/>
                <a:ea typeface="Source Sans Pro" panose="020B0503030403020204" pitchFamily="34" charset="0"/>
              </a:rPr>
              <a:t> administrative </a:t>
            </a:r>
            <a:r>
              <a:rPr lang="es-ES_tradnl" dirty="0" err="1">
                <a:solidFill>
                  <a:schemeClr val="tx1"/>
                </a:solidFill>
                <a:latin typeface="Source Sans Pro" panose="020B0503030403020204" pitchFamily="34" charset="0"/>
                <a:ea typeface="Source Sans Pro" panose="020B0503030403020204" pitchFamily="34" charset="0"/>
              </a:rPr>
              <a:t>aspects</a:t>
            </a:r>
            <a:r>
              <a:rPr lang="es-ES_tradnl" dirty="0">
                <a:solidFill>
                  <a:schemeClr val="tx1"/>
                </a:solidFill>
                <a:latin typeface="Source Sans Pro" panose="020B0503030403020204" pitchFamily="34" charset="0"/>
                <a:ea typeface="Source Sans Pro" panose="020B0503030403020204" pitchFamily="34" charset="0"/>
              </a:rPr>
              <a:t> </a:t>
            </a:r>
            <a:endParaRPr lang="es-ES_tradnl" dirty="0">
              <a:solidFill>
                <a:schemeClr val="tx1"/>
              </a:solidFill>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51</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330302" y="1104676"/>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28514980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CE6C380-05B6-CD8F-8253-F4BA087F3C13}"/>
              </a:ext>
            </a:extLst>
          </p:cNvPr>
          <p:cNvSpPr>
            <a:spLocks noGrp="1"/>
          </p:cNvSpPr>
          <p:nvPr>
            <p:ph type="sldNum" sz="quarter" idx="12"/>
          </p:nvPr>
        </p:nvSpPr>
        <p:spPr/>
        <p:txBody>
          <a:bodyPr/>
          <a:lstStyle/>
          <a:p>
            <a:fld id="{B75BC28E-972B-EC47-BE79-29D89D46B9CA}" type="slidenum">
              <a:rPr lang="es-ES_tradnl" b="1" smtClean="0">
                <a:solidFill>
                  <a:schemeClr val="bg1"/>
                </a:solidFill>
              </a:rPr>
              <a:t>52</a:t>
            </a:fld>
            <a:endParaRPr lang="es-ES_tradnl" b="1" dirty="0">
              <a:solidFill>
                <a:schemeClr val="bg1"/>
              </a:solidFill>
            </a:endParaRPr>
          </a:p>
        </p:txBody>
      </p:sp>
      <p:sp>
        <p:nvSpPr>
          <p:cNvPr id="6" name="CuadroTexto 5">
            <a:extLst>
              <a:ext uri="{FF2B5EF4-FFF2-40B4-BE49-F238E27FC236}">
                <a16:creationId xmlns:a16="http://schemas.microsoft.com/office/drawing/2014/main" id="{3BEFF2BA-4562-529D-EB6F-08972666B95E}"/>
              </a:ext>
            </a:extLst>
          </p:cNvPr>
          <p:cNvSpPr txBox="1"/>
          <p:nvPr/>
        </p:nvSpPr>
        <p:spPr>
          <a:xfrm>
            <a:off x="858981" y="334535"/>
            <a:ext cx="73844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563D068B-D760-ED23-C7AF-6D1935672112}"/>
              </a:ext>
            </a:extLst>
          </p:cNvPr>
          <p:cNvSpPr/>
          <p:nvPr/>
        </p:nvSpPr>
        <p:spPr>
          <a:xfrm>
            <a:off x="7952509" y="334534"/>
            <a:ext cx="242454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6. </a:t>
            </a:r>
            <a:r>
              <a:rPr lang="es-ES_tradnl" dirty="0" err="1">
                <a:solidFill>
                  <a:schemeClr val="bg1"/>
                </a:solidFill>
                <a:latin typeface="Source Sans Pro" panose="020B0503030403020204" pitchFamily="34" charset="0"/>
                <a:ea typeface="Source Sans Pro" panose="020B0503030403020204" pitchFamily="34" charset="0"/>
              </a:rPr>
              <a:t>Technical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questions</a:t>
            </a:r>
            <a:endParaRPr lang="es-ES_tradnl" dirty="0">
              <a:solidFill>
                <a:schemeClr val="bg1"/>
              </a:solidFill>
              <a:latin typeface="Source Sans Pro" panose="020B0503030403020204" pitchFamily="34" charset="0"/>
              <a:ea typeface="Source Sans Pro" panose="020B0503030403020204" pitchFamily="34" charset="0"/>
            </a:endParaRPr>
          </a:p>
        </p:txBody>
      </p:sp>
      <p:graphicFrame>
        <p:nvGraphicFramePr>
          <p:cNvPr id="8" name="Tabla 7">
            <a:extLst>
              <a:ext uri="{FF2B5EF4-FFF2-40B4-BE49-F238E27FC236}">
                <a16:creationId xmlns:a16="http://schemas.microsoft.com/office/drawing/2014/main" id="{B1DD878D-7DC8-538F-0717-E23A86B65A37}"/>
              </a:ext>
            </a:extLst>
          </p:cNvPr>
          <p:cNvGraphicFramePr>
            <a:graphicFrameLocks noGrp="1"/>
          </p:cNvGraphicFramePr>
          <p:nvPr>
            <p:extLst>
              <p:ext uri="{D42A27DB-BD31-4B8C-83A1-F6EECF244321}">
                <p14:modId xmlns:p14="http://schemas.microsoft.com/office/powerpoint/2010/main" val="733657924"/>
              </p:ext>
            </p:extLst>
          </p:nvPr>
        </p:nvGraphicFramePr>
        <p:xfrm>
          <a:off x="568713" y="1923998"/>
          <a:ext cx="11623287" cy="4421046"/>
        </p:xfrm>
        <a:graphic>
          <a:graphicData uri="http://schemas.openxmlformats.org/drawingml/2006/table">
            <a:tbl>
              <a:tblPr firstRow="1" bandRow="1">
                <a:tableStyleId>{5C22544A-7EE6-4342-B048-85BDC9FD1C3A}</a:tableStyleId>
              </a:tblPr>
              <a:tblGrid>
                <a:gridCol w="3874429">
                  <a:extLst>
                    <a:ext uri="{9D8B030D-6E8A-4147-A177-3AD203B41FA5}">
                      <a16:colId xmlns:a16="http://schemas.microsoft.com/office/drawing/2014/main" val="517378991"/>
                    </a:ext>
                  </a:extLst>
                </a:gridCol>
                <a:gridCol w="3874429">
                  <a:extLst>
                    <a:ext uri="{9D8B030D-6E8A-4147-A177-3AD203B41FA5}">
                      <a16:colId xmlns:a16="http://schemas.microsoft.com/office/drawing/2014/main" val="1488556355"/>
                    </a:ext>
                  </a:extLst>
                </a:gridCol>
                <a:gridCol w="3874429">
                  <a:extLst>
                    <a:ext uri="{9D8B030D-6E8A-4147-A177-3AD203B41FA5}">
                      <a16:colId xmlns:a16="http://schemas.microsoft.com/office/drawing/2014/main" val="4142845034"/>
                    </a:ext>
                  </a:extLst>
                </a:gridCol>
              </a:tblGrid>
              <a:tr h="2210523">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expectations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surrogate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should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be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symbolic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physics-informed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just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accurate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Disponible en algunos idiomas.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input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features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going</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to</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and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their</a:t>
                      </a:r>
                      <a:endPar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endParaRPr>
                    </a:p>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ranges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Para el Dr. Müller :V</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variables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uncertain</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critical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3025000"/>
                  </a:ext>
                </a:extLst>
              </a:tr>
              <a:tr h="2210523">
                <a:tc>
                  <a:txBody>
                    <a:bodyPr/>
                    <a:lstStyle/>
                    <a:p>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Do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already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have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preferred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sensitivity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analysis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methods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deterministic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does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stochastic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components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target variables?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984629395"/>
                  </a:ext>
                </a:extLst>
              </a:tr>
            </a:tbl>
          </a:graphicData>
        </a:graphic>
      </p:graphicFrame>
      <p:sp>
        <p:nvSpPr>
          <p:cNvPr id="10" name="CuadroTexto 9">
            <a:extLst>
              <a:ext uri="{FF2B5EF4-FFF2-40B4-BE49-F238E27FC236}">
                <a16:creationId xmlns:a16="http://schemas.microsoft.com/office/drawing/2014/main" id="{5E9A15F1-DD33-DEE5-D6EA-DE8064755205}"/>
              </a:ext>
            </a:extLst>
          </p:cNvPr>
          <p:cNvSpPr txBox="1"/>
          <p:nvPr/>
        </p:nvSpPr>
        <p:spPr>
          <a:xfrm>
            <a:off x="6021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1. </a:t>
            </a:r>
            <a:endParaRPr lang="es-ES_tradnl" sz="2400" b="1" dirty="0">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56CA42E3-D5EA-0807-5D25-80821B59ED5D}"/>
              </a:ext>
            </a:extLst>
          </p:cNvPr>
          <p:cNvSpPr txBox="1"/>
          <p:nvPr/>
        </p:nvSpPr>
        <p:spPr>
          <a:xfrm>
            <a:off x="4482791"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2. </a:t>
            </a:r>
            <a:endParaRPr lang="es-ES_tradnl" sz="2400" b="1" dirty="0">
              <a:latin typeface="Source Sans Pro" panose="020B0503030403020204" pitchFamily="34" charset="0"/>
              <a:ea typeface="Source Sans Pro" panose="020B0503030403020204" pitchFamily="34" charset="0"/>
            </a:endParaRPr>
          </a:p>
        </p:txBody>
      </p:sp>
      <p:sp>
        <p:nvSpPr>
          <p:cNvPr id="12" name="CuadroTexto 11">
            <a:extLst>
              <a:ext uri="{FF2B5EF4-FFF2-40B4-BE49-F238E27FC236}">
                <a16:creationId xmlns:a16="http://schemas.microsoft.com/office/drawing/2014/main" id="{4BF24578-87AA-B10B-E52D-D74BA5B01745}"/>
              </a:ext>
            </a:extLst>
          </p:cNvPr>
          <p:cNvSpPr txBox="1"/>
          <p:nvPr/>
        </p:nvSpPr>
        <p:spPr>
          <a:xfrm>
            <a:off x="83745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3. </a:t>
            </a:r>
            <a:endParaRPr lang="es-ES_tradnl" sz="2400" b="1"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2D85E6D1-10F8-87B8-F721-EC90002C7E93}"/>
              </a:ext>
            </a:extLst>
          </p:cNvPr>
          <p:cNvSpPr txBox="1"/>
          <p:nvPr/>
        </p:nvSpPr>
        <p:spPr>
          <a:xfrm>
            <a:off x="6021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4. </a:t>
            </a:r>
            <a:endParaRPr lang="es-ES_tradnl" sz="2400" b="1" dirty="0">
              <a:latin typeface="Source Sans Pro" panose="020B0503030403020204" pitchFamily="34" charset="0"/>
              <a:ea typeface="Source Sans Pro" panose="020B0503030403020204" pitchFamily="34" charset="0"/>
            </a:endParaRPr>
          </a:p>
        </p:txBody>
      </p:sp>
      <p:sp>
        <p:nvSpPr>
          <p:cNvPr id="14" name="CuadroTexto 13">
            <a:extLst>
              <a:ext uri="{FF2B5EF4-FFF2-40B4-BE49-F238E27FC236}">
                <a16:creationId xmlns:a16="http://schemas.microsoft.com/office/drawing/2014/main" id="{29F3E925-8855-E4EE-F653-04673AEC07D0}"/>
              </a:ext>
            </a:extLst>
          </p:cNvPr>
          <p:cNvSpPr txBox="1"/>
          <p:nvPr/>
        </p:nvSpPr>
        <p:spPr>
          <a:xfrm>
            <a:off x="4482791"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5. </a:t>
            </a:r>
            <a:endParaRPr lang="es-ES_tradnl" sz="2400" b="1" dirty="0">
              <a:latin typeface="Source Sans Pro" panose="020B0503030403020204" pitchFamily="34" charset="0"/>
              <a:ea typeface="Source Sans Pro" panose="020B0503030403020204" pitchFamily="34" charset="0"/>
            </a:endParaRPr>
          </a:p>
        </p:txBody>
      </p:sp>
      <p:sp>
        <p:nvSpPr>
          <p:cNvPr id="15" name="CuadroTexto 14">
            <a:extLst>
              <a:ext uri="{FF2B5EF4-FFF2-40B4-BE49-F238E27FC236}">
                <a16:creationId xmlns:a16="http://schemas.microsoft.com/office/drawing/2014/main" id="{BD540D73-0E3D-C119-BFD0-680A69E737AE}"/>
              </a:ext>
            </a:extLst>
          </p:cNvPr>
          <p:cNvSpPr txBox="1"/>
          <p:nvPr/>
        </p:nvSpPr>
        <p:spPr>
          <a:xfrm>
            <a:off x="83745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6. </a:t>
            </a:r>
            <a:endParaRPr lang="es-ES_tradnl" sz="2400" b="1" dirty="0">
              <a:latin typeface="Source Sans Pro" panose="020B0503030403020204" pitchFamily="34" charset="0"/>
              <a:ea typeface="Source Sans Pro" panose="020B0503030403020204" pitchFamily="34" charset="0"/>
            </a:endParaRPr>
          </a:p>
        </p:txBody>
      </p:sp>
      <p:sp>
        <p:nvSpPr>
          <p:cNvPr id="17" name="CuadroTexto 16">
            <a:extLst>
              <a:ext uri="{FF2B5EF4-FFF2-40B4-BE49-F238E27FC236}">
                <a16:creationId xmlns:a16="http://schemas.microsoft.com/office/drawing/2014/main" id="{AE76BB24-E025-0096-5406-7A6AA32F4525}"/>
              </a:ext>
            </a:extLst>
          </p:cNvPr>
          <p:cNvSpPr txBox="1"/>
          <p:nvPr/>
        </p:nvSpPr>
        <p:spPr>
          <a:xfrm>
            <a:off x="3043354" y="1151641"/>
            <a:ext cx="6105292" cy="461665"/>
          </a:xfrm>
          <a:prstGeom prst="rect">
            <a:avLst/>
          </a:prstGeom>
          <a:noFill/>
        </p:spPr>
        <p:txBody>
          <a:bodyPr wrap="square">
            <a:spAutoFit/>
          </a:bodyPr>
          <a:lstStyle/>
          <a:p>
            <a:pPr algn="ctr"/>
            <a:r>
              <a:rPr lang="es-ES_tradnl" sz="2400" b="1" dirty="0">
                <a:latin typeface="Source Sans Pro" panose="020B0503030403020204" pitchFamily="34" charset="0"/>
                <a:ea typeface="Source Sans Pro" panose="020B0503030403020204" pitchFamily="34" charset="0"/>
              </a:rPr>
              <a:t>Preguntas de implementación</a:t>
            </a:r>
          </a:p>
        </p:txBody>
      </p:sp>
    </p:spTree>
    <p:extLst>
      <p:ext uri="{BB962C8B-B14F-4D97-AF65-F5344CB8AC3E}">
        <p14:creationId xmlns:p14="http://schemas.microsoft.com/office/powerpoint/2010/main" val="10640057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pattFill prst="wdDnDiag">
          <a:fgClr>
            <a:schemeClr val="accent1"/>
          </a:fgClr>
          <a:bgClr>
            <a:schemeClr val="bg1"/>
          </a:bgClr>
        </a:pattFill>
        <a:effectLst/>
      </p:bgPr>
    </p:bg>
    <p:spTree>
      <p:nvGrpSpPr>
        <p:cNvPr id="1" name=""/>
        <p:cNvGrpSpPr/>
        <p:nvPr/>
      </p:nvGrpSpPr>
      <p:grpSpPr>
        <a:xfrm>
          <a:off x="0" y="0"/>
          <a:ext cx="0" cy="0"/>
          <a:chOff x="0" y="0"/>
          <a:chExt cx="0" cy="0"/>
        </a:xfrm>
      </p:grpSpPr>
      <p:grpSp>
        <p:nvGrpSpPr>
          <p:cNvPr id="13" name="Grupo 12">
            <a:extLst>
              <a:ext uri="{FF2B5EF4-FFF2-40B4-BE49-F238E27FC236}">
                <a16:creationId xmlns:a16="http://schemas.microsoft.com/office/drawing/2014/main" id="{151BEFE0-B5A6-F1A9-5D6E-39E4D5F6CF75}"/>
              </a:ext>
            </a:extLst>
          </p:cNvPr>
          <p:cNvGrpSpPr/>
          <p:nvPr/>
        </p:nvGrpSpPr>
        <p:grpSpPr>
          <a:xfrm>
            <a:off x="3214255" y="877017"/>
            <a:ext cx="6796392" cy="2983219"/>
            <a:chOff x="623455" y="1270126"/>
            <a:chExt cx="9836726" cy="4317748"/>
          </a:xfrm>
        </p:grpSpPr>
        <p:sp>
          <p:nvSpPr>
            <p:cNvPr id="7" name="Rectángulo 6">
              <a:extLst>
                <a:ext uri="{FF2B5EF4-FFF2-40B4-BE49-F238E27FC236}">
                  <a16:creationId xmlns:a16="http://schemas.microsoft.com/office/drawing/2014/main" id="{3CE31523-AAE7-C193-DC75-C6C5DC9E6DC6}"/>
                </a:ext>
              </a:extLst>
            </p:cNvPr>
            <p:cNvSpPr/>
            <p:nvPr/>
          </p:nvSpPr>
          <p:spPr>
            <a:xfrm>
              <a:off x="5527963" y="1270126"/>
              <a:ext cx="2466109" cy="2158874"/>
            </a:xfrm>
            <a:prstGeom prst="rect">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Rectángulo 7">
              <a:extLst>
                <a:ext uri="{FF2B5EF4-FFF2-40B4-BE49-F238E27FC236}">
                  <a16:creationId xmlns:a16="http://schemas.microsoft.com/office/drawing/2014/main" id="{C634CC11-8BCA-581D-07C5-205369C674B6}"/>
                </a:ext>
              </a:extLst>
            </p:cNvPr>
            <p:cNvSpPr/>
            <p:nvPr/>
          </p:nvSpPr>
          <p:spPr>
            <a:xfrm>
              <a:off x="623455" y="1270126"/>
              <a:ext cx="2466109" cy="431774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9" name="Rectángulo 8">
              <a:extLst>
                <a:ext uri="{FF2B5EF4-FFF2-40B4-BE49-F238E27FC236}">
                  <a16:creationId xmlns:a16="http://schemas.microsoft.com/office/drawing/2014/main" id="{E2A5CF1B-E328-CFE8-4774-3BCA2BAB011C}"/>
                </a:ext>
              </a:extLst>
            </p:cNvPr>
            <p:cNvSpPr/>
            <p:nvPr/>
          </p:nvSpPr>
          <p:spPr>
            <a:xfrm>
              <a:off x="3075709" y="1270126"/>
              <a:ext cx="2466109" cy="4317748"/>
            </a:xfrm>
            <a:prstGeom prst="rect">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0" name="Rectángulo 9">
              <a:extLst>
                <a:ext uri="{FF2B5EF4-FFF2-40B4-BE49-F238E27FC236}">
                  <a16:creationId xmlns:a16="http://schemas.microsoft.com/office/drawing/2014/main" id="{225CD1D1-E79F-C37A-2A0A-473CDBE1EC95}"/>
                </a:ext>
              </a:extLst>
            </p:cNvPr>
            <p:cNvSpPr/>
            <p:nvPr/>
          </p:nvSpPr>
          <p:spPr>
            <a:xfrm>
              <a:off x="5527963" y="3429000"/>
              <a:ext cx="2466109" cy="2158874"/>
            </a:xfrm>
            <a:prstGeom prst="rect">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Rectángulo 10">
              <a:extLst>
                <a:ext uri="{FF2B5EF4-FFF2-40B4-BE49-F238E27FC236}">
                  <a16:creationId xmlns:a16="http://schemas.microsoft.com/office/drawing/2014/main" id="{208D21DE-BEC2-C845-51DF-C59B09486E96}"/>
                </a:ext>
              </a:extLst>
            </p:cNvPr>
            <p:cNvSpPr/>
            <p:nvPr/>
          </p:nvSpPr>
          <p:spPr>
            <a:xfrm>
              <a:off x="7994072" y="1270126"/>
              <a:ext cx="2466109" cy="2158874"/>
            </a:xfrm>
            <a:prstGeom prst="rect">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2" name="Rectángulo 11">
              <a:extLst>
                <a:ext uri="{FF2B5EF4-FFF2-40B4-BE49-F238E27FC236}">
                  <a16:creationId xmlns:a16="http://schemas.microsoft.com/office/drawing/2014/main" id="{0158D494-0A38-4E61-8099-11E3C4D69CCA}"/>
                </a:ext>
              </a:extLst>
            </p:cNvPr>
            <p:cNvSpPr/>
            <p:nvPr/>
          </p:nvSpPr>
          <p:spPr>
            <a:xfrm>
              <a:off x="7994072" y="3429000"/>
              <a:ext cx="2466109" cy="2158874"/>
            </a:xfrm>
            <a:prstGeom prst="rect">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14" name="CuadroTexto 13">
            <a:extLst>
              <a:ext uri="{FF2B5EF4-FFF2-40B4-BE49-F238E27FC236}">
                <a16:creationId xmlns:a16="http://schemas.microsoft.com/office/drawing/2014/main" id="{25D1A9C4-2B5E-EF72-2CFD-EA75A07E3A20}"/>
              </a:ext>
            </a:extLst>
          </p:cNvPr>
          <p:cNvSpPr txBox="1"/>
          <p:nvPr/>
        </p:nvSpPr>
        <p:spPr>
          <a:xfrm>
            <a:off x="3214255" y="3969496"/>
            <a:ext cx="6639571" cy="1446550"/>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Source</a:t>
            </a:r>
            <a:r>
              <a:rPr lang="es-ES_tradnl" sz="4400" b="1" dirty="0">
                <a:latin typeface="Source Sans Pro" panose="020B0503030403020204" pitchFamily="34" charset="0"/>
                <a:ea typeface="Source Sans Pro" panose="020B0503030403020204" pitchFamily="34" charset="0"/>
              </a:rPr>
              <a:t> Sans Pro Bold</a:t>
            </a:r>
          </a:p>
          <a:p>
            <a:r>
              <a:rPr lang="es-ES_tradnl" sz="4400" dirty="0" err="1">
                <a:latin typeface="Source Sans Pro" panose="020B0503030403020204" pitchFamily="34" charset="0"/>
                <a:ea typeface="Source Sans Pro" panose="020B0503030403020204" pitchFamily="34" charset="0"/>
              </a:rPr>
              <a:t>Source</a:t>
            </a:r>
            <a:r>
              <a:rPr lang="es-ES_tradnl" sz="4400" dirty="0">
                <a:latin typeface="Source Sans Pro" panose="020B0503030403020204" pitchFamily="34" charset="0"/>
                <a:ea typeface="Source Sans Pro" panose="020B0503030403020204" pitchFamily="34" charset="0"/>
              </a:rPr>
              <a:t> Sans Pro</a:t>
            </a:r>
          </a:p>
        </p:txBody>
      </p:sp>
    </p:spTree>
    <p:extLst>
      <p:ext uri="{BB962C8B-B14F-4D97-AF65-F5344CB8AC3E}">
        <p14:creationId xmlns:p14="http://schemas.microsoft.com/office/powerpoint/2010/main" val="105541681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Bibliography</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33686027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55</a:t>
            </a:fld>
            <a:endParaRPr lang="es-ES_tradnl" sz="1600" b="1" dirty="0">
              <a:solidFill>
                <a:schemeClr val="bg1"/>
              </a:solidFill>
            </a:endParaRPr>
          </a:p>
        </p:txBody>
      </p:sp>
      <p:sp>
        <p:nvSpPr>
          <p:cNvPr id="9" name="CuadroTexto 8">
            <a:extLst>
              <a:ext uri="{FF2B5EF4-FFF2-40B4-BE49-F238E27FC236}">
                <a16:creationId xmlns:a16="http://schemas.microsoft.com/office/drawing/2014/main" id="{E5B6307F-64A9-41B3-A134-9CEF322921A0}"/>
              </a:ext>
            </a:extLst>
          </p:cNvPr>
          <p:cNvSpPr txBox="1"/>
          <p:nvPr/>
        </p:nvSpPr>
        <p:spPr>
          <a:xfrm>
            <a:off x="1338001" y="668481"/>
            <a:ext cx="4829120"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Bibliography</a:t>
            </a:r>
            <a:endParaRPr lang="es-ES_tradnl" sz="2800" b="1" dirty="0">
              <a:latin typeface="Source Sans Pro" panose="020B0503030403020204" pitchFamily="34" charset="0"/>
              <a:ea typeface="Source Sans Pro" panose="020B0503030403020204" pitchFamily="34" charset="0"/>
            </a:endParaRPr>
          </a:p>
        </p:txBody>
      </p:sp>
      <p:sp>
        <p:nvSpPr>
          <p:cNvPr id="8" name="CuadroTexto 7">
            <a:extLst>
              <a:ext uri="{FF2B5EF4-FFF2-40B4-BE49-F238E27FC236}">
                <a16:creationId xmlns:a16="http://schemas.microsoft.com/office/drawing/2014/main" id="{BBF470F5-D6FA-4D2D-B8AB-F74181E5F487}"/>
              </a:ext>
            </a:extLst>
          </p:cNvPr>
          <p:cNvSpPr txBox="1"/>
          <p:nvPr/>
        </p:nvSpPr>
        <p:spPr>
          <a:xfrm>
            <a:off x="1065240" y="1516638"/>
            <a:ext cx="10061519" cy="2585323"/>
          </a:xfrm>
          <a:prstGeom prst="rect">
            <a:avLst/>
          </a:prstGeom>
          <a:noFill/>
        </p:spPr>
        <p:txBody>
          <a:bodyPr wrap="square">
            <a:spAutoFit/>
          </a:bodyPr>
          <a:lstStyle/>
          <a:p>
            <a:pPr marL="285750" indent="-285750">
              <a:buFont typeface="Arial" panose="020B0604020202020204" pitchFamily="34" charset="0"/>
              <a:buChar char="•"/>
            </a:pPr>
            <a:r>
              <a:rPr lang="es-CO" dirty="0" err="1"/>
              <a:t>Dandl</a:t>
            </a:r>
            <a:r>
              <a:rPr lang="es-CO" dirty="0"/>
              <a:t>, S., </a:t>
            </a:r>
            <a:r>
              <a:rPr lang="es-CO" dirty="0" err="1"/>
              <a:t>Casalicchio</a:t>
            </a:r>
            <a:r>
              <a:rPr lang="es-CO" dirty="0"/>
              <a:t>, G., </a:t>
            </a:r>
            <a:r>
              <a:rPr lang="es-CO" dirty="0" err="1"/>
              <a:t>Bischl</a:t>
            </a:r>
            <a:r>
              <a:rPr lang="es-CO" dirty="0"/>
              <a:t>, B., &amp; </a:t>
            </a:r>
            <a:r>
              <a:rPr lang="es-CO" dirty="0" err="1"/>
              <a:t>Bothmann</a:t>
            </a:r>
            <a:r>
              <a:rPr lang="es-CO" dirty="0"/>
              <a:t>, L. (2023). </a:t>
            </a:r>
            <a:r>
              <a:rPr lang="es-CO" i="1" dirty="0"/>
              <a:t>Interpretable Regional Descriptors: </a:t>
            </a:r>
            <a:r>
              <a:rPr lang="es-CO" i="1" dirty="0" err="1"/>
              <a:t>Hyperbox-Based</a:t>
            </a:r>
            <a:r>
              <a:rPr lang="es-CO" i="1" dirty="0"/>
              <a:t> Local </a:t>
            </a:r>
            <a:r>
              <a:rPr lang="es-CO" i="1" dirty="0" err="1"/>
              <a:t>Explanations</a:t>
            </a:r>
            <a:r>
              <a:rPr lang="es-CO" dirty="0"/>
              <a:t> (arXiv:2305.02780) [</a:t>
            </a:r>
            <a:r>
              <a:rPr lang="es-CO" dirty="0" err="1"/>
              <a:t>Preprint</a:t>
            </a:r>
            <a:r>
              <a:rPr lang="es-CO" dirty="0"/>
              <a:t>]. </a:t>
            </a:r>
            <a:r>
              <a:rPr lang="es-CO" dirty="0" err="1"/>
              <a:t>arXiv</a:t>
            </a:r>
            <a:r>
              <a:rPr lang="es-CO" dirty="0"/>
              <a:t>. </a:t>
            </a:r>
            <a:r>
              <a:rPr lang="es-CO" dirty="0">
                <a:hlinkClick r:id="rId3"/>
              </a:rPr>
              <a:t>https://doi.org/10.48550/arXiv.2305.02780</a:t>
            </a:r>
            <a:endParaRPr lang="es-CO" dirty="0"/>
          </a:p>
          <a:p>
            <a:pPr marL="285750" indent="-285750">
              <a:buFont typeface="Arial" panose="020B0604020202020204" pitchFamily="34" charset="0"/>
              <a:buChar char="•"/>
            </a:pPr>
            <a:r>
              <a:rPr lang="es-CO" dirty="0" err="1"/>
              <a:t>Gass</a:t>
            </a:r>
            <a:r>
              <a:rPr lang="es-CO" dirty="0"/>
              <a:t>, R., Li, Z., </a:t>
            </a:r>
            <a:r>
              <a:rPr lang="es-CO" dirty="0" err="1"/>
              <a:t>Outbib</a:t>
            </a:r>
            <a:r>
              <a:rPr lang="es-CO" dirty="0"/>
              <a:t>, R., </a:t>
            </a:r>
            <a:r>
              <a:rPr lang="es-CO" dirty="0" err="1"/>
              <a:t>Jemei</a:t>
            </a:r>
            <a:r>
              <a:rPr lang="es-CO" dirty="0"/>
              <a:t>, S., &amp; </a:t>
            </a:r>
            <a:r>
              <a:rPr lang="es-CO" dirty="0" err="1"/>
              <a:t>Hissel</a:t>
            </a:r>
            <a:r>
              <a:rPr lang="es-CO" dirty="0"/>
              <a:t>, D. (2024). </a:t>
            </a:r>
            <a:r>
              <a:rPr lang="es-CO" i="1" dirty="0" err="1"/>
              <a:t>AlphaPEM</a:t>
            </a:r>
            <a:r>
              <a:rPr lang="es-CO" i="1" dirty="0"/>
              <a:t>: </a:t>
            </a:r>
            <a:r>
              <a:rPr lang="es-CO" i="1" dirty="0" err="1"/>
              <a:t>An</a:t>
            </a:r>
            <a:r>
              <a:rPr lang="es-CO" i="1" dirty="0"/>
              <a:t> open-</a:t>
            </a:r>
            <a:r>
              <a:rPr lang="es-CO" i="1" dirty="0" err="1"/>
              <a:t>source</a:t>
            </a:r>
            <a:r>
              <a:rPr lang="es-CO" i="1" dirty="0"/>
              <a:t> </a:t>
            </a:r>
            <a:r>
              <a:rPr lang="es-CO" i="1" dirty="0" err="1"/>
              <a:t>dynamic</a:t>
            </a:r>
            <a:r>
              <a:rPr lang="es-CO" i="1" dirty="0"/>
              <a:t> 1D </a:t>
            </a:r>
            <a:r>
              <a:rPr lang="es-CO" i="1" dirty="0" err="1"/>
              <a:t>physics-based</a:t>
            </a:r>
            <a:r>
              <a:rPr lang="es-CO" i="1" dirty="0"/>
              <a:t> PEM fuel </a:t>
            </a:r>
            <a:r>
              <a:rPr lang="es-CO" i="1" dirty="0" err="1"/>
              <a:t>cell</a:t>
            </a:r>
            <a:r>
              <a:rPr lang="es-CO" i="1" dirty="0"/>
              <a:t> </a:t>
            </a:r>
            <a:r>
              <a:rPr lang="es-CO" i="1" dirty="0" err="1"/>
              <a:t>model</a:t>
            </a:r>
            <a:r>
              <a:rPr lang="es-CO" i="1" dirty="0"/>
              <a:t> </a:t>
            </a:r>
            <a:r>
              <a:rPr lang="es-CO" i="1" dirty="0" err="1"/>
              <a:t>for</a:t>
            </a:r>
            <a:r>
              <a:rPr lang="es-CO" i="1" dirty="0"/>
              <a:t> </a:t>
            </a:r>
            <a:r>
              <a:rPr lang="es-CO" i="1" dirty="0" err="1"/>
              <a:t>embedded</a:t>
            </a:r>
            <a:r>
              <a:rPr lang="es-CO" i="1" dirty="0"/>
              <a:t> </a:t>
            </a:r>
            <a:r>
              <a:rPr lang="es-CO" i="1" dirty="0" err="1"/>
              <a:t>applications</a:t>
            </a:r>
            <a:r>
              <a:rPr lang="es-CO" dirty="0"/>
              <a:t> [</a:t>
            </a:r>
            <a:r>
              <a:rPr lang="es-CO" dirty="0" err="1"/>
              <a:t>Preprint</a:t>
            </a:r>
            <a:r>
              <a:rPr lang="es-CO" dirty="0"/>
              <a:t>]. </a:t>
            </a:r>
            <a:r>
              <a:rPr lang="es-CO" dirty="0" err="1"/>
              <a:t>SoftwareX</a:t>
            </a:r>
            <a:r>
              <a:rPr lang="es-CO" dirty="0"/>
              <a:t>. </a:t>
            </a:r>
            <a:r>
              <a:rPr lang="es-CO" dirty="0">
                <a:hlinkClick r:id="rId4"/>
              </a:rPr>
              <a:t>https://doi.org/10.48550/arXiv.2407.12373</a:t>
            </a:r>
            <a:endParaRPr lang="es-CO" dirty="0"/>
          </a:p>
          <a:p>
            <a:pPr marL="285750" indent="-285750">
              <a:buFont typeface="Arial" panose="020B0604020202020204" pitchFamily="34" charset="0"/>
              <a:buChar char="•"/>
            </a:pPr>
            <a:r>
              <a:rPr lang="en-US" dirty="0" err="1"/>
              <a:t>Safjan</a:t>
            </a:r>
            <a:r>
              <a:rPr lang="en-US" dirty="0"/>
              <a:t>, K. (2023). </a:t>
            </a:r>
            <a:r>
              <a:rPr lang="en-US" i="1" dirty="0" err="1"/>
              <a:t>KernelShap</a:t>
            </a:r>
            <a:r>
              <a:rPr lang="en-US" i="1" dirty="0"/>
              <a:t> and </a:t>
            </a:r>
            <a:r>
              <a:rPr lang="en-US" i="1" dirty="0" err="1"/>
              <a:t>TreeShap</a:t>
            </a:r>
            <a:r>
              <a:rPr lang="en-US" i="1" dirty="0"/>
              <a:t> – Two Most Popular Variations of the SHAP Method</a:t>
            </a:r>
            <a:r>
              <a:rPr lang="en-US" dirty="0"/>
              <a:t>. </a:t>
            </a:r>
            <a:r>
              <a:rPr lang="en-US" dirty="0" err="1"/>
              <a:t>Safjan</a:t>
            </a:r>
            <a:r>
              <a:rPr lang="en-US" dirty="0"/>
              <a:t> Blog. Retrieved from </a:t>
            </a:r>
            <a:r>
              <a:rPr lang="en-US" dirty="0">
                <a:hlinkClick r:id="rId5"/>
              </a:rPr>
              <a:t>https://safjan.com/kernelshap-treeshap-two-most-popular-variations-of-the-shap-method/</a:t>
            </a:r>
            <a:endParaRPr lang="es-CO" dirty="0"/>
          </a:p>
        </p:txBody>
      </p:sp>
    </p:spTree>
    <p:extLst>
      <p:ext uri="{BB962C8B-B14F-4D97-AF65-F5344CB8AC3E}">
        <p14:creationId xmlns:p14="http://schemas.microsoft.com/office/powerpoint/2010/main" val="1850149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lipse 12">
            <a:extLst>
              <a:ext uri="{FF2B5EF4-FFF2-40B4-BE49-F238E27FC236}">
                <a16:creationId xmlns:a16="http://schemas.microsoft.com/office/drawing/2014/main" id="{C3EB2798-D8F7-B5F1-59CB-34AEDA5DC5C4}"/>
              </a:ext>
            </a:extLst>
          </p:cNvPr>
          <p:cNvSpPr/>
          <p:nvPr/>
        </p:nvSpPr>
        <p:spPr>
          <a:xfrm>
            <a:off x="787683" y="2424207"/>
            <a:ext cx="1177637" cy="1177637"/>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Elipse 10">
            <a:extLst>
              <a:ext uri="{FF2B5EF4-FFF2-40B4-BE49-F238E27FC236}">
                <a16:creationId xmlns:a16="http://schemas.microsoft.com/office/drawing/2014/main" id="{CFC2B8CD-5E29-A9BC-DFE7-277435483FE0}"/>
              </a:ext>
            </a:extLst>
          </p:cNvPr>
          <p:cNvSpPr/>
          <p:nvPr/>
        </p:nvSpPr>
        <p:spPr>
          <a:xfrm>
            <a:off x="1676400" y="2174826"/>
            <a:ext cx="1676399" cy="1676399"/>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56</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0" name="Elipse 9">
            <a:extLst>
              <a:ext uri="{FF2B5EF4-FFF2-40B4-BE49-F238E27FC236}">
                <a16:creationId xmlns:a16="http://schemas.microsoft.com/office/drawing/2014/main" id="{D7C3B292-F02E-79B3-F238-E6CBE7E04262}"/>
              </a:ext>
            </a:extLst>
          </p:cNvPr>
          <p:cNvSpPr/>
          <p:nvPr/>
        </p:nvSpPr>
        <p:spPr>
          <a:xfrm>
            <a:off x="3018431" y="1973005"/>
            <a:ext cx="2080041" cy="2080041"/>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7" name="CuadroTexto 16">
            <a:extLst>
              <a:ext uri="{FF2B5EF4-FFF2-40B4-BE49-F238E27FC236}">
                <a16:creationId xmlns:a16="http://schemas.microsoft.com/office/drawing/2014/main" id="{09D9639B-4326-4593-F92B-B074DE38C7CB}"/>
              </a:ext>
            </a:extLst>
          </p:cNvPr>
          <p:cNvSpPr txBox="1"/>
          <p:nvPr/>
        </p:nvSpPr>
        <p:spPr>
          <a:xfrm>
            <a:off x="999555"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JAN.</a:t>
            </a:r>
          </a:p>
        </p:txBody>
      </p:sp>
      <p:sp>
        <p:nvSpPr>
          <p:cNvPr id="18" name="CuadroTexto 17">
            <a:extLst>
              <a:ext uri="{FF2B5EF4-FFF2-40B4-BE49-F238E27FC236}">
                <a16:creationId xmlns:a16="http://schemas.microsoft.com/office/drawing/2014/main" id="{BC35600E-07BF-1508-EEA0-EE2D840DDBCB}"/>
              </a:ext>
            </a:extLst>
          </p:cNvPr>
          <p:cNvSpPr txBox="1"/>
          <p:nvPr/>
        </p:nvSpPr>
        <p:spPr>
          <a:xfrm>
            <a:off x="2094064"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FEB.</a:t>
            </a:r>
          </a:p>
        </p:txBody>
      </p:sp>
      <p:sp>
        <p:nvSpPr>
          <p:cNvPr id="19" name="CuadroTexto 18">
            <a:extLst>
              <a:ext uri="{FF2B5EF4-FFF2-40B4-BE49-F238E27FC236}">
                <a16:creationId xmlns:a16="http://schemas.microsoft.com/office/drawing/2014/main" id="{44BF09BB-12BC-8EA4-C409-C29CDBFB4099}"/>
              </a:ext>
            </a:extLst>
          </p:cNvPr>
          <p:cNvSpPr txBox="1"/>
          <p:nvPr/>
        </p:nvSpPr>
        <p:spPr>
          <a:xfrm>
            <a:off x="3645773"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MAR.</a:t>
            </a:r>
          </a:p>
        </p:txBody>
      </p:sp>
      <p:sp>
        <p:nvSpPr>
          <p:cNvPr id="9" name="Elipse 8">
            <a:extLst>
              <a:ext uri="{FF2B5EF4-FFF2-40B4-BE49-F238E27FC236}">
                <a16:creationId xmlns:a16="http://schemas.microsoft.com/office/drawing/2014/main" id="{D1E4DAF4-1893-2904-5A46-4805EA8D9F16}"/>
              </a:ext>
            </a:extLst>
          </p:cNvPr>
          <p:cNvSpPr/>
          <p:nvPr/>
        </p:nvSpPr>
        <p:spPr>
          <a:xfrm>
            <a:off x="4680287" y="1796264"/>
            <a:ext cx="2433522" cy="2433522"/>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1" name="CuadroTexto 20">
            <a:extLst>
              <a:ext uri="{FF2B5EF4-FFF2-40B4-BE49-F238E27FC236}">
                <a16:creationId xmlns:a16="http://schemas.microsoft.com/office/drawing/2014/main" id="{048BB49C-747D-F9D4-7DE9-0EC22E871613}"/>
              </a:ext>
            </a:extLst>
          </p:cNvPr>
          <p:cNvSpPr txBox="1"/>
          <p:nvPr/>
        </p:nvSpPr>
        <p:spPr>
          <a:xfrm>
            <a:off x="5391446"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JUN</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2" name="CuadroTexto 21">
            <a:extLst>
              <a:ext uri="{FF2B5EF4-FFF2-40B4-BE49-F238E27FC236}">
                <a16:creationId xmlns:a16="http://schemas.microsoft.com/office/drawing/2014/main" id="{18618542-6477-203F-6F19-B52735FA7BC6}"/>
              </a:ext>
            </a:extLst>
          </p:cNvPr>
          <p:cNvSpPr txBox="1"/>
          <p:nvPr/>
        </p:nvSpPr>
        <p:spPr>
          <a:xfrm>
            <a:off x="68877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12" name="Elipse 11">
            <a:extLst>
              <a:ext uri="{FF2B5EF4-FFF2-40B4-BE49-F238E27FC236}">
                <a16:creationId xmlns:a16="http://schemas.microsoft.com/office/drawing/2014/main" id="{9207B67C-3C02-1294-EFD6-E6D63A768CFA}"/>
              </a:ext>
            </a:extLst>
          </p:cNvPr>
          <p:cNvSpPr/>
          <p:nvPr/>
        </p:nvSpPr>
        <p:spPr>
          <a:xfrm>
            <a:off x="6255327" y="1796264"/>
            <a:ext cx="2433522" cy="2433522"/>
          </a:xfrm>
          <a:prstGeom prst="ellipse">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Elipse 7">
            <a:extLst>
              <a:ext uri="{FF2B5EF4-FFF2-40B4-BE49-F238E27FC236}">
                <a16:creationId xmlns:a16="http://schemas.microsoft.com/office/drawing/2014/main" id="{641AF8F1-7905-6AEB-7B23-BB325CD00088}"/>
              </a:ext>
            </a:extLst>
          </p:cNvPr>
          <p:cNvSpPr/>
          <p:nvPr/>
        </p:nvSpPr>
        <p:spPr>
          <a:xfrm>
            <a:off x="8143028" y="1668628"/>
            <a:ext cx="2688795" cy="2688795"/>
          </a:xfrm>
          <a:prstGeom prst="ellipse">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3" name="CuadroTexto 22">
            <a:extLst>
              <a:ext uri="{FF2B5EF4-FFF2-40B4-BE49-F238E27FC236}">
                <a16:creationId xmlns:a16="http://schemas.microsoft.com/office/drawing/2014/main" id="{5A41DB15-0620-6125-C8C9-EB97FD0A0E8C}"/>
              </a:ext>
            </a:extLst>
          </p:cNvPr>
          <p:cNvSpPr txBox="1"/>
          <p:nvPr/>
        </p:nvSpPr>
        <p:spPr>
          <a:xfrm>
            <a:off x="70401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24" name="CuadroTexto 23">
            <a:extLst>
              <a:ext uri="{FF2B5EF4-FFF2-40B4-BE49-F238E27FC236}">
                <a16:creationId xmlns:a16="http://schemas.microsoft.com/office/drawing/2014/main" id="{8EC00657-7609-4A30-DA73-FAD8E20078AD}"/>
              </a:ext>
            </a:extLst>
          </p:cNvPr>
          <p:cNvSpPr txBox="1"/>
          <p:nvPr/>
        </p:nvSpPr>
        <p:spPr>
          <a:xfrm>
            <a:off x="9229155"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AUG</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5" name="CuadroTexto 24">
            <a:extLst>
              <a:ext uri="{FF2B5EF4-FFF2-40B4-BE49-F238E27FC236}">
                <a16:creationId xmlns:a16="http://schemas.microsoft.com/office/drawing/2014/main" id="{F52B18F5-E82A-6E81-71FE-B915904CB5C9}"/>
              </a:ext>
            </a:extLst>
          </p:cNvPr>
          <p:cNvSpPr txBox="1"/>
          <p:nvPr/>
        </p:nvSpPr>
        <p:spPr>
          <a:xfrm>
            <a:off x="706079" y="5098207"/>
            <a:ext cx="2082621" cy="923330"/>
          </a:xfrm>
          <a:prstGeom prst="rect">
            <a:avLst/>
          </a:prstGeom>
          <a:noFill/>
        </p:spPr>
        <p:txBody>
          <a:bodyPr wrap="none" rtlCol="0">
            <a:spAutoFit/>
          </a:bodyPr>
          <a:lstStyle/>
          <a:p>
            <a:r>
              <a:rPr lang="es-ES_tradnl" b="1" spc="300" dirty="0">
                <a:solidFill>
                  <a:schemeClr val="bg1">
                    <a:lumMod val="50000"/>
                  </a:schemeClr>
                </a:solidFill>
                <a:latin typeface="Source Sans Pro SemiBold" panose="020B0503030403020204" pitchFamily="34" charset="0"/>
                <a:ea typeface="Source Sans Pro SemiBold" panose="020B0503030403020204" pitchFamily="34" charset="0"/>
              </a:rPr>
              <a:t>PREPROYECTO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6" name="CuadroTexto 25">
            <a:extLst>
              <a:ext uri="{FF2B5EF4-FFF2-40B4-BE49-F238E27FC236}">
                <a16:creationId xmlns:a16="http://schemas.microsoft.com/office/drawing/2014/main" id="{6B8EE8CD-9ED8-B345-F90E-D548FA8285D0}"/>
              </a:ext>
            </a:extLst>
          </p:cNvPr>
          <p:cNvSpPr txBox="1"/>
          <p:nvPr/>
        </p:nvSpPr>
        <p:spPr>
          <a:xfrm>
            <a:off x="3434913" y="5098207"/>
            <a:ext cx="1667444" cy="923330"/>
          </a:xfrm>
          <a:prstGeom prst="rect">
            <a:avLst/>
          </a:prstGeom>
          <a:noFill/>
        </p:spPr>
        <p:txBody>
          <a:bodyPr wrap="none" rtlCol="0">
            <a:spAutoFit/>
          </a:bodyPr>
          <a:lstStyle/>
          <a:p>
            <a:r>
              <a:rPr lang="es-ES_tradnl" b="1" spc="300" dirty="0">
                <a:solidFill>
                  <a:srgbClr val="8879F5"/>
                </a:solidFill>
                <a:latin typeface="Source Sans Pro SemiBold" panose="020B0503030403020204" pitchFamily="34" charset="0"/>
                <a:ea typeface="Source Sans Pro SemiBold" panose="020B0503030403020204" pitchFamily="34" charset="0"/>
              </a:rPr>
              <a:t>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7" name="CuadroTexto 26">
            <a:extLst>
              <a:ext uri="{FF2B5EF4-FFF2-40B4-BE49-F238E27FC236}">
                <a16:creationId xmlns:a16="http://schemas.microsoft.com/office/drawing/2014/main" id="{28595E50-F9FF-61DF-5145-2CF10444DB8E}"/>
              </a:ext>
            </a:extLst>
          </p:cNvPr>
          <p:cNvSpPr txBox="1"/>
          <p:nvPr/>
        </p:nvSpPr>
        <p:spPr>
          <a:xfrm>
            <a:off x="6887737" y="5098207"/>
            <a:ext cx="2103461" cy="923330"/>
          </a:xfrm>
          <a:prstGeom prst="rect">
            <a:avLst/>
          </a:prstGeom>
          <a:noFill/>
        </p:spPr>
        <p:txBody>
          <a:bodyPr wrap="none" rtlCol="0">
            <a:spAutoFit/>
          </a:bodyPr>
          <a:lstStyle/>
          <a:p>
            <a:r>
              <a:rPr lang="es-ES_tradnl" b="1" spc="300" dirty="0">
                <a:solidFill>
                  <a:srgbClr val="008B2E"/>
                </a:solidFill>
                <a:latin typeface="Source Sans Pro SemiBold" panose="020B0503030403020204" pitchFamily="34" charset="0"/>
                <a:ea typeface="Source Sans Pro SemiBold" panose="020B0503030403020204" pitchFamily="34" charset="0"/>
              </a:rPr>
              <a:t>POSPROYECTO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cxnSp>
        <p:nvCxnSpPr>
          <p:cNvPr id="29" name="Conector recto 28">
            <a:extLst>
              <a:ext uri="{FF2B5EF4-FFF2-40B4-BE49-F238E27FC236}">
                <a16:creationId xmlns:a16="http://schemas.microsoft.com/office/drawing/2014/main" id="{2B02DA4C-E3CE-BF32-689F-C9597CDB2DC6}"/>
              </a:ext>
            </a:extLst>
          </p:cNvPr>
          <p:cNvCxnSpPr/>
          <p:nvPr/>
        </p:nvCxnSpPr>
        <p:spPr>
          <a:xfrm>
            <a:off x="3267306" y="3851225"/>
            <a:ext cx="0" cy="2170312"/>
          </a:xfrm>
          <a:prstGeom prst="line">
            <a:avLst/>
          </a:prstGeom>
          <a:ln>
            <a:solidFill>
              <a:srgbClr val="8879F5"/>
            </a:solidFill>
            <a:prstDash val="sysDash"/>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CA54B685-7677-B922-26D1-F5727270571C}"/>
              </a:ext>
            </a:extLst>
          </p:cNvPr>
          <p:cNvCxnSpPr/>
          <p:nvPr/>
        </p:nvCxnSpPr>
        <p:spPr>
          <a:xfrm>
            <a:off x="6647815" y="3851225"/>
            <a:ext cx="0" cy="2170312"/>
          </a:xfrm>
          <a:prstGeom prst="line">
            <a:avLst/>
          </a:prstGeom>
          <a:ln>
            <a:solidFill>
              <a:srgbClr val="BBE555"/>
            </a:solidFill>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952802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72D9C-000E-64ED-CF4E-0F6FDCDA8BF8}"/>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880CB7DD-1ABF-D944-A58F-6E3E05063872}"/>
              </a:ext>
            </a:extLst>
          </p:cNvPr>
          <p:cNvSpPr>
            <a:spLocks noGrp="1"/>
          </p:cNvSpPr>
          <p:nvPr>
            <p:ph type="sldNum" sz="quarter" idx="12"/>
          </p:nvPr>
        </p:nvSpPr>
        <p:spPr/>
        <p:txBody>
          <a:bodyPr/>
          <a:lstStyle/>
          <a:p>
            <a:fld id="{B75BC28E-972B-EC47-BE79-29D89D46B9CA}" type="slidenum">
              <a:rPr lang="es-ES_tradnl" b="1" smtClean="0">
                <a:solidFill>
                  <a:schemeClr val="bg1"/>
                </a:solidFill>
              </a:rPr>
              <a:t>57</a:t>
            </a:fld>
            <a:endParaRPr lang="es-ES_tradnl" b="1" dirty="0">
              <a:solidFill>
                <a:schemeClr val="bg1"/>
              </a:solidFill>
            </a:endParaRPr>
          </a:p>
        </p:txBody>
      </p:sp>
      <p:sp>
        <p:nvSpPr>
          <p:cNvPr id="5" name="CuadroTexto 4">
            <a:extLst>
              <a:ext uri="{FF2B5EF4-FFF2-40B4-BE49-F238E27FC236}">
                <a16:creationId xmlns:a16="http://schemas.microsoft.com/office/drawing/2014/main" id="{B49C4547-7B2E-8439-95AA-A2021ADA72D1}"/>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4CEDC91-9EBE-7113-8950-4F62B79069CC}"/>
              </a:ext>
            </a:extLst>
          </p:cNvPr>
          <p:cNvSpPr/>
          <p:nvPr/>
        </p:nvSpPr>
        <p:spPr>
          <a:xfrm>
            <a:off x="1326995" y="334536"/>
            <a:ext cx="2598234" cy="307777"/>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Goals</a:t>
            </a:r>
            <a:r>
              <a:rPr lang="es-ES_tradnl" dirty="0">
                <a:solidFill>
                  <a:schemeClr val="bg1"/>
                </a:solidFill>
                <a:latin typeface="Source Sans Pro" panose="020B0503030403020204" pitchFamily="34" charset="0"/>
                <a:ea typeface="Source Sans Pro" panose="020B0503030403020204" pitchFamily="34" charset="0"/>
              </a:rPr>
              <a:t> and </a:t>
            </a:r>
            <a:r>
              <a:rPr lang="es-ES_tradnl" dirty="0" err="1">
                <a:solidFill>
                  <a:schemeClr val="bg1"/>
                </a:solidFill>
                <a:latin typeface="Source Sans Pro" panose="020B0503030403020204" pitchFamily="34" charset="0"/>
                <a:ea typeface="Source Sans Pro" panose="020B0503030403020204" pitchFamily="34" charset="0"/>
              </a:rPr>
              <a:t>outcomes</a:t>
            </a:r>
            <a:r>
              <a:rPr lang="es-ES_tradnl" dirty="0">
                <a:solidFill>
                  <a:schemeClr val="bg1"/>
                </a:solidFill>
                <a:latin typeface="Source Sans Pro" panose="020B0503030403020204" pitchFamily="34" charset="0"/>
                <a:ea typeface="Source Sans Pro" panose="020B0503030403020204" pitchFamily="34" charset="0"/>
              </a:rPr>
              <a:t> </a:t>
            </a:r>
            <a:endParaRPr lang="es-ES_tradnl" dirty="0">
              <a:solidFill>
                <a:schemeClr val="bg1"/>
              </a:solidFill>
            </a:endParaRPr>
          </a:p>
        </p:txBody>
      </p:sp>
      <p:sp>
        <p:nvSpPr>
          <p:cNvPr id="8" name="CuadroTexto 7">
            <a:extLst>
              <a:ext uri="{FF2B5EF4-FFF2-40B4-BE49-F238E27FC236}">
                <a16:creationId xmlns:a16="http://schemas.microsoft.com/office/drawing/2014/main" id="{CEAB235E-49A2-3E20-3951-EE1E49F3EA57}"/>
              </a:ext>
            </a:extLst>
          </p:cNvPr>
          <p:cNvSpPr txBox="1"/>
          <p:nvPr/>
        </p:nvSpPr>
        <p:spPr>
          <a:xfrm>
            <a:off x="702526" y="334535"/>
            <a:ext cx="624469"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0" name="Rectángulo redondeado 9">
            <a:extLst>
              <a:ext uri="{FF2B5EF4-FFF2-40B4-BE49-F238E27FC236}">
                <a16:creationId xmlns:a16="http://schemas.microsoft.com/office/drawing/2014/main" id="{881F9FDB-DC00-699C-F82F-C391131AC537}"/>
              </a:ext>
            </a:extLst>
          </p:cNvPr>
          <p:cNvSpPr/>
          <p:nvPr/>
        </p:nvSpPr>
        <p:spPr>
          <a:xfrm>
            <a:off x="3804255" y="1371863"/>
            <a:ext cx="5808095" cy="475184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chemeClr val="bg1"/>
                </a:solidFill>
                <a:latin typeface="Source Sans Pro" panose="020B0503030403020204" pitchFamily="34" charset="0"/>
                <a:ea typeface="Source Sans Pro" panose="020B0503030403020204" pitchFamily="34" charset="0"/>
              </a:rPr>
              <a:t>What</a:t>
            </a:r>
            <a:r>
              <a:rPr lang="es-CO" sz="3200" dirty="0">
                <a:solidFill>
                  <a:schemeClr val="bg1"/>
                </a:solidFill>
                <a:latin typeface="Source Sans Pro" panose="020B0503030403020204" pitchFamily="34" charset="0"/>
                <a:ea typeface="Source Sans Pro" panose="020B0503030403020204" pitchFamily="34" charset="0"/>
              </a:rPr>
              <a:t> are </a:t>
            </a:r>
            <a:r>
              <a:rPr lang="es-CO" sz="3200" b="1" dirty="0" err="1">
                <a:solidFill>
                  <a:schemeClr val="bg1"/>
                </a:solidFill>
                <a:latin typeface="Source Sans Pro" panose="020B0503030403020204" pitchFamily="34" charset="0"/>
                <a:ea typeface="Source Sans Pro" panose="020B0503030403020204" pitchFamily="34" charset="0"/>
              </a:rPr>
              <a:t>the</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deliverables</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in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out</a:t>
            </a:r>
            <a:r>
              <a:rPr lang="es-CO" sz="3200" b="1"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p:txBody>
      </p:sp>
      <p:sp>
        <p:nvSpPr>
          <p:cNvPr id="3" name="CuadroTexto 2">
            <a:extLst>
              <a:ext uri="{FF2B5EF4-FFF2-40B4-BE49-F238E27FC236}">
                <a16:creationId xmlns:a16="http://schemas.microsoft.com/office/drawing/2014/main" id="{ACEED1E3-E86A-8460-E316-34DDD48A5C87}"/>
              </a:ext>
            </a:extLst>
          </p:cNvPr>
          <p:cNvSpPr txBox="1"/>
          <p:nvPr/>
        </p:nvSpPr>
        <p:spPr>
          <a:xfrm>
            <a:off x="4099661" y="1660741"/>
            <a:ext cx="2179084" cy="707886"/>
          </a:xfrm>
          <a:prstGeom prst="rect">
            <a:avLst/>
          </a:prstGeom>
          <a:noFill/>
        </p:spPr>
        <p:txBody>
          <a:bodyPr wrap="square" rtlCol="0">
            <a:spAutoFit/>
          </a:bodyPr>
          <a:lstStyle/>
          <a:p>
            <a:pPr algn="ctr"/>
            <a:r>
              <a:rPr lang="es-ES_tradnl" sz="4000" b="1" dirty="0" err="1">
                <a:solidFill>
                  <a:schemeClr val="bg1"/>
                </a:solidFill>
                <a:latin typeface="Source Sans Pro" panose="020B0503030403020204" pitchFamily="34" charset="0"/>
                <a:ea typeface="Source Sans Pro" panose="020B0503030403020204" pitchFamily="34" charset="0"/>
              </a:rPr>
              <a:t>Scope</a:t>
            </a:r>
            <a:endParaRPr lang="es-ES_tradnl" sz="40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1653420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58</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9" name="Rectángulo redondeado 8">
            <a:extLst>
              <a:ext uri="{FF2B5EF4-FFF2-40B4-BE49-F238E27FC236}">
                <a16:creationId xmlns:a16="http://schemas.microsoft.com/office/drawing/2014/main" id="{1F65C442-9F72-5291-7AD6-F6D1161DCB37}"/>
              </a:ext>
            </a:extLst>
          </p:cNvPr>
          <p:cNvSpPr/>
          <p:nvPr/>
        </p:nvSpPr>
        <p:spPr>
          <a:xfrm>
            <a:off x="1873404" y="1293542"/>
            <a:ext cx="2932772" cy="4884236"/>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problem</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project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trying</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to</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solve</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0" name="Rectángulo redondeado 9">
            <a:extLst>
              <a:ext uri="{FF2B5EF4-FFF2-40B4-BE49-F238E27FC236}">
                <a16:creationId xmlns:a16="http://schemas.microsoft.com/office/drawing/2014/main" id="{F0B44B1E-2082-14FA-DB99-75B3B8C5D7C4}"/>
              </a:ext>
            </a:extLst>
          </p:cNvPr>
          <p:cNvSpPr/>
          <p:nvPr/>
        </p:nvSpPr>
        <p:spPr>
          <a:xfrm>
            <a:off x="5018048"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important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for</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you</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1" name="Rectángulo redondeado 10">
            <a:extLst>
              <a:ext uri="{FF2B5EF4-FFF2-40B4-BE49-F238E27FC236}">
                <a16:creationId xmlns:a16="http://schemas.microsoft.com/office/drawing/2014/main" id="{DA65F061-9EEF-E288-C795-FAF352C047AB}"/>
              </a:ext>
            </a:extLst>
          </p:cNvPr>
          <p:cNvSpPr/>
          <p:nvPr/>
        </p:nvSpPr>
        <p:spPr>
          <a:xfrm>
            <a:off x="7995424"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objectives</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2" name="Rectángulo redondeado 11">
            <a:extLst>
              <a:ext uri="{FF2B5EF4-FFF2-40B4-BE49-F238E27FC236}">
                <a16:creationId xmlns:a16="http://schemas.microsoft.com/office/drawing/2014/main" id="{26D68EC4-FD41-4246-C434-C784CC70A614}"/>
              </a:ext>
            </a:extLst>
          </p:cNvPr>
          <p:cNvSpPr/>
          <p:nvPr/>
        </p:nvSpPr>
        <p:spPr>
          <a:xfrm>
            <a:off x="5018048"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now</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B09FE28B-162B-E8BE-603A-43BC461C9947}"/>
              </a:ext>
            </a:extLst>
          </p:cNvPr>
          <p:cNvSpPr/>
          <p:nvPr/>
        </p:nvSpPr>
        <p:spPr>
          <a:xfrm>
            <a:off x="7995424"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a:t>
            </a:r>
            <a:br>
              <a:rPr lang="es-ES_tradnl" sz="2800" dirty="0">
                <a:solidFill>
                  <a:schemeClr val="tx1"/>
                </a:solidFill>
                <a:latin typeface="Source Sans Pro" panose="020B0503030403020204" pitchFamily="34" charset="0"/>
                <a:ea typeface="Source Sans Pro" panose="020B0503030403020204" pitchFamily="34" charset="0"/>
              </a:rPr>
            </a:b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key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milestones</a:t>
            </a:r>
            <a:r>
              <a:rPr lang="es-ES_tradnl" sz="2800" dirty="0">
                <a:solidFill>
                  <a:schemeClr val="tx1"/>
                </a:solidFill>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9508716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59</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31" name="Rectángulo 30">
            <a:extLst>
              <a:ext uri="{FF2B5EF4-FFF2-40B4-BE49-F238E27FC236}">
                <a16:creationId xmlns:a16="http://schemas.microsoft.com/office/drawing/2014/main" id="{E70CDB3F-DBEA-4544-8641-5AF3541ECD55}"/>
              </a:ext>
            </a:extLst>
          </p:cNvPr>
          <p:cNvSpPr/>
          <p:nvPr/>
        </p:nvSpPr>
        <p:spPr>
          <a:xfrm>
            <a:off x="8679860" y="2010463"/>
            <a:ext cx="3502971" cy="35796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CuadroTexto 31">
            <a:extLst>
              <a:ext uri="{FF2B5EF4-FFF2-40B4-BE49-F238E27FC236}">
                <a16:creationId xmlns:a16="http://schemas.microsoft.com/office/drawing/2014/main" id="{4CB583F6-0C2C-406E-8F02-DCA342A345EB}"/>
              </a:ext>
            </a:extLst>
          </p:cNvPr>
          <p:cNvSpPr txBox="1"/>
          <p:nvPr/>
        </p:nvSpPr>
        <p:spPr>
          <a:xfrm>
            <a:off x="828000" y="1242000"/>
            <a:ext cx="3481844" cy="76944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a:t>
            </a:r>
            <a:r>
              <a:rPr kumimoji="0" lang="es-ES_tradnl"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 sz="4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40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33" name="CuadroTexto 32">
            <a:extLst>
              <a:ext uri="{FF2B5EF4-FFF2-40B4-BE49-F238E27FC236}">
                <a16:creationId xmlns:a16="http://schemas.microsoft.com/office/drawing/2014/main" id="{B6FD8B24-8F4F-492E-8C52-1FD4631FE83E}"/>
              </a:ext>
            </a:extLst>
          </p:cNvPr>
          <p:cNvSpPr txBox="1"/>
          <p:nvPr/>
        </p:nvSpPr>
        <p:spPr>
          <a:xfrm>
            <a:off x="1260334" y="2010463"/>
            <a:ext cx="7110553" cy="506292"/>
          </a:xfrm>
          <a:prstGeom prst="rect">
            <a:avLst/>
          </a:prstGeom>
          <a:noFill/>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Sobol analysis assumes the model can be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decomposed additively</a:t>
            </a:r>
            <a:endPar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4" name="CuadroTexto 33">
            <a:extLst>
              <a:ext uri="{FF2B5EF4-FFF2-40B4-BE49-F238E27FC236}">
                <a16:creationId xmlns:a16="http://schemas.microsoft.com/office/drawing/2014/main" id="{5F3BCBC7-2C4B-4C36-AA84-5C34D9DDEE17}"/>
              </a:ext>
            </a:extLst>
          </p:cNvPr>
          <p:cNvSpPr txBox="1"/>
          <p:nvPr/>
        </p:nvSpPr>
        <p:spPr>
          <a:xfrm>
            <a:off x="8859558" y="2154689"/>
            <a:ext cx="3226837"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 First-order (S1)</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Individual effect</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35" name="Imagen 34">
            <a:extLst>
              <a:ext uri="{FF2B5EF4-FFF2-40B4-BE49-F238E27FC236}">
                <a16:creationId xmlns:a16="http://schemas.microsoft.com/office/drawing/2014/main" id="{2BE4DC65-9D19-48D4-B260-5D8122AE2B4E}"/>
              </a:ext>
            </a:extLst>
          </p:cNvPr>
          <p:cNvPicPr>
            <a:picLocks noChangeAspect="1"/>
          </p:cNvPicPr>
          <p:nvPr/>
        </p:nvPicPr>
        <p:blipFill>
          <a:blip r:embed="rId2"/>
          <a:stretch>
            <a:fillRect/>
          </a:stretch>
        </p:blipFill>
        <p:spPr>
          <a:xfrm>
            <a:off x="1260335" y="2479375"/>
            <a:ext cx="5922786" cy="707886"/>
          </a:xfrm>
          <a:prstGeom prst="rect">
            <a:avLst/>
          </a:prstGeom>
        </p:spPr>
      </p:pic>
      <p:sp>
        <p:nvSpPr>
          <p:cNvPr id="36" name="CuadroTexto 35">
            <a:extLst>
              <a:ext uri="{FF2B5EF4-FFF2-40B4-BE49-F238E27FC236}">
                <a16:creationId xmlns:a16="http://schemas.microsoft.com/office/drawing/2014/main" id="{2E13048B-07B5-4596-BA77-5CF03212F160}"/>
              </a:ext>
            </a:extLst>
          </p:cNvPr>
          <p:cNvSpPr txBox="1"/>
          <p:nvPr/>
        </p:nvSpPr>
        <p:spPr>
          <a:xfrm>
            <a:off x="1260334" y="3429000"/>
            <a:ext cx="6969265" cy="70788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Since the model is decomposed this way, the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total variance </a:t>
            </a: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of the output can be split into components.</a:t>
            </a:r>
          </a:p>
        </p:txBody>
      </p:sp>
      <p:sp>
        <p:nvSpPr>
          <p:cNvPr id="37" name="CuadroTexto 36">
            <a:extLst>
              <a:ext uri="{FF2B5EF4-FFF2-40B4-BE49-F238E27FC236}">
                <a16:creationId xmlns:a16="http://schemas.microsoft.com/office/drawing/2014/main" id="{0A0CC44D-5D4D-4DCA-893C-C9D47C9271A5}"/>
              </a:ext>
            </a:extLst>
          </p:cNvPr>
          <p:cNvSpPr txBox="1"/>
          <p:nvPr/>
        </p:nvSpPr>
        <p:spPr>
          <a:xfrm>
            <a:off x="1261844" y="5720645"/>
            <a:ext cx="6096000" cy="646331"/>
          </a:xfrm>
          <a:prstGeom prst="rect">
            <a:avLst/>
          </a:prstGeom>
          <a:noFill/>
          <a:ln>
            <a:noFill/>
            <a:prstDash val="sysDash"/>
          </a:ln>
        </p:spPr>
        <p:txBody>
          <a:bodyPr wrap="square">
            <a:spAutoFit/>
          </a:body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defRPr/>
            </a:pPr>
            <a:r>
              <a:rPr kumimoji="0" lang="en-US" sz="1800" b="1" i="0" u="none" strike="noStrike" kern="1200" cap="none" spc="0" normalizeH="0" baseline="0" noProof="0" dirty="0">
                <a:ln>
                  <a:noFill/>
                </a:ln>
                <a:solidFill>
                  <a:srgbClr val="8879F5"/>
                </a:solidFill>
                <a:effectLst/>
                <a:uLnTx/>
                <a:uFillTx/>
                <a:latin typeface="Aptos" panose="02110004020202020204"/>
                <a:ea typeface="+mn-ea"/>
                <a:cs typeface="+mn-cs"/>
              </a:rPr>
              <a:t>Sobol indices </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quantify how much of the output variance is due to each input (individually and via interactions).</a:t>
            </a:r>
          </a:p>
        </p:txBody>
      </p:sp>
      <p:pic>
        <p:nvPicPr>
          <p:cNvPr id="38" name="Imagen 37">
            <a:extLst>
              <a:ext uri="{FF2B5EF4-FFF2-40B4-BE49-F238E27FC236}">
                <a16:creationId xmlns:a16="http://schemas.microsoft.com/office/drawing/2014/main" id="{2BC278FC-4FE6-40E2-BEBA-D3BEB4D75227}"/>
              </a:ext>
            </a:extLst>
          </p:cNvPr>
          <p:cNvPicPr>
            <a:picLocks noChangeAspect="1"/>
          </p:cNvPicPr>
          <p:nvPr/>
        </p:nvPicPr>
        <p:blipFill>
          <a:blip r:embed="rId3"/>
          <a:stretch>
            <a:fillRect/>
          </a:stretch>
        </p:blipFill>
        <p:spPr>
          <a:xfrm>
            <a:off x="1375564" y="4196322"/>
            <a:ext cx="3469517" cy="677640"/>
          </a:xfrm>
          <a:prstGeom prst="rect">
            <a:avLst/>
          </a:prstGeom>
        </p:spPr>
      </p:pic>
      <p:pic>
        <p:nvPicPr>
          <p:cNvPr id="39" name="Imagen 38">
            <a:extLst>
              <a:ext uri="{FF2B5EF4-FFF2-40B4-BE49-F238E27FC236}">
                <a16:creationId xmlns:a16="http://schemas.microsoft.com/office/drawing/2014/main" id="{93765D19-2D0B-4141-8D74-4BBD26CFE08C}"/>
              </a:ext>
            </a:extLst>
          </p:cNvPr>
          <p:cNvPicPr>
            <a:picLocks noChangeAspect="1"/>
          </p:cNvPicPr>
          <p:nvPr/>
        </p:nvPicPr>
        <p:blipFill>
          <a:blip r:embed="rId4"/>
          <a:stretch>
            <a:fillRect/>
          </a:stretch>
        </p:blipFill>
        <p:spPr>
          <a:xfrm>
            <a:off x="1456844" y="4932309"/>
            <a:ext cx="1889266" cy="657781"/>
          </a:xfrm>
          <a:prstGeom prst="rect">
            <a:avLst/>
          </a:prstGeom>
        </p:spPr>
      </p:pic>
      <p:sp>
        <p:nvSpPr>
          <p:cNvPr id="40" name="CuadroTexto 39">
            <a:extLst>
              <a:ext uri="{FF2B5EF4-FFF2-40B4-BE49-F238E27FC236}">
                <a16:creationId xmlns:a16="http://schemas.microsoft.com/office/drawing/2014/main" id="{DD15D3B6-F128-4ABF-A1D4-BF3C5D758BD7}"/>
              </a:ext>
            </a:extLst>
          </p:cNvPr>
          <p:cNvSpPr txBox="1"/>
          <p:nvPr/>
        </p:nvSpPr>
        <p:spPr>
          <a:xfrm>
            <a:off x="8859558" y="4089272"/>
            <a:ext cx="2956065" cy="61555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Total-order (ST):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Total effect including interactions</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911A02C8-005F-4FFE-BCC2-93161CEE9E0C}"/>
                  </a:ext>
                </a:extLst>
              </p:cNvPr>
              <p:cNvSpPr txBox="1"/>
              <p:nvPr/>
            </p:nvSpPr>
            <p:spPr>
              <a:xfrm>
                <a:off x="9811543" y="2611073"/>
                <a:ext cx="1113382" cy="50469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m:t>
                          </m:r>
                        </m:e>
                        <m:sub>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s-CO"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s-CO"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sSub>
                            <m:sSubPr>
                              <m:ctrlP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m:t>
                              </m:r>
                            </m:e>
                            <m:sub>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num>
                        <m:den>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𝑉𝑎𝑟</m:t>
                          </m:r>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𝑓</m:t>
                          </m:r>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den>
                      </m:f>
                    </m:oMath>
                  </m:oMathPara>
                </a14:m>
                <a:endPar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5" name="CuadroTexto 14">
                <a:extLst>
                  <a:ext uri="{FF2B5EF4-FFF2-40B4-BE49-F238E27FC236}">
                    <a16:creationId xmlns:a16="http://schemas.microsoft.com/office/drawing/2014/main" id="{911A02C8-005F-4FFE-BCC2-93161CEE9E0C}"/>
                  </a:ext>
                </a:extLst>
              </p:cNvPr>
              <p:cNvSpPr txBox="1">
                <a:spLocks noRot="1" noChangeAspect="1" noMove="1" noResize="1" noEditPoints="1" noAdjustHandles="1" noChangeArrowheads="1" noChangeShapeType="1" noTextEdit="1"/>
              </p:cNvSpPr>
              <p:nvPr/>
            </p:nvSpPr>
            <p:spPr>
              <a:xfrm>
                <a:off x="9811543" y="2611073"/>
                <a:ext cx="1113382" cy="504690"/>
              </a:xfrm>
              <a:prstGeom prst="rect">
                <a:avLst/>
              </a:prstGeom>
              <a:blipFill>
                <a:blip r:embed="rId5"/>
                <a:stretch>
                  <a:fillRect/>
                </a:stretch>
              </a:blipFill>
            </p:spPr>
            <p:txBody>
              <a:bodyPr/>
              <a:lstStyle/>
              <a:p>
                <a:r>
                  <a:rPr lang="es-CO">
                    <a:noFill/>
                  </a:rPr>
                  <a:t> </a:t>
                </a:r>
              </a:p>
            </p:txBody>
          </p:sp>
        </mc:Fallback>
      </mc:AlternateContent>
      <p:sp>
        <p:nvSpPr>
          <p:cNvPr id="41" name="CuadroTexto 40">
            <a:extLst>
              <a:ext uri="{FF2B5EF4-FFF2-40B4-BE49-F238E27FC236}">
                <a16:creationId xmlns:a16="http://schemas.microsoft.com/office/drawing/2014/main" id="{28CF37AD-29B6-4D56-922F-551D13DF59A8}"/>
              </a:ext>
            </a:extLst>
          </p:cNvPr>
          <p:cNvSpPr txBox="1"/>
          <p:nvPr/>
        </p:nvSpPr>
        <p:spPr>
          <a:xfrm>
            <a:off x="8859558" y="3277625"/>
            <a:ext cx="2824480" cy="61555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Second-order (S2):</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pairwise interactions</a:t>
            </a:r>
          </a:p>
        </p:txBody>
      </p:sp>
      <mc:AlternateContent xmlns:mc="http://schemas.openxmlformats.org/markup-compatibility/2006" xmlns:a14="http://schemas.microsoft.com/office/drawing/2010/main">
        <mc:Choice Requires="a14">
          <p:sp>
            <p:nvSpPr>
              <p:cNvPr id="42" name="CuadroTexto 41">
                <a:extLst>
                  <a:ext uri="{FF2B5EF4-FFF2-40B4-BE49-F238E27FC236}">
                    <a16:creationId xmlns:a16="http://schemas.microsoft.com/office/drawing/2014/main" id="{0CA476DE-DF61-49CE-83A4-6A2A44C09193}"/>
                  </a:ext>
                </a:extLst>
              </p:cNvPr>
              <p:cNvSpPr txBox="1"/>
              <p:nvPr/>
            </p:nvSpPr>
            <p:spPr>
              <a:xfrm>
                <a:off x="8267723" y="4803627"/>
                <a:ext cx="4201022" cy="41992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m:t>
                          </m:r>
                        </m:e>
                        <m:sub>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e>
                            <m: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ub>
                      </m:s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m:t>
                              </m:r>
                            </m:e>
                            <m: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all</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 </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interaction</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 </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terms</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 </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involving</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num>
                        <m:den>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𝑉𝑎𝑟</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𝑓</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den>
                      </m:f>
                    </m:oMath>
                  </m:oMathPara>
                </a14:m>
                <a:endParaRPr kumimoji="0" lang="es-CO"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42" name="CuadroTexto 41">
                <a:extLst>
                  <a:ext uri="{FF2B5EF4-FFF2-40B4-BE49-F238E27FC236}">
                    <a16:creationId xmlns:a16="http://schemas.microsoft.com/office/drawing/2014/main" id="{0CA476DE-DF61-49CE-83A4-6A2A44C09193}"/>
                  </a:ext>
                </a:extLst>
              </p:cNvPr>
              <p:cNvSpPr txBox="1">
                <a:spLocks noRot="1" noChangeAspect="1" noMove="1" noResize="1" noEditPoints="1" noAdjustHandles="1" noChangeArrowheads="1" noChangeShapeType="1" noTextEdit="1"/>
              </p:cNvSpPr>
              <p:nvPr/>
            </p:nvSpPr>
            <p:spPr>
              <a:xfrm>
                <a:off x="8267723" y="4803627"/>
                <a:ext cx="4201022" cy="419923"/>
              </a:xfrm>
              <a:prstGeom prst="rect">
                <a:avLst/>
              </a:prstGeom>
              <a:blipFill>
                <a:blip r:embed="rId6"/>
                <a:stretch>
                  <a:fillRect b="-17391"/>
                </a:stretch>
              </a:blipFill>
            </p:spPr>
            <p:txBody>
              <a:bodyPr/>
              <a:lstStyle/>
              <a:p>
                <a:r>
                  <a:rPr lang="es-CO">
                    <a:noFill/>
                  </a:rPr>
                  <a:t> </a:t>
                </a:r>
              </a:p>
            </p:txBody>
          </p:sp>
        </mc:Fallback>
      </mc:AlternateContent>
      <p:sp>
        <p:nvSpPr>
          <p:cNvPr id="2" name="CuadroTexto 1">
            <a:extLst>
              <a:ext uri="{FF2B5EF4-FFF2-40B4-BE49-F238E27FC236}">
                <a16:creationId xmlns:a16="http://schemas.microsoft.com/office/drawing/2014/main" id="{F1DEBAEA-C27B-4489-8951-D1FA6466092E}"/>
              </a:ext>
            </a:extLst>
          </p:cNvPr>
          <p:cNvSpPr txBox="1"/>
          <p:nvPr/>
        </p:nvSpPr>
        <p:spPr>
          <a:xfrm>
            <a:off x="10960944" y="6043810"/>
            <a:ext cx="1231056" cy="369332"/>
          </a:xfrm>
          <a:prstGeom prst="rect">
            <a:avLst/>
          </a:prstGeom>
          <a:solidFill>
            <a:srgbClr val="008B2E"/>
          </a:solidFill>
          <a:ln>
            <a:solidFill>
              <a:srgbClr val="B278E6"/>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7" action="ppaction://hlinksldjump">
                  <a:extLst>
                    <a:ext uri="{A12FA001-AC4F-418D-AE19-62706E023703}">
                      <ahyp:hlinkClr xmlns:ahyp="http://schemas.microsoft.com/office/drawing/2018/hyperlinkcolor" val="tx"/>
                    </a:ext>
                  </a:extLst>
                </a:hlinkClick>
              </a:rPr>
              <a:t>Back </a:t>
            </a:r>
            <a:r>
              <a:rPr kumimoji="0" lang="es-ES" sz="1800" b="1" i="0" u="none" strike="noStrike" kern="1200" cap="none" spc="0" normalizeH="0" baseline="0" noProof="0" dirty="0" err="1">
                <a:ln>
                  <a:noFill/>
                </a:ln>
                <a:solidFill>
                  <a:prstClr val="white"/>
                </a:solidFill>
                <a:effectLst/>
                <a:uLnTx/>
                <a:uFillTx/>
                <a:latin typeface="Aptos" panose="02110004020202020204"/>
                <a:ea typeface="+mn-ea"/>
                <a:cs typeface="+mn-cs"/>
                <a:hlinkClick r:id="rId7" action="ppaction://hlinksldjump">
                  <a:extLst>
                    <a:ext uri="{A12FA001-AC4F-418D-AE19-62706E023703}">
                      <ahyp:hlinkClr xmlns:ahyp="http://schemas.microsoft.com/office/drawing/2018/hyperlinkcolor" val="tx"/>
                    </a:ext>
                  </a:extLst>
                </a:hlinkClick>
              </a:rPr>
              <a:t>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7"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004392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bg>
      <p:bgPr>
        <a:solidFill>
          <a:schemeClr val="bg1">
            <a:alpha val="30000"/>
          </a:schemeClr>
        </a:solidFill>
        <a:effectLst/>
      </p:bgPr>
    </p:bg>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C26BEDDA-4269-442C-A8F8-D6ABBC68E478}"/>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60</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074A2DD0-8981-4308-9D01-15027CBE4D27}"/>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D99B0C59-4D19-448C-833B-04D2F78DF0C8}"/>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631851AA-4E40-475F-8C90-03F24FF0FB50}"/>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2" name="CuadroTexto 81">
            <a:extLst>
              <a:ext uri="{FF2B5EF4-FFF2-40B4-BE49-F238E27FC236}">
                <a16:creationId xmlns:a16="http://schemas.microsoft.com/office/drawing/2014/main" id="{AAF7C981-3516-41A3-BFEF-521B0F6A27AD}"/>
              </a:ext>
            </a:extLst>
          </p:cNvPr>
          <p:cNvSpPr txBox="1"/>
          <p:nvPr/>
        </p:nvSpPr>
        <p:spPr>
          <a:xfrm>
            <a:off x="1051970" y="1043000"/>
            <a:ext cx="3481844" cy="76944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SHAP</a:t>
            </a:r>
            <a:r>
              <a:rPr kumimoji="0" lang="es-ES_tradnl"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 sz="4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Values</a:t>
            </a:r>
            <a:endParaRPr kumimoji="0" lang="es-ES_tradnl" sz="40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83" name="CuadroTexto 82">
            <a:extLst>
              <a:ext uri="{FF2B5EF4-FFF2-40B4-BE49-F238E27FC236}">
                <a16:creationId xmlns:a16="http://schemas.microsoft.com/office/drawing/2014/main" id="{B0A81A87-CE16-4598-8142-1B9FB0073630}"/>
              </a:ext>
            </a:extLst>
          </p:cNvPr>
          <p:cNvSpPr txBox="1"/>
          <p:nvPr/>
        </p:nvSpPr>
        <p:spPr>
          <a:xfrm>
            <a:off x="1051970" y="1884382"/>
            <a:ext cx="3816491"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is a game theory-based framework that assigns each feature a value reflecting its contribution to a model’s prediction.</a:t>
            </a:r>
          </a:p>
        </p:txBody>
      </p:sp>
      <p:grpSp>
        <p:nvGrpSpPr>
          <p:cNvPr id="18" name="Grupo 17">
            <a:extLst>
              <a:ext uri="{FF2B5EF4-FFF2-40B4-BE49-F238E27FC236}">
                <a16:creationId xmlns:a16="http://schemas.microsoft.com/office/drawing/2014/main" id="{E01A67C7-C34B-48DB-A2F0-1F4857198ABF}"/>
              </a:ext>
            </a:extLst>
          </p:cNvPr>
          <p:cNvGrpSpPr/>
          <p:nvPr/>
        </p:nvGrpSpPr>
        <p:grpSpPr>
          <a:xfrm>
            <a:off x="5727329" y="1225268"/>
            <a:ext cx="4239322" cy="1583473"/>
            <a:chOff x="6256294" y="1202709"/>
            <a:chExt cx="4239322" cy="1583473"/>
          </a:xfrm>
        </p:grpSpPr>
        <p:sp>
          <p:nvSpPr>
            <p:cNvPr id="87" name="Forma libre 19">
              <a:extLst>
                <a:ext uri="{FF2B5EF4-FFF2-40B4-BE49-F238E27FC236}">
                  <a16:creationId xmlns:a16="http://schemas.microsoft.com/office/drawing/2014/main" id="{A842B189-63D4-425B-B135-34746B9C7E3E}"/>
                </a:ext>
              </a:extLst>
            </p:cNvPr>
            <p:cNvSpPr/>
            <p:nvPr/>
          </p:nvSpPr>
          <p:spPr>
            <a:xfrm>
              <a:off x="6256294" y="1202709"/>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8" name="CuadroTexto 87">
              <a:extLst>
                <a:ext uri="{FF2B5EF4-FFF2-40B4-BE49-F238E27FC236}">
                  <a16:creationId xmlns:a16="http://schemas.microsoft.com/office/drawing/2014/main" id="{32A47BDC-E348-469F-ACF1-17E3CEE8B33A}"/>
                </a:ext>
              </a:extLst>
            </p:cNvPr>
            <p:cNvSpPr txBox="1"/>
            <p:nvPr/>
          </p:nvSpPr>
          <p:spPr>
            <a:xfrm>
              <a:off x="6484893" y="1394280"/>
              <a:ext cx="3657600"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SHAP considers all possible subsets of features and computes the marginal contribution of a feature when added to each subset. </a:t>
              </a:r>
            </a:p>
          </p:txBody>
        </p:sp>
        <p:pic>
          <p:nvPicPr>
            <p:cNvPr id="89" name="Imagen 88">
              <a:extLst>
                <a:ext uri="{FF2B5EF4-FFF2-40B4-BE49-F238E27FC236}">
                  <a16:creationId xmlns:a16="http://schemas.microsoft.com/office/drawing/2014/main" id="{84EC3ABC-6A47-4AE3-A4CC-D41CD30442C2}"/>
                </a:ext>
              </a:extLst>
            </p:cNvPr>
            <p:cNvPicPr>
              <a:picLocks noChangeAspect="1"/>
            </p:cNvPicPr>
            <p:nvPr/>
          </p:nvPicPr>
          <p:blipFill>
            <a:blip r:embed="rId3"/>
            <a:stretch>
              <a:fillRect/>
            </a:stretch>
          </p:blipFill>
          <p:spPr>
            <a:xfrm>
              <a:off x="9987771" y="2208066"/>
              <a:ext cx="507845" cy="507845"/>
            </a:xfrm>
            <a:prstGeom prst="rect">
              <a:avLst/>
            </a:prstGeom>
          </p:spPr>
        </p:pic>
      </p:grpSp>
      <p:grpSp>
        <p:nvGrpSpPr>
          <p:cNvPr id="14" name="Grupo 13">
            <a:extLst>
              <a:ext uri="{FF2B5EF4-FFF2-40B4-BE49-F238E27FC236}">
                <a16:creationId xmlns:a16="http://schemas.microsoft.com/office/drawing/2014/main" id="{71820A80-30E1-4FA1-B108-864400E67C5F}"/>
              </a:ext>
            </a:extLst>
          </p:cNvPr>
          <p:cNvGrpSpPr/>
          <p:nvPr/>
        </p:nvGrpSpPr>
        <p:grpSpPr>
          <a:xfrm>
            <a:off x="7204708" y="3112714"/>
            <a:ext cx="4239323" cy="2466996"/>
            <a:chOff x="5789958" y="3156249"/>
            <a:chExt cx="4239323" cy="2466996"/>
          </a:xfrm>
        </p:grpSpPr>
        <p:sp>
          <p:nvSpPr>
            <p:cNvPr id="93" name="Forma libre 19">
              <a:extLst>
                <a:ext uri="{FF2B5EF4-FFF2-40B4-BE49-F238E27FC236}">
                  <a16:creationId xmlns:a16="http://schemas.microsoft.com/office/drawing/2014/main" id="{6BFFACEB-BBB4-42A4-9769-CE4B69D83EED}"/>
                </a:ext>
              </a:extLst>
            </p:cNvPr>
            <p:cNvSpPr/>
            <p:nvPr/>
          </p:nvSpPr>
          <p:spPr>
            <a:xfrm flipV="1">
              <a:off x="5789958" y="4039772"/>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0" name="Forma libre 19">
              <a:extLst>
                <a:ext uri="{FF2B5EF4-FFF2-40B4-BE49-F238E27FC236}">
                  <a16:creationId xmlns:a16="http://schemas.microsoft.com/office/drawing/2014/main" id="{06475E1C-5BEB-4BBB-838F-AC89E1D9749F}"/>
                </a:ext>
              </a:extLst>
            </p:cNvPr>
            <p:cNvSpPr/>
            <p:nvPr/>
          </p:nvSpPr>
          <p:spPr>
            <a:xfrm>
              <a:off x="5789959" y="3156249"/>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 name="CuadroTexto 90">
              <a:extLst>
                <a:ext uri="{FF2B5EF4-FFF2-40B4-BE49-F238E27FC236}">
                  <a16:creationId xmlns:a16="http://schemas.microsoft.com/office/drawing/2014/main" id="{2E487454-A4E5-4634-ADC8-32438CB497AA}"/>
                </a:ext>
              </a:extLst>
            </p:cNvPr>
            <p:cNvSpPr txBox="1"/>
            <p:nvPr/>
          </p:nvSpPr>
          <p:spPr>
            <a:xfrm>
              <a:off x="6095918" y="3246183"/>
              <a:ext cx="3502878" cy="230832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This ensures three key properties: </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Local accuracy: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the sum of SHAP values equals the model output.</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Consistency: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increasing a feature's impact in the model cannot decrease its SHAP value.</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Missingness: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features not used in a prediction receive zero contribution.  </a:t>
              </a:r>
            </a:p>
          </p:txBody>
        </p:sp>
        <p:pic>
          <p:nvPicPr>
            <p:cNvPr id="92" name="Imagen 91">
              <a:extLst>
                <a:ext uri="{FF2B5EF4-FFF2-40B4-BE49-F238E27FC236}">
                  <a16:creationId xmlns:a16="http://schemas.microsoft.com/office/drawing/2014/main" id="{8EBC70EF-78F8-4221-B02C-ED8688D41929}"/>
                </a:ext>
              </a:extLst>
            </p:cNvPr>
            <p:cNvPicPr>
              <a:picLocks noChangeAspect="1"/>
            </p:cNvPicPr>
            <p:nvPr/>
          </p:nvPicPr>
          <p:blipFill>
            <a:blip r:embed="rId3"/>
            <a:stretch>
              <a:fillRect/>
            </a:stretch>
          </p:blipFill>
          <p:spPr>
            <a:xfrm>
              <a:off x="9521436" y="4161606"/>
              <a:ext cx="507845" cy="507845"/>
            </a:xfrm>
            <a:prstGeom prst="rect">
              <a:avLst/>
            </a:prstGeom>
          </p:spPr>
        </p:pic>
      </p:grpSp>
      <p:grpSp>
        <p:nvGrpSpPr>
          <p:cNvPr id="19" name="Grupo 18">
            <a:extLst>
              <a:ext uri="{FF2B5EF4-FFF2-40B4-BE49-F238E27FC236}">
                <a16:creationId xmlns:a16="http://schemas.microsoft.com/office/drawing/2014/main" id="{F89BF57E-2BE3-4613-A392-67DBCB412C1C}"/>
              </a:ext>
            </a:extLst>
          </p:cNvPr>
          <p:cNvGrpSpPr/>
          <p:nvPr/>
        </p:nvGrpSpPr>
        <p:grpSpPr>
          <a:xfrm>
            <a:off x="2189624" y="3834179"/>
            <a:ext cx="4239322" cy="1583473"/>
            <a:chOff x="6203799" y="4977265"/>
            <a:chExt cx="4239322" cy="1583473"/>
          </a:xfrm>
        </p:grpSpPr>
        <p:sp>
          <p:nvSpPr>
            <p:cNvPr id="95" name="Forma libre 19">
              <a:extLst>
                <a:ext uri="{FF2B5EF4-FFF2-40B4-BE49-F238E27FC236}">
                  <a16:creationId xmlns:a16="http://schemas.microsoft.com/office/drawing/2014/main" id="{D83D6FD4-6EB3-4CAF-BC20-DE39EFB5F6DD}"/>
                </a:ext>
              </a:extLst>
            </p:cNvPr>
            <p:cNvSpPr/>
            <p:nvPr/>
          </p:nvSpPr>
          <p:spPr>
            <a:xfrm>
              <a:off x="6203799" y="497726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6" name="CuadroTexto 95">
              <a:extLst>
                <a:ext uri="{FF2B5EF4-FFF2-40B4-BE49-F238E27FC236}">
                  <a16:creationId xmlns:a16="http://schemas.microsoft.com/office/drawing/2014/main" id="{3D69A810-27D3-4217-8F8F-2D29FEEFED09}"/>
                </a:ext>
              </a:extLst>
            </p:cNvPr>
            <p:cNvSpPr txBox="1"/>
            <p:nvPr/>
          </p:nvSpPr>
          <p:spPr>
            <a:xfrm>
              <a:off x="6432398" y="5168836"/>
              <a:ext cx="3657600"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SHAP values show how much a single feature changes the model’s average prediction when we know the value of that feature.</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97" name="Imagen 96">
              <a:extLst>
                <a:ext uri="{FF2B5EF4-FFF2-40B4-BE49-F238E27FC236}">
                  <a16:creationId xmlns:a16="http://schemas.microsoft.com/office/drawing/2014/main" id="{C47D0F6F-7616-4AEF-91A3-CEDDE37A2084}"/>
                </a:ext>
              </a:extLst>
            </p:cNvPr>
            <p:cNvPicPr>
              <a:picLocks noChangeAspect="1"/>
            </p:cNvPicPr>
            <p:nvPr/>
          </p:nvPicPr>
          <p:blipFill>
            <a:blip r:embed="rId3"/>
            <a:stretch>
              <a:fillRect/>
            </a:stretch>
          </p:blipFill>
          <p:spPr>
            <a:xfrm>
              <a:off x="9935276" y="5982622"/>
              <a:ext cx="507845" cy="507845"/>
            </a:xfrm>
            <a:prstGeom prst="rect">
              <a:avLst/>
            </a:prstGeom>
          </p:spPr>
        </p:pic>
      </p:grpSp>
      <p:sp>
        <p:nvSpPr>
          <p:cNvPr id="20" name="Rectángulo 19">
            <a:extLst>
              <a:ext uri="{FF2B5EF4-FFF2-40B4-BE49-F238E27FC236}">
                <a16:creationId xmlns:a16="http://schemas.microsoft.com/office/drawing/2014/main" id="{38EA84AC-2918-4DFD-A428-A9AD15F860FF}"/>
              </a:ext>
            </a:extLst>
          </p:cNvPr>
          <p:cNvSpPr/>
          <p:nvPr/>
        </p:nvSpPr>
        <p:spPr>
          <a:xfrm>
            <a:off x="5602806" y="1426554"/>
            <a:ext cx="318295" cy="263247"/>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1</a:t>
            </a:r>
            <a:endParaRPr kumimoji="0" lang="es-CO"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105" name="Rectángulo 104">
            <a:extLst>
              <a:ext uri="{FF2B5EF4-FFF2-40B4-BE49-F238E27FC236}">
                <a16:creationId xmlns:a16="http://schemas.microsoft.com/office/drawing/2014/main" id="{8BA6FFE5-697E-4368-863D-BC130072A5C7}"/>
              </a:ext>
            </a:extLst>
          </p:cNvPr>
          <p:cNvSpPr/>
          <p:nvPr/>
        </p:nvSpPr>
        <p:spPr>
          <a:xfrm>
            <a:off x="7080186" y="3369067"/>
            <a:ext cx="318295" cy="263247"/>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2</a:t>
            </a:r>
            <a:endParaRPr kumimoji="0" lang="es-CO"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106" name="Rectángulo 105">
            <a:extLst>
              <a:ext uri="{FF2B5EF4-FFF2-40B4-BE49-F238E27FC236}">
                <a16:creationId xmlns:a16="http://schemas.microsoft.com/office/drawing/2014/main" id="{00F9DDC1-149A-45DD-A59A-91C46C4E1D41}"/>
              </a:ext>
            </a:extLst>
          </p:cNvPr>
          <p:cNvSpPr/>
          <p:nvPr/>
        </p:nvSpPr>
        <p:spPr>
          <a:xfrm>
            <a:off x="2056902" y="4094135"/>
            <a:ext cx="318295" cy="263247"/>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3</a:t>
            </a:r>
            <a:endParaRPr kumimoji="0" lang="es-CO"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grpSp>
        <p:nvGrpSpPr>
          <p:cNvPr id="22" name="Grupo 21">
            <a:extLst>
              <a:ext uri="{FF2B5EF4-FFF2-40B4-BE49-F238E27FC236}">
                <a16:creationId xmlns:a16="http://schemas.microsoft.com/office/drawing/2014/main" id="{38091A73-33D6-44CE-BC0E-D7E595D59580}"/>
              </a:ext>
            </a:extLst>
          </p:cNvPr>
          <p:cNvGrpSpPr/>
          <p:nvPr/>
        </p:nvGrpSpPr>
        <p:grpSpPr>
          <a:xfrm>
            <a:off x="3248353" y="5516626"/>
            <a:ext cx="3292911" cy="1180745"/>
            <a:chOff x="3248353" y="5678684"/>
            <a:chExt cx="3292911" cy="1180745"/>
          </a:xfrm>
        </p:grpSpPr>
        <p:sp>
          <p:nvSpPr>
            <p:cNvPr id="111" name="Forma libre 19">
              <a:extLst>
                <a:ext uri="{FF2B5EF4-FFF2-40B4-BE49-F238E27FC236}">
                  <a16:creationId xmlns:a16="http://schemas.microsoft.com/office/drawing/2014/main" id="{25BEB332-F270-42A9-BF99-75F603E98650}"/>
                </a:ext>
              </a:extLst>
            </p:cNvPr>
            <p:cNvSpPr>
              <a:spLocks noChangeAspect="1"/>
            </p:cNvSpPr>
            <p:nvPr/>
          </p:nvSpPr>
          <p:spPr>
            <a:xfrm flipH="1" flipV="1">
              <a:off x="3360672" y="5678684"/>
              <a:ext cx="3068273" cy="1180745"/>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112" name="Imagen 111">
              <a:extLst>
                <a:ext uri="{FF2B5EF4-FFF2-40B4-BE49-F238E27FC236}">
                  <a16:creationId xmlns:a16="http://schemas.microsoft.com/office/drawing/2014/main" id="{5FD1B1FB-6739-4C8B-8A87-DF286B57D540}"/>
                </a:ext>
              </a:extLst>
            </p:cNvPr>
            <p:cNvPicPr>
              <a:picLocks noChangeAspect="1"/>
            </p:cNvPicPr>
            <p:nvPr/>
          </p:nvPicPr>
          <p:blipFill>
            <a:blip r:embed="rId3"/>
            <a:stretch>
              <a:fillRect/>
            </a:stretch>
          </p:blipFill>
          <p:spPr>
            <a:xfrm flipH="1">
              <a:off x="3248353" y="5722121"/>
              <a:ext cx="396000" cy="396000"/>
            </a:xfrm>
            <a:prstGeom prst="rect">
              <a:avLst/>
            </a:prstGeom>
          </p:spPr>
        </p:pic>
        <p:sp>
          <p:nvSpPr>
            <p:cNvPr id="113" name="CuadroTexto 112">
              <a:extLst>
                <a:ext uri="{FF2B5EF4-FFF2-40B4-BE49-F238E27FC236}">
                  <a16:creationId xmlns:a16="http://schemas.microsoft.com/office/drawing/2014/main" id="{44A249B4-9571-4CB6-B18C-AAC99AA78AEC}"/>
                </a:ext>
              </a:extLst>
            </p:cNvPr>
            <p:cNvSpPr txBox="1"/>
            <p:nvPr/>
          </p:nvSpPr>
          <p:spPr>
            <a:xfrm>
              <a:off x="3746596" y="5787122"/>
              <a:ext cx="2794668" cy="95410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SHAP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value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for</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feature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tells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you</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How</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much</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does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this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feature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shift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the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prediction</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away</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from</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the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average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when</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it's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known</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a:t>
              </a:r>
            </a:p>
          </p:txBody>
        </p:sp>
      </p:grpSp>
      <p:sp>
        <p:nvSpPr>
          <p:cNvPr id="114" name="CuadroTexto 113">
            <a:extLst>
              <a:ext uri="{FF2B5EF4-FFF2-40B4-BE49-F238E27FC236}">
                <a16:creationId xmlns:a16="http://schemas.microsoft.com/office/drawing/2014/main" id="{AD3D86E5-0321-4720-8667-24897E258179}"/>
              </a:ext>
            </a:extLst>
          </p:cNvPr>
          <p:cNvSpPr txBox="1"/>
          <p:nvPr/>
        </p:nvSpPr>
        <p:spPr>
          <a:xfrm>
            <a:off x="1051970" y="1608667"/>
            <a:ext cx="381649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SHAP (</a:t>
            </a:r>
            <a:r>
              <a:rPr kumimoji="0" lang="en-US" sz="1800" b="1" i="1" u="sng" strike="noStrike" kern="1200" cap="none" spc="0" normalizeH="0" baseline="0" noProof="0" dirty="0" err="1">
                <a:ln>
                  <a:noFill/>
                </a:ln>
                <a:solidFill>
                  <a:prstClr val="black"/>
                </a:solidFill>
                <a:effectLst/>
                <a:uLnTx/>
                <a:uFillTx/>
                <a:latin typeface="Aptos" panose="02110004020202020204"/>
                <a:ea typeface="+mn-ea"/>
                <a:cs typeface="+mn-cs"/>
              </a:rPr>
              <a:t>SH</a:t>
            </a:r>
            <a:r>
              <a:rPr kumimoji="0" lang="en-US" sz="1800" b="0" i="1" u="sng" strike="noStrike" kern="1200" cap="none" spc="0" normalizeH="0" baseline="0" noProof="0" dirty="0" err="1">
                <a:ln>
                  <a:noFill/>
                </a:ln>
                <a:solidFill>
                  <a:prstClr val="black"/>
                </a:solidFill>
                <a:effectLst/>
                <a:uLnTx/>
                <a:uFillTx/>
                <a:latin typeface="Aptos" panose="02110004020202020204"/>
                <a:ea typeface="+mn-ea"/>
                <a:cs typeface="+mn-cs"/>
              </a:rPr>
              <a:t>apley</a:t>
            </a: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 </a:t>
            </a:r>
            <a:r>
              <a:rPr kumimoji="0" lang="en-US" sz="1800" b="1" i="1" u="sng" strike="noStrike" kern="1200" cap="none" spc="0" normalizeH="0" baseline="0" noProof="0" dirty="0">
                <a:ln>
                  <a:noFill/>
                </a:ln>
                <a:solidFill>
                  <a:prstClr val="black"/>
                </a:solidFill>
                <a:effectLst/>
                <a:uLnTx/>
                <a:uFillTx/>
                <a:latin typeface="Aptos" panose="02110004020202020204"/>
                <a:ea typeface="+mn-ea"/>
                <a:cs typeface="+mn-cs"/>
              </a:rPr>
              <a:t>A</a:t>
            </a: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dditive </a:t>
            </a:r>
            <a:r>
              <a:rPr kumimoji="0" lang="en-US" sz="1800" b="0" i="1" u="sng" strike="noStrike" kern="1200" cap="none" spc="0" normalizeH="0" baseline="0" noProof="0" dirty="0" err="1">
                <a:ln>
                  <a:noFill/>
                </a:ln>
                <a:solidFill>
                  <a:prstClr val="black"/>
                </a:solidFill>
                <a:effectLst/>
                <a:uLnTx/>
                <a:uFillTx/>
                <a:latin typeface="Aptos" panose="02110004020202020204"/>
                <a:ea typeface="+mn-ea"/>
                <a:cs typeface="+mn-cs"/>
              </a:rPr>
              <a:t>ex</a:t>
            </a:r>
            <a:r>
              <a:rPr kumimoji="0" lang="en-US" sz="1800" b="1" i="1" u="sng" strike="noStrike" kern="1200" cap="none" spc="0" normalizeH="0" baseline="0" noProof="0" dirty="0" err="1">
                <a:ln>
                  <a:noFill/>
                </a:ln>
                <a:solidFill>
                  <a:prstClr val="black"/>
                </a:solidFill>
                <a:effectLst/>
                <a:uLnTx/>
                <a:uFillTx/>
                <a:latin typeface="Aptos" panose="02110004020202020204"/>
                <a:ea typeface="+mn-ea"/>
                <a:cs typeface="+mn-cs"/>
              </a:rPr>
              <a:t>P</a:t>
            </a:r>
            <a:r>
              <a:rPr kumimoji="0" lang="en-US" sz="1800" b="0" i="1" u="sng" strike="noStrike" kern="1200" cap="none" spc="0" normalizeH="0" baseline="0" noProof="0" dirty="0" err="1">
                <a:ln>
                  <a:noFill/>
                </a:ln>
                <a:solidFill>
                  <a:prstClr val="black"/>
                </a:solidFill>
                <a:effectLst/>
                <a:uLnTx/>
                <a:uFillTx/>
                <a:latin typeface="Aptos" panose="02110004020202020204"/>
                <a:ea typeface="+mn-ea"/>
                <a:cs typeface="+mn-cs"/>
              </a:rPr>
              <a:t>lanations</a:t>
            </a: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 </a:t>
            </a:r>
          </a:p>
        </p:txBody>
      </p:sp>
    </p:spTree>
    <p:extLst>
      <p:ext uri="{BB962C8B-B14F-4D97-AF65-F5344CB8AC3E}">
        <p14:creationId xmlns:p14="http://schemas.microsoft.com/office/powerpoint/2010/main" val="245922235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bg>
      <p:bgPr>
        <a:solidFill>
          <a:schemeClr val="bg1">
            <a:alpha val="30000"/>
          </a:schemeClr>
        </a:solidFill>
        <a:effectLst/>
      </p:bgPr>
    </p:bg>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C26BEDDA-4269-442C-A8F8-D6ABBC68E478}"/>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61</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074A2DD0-8981-4308-9D01-15027CBE4D27}"/>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D99B0C59-4D19-448C-833B-04D2F78DF0C8}"/>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631851AA-4E40-475F-8C90-03F24FF0FB50}"/>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79" name="CuadroTexto 78">
            <a:extLst>
              <a:ext uri="{FF2B5EF4-FFF2-40B4-BE49-F238E27FC236}">
                <a16:creationId xmlns:a16="http://schemas.microsoft.com/office/drawing/2014/main" id="{5BBF6A24-290B-4A56-832E-2001D9E597B5}"/>
              </a:ext>
            </a:extLst>
          </p:cNvPr>
          <p:cNvSpPr txBox="1"/>
          <p:nvPr/>
        </p:nvSpPr>
        <p:spPr>
          <a:xfrm>
            <a:off x="1099882" y="986634"/>
            <a:ext cx="3476012"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TreeSHAP</a:t>
            </a:r>
            <a:endParaRPr kumimoji="0" lang="es-CO"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85" name="CuadroTexto 84">
            <a:extLst>
              <a:ext uri="{FF2B5EF4-FFF2-40B4-BE49-F238E27FC236}">
                <a16:creationId xmlns:a16="http://schemas.microsoft.com/office/drawing/2014/main" id="{58695020-6416-4FBB-97A5-8FF031D99A6F}"/>
              </a:ext>
            </a:extLst>
          </p:cNvPr>
          <p:cNvSpPr txBox="1"/>
          <p:nvPr/>
        </p:nvSpPr>
        <p:spPr>
          <a:xfrm>
            <a:off x="2622486" y="1078967"/>
            <a:ext cx="2195789"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(for Trees and Forests)</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CuadroTexto 12">
            <a:extLst>
              <a:ext uri="{FF2B5EF4-FFF2-40B4-BE49-F238E27FC236}">
                <a16:creationId xmlns:a16="http://schemas.microsoft.com/office/drawing/2014/main" id="{C445C2D6-DD4C-4913-8875-04B773C0D1CE}"/>
              </a:ext>
            </a:extLst>
          </p:cNvPr>
          <p:cNvSpPr txBox="1"/>
          <p:nvPr/>
        </p:nvSpPr>
        <p:spPr>
          <a:xfrm>
            <a:off x="1099883" y="1447428"/>
            <a:ext cx="3815670"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TreeSHAP</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efficiently computes exact Shapley values for tree-based models by exploiting the tree structure to avoid enumerating all feature subsets.</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CuadroTexto 14">
            <a:extLst>
              <a:ext uri="{FF2B5EF4-FFF2-40B4-BE49-F238E27FC236}">
                <a16:creationId xmlns:a16="http://schemas.microsoft.com/office/drawing/2014/main" id="{1B17C857-617A-4C69-B9BB-68634A338191}"/>
              </a:ext>
            </a:extLst>
          </p:cNvPr>
          <p:cNvSpPr txBox="1"/>
          <p:nvPr/>
        </p:nvSpPr>
        <p:spPr>
          <a:xfrm>
            <a:off x="5160453" y="1760761"/>
            <a:ext cx="2142285"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Algorithm</a:t>
            </a:r>
            <a:endParaRPr kumimoji="0" lang="es-CO"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pic>
        <p:nvPicPr>
          <p:cNvPr id="17" name="Imagen 16">
            <a:extLst>
              <a:ext uri="{FF2B5EF4-FFF2-40B4-BE49-F238E27FC236}">
                <a16:creationId xmlns:a16="http://schemas.microsoft.com/office/drawing/2014/main" id="{DA660E83-F54B-449E-82F5-9865810CDA58}"/>
              </a:ext>
            </a:extLst>
          </p:cNvPr>
          <p:cNvPicPr>
            <a:picLocks noChangeAspect="1"/>
          </p:cNvPicPr>
          <p:nvPr/>
        </p:nvPicPr>
        <p:blipFill>
          <a:blip r:embed="rId2"/>
          <a:stretch>
            <a:fillRect/>
          </a:stretch>
        </p:blipFill>
        <p:spPr>
          <a:xfrm>
            <a:off x="5160452" y="2222428"/>
            <a:ext cx="6691904" cy="4036566"/>
          </a:xfrm>
          <a:prstGeom prst="roundRect">
            <a:avLst>
              <a:gd name="adj" fmla="val 1725"/>
            </a:avLst>
          </a:prstGeom>
          <a:ln w="28575">
            <a:solidFill>
              <a:srgbClr val="B278E6"/>
            </a:solidFill>
          </a:ln>
        </p:spPr>
      </p:pic>
      <p:sp>
        <p:nvSpPr>
          <p:cNvPr id="25" name="CuadroTexto 24">
            <a:extLst>
              <a:ext uri="{FF2B5EF4-FFF2-40B4-BE49-F238E27FC236}">
                <a16:creationId xmlns:a16="http://schemas.microsoft.com/office/drawing/2014/main" id="{26EF99DA-3105-47F9-BDA9-B892354FD6F8}"/>
              </a:ext>
            </a:extLst>
          </p:cNvPr>
          <p:cNvSpPr txBox="1"/>
          <p:nvPr/>
        </p:nvSpPr>
        <p:spPr>
          <a:xfrm>
            <a:off x="1016466" y="2752121"/>
            <a:ext cx="167043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Advantages:</a:t>
            </a:r>
          </a:p>
        </p:txBody>
      </p:sp>
      <p:sp>
        <p:nvSpPr>
          <p:cNvPr id="26" name="Google Shape;1869;p37">
            <a:extLst>
              <a:ext uri="{FF2B5EF4-FFF2-40B4-BE49-F238E27FC236}">
                <a16:creationId xmlns:a16="http://schemas.microsoft.com/office/drawing/2014/main" id="{104EC32B-98BA-4AA4-BC6B-7A0A8C5B0769}"/>
              </a:ext>
            </a:extLst>
          </p:cNvPr>
          <p:cNvSpPr txBox="1"/>
          <p:nvPr/>
        </p:nvSpPr>
        <p:spPr>
          <a:xfrm>
            <a:off x="1016467" y="3016218"/>
            <a:ext cx="3801808" cy="2013323"/>
          </a:xfrm>
          <a:prstGeom prst="rect">
            <a:avLst/>
          </a:prstGeom>
          <a:noFill/>
          <a:ln>
            <a:noFill/>
          </a:ln>
        </p:spPr>
        <p:txBody>
          <a:bodyPr spcFirstLastPara="1" wrap="square" lIns="91425" tIns="91425" rIns="91425" bIns="91425" anchor="t" anchorCtr="0">
            <a:noAutofit/>
          </a:bodyPr>
          <a:lstStyle/>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It computes the </a:t>
            </a: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exact Shapley values </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without the need for sampling or approximations </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It is computationally efficient due to its </a:t>
            </a: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dynamic programming</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approach.</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It is </a:t>
            </a:r>
            <a:r>
              <a:rPr kumimoji="0" lang="en-US" sz="1400" b="0" i="1"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specifically designed</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for tree-based models</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which are widely used in practice.</a:t>
            </a:r>
          </a:p>
        </p:txBody>
      </p:sp>
      <p:sp>
        <p:nvSpPr>
          <p:cNvPr id="27" name="CuadroTexto 26">
            <a:extLst>
              <a:ext uri="{FF2B5EF4-FFF2-40B4-BE49-F238E27FC236}">
                <a16:creationId xmlns:a16="http://schemas.microsoft.com/office/drawing/2014/main" id="{C4940E1D-0444-475A-AB9F-C2D8951C2FB1}"/>
              </a:ext>
            </a:extLst>
          </p:cNvPr>
          <p:cNvSpPr txBox="1"/>
          <p:nvPr/>
        </p:nvSpPr>
        <p:spPr>
          <a:xfrm>
            <a:off x="1099882" y="6154132"/>
            <a:ext cx="1231056" cy="369332"/>
          </a:xfrm>
          <a:prstGeom prst="rect">
            <a:avLst/>
          </a:prstGeom>
          <a:solidFill>
            <a:srgbClr val="008B2E"/>
          </a:solidFill>
          <a:ln>
            <a:solidFill>
              <a:srgbClr val="B278E6"/>
            </a:solidFill>
          </a:ln>
        </p:spPr>
        <p:txBody>
          <a:bodyPr wrap="square" rtlCol="0">
            <a:spAutoFit/>
          </a:bodyPr>
          <a:lstStyle>
            <a:defPPr>
              <a:defRPr lang="es-CO"/>
            </a:defPPr>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a:ln>
                  <a:noFill/>
                </a:ln>
                <a:solidFill>
                  <a:prstClr val="white"/>
                </a:solidFill>
                <a:effectLst/>
                <a:uLnTx/>
                <a:uFillTx/>
                <a:latin typeface="Aptos" panose="02110004020202020204"/>
                <a:ea typeface="+mn-ea"/>
                <a:cs typeface="+mn-cs"/>
                <a:hlinkClick r:id="rId3" action="ppaction://hlinksldjump">
                  <a:extLst>
                    <a:ext uri="{A12FA001-AC4F-418D-AE19-62706E023703}">
                      <ahyp:hlinkClr xmlns:ahyp="http://schemas.microsoft.com/office/drawing/2018/hyperlinkcolor" val="tx"/>
                    </a:ext>
                  </a:extLst>
                </a:hlinkClick>
              </a:rPr>
              <a:t>Back 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3"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9447299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62</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grpSp>
        <p:nvGrpSpPr>
          <p:cNvPr id="21" name="Google Shape;1776;p40">
            <a:extLst>
              <a:ext uri="{FF2B5EF4-FFF2-40B4-BE49-F238E27FC236}">
                <a16:creationId xmlns:a16="http://schemas.microsoft.com/office/drawing/2014/main" id="{E7BE87FC-C557-416F-9256-D1B9BE7B404D}"/>
              </a:ext>
            </a:extLst>
          </p:cNvPr>
          <p:cNvGrpSpPr/>
          <p:nvPr/>
        </p:nvGrpSpPr>
        <p:grpSpPr>
          <a:xfrm flipH="1">
            <a:off x="7852770" y="1481760"/>
            <a:ext cx="3567290" cy="627682"/>
            <a:chOff x="651700" y="1307700"/>
            <a:chExt cx="2762825" cy="473400"/>
          </a:xfrm>
        </p:grpSpPr>
        <p:cxnSp>
          <p:nvCxnSpPr>
            <p:cNvPr id="62" name="Google Shape;1777;p40">
              <a:extLst>
                <a:ext uri="{FF2B5EF4-FFF2-40B4-BE49-F238E27FC236}">
                  <a16:creationId xmlns:a16="http://schemas.microsoft.com/office/drawing/2014/main" id="{1BF90AD9-BA11-4AA7-9A0B-A67BB2D9815D}"/>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63" name="Google Shape;1778;p40">
              <a:extLst>
                <a:ext uri="{FF2B5EF4-FFF2-40B4-BE49-F238E27FC236}">
                  <a16:creationId xmlns:a16="http://schemas.microsoft.com/office/drawing/2014/main" id="{DD5C620B-8ED5-4A4A-B502-EEAF2186146B}"/>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3" name="Google Shape;1803;p40">
            <a:extLst>
              <a:ext uri="{FF2B5EF4-FFF2-40B4-BE49-F238E27FC236}">
                <a16:creationId xmlns:a16="http://schemas.microsoft.com/office/drawing/2014/main" id="{1D7846B7-E6D3-4774-9E60-900F574FEB35}"/>
              </a:ext>
            </a:extLst>
          </p:cNvPr>
          <p:cNvGrpSpPr/>
          <p:nvPr/>
        </p:nvGrpSpPr>
        <p:grpSpPr>
          <a:xfrm rot="10800000">
            <a:off x="7852770" y="5281365"/>
            <a:ext cx="3567290" cy="627682"/>
            <a:chOff x="651700" y="1307700"/>
            <a:chExt cx="2762825" cy="473400"/>
          </a:xfrm>
        </p:grpSpPr>
        <p:cxnSp>
          <p:nvCxnSpPr>
            <p:cNvPr id="52" name="Google Shape;1804;p40">
              <a:extLst>
                <a:ext uri="{FF2B5EF4-FFF2-40B4-BE49-F238E27FC236}">
                  <a16:creationId xmlns:a16="http://schemas.microsoft.com/office/drawing/2014/main" id="{0D1E4AC4-6641-46EB-8B5E-3C0DFF13F63D}"/>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53" name="Google Shape;1805;p40">
              <a:extLst>
                <a:ext uri="{FF2B5EF4-FFF2-40B4-BE49-F238E27FC236}">
                  <a16:creationId xmlns:a16="http://schemas.microsoft.com/office/drawing/2014/main" id="{05B1E482-09E7-48B1-93A6-7633BC8442E2}"/>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grpSp>
        <p:nvGrpSpPr>
          <p:cNvPr id="44" name="Google Shape;1806;p40">
            <a:extLst>
              <a:ext uri="{FF2B5EF4-FFF2-40B4-BE49-F238E27FC236}">
                <a16:creationId xmlns:a16="http://schemas.microsoft.com/office/drawing/2014/main" id="{718F7339-8581-47E9-AFC6-E9C2715F8638}"/>
              </a:ext>
            </a:extLst>
          </p:cNvPr>
          <p:cNvGrpSpPr/>
          <p:nvPr/>
        </p:nvGrpSpPr>
        <p:grpSpPr>
          <a:xfrm>
            <a:off x="1279206" y="1481760"/>
            <a:ext cx="3567290" cy="627682"/>
            <a:chOff x="651700" y="1307700"/>
            <a:chExt cx="2762825" cy="473400"/>
          </a:xfrm>
        </p:grpSpPr>
        <p:cxnSp>
          <p:nvCxnSpPr>
            <p:cNvPr id="50" name="Google Shape;1807;p40">
              <a:extLst>
                <a:ext uri="{FF2B5EF4-FFF2-40B4-BE49-F238E27FC236}">
                  <a16:creationId xmlns:a16="http://schemas.microsoft.com/office/drawing/2014/main" id="{2126C440-9AE2-4589-8A2A-3539A93CAE2A}"/>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51" name="Google Shape;1808;p40">
              <a:extLst>
                <a:ext uri="{FF2B5EF4-FFF2-40B4-BE49-F238E27FC236}">
                  <a16:creationId xmlns:a16="http://schemas.microsoft.com/office/drawing/2014/main" id="{78B4DCA2-1054-4DE9-AB32-B1A89070C74E}"/>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5" name="Google Shape;1809;p40">
            <a:extLst>
              <a:ext uri="{FF2B5EF4-FFF2-40B4-BE49-F238E27FC236}">
                <a16:creationId xmlns:a16="http://schemas.microsoft.com/office/drawing/2014/main" id="{E9470C81-DA98-4265-BBF0-00E8F1B85EFF}"/>
              </a:ext>
            </a:extLst>
          </p:cNvPr>
          <p:cNvGrpSpPr/>
          <p:nvPr/>
        </p:nvGrpSpPr>
        <p:grpSpPr>
          <a:xfrm rot="10800000" flipH="1">
            <a:off x="1279206" y="5281365"/>
            <a:ext cx="3567290" cy="627682"/>
            <a:chOff x="651700" y="1307700"/>
            <a:chExt cx="2762825" cy="473400"/>
          </a:xfrm>
        </p:grpSpPr>
        <p:cxnSp>
          <p:nvCxnSpPr>
            <p:cNvPr id="48" name="Google Shape;1810;p40">
              <a:extLst>
                <a:ext uri="{FF2B5EF4-FFF2-40B4-BE49-F238E27FC236}">
                  <a16:creationId xmlns:a16="http://schemas.microsoft.com/office/drawing/2014/main" id="{D93A97D9-0DEE-4066-99F8-ACC60B02AAFE}"/>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49" name="Google Shape;1811;p40">
              <a:extLst>
                <a:ext uri="{FF2B5EF4-FFF2-40B4-BE49-F238E27FC236}">
                  <a16:creationId xmlns:a16="http://schemas.microsoft.com/office/drawing/2014/main" id="{33359981-F2C7-41BC-B697-F3A225315596}"/>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sp>
        <p:nvSpPr>
          <p:cNvPr id="46" name="Google Shape;1812;p40">
            <a:extLst>
              <a:ext uri="{FF2B5EF4-FFF2-40B4-BE49-F238E27FC236}">
                <a16:creationId xmlns:a16="http://schemas.microsoft.com/office/drawing/2014/main" id="{29C62605-56E7-4B44-8F93-E51F34696A1C}"/>
              </a:ext>
            </a:extLst>
          </p:cNvPr>
          <p:cNvSpPr txBox="1"/>
          <p:nvPr/>
        </p:nvSpPr>
        <p:spPr>
          <a:xfrm>
            <a:off x="5331956" y="3420172"/>
            <a:ext cx="1858103" cy="420719"/>
          </a:xfrm>
          <a:prstGeom prst="rect">
            <a:avLst/>
          </a:prstGeom>
          <a:noFill/>
          <a:ln>
            <a:noFill/>
          </a:ln>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sym typeface="Fira Sans Extra Condensed Medium"/>
              </a:rPr>
              <a:t>Pros &amp; cons</a:t>
            </a:r>
            <a:endParaRPr kumimoji="0"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sym typeface="Fira Sans Extra Condensed Medium"/>
            </a:endParaRPr>
          </a:p>
        </p:txBody>
      </p:sp>
      <p:grpSp>
        <p:nvGrpSpPr>
          <p:cNvPr id="3" name="Grupo 2">
            <a:extLst>
              <a:ext uri="{FF2B5EF4-FFF2-40B4-BE49-F238E27FC236}">
                <a16:creationId xmlns:a16="http://schemas.microsoft.com/office/drawing/2014/main" id="{324836F4-36A5-4B93-9AD5-7A06DAC60F73}"/>
              </a:ext>
            </a:extLst>
          </p:cNvPr>
          <p:cNvGrpSpPr/>
          <p:nvPr/>
        </p:nvGrpSpPr>
        <p:grpSpPr>
          <a:xfrm>
            <a:off x="4367654" y="1621995"/>
            <a:ext cx="1893600" cy="1994400"/>
            <a:chOff x="4367654" y="1621995"/>
            <a:chExt cx="1893600" cy="1994400"/>
          </a:xfrm>
          <a:solidFill>
            <a:srgbClr val="8879F5"/>
          </a:solidFill>
        </p:grpSpPr>
        <p:sp>
          <p:nvSpPr>
            <p:cNvPr id="29" name="Google Shape;1783;p40">
              <a:extLst>
                <a:ext uri="{FF2B5EF4-FFF2-40B4-BE49-F238E27FC236}">
                  <a16:creationId xmlns:a16="http://schemas.microsoft.com/office/drawing/2014/main" id="{9D8E5DDA-B87C-49A0-A453-397C35DD6636}"/>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4" name="Google Shape;1783;p40">
              <a:extLst>
                <a:ext uri="{FF2B5EF4-FFF2-40B4-BE49-F238E27FC236}">
                  <a16:creationId xmlns:a16="http://schemas.microsoft.com/office/drawing/2014/main" id="{282EE9BF-3596-4C48-AA73-C9C46D583C21}"/>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89" name="Grupo 88">
            <a:extLst>
              <a:ext uri="{FF2B5EF4-FFF2-40B4-BE49-F238E27FC236}">
                <a16:creationId xmlns:a16="http://schemas.microsoft.com/office/drawing/2014/main" id="{D5F300A1-3B0C-4F51-932F-B1E4DD9DB6DB}"/>
              </a:ext>
            </a:extLst>
          </p:cNvPr>
          <p:cNvGrpSpPr/>
          <p:nvPr/>
        </p:nvGrpSpPr>
        <p:grpSpPr>
          <a:xfrm flipV="1">
            <a:off x="4383059" y="3791172"/>
            <a:ext cx="1893600" cy="1994400"/>
            <a:chOff x="4367654" y="1621995"/>
            <a:chExt cx="1893600" cy="1994400"/>
          </a:xfrm>
          <a:solidFill>
            <a:srgbClr val="FFB903"/>
          </a:solidFill>
        </p:grpSpPr>
        <p:sp>
          <p:nvSpPr>
            <p:cNvPr id="90" name="Google Shape;1783;p40">
              <a:extLst>
                <a:ext uri="{FF2B5EF4-FFF2-40B4-BE49-F238E27FC236}">
                  <a16:creationId xmlns:a16="http://schemas.microsoft.com/office/drawing/2014/main" id="{AC65B456-E627-46F4-81DE-1C2FE86CEAD3}"/>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1" name="Google Shape;1783;p40">
              <a:extLst>
                <a:ext uri="{FF2B5EF4-FFF2-40B4-BE49-F238E27FC236}">
                  <a16:creationId xmlns:a16="http://schemas.microsoft.com/office/drawing/2014/main" id="{7DE57CEE-4293-44A1-A525-EBC714BFB01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92" name="Grupo 91">
            <a:extLst>
              <a:ext uri="{FF2B5EF4-FFF2-40B4-BE49-F238E27FC236}">
                <a16:creationId xmlns:a16="http://schemas.microsoft.com/office/drawing/2014/main" id="{E56B0B46-A34B-4DD6-B3CC-D65D6AC4D3CD}"/>
              </a:ext>
            </a:extLst>
          </p:cNvPr>
          <p:cNvGrpSpPr/>
          <p:nvPr/>
        </p:nvGrpSpPr>
        <p:grpSpPr>
          <a:xfrm flipH="1" flipV="1">
            <a:off x="6454413" y="3793365"/>
            <a:ext cx="1893600" cy="1994400"/>
            <a:chOff x="4367654" y="1621995"/>
            <a:chExt cx="1893600" cy="1994400"/>
          </a:xfrm>
          <a:solidFill>
            <a:schemeClr val="bg2">
              <a:lumMod val="50000"/>
            </a:schemeClr>
          </a:solidFill>
        </p:grpSpPr>
        <p:sp>
          <p:nvSpPr>
            <p:cNvPr id="93" name="Google Shape;1783;p40">
              <a:extLst>
                <a:ext uri="{FF2B5EF4-FFF2-40B4-BE49-F238E27FC236}">
                  <a16:creationId xmlns:a16="http://schemas.microsoft.com/office/drawing/2014/main" id="{2346AE19-A374-49A0-947C-2BCADABD823A}"/>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4" name="Google Shape;1783;p40">
              <a:extLst>
                <a:ext uri="{FF2B5EF4-FFF2-40B4-BE49-F238E27FC236}">
                  <a16:creationId xmlns:a16="http://schemas.microsoft.com/office/drawing/2014/main" id="{789FBFF8-18F1-4589-845B-C17179027E1C}"/>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95" name="Grupo 94">
            <a:extLst>
              <a:ext uri="{FF2B5EF4-FFF2-40B4-BE49-F238E27FC236}">
                <a16:creationId xmlns:a16="http://schemas.microsoft.com/office/drawing/2014/main" id="{7C233840-8A06-4981-B248-D3DC5F67D775}"/>
              </a:ext>
            </a:extLst>
          </p:cNvPr>
          <p:cNvGrpSpPr/>
          <p:nvPr/>
        </p:nvGrpSpPr>
        <p:grpSpPr>
          <a:xfrm flipH="1">
            <a:off x="6464418" y="1629767"/>
            <a:ext cx="1893600" cy="1994400"/>
            <a:chOff x="4367654" y="1621995"/>
            <a:chExt cx="1893600" cy="1994400"/>
          </a:xfrm>
          <a:solidFill>
            <a:schemeClr val="bg2">
              <a:lumMod val="90000"/>
            </a:schemeClr>
          </a:solidFill>
        </p:grpSpPr>
        <p:sp>
          <p:nvSpPr>
            <p:cNvPr id="96" name="Google Shape;1783;p40">
              <a:extLst>
                <a:ext uri="{FF2B5EF4-FFF2-40B4-BE49-F238E27FC236}">
                  <a16:creationId xmlns:a16="http://schemas.microsoft.com/office/drawing/2014/main" id="{72ACDAFC-1A6A-499B-95A9-5CD7E8D5EF7D}"/>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7" name="Google Shape;1783;p40">
              <a:extLst>
                <a:ext uri="{FF2B5EF4-FFF2-40B4-BE49-F238E27FC236}">
                  <a16:creationId xmlns:a16="http://schemas.microsoft.com/office/drawing/2014/main" id="{341CDFAE-F1FB-4365-A4B6-613CC1EFE5B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11" name="Grupo 10">
            <a:extLst>
              <a:ext uri="{FF2B5EF4-FFF2-40B4-BE49-F238E27FC236}">
                <a16:creationId xmlns:a16="http://schemas.microsoft.com/office/drawing/2014/main" id="{93AE5A1E-ABAE-4451-9FFC-B635F16378E5}"/>
              </a:ext>
            </a:extLst>
          </p:cNvPr>
          <p:cNvGrpSpPr/>
          <p:nvPr/>
        </p:nvGrpSpPr>
        <p:grpSpPr>
          <a:xfrm>
            <a:off x="5290939" y="2445757"/>
            <a:ext cx="2161584" cy="553696"/>
            <a:chOff x="1279206" y="1851687"/>
            <a:chExt cx="2161584" cy="553696"/>
          </a:xfrm>
        </p:grpSpPr>
        <p:sp>
          <p:nvSpPr>
            <p:cNvPr id="10" name="Rectángulo: esquinas redondeadas 9">
              <a:extLst>
                <a:ext uri="{FF2B5EF4-FFF2-40B4-BE49-F238E27FC236}">
                  <a16:creationId xmlns:a16="http://schemas.microsoft.com/office/drawing/2014/main" id="{C1D72412-37D7-4AE3-B526-506B458F092D}"/>
                </a:ext>
              </a:extLst>
            </p:cNvPr>
            <p:cNvSpPr/>
            <p:nvPr/>
          </p:nvSpPr>
          <p:spPr>
            <a:xfrm>
              <a:off x="1279206" y="1851687"/>
              <a:ext cx="2161584" cy="553696"/>
            </a:xfrm>
            <a:prstGeom prst="roundRect">
              <a:avLst/>
            </a:prstGeom>
            <a:solidFill>
              <a:schemeClr val="bg1">
                <a:lumMod val="95000"/>
              </a:schemeClr>
            </a:solidFill>
            <a:ln>
              <a:solidFill>
                <a:srgbClr val="6350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8" name="CuadroTexto 97">
              <a:extLst>
                <a:ext uri="{FF2B5EF4-FFF2-40B4-BE49-F238E27FC236}">
                  <a16:creationId xmlns:a16="http://schemas.microsoft.com/office/drawing/2014/main" id="{54B19E48-63CD-4334-9B54-27F77FAA55FE}"/>
                </a:ext>
              </a:extLst>
            </p:cNvPr>
            <p:cNvSpPr txBox="1"/>
            <p:nvPr/>
          </p:nvSpPr>
          <p:spPr>
            <a:xfrm>
              <a:off x="1411606" y="1898720"/>
              <a:ext cx="1880473"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Sobol</a:t>
              </a:r>
              <a:r>
                <a:rPr kumimoji="0" lang="es-ES_tradnl" sz="24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ES" sz="2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28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grpSp>
        <p:nvGrpSpPr>
          <p:cNvPr id="99" name="Grupo 98">
            <a:extLst>
              <a:ext uri="{FF2B5EF4-FFF2-40B4-BE49-F238E27FC236}">
                <a16:creationId xmlns:a16="http://schemas.microsoft.com/office/drawing/2014/main" id="{A70BBD16-80EB-49EE-8DD2-E4FF0AFF8855}"/>
              </a:ext>
            </a:extLst>
          </p:cNvPr>
          <p:cNvGrpSpPr/>
          <p:nvPr/>
        </p:nvGrpSpPr>
        <p:grpSpPr>
          <a:xfrm>
            <a:off x="5290939" y="4211891"/>
            <a:ext cx="2161584" cy="553696"/>
            <a:chOff x="1279206" y="1851687"/>
            <a:chExt cx="2161584" cy="553696"/>
          </a:xfrm>
        </p:grpSpPr>
        <p:sp>
          <p:nvSpPr>
            <p:cNvPr id="100" name="Rectángulo: esquinas redondeadas 99">
              <a:extLst>
                <a:ext uri="{FF2B5EF4-FFF2-40B4-BE49-F238E27FC236}">
                  <a16:creationId xmlns:a16="http://schemas.microsoft.com/office/drawing/2014/main" id="{D92F0C07-6C1B-469A-BD0E-17379CA62B7F}"/>
                </a:ext>
              </a:extLst>
            </p:cNvPr>
            <p:cNvSpPr/>
            <p:nvPr/>
          </p:nvSpPr>
          <p:spPr>
            <a:xfrm>
              <a:off x="1279206" y="1851687"/>
              <a:ext cx="2161584" cy="553696"/>
            </a:xfrm>
            <a:prstGeom prst="roundRect">
              <a:avLst/>
            </a:prstGeom>
            <a:solidFill>
              <a:schemeClr val="bg1">
                <a:lumMod val="95000"/>
              </a:schemeClr>
            </a:solidFill>
            <a:ln>
              <a:solidFill>
                <a:srgbClr val="FFB9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1" name="CuadroTexto 100">
              <a:extLst>
                <a:ext uri="{FF2B5EF4-FFF2-40B4-BE49-F238E27FC236}">
                  <a16:creationId xmlns:a16="http://schemas.microsoft.com/office/drawing/2014/main" id="{5E8A58CC-ACB3-46E2-8966-E188EE35476A}"/>
                </a:ext>
              </a:extLst>
            </p:cNvPr>
            <p:cNvSpPr txBox="1"/>
            <p:nvPr/>
          </p:nvSpPr>
          <p:spPr>
            <a:xfrm>
              <a:off x="1411606" y="1898720"/>
              <a:ext cx="1880473" cy="461665"/>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4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SHAP</a:t>
              </a:r>
              <a:r>
                <a:rPr kumimoji="0" lang="es-ES_tradnl" sz="16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 sz="2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Values</a:t>
              </a:r>
              <a:endParaRPr kumimoji="0" lang="es-ES_tradnl" sz="28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sp>
        <p:nvSpPr>
          <p:cNvPr id="103" name="CuadroTexto 102">
            <a:extLst>
              <a:ext uri="{FF2B5EF4-FFF2-40B4-BE49-F238E27FC236}">
                <a16:creationId xmlns:a16="http://schemas.microsoft.com/office/drawing/2014/main" id="{F068CA1B-A094-4763-BBC8-9981F007A2D0}"/>
              </a:ext>
            </a:extLst>
          </p:cNvPr>
          <p:cNvSpPr txBox="1"/>
          <p:nvPr/>
        </p:nvSpPr>
        <p:spPr>
          <a:xfrm>
            <a:off x="1301388" y="1541761"/>
            <a:ext cx="3038215" cy="1815882"/>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Global sensitivity quantifies how inputs influence output variance.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Accounts for interactions.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Applies to any model.</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Offers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clear</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variance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decomposition</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104" name="CuadroTexto 103">
            <a:extLst>
              <a:ext uri="{FF2B5EF4-FFF2-40B4-BE49-F238E27FC236}">
                <a16:creationId xmlns:a16="http://schemas.microsoft.com/office/drawing/2014/main" id="{11C31C84-0005-4F79-AF9A-708EC7067582}"/>
              </a:ext>
            </a:extLst>
          </p:cNvPr>
          <p:cNvSpPr txBox="1"/>
          <p:nvPr/>
        </p:nvSpPr>
        <p:spPr>
          <a:xfrm>
            <a:off x="1301388" y="3758817"/>
            <a:ext cx="3187236" cy="2062103"/>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Local explanations clarify individual predictions.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Applies to any model.</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Handle interactions.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They are grounded in fair game-theoretic principles, with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guarantees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of</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fairness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consistency</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105" name="CuadroTexto 104">
            <a:extLst>
              <a:ext uri="{FF2B5EF4-FFF2-40B4-BE49-F238E27FC236}">
                <a16:creationId xmlns:a16="http://schemas.microsoft.com/office/drawing/2014/main" id="{E92B7674-9073-42A7-A38B-70978BFF0361}"/>
              </a:ext>
            </a:extLst>
          </p:cNvPr>
          <p:cNvSpPr txBox="1"/>
          <p:nvPr/>
        </p:nvSpPr>
        <p:spPr>
          <a:xfrm>
            <a:off x="8348013" y="1515768"/>
            <a:ext cx="3064605"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High computational cost.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Assumes input independence. </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Provides only global insights. </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Struggles with high-dimensional data.</a:t>
            </a:r>
            <a:endPar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06" name="CuadroTexto 105">
            <a:extLst>
              <a:ext uri="{FF2B5EF4-FFF2-40B4-BE49-F238E27FC236}">
                <a16:creationId xmlns:a16="http://schemas.microsoft.com/office/drawing/2014/main" id="{DD2F354A-4C34-4D79-8A28-F19F176C1F8C}"/>
              </a:ext>
            </a:extLst>
          </p:cNvPr>
          <p:cNvSpPr txBox="1"/>
          <p:nvPr/>
        </p:nvSpPr>
        <p:spPr>
          <a:xfrm>
            <a:off x="8457202" y="4720589"/>
            <a:ext cx="2897086" cy="1077218"/>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Computationally</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intensive.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May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give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misleading</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results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if</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feature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dependence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isn't</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handled</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well</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41" name="CuadroTexto 40">
            <a:extLst>
              <a:ext uri="{FF2B5EF4-FFF2-40B4-BE49-F238E27FC236}">
                <a16:creationId xmlns:a16="http://schemas.microsoft.com/office/drawing/2014/main" id="{916C0C66-2A9A-4E8C-80A3-9F5AEA498EF9}"/>
              </a:ext>
            </a:extLst>
          </p:cNvPr>
          <p:cNvSpPr txBox="1"/>
          <p:nvPr/>
        </p:nvSpPr>
        <p:spPr>
          <a:xfrm>
            <a:off x="10960944" y="6043810"/>
            <a:ext cx="1231056" cy="369332"/>
          </a:xfrm>
          <a:prstGeom prst="rect">
            <a:avLst/>
          </a:prstGeom>
          <a:solidFill>
            <a:srgbClr val="008B2E"/>
          </a:solidFill>
          <a:ln>
            <a:solidFill>
              <a:srgbClr val="B278E6"/>
            </a:solidFill>
          </a:ln>
        </p:spPr>
        <p:txBody>
          <a:bodyPr wrap="square" rtlCol="0">
            <a:spAutoFit/>
          </a:bodyPr>
          <a:lstStyle>
            <a:defPPr>
              <a:defRPr lang="es-CO"/>
            </a:defPPr>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Back </a:t>
            </a:r>
            <a:r>
              <a:rPr kumimoji="0" lang="es-ES" sz="1800" b="1" i="0" u="none" strike="noStrike" kern="1200" cap="none" spc="0" normalizeH="0" baseline="0" noProof="0" dirty="0" err="1">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192164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63</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1" name="Rectángulo: esquinas redondeadas 10">
            <a:extLst>
              <a:ext uri="{FF2B5EF4-FFF2-40B4-BE49-F238E27FC236}">
                <a16:creationId xmlns:a16="http://schemas.microsoft.com/office/drawing/2014/main" id="{BD9AE610-AA0A-4B62-8B84-1B1E69B6BFC2}"/>
              </a:ext>
            </a:extLst>
          </p:cNvPr>
          <p:cNvSpPr/>
          <p:nvPr/>
        </p:nvSpPr>
        <p:spPr>
          <a:xfrm>
            <a:off x="1124865" y="881417"/>
            <a:ext cx="5490213" cy="667859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CuadroTexto 24">
            <a:extLst>
              <a:ext uri="{FF2B5EF4-FFF2-40B4-BE49-F238E27FC236}">
                <a16:creationId xmlns:a16="http://schemas.microsoft.com/office/drawing/2014/main" id="{BF4DA4E9-F098-4C52-A5A6-D2E65EA04D6C}"/>
              </a:ext>
            </a:extLst>
          </p:cNvPr>
          <p:cNvSpPr txBox="1"/>
          <p:nvPr/>
        </p:nvSpPr>
        <p:spPr>
          <a:xfrm>
            <a:off x="1643824" y="1078241"/>
            <a:ext cx="3423922" cy="150810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Sampling</a:t>
            </a:r>
            <a:r>
              <a:rPr kumimoji="0" lang="es-CO"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CO"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strategy</a:t>
            </a:r>
            <a:r>
              <a:rPr kumimoji="0" lang="es-CO"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CO" sz="28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Sobol</a:t>
            </a:r>
            <a:r>
              <a:rPr kumimoji="0" lang="es-CO"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CO" sz="28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sequences</a:t>
            </a:r>
            <a:endParaRPr kumimoji="0" lang="es-CO"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26" name="CuadroTexto 25">
            <a:extLst>
              <a:ext uri="{FF2B5EF4-FFF2-40B4-BE49-F238E27FC236}">
                <a16:creationId xmlns:a16="http://schemas.microsoft.com/office/drawing/2014/main" id="{CB6FAC6E-AD5A-43A2-B5D3-52B2EE1AA409}"/>
              </a:ext>
            </a:extLst>
          </p:cNvPr>
          <p:cNvSpPr txBox="1"/>
          <p:nvPr/>
        </p:nvSpPr>
        <p:spPr>
          <a:xfrm>
            <a:off x="1881779" y="2586346"/>
            <a:ext cx="4410865" cy="2800767"/>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It generates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quasi-random sequences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that are uniformly distributed sample points in high-dimensional spaces.</a:t>
            </a:r>
          </a:p>
          <a:p>
            <a:pPr marL="0" marR="0" lvl="0" indent="0" algn="l" defTabSz="914400" rtl="0" eaLnBrk="1" fontAlgn="base"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Calculating the Sobol indices over those configurations lead into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more stable and consistent results</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 due to the uniformity of the samples.</a:t>
            </a: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They allow incrementally increase the sample size, while preserving and building upon previous points saving computing time.</a:t>
            </a:r>
          </a:p>
        </p:txBody>
      </p:sp>
      <p:sp>
        <p:nvSpPr>
          <p:cNvPr id="15" name="CuadroTexto 14">
            <a:extLst>
              <a:ext uri="{FF2B5EF4-FFF2-40B4-BE49-F238E27FC236}">
                <a16:creationId xmlns:a16="http://schemas.microsoft.com/office/drawing/2014/main" id="{8883EEF2-CB39-46A5-AE40-09F55C109DB4}"/>
              </a:ext>
            </a:extLst>
          </p:cNvPr>
          <p:cNvSpPr txBox="1"/>
          <p:nvPr/>
        </p:nvSpPr>
        <p:spPr>
          <a:xfrm>
            <a:off x="10960944" y="6043810"/>
            <a:ext cx="1231056" cy="369332"/>
          </a:xfrm>
          <a:prstGeom prst="rect">
            <a:avLst/>
          </a:prstGeom>
          <a:solidFill>
            <a:srgbClr val="008B2E"/>
          </a:solidFill>
          <a:ln>
            <a:solidFill>
              <a:srgbClr val="B278E6"/>
            </a:solidFill>
          </a:ln>
        </p:spPr>
        <p:txBody>
          <a:bodyPr wrap="square" rtlCol="0">
            <a:spAutoFit/>
          </a:bodyPr>
          <a:lstStyle>
            <a:defPPr>
              <a:defRPr lang="es-CO"/>
            </a:defPPr>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Back 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7" name="CuadroTexto 16">
            <a:extLst>
              <a:ext uri="{FF2B5EF4-FFF2-40B4-BE49-F238E27FC236}">
                <a16:creationId xmlns:a16="http://schemas.microsoft.com/office/drawing/2014/main" id="{48C04FED-33EB-48B8-816A-B4D67084E635}"/>
              </a:ext>
            </a:extLst>
          </p:cNvPr>
          <p:cNvSpPr txBox="1"/>
          <p:nvPr/>
        </p:nvSpPr>
        <p:spPr>
          <a:xfrm>
            <a:off x="7049558" y="2497165"/>
            <a:ext cx="4146755" cy="1723549"/>
          </a:xfrm>
          <a:prstGeom prst="rect">
            <a:avLst/>
          </a:prstGeom>
          <a:noFill/>
          <a:ln w="28575">
            <a:solidFill>
              <a:srgbClr val="8879F5"/>
            </a:solidFill>
          </a:ln>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Sobol’s</a:t>
            </a: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implementation</a:t>
            </a: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Sample size</a:t>
            </a:r>
          </a:p>
          <a:p>
            <a:pPr marL="742950" marR="0" lvl="1"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For calculating only first-order indices </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S1</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N × (D + 2)</a:t>
            </a:r>
            <a:endPar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endParaRPr>
          </a:p>
          <a:p>
            <a:pPr marL="742950" marR="0" lvl="1"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For both first-order (S1) and second-order </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S2</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indices: </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N × (2D + 2)</a:t>
            </a:r>
            <a:endPar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endParaRPr>
          </a:p>
        </p:txBody>
      </p:sp>
    </p:spTree>
    <p:extLst>
      <p:ext uri="{BB962C8B-B14F-4D97-AF65-F5344CB8AC3E}">
        <p14:creationId xmlns:p14="http://schemas.microsoft.com/office/powerpoint/2010/main" val="302335840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64391750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7" name="CuadroTexto 6">
            <a:extLst>
              <a:ext uri="{FF2B5EF4-FFF2-40B4-BE49-F238E27FC236}">
                <a16:creationId xmlns:a16="http://schemas.microsoft.com/office/drawing/2014/main" id="{C4AF620C-8535-59DA-811B-4603C27AB579}"/>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9419626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8D5A09A6-1235-A1D0-1D18-1A3A41B9D70A}"/>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6495274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714595B-349A-D712-839E-5F6B1AF9065D}"/>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31820612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rgbClr val="008B2E"/>
                </a:solidFill>
                <a:latin typeface="Source Sans Pro Light" panose="020B0503030403020204" pitchFamily="34" charset="0"/>
                <a:ea typeface="Source Sans Pro Light" panose="020B0503030403020204" pitchFamily="34" charset="0"/>
              </a:rPr>
              <a:t>Thanks</a:t>
            </a:r>
            <a:r>
              <a:rPr lang="es-ES_tradnl" sz="9600" i="1" dirty="0">
                <a:solidFill>
                  <a:srgbClr val="008B2E"/>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4BC7B46C-EDB2-4781-8020-FE93383C66A1}"/>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rgbClr val="008B2E"/>
                </a:solidFill>
                <a:latin typeface="Source Sans Pro" panose="020B0503030403020204" pitchFamily="34" charset="0"/>
                <a:ea typeface="Source Sans Pro" panose="020B0503030403020204" pitchFamily="34" charset="0"/>
              </a:rPr>
              <a:t>Dejvis</a:t>
            </a:r>
            <a:r>
              <a:rPr lang="es-ES_tradnl" sz="1600" b="1" dirty="0">
                <a:solidFill>
                  <a:srgbClr val="008B2E"/>
                </a:solidFill>
                <a:latin typeface="Source Sans Pro" panose="020B0503030403020204" pitchFamily="34" charset="0"/>
                <a:ea typeface="Source Sans Pro" panose="020B0503030403020204" pitchFamily="34" charset="0"/>
              </a:rPr>
              <a:t> </a:t>
            </a:r>
            <a:r>
              <a:rPr lang="es-ES_tradnl" sz="1600" b="1" dirty="0" err="1">
                <a:solidFill>
                  <a:srgbClr val="008B2E"/>
                </a:solidFill>
                <a:latin typeface="Source Sans Pro" panose="020B0503030403020204" pitchFamily="34" charset="0"/>
                <a:ea typeface="Source Sans Pro" panose="020B0503030403020204" pitchFamily="34" charset="0"/>
              </a:rPr>
              <a:t>Toptani</a:t>
            </a:r>
            <a:r>
              <a:rPr lang="es-ES_tradnl" sz="1600" b="1" dirty="0">
                <a:solidFill>
                  <a:srgbClr val="008B2E"/>
                </a:solidFill>
                <a:latin typeface="Source Sans Pro" panose="020B0503030403020204" pitchFamily="34" charset="0"/>
                <a:ea typeface="Source Sans Pro" panose="020B0503030403020204" pitchFamily="34" charset="0"/>
              </a:rPr>
              <a:t> - </a:t>
            </a:r>
            <a:r>
              <a:rPr lang="es-ES_tradnl" sz="1600" dirty="0" err="1">
                <a:solidFill>
                  <a:srgbClr val="008B2E"/>
                </a:solidFill>
                <a:latin typeface="Source Sans Pro" panose="020B0503030403020204" pitchFamily="34" charset="0"/>
                <a:ea typeface="Source Sans Pro" panose="020B0503030403020204" pitchFamily="34" charset="0"/>
              </a:rPr>
              <a:t>dtoptani@lmu.com</a:t>
            </a:r>
            <a:endParaRPr lang="es-ES_tradnl" sz="1600" dirty="0">
              <a:solidFill>
                <a:srgbClr val="008B2E"/>
              </a:solidFill>
              <a:latin typeface="Source Sans Pro" panose="020B0503030403020204" pitchFamily="34" charset="0"/>
              <a:ea typeface="Source Sans Pro" panose="020B0503030403020204" pitchFamily="34" charset="0"/>
            </a:endParaRPr>
          </a:p>
          <a:p>
            <a:pPr algn="ctr"/>
            <a:r>
              <a:rPr lang="es-ES_tradnl" sz="1600" b="1" dirty="0" err="1">
                <a:solidFill>
                  <a:srgbClr val="008B2E"/>
                </a:solidFill>
                <a:latin typeface="Source Sans Pro" panose="020B0503030403020204" pitchFamily="34" charset="0"/>
                <a:ea typeface="Source Sans Pro" panose="020B0503030403020204" pitchFamily="34" charset="0"/>
              </a:rPr>
              <a:t>Nathaly</a:t>
            </a:r>
            <a:r>
              <a:rPr lang="es-ES_tradnl" sz="1600" b="1" dirty="0">
                <a:solidFill>
                  <a:srgbClr val="008B2E"/>
                </a:solidFill>
                <a:latin typeface="Source Sans Pro" panose="020B0503030403020204" pitchFamily="34" charset="0"/>
                <a:ea typeface="Source Sans Pro" panose="020B0503030403020204" pitchFamily="34" charset="0"/>
              </a:rPr>
              <a:t> Vergel Serrano - </a:t>
            </a:r>
            <a:r>
              <a:rPr lang="es-ES_tradnl" sz="1600" b="1" dirty="0" err="1">
                <a:solidFill>
                  <a:srgbClr val="008B2E"/>
                </a:solidFill>
                <a:latin typeface="Source Sans Pro SemiBold" panose="020B0503030403020204" pitchFamily="34" charset="0"/>
                <a:ea typeface="Source Sans Pro SemiBold" panose="020B0503030403020204" pitchFamily="34" charset="0"/>
              </a:rPr>
              <a:t>nvergels@lmu.com</a:t>
            </a:r>
            <a:endParaRPr lang="es-ES_tradnl" sz="1600" b="1" dirty="0">
              <a:solidFill>
                <a:srgbClr val="008B2E"/>
              </a:solidFill>
              <a:latin typeface="Source Sans Pro SemiBold" panose="020B0503030403020204" pitchFamily="34" charset="0"/>
              <a:ea typeface="Source Sans Pro SemiBold" panose="020B0503030403020204" pitchFamily="34" charset="0"/>
            </a:endParaRPr>
          </a:p>
          <a:p>
            <a:pPr algn="ctr"/>
            <a:r>
              <a:rPr lang="es-ES_tradnl" sz="1600" b="1" dirty="0">
                <a:solidFill>
                  <a:srgbClr val="008B2E"/>
                </a:solidFill>
                <a:latin typeface="Source Sans Pro" panose="020B0503030403020204" pitchFamily="34" charset="0"/>
                <a:ea typeface="Source Sans Pro" panose="020B0503030403020204" pitchFamily="34" charset="0"/>
              </a:rPr>
              <a:t>Camila Bermudez Valderrama -  </a:t>
            </a:r>
            <a:r>
              <a:rPr lang="es-ES_tradnl" sz="1600" b="1" dirty="0" err="1">
                <a:solidFill>
                  <a:srgbClr val="008B2E"/>
                </a:solidFill>
                <a:latin typeface="Source Sans Pro SemiBold" panose="020B0503030403020204" pitchFamily="34" charset="0"/>
                <a:ea typeface="Source Sans Pro SemiBold" panose="020B0503030403020204" pitchFamily="34" charset="0"/>
              </a:rPr>
              <a:t>cbermudezv@lmu.com</a:t>
            </a:r>
            <a:endParaRPr lang="es-ES_tradnl" sz="1600" b="1" dirty="0">
              <a:solidFill>
                <a:srgbClr val="008B2E"/>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23605542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227108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7D85EAF-1CD7-9C88-5CA4-2BE5B76D259E}"/>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683BA74-E949-57C8-68A8-413DCB2FDA3C}"/>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4197455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MU_slides_Template" id="{1E660083-77C8-CC42-8F4D-F4BD403D79FF}" vid="{02494F8E-484B-C34C-B000-3224F455E1F7}"/>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DNC_LMU_slides_Template_v1</Template>
  <TotalTime>2505</TotalTime>
  <Words>7696</Words>
  <Application>Microsoft Office PowerPoint</Application>
  <PresentationFormat>Panorámica</PresentationFormat>
  <Paragraphs>1835</Paragraphs>
  <Slides>70</Slides>
  <Notes>23</Notes>
  <HiddenSlides>5</HiddenSlides>
  <MMClips>0</MMClips>
  <ScaleCrop>false</ScaleCrop>
  <HeadingPairs>
    <vt:vector size="6" baseType="variant">
      <vt:variant>
        <vt:lpstr>Fuentes usadas</vt:lpstr>
      </vt:variant>
      <vt:variant>
        <vt:i4>15</vt:i4>
      </vt:variant>
      <vt:variant>
        <vt:lpstr>Tema</vt:lpstr>
      </vt:variant>
      <vt:variant>
        <vt:i4>1</vt:i4>
      </vt:variant>
      <vt:variant>
        <vt:lpstr>Títulos de diapositiva</vt:lpstr>
      </vt:variant>
      <vt:variant>
        <vt:i4>70</vt:i4>
      </vt:variant>
    </vt:vector>
  </HeadingPairs>
  <TitlesOfParts>
    <vt:vector size="86" baseType="lpstr">
      <vt:lpstr>Aptos</vt:lpstr>
      <vt:lpstr>Aptos Display</vt:lpstr>
      <vt:lpstr>Aptos Narrow</vt:lpstr>
      <vt:lpstr>Arial</vt:lpstr>
      <vt:lpstr>Cambria Math</vt:lpstr>
      <vt:lpstr>Fira Sans Condensed</vt:lpstr>
      <vt:lpstr>Fira Sans Extra Condensed</vt:lpstr>
      <vt:lpstr>Nunito</vt:lpstr>
      <vt:lpstr>Roboto</vt:lpstr>
      <vt:lpstr>Segoe UI</vt:lpstr>
      <vt:lpstr>Source Sans Pro</vt:lpstr>
      <vt:lpstr>Source Sans Pro Black</vt:lpstr>
      <vt:lpstr>Source Sans Pro Light</vt:lpstr>
      <vt:lpstr>Source Sans Pro SemiBold</vt:lpstr>
      <vt:lpstr>Wingdings</vt:lpstr>
      <vt:lpstr>Tema de Office</vt:lpstr>
      <vt:lpstr>Presentación de PowerPoint</vt:lpstr>
      <vt:lpstr>Presentación de PowerPoint</vt:lpstr>
      <vt:lpstr>Presentación de PowerPoint</vt:lpstr>
      <vt:lpstr>Understanding PEMFCs through surrogates</vt:lpstr>
      <vt:lpstr>Project goals: From Sensitivities to Surrogates</vt:lpstr>
      <vt:lpstr>Input-Output framework for AlphaPEM</vt:lpstr>
      <vt:lpstr>Presentación de PowerPoint</vt:lpstr>
      <vt:lpstr>Presentación de PowerPoint</vt:lpstr>
      <vt:lpstr>Presentación de PowerPoint</vt:lpstr>
      <vt:lpstr>Asessing the Model Validity of AlphaPEM</vt:lpstr>
      <vt:lpstr>Goal: Finding a valid hyperbox</vt:lpstr>
      <vt:lpstr>Presentación de PowerPoint</vt:lpstr>
      <vt:lpstr>Resulting hyperbox from IRD</vt:lpstr>
      <vt:lpstr>Final set of input parameters for sampling of AlphaPEM</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camila bermudez</dc:creator>
  <cp:lastModifiedBy>camila bermudez</cp:lastModifiedBy>
  <cp:revision>117</cp:revision>
  <dcterms:created xsi:type="dcterms:W3CDTF">2025-07-18T14:40:14Z</dcterms:created>
  <dcterms:modified xsi:type="dcterms:W3CDTF">2025-07-29T22:35:17Z</dcterms:modified>
</cp:coreProperties>
</file>