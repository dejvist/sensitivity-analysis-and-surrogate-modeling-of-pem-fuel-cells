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2"/>
  </p:notesMasterIdLst>
  <p:sldIdLst>
    <p:sldId id="258"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296" r:id="rId21"/>
    <p:sldId id="302" r:id="rId22"/>
    <p:sldId id="304" r:id="rId23"/>
    <p:sldId id="308" r:id="rId24"/>
    <p:sldId id="300" r:id="rId25"/>
    <p:sldId id="298" r:id="rId26"/>
    <p:sldId id="299" r:id="rId27"/>
    <p:sldId id="285" r:id="rId28"/>
    <p:sldId id="311" r:id="rId29"/>
    <p:sldId id="309" r:id="rId30"/>
    <p:sldId id="310" r:id="rId31"/>
    <p:sldId id="262" r:id="rId32"/>
    <p:sldId id="307" r:id="rId33"/>
    <p:sldId id="289" r:id="rId34"/>
    <p:sldId id="287" r:id="rId35"/>
    <p:sldId id="263" r:id="rId36"/>
    <p:sldId id="290" r:id="rId37"/>
    <p:sldId id="264" r:id="rId38"/>
    <p:sldId id="257" r:id="rId39"/>
    <p:sldId id="275" r:id="rId40"/>
    <p:sldId id="294" r:id="rId41"/>
    <p:sldId id="295" r:id="rId42"/>
    <p:sldId id="271" r:id="rId43"/>
    <p:sldId id="288" r:id="rId44"/>
    <p:sldId id="293" r:id="rId45"/>
    <p:sldId id="268" r:id="rId46"/>
    <p:sldId id="277" r:id="rId47"/>
    <p:sldId id="278" r:id="rId48"/>
    <p:sldId id="282" r:id="rId49"/>
    <p:sldId id="280" r:id="rId50"/>
    <p:sldId id="281" r:id="rId5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78E6"/>
    <a:srgbClr val="008B2E"/>
    <a:srgbClr val="F3F3F3"/>
    <a:srgbClr val="004617"/>
    <a:srgbClr val="BBE555"/>
    <a:srgbClr val="FFB903"/>
    <a:srgbClr val="8879F5"/>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p:scale>
          <a:sx n="64" d="100"/>
          <a:sy n="64" d="100"/>
        </p:scale>
        <p:origin x="91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28/07/2025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40</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200.png"/><Relationship Id="rId5" Type="http://schemas.openxmlformats.org/officeDocument/2006/relationships/image" Target="../media/image190.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4.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1.jp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1.jp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t>
            </a:r>
            <a:br>
              <a:rPr lang="es-ES_tradnl" sz="4400" b="1" dirty="0">
                <a:latin typeface="Source Sans Pro" panose="020B0503030403020204" pitchFamily="34" charset="0"/>
                <a:ea typeface="Source Sans Pro" panose="020B0503030403020204" pitchFamily="34" charset="0"/>
              </a:rPr>
            </a:br>
            <a:r>
              <a:rPr lang="es-ES_tradnl" sz="4400" b="1" dirty="0">
                <a:latin typeface="Source Sans Pro" panose="020B0503030403020204" pitchFamily="34" charset="0"/>
                <a:ea typeface="Source Sans Pro" panose="020B0503030403020204" pitchFamily="34" charset="0"/>
              </a:rPr>
              <a:t>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r>
              <a:rPr lang="es-ES_tradnl" sz="1600" dirty="0" err="1">
                <a:latin typeface="Source Sans Pro" panose="020B0503030403020204" pitchFamily="34" charset="0"/>
                <a:ea typeface="Source Sans Pro" panose="020B0503030403020204" pitchFamily="34" charset="0"/>
              </a:rPr>
              <a:t>Presented</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by</a:t>
            </a:r>
            <a:r>
              <a:rPr lang="es-ES_tradnl" sz="1600" dirty="0">
                <a:latin typeface="Source Sans Pro" panose="020B0503030403020204" pitchFamily="34" charset="0"/>
                <a:ea typeface="Source Sans Pro" panose="020B0503030403020204" pitchFamily="34" charset="0"/>
              </a:rPr>
              <a:t>:</a:t>
            </a:r>
          </a:p>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610575" y="6101412"/>
            <a:ext cx="4527395" cy="338554"/>
          </a:xfrm>
          <a:prstGeom prst="rect">
            <a:avLst/>
          </a:prstGeom>
          <a:noFill/>
        </p:spPr>
        <p:txBody>
          <a:bodyPr wrap="square" rtlCol="0">
            <a:spAutoFit/>
          </a:bodyPr>
          <a:lstStyle/>
          <a:p>
            <a:r>
              <a:rPr lang="es-ES_tradnl" sz="1600" dirty="0" err="1">
                <a:latin typeface="Source Sans Pro" panose="020B0503030403020204" pitchFamily="34" charset="0"/>
                <a:ea typeface="Source Sans Pro" panose="020B0503030403020204" pitchFamily="34" charset="0"/>
              </a:rPr>
              <a:t>Supervised</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by</a:t>
            </a:r>
            <a:r>
              <a:rPr lang="es-ES_tradnl" sz="1600" dirty="0">
                <a:latin typeface="Source Sans Pro" panose="020B0503030403020204" pitchFamily="34" charset="0"/>
                <a:ea typeface="Source Sans Pro" panose="020B0503030403020204" pitchFamily="34" charset="0"/>
              </a:rPr>
              <a:t>: </a:t>
            </a:r>
            <a:r>
              <a:rPr lang="es-CO" sz="1600" dirty="0"/>
              <a:t>Dr. Giuseppe </a:t>
            </a:r>
            <a:r>
              <a:rPr lang="es-CO" sz="1600" dirty="0" err="1"/>
              <a:t>Casalicchio</a:t>
            </a:r>
            <a:endParaRPr lang="es-ES_tradnl" sz="1600"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5137970" y="5685913"/>
            <a:ext cx="3060917" cy="830997"/>
          </a:xfrm>
          <a:prstGeom prst="rect">
            <a:avLst/>
          </a:prstGeom>
          <a:noFill/>
        </p:spPr>
        <p:txBody>
          <a:bodyPr wrap="square">
            <a:spAutoFit/>
          </a:bodyPr>
          <a:lstStyle/>
          <a:p>
            <a:r>
              <a:rPr lang="es-CO" sz="1600" dirty="0"/>
              <a:t>In </a:t>
            </a:r>
            <a:r>
              <a:rPr lang="es-CO" sz="1600" dirty="0" err="1"/>
              <a:t>collaboration</a:t>
            </a:r>
            <a:r>
              <a:rPr lang="es-CO" sz="1600" dirty="0"/>
              <a:t> </a:t>
            </a:r>
            <a:r>
              <a:rPr lang="es-CO" sz="1600" dirty="0" err="1"/>
              <a:t>with</a:t>
            </a:r>
            <a:r>
              <a:rPr lang="es-CO" sz="1600" dirty="0"/>
              <a:t>: </a:t>
            </a:r>
          </a:p>
          <a:p>
            <a:r>
              <a:rPr lang="es-CO" sz="1600" dirty="0"/>
              <a:t> Luis Winkler (ZSW Ulm)</a:t>
            </a:r>
          </a:p>
          <a:p>
            <a:r>
              <a:rPr lang="es-CO" sz="1600" dirty="0"/>
              <a:t>Prof. Herbert Palm (UAS </a:t>
            </a:r>
            <a:r>
              <a:rPr lang="es-CO" sz="1600" dirty="0" err="1"/>
              <a:t>Munich</a:t>
            </a:r>
            <a:r>
              <a:rPr lang="es-CO" sz="1600" dirty="0"/>
              <a:t>)</a:t>
            </a:r>
            <a:endParaRPr lang="en" sz="1600" dirty="0"/>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8548913" y="5272050"/>
            <a:ext cx="1108772" cy="669883"/>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548913" y="6111210"/>
            <a:ext cx="1108773" cy="417638"/>
          </a:xfrm>
          <a:prstGeom prst="rect">
            <a:avLst/>
          </a:prstGeom>
        </p:spPr>
      </p:pic>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a:ea typeface="Source Sans Pro" panose="020B0503030403020204" pitchFamily="34" charset="0"/>
                <a:cs typeface="Roboto"/>
                <a:sym typeface="Roboto"/>
              </a:rPr>
              <a:t>Exchange Membrane (PEM) </a:t>
            </a:r>
            <a:r>
              <a:rPr lang="en-US" sz="4400" dirty="0">
                <a:ea typeface="Source Sans Pro" panose="020B0503030403020204" pitchFamily="34" charset="0"/>
                <a:cs typeface="Roboto"/>
                <a:sym typeface="Roboto"/>
              </a:rPr>
              <a:t>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209" name="CuadroTexto 1208">
            <a:extLst>
              <a:ext uri="{FF2B5EF4-FFF2-40B4-BE49-F238E27FC236}">
                <a16:creationId xmlns:a16="http://schemas.microsoft.com/office/drawing/2014/main" id="{55F83AB7-28D0-77AF-3A94-26CFEF770456}"/>
              </a:ext>
            </a:extLst>
          </p:cNvPr>
          <p:cNvSpPr txBox="1"/>
          <p:nvPr/>
        </p:nvSpPr>
        <p:spPr>
          <a:xfrm>
            <a:off x="1036520" y="1740679"/>
            <a:ext cx="10363425" cy="646331"/>
          </a:xfrm>
          <a:prstGeom prst="rect">
            <a:avLst/>
          </a:prstGeom>
          <a:noFill/>
        </p:spPr>
        <p:txBody>
          <a:bodyPr wrap="square">
            <a:spAutoFit/>
          </a:bodyPr>
          <a:lstStyle/>
          <a:p>
            <a:r>
              <a:rPr lang="en-US" dirty="0"/>
              <a:t>We work with </a:t>
            </a:r>
            <a:r>
              <a:rPr lang="en-US" b="1" dirty="0" err="1"/>
              <a:t>AlphaPEM</a:t>
            </a:r>
            <a:r>
              <a:rPr lang="en-US" b="1" dirty="0"/>
              <a:t>, </a:t>
            </a:r>
            <a:r>
              <a:rPr lang="en-US" dirty="0"/>
              <a:t>a 1D physics-based PEM fuel cell model using differential-algebraic equations (DAEs) to simulate polarization </a:t>
            </a:r>
            <a:r>
              <a:rPr lang="en-US" dirty="0" err="1"/>
              <a:t>behaviour</a:t>
            </a:r>
            <a:r>
              <a:rPr lang="en-US" dirty="0"/>
              <a:t> (current-voltage relation).</a:t>
            </a:r>
            <a:endParaRPr lang="en" dirty="0"/>
          </a:p>
        </p:txBody>
      </p:sp>
      <p:sp>
        <p:nvSpPr>
          <p:cNvPr id="1210" name="Google Shape;1860;p37">
            <a:extLst>
              <a:ext uri="{FF2B5EF4-FFF2-40B4-BE49-F238E27FC236}">
                <a16:creationId xmlns:a16="http://schemas.microsoft.com/office/drawing/2014/main" id="{4F320ECF-F4F6-3A0D-DA44-4808939E0BA6}"/>
              </a:ext>
            </a:extLst>
          </p:cNvPr>
          <p:cNvSpPr/>
          <p:nvPr/>
        </p:nvSpPr>
        <p:spPr bwMode="auto">
          <a:xfrm>
            <a:off x="8091406" y="2063845"/>
            <a:ext cx="2160166" cy="323166"/>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3">
                  <a:extLst>
                    <a:ext uri="{A12FA001-AC4F-418D-AE19-62706E023703}">
                      <ahyp:hlinkClr xmlns:ahyp="http://schemas.microsoft.com/office/drawing/2018/hyperlinkcolor" val="tx"/>
                    </a:ext>
                  </a:extLst>
                </a:hlinkClick>
              </a:rPr>
              <a:t>Gass</a:t>
            </a:r>
            <a:r>
              <a:rPr lang="es-MX" sz="1851" b="1" kern="0" dirty="0">
                <a:solidFill>
                  <a:schemeClr val="bg1"/>
                </a:solidFill>
                <a:cs typeface="Arial"/>
                <a:sym typeface="Arial"/>
                <a:hlinkClick r:id="rId3">
                  <a:extLst>
                    <a:ext uri="{A12FA001-AC4F-418D-AE19-62706E023703}">
                      <ahyp:hlinkClr xmlns:ahyp="http://schemas.microsoft.com/office/drawing/2018/hyperlinkcolor" val="tx"/>
                    </a:ext>
                  </a:extLst>
                </a:hlinkClick>
              </a:rPr>
              <a:t> et al, (2025)</a:t>
            </a:r>
            <a:endParaRPr sz="1851" b="1" kern="0" dirty="0">
              <a:solidFill>
                <a:schemeClr val="bg1"/>
              </a:solidFill>
              <a:cs typeface="Arial"/>
              <a:sym typeface="Arial"/>
            </a:endParaRP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configurations</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B09FBE8-A3D0-487B-A360-154FA7270443}"/>
              </a:ext>
            </a:extLst>
          </p:cNvPr>
          <p:cNvSpPr txBox="1"/>
          <p:nvPr/>
        </p:nvSpPr>
        <p:spPr>
          <a:xfrm>
            <a:off x="4924472" y="1079439"/>
            <a:ext cx="2439366" cy="830997"/>
          </a:xfrm>
          <a:prstGeom prst="rect">
            <a:avLst/>
          </a:prstGeom>
          <a:solidFill>
            <a:schemeClr val="bg1">
              <a:lumMod val="95000"/>
            </a:schemeClr>
          </a:solidFill>
        </p:spPr>
        <p:txBody>
          <a:bodyPr wrap="square" rtlCol="0">
            <a:spAutoFit/>
          </a:bodyPr>
          <a:lstStyle/>
          <a:p>
            <a:pPr algn="ctr"/>
            <a:r>
              <a:rPr lang="es-ES" sz="4800" b="1" dirty="0">
                <a:solidFill>
                  <a:srgbClr val="FF0000"/>
                </a:solidFill>
              </a:rPr>
              <a:t>Camila</a:t>
            </a:r>
            <a:endParaRPr lang="es-CO" sz="4800" b="1" dirty="0">
              <a:solidFill>
                <a:srgbClr val="FF0000"/>
              </a:solidFill>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887663" y="2700095"/>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rgbClr val="004617"/>
                </a:solidFill>
                <a:latin typeface="Source Sans Pro" panose="020B0503030403020204" pitchFamily="34" charset="0"/>
                <a:ea typeface="Source Sans Pro" panose="020B0503030403020204" pitchFamily="34" charset="0"/>
              </a:rPr>
              <a:t>What</a:t>
            </a:r>
            <a:r>
              <a:rPr lang="es-CO" sz="3200" dirty="0">
                <a:solidFill>
                  <a:srgbClr val="004617"/>
                </a:solidFill>
                <a:latin typeface="Source Sans Pro" panose="020B0503030403020204" pitchFamily="34" charset="0"/>
                <a:ea typeface="Source Sans Pro" panose="020B0503030403020204" pitchFamily="34" charset="0"/>
              </a:rPr>
              <a:t> </a:t>
            </a:r>
            <a:r>
              <a:rPr lang="es-CO" sz="3200" dirty="0" err="1">
                <a:solidFill>
                  <a:srgbClr val="004617"/>
                </a:solidFill>
                <a:latin typeface="Source Sans Pro" panose="020B0503030403020204" pitchFamily="34" charset="0"/>
                <a:ea typeface="Source Sans Pro" panose="020B0503030403020204" pitchFamily="34" charset="0"/>
              </a:rPr>
              <a:t>is</a:t>
            </a:r>
            <a:r>
              <a:rPr lang="es-CO" sz="3200" dirty="0">
                <a:solidFill>
                  <a:srgbClr val="004617"/>
                </a:solidFill>
                <a:latin typeface="Source Sans Pro" panose="020B0503030403020204" pitchFamily="34" charset="0"/>
                <a:ea typeface="Source Sans Pro" panose="020B0503030403020204" pitchFamily="34" charset="0"/>
              </a:rPr>
              <a:t> </a:t>
            </a:r>
            <a:r>
              <a:rPr lang="es-CO" sz="3200" b="1" dirty="0">
                <a:solidFill>
                  <a:srgbClr val="004617"/>
                </a:solidFill>
                <a:latin typeface="Source Sans Pro" panose="020B0503030403020204" pitchFamily="34" charset="0"/>
                <a:ea typeface="Source Sans Pro" panose="020B0503030403020204" pitchFamily="34" charset="0"/>
              </a:rPr>
              <a:t>a </a:t>
            </a:r>
            <a:r>
              <a:rPr lang="es-CO" sz="3200" b="1" dirty="0" err="1">
                <a:solidFill>
                  <a:srgbClr val="004617"/>
                </a:solidFill>
                <a:latin typeface="Source Sans Pro" panose="020B0503030403020204" pitchFamily="34" charset="0"/>
                <a:ea typeface="Source Sans Pro" panose="020B0503030403020204" pitchFamily="34" charset="0"/>
              </a:rPr>
              <a:t>sensitivity</a:t>
            </a:r>
            <a:r>
              <a:rPr lang="es-CO" sz="3200" b="1" dirty="0">
                <a:solidFill>
                  <a:srgbClr val="004617"/>
                </a:solidFill>
                <a:latin typeface="Source Sans Pro" panose="020B0503030403020204" pitchFamily="34" charset="0"/>
                <a:ea typeface="Source Sans Pro" panose="020B0503030403020204" pitchFamily="34" charset="0"/>
              </a:rPr>
              <a:t> </a:t>
            </a:r>
            <a:r>
              <a:rPr lang="es-CO" sz="3200" b="1" dirty="0" err="1">
                <a:solidFill>
                  <a:srgbClr val="004617"/>
                </a:solidFill>
                <a:latin typeface="Source Sans Pro" panose="020B0503030403020204" pitchFamily="34" charset="0"/>
                <a:ea typeface="Source Sans Pro" panose="020B0503030403020204" pitchFamily="34" charset="0"/>
              </a:rPr>
              <a:t>analysis</a:t>
            </a:r>
            <a:r>
              <a:rPr lang="es-CO" sz="3200" dirty="0">
                <a:solidFill>
                  <a:srgbClr val="004617"/>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solidFill>
              </a:rPr>
              <a:t>It is a method used to determine </a:t>
            </a:r>
            <a:r>
              <a:rPr lang="en-US" sz="2000" b="1" dirty="0">
                <a:solidFill>
                  <a:schemeClr val="tx1"/>
                </a:solidFill>
              </a:rPr>
              <a:t>how changes in input variables influence the output of a model. </a:t>
            </a:r>
          </a:p>
          <a:p>
            <a:pPr marL="701675" indent="-342900">
              <a:buFont typeface="Wingdings" panose="05000000000000000000" pitchFamily="2" charset="2"/>
              <a:buChar char="§"/>
            </a:pPr>
            <a:r>
              <a:rPr lang="en-US" sz="2000" dirty="0">
                <a:solidFill>
                  <a:schemeClr val="tx1"/>
                </a:solidFill>
              </a:rPr>
              <a:t>It helps identify which </a:t>
            </a:r>
            <a:r>
              <a:rPr lang="en-US" sz="2000" b="1" dirty="0">
                <a:solidFill>
                  <a:schemeClr val="tx1"/>
                </a:solidFill>
              </a:rPr>
              <a:t>inputs</a:t>
            </a:r>
            <a:r>
              <a:rPr lang="en-US" sz="2000" dirty="0">
                <a:solidFill>
                  <a:schemeClr val="tx1"/>
                </a:solidFill>
              </a:rPr>
              <a:t> have the </a:t>
            </a:r>
            <a:r>
              <a:rPr lang="en-US" sz="2000" u="sng" dirty="0">
                <a:solidFill>
                  <a:schemeClr val="tx1"/>
                </a:solidFill>
              </a:rPr>
              <a:t>most significant effect on the results </a:t>
            </a:r>
            <a:r>
              <a:rPr lang="en-US" sz="2000" dirty="0">
                <a:solidFill>
                  <a:schemeClr val="tx1"/>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20</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alpha val="30000"/>
          </a:schemeClr>
        </a:solidFill>
        <a:effectLst/>
      </p:bgPr>
    </p:bg>
    <p:spTree>
      <p:nvGrpSpPr>
        <p:cNvPr id="1" name=""/>
        <p:cNvGrpSpPr/>
        <p:nvPr/>
      </p:nvGrpSpPr>
      <p:grpSpPr>
        <a:xfrm>
          <a:off x="0" y="0"/>
          <a:ext cx="0" cy="0"/>
          <a:chOff x="0" y="0"/>
          <a:chExt cx="0" cy="0"/>
        </a:xfrm>
      </p:grpSpPr>
      <p:sp>
        <p:nvSpPr>
          <p:cNvPr id="81" name="Rectángulo 80">
            <a:extLst>
              <a:ext uri="{FF2B5EF4-FFF2-40B4-BE49-F238E27FC236}">
                <a16:creationId xmlns:a16="http://schemas.microsoft.com/office/drawing/2014/main" id="{156BE44C-AB83-469C-A425-1960DBE927BC}"/>
              </a:ext>
            </a:extLst>
          </p:cNvPr>
          <p:cNvSpPr/>
          <p:nvPr/>
        </p:nvSpPr>
        <p:spPr>
          <a:xfrm>
            <a:off x="-108383" y="4621696"/>
            <a:ext cx="664973" cy="2236304"/>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0" name="Rectángulo 79">
            <a:extLst>
              <a:ext uri="{FF2B5EF4-FFF2-40B4-BE49-F238E27FC236}">
                <a16:creationId xmlns:a16="http://schemas.microsoft.com/office/drawing/2014/main" id="{46D7FABA-C002-43F7-A1B0-4910F913276A}"/>
              </a:ext>
            </a:extLst>
          </p:cNvPr>
          <p:cNvSpPr/>
          <p:nvPr/>
        </p:nvSpPr>
        <p:spPr>
          <a:xfrm>
            <a:off x="556590" y="2927309"/>
            <a:ext cx="11635409" cy="3930691"/>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2" name="Google Shape;358;p19">
            <a:extLst>
              <a:ext uri="{FF2B5EF4-FFF2-40B4-BE49-F238E27FC236}">
                <a16:creationId xmlns:a16="http://schemas.microsoft.com/office/drawing/2014/main" id="{FFA2ADF4-D4F8-4C70-9BEC-ACECAFB7502B}"/>
              </a:ext>
            </a:extLst>
          </p:cNvPr>
          <p:cNvSpPr/>
          <p:nvPr/>
        </p:nvSpPr>
        <p:spPr>
          <a:xfrm>
            <a:off x="-164032" y="4326948"/>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fld id="{B75BC28E-972B-EC47-BE79-29D89D46B9CA}" type="slidenum">
              <a:rPr lang="es-ES_tradnl" smtClean="0"/>
              <a:pPr/>
              <a:t>21</a:t>
            </a:fld>
            <a:endParaRPr lang="es-ES_tradnl" dirty="0"/>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9" name="Google Shape;355;p19">
            <a:extLst>
              <a:ext uri="{FF2B5EF4-FFF2-40B4-BE49-F238E27FC236}">
                <a16:creationId xmlns:a16="http://schemas.microsoft.com/office/drawing/2014/main" id="{B84D31D7-2B28-4594-9C4C-CFDF12D1C852}"/>
              </a:ext>
            </a:extLst>
          </p:cNvPr>
          <p:cNvSpPr/>
          <p:nvPr/>
        </p:nvSpPr>
        <p:spPr>
          <a:xfrm>
            <a:off x="7460268" y="4309245"/>
            <a:ext cx="1658098" cy="801159"/>
          </a:xfrm>
          <a:custGeom>
            <a:avLst/>
            <a:gdLst/>
            <a:ahLst/>
            <a:cxnLst/>
            <a:rect l="l" t="t" r="r" b="b"/>
            <a:pathLst>
              <a:path w="53388" h="25796" extrusionOk="0">
                <a:moveTo>
                  <a:pt x="2535" y="0"/>
                </a:moveTo>
                <a:cubicBezTo>
                  <a:pt x="2341" y="0"/>
                  <a:pt x="2221" y="5"/>
                  <a:pt x="2179" y="7"/>
                </a:cubicBezTo>
                <a:cubicBezTo>
                  <a:pt x="953" y="55"/>
                  <a:pt x="0" y="1102"/>
                  <a:pt x="48" y="2341"/>
                </a:cubicBezTo>
                <a:cubicBezTo>
                  <a:pt x="106" y="3530"/>
                  <a:pt x="1083" y="4463"/>
                  <a:pt x="2272" y="4463"/>
                </a:cubicBezTo>
                <a:cubicBezTo>
                  <a:pt x="2308" y="4463"/>
                  <a:pt x="2345" y="4462"/>
                  <a:pt x="2382" y="4460"/>
                </a:cubicBezTo>
                <a:cubicBezTo>
                  <a:pt x="2384" y="4460"/>
                  <a:pt x="2418"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2"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56;p19">
            <a:extLst>
              <a:ext uri="{FF2B5EF4-FFF2-40B4-BE49-F238E27FC236}">
                <a16:creationId xmlns:a16="http://schemas.microsoft.com/office/drawing/2014/main" id="{A4FBB60B-0245-47E0-8307-3825BB164945}"/>
              </a:ext>
            </a:extLst>
          </p:cNvPr>
          <p:cNvSpPr/>
          <p:nvPr/>
        </p:nvSpPr>
        <p:spPr>
          <a:xfrm>
            <a:off x="5946028" y="4309245"/>
            <a:ext cx="1658098" cy="801159"/>
          </a:xfrm>
          <a:custGeom>
            <a:avLst/>
            <a:gdLst/>
            <a:ahLst/>
            <a:cxnLst/>
            <a:rect l="l" t="t" r="r" b="b"/>
            <a:pathLst>
              <a:path w="53388" h="25796" extrusionOk="0">
                <a:moveTo>
                  <a:pt x="50844" y="0"/>
                </a:moveTo>
                <a:cubicBezTo>
                  <a:pt x="48771" y="0"/>
                  <a:pt x="38252" y="543"/>
                  <a:pt x="26587" y="10770"/>
                </a:cubicBezTo>
                <a:cubicBezTo>
                  <a:pt x="23610" y="13390"/>
                  <a:pt x="14538" y="21331"/>
                  <a:pt x="2227" y="21331"/>
                </a:cubicBezTo>
                <a:cubicBezTo>
                  <a:pt x="988" y="21331"/>
                  <a:pt x="0" y="22331"/>
                  <a:pt x="0" y="23569"/>
                </a:cubicBezTo>
                <a:cubicBezTo>
                  <a:pt x="0" y="24796"/>
                  <a:pt x="988" y="25796"/>
                  <a:pt x="2227" y="25796"/>
                </a:cubicBezTo>
                <a:cubicBezTo>
                  <a:pt x="3786" y="25796"/>
                  <a:pt x="7418" y="25796"/>
                  <a:pt x="12252" y="24296"/>
                </a:cubicBezTo>
                <a:cubicBezTo>
                  <a:pt x="18098" y="22486"/>
                  <a:pt x="23908" y="19057"/>
                  <a:pt x="29528" y="14128"/>
                </a:cubicBezTo>
                <a:cubicBezTo>
                  <a:pt x="35445" y="8949"/>
                  <a:pt x="40970" y="6591"/>
                  <a:pt x="44565" y="5531"/>
                </a:cubicBezTo>
                <a:cubicBezTo>
                  <a:pt x="48005" y="4515"/>
                  <a:pt x="50381" y="4459"/>
                  <a:pt x="50900" y="4459"/>
                </a:cubicBezTo>
                <a:cubicBezTo>
                  <a:pt x="50965" y="4459"/>
                  <a:pt x="51001" y="4460"/>
                  <a:pt x="51007" y="4460"/>
                </a:cubicBezTo>
                <a:cubicBezTo>
                  <a:pt x="51043" y="4462"/>
                  <a:pt x="51079" y="4463"/>
                  <a:pt x="51115" y="4463"/>
                </a:cubicBezTo>
                <a:cubicBezTo>
                  <a:pt x="52294" y="4463"/>
                  <a:pt x="53270" y="3530"/>
                  <a:pt x="53328" y="2341"/>
                </a:cubicBezTo>
                <a:cubicBezTo>
                  <a:pt x="53388" y="1102"/>
                  <a:pt x="52435" y="55"/>
                  <a:pt x="51197" y="7"/>
                </a:cubicBezTo>
                <a:cubicBezTo>
                  <a:pt x="51156" y="5"/>
                  <a:pt x="51037" y="0"/>
                  <a:pt x="50844"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278E6"/>
              </a:solidFill>
            </a:endParaRPr>
          </a:p>
        </p:txBody>
      </p:sp>
      <p:sp>
        <p:nvSpPr>
          <p:cNvPr id="11" name="Google Shape;357;p19">
            <a:extLst>
              <a:ext uri="{FF2B5EF4-FFF2-40B4-BE49-F238E27FC236}">
                <a16:creationId xmlns:a16="http://schemas.microsoft.com/office/drawing/2014/main" id="{463A3464-23E4-412E-B6C2-6F069107C53E}"/>
              </a:ext>
            </a:extLst>
          </p:cNvPr>
          <p:cNvSpPr/>
          <p:nvPr/>
        </p:nvSpPr>
        <p:spPr>
          <a:xfrm>
            <a:off x="4278227" y="4329123"/>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58;p19">
            <a:extLst>
              <a:ext uri="{FF2B5EF4-FFF2-40B4-BE49-F238E27FC236}">
                <a16:creationId xmlns:a16="http://schemas.microsoft.com/office/drawing/2014/main" id="{BE8104D5-4961-400B-ACE0-784DD69F315A}"/>
              </a:ext>
            </a:extLst>
          </p:cNvPr>
          <p:cNvSpPr/>
          <p:nvPr/>
        </p:nvSpPr>
        <p:spPr>
          <a:xfrm>
            <a:off x="2913822" y="4309245"/>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59;p19">
            <a:extLst>
              <a:ext uri="{FF2B5EF4-FFF2-40B4-BE49-F238E27FC236}">
                <a16:creationId xmlns:a16="http://schemas.microsoft.com/office/drawing/2014/main" id="{ACF877ED-FFCB-4FC9-9D91-D3DEE71F8270}"/>
              </a:ext>
            </a:extLst>
          </p:cNvPr>
          <p:cNvSpPr/>
          <p:nvPr/>
        </p:nvSpPr>
        <p:spPr>
          <a:xfrm>
            <a:off x="1395514" y="4309245"/>
            <a:ext cx="1658502" cy="801159"/>
          </a:xfrm>
          <a:custGeom>
            <a:avLst/>
            <a:gdLst/>
            <a:ahLst/>
            <a:cxnLst/>
            <a:rect l="l" t="t" r="r" b="b"/>
            <a:pathLst>
              <a:path w="53401" h="25796" extrusionOk="0">
                <a:moveTo>
                  <a:pt x="2548" y="0"/>
                </a:moveTo>
                <a:cubicBezTo>
                  <a:pt x="2354" y="0"/>
                  <a:pt x="2233" y="5"/>
                  <a:pt x="2192" y="7"/>
                </a:cubicBezTo>
                <a:cubicBezTo>
                  <a:pt x="965" y="55"/>
                  <a:pt x="1" y="1102"/>
                  <a:pt x="60" y="2341"/>
                </a:cubicBezTo>
                <a:cubicBezTo>
                  <a:pt x="118" y="3530"/>
                  <a:pt x="1095" y="4463"/>
                  <a:pt x="2284" y="4463"/>
                </a:cubicBezTo>
                <a:cubicBezTo>
                  <a:pt x="2321" y="4463"/>
                  <a:pt x="2357" y="4462"/>
                  <a:pt x="2394" y="4460"/>
                </a:cubicBezTo>
                <a:cubicBezTo>
                  <a:pt x="2397" y="4460"/>
                  <a:pt x="2430" y="4459"/>
                  <a:pt x="2493" y="4459"/>
                </a:cubicBezTo>
                <a:cubicBezTo>
                  <a:pt x="2996" y="4459"/>
                  <a:pt x="5375" y="4515"/>
                  <a:pt x="8835" y="5531"/>
                </a:cubicBezTo>
                <a:cubicBezTo>
                  <a:pt x="12431" y="6591"/>
                  <a:pt x="17944" y="8949"/>
                  <a:pt x="23861" y="14128"/>
                </a:cubicBezTo>
                <a:cubicBezTo>
                  <a:pt x="29493" y="19057"/>
                  <a:pt x="35303" y="22486"/>
                  <a:pt x="41149" y="24296"/>
                </a:cubicBezTo>
                <a:cubicBezTo>
                  <a:pt x="45983" y="25796"/>
                  <a:pt x="49614" y="25796"/>
                  <a:pt x="51174" y="25796"/>
                </a:cubicBezTo>
                <a:cubicBezTo>
                  <a:pt x="52400" y="25796"/>
                  <a:pt x="53400" y="24796"/>
                  <a:pt x="53400" y="23569"/>
                </a:cubicBezTo>
                <a:cubicBezTo>
                  <a:pt x="53400" y="22331"/>
                  <a:pt x="52400" y="21331"/>
                  <a:pt x="51174" y="21331"/>
                </a:cubicBezTo>
                <a:cubicBezTo>
                  <a:pt x="48126" y="21331"/>
                  <a:pt x="38851" y="21331"/>
                  <a:pt x="26802" y="10770"/>
                </a:cubicBezTo>
                <a:cubicBezTo>
                  <a:pt x="15137" y="543"/>
                  <a:pt x="4628" y="0"/>
                  <a:pt x="2548"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2;p19">
            <a:extLst>
              <a:ext uri="{FF2B5EF4-FFF2-40B4-BE49-F238E27FC236}">
                <a16:creationId xmlns:a16="http://schemas.microsoft.com/office/drawing/2014/main" id="{D397218E-0235-4665-953A-D6F7274A1383}"/>
              </a:ext>
            </a:extLst>
          </p:cNvPr>
          <p:cNvSpPr/>
          <p:nvPr/>
        </p:nvSpPr>
        <p:spPr>
          <a:xfrm>
            <a:off x="2783384" y="4900641"/>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p19">
            <a:extLst>
              <a:ext uri="{FF2B5EF4-FFF2-40B4-BE49-F238E27FC236}">
                <a16:creationId xmlns:a16="http://schemas.microsoft.com/office/drawing/2014/main" id="{273CA452-D853-4D02-89D5-814622D4B21C}"/>
              </a:ext>
            </a:extLst>
          </p:cNvPr>
          <p:cNvSpPr/>
          <p:nvPr/>
        </p:nvSpPr>
        <p:spPr>
          <a:xfrm>
            <a:off x="2850604" y="4968209"/>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71;p19">
            <a:extLst>
              <a:ext uri="{FF2B5EF4-FFF2-40B4-BE49-F238E27FC236}">
                <a16:creationId xmlns:a16="http://schemas.microsoft.com/office/drawing/2014/main" id="{894BA05A-EEBD-42A7-B94C-16E5E949C29E}"/>
              </a:ext>
            </a:extLst>
          </p:cNvPr>
          <p:cNvSpPr/>
          <p:nvPr/>
        </p:nvSpPr>
        <p:spPr>
          <a:xfrm>
            <a:off x="4333460" y="4227523"/>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72;p19">
            <a:extLst>
              <a:ext uri="{FF2B5EF4-FFF2-40B4-BE49-F238E27FC236}">
                <a16:creationId xmlns:a16="http://schemas.microsoft.com/office/drawing/2014/main" id="{179FDC69-670C-4B04-89DD-FD211FE45CAE}"/>
              </a:ext>
            </a:extLst>
          </p:cNvPr>
          <p:cNvSpPr/>
          <p:nvPr/>
        </p:nvSpPr>
        <p:spPr>
          <a:xfrm>
            <a:off x="4400679" y="4295124"/>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78;p19">
            <a:extLst>
              <a:ext uri="{FF2B5EF4-FFF2-40B4-BE49-F238E27FC236}">
                <a16:creationId xmlns:a16="http://schemas.microsoft.com/office/drawing/2014/main" id="{E52F1264-2100-4234-A69F-F928CAD1DA88}"/>
              </a:ext>
            </a:extLst>
          </p:cNvPr>
          <p:cNvSpPr/>
          <p:nvPr/>
        </p:nvSpPr>
        <p:spPr>
          <a:xfrm>
            <a:off x="5886579" y="4900641"/>
            <a:ext cx="291455" cy="291487"/>
          </a:xfrm>
          <a:custGeom>
            <a:avLst/>
            <a:gdLst/>
            <a:ahLst/>
            <a:cxnLst/>
            <a:rect l="l" t="t" r="r" b="b"/>
            <a:pathLst>
              <a:path w="9192" h="9193" extrusionOk="0">
                <a:moveTo>
                  <a:pt x="4596" y="1"/>
                </a:moveTo>
                <a:cubicBezTo>
                  <a:pt x="2060" y="1"/>
                  <a:pt x="0" y="2061"/>
                  <a:pt x="0" y="4597"/>
                </a:cubicBezTo>
                <a:cubicBezTo>
                  <a:pt x="0" y="7133"/>
                  <a:pt x="2060" y="9192"/>
                  <a:pt x="4596" y="9192"/>
                </a:cubicBezTo>
                <a:cubicBezTo>
                  <a:pt x="7132" y="9192"/>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79;p19">
            <a:extLst>
              <a:ext uri="{FF2B5EF4-FFF2-40B4-BE49-F238E27FC236}">
                <a16:creationId xmlns:a16="http://schemas.microsoft.com/office/drawing/2014/main" id="{212E91F2-4BCC-4815-93AC-120C3289FB36}"/>
              </a:ext>
            </a:extLst>
          </p:cNvPr>
          <p:cNvSpPr/>
          <p:nvPr/>
        </p:nvSpPr>
        <p:spPr>
          <a:xfrm>
            <a:off x="5954148" y="4968209"/>
            <a:ext cx="156318" cy="156350"/>
          </a:xfrm>
          <a:custGeom>
            <a:avLst/>
            <a:gdLst/>
            <a:ahLst/>
            <a:cxnLst/>
            <a:rect l="l" t="t" r="r" b="b"/>
            <a:pathLst>
              <a:path w="4930" h="4931" extrusionOk="0">
                <a:moveTo>
                  <a:pt x="2465" y="1"/>
                </a:moveTo>
                <a:cubicBezTo>
                  <a:pt x="1108" y="1"/>
                  <a:pt x="0" y="1108"/>
                  <a:pt x="0" y="2466"/>
                </a:cubicBezTo>
                <a:cubicBezTo>
                  <a:pt x="0" y="3823"/>
                  <a:pt x="1108" y="4930"/>
                  <a:pt x="2465" y="4930"/>
                </a:cubicBezTo>
                <a:cubicBezTo>
                  <a:pt x="3822" y="4930"/>
                  <a:pt x="4929" y="3823"/>
                  <a:pt x="4929" y="2466"/>
                </a:cubicBezTo>
                <a:cubicBezTo>
                  <a:pt x="4929" y="1108"/>
                  <a:pt x="3822" y="1"/>
                  <a:pt x="2465"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85;p19">
            <a:extLst>
              <a:ext uri="{FF2B5EF4-FFF2-40B4-BE49-F238E27FC236}">
                <a16:creationId xmlns:a16="http://schemas.microsoft.com/office/drawing/2014/main" id="{91F23EA6-9FC7-4A06-AC01-859923254F7F}"/>
              </a:ext>
            </a:extLst>
          </p:cNvPr>
          <p:cNvSpPr/>
          <p:nvPr/>
        </p:nvSpPr>
        <p:spPr>
          <a:xfrm>
            <a:off x="7440048" y="4227523"/>
            <a:ext cx="291455" cy="291487"/>
          </a:xfrm>
          <a:custGeom>
            <a:avLst/>
            <a:gdLst/>
            <a:ahLst/>
            <a:cxnLst/>
            <a:rect l="l" t="t" r="r" b="b"/>
            <a:pathLst>
              <a:path w="9192" h="9193" extrusionOk="0">
                <a:moveTo>
                  <a:pt x="4596" y="1"/>
                </a:moveTo>
                <a:cubicBezTo>
                  <a:pt x="2060" y="1"/>
                  <a:pt x="0" y="2061"/>
                  <a:pt x="0" y="4597"/>
                </a:cubicBezTo>
                <a:cubicBezTo>
                  <a:pt x="0" y="7133"/>
                  <a:pt x="2060" y="9193"/>
                  <a:pt x="4596" y="9193"/>
                </a:cubicBezTo>
                <a:cubicBezTo>
                  <a:pt x="7132" y="9193"/>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86;p19">
            <a:extLst>
              <a:ext uri="{FF2B5EF4-FFF2-40B4-BE49-F238E27FC236}">
                <a16:creationId xmlns:a16="http://schemas.microsoft.com/office/drawing/2014/main" id="{6B340675-44B3-4B07-A675-73661A7E8AD8}"/>
              </a:ext>
            </a:extLst>
          </p:cNvPr>
          <p:cNvSpPr/>
          <p:nvPr/>
        </p:nvSpPr>
        <p:spPr>
          <a:xfrm>
            <a:off x="7507616" y="4295124"/>
            <a:ext cx="156318" cy="156318"/>
          </a:xfrm>
          <a:custGeom>
            <a:avLst/>
            <a:gdLst/>
            <a:ahLst/>
            <a:cxnLst/>
            <a:rect l="l" t="t" r="r" b="b"/>
            <a:pathLst>
              <a:path w="4930" h="4930" extrusionOk="0">
                <a:moveTo>
                  <a:pt x="2465" y="0"/>
                </a:moveTo>
                <a:cubicBezTo>
                  <a:pt x="1108" y="0"/>
                  <a:pt x="1" y="1107"/>
                  <a:pt x="1" y="2465"/>
                </a:cubicBezTo>
                <a:cubicBezTo>
                  <a:pt x="1" y="3822"/>
                  <a:pt x="1108" y="4929"/>
                  <a:pt x="2465" y="4929"/>
                </a:cubicBezTo>
                <a:cubicBezTo>
                  <a:pt x="3822" y="4929"/>
                  <a:pt x="4930" y="3822"/>
                  <a:pt x="4930" y="2465"/>
                </a:cubicBezTo>
                <a:cubicBezTo>
                  <a:pt x="4930" y="1107"/>
                  <a:pt x="3822" y="0"/>
                  <a:pt x="2465"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58;p19">
            <a:extLst>
              <a:ext uri="{FF2B5EF4-FFF2-40B4-BE49-F238E27FC236}">
                <a16:creationId xmlns:a16="http://schemas.microsoft.com/office/drawing/2014/main" id="{6A05E2BF-556D-4660-9A2E-5A6DE58639A9}"/>
              </a:ext>
            </a:extLst>
          </p:cNvPr>
          <p:cNvSpPr/>
          <p:nvPr/>
        </p:nvSpPr>
        <p:spPr>
          <a:xfrm>
            <a:off x="9108023" y="4311367"/>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2;p19">
            <a:extLst>
              <a:ext uri="{FF2B5EF4-FFF2-40B4-BE49-F238E27FC236}">
                <a16:creationId xmlns:a16="http://schemas.microsoft.com/office/drawing/2014/main" id="{4665D97F-24EF-4896-B9C0-B64C09D58791}"/>
              </a:ext>
            </a:extLst>
          </p:cNvPr>
          <p:cNvSpPr/>
          <p:nvPr/>
        </p:nvSpPr>
        <p:spPr>
          <a:xfrm>
            <a:off x="8972987" y="4886486"/>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3;p19">
            <a:extLst>
              <a:ext uri="{FF2B5EF4-FFF2-40B4-BE49-F238E27FC236}">
                <a16:creationId xmlns:a16="http://schemas.microsoft.com/office/drawing/2014/main" id="{D043D805-C80B-45E0-A8BC-3D614FAA84CD}"/>
              </a:ext>
            </a:extLst>
          </p:cNvPr>
          <p:cNvSpPr/>
          <p:nvPr/>
        </p:nvSpPr>
        <p:spPr>
          <a:xfrm>
            <a:off x="9040207" y="4954054"/>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57;p19">
            <a:extLst>
              <a:ext uri="{FF2B5EF4-FFF2-40B4-BE49-F238E27FC236}">
                <a16:creationId xmlns:a16="http://schemas.microsoft.com/office/drawing/2014/main" id="{ABB4FE14-BDE1-463A-9C61-C694CC65C240}"/>
              </a:ext>
            </a:extLst>
          </p:cNvPr>
          <p:cNvSpPr/>
          <p:nvPr/>
        </p:nvSpPr>
        <p:spPr>
          <a:xfrm>
            <a:off x="10711091" y="4312780"/>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71;p19">
            <a:extLst>
              <a:ext uri="{FF2B5EF4-FFF2-40B4-BE49-F238E27FC236}">
                <a16:creationId xmlns:a16="http://schemas.microsoft.com/office/drawing/2014/main" id="{4AF71126-6C4A-4BDB-A192-E3E653FD9C00}"/>
              </a:ext>
            </a:extLst>
          </p:cNvPr>
          <p:cNvSpPr/>
          <p:nvPr/>
        </p:nvSpPr>
        <p:spPr>
          <a:xfrm>
            <a:off x="10616458" y="4231058"/>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72;p19">
            <a:extLst>
              <a:ext uri="{FF2B5EF4-FFF2-40B4-BE49-F238E27FC236}">
                <a16:creationId xmlns:a16="http://schemas.microsoft.com/office/drawing/2014/main" id="{9ADDB8E8-C385-4FD6-922C-4034088E94AC}"/>
              </a:ext>
            </a:extLst>
          </p:cNvPr>
          <p:cNvSpPr/>
          <p:nvPr/>
        </p:nvSpPr>
        <p:spPr>
          <a:xfrm>
            <a:off x="10683677" y="4298659"/>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71;p19">
            <a:extLst>
              <a:ext uri="{FF2B5EF4-FFF2-40B4-BE49-F238E27FC236}">
                <a16:creationId xmlns:a16="http://schemas.microsoft.com/office/drawing/2014/main" id="{0289C750-BE01-4305-8A3C-228D2CF7D267}"/>
              </a:ext>
            </a:extLst>
          </p:cNvPr>
          <p:cNvSpPr/>
          <p:nvPr/>
        </p:nvSpPr>
        <p:spPr>
          <a:xfrm>
            <a:off x="1255606" y="4245226"/>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72;p19">
            <a:extLst>
              <a:ext uri="{FF2B5EF4-FFF2-40B4-BE49-F238E27FC236}">
                <a16:creationId xmlns:a16="http://schemas.microsoft.com/office/drawing/2014/main" id="{DA2451C1-DB2D-4C34-91D9-1511EFD77823}"/>
              </a:ext>
            </a:extLst>
          </p:cNvPr>
          <p:cNvSpPr/>
          <p:nvPr/>
        </p:nvSpPr>
        <p:spPr>
          <a:xfrm>
            <a:off x="1322825" y="4312827"/>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CuadroTexto 56">
            <a:extLst>
              <a:ext uri="{FF2B5EF4-FFF2-40B4-BE49-F238E27FC236}">
                <a16:creationId xmlns:a16="http://schemas.microsoft.com/office/drawing/2014/main" id="{814094F3-D9D0-4A44-BC1F-8BB63F21C2F3}"/>
              </a:ext>
            </a:extLst>
          </p:cNvPr>
          <p:cNvSpPr txBox="1"/>
          <p:nvPr/>
        </p:nvSpPr>
        <p:spPr>
          <a:xfrm>
            <a:off x="2117018" y="3516178"/>
            <a:ext cx="1658129" cy="954107"/>
          </a:xfrm>
          <a:prstGeom prst="rect">
            <a:avLst/>
          </a:prstGeom>
          <a:noFill/>
        </p:spPr>
        <p:txBody>
          <a:bodyPr wrap="square">
            <a:spAutoFit/>
          </a:bodyPr>
          <a:lstStyle/>
          <a:p>
            <a:pPr algn="ctr"/>
            <a:r>
              <a:rPr lang="es-CO" sz="1400" dirty="0">
                <a:solidFill>
                  <a:schemeClr val="tx1">
                    <a:lumMod val="65000"/>
                    <a:lumOff val="35000"/>
                  </a:schemeClr>
                </a:solidFill>
              </a:rPr>
              <a:t>Set a </a:t>
            </a:r>
            <a:r>
              <a:rPr lang="es-CO" sz="1400" dirty="0" err="1">
                <a:solidFill>
                  <a:schemeClr val="tx1">
                    <a:lumMod val="65000"/>
                    <a:lumOff val="35000"/>
                  </a:schemeClr>
                </a:solidFill>
              </a:rPr>
              <a:t>baseline</a:t>
            </a:r>
            <a:r>
              <a:rPr lang="es-CO" sz="1400" dirty="0">
                <a:solidFill>
                  <a:schemeClr val="tx1">
                    <a:lumMod val="65000"/>
                    <a:lumOff val="35000"/>
                  </a:schemeClr>
                </a:solidFill>
              </a:rPr>
              <a:t>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a:p>
            <a:pPr algn="ct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model's</a:t>
            </a:r>
            <a:r>
              <a:rPr lang="es-CO" sz="1400" dirty="0">
                <a:solidFill>
                  <a:schemeClr val="tx1">
                    <a:lumMod val="65000"/>
                    <a:lumOff val="35000"/>
                  </a:schemeClr>
                </a:solidFill>
              </a:rPr>
              <a:t> </a:t>
            </a:r>
            <a:r>
              <a:rPr lang="es-CO" sz="1400" dirty="0" err="1">
                <a:solidFill>
                  <a:schemeClr val="tx1">
                    <a:lumMod val="65000"/>
                    <a:lumOff val="35000"/>
                  </a:schemeClr>
                </a:solidFill>
              </a:rPr>
              <a:t>average</a:t>
            </a:r>
            <a:r>
              <a:rPr lang="es-CO" sz="1400" dirty="0">
                <a:solidFill>
                  <a:schemeClr val="tx1">
                    <a:lumMod val="65000"/>
                    <a:lumOff val="35000"/>
                  </a:schemeClr>
                </a:solidFill>
              </a:rPr>
              <a:t> output.</a:t>
            </a:r>
          </a:p>
        </p:txBody>
      </p:sp>
      <p:sp>
        <p:nvSpPr>
          <p:cNvPr id="59" name="CuadroTexto 58">
            <a:extLst>
              <a:ext uri="{FF2B5EF4-FFF2-40B4-BE49-F238E27FC236}">
                <a16:creationId xmlns:a16="http://schemas.microsoft.com/office/drawing/2014/main" id="{AA3906CC-56F3-4464-B0F5-95BA63E83F1F}"/>
              </a:ext>
            </a:extLst>
          </p:cNvPr>
          <p:cNvSpPr txBox="1"/>
          <p:nvPr/>
        </p:nvSpPr>
        <p:spPr>
          <a:xfrm>
            <a:off x="3287316" y="5141686"/>
            <a:ext cx="2307836" cy="1600438"/>
          </a:xfrm>
          <a:prstGeom prst="rect">
            <a:avLst/>
          </a:prstGeom>
          <a:noFill/>
        </p:spPr>
        <p:txBody>
          <a:bodyPr wrap="square">
            <a:spAutoFit/>
          </a:bodyPr>
          <a:lstStyle/>
          <a:p>
            <a:pPr algn="ctr"/>
            <a:r>
              <a:rPr lang="es-CO" sz="1400" dirty="0" err="1">
                <a:solidFill>
                  <a:schemeClr val="tx1">
                    <a:lumMod val="65000"/>
                    <a:lumOff val="35000"/>
                  </a:schemeClr>
                </a:solidFill>
              </a:rPr>
              <a:t>For</a:t>
            </a:r>
            <a:r>
              <a:rPr lang="es-CO" sz="1400" dirty="0">
                <a:solidFill>
                  <a:schemeClr val="tx1">
                    <a:lumMod val="65000"/>
                    <a:lumOff val="35000"/>
                  </a:schemeClr>
                </a:solidFill>
              </a:rPr>
              <a:t> a </a:t>
            </a:r>
            <a:r>
              <a:rPr lang="es-CO" sz="1400" dirty="0" err="1">
                <a:solidFill>
                  <a:schemeClr val="tx1">
                    <a:lumMod val="65000"/>
                    <a:lumOff val="35000"/>
                  </a:schemeClr>
                </a:solidFill>
              </a:rPr>
              <a:t>specific</a:t>
            </a:r>
            <a:r>
              <a:rPr lang="es-CO" sz="1400" dirty="0">
                <a:solidFill>
                  <a:schemeClr val="tx1">
                    <a:lumMod val="65000"/>
                    <a:lumOff val="35000"/>
                  </a:schemeClr>
                </a:solidFill>
              </a:rPr>
              <a:t> input:</a:t>
            </a:r>
          </a:p>
          <a:p>
            <a:pPr algn="ctr"/>
            <a:r>
              <a:rPr lang="es-CO" sz="1400" dirty="0">
                <a:solidFill>
                  <a:schemeClr val="tx1">
                    <a:lumMod val="65000"/>
                    <a:lumOff val="35000"/>
                  </a:schemeClr>
                </a:solidFill>
              </a:rPr>
              <a:t>1. </a:t>
            </a:r>
            <a:r>
              <a:rPr lang="es-CO" sz="1400" dirty="0" err="1">
                <a:solidFill>
                  <a:schemeClr val="tx1">
                    <a:lumMod val="65000"/>
                    <a:lumOff val="35000"/>
                  </a:schemeClr>
                </a:solidFill>
              </a:rPr>
              <a:t>Traverse</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tree</a:t>
            </a:r>
            <a:r>
              <a:rPr lang="es-CO" sz="1400" dirty="0">
                <a:solidFill>
                  <a:schemeClr val="tx1">
                    <a:lumMod val="65000"/>
                    <a:lumOff val="35000"/>
                  </a:schemeClr>
                </a:solidFill>
              </a:rPr>
              <a:t> </a:t>
            </a:r>
            <a:r>
              <a:rPr lang="es-CO" sz="1400" dirty="0" err="1">
                <a:solidFill>
                  <a:schemeClr val="tx1">
                    <a:lumMod val="65000"/>
                    <a:lumOff val="35000"/>
                  </a:schemeClr>
                </a:solidFill>
              </a:rPr>
              <a:t>using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input's</a:t>
            </a:r>
            <a:r>
              <a:rPr lang="es-CO" sz="1400" dirty="0">
                <a:solidFill>
                  <a:schemeClr val="tx1">
                    <a:lumMod val="65000"/>
                    <a:lumOff val="35000"/>
                  </a:schemeClr>
                </a:solidFill>
              </a:rPr>
              <a:t> </a:t>
            </a:r>
            <a:r>
              <a:rPr lang="es-CO" sz="1400" dirty="0" err="1">
                <a:solidFill>
                  <a:schemeClr val="tx1">
                    <a:lumMod val="65000"/>
                    <a:lumOff val="35000"/>
                  </a:schemeClr>
                </a:solidFill>
              </a:rPr>
              <a:t>feature</a:t>
            </a:r>
            <a:r>
              <a:rPr lang="es-CO" sz="1400" dirty="0">
                <a:solidFill>
                  <a:schemeClr val="tx1">
                    <a:lumMod val="65000"/>
                    <a:lumOff val="35000"/>
                  </a:schemeClr>
                </a:solidFill>
              </a:rPr>
              <a:t> </a:t>
            </a:r>
            <a:r>
              <a:rPr lang="es-CO" sz="1400" dirty="0" err="1">
                <a:solidFill>
                  <a:schemeClr val="tx1">
                    <a:lumMod val="65000"/>
                    <a:lumOff val="35000"/>
                  </a:schemeClr>
                </a:solidFill>
              </a:rPr>
              <a:t>values</a:t>
            </a:r>
            <a:r>
              <a:rPr lang="es-CO" sz="1400" dirty="0">
                <a:solidFill>
                  <a:schemeClr val="tx1">
                    <a:lumMod val="65000"/>
                    <a:lumOff val="35000"/>
                  </a:schemeClr>
                </a:solidFill>
              </a:rPr>
              <a:t>.</a:t>
            </a:r>
          </a:p>
          <a:p>
            <a:pPr algn="ctr"/>
            <a:r>
              <a:rPr lang="es-CO" sz="1400" dirty="0">
                <a:solidFill>
                  <a:schemeClr val="tx1">
                    <a:lumMod val="65000"/>
                    <a:lumOff val="35000"/>
                  </a:schemeClr>
                </a:solidFill>
              </a:rPr>
              <a:t>2. </a:t>
            </a:r>
            <a:r>
              <a:rPr lang="es-CO" sz="1400" dirty="0" err="1">
                <a:solidFill>
                  <a:schemeClr val="tx1">
                    <a:lumMod val="65000"/>
                    <a:lumOff val="35000"/>
                  </a:schemeClr>
                </a:solidFill>
              </a:rPr>
              <a:t>Track</a:t>
            </a:r>
            <a:r>
              <a:rPr lang="es-CO" sz="1400" dirty="0">
                <a:solidFill>
                  <a:schemeClr val="tx1">
                    <a:lumMod val="65000"/>
                    <a:lumOff val="35000"/>
                  </a:schemeClr>
                </a:solidFill>
              </a:rPr>
              <a:t> </a:t>
            </a:r>
            <a:r>
              <a:rPr lang="es-CO" sz="1400" dirty="0" err="1">
                <a:solidFill>
                  <a:schemeClr val="tx1">
                    <a:lumMod val="65000"/>
                    <a:lumOff val="35000"/>
                  </a:schemeClr>
                </a:solidFill>
              </a:rPr>
              <a:t>which</a:t>
            </a:r>
            <a:r>
              <a:rPr lang="es-CO" sz="1400" dirty="0">
                <a:solidFill>
                  <a:schemeClr val="tx1">
                    <a:lumMod val="65000"/>
                    <a:lumOff val="35000"/>
                  </a:schemeClr>
                </a:solidFill>
              </a:rPr>
              <a:t> </a:t>
            </a:r>
            <a:r>
              <a:rPr lang="es-CO" sz="1400" dirty="0" err="1">
                <a:solidFill>
                  <a:schemeClr val="tx1">
                    <a:lumMod val="65000"/>
                    <a:lumOff val="35000"/>
                  </a:schemeClr>
                </a:solidFill>
              </a:rPr>
              <a:t>features</a:t>
            </a:r>
            <a:r>
              <a:rPr lang="es-CO" sz="1400" dirty="0">
                <a:solidFill>
                  <a:schemeClr val="tx1">
                    <a:lumMod val="65000"/>
                    <a:lumOff val="35000"/>
                  </a:schemeClr>
                </a:solidFill>
              </a:rPr>
              <a:t> are </a:t>
            </a:r>
            <a:r>
              <a:rPr lang="es-CO" sz="1400" dirty="0" err="1">
                <a:solidFill>
                  <a:schemeClr val="tx1">
                    <a:lumMod val="65000"/>
                    <a:lumOff val="35000"/>
                  </a:schemeClr>
                </a:solidFill>
              </a:rPr>
              <a:t>used</a:t>
            </a:r>
            <a:r>
              <a:rPr lang="es-CO" sz="1400" dirty="0">
                <a:solidFill>
                  <a:schemeClr val="tx1">
                    <a:lumMod val="65000"/>
                    <a:lumOff val="35000"/>
                  </a:schemeClr>
                </a:solidFill>
              </a:rPr>
              <a:t> </a:t>
            </a:r>
            <a:r>
              <a:rPr lang="es-CO" sz="1400" dirty="0" err="1">
                <a:solidFill>
                  <a:schemeClr val="tx1">
                    <a:lumMod val="65000"/>
                    <a:lumOff val="35000"/>
                  </a:schemeClr>
                </a:solidFill>
              </a:rPr>
              <a:t>along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decision</a:t>
            </a:r>
            <a:r>
              <a:rPr lang="es-CO" sz="1400" dirty="0">
                <a:solidFill>
                  <a:schemeClr val="tx1">
                    <a:lumMod val="65000"/>
                    <a:lumOff val="35000"/>
                  </a:schemeClr>
                </a:solidFill>
              </a:rPr>
              <a:t> </a:t>
            </a:r>
            <a:r>
              <a:rPr lang="es-CO" sz="1400" dirty="0" err="1">
                <a:solidFill>
                  <a:schemeClr val="tx1">
                    <a:lumMod val="65000"/>
                    <a:lumOff val="35000"/>
                  </a:schemeClr>
                </a:solidFill>
              </a:rPr>
              <a:t>path</a:t>
            </a:r>
            <a:r>
              <a:rPr lang="es-CO" sz="1400" dirty="0">
                <a:solidFill>
                  <a:schemeClr val="tx1">
                    <a:lumMod val="65000"/>
                    <a:lumOff val="35000"/>
                  </a:schemeClr>
                </a:solidFill>
              </a:rPr>
              <a:t>.</a:t>
            </a:r>
          </a:p>
          <a:p>
            <a:pPr algn="ctr"/>
            <a:r>
              <a:rPr lang="es-CO" sz="1400" dirty="0">
                <a:solidFill>
                  <a:schemeClr val="tx1">
                    <a:lumMod val="65000"/>
                    <a:lumOff val="35000"/>
                  </a:schemeClr>
                </a:solidFill>
              </a:rPr>
              <a:t>3. </a:t>
            </a:r>
            <a:r>
              <a:rPr lang="es-CO" sz="1400" dirty="0" err="1">
                <a:solidFill>
                  <a:schemeClr val="tx1">
                    <a:lumMod val="65000"/>
                    <a:lumOff val="35000"/>
                  </a:schemeClr>
                </a:solidFill>
              </a:rPr>
              <a:t>Reach</a:t>
            </a:r>
            <a:r>
              <a:rPr lang="es-CO" sz="1400" dirty="0">
                <a:solidFill>
                  <a:schemeClr val="tx1">
                    <a:lumMod val="65000"/>
                    <a:lumOff val="35000"/>
                  </a:schemeClr>
                </a:solidFill>
              </a:rPr>
              <a:t> a </a:t>
            </a:r>
            <a:r>
              <a:rPr lang="es-CO" sz="1400" dirty="0" err="1">
                <a:solidFill>
                  <a:schemeClr val="tx1">
                    <a:lumMod val="65000"/>
                    <a:lumOff val="35000"/>
                  </a:schemeClr>
                </a:solidFill>
              </a:rPr>
              <a:t>leaf</a:t>
            </a:r>
            <a:r>
              <a:rPr lang="es-CO" sz="1400" dirty="0">
                <a:solidFill>
                  <a:schemeClr val="tx1">
                    <a:lumMod val="65000"/>
                    <a:lumOff val="35000"/>
                  </a:schemeClr>
                </a:solidFill>
              </a:rPr>
              <a:t> and </a:t>
            </a:r>
            <a:r>
              <a:rPr lang="es-CO" sz="1400" dirty="0" err="1">
                <a:solidFill>
                  <a:schemeClr val="tx1">
                    <a:lumMod val="65000"/>
                    <a:lumOff val="35000"/>
                  </a:schemeClr>
                </a:solidFill>
              </a:rPr>
              <a:t>get</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final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p:txBody>
      </p:sp>
      <p:sp>
        <p:nvSpPr>
          <p:cNvPr id="60" name="Google Shape;387;p19">
            <a:extLst>
              <a:ext uri="{FF2B5EF4-FFF2-40B4-BE49-F238E27FC236}">
                <a16:creationId xmlns:a16="http://schemas.microsoft.com/office/drawing/2014/main" id="{96DE41BB-8E6F-4511-8833-611A129B26D6}"/>
              </a:ext>
            </a:extLst>
          </p:cNvPr>
          <p:cNvSpPr>
            <a:spLocks noChangeAspect="1"/>
          </p:cNvSpPr>
          <p:nvPr/>
        </p:nvSpPr>
        <p:spPr>
          <a:xfrm>
            <a:off x="2826975" y="3203408"/>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88;p19">
            <a:extLst>
              <a:ext uri="{FF2B5EF4-FFF2-40B4-BE49-F238E27FC236}">
                <a16:creationId xmlns:a16="http://schemas.microsoft.com/office/drawing/2014/main" id="{999081CE-4BE0-4CFD-8E7B-BA9CC40FB85C}"/>
              </a:ext>
            </a:extLst>
          </p:cNvPr>
          <p:cNvSpPr>
            <a:spLocks noChangeAspect="1"/>
          </p:cNvSpPr>
          <p:nvPr/>
        </p:nvSpPr>
        <p:spPr>
          <a:xfrm>
            <a:off x="2880969" y="3257408"/>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1</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62" name="Google Shape;387;p19">
            <a:extLst>
              <a:ext uri="{FF2B5EF4-FFF2-40B4-BE49-F238E27FC236}">
                <a16:creationId xmlns:a16="http://schemas.microsoft.com/office/drawing/2014/main" id="{A8B7D838-A41A-4E9C-8839-732D22004896}"/>
              </a:ext>
            </a:extLst>
          </p:cNvPr>
          <p:cNvSpPr>
            <a:spLocks noChangeAspect="1"/>
          </p:cNvSpPr>
          <p:nvPr/>
        </p:nvSpPr>
        <p:spPr>
          <a:xfrm>
            <a:off x="4262357" y="4720641"/>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88;p19">
            <a:extLst>
              <a:ext uri="{FF2B5EF4-FFF2-40B4-BE49-F238E27FC236}">
                <a16:creationId xmlns:a16="http://schemas.microsoft.com/office/drawing/2014/main" id="{A7070F9B-A7FA-4C8C-B23A-5337C795882C}"/>
              </a:ext>
            </a:extLst>
          </p:cNvPr>
          <p:cNvSpPr>
            <a:spLocks noChangeAspect="1"/>
          </p:cNvSpPr>
          <p:nvPr/>
        </p:nvSpPr>
        <p:spPr>
          <a:xfrm>
            <a:off x="4316351" y="4774641"/>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2</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nvGrpSpPr>
          <p:cNvPr id="66" name="Grupo 65">
            <a:extLst>
              <a:ext uri="{FF2B5EF4-FFF2-40B4-BE49-F238E27FC236}">
                <a16:creationId xmlns:a16="http://schemas.microsoft.com/office/drawing/2014/main" id="{A09C5D3E-0195-4B7A-9D5B-1F9252F31693}"/>
              </a:ext>
            </a:extLst>
          </p:cNvPr>
          <p:cNvGrpSpPr/>
          <p:nvPr/>
        </p:nvGrpSpPr>
        <p:grpSpPr>
          <a:xfrm>
            <a:off x="5774202" y="3003346"/>
            <a:ext cx="359892" cy="360000"/>
            <a:chOff x="6015693" y="2188627"/>
            <a:chExt cx="359892" cy="360000"/>
          </a:xfrm>
        </p:grpSpPr>
        <p:sp>
          <p:nvSpPr>
            <p:cNvPr id="64" name="Google Shape;387;p19">
              <a:extLst>
                <a:ext uri="{FF2B5EF4-FFF2-40B4-BE49-F238E27FC236}">
                  <a16:creationId xmlns:a16="http://schemas.microsoft.com/office/drawing/2014/main" id="{F850DE74-BA6A-4D7B-9423-76275DB4B9F2}"/>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88;p19">
              <a:extLst>
                <a:ext uri="{FF2B5EF4-FFF2-40B4-BE49-F238E27FC236}">
                  <a16:creationId xmlns:a16="http://schemas.microsoft.com/office/drawing/2014/main" id="{DDE2051E-F540-48E3-9607-A14B9E13ABFA}"/>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3</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68" name="CuadroTexto 67">
            <a:extLst>
              <a:ext uri="{FF2B5EF4-FFF2-40B4-BE49-F238E27FC236}">
                <a16:creationId xmlns:a16="http://schemas.microsoft.com/office/drawing/2014/main" id="{01C577BB-F5F3-46F4-B9F0-CE22AF0F770D}"/>
              </a:ext>
            </a:extLst>
          </p:cNvPr>
          <p:cNvSpPr txBox="1"/>
          <p:nvPr/>
        </p:nvSpPr>
        <p:spPr>
          <a:xfrm>
            <a:off x="4888885" y="3373285"/>
            <a:ext cx="1957316" cy="1169551"/>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s-CO" dirty="0"/>
              <a:t>Compute </a:t>
            </a:r>
            <a:r>
              <a:rPr lang="es-CO" dirty="0" err="1"/>
              <a:t>the</a:t>
            </a:r>
            <a:r>
              <a:rPr lang="es-CO" dirty="0"/>
              <a:t> </a:t>
            </a:r>
            <a:r>
              <a:rPr lang="es-CO" dirty="0" err="1"/>
              <a:t>difference</a:t>
            </a:r>
            <a:r>
              <a:rPr lang="es-CO" dirty="0"/>
              <a:t> </a:t>
            </a:r>
            <a:r>
              <a:rPr lang="es-CO" dirty="0" err="1"/>
              <a:t>between</a:t>
            </a:r>
            <a:r>
              <a:rPr lang="es-CO" dirty="0"/>
              <a:t> </a:t>
            </a:r>
            <a:r>
              <a:rPr lang="es-CO" dirty="0" err="1"/>
              <a:t>the</a:t>
            </a:r>
            <a:r>
              <a:rPr lang="es-CO" dirty="0"/>
              <a:t> </a:t>
            </a:r>
            <a:r>
              <a:rPr lang="es-CO" dirty="0" err="1"/>
              <a:t>leaf</a:t>
            </a:r>
            <a:r>
              <a:rPr lang="es-CO" dirty="0"/>
              <a:t> </a:t>
            </a:r>
            <a:r>
              <a:rPr lang="es-CO" dirty="0" err="1"/>
              <a:t>prediction</a:t>
            </a:r>
            <a:r>
              <a:rPr lang="es-CO" dirty="0"/>
              <a:t> and </a:t>
            </a:r>
            <a:r>
              <a:rPr lang="es-CO" dirty="0" err="1"/>
              <a:t>the</a:t>
            </a:r>
            <a:r>
              <a:rPr lang="es-CO" dirty="0"/>
              <a:t> </a:t>
            </a:r>
            <a:r>
              <a:rPr lang="es-CO" dirty="0" err="1"/>
              <a:t>baseline</a:t>
            </a:r>
            <a:r>
              <a:rPr lang="es-CO" dirty="0"/>
              <a:t>. </a:t>
            </a:r>
            <a:r>
              <a:rPr lang="es-CO" i="1" dirty="0" err="1"/>
              <a:t>This</a:t>
            </a:r>
            <a:r>
              <a:rPr lang="es-CO" i="1" dirty="0"/>
              <a:t> </a:t>
            </a:r>
            <a:r>
              <a:rPr lang="es-CO" i="1" dirty="0" err="1"/>
              <a:t>is</a:t>
            </a:r>
            <a:r>
              <a:rPr lang="es-CO" i="1" dirty="0"/>
              <a:t> </a:t>
            </a:r>
            <a:r>
              <a:rPr lang="es-CO" i="1" dirty="0" err="1"/>
              <a:t>what</a:t>
            </a:r>
            <a:r>
              <a:rPr lang="es-CO" i="1" dirty="0"/>
              <a:t> </a:t>
            </a:r>
            <a:r>
              <a:rPr lang="es-CO" i="1" dirty="0" err="1"/>
              <a:t>needs</a:t>
            </a:r>
            <a:r>
              <a:rPr lang="es-CO" i="1" dirty="0"/>
              <a:t> </a:t>
            </a:r>
            <a:r>
              <a:rPr lang="es-CO" i="1" dirty="0" err="1"/>
              <a:t>to</a:t>
            </a:r>
            <a:r>
              <a:rPr lang="es-CO" i="1" dirty="0"/>
              <a:t> be </a:t>
            </a:r>
            <a:r>
              <a:rPr lang="es-CO" i="1" dirty="0" err="1"/>
              <a:t>explained</a:t>
            </a:r>
            <a:r>
              <a:rPr lang="es-CO" i="1" dirty="0"/>
              <a:t>.</a:t>
            </a:r>
          </a:p>
        </p:txBody>
      </p:sp>
      <p:sp>
        <p:nvSpPr>
          <p:cNvPr id="70" name="CuadroTexto 69">
            <a:extLst>
              <a:ext uri="{FF2B5EF4-FFF2-40B4-BE49-F238E27FC236}">
                <a16:creationId xmlns:a16="http://schemas.microsoft.com/office/drawing/2014/main" id="{D8B5229D-38AB-496C-AB2F-CAE75F1322BE}"/>
              </a:ext>
            </a:extLst>
          </p:cNvPr>
          <p:cNvSpPr txBox="1"/>
          <p:nvPr/>
        </p:nvSpPr>
        <p:spPr>
          <a:xfrm>
            <a:off x="6420379" y="5141686"/>
            <a:ext cx="2307837" cy="1384995"/>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n-US" dirty="0"/>
              <a:t>Distribute the difference fairly among features using SHAP values, which reflect each feature’s influence by considering all possible combinations.</a:t>
            </a:r>
            <a:endParaRPr lang="es-CO" dirty="0"/>
          </a:p>
        </p:txBody>
      </p:sp>
      <p:grpSp>
        <p:nvGrpSpPr>
          <p:cNvPr id="71" name="Grupo 70">
            <a:extLst>
              <a:ext uri="{FF2B5EF4-FFF2-40B4-BE49-F238E27FC236}">
                <a16:creationId xmlns:a16="http://schemas.microsoft.com/office/drawing/2014/main" id="{AA6EFDB9-86F8-40BA-9AA0-F0A0536D796D}"/>
              </a:ext>
            </a:extLst>
          </p:cNvPr>
          <p:cNvGrpSpPr/>
          <p:nvPr/>
        </p:nvGrpSpPr>
        <p:grpSpPr>
          <a:xfrm>
            <a:off x="7394352" y="4715434"/>
            <a:ext cx="359892" cy="360000"/>
            <a:chOff x="6015693" y="2188627"/>
            <a:chExt cx="359892" cy="360000"/>
          </a:xfrm>
        </p:grpSpPr>
        <p:sp>
          <p:nvSpPr>
            <p:cNvPr id="72" name="Google Shape;387;p19">
              <a:extLst>
                <a:ext uri="{FF2B5EF4-FFF2-40B4-BE49-F238E27FC236}">
                  <a16:creationId xmlns:a16="http://schemas.microsoft.com/office/drawing/2014/main" id="{E7449075-4945-49B8-92E1-CDAC60CDEE55}"/>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88;p19">
              <a:extLst>
                <a:ext uri="{FF2B5EF4-FFF2-40B4-BE49-F238E27FC236}">
                  <a16:creationId xmlns:a16="http://schemas.microsoft.com/office/drawing/2014/main" id="{5FA16CA6-CEB1-4459-97FF-7BC2E63CDF7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4</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5" name="CuadroTexto 74">
            <a:extLst>
              <a:ext uri="{FF2B5EF4-FFF2-40B4-BE49-F238E27FC236}">
                <a16:creationId xmlns:a16="http://schemas.microsoft.com/office/drawing/2014/main" id="{A0FFA421-03D8-4DC1-9C3B-2CDD3B24FC2D}"/>
              </a:ext>
            </a:extLst>
          </p:cNvPr>
          <p:cNvSpPr txBox="1"/>
          <p:nvPr/>
        </p:nvSpPr>
        <p:spPr>
          <a:xfrm>
            <a:off x="7937579" y="3318591"/>
            <a:ext cx="2463022" cy="1169551"/>
          </a:xfrm>
          <a:prstGeom prst="rect">
            <a:avLst/>
          </a:prstGeom>
          <a:noFill/>
        </p:spPr>
        <p:txBody>
          <a:bodyPr wrap="square">
            <a:spAutoFit/>
          </a:bodyPr>
          <a:lstStyle/>
          <a:p>
            <a:pPr algn="ct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ensembles</a:t>
            </a:r>
            <a:r>
              <a:rPr lang="es-CO" sz="1400" dirty="0">
                <a:solidFill>
                  <a:schemeClr val="tx1">
                    <a:lumMod val="50000"/>
                    <a:lumOff val="50000"/>
                  </a:schemeClr>
                </a:solidFill>
              </a:rPr>
              <a:t> (</a:t>
            </a:r>
            <a:r>
              <a:rPr lang="es-CO" sz="1400" dirty="0" err="1">
                <a:solidFill>
                  <a:schemeClr val="tx1">
                    <a:lumMod val="50000"/>
                    <a:lumOff val="50000"/>
                  </a:schemeClr>
                </a:solidFill>
              </a:rPr>
              <a:t>like</a:t>
            </a:r>
            <a:r>
              <a:rPr lang="es-CO" sz="1400" dirty="0">
                <a:solidFill>
                  <a:schemeClr val="tx1">
                    <a:lumMod val="50000"/>
                    <a:lumOff val="50000"/>
                  </a:schemeClr>
                </a:solidFill>
              </a:rPr>
              <a:t> </a:t>
            </a:r>
            <a:r>
              <a:rPr lang="es-CO" sz="1400" dirty="0" err="1">
                <a:solidFill>
                  <a:schemeClr val="tx1">
                    <a:lumMod val="50000"/>
                    <a:lumOff val="50000"/>
                  </a:schemeClr>
                </a:solidFill>
              </a:rPr>
              <a:t>random</a:t>
            </a:r>
            <a:r>
              <a:rPr lang="es-CO" sz="1400" dirty="0">
                <a:solidFill>
                  <a:schemeClr val="tx1">
                    <a:lumMod val="50000"/>
                    <a:lumOff val="50000"/>
                  </a:schemeClr>
                </a:solidFill>
              </a:rPr>
              <a:t> </a:t>
            </a:r>
            <a:r>
              <a:rPr lang="es-CO" sz="1400" dirty="0" err="1">
                <a:solidFill>
                  <a:schemeClr val="tx1">
                    <a:lumMod val="50000"/>
                    <a:lumOff val="50000"/>
                  </a:schemeClr>
                </a:solidFill>
              </a:rPr>
              <a:t>forests</a:t>
            </a:r>
            <a:r>
              <a:rPr lang="es-CO" sz="1400" dirty="0">
                <a:solidFill>
                  <a:schemeClr val="tx1">
                    <a:lumMod val="50000"/>
                    <a:lumOff val="50000"/>
                  </a:schemeClr>
                </a:solidFill>
              </a:rPr>
              <a:t> </a:t>
            </a:r>
            <a:r>
              <a:rPr lang="es-CO" sz="1400" dirty="0" err="1">
                <a:solidFill>
                  <a:schemeClr val="tx1">
                    <a:lumMod val="50000"/>
                    <a:lumOff val="50000"/>
                  </a:schemeClr>
                </a:solidFill>
              </a:rPr>
              <a:t>or</a:t>
            </a:r>
            <a:r>
              <a:rPr lang="es-CO" sz="1400" dirty="0">
                <a:solidFill>
                  <a:schemeClr val="tx1">
                    <a:lumMod val="50000"/>
                    <a:lumOff val="50000"/>
                  </a:schemeClr>
                </a:solidFill>
              </a:rPr>
              <a:t> </a:t>
            </a:r>
            <a:r>
              <a:rPr lang="es-CO" sz="1400" dirty="0" err="1">
                <a:solidFill>
                  <a:schemeClr val="tx1">
                    <a:lumMod val="50000"/>
                    <a:lumOff val="50000"/>
                  </a:schemeClr>
                </a:solidFill>
              </a:rPr>
              <a:t>gradient</a:t>
            </a:r>
            <a:r>
              <a:rPr lang="es-CO" sz="1400" dirty="0">
                <a:solidFill>
                  <a:schemeClr val="tx1">
                    <a:lumMod val="50000"/>
                    <a:lumOff val="50000"/>
                  </a:schemeClr>
                </a:solidFill>
              </a:rPr>
              <a:t> </a:t>
            </a:r>
            <a:r>
              <a:rPr lang="es-CO" sz="1400" dirty="0" err="1">
                <a:solidFill>
                  <a:schemeClr val="tx1">
                    <a:lumMod val="50000"/>
                    <a:lumOff val="50000"/>
                  </a:schemeClr>
                </a:solidFill>
              </a:rPr>
              <a:t>boosting</a:t>
            </a:r>
            <a:r>
              <a:rPr lang="es-CO" sz="1400" dirty="0">
                <a:solidFill>
                  <a:schemeClr val="tx1">
                    <a:lumMod val="50000"/>
                    <a:lumOff val="50000"/>
                  </a:schemeClr>
                </a:solidFill>
              </a:rPr>
              <a:t>):</a:t>
            </a:r>
          </a:p>
          <a:p>
            <a:pPr algn="ctr"/>
            <a:r>
              <a:rPr lang="es-CO" sz="1400" dirty="0" err="1">
                <a:solidFill>
                  <a:schemeClr val="tx1">
                    <a:lumMod val="50000"/>
                    <a:lumOff val="50000"/>
                  </a:schemeClr>
                </a:solidFill>
              </a:rPr>
              <a:t>Repeat</a:t>
            </a:r>
            <a:r>
              <a:rPr lang="es-CO" sz="1400" dirty="0">
                <a:solidFill>
                  <a:schemeClr val="tx1">
                    <a:lumMod val="50000"/>
                    <a:lumOff val="50000"/>
                  </a:schemeClr>
                </a:solidFill>
              </a:rPr>
              <a:t> las </a:t>
            </a:r>
            <a:r>
              <a:rPr lang="es-CO" sz="1400" dirty="0" err="1">
                <a:solidFill>
                  <a:schemeClr val="tx1">
                    <a:lumMod val="50000"/>
                    <a:lumOff val="50000"/>
                  </a:schemeClr>
                </a:solidFill>
              </a:rPr>
              <a:t>steps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tree</a:t>
            </a:r>
            <a:r>
              <a:rPr lang="es-CO" sz="1400" dirty="0">
                <a:solidFill>
                  <a:schemeClr val="tx1">
                    <a:lumMod val="50000"/>
                    <a:lumOff val="50000"/>
                  </a:schemeClr>
                </a:solidFill>
              </a:rPr>
              <a:t>.</a:t>
            </a:r>
          </a:p>
          <a:p>
            <a:pPr algn="ctr"/>
            <a:r>
              <a:rPr lang="es-CO" sz="1400" dirty="0">
                <a:solidFill>
                  <a:schemeClr val="tx1">
                    <a:lumMod val="50000"/>
                    <a:lumOff val="50000"/>
                  </a:schemeClr>
                </a:solidFill>
              </a:rPr>
              <a:t>Sum SHAP </a:t>
            </a:r>
            <a:r>
              <a:rPr lang="es-CO" sz="1400" dirty="0" err="1">
                <a:solidFill>
                  <a:schemeClr val="tx1">
                    <a:lumMod val="50000"/>
                    <a:lumOff val="50000"/>
                  </a:schemeClr>
                </a:solidFill>
              </a:rPr>
              <a:t>values</a:t>
            </a:r>
            <a:r>
              <a:rPr lang="es-CO" sz="1400" dirty="0">
                <a:solidFill>
                  <a:schemeClr val="tx1">
                    <a:lumMod val="50000"/>
                    <a:lumOff val="50000"/>
                  </a:schemeClr>
                </a:solidFill>
              </a:rPr>
              <a:t> </a:t>
            </a:r>
            <a:r>
              <a:rPr lang="es-CO" sz="1400" dirty="0" err="1">
                <a:solidFill>
                  <a:schemeClr val="tx1">
                    <a:lumMod val="50000"/>
                    <a:lumOff val="50000"/>
                  </a:schemeClr>
                </a:solidFill>
              </a:rPr>
              <a:t>across</a:t>
            </a:r>
            <a:r>
              <a:rPr lang="es-CO" sz="1400" dirty="0">
                <a:solidFill>
                  <a:schemeClr val="tx1">
                    <a:lumMod val="50000"/>
                    <a:lumOff val="50000"/>
                  </a:schemeClr>
                </a:solidFill>
              </a:rPr>
              <a:t> </a:t>
            </a:r>
            <a:r>
              <a:rPr lang="es-CO" sz="1400" dirty="0" err="1">
                <a:solidFill>
                  <a:schemeClr val="tx1">
                    <a:lumMod val="50000"/>
                    <a:lumOff val="50000"/>
                  </a:schemeClr>
                </a:solidFill>
              </a:rPr>
              <a:t>all</a:t>
            </a:r>
            <a:r>
              <a:rPr lang="es-CO" sz="1400" dirty="0">
                <a:solidFill>
                  <a:schemeClr val="tx1">
                    <a:lumMod val="50000"/>
                    <a:lumOff val="50000"/>
                  </a:schemeClr>
                </a:solidFill>
              </a:rPr>
              <a:t> </a:t>
            </a:r>
            <a:r>
              <a:rPr lang="es-CO" sz="1400" dirty="0" err="1">
                <a:solidFill>
                  <a:schemeClr val="tx1">
                    <a:lumMod val="50000"/>
                    <a:lumOff val="50000"/>
                  </a:schemeClr>
                </a:solidFill>
              </a:rPr>
              <a:t>trees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feature</a:t>
            </a:r>
            <a:r>
              <a:rPr lang="es-CO" sz="1400" dirty="0">
                <a:solidFill>
                  <a:schemeClr val="tx1">
                    <a:lumMod val="65000"/>
                    <a:lumOff val="35000"/>
                  </a:schemeClr>
                </a:solidFill>
              </a:rPr>
              <a:t>.</a:t>
            </a:r>
          </a:p>
        </p:txBody>
      </p:sp>
      <p:grpSp>
        <p:nvGrpSpPr>
          <p:cNvPr id="76" name="Grupo 75">
            <a:extLst>
              <a:ext uri="{FF2B5EF4-FFF2-40B4-BE49-F238E27FC236}">
                <a16:creationId xmlns:a16="http://schemas.microsoft.com/office/drawing/2014/main" id="{047F1D69-0366-47CC-B18B-493F3855E46A}"/>
              </a:ext>
            </a:extLst>
          </p:cNvPr>
          <p:cNvGrpSpPr/>
          <p:nvPr/>
        </p:nvGrpSpPr>
        <p:grpSpPr>
          <a:xfrm>
            <a:off x="8923439" y="2927309"/>
            <a:ext cx="359892" cy="360000"/>
            <a:chOff x="6015693" y="2188627"/>
            <a:chExt cx="359892" cy="360000"/>
          </a:xfrm>
        </p:grpSpPr>
        <p:sp>
          <p:nvSpPr>
            <p:cNvPr id="77" name="Google Shape;387;p19">
              <a:extLst>
                <a:ext uri="{FF2B5EF4-FFF2-40B4-BE49-F238E27FC236}">
                  <a16:creationId xmlns:a16="http://schemas.microsoft.com/office/drawing/2014/main" id="{55949FA1-1FC6-4340-8591-739FE9FA5664}"/>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chemeClr val="tx1">
                <a:lumMod val="65000"/>
                <a:lumOff val="3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88;p19">
              <a:extLst>
                <a:ext uri="{FF2B5EF4-FFF2-40B4-BE49-F238E27FC236}">
                  <a16:creationId xmlns:a16="http://schemas.microsoft.com/office/drawing/2014/main" id="{E2D81B9B-CB94-4434-BB3E-193CD4FECE4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5</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9" name="CuadroTexto 78">
            <a:extLst>
              <a:ext uri="{FF2B5EF4-FFF2-40B4-BE49-F238E27FC236}">
                <a16:creationId xmlns:a16="http://schemas.microsoft.com/office/drawing/2014/main" id="{5BBF6A24-290B-4A56-832E-2001D9E597B5}"/>
              </a:ext>
            </a:extLst>
          </p:cNvPr>
          <p:cNvSpPr txBox="1"/>
          <p:nvPr/>
        </p:nvSpPr>
        <p:spPr>
          <a:xfrm>
            <a:off x="665032" y="2396367"/>
            <a:ext cx="3476012" cy="523220"/>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How </a:t>
            </a:r>
            <a:r>
              <a:rPr lang="en-US" sz="2400" b="1" dirty="0" err="1">
                <a:latin typeface="Source Sans Pro" panose="020B0503030403020204" pitchFamily="34" charset="0"/>
                <a:ea typeface="Source Sans Pro" panose="020B0503030403020204" pitchFamily="34" charset="0"/>
              </a:rPr>
              <a:t>TreeSHAP</a:t>
            </a:r>
            <a:r>
              <a:rPr lang="en-US" sz="2400" b="1" dirty="0">
                <a:latin typeface="Source Sans Pro" panose="020B0503030403020204" pitchFamily="34" charset="0"/>
                <a:ea typeface="Source Sans Pro" panose="020B0503030403020204" pitchFamily="34" charset="0"/>
              </a:rPr>
              <a:t> Works?</a:t>
            </a:r>
            <a:r>
              <a:rPr lang="en-US" sz="2800" i="1" dirty="0">
                <a:latin typeface="Source Sans Pro Light" panose="020B0403030403020204" pitchFamily="34" charset="0"/>
                <a:ea typeface="Source Sans Pro Light" panose="020B0403030403020204" pitchFamily="34" charset="0"/>
              </a:rPr>
              <a:t> </a:t>
            </a:r>
            <a:endParaRPr lang="es-CO" sz="3600" i="1" dirty="0">
              <a:latin typeface="Source Sans Pro Light" panose="020B0403030403020204" pitchFamily="34" charset="0"/>
              <a:ea typeface="Source Sans Pro Light" panose="020B0403030403020204" pitchFamily="34" charset="0"/>
            </a:endParaRPr>
          </a:p>
        </p:txBody>
      </p:sp>
      <p:sp>
        <p:nvSpPr>
          <p:cNvPr id="82" name="CuadroTexto 81">
            <a:extLst>
              <a:ext uri="{FF2B5EF4-FFF2-40B4-BE49-F238E27FC236}">
                <a16:creationId xmlns:a16="http://schemas.microsoft.com/office/drawing/2014/main" id="{AAF7C981-3516-41A3-BFEF-521B0F6A27AD}"/>
              </a:ext>
            </a:extLst>
          </p:cNvPr>
          <p:cNvSpPr txBox="1"/>
          <p:nvPr/>
        </p:nvSpPr>
        <p:spPr>
          <a:xfrm>
            <a:off x="673045" y="1053235"/>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3775147" y="1234755"/>
            <a:ext cx="7183609"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p:sp>
        <p:nvSpPr>
          <p:cNvPr id="85" name="CuadroTexto 84">
            <a:extLst>
              <a:ext uri="{FF2B5EF4-FFF2-40B4-BE49-F238E27FC236}">
                <a16:creationId xmlns:a16="http://schemas.microsoft.com/office/drawing/2014/main" id="{58695020-6416-4FBB-97A5-8FF031D99A6F}"/>
              </a:ext>
            </a:extLst>
          </p:cNvPr>
          <p:cNvSpPr txBox="1"/>
          <p:nvPr/>
        </p:nvSpPr>
        <p:spPr>
          <a:xfrm>
            <a:off x="3823189" y="2487831"/>
            <a:ext cx="2195789" cy="369332"/>
          </a:xfrm>
          <a:prstGeom prst="rect">
            <a:avLst/>
          </a:prstGeom>
          <a:noFill/>
        </p:spPr>
        <p:txBody>
          <a:bodyPr wrap="square">
            <a:spAutoFit/>
          </a:bodyPr>
          <a:lstStyle/>
          <a:p>
            <a:r>
              <a:rPr lang="en-US" sz="1800" i="1" dirty="0">
                <a:latin typeface="Source Sans Pro Light" panose="020B0403030403020204" pitchFamily="34" charset="0"/>
                <a:ea typeface="Source Sans Pro Light" panose="020B0403030403020204" pitchFamily="34" charset="0"/>
              </a:rPr>
              <a:t>(for Trees and Forests)</a:t>
            </a:r>
            <a:endParaRPr lang="es-CO" dirty="0"/>
          </a:p>
        </p:txBody>
      </p:sp>
    </p:spTree>
    <p:extLst>
      <p:ext uri="{BB962C8B-B14F-4D97-AF65-F5344CB8AC3E}">
        <p14:creationId xmlns:p14="http://schemas.microsoft.com/office/powerpoint/2010/main" val="2459222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22</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400" b="1" dirty="0">
                <a:latin typeface="Source Sans Pro" panose="020B0503030403020204" pitchFamily="34" charset="0"/>
                <a:ea typeface="Source Sans Pro" panose="020B0503030403020204" pitchFamily="34" charset="0"/>
                <a:sym typeface="Fira Sans Extra Condensed Medium"/>
              </a:rPr>
              <a:t>Pros &amp; cons</a:t>
            </a:r>
            <a:endParaRPr sz="2400" b="1" dirty="0">
              <a:latin typeface="Source Sans Pro" panose="020B0503030403020204" pitchFamily="34" charset="0"/>
              <a:ea typeface="Source Sans Pro" panose="020B0503030403020204" pitchFamily="34" charset="0"/>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r>
                <a:rPr lang="es-ES_tradnl" sz="2400" i="1" dirty="0" err="1">
                  <a:latin typeface="Source Sans Pro Light" panose="020B0403030403020204" pitchFamily="34" charset="0"/>
                  <a:ea typeface="Source Sans Pro Light" panose="020B0403030403020204" pitchFamily="34" charset="0"/>
                </a:rPr>
                <a:t>Sobol</a:t>
              </a:r>
              <a:r>
                <a:rPr lang="es-ES_tradnl" sz="2400" i="1" dirty="0">
                  <a:latin typeface="Source Sans Pro Light" panose="020B0403030403020204" pitchFamily="34" charset="0"/>
                  <a:ea typeface="Source Sans Pro Light" panose="020B0403030403020204" pitchFamily="34" charset="0"/>
                </a:rPr>
                <a:t> </a:t>
              </a:r>
              <a:r>
                <a:rPr lang="es-ES" sz="2400" i="1" dirty="0" err="1">
                  <a:latin typeface="Source Sans Pro Light" panose="020B0403030403020204" pitchFamily="34" charset="0"/>
                  <a:ea typeface="Source Sans Pro Light" panose="020B0403030403020204" pitchFamily="34" charset="0"/>
                </a:rPr>
                <a:t>Indices</a:t>
              </a:r>
              <a:endParaRPr lang="es-ES_tradnl" sz="2800" b="1" dirty="0">
                <a:latin typeface="Source Sans Pro Light" panose="020B0403030403020204" pitchFamily="34" charset="0"/>
                <a:ea typeface="Source Sans Pro Light" panose="020B0403030403020204" pitchFamily="34" charset="0"/>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r>
                <a:rPr lang="es-ES_tradnl" sz="2400" i="1" dirty="0">
                  <a:latin typeface="Source Sans Pro Light" panose="020B0403030403020204" pitchFamily="34" charset="0"/>
                  <a:ea typeface="Source Sans Pro Light" panose="020B0403030403020204" pitchFamily="34" charset="0"/>
                </a:rPr>
                <a:t>SHAP</a:t>
              </a:r>
              <a:r>
                <a:rPr lang="es-ES_tradnl" sz="1600" b="1" dirty="0">
                  <a:latin typeface="Source Sans Pro" panose="020B0503030403020204" pitchFamily="34" charset="0"/>
                  <a:ea typeface="Source Sans Pro" panose="020B0503030403020204" pitchFamily="34" charset="0"/>
                </a:rPr>
                <a:t> </a:t>
              </a:r>
              <a:r>
                <a:rPr lang="es-ES" sz="2400" i="1" dirty="0" err="1">
                  <a:latin typeface="Source Sans Pro Light" panose="020B0403030403020204" pitchFamily="34" charset="0"/>
                  <a:ea typeface="Source Sans Pro Light" panose="020B0403030403020204" pitchFamily="34" charset="0"/>
                </a:rPr>
                <a:t>Values</a:t>
              </a:r>
              <a:endParaRPr lang="es-ES_tradnl" sz="2800" b="1" dirty="0">
                <a:latin typeface="Source Sans Pro Light" panose="020B0403030403020204" pitchFamily="34" charset="0"/>
                <a:ea typeface="Source Sans Pro Light" panose="020B0403030403020204" pitchFamily="34" charset="0"/>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indent="-285750">
              <a:buFont typeface="Wingdings" panose="05000000000000000000" pitchFamily="2" charset="2"/>
              <a:buChar char="§"/>
            </a:pPr>
            <a:r>
              <a:rPr lang="en-US" sz="1600" dirty="0"/>
              <a:t>Global sensitivity quantifies how inputs influence output variance.</a:t>
            </a:r>
          </a:p>
          <a:p>
            <a:pPr marL="285750" indent="-285750">
              <a:buFont typeface="Wingdings" panose="05000000000000000000" pitchFamily="2" charset="2"/>
              <a:buChar char="§"/>
            </a:pPr>
            <a:r>
              <a:rPr lang="en-US" sz="1600" dirty="0"/>
              <a:t>Accounts for interactions.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s-CO" sz="1600" dirty="0" err="1"/>
              <a:t>Offers</a:t>
            </a:r>
            <a:r>
              <a:rPr lang="es-CO" sz="1600" dirty="0"/>
              <a:t> a </a:t>
            </a:r>
            <a:r>
              <a:rPr lang="es-CO" sz="1600" dirty="0" err="1"/>
              <a:t>clear</a:t>
            </a:r>
            <a:r>
              <a:rPr lang="es-CO" sz="1600" dirty="0"/>
              <a:t> </a:t>
            </a:r>
            <a:r>
              <a:rPr lang="es-CO" sz="1600" dirty="0" err="1"/>
              <a:t>variance</a:t>
            </a:r>
            <a:r>
              <a:rPr lang="es-CO" sz="1600" dirty="0"/>
              <a:t> </a:t>
            </a:r>
            <a:r>
              <a:rPr lang="es-CO" sz="1600" dirty="0" err="1"/>
              <a:t>decomposition</a:t>
            </a:r>
            <a:r>
              <a:rPr lang="es-CO" sz="1600" dirty="0"/>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indent="-285750">
              <a:buFont typeface="Wingdings" panose="05000000000000000000" pitchFamily="2" charset="2"/>
              <a:buChar char="§"/>
            </a:pPr>
            <a:r>
              <a:rPr lang="en-US" sz="1600" dirty="0"/>
              <a:t>Local explanations clarify individual predictions.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n-US" sz="1600" dirty="0"/>
              <a:t>Handle interactions.</a:t>
            </a:r>
          </a:p>
          <a:p>
            <a:pPr marL="285750" indent="-285750">
              <a:buFont typeface="Wingdings" panose="05000000000000000000" pitchFamily="2" charset="2"/>
              <a:buChar char="§"/>
            </a:pPr>
            <a:r>
              <a:rPr lang="en-US" sz="1600" dirty="0"/>
              <a:t>They are grounded in fair game-theoretic principles, with </a:t>
            </a:r>
            <a:r>
              <a:rPr lang="es-CO" sz="1600" b="0" dirty="0" err="1"/>
              <a:t>guarantees</a:t>
            </a:r>
            <a:r>
              <a:rPr lang="es-CO" sz="1600" b="0" dirty="0"/>
              <a:t> </a:t>
            </a:r>
            <a:r>
              <a:rPr lang="es-CO" sz="1600" b="0" dirty="0" err="1"/>
              <a:t>of</a:t>
            </a:r>
            <a:r>
              <a:rPr lang="es-CO" sz="1600" b="0" dirty="0"/>
              <a:t> </a:t>
            </a:r>
            <a:r>
              <a:rPr lang="es-CO" sz="1600" b="0" dirty="0" err="1"/>
              <a:t>fairness</a:t>
            </a:r>
            <a:r>
              <a:rPr lang="es-CO" sz="1600" b="0" dirty="0"/>
              <a:t> and </a:t>
            </a:r>
            <a:r>
              <a:rPr lang="es-CO" sz="1600" b="0" dirty="0" err="1"/>
              <a:t>consistency</a:t>
            </a:r>
            <a:r>
              <a:rPr lang="es-CO" sz="1600" b="0" dirty="0"/>
              <a:t>.</a:t>
            </a:r>
            <a:endParaRPr lang="es-CO" sz="1600" dirty="0"/>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n-US" dirty="0"/>
              <a:t>High computational cost.</a:t>
            </a:r>
          </a:p>
          <a:p>
            <a:r>
              <a:rPr lang="en-US" dirty="0"/>
              <a:t>Assumes input independence. </a:t>
            </a:r>
          </a:p>
          <a:p>
            <a:r>
              <a:rPr lang="en-US" dirty="0"/>
              <a:t>Provides only global insights. </a:t>
            </a:r>
          </a:p>
          <a:p>
            <a:r>
              <a:rPr lang="en-US" dirty="0"/>
              <a:t>Struggles with high-dimensional data.</a:t>
            </a:r>
            <a:endParaRPr lang="es-CO" dirty="0"/>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s-CO" dirty="0" err="1"/>
              <a:t>Computationally</a:t>
            </a:r>
            <a:r>
              <a:rPr lang="es-CO" dirty="0"/>
              <a:t> intensive.</a:t>
            </a:r>
          </a:p>
          <a:p>
            <a:r>
              <a:rPr lang="es-CO" dirty="0"/>
              <a:t>May </a:t>
            </a:r>
            <a:r>
              <a:rPr lang="es-CO" dirty="0" err="1"/>
              <a:t>give</a:t>
            </a:r>
            <a:r>
              <a:rPr lang="es-CO" dirty="0"/>
              <a:t> </a:t>
            </a:r>
            <a:r>
              <a:rPr lang="es-CO" dirty="0" err="1"/>
              <a:t>misleading</a:t>
            </a:r>
            <a:r>
              <a:rPr lang="es-CO" dirty="0"/>
              <a:t> </a:t>
            </a:r>
            <a:r>
              <a:rPr lang="es-CO" dirty="0" err="1"/>
              <a:t>results</a:t>
            </a:r>
            <a:r>
              <a:rPr lang="es-CO" dirty="0"/>
              <a:t> </a:t>
            </a:r>
            <a:r>
              <a:rPr lang="es-CO" dirty="0" err="1"/>
              <a:t>if</a:t>
            </a:r>
            <a:r>
              <a:rPr lang="es-CO" dirty="0"/>
              <a:t> </a:t>
            </a:r>
            <a:r>
              <a:rPr lang="es-CO" dirty="0" err="1"/>
              <a:t>feature</a:t>
            </a:r>
            <a:r>
              <a:rPr lang="es-CO" dirty="0"/>
              <a:t> </a:t>
            </a:r>
            <a:r>
              <a:rPr lang="es-CO" dirty="0" err="1"/>
              <a:t>dependence</a:t>
            </a:r>
            <a:r>
              <a:rPr lang="es-CO" dirty="0"/>
              <a:t> </a:t>
            </a:r>
            <a:r>
              <a:rPr lang="es-CO" dirty="0" err="1"/>
              <a:t>isn't</a:t>
            </a:r>
            <a:r>
              <a:rPr lang="es-CO" dirty="0"/>
              <a:t> </a:t>
            </a:r>
            <a:r>
              <a:rPr lang="es-CO" dirty="0" err="1"/>
              <a:t>handled</a:t>
            </a:r>
            <a:r>
              <a:rPr lang="es-CO" dirty="0"/>
              <a:t> </a:t>
            </a:r>
            <a:r>
              <a:rPr lang="es-CO" dirty="0" err="1"/>
              <a:t>well</a:t>
            </a:r>
            <a:r>
              <a:rPr lang="es-CO" dirty="0"/>
              <a:t>.</a:t>
            </a:r>
          </a:p>
        </p:txBody>
      </p:sp>
    </p:spTree>
    <p:extLst>
      <p:ext uri="{BB962C8B-B14F-4D97-AF65-F5344CB8AC3E}">
        <p14:creationId xmlns:p14="http://schemas.microsoft.com/office/powerpoint/2010/main" val="38192164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23</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r>
              <a:rPr lang="es-ES" sz="2800" b="1" dirty="0">
                <a:solidFill>
                  <a:srgbClr val="FF0000"/>
                </a:solidFill>
              </a:rPr>
              <a:t> </a:t>
            </a:r>
            <a:r>
              <a:rPr lang="es-ES" sz="2800" b="1" dirty="0" err="1">
                <a:solidFill>
                  <a:srgbClr val="FF0000"/>
                </a:solidFill>
              </a:rPr>
              <a:t>what</a:t>
            </a:r>
            <a:r>
              <a:rPr lang="es-ES" sz="2800" b="1" dirty="0">
                <a:solidFill>
                  <a:srgbClr val="FF0000"/>
                </a:solidFill>
              </a:rPr>
              <a:t> </a:t>
            </a:r>
            <a:r>
              <a:rPr lang="es-ES" sz="2800" b="1" dirty="0" err="1">
                <a:solidFill>
                  <a:srgbClr val="FF0000"/>
                </a:solidFill>
              </a:rPr>
              <a:t>we</a:t>
            </a:r>
            <a:r>
              <a:rPr lang="es-ES" sz="2800" b="1" dirty="0">
                <a:solidFill>
                  <a:srgbClr val="FF0000"/>
                </a:solidFill>
              </a:rPr>
              <a:t> </a:t>
            </a:r>
            <a:r>
              <a:rPr lang="es-ES" sz="2800" b="1" dirty="0" err="1">
                <a:solidFill>
                  <a:srgbClr val="FF0000"/>
                </a:solidFill>
              </a:rPr>
              <a:t>tried</a:t>
            </a:r>
            <a:r>
              <a:rPr lang="es-ES" sz="2800" b="1" dirty="0">
                <a:solidFill>
                  <a:srgbClr val="FF0000"/>
                </a:solidFill>
              </a:rPr>
              <a:t> -&gt; </a:t>
            </a:r>
            <a:r>
              <a:rPr lang="es-ES" sz="2800" b="1" dirty="0" err="1">
                <a:solidFill>
                  <a:srgbClr val="FF0000"/>
                </a:solidFill>
              </a:rPr>
              <a:t>Sobol</a:t>
            </a:r>
            <a:r>
              <a:rPr lang="es-ES" sz="2800" b="1" dirty="0">
                <a:solidFill>
                  <a:srgbClr val="FF0000"/>
                </a:solidFill>
              </a:rPr>
              <a:t> Alpha PEM- </a:t>
            </a:r>
            <a:r>
              <a:rPr lang="es-ES" sz="2800" b="1" dirty="0" err="1">
                <a:solidFill>
                  <a:srgbClr val="FF0000"/>
                </a:solidFill>
              </a:rPr>
              <a:t>Sobol</a:t>
            </a:r>
            <a:r>
              <a:rPr lang="es-ES" sz="2800" b="1" dirty="0">
                <a:solidFill>
                  <a:srgbClr val="FF0000"/>
                </a:solidFill>
              </a:rPr>
              <a:t> in </a:t>
            </a:r>
            <a:r>
              <a:rPr lang="es-ES" sz="2800" b="1" dirty="0" err="1">
                <a:solidFill>
                  <a:srgbClr val="FF0000"/>
                </a:solidFill>
              </a:rPr>
              <a:t>XGBoost</a:t>
            </a:r>
            <a:r>
              <a:rPr lang="es-ES" sz="2800" b="1" dirty="0">
                <a:solidFill>
                  <a:srgbClr val="FF0000"/>
                </a:solidFill>
              </a:rPr>
              <a:t>-SHAP </a:t>
            </a:r>
            <a:r>
              <a:rPr lang="es-CO" sz="2800" b="1" dirty="0">
                <a:solidFill>
                  <a:srgbClr val="FF0000"/>
                </a:solidFill>
              </a:rPr>
              <a:t>in </a:t>
            </a:r>
            <a:r>
              <a:rPr lang="es-CO" sz="2800" b="1" dirty="0" err="1">
                <a:solidFill>
                  <a:srgbClr val="FF0000"/>
                </a:solidFill>
              </a:rPr>
              <a:t>XGBoost</a:t>
            </a:r>
            <a:endParaRPr lang="es-ES" sz="2800" b="1" dirty="0">
              <a:solidFill>
                <a:srgbClr val="FF0000"/>
              </a:solidFill>
            </a:endParaRPr>
          </a:p>
        </p:txBody>
      </p:sp>
    </p:spTree>
    <p:extLst>
      <p:ext uri="{BB962C8B-B14F-4D97-AF65-F5344CB8AC3E}">
        <p14:creationId xmlns:p14="http://schemas.microsoft.com/office/powerpoint/2010/main" val="4100741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28</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29</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30</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31</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32</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33</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35</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36</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37</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40</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41</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42</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43</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1089</TotalTime>
  <Words>4400</Words>
  <Application>Microsoft Office PowerPoint</Application>
  <PresentationFormat>Panorámica</PresentationFormat>
  <Paragraphs>782</Paragraphs>
  <Slides>50</Slides>
  <Notes>16</Notes>
  <HiddenSlides>1</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50</vt:i4>
      </vt:variant>
    </vt:vector>
  </HeadingPairs>
  <TitlesOfParts>
    <vt:vector size="62" baseType="lpstr">
      <vt:lpstr>Aptos</vt:lpstr>
      <vt:lpstr>Aptos Narrow</vt:lpstr>
      <vt:lpstr>Arial</vt:lpstr>
      <vt:lpstr>Cambria Math</vt:lpstr>
      <vt:lpstr>Fira Sans Extra Condensed</vt:lpstr>
      <vt:lpstr>Roboto</vt:lpstr>
      <vt:lpstr>Source Sans Pro</vt:lpstr>
      <vt:lpstr>Source Sans Pro Black</vt:lpstr>
      <vt:lpstr>Source Sans Pro Light</vt:lpstr>
      <vt:lpstr>Source Sans Pro SemiBold</vt:lpstr>
      <vt:lpstr>Wingdings</vt:lpstr>
      <vt:lpstr>Tema de Office</vt:lpstr>
      <vt:lpstr>Presentación de PowerPoint</vt:lpstr>
      <vt:lpstr>Presentación de PowerPoint</vt:lpstr>
      <vt:lpstr>Presentación de PowerPoint</vt:lpstr>
      <vt:lpstr>Understanding PEMFCs through surrogates</vt:lpstr>
      <vt:lpstr>Project goals: From Sensitivities to Surrogates</vt:lpstr>
      <vt:lpstr>Input-Output framework for AlphaPEM</vt:lpstr>
      <vt:lpstr>Presentación de PowerPoint</vt:lpstr>
      <vt:lpstr>Presentación de PowerPoint</vt:lpstr>
      <vt:lpstr>Presentación de PowerPoint</vt:lpstr>
      <vt:lpstr>Asessing the Model Validity of AlphaPEM</vt:lpstr>
      <vt:lpstr>Goal: Finding a valid hyperbox</vt:lpstr>
      <vt:lpstr>Presentación de PowerPoint</vt:lpstr>
      <vt:lpstr>Resulting hyperbox from IRD</vt:lpstr>
      <vt:lpstr>Final set of input parameters for sampling of AlphaPEM</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Nathaly Vergel Serrano</cp:lastModifiedBy>
  <cp:revision>64</cp:revision>
  <dcterms:created xsi:type="dcterms:W3CDTF">2025-07-18T14:40:14Z</dcterms:created>
  <dcterms:modified xsi:type="dcterms:W3CDTF">2025-07-28T21:03:14Z</dcterms:modified>
</cp:coreProperties>
</file>