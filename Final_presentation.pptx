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omments/modernComment_105_9CFAB96E.xml" ContentType="application/vnd.ms-powerpoint.comments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omments/modernComment_162_36CB0682.xml" ContentType="application/vnd.ms-powerpoint.comments+xml"/>
  <Override PartName="/ppt/comments/modernComment_169_34BB0BC1.xml" ContentType="application/vnd.ms-powerpoint.comments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omments/modernComment_152_3ACD6E30.xml" ContentType="application/vnd.ms-powerpoint.comment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omments/modernComment_128_D69A57C9.xml" ContentType="application/vnd.ms-powerpoint.comments+xml"/>
  <Override PartName="/ppt/notesSlides/notesSlide21.xml" ContentType="application/vnd.openxmlformats-officedocument.presentationml.notesSlide+xml"/>
  <Override PartName="/ppt/comments/modernComment_163_17BC44A9.xml" ContentType="application/vnd.ms-powerpoint.comments+xml"/>
  <Override PartName="/ppt/comments/modernComment_18A_951B1702.xml" ContentType="application/vnd.ms-powerpoint.comments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0"/>
  </p:notesMasterIdLst>
  <p:sldIdLst>
    <p:sldId id="331" r:id="rId2"/>
    <p:sldId id="396" r:id="rId3"/>
    <p:sldId id="314" r:id="rId4"/>
    <p:sldId id="390" r:id="rId5"/>
    <p:sldId id="370" r:id="rId6"/>
    <p:sldId id="392" r:id="rId7"/>
    <p:sldId id="320" r:id="rId8"/>
    <p:sldId id="397" r:id="rId9"/>
    <p:sldId id="398" r:id="rId10"/>
    <p:sldId id="322" r:id="rId11"/>
    <p:sldId id="323" r:id="rId12"/>
    <p:sldId id="372" r:id="rId13"/>
    <p:sldId id="329" r:id="rId14"/>
    <p:sldId id="284" r:id="rId15"/>
    <p:sldId id="261" r:id="rId16"/>
    <p:sldId id="299" r:id="rId17"/>
    <p:sldId id="330" r:id="rId18"/>
    <p:sldId id="381" r:id="rId19"/>
    <p:sldId id="354" r:id="rId20"/>
    <p:sldId id="361" r:id="rId21"/>
    <p:sldId id="358" r:id="rId22"/>
    <p:sldId id="382" r:id="rId23"/>
    <p:sldId id="334" r:id="rId24"/>
    <p:sldId id="402" r:id="rId25"/>
    <p:sldId id="344" r:id="rId26"/>
    <p:sldId id="338" r:id="rId27"/>
    <p:sldId id="352" r:id="rId28"/>
    <p:sldId id="353" r:id="rId29"/>
    <p:sldId id="285" r:id="rId30"/>
    <p:sldId id="362" r:id="rId31"/>
    <p:sldId id="363" r:id="rId32"/>
    <p:sldId id="365" r:id="rId33"/>
    <p:sldId id="401" r:id="rId34"/>
    <p:sldId id="366" r:id="rId35"/>
    <p:sldId id="395" r:id="rId36"/>
    <p:sldId id="386" r:id="rId37"/>
    <p:sldId id="388" r:id="rId38"/>
    <p:sldId id="275" r:id="rId39"/>
    <p:sldId id="350" r:id="rId40"/>
    <p:sldId id="268" r:id="rId41"/>
    <p:sldId id="375" r:id="rId42"/>
    <p:sldId id="400" r:id="rId43"/>
    <p:sldId id="399" r:id="rId44"/>
    <p:sldId id="296" r:id="rId45"/>
    <p:sldId id="302" r:id="rId46"/>
    <p:sldId id="332" r:id="rId47"/>
    <p:sldId id="304" r:id="rId48"/>
    <p:sldId id="298" r:id="rId49"/>
    <p:sldId id="355" r:id="rId50"/>
    <p:sldId id="376" r:id="rId51"/>
    <p:sldId id="356" r:id="rId52"/>
    <p:sldId id="359" r:id="rId53"/>
    <p:sldId id="360" r:id="rId54"/>
    <p:sldId id="378" r:id="rId55"/>
    <p:sldId id="394" r:id="rId56"/>
    <p:sldId id="351" r:id="rId57"/>
    <p:sldId id="340" r:id="rId58"/>
    <p:sldId id="341" r:id="rId59"/>
    <p:sldId id="339" r:id="rId60"/>
    <p:sldId id="345" r:id="rId61"/>
    <p:sldId id="346" r:id="rId62"/>
    <p:sldId id="347" r:id="rId63"/>
    <p:sldId id="348" r:id="rId64"/>
    <p:sldId id="349" r:id="rId65"/>
    <p:sldId id="367" r:id="rId66"/>
    <p:sldId id="368" r:id="rId67"/>
    <p:sldId id="379" r:id="rId68"/>
    <p:sldId id="380" r:id="rId69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87EA941-1ABE-DF3B-63DB-2791ABD99946}" name="Nathaly Vergel Serrano" initials="NV" userId="3f8b415d4716c6ff" providerId="Windows Live"/>
  <p188:author id="{95D6B5C5-C1F6-3F38-925A-C53CA13AF875}" name="Camila Bermudez Valderrama" initials="CB" userId="748936a443082aaf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mila bermudez" initials="cb" lastIdx="1" clrIdx="0">
    <p:extLst>
      <p:ext uri="{19B8F6BF-5375-455C-9EA6-DF929625EA0E}">
        <p15:presenceInfo xmlns:p15="http://schemas.microsoft.com/office/powerpoint/2012/main" userId="748936a443082aa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78E6"/>
    <a:srgbClr val="068B2E"/>
    <a:srgbClr val="FFB903"/>
    <a:srgbClr val="A974F7"/>
    <a:srgbClr val="3FA9F5"/>
    <a:srgbClr val="8778F5"/>
    <a:srgbClr val="6350F2"/>
    <a:srgbClr val="BCE654"/>
    <a:srgbClr val="B477E6"/>
    <a:srgbClr val="AD7D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B43ADF-2791-0CBF-C736-32801EE0CD52}" v="190" dt="2025-08-01T07:12:23.126"/>
    <p1510:client id="{909241C0-EA7D-48B4-9942-C685C8301CBB}" v="1699" dt="2025-08-01T06:03:53.345"/>
    <p1510:client id="{B6FEB23B-F813-9D1B-E96B-A33A85B97EA7}" v="1323" dt="2025-07-31T23:28:42.337"/>
    <p1510:client id="{CFAFECDB-29F7-558F-D5C7-B76C21D0E0DE}" v="25" dt="2025-07-31T20:42:13.789"/>
    <p1510:client id="{D369802C-5323-ACBA-9CF7-43CC8A0AEFCC}" v="102" dt="2025-07-31T12:29:41.4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Estilo temático 2 - Énfasis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46F890A9-2807-4EBB-B81D-B2AA78EC7F39}" styleName="Estilo oscuro 2 - Énfasis 5/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660" autoAdjust="0"/>
    <p:restoredTop sz="94660"/>
  </p:normalViewPr>
  <p:slideViewPr>
    <p:cSldViewPr snapToGrid="0">
      <p:cViewPr>
        <p:scale>
          <a:sx n="75" d="100"/>
          <a:sy n="75" d="100"/>
        </p:scale>
        <p:origin x="112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microsoft.com/office/2018/10/relationships/authors" Target="author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commentAuthors" Target="commentAuthor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omments/modernComment_18A_951B17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A176B06-5F84-4640-811C-0CBCA7900965}" authorId="{087EA941-1ABE-DF3B-63DB-2791ABD99946}" created="2025-07-30T09:23:07.44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501580546" sldId="394"/>
      <ac:spMk id="6" creationId="{14F1222A-80FF-D4DF-B4B8-21F4E067C4D3}"/>
      <ac:txMk cp="0" len="7">
        <ac:context len="30" hash="1646866353"/>
      </ac:txMk>
    </ac:txMkLst>
    <p188:pos x="1739224" y="391532"/>
    <p188:txBody>
      <a:bodyPr/>
      <a:lstStyle/>
      <a:p>
        <a:r>
          <a:rPr lang="en"/>
          <a:t>@Nath: Do this whole slide. Include the residuals. </a:t>
        </a:r>
      </a:p>
    </p188:txBody>
  </p188:cm>
</p188:cmLst>
</file>

<file path=ppt/comments/modernComment_105_9CFAB9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2848F6-ED29-4F01-A364-43355557428A}" authorId="{087EA941-1ABE-DF3B-63DB-2791ABD99946}" status="resolved" created="2025-07-30T09:00:23.423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633677166" sldId="261"/>
      <ac:spMk id="28" creationId="{940D3709-083B-49E3-A7CF-FEAE8E4D6EFA}"/>
      <ac:txMk cp="0" len="31">
        <ac:context len="260" hash="1956326903"/>
      </ac:txMk>
    </ac:txMkLst>
    <p188:pos x="6104224" y="665581"/>
    <p188:txBody>
      <a:bodyPr/>
      <a:lstStyle/>
      <a:p>
        <a:r>
          <a:rPr lang="en"/>
          <a:t>@Camila: Include the words -&gt; or say that it relates to the “feature EFFECTS”</a:t>
        </a:r>
      </a:p>
    </p188:txBody>
  </p188:cm>
</p188:cmLst>
</file>

<file path=ppt/comments/modernComment_128_D69A57C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3BFC701-211D-4CF6-BE7C-D0D55BED2B0B}" authorId="{087EA941-1ABE-DF3B-63DB-2791ABD99946}" status="resolved" created="2025-07-30T09:56:49.64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600439241" sldId="296"/>
      <ac:picMk id="35" creationId="{2BE4DC65-9D19-48D4-B260-5D8122AE2B4E}"/>
    </ac:deMkLst>
    <p188:txBody>
      <a:bodyPr/>
      <a:lstStyle/>
      <a:p>
        <a:r>
          <a:rPr lang="en"/>
          <a:t>Use the same notation as in the LECTURE: g instead of f. Say how gs are computed</a:t>
        </a:r>
      </a:p>
    </p188:txBody>
  </p188:cm>
</p188:cmLst>
</file>

<file path=ppt/comments/modernComment_152_3ACD6E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FA7F2F7-BD5B-418D-A4B5-73D07892430D}" authorId="{087EA941-1ABE-DF3B-63DB-2791ABD99946}" status="resolved" created="2025-07-30T06:50:23.381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986541616" sldId="338"/>
      <ac:spMk id="96" creationId="{0A22B916-488B-4D04-99DC-1F2FDEF2CFCA}"/>
    </ac:deMkLst>
    <p188:replyLst>
      <p188:reply id="{F4C4CE76-8E99-49F0-803B-E110D0FED0CE}" authorId="{087EA941-1ABE-DF3B-63DB-2791ABD99946}" created="2025-07-30T09:36:29.453">
        <p188:txBody>
          <a:bodyPr/>
          <a:lstStyle/>
          <a:p>
            <a:r>
              <a:rPr lang="en"/>
              <a:t>Change for the TOP 5 (rerun the function!)</a:t>
            </a:r>
          </a:p>
        </p188:txBody>
      </p188:reply>
    </p188:replyLst>
    <p188:txBody>
      <a:bodyPr/>
      <a:lstStyle/>
      <a:p>
        <a:r>
          <a:rPr lang="en"/>
          <a:t>What do you mean 95% of importance explained? How is this computed?</a:t>
        </a:r>
      </a:p>
    </p188:txBody>
  </p188:cm>
</p188:cmLst>
</file>

<file path=ppt/comments/modernComment_162_36CB068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ECE9EC-D2E5-4C58-A779-383FF2158430}" authorId="{087EA941-1ABE-DF3B-63DB-2791ABD99946}" status="resolved" created="2025-07-30T09:17:05.732" complete="10000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919275138" sldId="354"/>
      <ac:spMk id="8" creationId="{D5628442-2D3C-5553-30B2-F778EFAD10F9}"/>
      <ac:txMk cp="16" len="24">
        <ac:context len="41" hash="98604001"/>
      </ac:txMk>
    </ac:txMkLst>
    <p188:txBody>
      <a:bodyPr/>
      <a:lstStyle/>
      <a:p>
        <a:r>
          <a:rPr lang="en"/>
          <a:t>@Nath: Same slide, but for ST. Report metrics on S1, S2 and S1 + S2</a:t>
        </a:r>
      </a:p>
    </p188:txBody>
  </p188:cm>
</p188:cmLst>
</file>

<file path=ppt/comments/modernComment_163_17BC44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6C348F-3DD6-4288-AA49-F4F3696FCD88}" authorId="{087EA941-1ABE-DF3B-63DB-2791ABD99946}" status="resolved" created="2025-07-30T09:10:00.335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98214313" sldId="355"/>
      <ac:graphicFrameMk id="9" creationId="{1F09AD76-7BA7-6AC1-7485-51FD0D755C68}"/>
    </ac:deMkLst>
    <p188:txBody>
      <a:bodyPr/>
      <a:lstStyle/>
      <a:p>
        <a:r>
          <a:rPr lang="en"/>
          <a:t>@Nath: Sort the table</a:t>
        </a:r>
      </a:p>
    </p188:txBody>
  </p188:cm>
  <p188:cm id="{57F7A5A8-CC21-40B0-8187-DE4C4D99F865}" authorId="{087EA941-1ABE-DF3B-63DB-2791ABD99946}" created="2025-07-30T09:10:56.885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398214313" sldId="355"/>
      <ac:spMk id="21" creationId="{D31E6EA5-16C3-40FB-DC79-6B93C3CADABC}"/>
      <ac:txMk cp="22" len="32">
        <ac:context len="55" hash="4292559149"/>
      </ac:txMk>
    </ac:txMkLst>
    <p188:pos x="4025558" y="408956"/>
    <p188:txBody>
      <a:bodyPr/>
      <a:lstStyle/>
      <a:p>
        <a:r>
          <a:rPr lang="en"/>
          <a:t>@Camila: What’s this? Put the most accurate word for this.</a:t>
        </a:r>
      </a:p>
    </p188:txBody>
  </p188:cm>
</p188:cmLst>
</file>

<file path=ppt/comments/modernComment_169_34BB0BC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4DA50A1-A39D-426C-A207-E7F613465251}" authorId="{087EA941-1ABE-DF3B-63DB-2791ABD99946}" status="resolved" created="2025-07-30T09:32:15.188" complete="100000">
    <pc:sldMkLst xmlns:pc="http://schemas.microsoft.com/office/powerpoint/2013/main/command">
      <pc:docMk/>
      <pc:sldMk cId="884673473" sldId="361"/>
    </pc:sldMkLst>
    <p188:txBody>
      <a:bodyPr/>
      <a:lstStyle/>
      <a:p>
        <a:r>
          <a:rPr lang="en"/>
          <a:t>@Nath: Missing the CONCLUSIONS! Add the box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A0E0D0-8DE5-6F43-B9D8-8CA0241E112A}" type="datetimeFigureOut">
              <a:rPr lang="es-ES_tradnl" smtClean="0"/>
              <a:t>31/07/2025</a:t>
            </a:fld>
            <a:endParaRPr lang="es-ES_tradn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_tradn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_tradn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F319AC-7ADF-334A-8FB5-7E11A077CE54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75200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97947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3622A-F0A5-5B1B-4CEE-9E0FEB882D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42656F4-4C5A-C545-BD3A-A2D3A55E8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CA7CC1D-98CD-57F2-6C25-5F701D06774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  <a:p>
            <a:endParaRPr lang="en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30D8F62-82C4-114A-572A-17930AEAD0E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5678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91ED3-FDBB-2A0B-3361-521065A0F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360FC53-0D1E-77B0-431B-939F106395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EB319B3-E115-D448-335D-90A48726A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3EB4B50-AD42-4328-E4FB-9E18EDEA21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84776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6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069900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7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1786213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3901-62BB-4973-223A-E665133DF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D7FD52-D82D-6A38-F19C-6CF430380A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261A9A8-F0F5-903F-5670-16C50B516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49FB29-D1E2-426A-244D-3F85FEA381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4810427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31852-FA9B-0BCD-1820-3ECEAFF9E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0B31D0A-BC45-3DA9-1ACE-F8BA65547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1C305A-9014-9E79-11A1-ABDA4324AC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476B39-9DA5-71F0-A0C6-4F08286635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70127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74F62-C6DA-1F63-1628-0FA92498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B19128A-5D12-6470-D163-304BC5CF8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A9175E35-1315-A96D-F1A7-6308481A3E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040446-297D-D55E-DB9D-835A44BAD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10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89723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5DF50-1851-BF03-D452-B88D17F47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9C4410C-567C-855F-ADAF-921D2668ED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0D2B5ED-4773-6C68-132A-1F551A8FC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32F0F93-C217-48F2-63CB-48473FA0A1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11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195996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44921-4500-FE57-2CFD-746867C38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D3522B5-9806-D1B1-1ABE-2B0C2DD68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387A3C-F890-1088-02E8-80F6A92514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6103AAE-B2E0-4DF3-936C-BB4BEBF88C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12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44812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B9D1-8BEE-DA29-FDD1-A3F98916B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9D715D8-1A8B-C0B3-DD33-3F2A4D708A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B787E77-19DE-82F6-E10A-810307D469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E4D66D2-C5CC-8BF7-F49C-980E7CD31F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13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124754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319AC-7ADF-334A-8FB5-7E11A077CE54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92341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319AC-7ADF-334A-8FB5-7E11A077CE54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86396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319AC-7ADF-334A-8FB5-7E11A077CE54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769958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25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40396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28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8537915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31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029175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39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7445981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42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222932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F531B-ADA4-B862-429D-D1A8F7905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1AF5C04-B640-D63F-0AF6-4E32EDFD41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9BDDE53-8E94-5EAC-BCC3-4F58895E88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67C9D5-3B50-F73A-B7F2-0AAA8BEE24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43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9713165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F319AC-7ADF-334A-8FB5-7E11A077CE54}" type="slidenum">
              <a:rPr kumimoji="0" lang="es-ES_trad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s-ES_trad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17214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58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556115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61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87727628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F319AC-7ADF-334A-8FB5-7E11A077CE54}" type="slidenum">
              <a:rPr lang="es-ES_tradnl" smtClean="0"/>
              <a:t>64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058093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9B5761CC-C6EA-489A-8B65-7F07DE61A7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7BA1685C-9D5F-A238-CC12-359A56F68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CB7CB63-40B4-605F-AE8D-9B05C5E052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670508-45A6-1DD9-6E72-9DA619DD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75BC28E-972B-EC47-BE79-29D89D46B9CA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396857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84A5141-F947-5ACB-5665-C19D1F4765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2D1B2C2-72B0-C774-A042-16D8374F8B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08127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501090-0DF0-0443-DE62-32873BAD3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68627"/>
            <a:ext cx="10515600" cy="40207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597006-DFCF-FC30-EE7C-B2E04C5BE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75BC28E-972B-EC47-BE79-29D89D46B9CA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01288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8C4F47B-A7C1-B80B-C97D-3FD5161C2B3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D63679B-A188-8C46-9173-6FC73C122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F107DB8-2B53-C9CC-014B-38123980C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F689EF4-BE6E-3254-8190-A088A4D36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75BC28E-972B-EC47-BE79-29D89D46B9CA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2961883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3EEB2DC1-DC4E-EAD5-EDBC-D1A688A700D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61EA6FA-5846-9512-8FD4-C35E48AE7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4DA5E3E-961A-8D3F-AA7F-D5B06F6F48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>
              <a:defRPr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2BB2FB-0239-B030-AF4E-9961D04D7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fld id="{B75BC28E-972B-EC47-BE79-29D89D46B9CA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97304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4AB58D2C-05F6-BF61-5726-5F74A5A475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7BE3F9-55B6-D44B-395A-B634C9511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 i="0"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B75BC28E-972B-EC47-BE79-29D89D46B9CA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666724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52159B49-E674-996B-E03F-731B3BB9B8C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5446B6-180F-342F-6091-72FFF8C8F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 b="1"/>
            </a:lvl1pPr>
          </a:lstStyle>
          <a:p>
            <a:fld id="{B75BC28E-972B-EC47-BE79-29D89D46B9CA}" type="slidenum">
              <a:rPr lang="es-ES_tradnl" smtClean="0"/>
              <a:pPr/>
              <a:t>‹Nº›</a:t>
            </a:fld>
            <a:endParaRPr lang="es-ES_tradnl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DADB0165-C448-ED99-FB1F-F82E8BEB3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77120" y="63894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ource Sans Pro" panose="020F0502020204030204" pitchFamily="34" charset="0"/>
                <a:ea typeface="Source Sans Pro" panose="020F0502020204030204" pitchFamily="34" charset="0"/>
              </a:defRPr>
            </a:lvl1pPr>
          </a:lstStyle>
          <a:p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71394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4652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03E2ED2-1A82-00C1-BC0B-F909936E0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981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B63AB1-EF4C-4E7C-827C-023121B57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AADAF91-72C1-3190-D484-D5846F7783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4A9B58B-5EC3-2946-6FB4-8B67A2D8A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019B8A5-D950-9B8B-80B0-29817645B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45944F1-8874-715D-E32B-156548659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032FE85-0470-FB2D-6D99-EAAA3F5E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smtClean="0"/>
              <a:t>‹Nº›</a:t>
            </a:fld>
            <a:endParaRPr lang="es-ES_tradn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F01C95C-7A1F-58BB-DB07-5E158A6305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857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03A74-DD00-33F0-C8DF-79D60BA4C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7F9BD6D-ADC1-01D9-E018-7ADA48F776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B60209D-6A96-D5AD-DB70-19CFC7B5F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A24481-D196-6038-DDA5-467865C932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AB0967-B148-5A40-C2FE-948953F9C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6285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B6D25FA-DE20-8CBC-B8A2-3DBEC67C85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FE2ADFC-16AB-5F3F-EE19-E4C3B01930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4E3FEE-B384-95DE-190A-525CF5839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8BAD7B-2762-B648-23C6-961ACAC01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F3DCFA-A305-6EFF-5FE2-639842898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95559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3EBDEE6-9A65-5958-9B72-69573BB1199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9837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04A25DE-FE2C-19A5-BC43-06879C3D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71328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FBF7CB-67CE-1FE2-01FA-F80ACB649D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77120" y="638940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tx1"/>
                </a:solidFill>
                <a:latin typeface="Source Sans Pro" panose="020F0502020204030204" pitchFamily="34" charset="0"/>
                <a:ea typeface="Source Sans Pro" panose="020F0502020204030204" pitchFamily="34" charset="0"/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3F08964-0D54-C0E7-D45C-4BEC232DA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477" y="2368627"/>
            <a:ext cx="445265" cy="44067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 b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fld id="{B75BC28E-972B-EC47-BE79-29D89D46B9CA}" type="slidenum">
              <a:rPr lang="es-ES_tradnl" smtClean="0"/>
              <a:pPr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6486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Proton-exchange_membrane_fuel_cel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2352711024003728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figure/Polarization-curve-of-a-PEM-fuel-cell-50-cm-2-65-C-05-barg-H-2-Air-stoichiometry_fig3_31989888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theses.hal.science/tel-04923016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erprofessional.de/en/interpretable-regional-descriptors-hyperbox-based-local-explanat/2605190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5_9CFAB96E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researchgate.net/figure/Polarization-curve-with-the-electric-losses-regions-encountered-with-the-operation-of_fig1_361794399" TargetMode="Externa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emf"/><Relationship Id="rId5" Type="http://schemas.openxmlformats.org/officeDocument/2006/relationships/slide" Target="slide48.xml"/><Relationship Id="rId4" Type="http://schemas.openxmlformats.org/officeDocument/2006/relationships/slide" Target="slide4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emf"/><Relationship Id="rId5" Type="http://schemas.openxmlformats.org/officeDocument/2006/relationships/slide" Target="slide48.xml"/><Relationship Id="rId4" Type="http://schemas.openxmlformats.org/officeDocument/2006/relationships/slide" Target="slide4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microsoft.com/office/2018/10/relationships/comments" Target="../comments/modernComment_162_36CB068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microsoft.com/office/2018/10/relationships/comments" Target="../comments/modernComment_169_34BB0BC1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44.xml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emf"/><Relationship Id="rId5" Type="http://schemas.openxmlformats.org/officeDocument/2006/relationships/slide" Target="slide48.xml"/><Relationship Id="rId4" Type="http://schemas.openxmlformats.org/officeDocument/2006/relationships/slide" Target="slide4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5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microsoft.com/office/2018/10/relationships/comments" Target="../comments/modernComment_152_3ACD6E30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hyperlink" Target="https://en.wikipedia.org/wiki/Symbolic_regression#/media/File:Genetic_Program_Tree.png" TargetMode="Externa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emf"/><Relationship Id="rId4" Type="http://schemas.openxmlformats.org/officeDocument/2006/relationships/hyperlink" Target="https://www.google.com/url?sa=t&amp;source=web&amp;rct=j&amp;opi=89978449&amp;url=https://arxiv.org/abs/2305.01582&amp;ved=2ahUKEwiY58a-heiOAxWmRPEDHQScJ7kQFnoECBQQAQ&amp;usg=AOvVaw0P2L600UT5XTPjtgYkKNn3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204.10532" TargetMode="External"/><Relationship Id="rId2" Type="http://schemas.openxmlformats.org/officeDocument/2006/relationships/hyperlink" Target="https://arxiv.org/pdf/1912.04871" TargetMode="Externa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912.04871" TargetMode="External"/><Relationship Id="rId3" Type="http://schemas.openxmlformats.org/officeDocument/2006/relationships/hyperlink" Target="https://doi.org/10.48550/arXiv.2305.02780" TargetMode="External"/><Relationship Id="rId7" Type="http://schemas.openxmlformats.org/officeDocument/2006/relationships/hyperlink" Target="http://arxiv.org/abs/2305.01582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theses.hal.science/tel-04923016" TargetMode="External"/><Relationship Id="rId5" Type="http://schemas.openxmlformats.org/officeDocument/2006/relationships/hyperlink" Target="https://safjan.com/kernelshap-treeshap-two-most-popular-variations-of-the-shap-method/" TargetMode="External"/><Relationship Id="rId4" Type="http://schemas.openxmlformats.org/officeDocument/2006/relationships/hyperlink" Target="https://doi.org/10.48550/arXiv.2407.12373" TargetMode="External"/><Relationship Id="rId9" Type="http://schemas.openxmlformats.org/officeDocument/2006/relationships/hyperlink" Target="https://arxiv.org/pdf/2204.10532" TargetMode="Externa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9FeIRuXJx9UT93clUlzz1NoXdboyWKnovnHMDtdCS48/copy#gid=1595013267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9.png"/><Relationship Id="rId7" Type="http://schemas.openxmlformats.org/officeDocument/2006/relationships/image" Target="../media/image51.png"/><Relationship Id="rId2" Type="http://schemas.microsoft.com/office/2018/10/relationships/comments" Target="../comments/modernComment_128_D69A57C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8.png"/><Relationship Id="rId5" Type="http://schemas.openxmlformats.org/officeDocument/2006/relationships/slide" Target="slide17.xml"/><Relationship Id="rId4" Type="http://schemas.openxmlformats.org/officeDocument/2006/relationships/image" Target="../media/image50.png"/><Relationship Id="rId9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17.xml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17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63_17BC44A9.xml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g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g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" Target="slide23.xml"/><Relationship Id="rId2" Type="http://schemas.microsoft.com/office/2018/10/relationships/comments" Target="../comments/modernComment_18A_951B1702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13" Type="http://schemas.openxmlformats.org/officeDocument/2006/relationships/image" Target="../media/image73.png"/><Relationship Id="rId18" Type="http://schemas.openxmlformats.org/officeDocument/2006/relationships/image" Target="../media/image78.png"/><Relationship Id="rId3" Type="http://schemas.openxmlformats.org/officeDocument/2006/relationships/image" Target="../media/image62.png"/><Relationship Id="rId21" Type="http://schemas.openxmlformats.org/officeDocument/2006/relationships/image" Target="../media/image81.png"/><Relationship Id="rId7" Type="http://schemas.openxmlformats.org/officeDocument/2006/relationships/image" Target="../media/image67.png"/><Relationship Id="rId12" Type="http://schemas.openxmlformats.org/officeDocument/2006/relationships/image" Target="../media/image72.png"/><Relationship Id="rId17" Type="http://schemas.openxmlformats.org/officeDocument/2006/relationships/image" Target="../media/image77.png"/><Relationship Id="rId2" Type="http://schemas.openxmlformats.org/officeDocument/2006/relationships/image" Target="../media/image61.png"/><Relationship Id="rId16" Type="http://schemas.openxmlformats.org/officeDocument/2006/relationships/image" Target="../media/image76.png"/><Relationship Id="rId20" Type="http://schemas.openxmlformats.org/officeDocument/2006/relationships/image" Target="../media/image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93.png"/><Relationship Id="rId3" Type="http://schemas.openxmlformats.org/officeDocument/2006/relationships/image" Target="../media/image8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89.png"/><Relationship Id="rId14" Type="http://schemas.openxmlformats.org/officeDocument/2006/relationships/image" Target="../media/image94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63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08.png"/><Relationship Id="rId10" Type="http://schemas.openxmlformats.org/officeDocument/2006/relationships/image" Target="../media/image103.png"/><Relationship Id="rId4" Type="http://schemas.openxmlformats.org/officeDocument/2006/relationships/image" Target="../media/image97.png"/><Relationship Id="rId9" Type="http://schemas.openxmlformats.org/officeDocument/2006/relationships/image" Target="../media/image102.png"/><Relationship Id="rId14" Type="http://schemas.openxmlformats.org/officeDocument/2006/relationships/image" Target="../media/image107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73.png"/><Relationship Id="rId18" Type="http://schemas.openxmlformats.org/officeDocument/2006/relationships/image" Target="../media/image79.png"/><Relationship Id="rId3" Type="http://schemas.openxmlformats.org/officeDocument/2006/relationships/image" Target="../media/image111.png"/><Relationship Id="rId7" Type="http://schemas.openxmlformats.org/officeDocument/2006/relationships/image" Target="../media/image67.png"/><Relationship Id="rId12" Type="http://schemas.openxmlformats.org/officeDocument/2006/relationships/image" Target="../media/image81.png"/><Relationship Id="rId17" Type="http://schemas.openxmlformats.org/officeDocument/2006/relationships/image" Target="../media/image77.png"/><Relationship Id="rId2" Type="http://schemas.openxmlformats.org/officeDocument/2006/relationships/image" Target="../media/image96.png"/><Relationship Id="rId16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11" Type="http://schemas.openxmlformats.org/officeDocument/2006/relationships/image" Target="../media/image114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2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120.png"/><Relationship Id="rId3" Type="http://schemas.openxmlformats.org/officeDocument/2006/relationships/image" Target="../media/image83.png"/><Relationship Id="rId7" Type="http://schemas.openxmlformats.org/officeDocument/2006/relationships/image" Target="../media/image117.png"/><Relationship Id="rId12" Type="http://schemas.openxmlformats.org/officeDocument/2006/relationships/image" Target="../media/image92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6.png"/><Relationship Id="rId11" Type="http://schemas.openxmlformats.org/officeDocument/2006/relationships/image" Target="../media/image119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84.png"/><Relationship Id="rId9" Type="http://schemas.openxmlformats.org/officeDocument/2006/relationships/image" Target="../media/image118.png"/><Relationship Id="rId14" Type="http://schemas.openxmlformats.org/officeDocument/2006/relationships/image" Target="../media/image94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13" Type="http://schemas.openxmlformats.org/officeDocument/2006/relationships/image" Target="../media/image106.png"/><Relationship Id="rId3" Type="http://schemas.openxmlformats.org/officeDocument/2006/relationships/image" Target="../media/image112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3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26.png"/><Relationship Id="rId10" Type="http://schemas.openxmlformats.org/officeDocument/2006/relationships/image" Target="../media/image125.png"/><Relationship Id="rId4" Type="http://schemas.openxmlformats.org/officeDocument/2006/relationships/image" Target="../media/image122.png"/><Relationship Id="rId9" Type="http://schemas.openxmlformats.org/officeDocument/2006/relationships/image" Target="../media/image124.png"/><Relationship Id="rId14" Type="http://schemas.openxmlformats.org/officeDocument/2006/relationships/image" Target="../media/image107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13" Type="http://schemas.openxmlformats.org/officeDocument/2006/relationships/image" Target="../media/image73.png"/><Relationship Id="rId18" Type="http://schemas.openxmlformats.org/officeDocument/2006/relationships/image" Target="../media/image129.png"/><Relationship Id="rId3" Type="http://schemas.openxmlformats.org/officeDocument/2006/relationships/image" Target="../media/image127.png"/><Relationship Id="rId21" Type="http://schemas.openxmlformats.org/officeDocument/2006/relationships/image" Target="../media/image131.png"/><Relationship Id="rId7" Type="http://schemas.openxmlformats.org/officeDocument/2006/relationships/image" Target="../media/image67.png"/><Relationship Id="rId12" Type="http://schemas.openxmlformats.org/officeDocument/2006/relationships/image" Target="../media/image81.png"/><Relationship Id="rId17" Type="http://schemas.openxmlformats.org/officeDocument/2006/relationships/image" Target="../media/image77.png"/><Relationship Id="rId2" Type="http://schemas.openxmlformats.org/officeDocument/2006/relationships/image" Target="../media/image121.png"/><Relationship Id="rId16" Type="http://schemas.openxmlformats.org/officeDocument/2006/relationships/image" Target="../media/image76.png"/><Relationship Id="rId20" Type="http://schemas.openxmlformats.org/officeDocument/2006/relationships/image" Target="../media/image13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6.png"/><Relationship Id="rId11" Type="http://schemas.openxmlformats.org/officeDocument/2006/relationships/image" Target="../media/image114.png"/><Relationship Id="rId5" Type="http://schemas.openxmlformats.org/officeDocument/2006/relationships/image" Target="../media/image65.png"/><Relationship Id="rId15" Type="http://schemas.openxmlformats.org/officeDocument/2006/relationships/image" Target="../media/image75.png"/><Relationship Id="rId10" Type="http://schemas.openxmlformats.org/officeDocument/2006/relationships/image" Target="../media/image70.png"/><Relationship Id="rId19" Type="http://schemas.openxmlformats.org/officeDocument/2006/relationships/image" Target="../media/image79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Relationship Id="rId14" Type="http://schemas.openxmlformats.org/officeDocument/2006/relationships/image" Target="../media/image7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image" Target="../media/image120.png"/><Relationship Id="rId3" Type="http://schemas.openxmlformats.org/officeDocument/2006/relationships/image" Target="../media/image83.png"/><Relationship Id="rId7" Type="http://schemas.openxmlformats.org/officeDocument/2006/relationships/image" Target="../media/image133.png"/><Relationship Id="rId12" Type="http://schemas.openxmlformats.org/officeDocument/2006/relationships/image" Target="../media/image92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6.png"/><Relationship Id="rId11" Type="http://schemas.openxmlformats.org/officeDocument/2006/relationships/image" Target="../media/image91.png"/><Relationship Id="rId5" Type="http://schemas.openxmlformats.org/officeDocument/2006/relationships/image" Target="../media/image85.png"/><Relationship Id="rId15" Type="http://schemas.openxmlformats.org/officeDocument/2006/relationships/image" Target="../media/image95.png"/><Relationship Id="rId10" Type="http://schemas.openxmlformats.org/officeDocument/2006/relationships/image" Target="../media/image90.png"/><Relationship Id="rId4" Type="http://schemas.openxmlformats.org/officeDocument/2006/relationships/image" Target="../media/image132.png"/><Relationship Id="rId9" Type="http://schemas.openxmlformats.org/officeDocument/2006/relationships/image" Target="../media/image118.png"/><Relationship Id="rId14" Type="http://schemas.openxmlformats.org/officeDocument/2006/relationships/image" Target="../media/image94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06.png"/><Relationship Id="rId3" Type="http://schemas.openxmlformats.org/officeDocument/2006/relationships/image" Target="../media/image128.png"/><Relationship Id="rId7" Type="http://schemas.openxmlformats.org/officeDocument/2006/relationships/image" Target="../media/image100.png"/><Relationship Id="rId12" Type="http://schemas.openxmlformats.org/officeDocument/2006/relationships/image" Target="../media/image105.png"/><Relationship Id="rId17" Type="http://schemas.openxmlformats.org/officeDocument/2006/relationships/image" Target="../media/image11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10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9.png"/><Relationship Id="rId11" Type="http://schemas.openxmlformats.org/officeDocument/2006/relationships/image" Target="../media/image104.png"/><Relationship Id="rId5" Type="http://schemas.openxmlformats.org/officeDocument/2006/relationships/image" Target="../media/image98.png"/><Relationship Id="rId15" Type="http://schemas.openxmlformats.org/officeDocument/2006/relationships/image" Target="../media/image126.png"/><Relationship Id="rId10" Type="http://schemas.openxmlformats.org/officeDocument/2006/relationships/image" Target="../media/image125.png"/><Relationship Id="rId4" Type="http://schemas.openxmlformats.org/officeDocument/2006/relationships/image" Target="../media/image135.png"/><Relationship Id="rId9" Type="http://schemas.openxmlformats.org/officeDocument/2006/relationships/image" Target="../media/image124.png"/><Relationship Id="rId14" Type="http://schemas.openxmlformats.org/officeDocument/2006/relationships/image" Target="../media/image107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9.png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1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7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EC8874D-15CC-1026-FA69-0708366A801D}"/>
              </a:ext>
            </a:extLst>
          </p:cNvPr>
          <p:cNvSpPr txBox="1"/>
          <p:nvPr/>
        </p:nvSpPr>
        <p:spPr>
          <a:xfrm>
            <a:off x="4078516" y="1628078"/>
            <a:ext cx="6626654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Sensitivity</a:t>
            </a:r>
            <a:r>
              <a:rPr kumimoji="0" lang="es-ES_tradnl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 </a:t>
            </a:r>
            <a:r>
              <a:rPr kumimoji="0" lang="es-ES_tradnl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Analysis</a:t>
            </a:r>
            <a:r>
              <a:rPr kumimoji="0" lang="es-ES_tradnl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 </a:t>
            </a:r>
            <a:br>
              <a:rPr lang="es-ES_tradnl" sz="44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</a:br>
            <a:r>
              <a:rPr kumimoji="0" lang="es-ES_tradnl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and </a:t>
            </a:r>
            <a:r>
              <a:rPr lang="es-ES_tradnl" sz="4400" b="1" err="1">
                <a:solidFill>
                  <a:prstClr val="black"/>
                </a:solidFill>
                <a:latin typeface="Source Sans Pro"/>
                <a:ea typeface="Source Sans Pro"/>
              </a:rPr>
              <a:t>Surrogate</a:t>
            </a:r>
            <a:r>
              <a:rPr kumimoji="0" lang="es-ES_tradnl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 </a:t>
            </a:r>
            <a:r>
              <a:rPr kumimoji="0" lang="es-ES_tradnl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Modeling</a:t>
            </a:r>
            <a:r>
              <a:rPr kumimoji="0" lang="es-ES_tradnl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 </a:t>
            </a:r>
            <a:r>
              <a:rPr kumimoji="0" lang="es-ES_tradnl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of</a:t>
            </a:r>
            <a:r>
              <a:rPr kumimoji="0" lang="es-ES_tradnl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 PEM Fuel </a:t>
            </a:r>
            <a:r>
              <a:rPr kumimoji="0" lang="es-ES_tradnl" sz="4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Cells</a:t>
            </a:r>
            <a:endParaRPr lang="es-ES">
              <a:solidFill>
                <a:prstClr val="black"/>
              </a:solidFill>
            </a:endParaRP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C770326-B1ED-B283-8A49-958B4107E2E9}"/>
              </a:ext>
            </a:extLst>
          </p:cNvPr>
          <p:cNvCxnSpPr>
            <a:cxnSpLocks/>
          </p:cNvCxnSpPr>
          <p:nvPr/>
        </p:nvCxnSpPr>
        <p:spPr>
          <a:xfrm>
            <a:off x="4181707" y="4059044"/>
            <a:ext cx="0" cy="1407693"/>
          </a:xfrm>
          <a:prstGeom prst="line">
            <a:avLst/>
          </a:prstGeom>
          <a:ln w="28575">
            <a:solidFill>
              <a:srgbClr val="8879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uadroTexto 3">
            <a:extLst>
              <a:ext uri="{FF2B5EF4-FFF2-40B4-BE49-F238E27FC236}">
                <a16:creationId xmlns:a16="http://schemas.microsoft.com/office/drawing/2014/main" id="{A824276F-1589-0A46-13C0-7944BDBFEF23}"/>
              </a:ext>
            </a:extLst>
          </p:cNvPr>
          <p:cNvSpPr txBox="1"/>
          <p:nvPr/>
        </p:nvSpPr>
        <p:spPr>
          <a:xfrm>
            <a:off x="4404732" y="4059044"/>
            <a:ext cx="4527395" cy="1438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Presented</a:t>
            </a:r>
            <a:r>
              <a:rPr kumimoji="0" lang="es-ES_trad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</a:t>
            </a:r>
            <a:r>
              <a:rPr kumimoji="0" lang="es-ES_tradnl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by</a:t>
            </a:r>
            <a:r>
              <a:rPr kumimoji="0" lang="es-ES_trad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Dejvis</a:t>
            </a:r>
            <a:r>
              <a:rPr kumimoji="0" lang="es-ES_tradn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 </a:t>
            </a:r>
            <a:r>
              <a:rPr kumimoji="0" lang="es-ES_tradnl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Toptani</a:t>
            </a:r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SemiBold" panose="020B0503030403020204" pitchFamily="34" charset="0"/>
              <a:ea typeface="Source Sans Pro SemiBold" panose="020B0503030403020204" pitchFamily="34" charset="0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Nathaly</a:t>
            </a:r>
            <a:r>
              <a:rPr kumimoji="0" lang="es-ES_tradn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 Vergel Serrano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Camila Bermudez Valderrama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August 1st, 2025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95B33A-A44B-CEB4-084F-FDD0B2E83D8F}"/>
              </a:ext>
            </a:extLst>
          </p:cNvPr>
          <p:cNvSpPr txBox="1"/>
          <p:nvPr/>
        </p:nvSpPr>
        <p:spPr>
          <a:xfrm>
            <a:off x="7467916" y="4054310"/>
            <a:ext cx="24925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Supervised</a:t>
            </a:r>
            <a:r>
              <a:rPr kumimoji="0" lang="es-ES_trad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</a:t>
            </a:r>
            <a:r>
              <a:rPr kumimoji="0" lang="es-ES_tradnl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by</a:t>
            </a:r>
            <a:r>
              <a:rPr kumimoji="0" lang="es-ES_tradnl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Dr. Giuseppe </a:t>
            </a:r>
            <a:r>
              <a:rPr kumimoji="0" lang="es-CO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Casalicchio</a:t>
            </a:r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SemiBold" panose="020B0503030403020204" pitchFamily="34" charset="0"/>
              <a:ea typeface="Source Sans Pro SemiBold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D4991A-665B-6669-5CE5-9BA884E51343}"/>
              </a:ext>
            </a:extLst>
          </p:cNvPr>
          <p:cNvSpPr txBox="1"/>
          <p:nvPr/>
        </p:nvSpPr>
        <p:spPr>
          <a:xfrm>
            <a:off x="7464265" y="4666518"/>
            <a:ext cx="306091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</a:t>
            </a: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collaboration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Luis Winkler (ZSW Ulm)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Prof. Herbert Palm (UAS </a:t>
            </a:r>
            <a:r>
              <a:rPr kumimoji="0" lang="es-CO" sz="16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SemiBold" panose="020B0503030403020204" pitchFamily="34" charset="0"/>
                <a:ea typeface="Source Sans Pro SemiBold" panose="020B0503030403020204" pitchFamily="34" charset="0"/>
                <a:cs typeface="+mn-cs"/>
              </a:rPr>
              <a:t>Munich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</a:t>
            </a:r>
            <a:endParaRPr kumimoji="0" lang="en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55371D2-9091-CC40-86BF-1B603F46DC9E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tretch>
            <a:fillRect/>
          </a:stretch>
        </p:blipFill>
        <p:spPr>
          <a:xfrm>
            <a:off x="693906" y="6316324"/>
            <a:ext cx="662992" cy="40055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A14EFE2-BBE2-F746-E47E-B7E47AD52B4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  <a:alphaModFix amt="40000"/>
          </a:blip>
          <a:stretch>
            <a:fillRect/>
          </a:stretch>
        </p:blipFill>
        <p:spPr>
          <a:xfrm>
            <a:off x="4765751" y="6298513"/>
            <a:ext cx="662992" cy="249727"/>
          </a:xfrm>
          <a:prstGeom prst="rect">
            <a:avLst/>
          </a:prstGeom>
        </p:spPr>
      </p:pic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F1F82E4-BCB0-8CD9-D556-52F5A6C9F5D2}"/>
              </a:ext>
            </a:extLst>
          </p:cNvPr>
          <p:cNvCxnSpPr>
            <a:cxnSpLocks/>
          </p:cNvCxnSpPr>
          <p:nvPr/>
        </p:nvCxnSpPr>
        <p:spPr>
          <a:xfrm>
            <a:off x="419946" y="5935412"/>
            <a:ext cx="10017595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3D81EBA-3516-68F6-149B-18F514E13133}"/>
              </a:ext>
            </a:extLst>
          </p:cNvPr>
          <p:cNvSpPr txBox="1"/>
          <p:nvPr/>
        </p:nvSpPr>
        <p:spPr>
          <a:xfrm>
            <a:off x="419946" y="5947490"/>
            <a:ext cx="609971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s-CO" sz="1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 </a:t>
            </a:r>
            <a:r>
              <a:rPr kumimoji="0" lang="es-CO" sz="1000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collaboration</a:t>
            </a:r>
            <a:r>
              <a:rPr kumimoji="0" lang="es-CO" sz="1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s-CO" sz="1000" b="0" i="0" u="none" strike="noStrike" kern="1200" cap="none" spc="0" normalizeH="0" baseline="0" noProof="0" err="1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with</a:t>
            </a:r>
            <a:endParaRPr lang="es-ES_tradnl" sz="10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8710DE2-4F8B-CA0B-F967-F4E29193378F}"/>
              </a:ext>
            </a:extLst>
          </p:cNvPr>
          <p:cNvSpPr txBox="1"/>
          <p:nvPr/>
        </p:nvSpPr>
        <p:spPr>
          <a:xfrm>
            <a:off x="5789762" y="6223321"/>
            <a:ext cx="259785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i="1" err="1">
                <a:solidFill>
                  <a:schemeClr val="bg1">
                    <a:lumMod val="50000"/>
                  </a:schemeClr>
                </a:solidFill>
              </a:rPr>
              <a:t>University</a:t>
            </a:r>
            <a:r>
              <a:rPr lang="es-ES_tradnl" sz="10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_tradnl" sz="1000" i="1" err="1">
                <a:solidFill>
                  <a:schemeClr val="bg1">
                    <a:lumMod val="50000"/>
                  </a:schemeClr>
                </a:solidFill>
              </a:rPr>
              <a:t>of</a:t>
            </a:r>
            <a:r>
              <a:rPr lang="es-ES_tradnl" sz="10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_tradnl" sz="1000" i="1" err="1">
                <a:solidFill>
                  <a:schemeClr val="bg1">
                    <a:lumMod val="50000"/>
                  </a:schemeClr>
                </a:solidFill>
              </a:rPr>
              <a:t>Applied</a:t>
            </a:r>
            <a:r>
              <a:rPr lang="es-ES_tradnl" sz="10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_tradnl" sz="1000" i="1" err="1">
                <a:solidFill>
                  <a:schemeClr val="bg1">
                    <a:lumMod val="50000"/>
                  </a:schemeClr>
                </a:solidFill>
              </a:rPr>
              <a:t>Sciences</a:t>
            </a:r>
            <a:r>
              <a:rPr lang="es-ES_tradnl" sz="1000" i="1">
                <a:solidFill>
                  <a:schemeClr val="bg1">
                    <a:lumMod val="50000"/>
                  </a:schemeClr>
                </a:solidFill>
              </a:rPr>
              <a:t> (UAS) </a:t>
            </a:r>
          </a:p>
          <a:p>
            <a:r>
              <a:rPr lang="es-ES_tradnl" sz="1000" i="1" err="1">
                <a:solidFill>
                  <a:schemeClr val="bg1">
                    <a:lumMod val="50000"/>
                  </a:schemeClr>
                </a:solidFill>
              </a:rPr>
              <a:t>Munich</a:t>
            </a:r>
            <a:r>
              <a:rPr lang="es-ES_tradnl" sz="1000" i="1">
                <a:solidFill>
                  <a:schemeClr val="bg1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86DD79A-51F7-7E1D-ED5D-7E793A2FBBFD}"/>
              </a:ext>
            </a:extLst>
          </p:cNvPr>
          <p:cNvSpPr txBox="1"/>
          <p:nvPr/>
        </p:nvSpPr>
        <p:spPr>
          <a:xfrm>
            <a:off x="1554126" y="6266177"/>
            <a:ext cx="292406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1000" i="1">
                <a:solidFill>
                  <a:schemeClr val="bg1">
                    <a:lumMod val="50000"/>
                  </a:schemeClr>
                </a:solidFill>
              </a:rPr>
              <a:t>Center </a:t>
            </a:r>
            <a:r>
              <a:rPr lang="es-ES_tradnl" sz="1000" i="1" err="1">
                <a:solidFill>
                  <a:schemeClr val="bg1">
                    <a:lumMod val="50000"/>
                  </a:schemeClr>
                </a:solidFill>
              </a:rPr>
              <a:t>for</a:t>
            </a:r>
            <a:r>
              <a:rPr lang="es-ES_tradnl" sz="1000" i="1">
                <a:solidFill>
                  <a:schemeClr val="bg1">
                    <a:lumMod val="50000"/>
                  </a:schemeClr>
                </a:solidFill>
              </a:rPr>
              <a:t> Solar Energy and </a:t>
            </a:r>
            <a:r>
              <a:rPr lang="es-ES_tradnl" sz="1000" i="1" err="1">
                <a:solidFill>
                  <a:schemeClr val="bg1">
                    <a:lumMod val="50000"/>
                  </a:schemeClr>
                </a:solidFill>
              </a:rPr>
              <a:t>Hydrogen</a:t>
            </a:r>
            <a:r>
              <a:rPr lang="es-ES_tradnl" sz="1000" i="1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s-ES_tradnl" sz="1000" i="1" err="1">
                <a:solidFill>
                  <a:schemeClr val="bg1">
                    <a:lumMod val="50000"/>
                  </a:schemeClr>
                </a:solidFill>
              </a:rPr>
              <a:t>Research</a:t>
            </a:r>
            <a:r>
              <a:rPr lang="es-ES_tradnl" sz="1000" i="1">
                <a:solidFill>
                  <a:schemeClr val="bg1">
                    <a:lumMod val="50000"/>
                  </a:schemeClr>
                </a:solidFill>
              </a:rPr>
              <a:t> Baden-Württemberg</a:t>
            </a:r>
          </a:p>
        </p:txBody>
      </p:sp>
    </p:spTree>
    <p:extLst>
      <p:ext uri="{BB962C8B-B14F-4D97-AF65-F5344CB8AC3E}">
        <p14:creationId xmlns:p14="http://schemas.microsoft.com/office/powerpoint/2010/main" val="28435962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392E0E82-DF6C-0E1E-EE06-896853A0EEF1}"/>
              </a:ext>
            </a:extLst>
          </p:cNvPr>
          <p:cNvSpPr txBox="1"/>
          <p:nvPr/>
        </p:nvSpPr>
        <p:spPr>
          <a:xfrm>
            <a:off x="965559" y="430559"/>
            <a:ext cx="26772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4000" b="1" err="1">
                <a:latin typeface="Source Sans Pro SemiBold" panose="020B0503030403020204" pitchFamily="34" charset="0"/>
                <a:ea typeface="Source Sans Pro SemiBold" panose="020B0503030403020204" pitchFamily="34" charset="0"/>
              </a:rPr>
              <a:t>Overview</a:t>
            </a:r>
            <a:endParaRPr lang="es-ES_tradnl" sz="4000" b="1">
              <a:latin typeface="Source Sans Pro SemiBold" panose="020B0503030403020204" pitchFamily="34" charset="0"/>
              <a:ea typeface="Source Sans Pro SemiBold" panose="020B0503030403020204" pitchFamily="34" charset="0"/>
            </a:endParaRPr>
          </a:p>
        </p:txBody>
      </p:sp>
      <p:sp>
        <p:nvSpPr>
          <p:cNvPr id="14" name="Marcador de número de diapositiva 14">
            <a:extLst>
              <a:ext uri="{FF2B5EF4-FFF2-40B4-BE49-F238E27FC236}">
                <a16:creationId xmlns:a16="http://schemas.microsoft.com/office/drawing/2014/main" id="{F5DE518E-7552-0DCA-DEFB-E5754456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7" y="2368627"/>
            <a:ext cx="445265" cy="440673"/>
          </a:xfrm>
        </p:spPr>
        <p:txBody>
          <a:bodyPr/>
          <a:lstStyle/>
          <a:p>
            <a:fld id="{B75BC28E-972B-EC47-BE79-29D89D46B9CA}" type="slidenum">
              <a:rPr lang="es-ES_tradnl" sz="1600" b="1" smtClean="0"/>
              <a:t>2</a:t>
            </a:fld>
            <a:endParaRPr lang="es-ES_tradnl" sz="1600" b="1"/>
          </a:p>
        </p:txBody>
      </p:sp>
      <p:grpSp>
        <p:nvGrpSpPr>
          <p:cNvPr id="13" name="Google Shape;236;p16">
            <a:extLst>
              <a:ext uri="{FF2B5EF4-FFF2-40B4-BE49-F238E27FC236}">
                <a16:creationId xmlns:a16="http://schemas.microsoft.com/office/drawing/2014/main" id="{3F95DA4C-E735-45A0-AB2D-7AF057C5B25F}"/>
              </a:ext>
            </a:extLst>
          </p:cNvPr>
          <p:cNvGrpSpPr/>
          <p:nvPr/>
        </p:nvGrpSpPr>
        <p:grpSpPr>
          <a:xfrm>
            <a:off x="2583907" y="1495127"/>
            <a:ext cx="3802377" cy="1130052"/>
            <a:chOff x="3297249" y="1027913"/>
            <a:chExt cx="2851783" cy="847540"/>
          </a:xfrm>
        </p:grpSpPr>
        <p:sp>
          <p:nvSpPr>
            <p:cNvPr id="15" name="Google Shape;237;p16">
              <a:extLst>
                <a:ext uri="{FF2B5EF4-FFF2-40B4-BE49-F238E27FC236}">
                  <a16:creationId xmlns:a16="http://schemas.microsoft.com/office/drawing/2014/main" id="{C54E2C15-0816-4C64-8E44-4356FAAA08A8}"/>
                </a:ext>
              </a:extLst>
            </p:cNvPr>
            <p:cNvSpPr/>
            <p:nvPr/>
          </p:nvSpPr>
          <p:spPr>
            <a:xfrm>
              <a:off x="3297249" y="1065343"/>
              <a:ext cx="596100" cy="596100"/>
            </a:xfrm>
            <a:prstGeom prst="ellipse">
              <a:avLst/>
            </a:prstGeom>
            <a:solidFill>
              <a:srgbClr val="8879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2400" b="1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sz="2400" kern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  <p:grpSp>
          <p:nvGrpSpPr>
            <p:cNvPr id="16" name="Google Shape;238;p16">
              <a:extLst>
                <a:ext uri="{FF2B5EF4-FFF2-40B4-BE49-F238E27FC236}">
                  <a16:creationId xmlns:a16="http://schemas.microsoft.com/office/drawing/2014/main" id="{C2E556AB-489E-4A44-84B7-AD96A9A57036}"/>
                </a:ext>
              </a:extLst>
            </p:cNvPr>
            <p:cNvGrpSpPr/>
            <p:nvPr/>
          </p:nvGrpSpPr>
          <p:grpSpPr>
            <a:xfrm>
              <a:off x="3969537" y="1027913"/>
              <a:ext cx="2179495" cy="847540"/>
              <a:chOff x="3969537" y="1108675"/>
              <a:chExt cx="2179495" cy="847540"/>
            </a:xfrm>
          </p:grpSpPr>
          <p:sp>
            <p:nvSpPr>
              <p:cNvPr id="17" name="Google Shape;239;p16">
                <a:extLst>
                  <a:ext uri="{FF2B5EF4-FFF2-40B4-BE49-F238E27FC236}">
                    <a16:creationId xmlns:a16="http://schemas.microsoft.com/office/drawing/2014/main" id="{48566870-7453-43E5-9DDA-02A24C1F2A71}"/>
                  </a:ext>
                </a:extLst>
              </p:cNvPr>
              <p:cNvSpPr txBox="1"/>
              <p:nvPr/>
            </p:nvSpPr>
            <p:spPr>
              <a:xfrm>
                <a:off x="3969538" y="1108675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800" b="1">
                    <a:latin typeface="Source Sans Pro" panose="020B0503030403020204" pitchFamily="34" charset="0"/>
                    <a:ea typeface="Source Sans Pro" panose="020B0503030403020204" pitchFamily="34" charset="0"/>
                    <a:cs typeface="+mj-cs"/>
                    <a:sym typeface="Fira Sans Extra Condensed"/>
                  </a:rPr>
                  <a:t>Motivation</a:t>
                </a:r>
                <a:endParaRPr sz="2800" b="1">
                  <a:latin typeface="Source Sans Pro" panose="020B0503030403020204" pitchFamily="34" charset="0"/>
                  <a:ea typeface="Source Sans Pro" panose="020B0503030403020204" pitchFamily="34" charset="0"/>
                  <a:cs typeface="+mj-cs"/>
                  <a:sym typeface="Fira Sans Extra Condensed"/>
                </a:endParaRPr>
              </a:p>
            </p:txBody>
          </p:sp>
          <p:sp>
            <p:nvSpPr>
              <p:cNvPr id="18" name="Google Shape;240;p16">
                <a:extLst>
                  <a:ext uri="{FF2B5EF4-FFF2-40B4-BE49-F238E27FC236}">
                    <a16:creationId xmlns:a16="http://schemas.microsoft.com/office/drawing/2014/main" id="{720584C0-E6C0-41FE-82E4-2E8F621E043A}"/>
                  </a:ext>
                </a:extLst>
              </p:cNvPr>
              <p:cNvSpPr txBox="1"/>
              <p:nvPr/>
            </p:nvSpPr>
            <p:spPr>
              <a:xfrm>
                <a:off x="3969537" y="1450274"/>
                <a:ext cx="2179495" cy="5059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-US" sz="2000"/>
                  <a:t>What are PEM fuel cells and why model them?</a:t>
                </a:r>
                <a:endParaRPr sz="2000">
                  <a:sym typeface="Roboto"/>
                </a:endParaRPr>
              </a:p>
            </p:txBody>
          </p:sp>
        </p:grpSp>
      </p:grpSp>
      <p:grpSp>
        <p:nvGrpSpPr>
          <p:cNvPr id="77" name="Google Shape;299;p16">
            <a:extLst>
              <a:ext uri="{FF2B5EF4-FFF2-40B4-BE49-F238E27FC236}">
                <a16:creationId xmlns:a16="http://schemas.microsoft.com/office/drawing/2014/main" id="{05F44B19-B17C-4E74-8ED1-9E03FE4F2120}"/>
              </a:ext>
            </a:extLst>
          </p:cNvPr>
          <p:cNvGrpSpPr/>
          <p:nvPr/>
        </p:nvGrpSpPr>
        <p:grpSpPr>
          <a:xfrm>
            <a:off x="7466905" y="1495128"/>
            <a:ext cx="3955453" cy="1487861"/>
            <a:chOff x="6033350" y="1027913"/>
            <a:chExt cx="2966590" cy="1115896"/>
          </a:xfrm>
        </p:grpSpPr>
        <p:grpSp>
          <p:nvGrpSpPr>
            <p:cNvPr id="78" name="Google Shape;300;p16">
              <a:extLst>
                <a:ext uri="{FF2B5EF4-FFF2-40B4-BE49-F238E27FC236}">
                  <a16:creationId xmlns:a16="http://schemas.microsoft.com/office/drawing/2014/main" id="{E46ABC61-6877-405C-A15A-1997622BC584}"/>
                </a:ext>
              </a:extLst>
            </p:cNvPr>
            <p:cNvGrpSpPr/>
            <p:nvPr/>
          </p:nvGrpSpPr>
          <p:grpSpPr>
            <a:xfrm>
              <a:off x="6705627" y="1027913"/>
              <a:ext cx="2294313" cy="1115896"/>
              <a:chOff x="6053052" y="700371"/>
              <a:chExt cx="2294313" cy="1115896"/>
            </a:xfrm>
          </p:grpSpPr>
          <p:sp>
            <p:nvSpPr>
              <p:cNvPr id="80" name="Google Shape;301;p16">
                <a:extLst>
                  <a:ext uri="{FF2B5EF4-FFF2-40B4-BE49-F238E27FC236}">
                    <a16:creationId xmlns:a16="http://schemas.microsoft.com/office/drawing/2014/main" id="{691410C7-CB75-478C-A564-9CB73ACFD104}"/>
                  </a:ext>
                </a:extLst>
              </p:cNvPr>
              <p:cNvSpPr txBox="1"/>
              <p:nvPr/>
            </p:nvSpPr>
            <p:spPr>
              <a:xfrm>
                <a:off x="6053052" y="700371"/>
                <a:ext cx="2218136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800" b="1">
                    <a:latin typeface="Source Sans Pro" panose="020B0503030403020204" pitchFamily="34" charset="0"/>
                    <a:ea typeface="Source Sans Pro" panose="020B0503030403020204" pitchFamily="34" charset="0"/>
                    <a:cs typeface="+mj-cs"/>
                    <a:sym typeface="Fira Sans Extra Condensed"/>
                  </a:rPr>
                  <a:t>Surrogate Model</a:t>
                </a:r>
                <a:endParaRPr sz="2800" b="1">
                  <a:latin typeface="Source Sans Pro" panose="020B0503030403020204" pitchFamily="34" charset="0"/>
                  <a:ea typeface="Source Sans Pro" panose="020B0503030403020204" pitchFamily="34" charset="0"/>
                  <a:cs typeface="+mj-cs"/>
                  <a:sym typeface="Fira Sans Extra Condensed"/>
                </a:endParaRPr>
              </a:p>
            </p:txBody>
          </p:sp>
          <p:sp>
            <p:nvSpPr>
              <p:cNvPr id="81" name="Google Shape;302;p16">
                <a:extLst>
                  <a:ext uri="{FF2B5EF4-FFF2-40B4-BE49-F238E27FC236}">
                    <a16:creationId xmlns:a16="http://schemas.microsoft.com/office/drawing/2014/main" id="{FE5514AC-8C11-4E59-8324-E20DFAD03E9D}"/>
                  </a:ext>
                </a:extLst>
              </p:cNvPr>
              <p:cNvSpPr txBox="1"/>
              <p:nvPr/>
            </p:nvSpPr>
            <p:spPr>
              <a:xfrm>
                <a:off x="6053053" y="1032170"/>
                <a:ext cx="2294312" cy="7840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s-MX" sz="2000">
                    <a:sym typeface="Roboto"/>
                  </a:rPr>
                  <a:t>Can </a:t>
                </a:r>
                <a:r>
                  <a:rPr lang="es-MX" sz="2000" err="1">
                    <a:sym typeface="Roboto"/>
                  </a:rPr>
                  <a:t>we</a:t>
                </a:r>
                <a:r>
                  <a:rPr lang="es-MX" sz="2000">
                    <a:sym typeface="Roboto"/>
                  </a:rPr>
                  <a:t> </a:t>
                </a:r>
                <a:r>
                  <a:rPr lang="es-MX" sz="2000" err="1">
                    <a:sym typeface="Roboto"/>
                  </a:rPr>
                  <a:t>build</a:t>
                </a:r>
                <a:r>
                  <a:rPr lang="es-MX" sz="2000">
                    <a:sym typeface="Roboto"/>
                  </a:rPr>
                  <a:t> a </a:t>
                </a:r>
                <a:r>
                  <a:rPr lang="es-MX" sz="2000" err="1">
                    <a:sym typeface="Roboto"/>
                  </a:rPr>
                  <a:t>faithful</a:t>
                </a:r>
                <a:r>
                  <a:rPr lang="es-MX" sz="2000">
                    <a:sym typeface="Roboto"/>
                  </a:rPr>
                  <a:t>, </a:t>
                </a:r>
                <a:r>
                  <a:rPr lang="es-MX" sz="2000" err="1">
                    <a:sym typeface="Roboto"/>
                  </a:rPr>
                  <a:t>but</a:t>
                </a:r>
                <a:r>
                  <a:rPr lang="es-MX" sz="2000">
                    <a:sym typeface="Roboto"/>
                  </a:rPr>
                  <a:t> more </a:t>
                </a:r>
                <a:r>
                  <a:rPr lang="es-MX" sz="2000" err="1">
                    <a:sym typeface="Roboto"/>
                  </a:rPr>
                  <a:t>efficient</a:t>
                </a:r>
                <a:r>
                  <a:rPr lang="es-MX" sz="2000">
                    <a:sym typeface="Roboto"/>
                  </a:rPr>
                  <a:t> replica </a:t>
                </a:r>
                <a:r>
                  <a:rPr lang="es-MX" sz="2000" err="1">
                    <a:sym typeface="Roboto"/>
                  </a:rPr>
                  <a:t>of</a:t>
                </a:r>
                <a:r>
                  <a:rPr lang="es-MX" sz="2000">
                    <a:sym typeface="Roboto"/>
                  </a:rPr>
                  <a:t> </a:t>
                </a:r>
                <a:r>
                  <a:rPr lang="es-MX" sz="2000" err="1">
                    <a:sym typeface="Roboto"/>
                  </a:rPr>
                  <a:t>the</a:t>
                </a:r>
                <a:r>
                  <a:rPr lang="es-MX" sz="2000">
                    <a:sym typeface="Roboto"/>
                  </a:rPr>
                  <a:t> </a:t>
                </a:r>
                <a:r>
                  <a:rPr lang="es-MX" sz="2000" err="1">
                    <a:sym typeface="Roboto"/>
                  </a:rPr>
                  <a:t>model</a:t>
                </a:r>
                <a:r>
                  <a:rPr lang="es-MX" sz="2000">
                    <a:sym typeface="Roboto"/>
                  </a:rPr>
                  <a:t>?</a:t>
                </a:r>
                <a:endParaRPr sz="2000">
                  <a:sym typeface="Roboto"/>
                </a:endParaRPr>
              </a:p>
            </p:txBody>
          </p:sp>
        </p:grpSp>
        <p:sp>
          <p:nvSpPr>
            <p:cNvPr id="79" name="Google Shape;303;p16">
              <a:extLst>
                <a:ext uri="{FF2B5EF4-FFF2-40B4-BE49-F238E27FC236}">
                  <a16:creationId xmlns:a16="http://schemas.microsoft.com/office/drawing/2014/main" id="{EBE1B03E-DB92-44A3-BD31-302984ADC350}"/>
                </a:ext>
              </a:extLst>
            </p:cNvPr>
            <p:cNvSpPr/>
            <p:nvPr/>
          </p:nvSpPr>
          <p:spPr>
            <a:xfrm>
              <a:off x="6033350" y="1056439"/>
              <a:ext cx="596100" cy="596100"/>
            </a:xfrm>
            <a:prstGeom prst="ellipse">
              <a:avLst/>
            </a:prstGeom>
            <a:solidFill>
              <a:srgbClr val="FFB90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2400" b="1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sz="2400" kern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2" name="Google Shape;304;p16">
            <a:extLst>
              <a:ext uri="{FF2B5EF4-FFF2-40B4-BE49-F238E27FC236}">
                <a16:creationId xmlns:a16="http://schemas.microsoft.com/office/drawing/2014/main" id="{12F4EE34-7D79-4889-B946-A0EBBD1BA44E}"/>
              </a:ext>
            </a:extLst>
          </p:cNvPr>
          <p:cNvGrpSpPr/>
          <p:nvPr/>
        </p:nvGrpSpPr>
        <p:grpSpPr>
          <a:xfrm>
            <a:off x="2583907" y="3001443"/>
            <a:ext cx="4256993" cy="1238561"/>
            <a:chOff x="3297248" y="2502860"/>
            <a:chExt cx="3192745" cy="928921"/>
          </a:xfrm>
        </p:grpSpPr>
        <p:grpSp>
          <p:nvGrpSpPr>
            <p:cNvPr id="83" name="Google Shape;305;p16">
              <a:extLst>
                <a:ext uri="{FF2B5EF4-FFF2-40B4-BE49-F238E27FC236}">
                  <a16:creationId xmlns:a16="http://schemas.microsoft.com/office/drawing/2014/main" id="{8A85AED4-0D9E-40C0-980D-DDAC2ABEFFFC}"/>
                </a:ext>
              </a:extLst>
            </p:cNvPr>
            <p:cNvGrpSpPr/>
            <p:nvPr/>
          </p:nvGrpSpPr>
          <p:grpSpPr>
            <a:xfrm>
              <a:off x="3969539" y="2502860"/>
              <a:ext cx="2520454" cy="928921"/>
              <a:chOff x="3581351" y="1153913"/>
              <a:chExt cx="2520454" cy="928921"/>
            </a:xfrm>
          </p:grpSpPr>
          <p:sp>
            <p:nvSpPr>
              <p:cNvPr id="85" name="Google Shape;306;p16">
                <a:extLst>
                  <a:ext uri="{FF2B5EF4-FFF2-40B4-BE49-F238E27FC236}">
                    <a16:creationId xmlns:a16="http://schemas.microsoft.com/office/drawing/2014/main" id="{C6F37FA1-8612-4BAA-A1AB-1F858C3F1D07}"/>
                  </a:ext>
                </a:extLst>
              </p:cNvPr>
              <p:cNvSpPr txBox="1"/>
              <p:nvPr/>
            </p:nvSpPr>
            <p:spPr>
              <a:xfrm>
                <a:off x="3581365" y="1153913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800" b="1">
                    <a:latin typeface="Source Sans Pro" panose="020B0503030403020204" pitchFamily="34" charset="0"/>
                    <a:ea typeface="Source Sans Pro" panose="020B0503030403020204" pitchFamily="34" charset="0"/>
                    <a:cs typeface="+mj-cs"/>
                    <a:sym typeface="Fira Sans Extra Condensed"/>
                  </a:rPr>
                  <a:t>Model Validity</a:t>
                </a:r>
                <a:endParaRPr sz="2800" b="1">
                  <a:latin typeface="Source Sans Pro" panose="020B0503030403020204" pitchFamily="34" charset="0"/>
                  <a:ea typeface="Source Sans Pro" panose="020B0503030403020204" pitchFamily="34" charset="0"/>
                  <a:cs typeface="+mj-cs"/>
                  <a:sym typeface="Fira Sans Extra Condensed"/>
                </a:endParaRPr>
              </a:p>
            </p:txBody>
          </p:sp>
          <p:sp>
            <p:nvSpPr>
              <p:cNvPr id="86" name="Google Shape;307;p16">
                <a:extLst>
                  <a:ext uri="{FF2B5EF4-FFF2-40B4-BE49-F238E27FC236}">
                    <a16:creationId xmlns:a16="http://schemas.microsoft.com/office/drawing/2014/main" id="{7588C5AE-2FC6-40D8-9ABB-46093AE53E65}"/>
                  </a:ext>
                </a:extLst>
              </p:cNvPr>
              <p:cNvSpPr txBox="1"/>
              <p:nvPr/>
            </p:nvSpPr>
            <p:spPr>
              <a:xfrm>
                <a:off x="3581351" y="1576894"/>
                <a:ext cx="2520454" cy="5059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-US" sz="2000"/>
                  <a:t>Where does the model produce physically meaningful results?</a:t>
                </a:r>
                <a:endParaRPr sz="2000">
                  <a:sym typeface="Roboto"/>
                </a:endParaRPr>
              </a:p>
            </p:txBody>
          </p:sp>
        </p:grpSp>
        <p:sp>
          <p:nvSpPr>
            <p:cNvPr id="84" name="Google Shape;308;p16">
              <a:extLst>
                <a:ext uri="{FF2B5EF4-FFF2-40B4-BE49-F238E27FC236}">
                  <a16:creationId xmlns:a16="http://schemas.microsoft.com/office/drawing/2014/main" id="{A7F00CAD-0C1E-4110-BD97-A9C9C017EDE3}"/>
                </a:ext>
              </a:extLst>
            </p:cNvPr>
            <p:cNvSpPr/>
            <p:nvPr/>
          </p:nvSpPr>
          <p:spPr>
            <a:xfrm>
              <a:off x="3297248" y="2536158"/>
              <a:ext cx="596100" cy="596100"/>
            </a:xfrm>
            <a:prstGeom prst="ellipse">
              <a:avLst/>
            </a:prstGeom>
            <a:solidFill>
              <a:srgbClr val="B278E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2400" b="1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sz="2400" kern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87" name="Google Shape;309;p16">
            <a:extLst>
              <a:ext uri="{FF2B5EF4-FFF2-40B4-BE49-F238E27FC236}">
                <a16:creationId xmlns:a16="http://schemas.microsoft.com/office/drawing/2014/main" id="{AC1B9E56-3D91-4D44-9898-6DF83DDEBCDA}"/>
              </a:ext>
            </a:extLst>
          </p:cNvPr>
          <p:cNvGrpSpPr/>
          <p:nvPr/>
        </p:nvGrpSpPr>
        <p:grpSpPr>
          <a:xfrm>
            <a:off x="2583888" y="4780879"/>
            <a:ext cx="4257010" cy="1204125"/>
            <a:chOff x="3297248" y="3977808"/>
            <a:chExt cx="3192758" cy="903093"/>
          </a:xfrm>
        </p:grpSpPr>
        <p:grpSp>
          <p:nvGrpSpPr>
            <p:cNvPr id="88" name="Google Shape;310;p16">
              <a:extLst>
                <a:ext uri="{FF2B5EF4-FFF2-40B4-BE49-F238E27FC236}">
                  <a16:creationId xmlns:a16="http://schemas.microsoft.com/office/drawing/2014/main" id="{81335274-6B48-4AF3-B95C-DC38E64EC5D9}"/>
                </a:ext>
              </a:extLst>
            </p:cNvPr>
            <p:cNvGrpSpPr/>
            <p:nvPr/>
          </p:nvGrpSpPr>
          <p:grpSpPr>
            <a:xfrm>
              <a:off x="3969552" y="3977808"/>
              <a:ext cx="2520454" cy="903093"/>
              <a:chOff x="3581364" y="2254821"/>
              <a:chExt cx="2520454" cy="903093"/>
            </a:xfrm>
          </p:grpSpPr>
          <p:sp>
            <p:nvSpPr>
              <p:cNvPr id="90" name="Google Shape;311;p16">
                <a:extLst>
                  <a:ext uri="{FF2B5EF4-FFF2-40B4-BE49-F238E27FC236}">
                    <a16:creationId xmlns:a16="http://schemas.microsoft.com/office/drawing/2014/main" id="{0C4679B2-6B45-4B25-8ED1-DD40B6A778EE}"/>
                  </a:ext>
                </a:extLst>
              </p:cNvPr>
              <p:cNvSpPr txBox="1"/>
              <p:nvPr/>
            </p:nvSpPr>
            <p:spPr>
              <a:xfrm>
                <a:off x="3581364" y="2254821"/>
                <a:ext cx="2520454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800" b="1">
                    <a:latin typeface="Source Sans Pro" panose="020B0503030403020204" pitchFamily="34" charset="0"/>
                    <a:ea typeface="Source Sans Pro" panose="020B0503030403020204" pitchFamily="34" charset="0"/>
                    <a:cs typeface="+mj-cs"/>
                    <a:sym typeface="Fira Sans Extra Condensed"/>
                  </a:rPr>
                  <a:t>Sensitivity Analysis</a:t>
                </a:r>
                <a:endParaRPr sz="2800" b="1">
                  <a:latin typeface="Source Sans Pro" panose="020B0503030403020204" pitchFamily="34" charset="0"/>
                  <a:ea typeface="Source Sans Pro" panose="020B0503030403020204" pitchFamily="34" charset="0"/>
                  <a:cs typeface="+mj-cs"/>
                  <a:sym typeface="Fira Sans Extra Condensed"/>
                </a:endParaRPr>
              </a:p>
            </p:txBody>
          </p:sp>
          <p:sp>
            <p:nvSpPr>
              <p:cNvPr id="91" name="Google Shape;312;p16">
                <a:extLst>
                  <a:ext uri="{FF2B5EF4-FFF2-40B4-BE49-F238E27FC236}">
                    <a16:creationId xmlns:a16="http://schemas.microsoft.com/office/drawing/2014/main" id="{597A71AB-12AE-4DB1-BE46-E032B1A209FB}"/>
                  </a:ext>
                </a:extLst>
              </p:cNvPr>
              <p:cNvSpPr txBox="1"/>
              <p:nvPr/>
            </p:nvSpPr>
            <p:spPr>
              <a:xfrm>
                <a:off x="3581364" y="2561814"/>
                <a:ext cx="2520454" cy="596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s-MX" sz="2000" err="1">
                    <a:sym typeface="Roboto"/>
                  </a:rPr>
                  <a:t>What</a:t>
                </a:r>
                <a:r>
                  <a:rPr lang="es-MX" sz="2000">
                    <a:sym typeface="Roboto"/>
                  </a:rPr>
                  <a:t> are </a:t>
                </a:r>
                <a:r>
                  <a:rPr lang="es-MX" sz="2000" err="1">
                    <a:sym typeface="Roboto"/>
                  </a:rPr>
                  <a:t>the</a:t>
                </a:r>
                <a:r>
                  <a:rPr lang="es-MX" sz="2000">
                    <a:sym typeface="Roboto"/>
                  </a:rPr>
                  <a:t> </a:t>
                </a:r>
                <a:r>
                  <a:rPr lang="es-MX" sz="2000" err="1">
                    <a:sym typeface="Roboto"/>
                  </a:rPr>
                  <a:t>most</a:t>
                </a:r>
                <a:r>
                  <a:rPr lang="es-MX" sz="2000">
                    <a:sym typeface="Roboto"/>
                  </a:rPr>
                  <a:t> </a:t>
                </a:r>
                <a:r>
                  <a:rPr lang="es-MX" sz="2000" err="1">
                    <a:sym typeface="Roboto"/>
                  </a:rPr>
                  <a:t>impactful</a:t>
                </a:r>
                <a:r>
                  <a:rPr lang="es-MX" sz="2000">
                    <a:sym typeface="Roboto"/>
                  </a:rPr>
                  <a:t> input </a:t>
                </a:r>
                <a:r>
                  <a:rPr lang="es-MX" sz="2000" err="1">
                    <a:sym typeface="Roboto"/>
                  </a:rPr>
                  <a:t>features</a:t>
                </a:r>
                <a:r>
                  <a:rPr lang="es-MX" sz="2000">
                    <a:sym typeface="Roboto"/>
                  </a:rPr>
                  <a:t>?</a:t>
                </a:r>
                <a:endParaRPr sz="2000">
                  <a:sym typeface="Roboto"/>
                </a:endParaRPr>
              </a:p>
            </p:txBody>
          </p:sp>
        </p:grpSp>
        <p:sp>
          <p:nvSpPr>
            <p:cNvPr id="89" name="Google Shape;313;p16">
              <a:extLst>
                <a:ext uri="{FF2B5EF4-FFF2-40B4-BE49-F238E27FC236}">
                  <a16:creationId xmlns:a16="http://schemas.microsoft.com/office/drawing/2014/main" id="{5C2EDAC0-81D5-4CBE-AAD7-700DE4AFE2D9}"/>
                </a:ext>
              </a:extLst>
            </p:cNvPr>
            <p:cNvSpPr/>
            <p:nvPr/>
          </p:nvSpPr>
          <p:spPr>
            <a:xfrm>
              <a:off x="3297248" y="3992674"/>
              <a:ext cx="596100" cy="596100"/>
            </a:xfrm>
            <a:prstGeom prst="ellipse">
              <a:avLst/>
            </a:prstGeom>
            <a:solidFill>
              <a:srgbClr val="008B2E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2400" b="1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sz="2400" kern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</p:grpSp>
      <p:grpSp>
        <p:nvGrpSpPr>
          <p:cNvPr id="92" name="Google Shape;314;p16">
            <a:extLst>
              <a:ext uri="{FF2B5EF4-FFF2-40B4-BE49-F238E27FC236}">
                <a16:creationId xmlns:a16="http://schemas.microsoft.com/office/drawing/2014/main" id="{ACB4F467-0BEC-496C-9251-610093CC0937}"/>
              </a:ext>
            </a:extLst>
          </p:cNvPr>
          <p:cNvGrpSpPr/>
          <p:nvPr/>
        </p:nvGrpSpPr>
        <p:grpSpPr>
          <a:xfrm>
            <a:off x="7466906" y="3241320"/>
            <a:ext cx="3538020" cy="982467"/>
            <a:chOff x="6033350" y="2501790"/>
            <a:chExt cx="2653515" cy="736851"/>
          </a:xfrm>
        </p:grpSpPr>
        <p:grpSp>
          <p:nvGrpSpPr>
            <p:cNvPr id="93" name="Google Shape;315;p16">
              <a:extLst>
                <a:ext uri="{FF2B5EF4-FFF2-40B4-BE49-F238E27FC236}">
                  <a16:creationId xmlns:a16="http://schemas.microsoft.com/office/drawing/2014/main" id="{29620A71-7120-4440-9B1C-579D7136FBBA}"/>
                </a:ext>
              </a:extLst>
            </p:cNvPr>
            <p:cNvGrpSpPr/>
            <p:nvPr/>
          </p:nvGrpSpPr>
          <p:grpSpPr>
            <a:xfrm>
              <a:off x="6705665" y="2501790"/>
              <a:ext cx="1981200" cy="736851"/>
              <a:chOff x="6705665" y="2628879"/>
              <a:chExt cx="1981200" cy="736851"/>
            </a:xfrm>
          </p:grpSpPr>
          <p:sp>
            <p:nvSpPr>
              <p:cNvPr id="95" name="Google Shape;316;p16">
                <a:extLst>
                  <a:ext uri="{FF2B5EF4-FFF2-40B4-BE49-F238E27FC236}">
                    <a16:creationId xmlns:a16="http://schemas.microsoft.com/office/drawing/2014/main" id="{8B41EDD1-8343-4A1A-B482-E4A42700C0C1}"/>
                  </a:ext>
                </a:extLst>
              </p:cNvPr>
              <p:cNvSpPr txBox="1"/>
              <p:nvPr/>
            </p:nvSpPr>
            <p:spPr>
              <a:xfrm>
                <a:off x="6705665" y="2628879"/>
                <a:ext cx="19812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n" sz="2800" b="1">
                    <a:latin typeface="Source Sans Pro" panose="020B0503030403020204" pitchFamily="34" charset="0"/>
                    <a:ea typeface="Source Sans Pro" panose="020B0503030403020204" pitchFamily="34" charset="0"/>
                    <a:cs typeface="+mj-cs"/>
                    <a:sym typeface="Fira Sans Extra Condensed"/>
                  </a:rPr>
                  <a:t>Future Work</a:t>
                </a:r>
                <a:endParaRPr sz="2800" b="1">
                  <a:latin typeface="Source Sans Pro" panose="020B0503030403020204" pitchFamily="34" charset="0"/>
                  <a:ea typeface="Source Sans Pro" panose="020B0503030403020204" pitchFamily="34" charset="0"/>
                  <a:cs typeface="+mj-cs"/>
                  <a:sym typeface="Fira Sans Extra Condensed"/>
                </a:endParaRPr>
              </a:p>
            </p:txBody>
          </p:sp>
          <p:sp>
            <p:nvSpPr>
              <p:cNvPr id="96" name="Google Shape;317;p16">
                <a:extLst>
                  <a:ext uri="{FF2B5EF4-FFF2-40B4-BE49-F238E27FC236}">
                    <a16:creationId xmlns:a16="http://schemas.microsoft.com/office/drawing/2014/main" id="{9DF77E35-F62D-482E-AE8E-3F5FACD6B256}"/>
                  </a:ext>
                </a:extLst>
              </p:cNvPr>
              <p:cNvSpPr txBox="1"/>
              <p:nvPr/>
            </p:nvSpPr>
            <p:spPr>
              <a:xfrm>
                <a:off x="6735728" y="3033930"/>
                <a:ext cx="1741986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70">
                  <a:buClr>
                    <a:srgbClr val="000000"/>
                  </a:buClr>
                </a:pPr>
                <a:r>
                  <a:rPr lang="es-MX" sz="2000" err="1">
                    <a:sym typeface="Roboto"/>
                  </a:rPr>
                  <a:t>What</a:t>
                </a:r>
                <a:r>
                  <a:rPr lang="es-MX" sz="2000">
                    <a:sym typeface="Roboto"/>
                  </a:rPr>
                  <a:t> are </a:t>
                </a:r>
                <a:r>
                  <a:rPr lang="es-MX" sz="2000" err="1">
                    <a:sym typeface="Roboto"/>
                  </a:rPr>
                  <a:t>the</a:t>
                </a:r>
                <a:r>
                  <a:rPr lang="es-MX" sz="2000">
                    <a:sym typeface="Roboto"/>
                  </a:rPr>
                  <a:t> </a:t>
                </a:r>
                <a:r>
                  <a:rPr lang="es-MX" sz="2000" err="1">
                    <a:sym typeface="Roboto"/>
                  </a:rPr>
                  <a:t>next</a:t>
                </a:r>
                <a:r>
                  <a:rPr lang="es-MX" sz="2000">
                    <a:sym typeface="Roboto"/>
                  </a:rPr>
                  <a:t> </a:t>
                </a:r>
                <a:r>
                  <a:rPr lang="es-MX" sz="2000" err="1">
                    <a:sym typeface="Roboto"/>
                  </a:rPr>
                  <a:t>steps</a:t>
                </a:r>
                <a:r>
                  <a:rPr lang="es-MX" sz="2000">
                    <a:sym typeface="Roboto"/>
                  </a:rPr>
                  <a:t>?</a:t>
                </a:r>
                <a:endParaRPr sz="2000">
                  <a:sym typeface="Roboto"/>
                </a:endParaRPr>
              </a:p>
            </p:txBody>
          </p:sp>
        </p:grpSp>
        <p:sp>
          <p:nvSpPr>
            <p:cNvPr id="94" name="Google Shape;318;p16">
              <a:extLst>
                <a:ext uri="{FF2B5EF4-FFF2-40B4-BE49-F238E27FC236}">
                  <a16:creationId xmlns:a16="http://schemas.microsoft.com/office/drawing/2014/main" id="{57B6CF50-2F6E-4752-A4D0-6EC134E32F10}"/>
                </a:ext>
              </a:extLst>
            </p:cNvPr>
            <p:cNvSpPr/>
            <p:nvPr/>
          </p:nvSpPr>
          <p:spPr>
            <a:xfrm>
              <a:off x="6033350" y="2527890"/>
              <a:ext cx="596100" cy="596100"/>
            </a:xfrm>
            <a:prstGeom prst="ellipse">
              <a:avLst/>
            </a:prstGeom>
            <a:solidFill>
              <a:srgbClr val="BBE55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70">
                <a:buClr>
                  <a:srgbClr val="000000"/>
                </a:buClr>
              </a:pPr>
              <a:r>
                <a:rPr lang="en" sz="2400" b="1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05</a:t>
              </a:r>
              <a:endParaRPr sz="2400" kern="0">
                <a:solidFill>
                  <a:srgbClr val="FFFFFF"/>
                </a:solidFill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29835813-AB7D-41B1-9223-B833F31DC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2" y="4984595"/>
            <a:ext cx="1843095" cy="187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999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9226A353-50C4-454F-8707-36ED5B10D29B}"/>
              </a:ext>
            </a:extLst>
          </p:cNvPr>
          <p:cNvSpPr txBox="1"/>
          <p:nvPr/>
        </p:nvSpPr>
        <p:spPr>
          <a:xfrm>
            <a:off x="1463187" y="2090172"/>
            <a:ext cx="958218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CO"/>
            </a:defPPr>
            <a:lvl1pPr algn="ctr">
              <a:defRPr sz="96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defRPr>
            </a:lvl1pPr>
          </a:lstStyle>
          <a:p>
            <a:r>
              <a:rPr lang="es-ES_tradnl" sz="8000" b="1"/>
              <a:t>1. </a:t>
            </a:r>
            <a:r>
              <a:rPr lang="es-ES_tradnl" sz="8000" b="1" err="1"/>
              <a:t>Motivation</a:t>
            </a:r>
            <a:endParaRPr lang="es-ES_tradnl" sz="8000" b="1"/>
          </a:p>
          <a:p>
            <a:r>
              <a:rPr lang="es-ES_tradnl" sz="4400" err="1"/>
              <a:t>Understanding</a:t>
            </a:r>
            <a:r>
              <a:rPr lang="es-ES_tradnl" sz="4400"/>
              <a:t> </a:t>
            </a:r>
            <a:r>
              <a:rPr lang="es-ES_tradnl" sz="4400" err="1"/>
              <a:t>Proton</a:t>
            </a:r>
            <a:r>
              <a:rPr lang="es-ES_tradnl" sz="4400"/>
              <a:t> </a:t>
            </a:r>
            <a:r>
              <a:rPr lang="en-US" sz="4400">
                <a:ea typeface="Source Sans Pro" panose="020B0503030403020204" pitchFamily="34" charset="0"/>
                <a:cs typeface="Roboto"/>
                <a:sym typeface="Roboto"/>
              </a:rPr>
              <a:t>Exchange Membrane (PEM) Fuel Cells </a:t>
            </a:r>
            <a:endParaRPr lang="es-ES_tradnl" sz="8000"/>
          </a:p>
        </p:txBody>
      </p:sp>
    </p:spTree>
    <p:extLst>
      <p:ext uri="{BB962C8B-B14F-4D97-AF65-F5344CB8AC3E}">
        <p14:creationId xmlns:p14="http://schemas.microsoft.com/office/powerpoint/2010/main" val="935929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225E-1643-7293-F815-B2BC1CB88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F47039-4BE2-3F32-D063-AA5431DE9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2497"/>
            <a:ext cx="9778340" cy="659416"/>
          </a:xfrm>
        </p:spPr>
        <p:txBody>
          <a:bodyPr/>
          <a:lstStyle/>
          <a:p>
            <a:pPr algn="ctr"/>
            <a:r>
              <a:rPr lang="en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Understanding PEMFCs through surrogates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980DA40-3643-DFD7-266B-C0417340C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smtClean="0">
                <a:solidFill>
                  <a:schemeClr val="bg1"/>
                </a:solidFill>
              </a:rPr>
              <a:pPr/>
              <a:t>4</a:t>
            </a:fld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2FEC257-1CDD-28C0-5DDA-254006B3DA96}"/>
              </a:ext>
            </a:extLst>
          </p:cNvPr>
          <p:cNvSpPr txBox="1"/>
          <p:nvPr/>
        </p:nvSpPr>
        <p:spPr>
          <a:xfrm>
            <a:off x="2716551" y="175686"/>
            <a:ext cx="761893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ángulo redondeado 6">
            <a:extLst>
              <a:ext uri="{FF2B5EF4-FFF2-40B4-BE49-F238E27FC236}">
                <a16:creationId xmlns:a16="http://schemas.microsoft.com/office/drawing/2014/main" id="{A68FDCDD-B6C9-DE95-517D-E7E07C6DBA6C}"/>
              </a:ext>
            </a:extLst>
          </p:cNvPr>
          <p:cNvSpPr/>
          <p:nvPr/>
        </p:nvSpPr>
        <p:spPr>
          <a:xfrm>
            <a:off x="3484118" y="175685"/>
            <a:ext cx="1710240" cy="307777"/>
          </a:xfrm>
          <a:prstGeom prst="roundRect">
            <a:avLst>
              <a:gd name="adj" fmla="val 50000"/>
            </a:avLst>
          </a:prstGeom>
          <a:solidFill>
            <a:srgbClr val="887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/>
              <a:t>1. </a:t>
            </a:r>
            <a:r>
              <a:rPr lang="es-ES_tradnl" err="1"/>
              <a:t>Motivation</a:t>
            </a:r>
            <a:endParaRPr lang="es-ES_tradnl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BC8C631A-CB28-A705-6B2A-6005C586EF86}"/>
              </a:ext>
            </a:extLst>
          </p:cNvPr>
          <p:cNvGrpSpPr/>
          <p:nvPr/>
        </p:nvGrpSpPr>
        <p:grpSpPr>
          <a:xfrm>
            <a:off x="586621" y="1666894"/>
            <a:ext cx="3454885" cy="4038848"/>
            <a:chOff x="8022295" y="2588963"/>
            <a:chExt cx="3460051" cy="4186647"/>
          </a:xfrm>
        </p:grpSpPr>
        <p:pic>
          <p:nvPicPr>
            <p:cNvPr id="7" name="Picture 3" descr="Proton-exchange membrane fuel cell - Wikipedia">
              <a:extLst>
                <a:ext uri="{FF2B5EF4-FFF2-40B4-BE49-F238E27FC236}">
                  <a16:creationId xmlns:a16="http://schemas.microsoft.com/office/drawing/2014/main" id="{8D9D7A67-7568-7DCB-50EF-E69882AECC4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67492" y="2588963"/>
              <a:ext cx="2969658" cy="31482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4D793138-40F3-7440-2CA6-91758F1E6191}"/>
                </a:ext>
              </a:extLst>
            </p:cNvPr>
            <p:cNvSpPr txBox="1"/>
            <p:nvPr/>
          </p:nvSpPr>
          <p:spPr>
            <a:xfrm>
              <a:off x="8022295" y="5914203"/>
              <a:ext cx="3460051" cy="8614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ea typeface="Source Sans Pro" panose="020B0503030403020204" pitchFamily="34" charset="0"/>
                </a:rPr>
                <a:t>Figure 1.</a:t>
              </a:r>
              <a:r>
                <a:rPr lang="en-US" sz="1200">
                  <a:ea typeface="Source Sans Pro" panose="020B0503030403020204" pitchFamily="34" charset="0"/>
                </a:rPr>
                <a:t> Operating principle of a PEM fuel cell: hydrogen and oxygen react to produce electricity and water. </a:t>
              </a:r>
            </a:p>
            <a:p>
              <a:r>
                <a:rPr lang="en-US" sz="1200" i="1">
                  <a:solidFill>
                    <a:schemeClr val="bg1">
                      <a:lumMod val="65000"/>
                    </a:schemeClr>
                  </a:solidFill>
                  <a:ea typeface="Source Sans Pro" panose="020B0503030403020204" pitchFamily="34" charset="0"/>
                </a:rPr>
                <a:t>Source: </a:t>
              </a:r>
              <a:r>
                <a:rPr lang="en-US" sz="1200">
                  <a:solidFill>
                    <a:schemeClr val="bg1">
                      <a:lumMod val="65000"/>
                    </a:schemeClr>
                  </a:solidFill>
                  <a:ea typeface="Source Sans Pro" panose="020B0503030403020204" pitchFamily="34" charset="0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Wikipedia - PEM fuel cell</a:t>
              </a:r>
              <a:endParaRPr lang="en" sz="1200">
                <a:solidFill>
                  <a:schemeClr val="bg1">
                    <a:lumMod val="65000"/>
                  </a:schemeClr>
                </a:solidFill>
                <a:ea typeface="Source Sans Pro" panose="020B0503030403020204" pitchFamily="34" charset="0"/>
              </a:endParaRPr>
            </a:p>
          </p:txBody>
        </p:sp>
      </p:grpSp>
      <p:grpSp>
        <p:nvGrpSpPr>
          <p:cNvPr id="20" name="Grupo 19">
            <a:extLst>
              <a:ext uri="{FF2B5EF4-FFF2-40B4-BE49-F238E27FC236}">
                <a16:creationId xmlns:a16="http://schemas.microsoft.com/office/drawing/2014/main" id="{5BD7BC5E-99B9-8CD0-C072-E23287287C48}"/>
              </a:ext>
            </a:extLst>
          </p:cNvPr>
          <p:cNvGrpSpPr/>
          <p:nvPr/>
        </p:nvGrpSpPr>
        <p:grpSpPr>
          <a:xfrm>
            <a:off x="7999036" y="1540946"/>
            <a:ext cx="3800080" cy="2877834"/>
            <a:chOff x="854725" y="1963496"/>
            <a:chExt cx="4762439" cy="2613439"/>
          </a:xfrm>
        </p:grpSpPr>
        <p:sp>
          <p:nvSpPr>
            <p:cNvPr id="10" name="Google Shape;1857;p37">
              <a:extLst>
                <a:ext uri="{FF2B5EF4-FFF2-40B4-BE49-F238E27FC236}">
                  <a16:creationId xmlns:a16="http://schemas.microsoft.com/office/drawing/2014/main" id="{298925F0-7F34-53C9-4BA4-0F41B003C13E}"/>
                </a:ext>
              </a:extLst>
            </p:cNvPr>
            <p:cNvSpPr/>
            <p:nvPr/>
          </p:nvSpPr>
          <p:spPr>
            <a:xfrm>
              <a:off x="867364" y="2223392"/>
              <a:ext cx="4720638" cy="2353543"/>
            </a:xfrm>
            <a:prstGeom prst="roundRect">
              <a:avLst>
                <a:gd name="adj" fmla="val 10643"/>
              </a:avLst>
            </a:prstGeom>
            <a:noFill/>
            <a:ln w="28575">
              <a:solidFill>
                <a:srgbClr val="8778F5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1" name="Google Shape;1859;p37">
              <a:extLst>
                <a:ext uri="{FF2B5EF4-FFF2-40B4-BE49-F238E27FC236}">
                  <a16:creationId xmlns:a16="http://schemas.microsoft.com/office/drawing/2014/main" id="{2479851C-0089-9599-3F0A-EAD394270DD8}"/>
                </a:ext>
              </a:extLst>
            </p:cNvPr>
            <p:cNvSpPr/>
            <p:nvPr/>
          </p:nvSpPr>
          <p:spPr>
            <a:xfrm>
              <a:off x="854725" y="1963496"/>
              <a:ext cx="4762439" cy="558476"/>
            </a:xfrm>
            <a:prstGeom prst="round2SameRect">
              <a:avLst>
                <a:gd name="adj1" fmla="val 40240"/>
                <a:gd name="adj2" fmla="val 0"/>
              </a:avLst>
            </a:prstGeom>
            <a:solidFill>
              <a:srgbClr val="8778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grpSp>
          <p:nvGrpSpPr>
            <p:cNvPr id="12" name="Google Shape;1862;p37">
              <a:extLst>
                <a:ext uri="{FF2B5EF4-FFF2-40B4-BE49-F238E27FC236}">
                  <a16:creationId xmlns:a16="http://schemas.microsoft.com/office/drawing/2014/main" id="{AD68CE28-58D6-034A-048A-9CF9373C6289}"/>
                </a:ext>
              </a:extLst>
            </p:cNvPr>
            <p:cNvGrpSpPr/>
            <p:nvPr/>
          </p:nvGrpSpPr>
          <p:grpSpPr>
            <a:xfrm>
              <a:off x="1052314" y="2077873"/>
              <a:ext cx="4361515" cy="2219485"/>
              <a:chOff x="688874" y="1376475"/>
              <a:chExt cx="2334158" cy="2233469"/>
            </a:xfrm>
          </p:grpSpPr>
          <p:sp>
            <p:nvSpPr>
              <p:cNvPr id="13" name="Google Shape;1863;p37">
                <a:extLst>
                  <a:ext uri="{FF2B5EF4-FFF2-40B4-BE49-F238E27FC236}">
                    <a16:creationId xmlns:a16="http://schemas.microsoft.com/office/drawing/2014/main" id="{29D39D0F-CA7A-2EE5-A7CF-A250A5601352}"/>
                  </a:ext>
                </a:extLst>
              </p:cNvPr>
              <p:cNvSpPr txBox="1"/>
              <p:nvPr/>
            </p:nvSpPr>
            <p:spPr>
              <a:xfrm>
                <a:off x="782632" y="1376475"/>
                <a:ext cx="2240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b="1" err="1">
                    <a:solidFill>
                      <a:schemeClr val="lt1"/>
                    </a:solidFill>
                    <a:latin typeface="+mj-lt"/>
                    <a:ea typeface="Source Sans Pro" panose="020B0503030403020204" pitchFamily="34" charset="0"/>
                    <a:cs typeface="Fira Sans Extra Condensed"/>
                    <a:sym typeface="Fira Sans Extra Condensed"/>
                  </a:rPr>
                  <a:t>Challenges</a:t>
                </a:r>
                <a:r>
                  <a:rPr lang="es-MX" b="1">
                    <a:solidFill>
                      <a:schemeClr val="lt1"/>
                    </a:solidFill>
                    <a:latin typeface="+mj-lt"/>
                    <a:ea typeface="Source Sans Pro" panose="020B0503030403020204" pitchFamily="34" charset="0"/>
                    <a:cs typeface="Fira Sans Extra Condensed"/>
                    <a:sym typeface="Fira Sans Extra Condensed"/>
                  </a:rPr>
                  <a:t> </a:t>
                </a:r>
                <a:r>
                  <a:rPr lang="es-MX" b="1" err="1">
                    <a:solidFill>
                      <a:schemeClr val="lt1"/>
                    </a:solidFill>
                    <a:latin typeface="+mj-lt"/>
                    <a:ea typeface="Source Sans Pro" panose="020B0503030403020204" pitchFamily="34" charset="0"/>
                    <a:cs typeface="Fira Sans Extra Condensed"/>
                    <a:sym typeface="Fira Sans Extra Condensed"/>
                  </a:rPr>
                  <a:t>with</a:t>
                </a:r>
                <a:r>
                  <a:rPr lang="es-MX" b="1">
                    <a:solidFill>
                      <a:schemeClr val="lt1"/>
                    </a:solidFill>
                    <a:latin typeface="+mj-lt"/>
                    <a:ea typeface="Source Sans Pro" panose="020B0503030403020204" pitchFamily="34" charset="0"/>
                    <a:cs typeface="Fira Sans Extra Condensed"/>
                    <a:sym typeface="Fira Sans Extra Condensed"/>
                  </a:rPr>
                  <a:t> </a:t>
                </a:r>
                <a:r>
                  <a:rPr lang="es-MX" b="1" err="1">
                    <a:solidFill>
                      <a:schemeClr val="lt1"/>
                    </a:solidFill>
                    <a:latin typeface="+mj-lt"/>
                    <a:ea typeface="Source Sans Pro" panose="020B0503030403020204" pitchFamily="34" charset="0"/>
                    <a:cs typeface="Fira Sans Extra Condensed"/>
                    <a:sym typeface="Fira Sans Extra Condensed"/>
                  </a:rPr>
                  <a:t>simulators</a:t>
                </a:r>
                <a:endParaRPr b="1">
                  <a:solidFill>
                    <a:schemeClr val="lt1"/>
                  </a:solidFill>
                  <a:latin typeface="+mj-lt"/>
                  <a:ea typeface="Source Sans Pro" panose="020B0503030403020204" pitchFamily="34" charset="0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19" name="Google Shape;1866;p37">
                <a:extLst>
                  <a:ext uri="{FF2B5EF4-FFF2-40B4-BE49-F238E27FC236}">
                    <a16:creationId xmlns:a16="http://schemas.microsoft.com/office/drawing/2014/main" id="{4A21895E-F886-D516-2D6A-3BB3FC97B691}"/>
                  </a:ext>
                </a:extLst>
              </p:cNvPr>
              <p:cNvSpPr txBox="1"/>
              <p:nvPr/>
            </p:nvSpPr>
            <p:spPr>
              <a:xfrm>
                <a:off x="688875" y="2329350"/>
                <a:ext cx="2240400" cy="1133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endParaRPr>
                  <a:latin typeface="+mj-lt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" name="Google Shape;1869;p37">
                <a:extLst>
                  <a:ext uri="{FF2B5EF4-FFF2-40B4-BE49-F238E27FC236}">
                    <a16:creationId xmlns:a16="http://schemas.microsoft.com/office/drawing/2014/main" id="{9682A930-9818-255B-6CAC-73ABBCA56ADB}"/>
                  </a:ext>
                </a:extLst>
              </p:cNvPr>
              <p:cNvSpPr txBox="1"/>
              <p:nvPr/>
            </p:nvSpPr>
            <p:spPr>
              <a:xfrm>
                <a:off x="688874" y="2002704"/>
                <a:ext cx="2334158" cy="1607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87325" indent="-187325"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Source Sans Pro"/>
                    <a:ea typeface="Source Sans Pro"/>
                  </a:rPr>
                  <a:t>PEMFCs’ complex behavior is only partially understood</a:t>
                </a:r>
              </a:p>
              <a:p>
                <a:pPr marL="187325" indent="-187325"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Source Sans Pro"/>
                    <a:ea typeface="Source Sans Pro"/>
                  </a:rPr>
                  <a:t>Modeled using </a:t>
                </a:r>
                <a:r>
                  <a:rPr lang="en-US" sz="1600">
                    <a:solidFill>
                      <a:srgbClr val="6350F2"/>
                    </a:solidFill>
                    <a:latin typeface="Source Sans Pro"/>
                    <a:ea typeface="Source Sans Pro"/>
                  </a:rPr>
                  <a:t>accurate but expensive </a:t>
                </a:r>
                <a:r>
                  <a:rPr lang="en-US" sz="1600">
                    <a:latin typeface="Source Sans Pro"/>
                    <a:ea typeface="Source Sans Pro"/>
                  </a:rPr>
                  <a:t>physics-based simulators </a:t>
                </a:r>
              </a:p>
              <a:p>
                <a:pPr marL="187325" indent="-187325">
                  <a:buFont typeface="Arial" panose="020B0604020202020204" pitchFamily="34" charset="0"/>
                  <a:buChar char="•"/>
                </a:pPr>
                <a:r>
                  <a:rPr lang="en-US" sz="1600">
                    <a:latin typeface="Source Sans Pro"/>
                    <a:ea typeface="Source Sans Pro"/>
                  </a:rPr>
                  <a:t>Models have </a:t>
                </a:r>
                <a:r>
                  <a:rPr lang="en-US" sz="1600">
                    <a:solidFill>
                      <a:srgbClr val="6350F2"/>
                    </a:solidFill>
                    <a:latin typeface="Source Sans Pro"/>
                    <a:ea typeface="Source Sans Pro"/>
                  </a:rPr>
                  <a:t>no closed form</a:t>
                </a:r>
                <a:r>
                  <a:rPr lang="en-US" sz="1600">
                    <a:latin typeface="Source Sans Pro"/>
                    <a:ea typeface="Source Sans Pro"/>
                  </a:rPr>
                  <a:t>: they rely on solving  complex DAEs</a:t>
                </a:r>
              </a:p>
            </p:txBody>
          </p:sp>
        </p:grp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58AEC0B-6460-C449-F9D2-69E67FCF4229}"/>
              </a:ext>
            </a:extLst>
          </p:cNvPr>
          <p:cNvSpPr txBox="1"/>
          <p:nvPr/>
        </p:nvSpPr>
        <p:spPr>
          <a:xfrm>
            <a:off x="4768742" y="4572076"/>
            <a:ext cx="659180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+mj-lt"/>
                <a:ea typeface="Source Sans Pro" panose="020B0503030403020204" pitchFamily="34" charset="0"/>
              </a:rPr>
              <a:t>Goal of project partners</a:t>
            </a:r>
          </a:p>
          <a:p>
            <a:r>
              <a:rPr lang="en-US">
                <a:latin typeface="+mj-lt"/>
                <a:ea typeface="Source Sans Pro" panose="020B0503030403020204" pitchFamily="34" charset="0"/>
              </a:rPr>
              <a:t>Perform </a:t>
            </a:r>
            <a:r>
              <a:rPr lang="en-US" i="1">
                <a:latin typeface="+mj-lt"/>
                <a:ea typeface="Source Sans Pro" panose="020B0503030403020204" pitchFamily="34" charset="0"/>
              </a:rPr>
              <a:t>model calibration </a:t>
            </a:r>
            <a:r>
              <a:rPr lang="en-US">
                <a:latin typeface="+mj-lt"/>
                <a:ea typeface="Source Sans Pro" panose="020B0503030403020204" pitchFamily="34" charset="0"/>
              </a:rPr>
              <a:t>using Fisher Information Matrix-based Optimal Experimental Design (FIM-OED)</a:t>
            </a:r>
          </a:p>
          <a:p>
            <a:endParaRPr lang="en-US">
              <a:latin typeface="+mj-lt"/>
              <a:ea typeface="Source Sans Pro" panose="020B0503030403020204" pitchFamily="34" charset="0"/>
            </a:endParaRPr>
          </a:p>
          <a:p>
            <a:r>
              <a:rPr lang="en-US">
                <a:latin typeface="+mj-lt"/>
                <a:ea typeface="Source Sans Pro" panose="020B0503030403020204" pitchFamily="34" charset="0"/>
              </a:rPr>
              <a:t>They need an analytically </a:t>
            </a:r>
            <a:r>
              <a:rPr lang="en-US" b="1" i="1">
                <a:solidFill>
                  <a:srgbClr val="AD7D0B"/>
                </a:solidFill>
                <a:latin typeface="+mj-lt"/>
                <a:ea typeface="Source Sans Pro" panose="020B0503030403020204" pitchFamily="34" charset="0"/>
              </a:rPr>
              <a:t>closed-form surrogate model </a:t>
            </a:r>
            <a:r>
              <a:rPr lang="en-US">
                <a:latin typeface="+mj-lt"/>
                <a:ea typeface="Source Sans Pro" panose="020B0503030403020204" pitchFamily="34" charset="0"/>
              </a:rPr>
              <a:t>that</a:t>
            </a:r>
          </a:p>
          <a:p>
            <a:pPr marL="742950" lvl="1" indent="-285750">
              <a:buFontTx/>
              <a:buChar char="→"/>
            </a:pPr>
            <a:r>
              <a:rPr lang="en-US">
                <a:latin typeface="+mj-lt"/>
                <a:ea typeface="Source Sans Pro" panose="020B0503030403020204" pitchFamily="34" charset="0"/>
              </a:rPr>
              <a:t>allows </a:t>
            </a:r>
            <a:r>
              <a:rPr lang="en-US">
                <a:solidFill>
                  <a:srgbClr val="8778F5"/>
                </a:solidFill>
                <a:latin typeface="+mj-lt"/>
                <a:ea typeface="Source Sans Pro" panose="020B0503030403020204" pitchFamily="34" charset="0"/>
              </a:rPr>
              <a:t>faster simulations</a:t>
            </a:r>
          </a:p>
          <a:p>
            <a:pPr marL="742950" lvl="1" indent="-285750">
              <a:buFontTx/>
              <a:buChar char="→"/>
            </a:pPr>
            <a:r>
              <a:rPr lang="en-US">
                <a:latin typeface="+mj-lt"/>
                <a:ea typeface="Source Sans Pro" panose="020B0503030403020204" pitchFamily="34" charset="0"/>
              </a:rPr>
              <a:t>enables exact </a:t>
            </a:r>
            <a:r>
              <a:rPr lang="en-US">
                <a:solidFill>
                  <a:srgbClr val="8778F5"/>
                </a:solidFill>
                <a:latin typeface="+mj-lt"/>
                <a:ea typeface="Source Sans Pro" panose="020B0503030403020204" pitchFamily="34" charset="0"/>
              </a:rPr>
              <a:t>partial derivative </a:t>
            </a:r>
            <a:r>
              <a:rPr lang="en-US">
                <a:latin typeface="+mj-lt"/>
                <a:ea typeface="Source Sans Pro" panose="020B0503030403020204" pitchFamily="34" charset="0"/>
              </a:rPr>
              <a:t>computation</a:t>
            </a: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91F167D-889E-3DF4-EC02-379965312BD4}"/>
              </a:ext>
            </a:extLst>
          </p:cNvPr>
          <p:cNvGrpSpPr/>
          <p:nvPr/>
        </p:nvGrpSpPr>
        <p:grpSpPr>
          <a:xfrm>
            <a:off x="3997324" y="1555064"/>
            <a:ext cx="3866469" cy="2901309"/>
            <a:chOff x="949533" y="1973259"/>
            <a:chExt cx="4845640" cy="2634758"/>
          </a:xfrm>
        </p:grpSpPr>
        <p:sp>
          <p:nvSpPr>
            <p:cNvPr id="14" name="Google Shape;1857;p37">
              <a:extLst>
                <a:ext uri="{FF2B5EF4-FFF2-40B4-BE49-F238E27FC236}">
                  <a16:creationId xmlns:a16="http://schemas.microsoft.com/office/drawing/2014/main" id="{A159F90A-E235-D4C6-CCDD-00B0561A4084}"/>
                </a:ext>
              </a:extLst>
            </p:cNvPr>
            <p:cNvSpPr/>
            <p:nvPr/>
          </p:nvSpPr>
          <p:spPr>
            <a:xfrm>
              <a:off x="957492" y="2232971"/>
              <a:ext cx="4815457" cy="2353543"/>
            </a:xfrm>
            <a:prstGeom prst="roundRect">
              <a:avLst>
                <a:gd name="adj" fmla="val 10213"/>
              </a:avLst>
            </a:prstGeom>
            <a:noFill/>
            <a:ln w="28575">
              <a:solidFill>
                <a:srgbClr val="FFB903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sp>
          <p:nvSpPr>
            <p:cNvPr id="15" name="Google Shape;1859;p37">
              <a:extLst>
                <a:ext uri="{FF2B5EF4-FFF2-40B4-BE49-F238E27FC236}">
                  <a16:creationId xmlns:a16="http://schemas.microsoft.com/office/drawing/2014/main" id="{F7C5E4EB-55F7-7DC8-02F6-430633EBABB6}"/>
                </a:ext>
              </a:extLst>
            </p:cNvPr>
            <p:cNvSpPr/>
            <p:nvPr/>
          </p:nvSpPr>
          <p:spPr>
            <a:xfrm>
              <a:off x="949533" y="1973259"/>
              <a:ext cx="4845640" cy="558476"/>
            </a:xfrm>
            <a:prstGeom prst="round2SameRect">
              <a:avLst>
                <a:gd name="adj1" fmla="val 44638"/>
                <a:gd name="adj2" fmla="val 0"/>
              </a:avLst>
            </a:prstGeom>
            <a:solidFill>
              <a:srgbClr val="FFB9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+mj-lt"/>
              </a:endParaRPr>
            </a:p>
          </p:txBody>
        </p:sp>
        <p:grpSp>
          <p:nvGrpSpPr>
            <p:cNvPr id="16" name="Google Shape;1862;p37">
              <a:extLst>
                <a:ext uri="{FF2B5EF4-FFF2-40B4-BE49-F238E27FC236}">
                  <a16:creationId xmlns:a16="http://schemas.microsoft.com/office/drawing/2014/main" id="{DC3D0957-B68D-DCEE-0E6F-C51D6981D35D}"/>
                </a:ext>
              </a:extLst>
            </p:cNvPr>
            <p:cNvGrpSpPr/>
            <p:nvPr/>
          </p:nvGrpSpPr>
          <p:grpSpPr>
            <a:xfrm>
              <a:off x="1052316" y="2077873"/>
              <a:ext cx="4535685" cy="2530144"/>
              <a:chOff x="688875" y="1376475"/>
              <a:chExt cx="2427369" cy="2546084"/>
            </a:xfrm>
          </p:grpSpPr>
          <p:sp>
            <p:nvSpPr>
              <p:cNvPr id="18" name="Google Shape;1863;p37">
                <a:extLst>
                  <a:ext uri="{FF2B5EF4-FFF2-40B4-BE49-F238E27FC236}">
                    <a16:creationId xmlns:a16="http://schemas.microsoft.com/office/drawing/2014/main" id="{8D3D1563-D467-A17E-C389-A1AB2ADA98DA}"/>
                  </a:ext>
                </a:extLst>
              </p:cNvPr>
              <p:cNvSpPr txBox="1"/>
              <p:nvPr/>
            </p:nvSpPr>
            <p:spPr>
              <a:xfrm>
                <a:off x="782632" y="1376475"/>
                <a:ext cx="2240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MX" b="1" err="1">
                    <a:solidFill>
                      <a:schemeClr val="lt1"/>
                    </a:solidFill>
                    <a:latin typeface="+mj-lt"/>
                    <a:ea typeface="Source Sans Pro" panose="020B0503030403020204" pitchFamily="34" charset="0"/>
                    <a:cs typeface="Fira Sans Extra Condensed"/>
                    <a:sym typeface="Fira Sans Extra Condensed"/>
                  </a:rPr>
                  <a:t>What</a:t>
                </a:r>
                <a:r>
                  <a:rPr lang="es-MX" b="1">
                    <a:solidFill>
                      <a:schemeClr val="lt1"/>
                    </a:solidFill>
                    <a:latin typeface="+mj-lt"/>
                    <a:ea typeface="Source Sans Pro" panose="020B0503030403020204" pitchFamily="34" charset="0"/>
                    <a:cs typeface="Fira Sans Extra Condensed"/>
                    <a:sym typeface="Fira Sans Extra Condensed"/>
                  </a:rPr>
                  <a:t> are PEM Fuel </a:t>
                </a:r>
                <a:r>
                  <a:rPr lang="es-MX" b="1" err="1">
                    <a:solidFill>
                      <a:schemeClr val="lt1"/>
                    </a:solidFill>
                    <a:latin typeface="+mj-lt"/>
                    <a:ea typeface="Source Sans Pro" panose="020B0503030403020204" pitchFamily="34" charset="0"/>
                    <a:cs typeface="Fira Sans Extra Condensed"/>
                    <a:sym typeface="Fira Sans Extra Condensed"/>
                  </a:rPr>
                  <a:t>Cells</a:t>
                </a:r>
                <a:r>
                  <a:rPr lang="es-MX" b="1">
                    <a:solidFill>
                      <a:schemeClr val="lt1"/>
                    </a:solidFill>
                    <a:latin typeface="+mj-lt"/>
                    <a:ea typeface="Source Sans Pro" panose="020B0503030403020204" pitchFamily="34" charset="0"/>
                    <a:cs typeface="Fira Sans Extra Condensed"/>
                    <a:sym typeface="Fira Sans Extra Condensed"/>
                  </a:rPr>
                  <a:t>?</a:t>
                </a:r>
                <a:endParaRPr b="1">
                  <a:solidFill>
                    <a:schemeClr val="lt1"/>
                  </a:solidFill>
                  <a:latin typeface="+mj-lt"/>
                  <a:ea typeface="Source Sans Pro" panose="020B0503030403020204" pitchFamily="34" charset="0"/>
                  <a:cs typeface="Fira Sans Extra Condensed"/>
                  <a:sym typeface="Fira Sans Extra Condensed"/>
                </a:endParaRPr>
              </a:p>
            </p:txBody>
          </p:sp>
          <p:sp>
            <p:nvSpPr>
              <p:cNvPr id="21" name="Google Shape;1866;p37">
                <a:extLst>
                  <a:ext uri="{FF2B5EF4-FFF2-40B4-BE49-F238E27FC236}">
                    <a16:creationId xmlns:a16="http://schemas.microsoft.com/office/drawing/2014/main" id="{0E5EBD9F-92E5-3CB3-822F-5DCEED619178}"/>
                  </a:ext>
                </a:extLst>
              </p:cNvPr>
              <p:cNvSpPr txBox="1"/>
              <p:nvPr/>
            </p:nvSpPr>
            <p:spPr>
              <a:xfrm>
                <a:off x="688875" y="2329350"/>
                <a:ext cx="2240400" cy="11334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320040" lvl="0" indent="-317500" algn="l" rtl="0">
                  <a:spcBef>
                    <a:spcPts val="0"/>
                  </a:spcBef>
                  <a:spcAft>
                    <a:spcPts val="0"/>
                  </a:spcAft>
                  <a:buSzPts val="1400"/>
                  <a:buFont typeface="Roboto"/>
                  <a:buChar char="●"/>
                </a:pPr>
                <a:endParaRPr>
                  <a:latin typeface="+mj-lt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23" name="Google Shape;1869;p37">
                <a:extLst>
                  <a:ext uri="{FF2B5EF4-FFF2-40B4-BE49-F238E27FC236}">
                    <a16:creationId xmlns:a16="http://schemas.microsoft.com/office/drawing/2014/main" id="{DC51810C-C2F8-0CD4-6FE3-C3001457CBCF}"/>
                  </a:ext>
                </a:extLst>
              </p:cNvPr>
              <p:cNvSpPr txBox="1"/>
              <p:nvPr/>
            </p:nvSpPr>
            <p:spPr>
              <a:xfrm>
                <a:off x="688875" y="1938931"/>
                <a:ext cx="2427369" cy="1983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2540">
                  <a:buSzPts val="1400"/>
                </a:pPr>
                <a:r>
                  <a:rPr lang="en-US" sz="1600">
                    <a:latin typeface="Source Sans Pro"/>
                    <a:ea typeface="Source Sans Pro"/>
                    <a:cs typeface="Roboto"/>
                    <a:sym typeface="Roboto"/>
                  </a:rPr>
                  <a:t>Proton Exchange Membrane (PEM) fuel cells (FC) </a:t>
                </a:r>
                <a:r>
                  <a:rPr lang="en-US" sz="1600" b="1">
                    <a:solidFill>
                      <a:srgbClr val="AD7D0B"/>
                    </a:solidFill>
                    <a:latin typeface="Source Sans Pro"/>
                    <a:ea typeface="Source Sans Pro"/>
                    <a:cs typeface="Roboto"/>
                    <a:sym typeface="Roboto"/>
                  </a:rPr>
                  <a:t>combine hydrogen and oxygen to produce electricity</a:t>
                </a:r>
                <a:r>
                  <a:rPr lang="en-US" sz="1600">
                    <a:latin typeface="Source Sans Pro"/>
                    <a:ea typeface="Source Sans Pro"/>
                    <a:cs typeface="Roboto"/>
                    <a:sym typeface="Roboto"/>
                  </a:rPr>
                  <a:t>, emitting only water as subproduct. </a:t>
                </a:r>
              </a:p>
              <a:p>
                <a:pPr marL="187325" marR="0" lvl="0" indent="-187325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"/>
                    <a:ea typeface="Source Sans Pro"/>
                  </a:rPr>
                  <a:t>Used in automotive and backup power systems</a:t>
                </a:r>
                <a:endParaRPr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Source Sans Pro"/>
                </a:endParaRPr>
              </a:p>
              <a:p>
                <a:pPr marL="187325" marR="0" lvl="0" indent="-187325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defRPr/>
                </a:pPr>
                <a:r>
                  <a:rPr kumimoji="0" 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"/>
                    <a:ea typeface="Source Sans Pro"/>
                  </a:rPr>
                  <a:t>Promising for a clean energy future!</a:t>
                </a:r>
                <a:endParaRPr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/>
                  <a:ea typeface="Source Sans Pr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8917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A89F-580B-5862-76C4-57789EE41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>
            <a:extLst>
              <a:ext uri="{FF2B5EF4-FFF2-40B4-BE49-F238E27FC236}">
                <a16:creationId xmlns:a16="http://schemas.microsoft.com/office/drawing/2014/main" id="{8F42111A-8AA1-F7EC-3F2F-3DB550DF7BE5}"/>
              </a:ext>
            </a:extLst>
          </p:cNvPr>
          <p:cNvSpPr txBox="1">
            <a:spLocks/>
          </p:cNvSpPr>
          <p:nvPr/>
        </p:nvSpPr>
        <p:spPr>
          <a:xfrm>
            <a:off x="838200" y="682497"/>
            <a:ext cx="9778340" cy="659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Project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goals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From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Sensitivities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to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Surrogates</a:t>
            </a:r>
            <a:endParaRPr lang="en" sz="32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EC266AD-390D-91AE-F959-21001BD3E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sz="1600" b="1" smtClean="0">
                <a:solidFill>
                  <a:schemeClr val="bg1"/>
                </a:solidFill>
              </a:rPr>
              <a:t>5</a:t>
            </a:fld>
            <a:endParaRPr lang="es-ES_tradnl" sz="1600" b="1">
              <a:solidFill>
                <a:schemeClr val="bg1"/>
              </a:solidFill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6190C4CC-3B9C-B059-2DAF-96BE654773D6}"/>
              </a:ext>
            </a:extLst>
          </p:cNvPr>
          <p:cNvGrpSpPr/>
          <p:nvPr/>
        </p:nvGrpSpPr>
        <p:grpSpPr>
          <a:xfrm>
            <a:off x="2006049" y="2588963"/>
            <a:ext cx="3578817" cy="3258328"/>
            <a:chOff x="2710494" y="2703225"/>
            <a:chExt cx="3578817" cy="3258328"/>
          </a:xfrm>
        </p:grpSpPr>
        <p:sp>
          <p:nvSpPr>
            <p:cNvPr id="17" name="Google Shape;2329;p45">
              <a:extLst>
                <a:ext uri="{FF2B5EF4-FFF2-40B4-BE49-F238E27FC236}">
                  <a16:creationId xmlns:a16="http://schemas.microsoft.com/office/drawing/2014/main" id="{58DDAC10-FFCF-CBBC-698E-C3747C07F075}"/>
                </a:ext>
              </a:extLst>
            </p:cNvPr>
            <p:cNvSpPr/>
            <p:nvPr/>
          </p:nvSpPr>
          <p:spPr>
            <a:xfrm>
              <a:off x="2710494" y="2902973"/>
              <a:ext cx="3578817" cy="3058580"/>
            </a:xfrm>
            <a:prstGeom prst="roundRect">
              <a:avLst>
                <a:gd name="adj" fmla="val 16667"/>
              </a:avLst>
            </a:prstGeom>
            <a:solidFill>
              <a:srgbClr val="008B2E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9" name="Google Shape;2335;p45">
              <a:extLst>
                <a:ext uri="{FF2B5EF4-FFF2-40B4-BE49-F238E27FC236}">
                  <a16:creationId xmlns:a16="http://schemas.microsoft.com/office/drawing/2014/main" id="{1B2A3B65-548D-1BE3-C992-4AE32C939C39}"/>
                </a:ext>
              </a:extLst>
            </p:cNvPr>
            <p:cNvSpPr txBox="1"/>
            <p:nvPr/>
          </p:nvSpPr>
          <p:spPr>
            <a:xfrm>
              <a:off x="2929640" y="3521969"/>
              <a:ext cx="3252868" cy="39942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sz="2400" b="1" kern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Sensitivity Analysis (SA)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0" name="Google Shape;2336;p45">
              <a:extLst>
                <a:ext uri="{FF2B5EF4-FFF2-40B4-BE49-F238E27FC236}">
                  <a16:creationId xmlns:a16="http://schemas.microsoft.com/office/drawing/2014/main" id="{A23194C1-66E0-4303-ABD7-80937B778DAF}"/>
                </a:ext>
              </a:extLst>
            </p:cNvPr>
            <p:cNvSpPr txBox="1"/>
            <p:nvPr/>
          </p:nvSpPr>
          <p:spPr>
            <a:xfrm>
              <a:off x="2969299" y="4010278"/>
              <a:ext cx="3061206" cy="16031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187325" marR="0" lvl="0" indent="-187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Identify and quantify the influence of input features on </a:t>
              </a:r>
              <a:r>
                <a:rPr kumimoji="0" lang="en-US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AlphaPEM</a:t>
              </a:r>
              <a:endPara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  <a:p>
              <a:pPr marL="187325" marR="0" lvl="0" indent="-187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Select a subset of most influential features</a:t>
              </a:r>
            </a:p>
          </p:txBody>
        </p:sp>
        <p:sp>
          <p:nvSpPr>
            <p:cNvPr id="21" name="Google Shape;2337;p45">
              <a:extLst>
                <a:ext uri="{FF2B5EF4-FFF2-40B4-BE49-F238E27FC236}">
                  <a16:creationId xmlns:a16="http://schemas.microsoft.com/office/drawing/2014/main" id="{50CC98E2-887C-CC24-615B-83873FEFF7AD}"/>
                </a:ext>
              </a:extLst>
            </p:cNvPr>
            <p:cNvSpPr/>
            <p:nvPr/>
          </p:nvSpPr>
          <p:spPr>
            <a:xfrm>
              <a:off x="4145314" y="2703225"/>
              <a:ext cx="821518" cy="569810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Fira Sans Extra Condensed"/>
                  <a:sym typeface="Fira Sans Extra Condensed"/>
                </a:rPr>
                <a:t>01</a:t>
              </a:r>
              <a:endParaRPr kumimoji="0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Fira Sans Extra Condensed"/>
                <a:sym typeface="Fira Sans Extra Condensed"/>
              </a:endParaRPr>
            </a:p>
          </p:txBody>
        </p:sp>
      </p:grpSp>
      <p:sp>
        <p:nvSpPr>
          <p:cNvPr id="132" name="CuadroTexto 131">
            <a:extLst>
              <a:ext uri="{FF2B5EF4-FFF2-40B4-BE49-F238E27FC236}">
                <a16:creationId xmlns:a16="http://schemas.microsoft.com/office/drawing/2014/main" id="{B63D9E8A-17BF-448E-1559-DF71FE18C8E1}"/>
              </a:ext>
            </a:extLst>
          </p:cNvPr>
          <p:cNvSpPr txBox="1"/>
          <p:nvPr/>
        </p:nvSpPr>
        <p:spPr>
          <a:xfrm>
            <a:off x="2006049" y="1487287"/>
            <a:ext cx="81249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b="1" err="1">
                <a:solidFill>
                  <a:srgbClr val="008B2E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Our</a:t>
            </a:r>
            <a:r>
              <a:rPr lang="es-CO" b="1">
                <a:solidFill>
                  <a:srgbClr val="008B2E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b="1" err="1">
                <a:solidFill>
                  <a:srgbClr val="008B2E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simulator</a:t>
            </a:r>
            <a:r>
              <a:rPr lang="es-CO" b="1">
                <a:solidFill>
                  <a:srgbClr val="008B2E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es-CO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is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an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i="1">
                <a:solidFill>
                  <a:srgbClr val="B278E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open </a:t>
            </a:r>
            <a:r>
              <a:rPr lang="es-CO" i="1" err="1">
                <a:solidFill>
                  <a:srgbClr val="B278E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source</a:t>
            </a:r>
            <a:r>
              <a:rPr lang="es-CO" i="1">
                <a:solidFill>
                  <a:srgbClr val="B278E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physics-based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PEM fuel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cell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that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uses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differential-algebraic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equations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(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DAEs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)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to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simulate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polarization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err="1">
                <a:latin typeface="Source Sans Pro" panose="020B0503030403020204" pitchFamily="34" charset="0"/>
                <a:ea typeface="Source Sans Pro" panose="020B0503030403020204" pitchFamily="34" charset="0"/>
              </a:rPr>
              <a:t>behavior</a:t>
            </a:r>
            <a:r>
              <a:rPr lang="es-CO"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  <a:endParaRPr lang="en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5" name="Google Shape;1860;p37">
            <a:extLst>
              <a:ext uri="{FF2B5EF4-FFF2-40B4-BE49-F238E27FC236}">
                <a16:creationId xmlns:a16="http://schemas.microsoft.com/office/drawing/2014/main" id="{FE4985E9-E622-B43E-6C6B-EFF934D664DD}"/>
              </a:ext>
            </a:extLst>
          </p:cNvPr>
          <p:cNvSpPr/>
          <p:nvPr/>
        </p:nvSpPr>
        <p:spPr bwMode="auto">
          <a:xfrm>
            <a:off x="10678645" y="1341913"/>
            <a:ext cx="1525279" cy="299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>
              <a:buClr>
                <a:srgbClr val="000000"/>
              </a:buClr>
              <a:defRPr/>
            </a:pPr>
            <a:r>
              <a:rPr lang="es-MX" sz="1050" kern="0">
                <a:solidFill>
                  <a:schemeClr val="bg1">
                    <a:lumMod val="50000"/>
                  </a:schemeClr>
                </a:solidFill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Gass et al, (2025)</a:t>
            </a:r>
            <a:endParaRPr sz="1050" kern="0">
              <a:solidFill>
                <a:schemeClr val="bg1">
                  <a:lumMod val="50000"/>
                </a:schemeClr>
              </a:solidFill>
              <a:cs typeface="Arial"/>
              <a:sym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37DF19A-77B4-509F-94C7-82D0617BE670}"/>
              </a:ext>
            </a:extLst>
          </p:cNvPr>
          <p:cNvSpPr txBox="1"/>
          <p:nvPr/>
        </p:nvSpPr>
        <p:spPr>
          <a:xfrm>
            <a:off x="2716551" y="175686"/>
            <a:ext cx="761893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Rectángulo redondeado 6">
            <a:extLst>
              <a:ext uri="{FF2B5EF4-FFF2-40B4-BE49-F238E27FC236}">
                <a16:creationId xmlns:a16="http://schemas.microsoft.com/office/drawing/2014/main" id="{1B263A71-B696-08E8-2B9E-7AD692B30794}"/>
              </a:ext>
            </a:extLst>
          </p:cNvPr>
          <p:cNvSpPr/>
          <p:nvPr/>
        </p:nvSpPr>
        <p:spPr>
          <a:xfrm>
            <a:off x="3484118" y="175685"/>
            <a:ext cx="1710240" cy="307777"/>
          </a:xfrm>
          <a:prstGeom prst="roundRect">
            <a:avLst>
              <a:gd name="adj" fmla="val 50000"/>
            </a:avLst>
          </a:prstGeom>
          <a:solidFill>
            <a:srgbClr val="887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/>
              <a:t>1. </a:t>
            </a:r>
            <a:r>
              <a:rPr lang="es-ES_tradnl" err="1"/>
              <a:t>Motivation</a:t>
            </a:r>
            <a:endParaRPr lang="es-ES_tradnl"/>
          </a:p>
        </p:txBody>
      </p:sp>
      <p:grpSp>
        <p:nvGrpSpPr>
          <p:cNvPr id="15" name="Grupo 14">
            <a:extLst>
              <a:ext uri="{FF2B5EF4-FFF2-40B4-BE49-F238E27FC236}">
                <a16:creationId xmlns:a16="http://schemas.microsoft.com/office/drawing/2014/main" id="{C31E3A2B-1519-A50F-DDF7-A42958FE7888}"/>
              </a:ext>
            </a:extLst>
          </p:cNvPr>
          <p:cNvGrpSpPr/>
          <p:nvPr/>
        </p:nvGrpSpPr>
        <p:grpSpPr>
          <a:xfrm>
            <a:off x="5843671" y="2588963"/>
            <a:ext cx="3578817" cy="3258328"/>
            <a:chOff x="7629840" y="2684868"/>
            <a:chExt cx="3578817" cy="3258328"/>
          </a:xfrm>
        </p:grpSpPr>
        <p:sp>
          <p:nvSpPr>
            <p:cNvPr id="22" name="Google Shape;2329;p45">
              <a:extLst>
                <a:ext uri="{FF2B5EF4-FFF2-40B4-BE49-F238E27FC236}">
                  <a16:creationId xmlns:a16="http://schemas.microsoft.com/office/drawing/2014/main" id="{27EF9D9C-5856-75A8-53B0-5F7A3578FF07}"/>
                </a:ext>
              </a:extLst>
            </p:cNvPr>
            <p:cNvSpPr/>
            <p:nvPr/>
          </p:nvSpPr>
          <p:spPr>
            <a:xfrm>
              <a:off x="7629840" y="2902972"/>
              <a:ext cx="3578817" cy="3040224"/>
            </a:xfrm>
            <a:prstGeom prst="roundRect">
              <a:avLst>
                <a:gd name="adj" fmla="val 16667"/>
              </a:avLst>
            </a:prstGeom>
            <a:solidFill>
              <a:srgbClr val="8027EA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400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24" name="Google Shape;2335;p45">
              <a:extLst>
                <a:ext uri="{FF2B5EF4-FFF2-40B4-BE49-F238E27FC236}">
                  <a16:creationId xmlns:a16="http://schemas.microsoft.com/office/drawing/2014/main" id="{BD5045C8-93DD-477D-231E-6AFC385E9E27}"/>
                </a:ext>
              </a:extLst>
            </p:cNvPr>
            <p:cNvSpPr txBox="1"/>
            <p:nvPr/>
          </p:nvSpPr>
          <p:spPr>
            <a:xfrm>
              <a:off x="7752814" y="3381672"/>
              <a:ext cx="3252868" cy="3547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MX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Surrogate Model (SM)</a:t>
              </a:r>
              <a:endParaRPr kumimoji="0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25" name="Google Shape;2336;p45">
              <a:extLst>
                <a:ext uri="{FF2B5EF4-FFF2-40B4-BE49-F238E27FC236}">
                  <a16:creationId xmlns:a16="http://schemas.microsoft.com/office/drawing/2014/main" id="{E044E44A-31FA-9DC3-5F74-7E859B3479C8}"/>
                </a:ext>
              </a:extLst>
            </p:cNvPr>
            <p:cNvSpPr txBox="1"/>
            <p:nvPr/>
          </p:nvSpPr>
          <p:spPr>
            <a:xfrm>
              <a:off x="7901162" y="3869981"/>
              <a:ext cx="3252868" cy="17787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kern="0">
                  <a:solidFill>
                    <a:srgbClr val="000000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Roboto"/>
                  <a:sym typeface="Roboto"/>
                </a:rPr>
                <a:t>Develop an analytically </a:t>
              </a:r>
            </a:p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-US" b="1" kern="0">
                  <a:solidFill>
                    <a:srgbClr val="8879F5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cs typeface="Roboto"/>
                  <a:sym typeface="Roboto"/>
                </a:rPr>
                <a:t>closed-form surrogate model</a:t>
              </a:r>
            </a:p>
            <a:p>
              <a:pPr marL="187325" marR="0" lvl="0" indent="-187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Uses key features from SA</a:t>
              </a:r>
            </a:p>
            <a:p>
              <a:pPr marL="187325" marR="0" lvl="0" indent="-187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Faithful to </a:t>
              </a:r>
              <a:r>
                <a: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AlphaPEM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  <a:p>
              <a:pPr marL="187325" marR="0" lvl="0" indent="-187325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Interpretable and computationally efficient</a:t>
              </a:r>
            </a:p>
          </p:txBody>
        </p:sp>
        <p:sp>
          <p:nvSpPr>
            <p:cNvPr id="14" name="Google Shape;2337;p45">
              <a:extLst>
                <a:ext uri="{FF2B5EF4-FFF2-40B4-BE49-F238E27FC236}">
                  <a16:creationId xmlns:a16="http://schemas.microsoft.com/office/drawing/2014/main" id="{6FF6AB11-6140-1BC3-8B3A-33EF881EA5F4}"/>
                </a:ext>
              </a:extLst>
            </p:cNvPr>
            <p:cNvSpPr/>
            <p:nvPr/>
          </p:nvSpPr>
          <p:spPr>
            <a:xfrm>
              <a:off x="9008489" y="2684868"/>
              <a:ext cx="821518" cy="569810"/>
            </a:xfrm>
            <a:prstGeom prst="roundRect">
              <a:avLst>
                <a:gd name="adj" fmla="val 50000"/>
              </a:avLst>
            </a:prstGeom>
            <a:solidFill>
              <a:srgbClr val="8778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2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Fira Sans Extra Condensed"/>
                  <a:sym typeface="Fira Sans Extra Condensed"/>
                </a:rPr>
                <a:t>02</a:t>
              </a:r>
              <a:endParaRPr kumimoji="0" sz="2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Fira Sans Extra Condensed"/>
                <a:sym typeface="Fira Sans Extra Condensed"/>
              </a:endParaRPr>
            </a:p>
          </p:txBody>
        </p:sp>
      </p:grpSp>
      <p:grpSp>
        <p:nvGrpSpPr>
          <p:cNvPr id="16" name="Google Shape;2338;p45">
            <a:extLst>
              <a:ext uri="{FF2B5EF4-FFF2-40B4-BE49-F238E27FC236}">
                <a16:creationId xmlns:a16="http://schemas.microsoft.com/office/drawing/2014/main" id="{F271FB72-C859-F1E1-CCC7-CBAA6553252F}"/>
              </a:ext>
            </a:extLst>
          </p:cNvPr>
          <p:cNvGrpSpPr/>
          <p:nvPr/>
        </p:nvGrpSpPr>
        <p:grpSpPr>
          <a:xfrm>
            <a:off x="9716631" y="4983411"/>
            <a:ext cx="1992022" cy="1807968"/>
            <a:chOff x="3124753" y="2097067"/>
            <a:chExt cx="2904005" cy="2684408"/>
          </a:xfrm>
        </p:grpSpPr>
        <p:sp>
          <p:nvSpPr>
            <p:cNvPr id="27" name="Google Shape;2339;p45">
              <a:extLst>
                <a:ext uri="{FF2B5EF4-FFF2-40B4-BE49-F238E27FC236}">
                  <a16:creationId xmlns:a16="http://schemas.microsoft.com/office/drawing/2014/main" id="{A8FC2205-726D-D903-29FB-F583280C1840}"/>
                </a:ext>
              </a:extLst>
            </p:cNvPr>
            <p:cNvSpPr/>
            <p:nvPr/>
          </p:nvSpPr>
          <p:spPr>
            <a:xfrm>
              <a:off x="3938625" y="4524375"/>
              <a:ext cx="1247700" cy="2571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" name="Google Shape;2340;p45">
              <a:extLst>
                <a:ext uri="{FF2B5EF4-FFF2-40B4-BE49-F238E27FC236}">
                  <a16:creationId xmlns:a16="http://schemas.microsoft.com/office/drawing/2014/main" id="{902268F6-C289-7AFF-424D-D558F618DFD7}"/>
                </a:ext>
              </a:extLst>
            </p:cNvPr>
            <p:cNvGrpSpPr/>
            <p:nvPr/>
          </p:nvGrpSpPr>
          <p:grpSpPr>
            <a:xfrm>
              <a:off x="3124761" y="2266506"/>
              <a:ext cx="1173544" cy="1038290"/>
              <a:chOff x="3039603" y="2097081"/>
              <a:chExt cx="1372888" cy="1214659"/>
            </a:xfrm>
          </p:grpSpPr>
          <p:sp>
            <p:nvSpPr>
              <p:cNvPr id="1048" name="Google Shape;2341;p45">
                <a:extLst>
                  <a:ext uri="{FF2B5EF4-FFF2-40B4-BE49-F238E27FC236}">
                    <a16:creationId xmlns:a16="http://schemas.microsoft.com/office/drawing/2014/main" id="{5762FF2D-B412-4667-6ECA-18026F16201C}"/>
                  </a:ext>
                </a:extLst>
              </p:cNvPr>
              <p:cNvSpPr/>
              <p:nvPr/>
            </p:nvSpPr>
            <p:spPr>
              <a:xfrm>
                <a:off x="3039603" y="2097081"/>
                <a:ext cx="1372888" cy="1214659"/>
              </a:xfrm>
              <a:custGeom>
                <a:avLst/>
                <a:gdLst/>
                <a:ahLst/>
                <a:cxnLst/>
                <a:rect l="l" t="t" r="r" b="b"/>
                <a:pathLst>
                  <a:path w="76484" h="67669" extrusionOk="0">
                    <a:moveTo>
                      <a:pt x="0" y="1"/>
                    </a:moveTo>
                    <a:lnTo>
                      <a:pt x="0" y="67668"/>
                    </a:lnTo>
                    <a:lnTo>
                      <a:pt x="76484" y="67668"/>
                    </a:lnTo>
                    <a:lnTo>
                      <a:pt x="764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Google Shape;2342;p45">
                <a:extLst>
                  <a:ext uri="{FF2B5EF4-FFF2-40B4-BE49-F238E27FC236}">
                    <a16:creationId xmlns:a16="http://schemas.microsoft.com/office/drawing/2014/main" id="{DD8D9026-8515-C665-DD61-DA2C1FCCF6A2}"/>
                  </a:ext>
                </a:extLst>
              </p:cNvPr>
              <p:cNvSpPr/>
              <p:nvPr/>
            </p:nvSpPr>
            <p:spPr>
              <a:xfrm>
                <a:off x="3527987" y="2179974"/>
                <a:ext cx="797142" cy="317212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72" extrusionOk="0">
                    <a:moveTo>
                      <a:pt x="565" y="0"/>
                    </a:moveTo>
                    <a:lnTo>
                      <a:pt x="447" y="14"/>
                    </a:lnTo>
                    <a:lnTo>
                      <a:pt x="342" y="53"/>
                    </a:lnTo>
                    <a:lnTo>
                      <a:pt x="250" y="105"/>
                    </a:lnTo>
                    <a:lnTo>
                      <a:pt x="171" y="171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65"/>
                    </a:lnTo>
                    <a:lnTo>
                      <a:pt x="1" y="17121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14"/>
                    </a:lnTo>
                    <a:lnTo>
                      <a:pt x="250" y="17580"/>
                    </a:lnTo>
                    <a:lnTo>
                      <a:pt x="342" y="17632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32"/>
                    </a:lnTo>
                    <a:lnTo>
                      <a:pt x="44159" y="17580"/>
                    </a:lnTo>
                    <a:lnTo>
                      <a:pt x="44238" y="17514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21"/>
                    </a:lnTo>
                    <a:lnTo>
                      <a:pt x="44408" y="565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71"/>
                    </a:lnTo>
                    <a:lnTo>
                      <a:pt x="44159" y="105"/>
                    </a:lnTo>
                    <a:lnTo>
                      <a:pt x="44067" y="53"/>
                    </a:lnTo>
                    <a:lnTo>
                      <a:pt x="43962" y="14"/>
                    </a:lnTo>
                    <a:lnTo>
                      <a:pt x="43844" y="0"/>
                    </a:lnTo>
                    <a:close/>
                  </a:path>
                </a:pathLst>
              </a:custGeom>
              <a:solidFill>
                <a:srgbClr val="BBE55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Google Shape;2343;p45">
                <a:extLst>
                  <a:ext uri="{FF2B5EF4-FFF2-40B4-BE49-F238E27FC236}">
                    <a16:creationId xmlns:a16="http://schemas.microsoft.com/office/drawing/2014/main" id="{30329DD5-6C3E-A2B0-C612-5AA2F3E8140B}"/>
                  </a:ext>
                </a:extLst>
              </p:cNvPr>
              <p:cNvSpPr/>
              <p:nvPr/>
            </p:nvSpPr>
            <p:spPr>
              <a:xfrm>
                <a:off x="3557425" y="2204943"/>
                <a:ext cx="214538" cy="33441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3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Google Shape;2344;p45">
                <a:extLst>
                  <a:ext uri="{FF2B5EF4-FFF2-40B4-BE49-F238E27FC236}">
                    <a16:creationId xmlns:a16="http://schemas.microsoft.com/office/drawing/2014/main" id="{09AB4B74-C21B-34A5-7D73-F4D50BA100C8}"/>
                  </a:ext>
                </a:extLst>
              </p:cNvPr>
              <p:cNvSpPr/>
              <p:nvPr/>
            </p:nvSpPr>
            <p:spPr>
              <a:xfrm>
                <a:off x="3557425" y="2256746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Google Shape;2345;p45">
                <a:extLst>
                  <a:ext uri="{FF2B5EF4-FFF2-40B4-BE49-F238E27FC236}">
                    <a16:creationId xmlns:a16="http://schemas.microsoft.com/office/drawing/2014/main" id="{F3C5BCBB-4EE1-EC97-93A2-8CDC999DDE79}"/>
                  </a:ext>
                </a:extLst>
              </p:cNvPr>
              <p:cNvSpPr/>
              <p:nvPr/>
            </p:nvSpPr>
            <p:spPr>
              <a:xfrm>
                <a:off x="3557425" y="2310435"/>
                <a:ext cx="721303" cy="162035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27" extrusionOk="0">
                    <a:moveTo>
                      <a:pt x="1" y="0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Google Shape;2346;p45">
                <a:extLst>
                  <a:ext uri="{FF2B5EF4-FFF2-40B4-BE49-F238E27FC236}">
                    <a16:creationId xmlns:a16="http://schemas.microsoft.com/office/drawing/2014/main" id="{40C359F6-9207-9995-0BD9-E89617D3E0D8}"/>
                  </a:ext>
                </a:extLst>
              </p:cNvPr>
              <p:cNvSpPr/>
              <p:nvPr/>
            </p:nvSpPr>
            <p:spPr>
              <a:xfrm>
                <a:off x="3527987" y="2544270"/>
                <a:ext cx="797142" cy="317212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72" extrusionOk="0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2"/>
                    </a:lnTo>
                    <a:lnTo>
                      <a:pt x="171" y="158"/>
                    </a:lnTo>
                    <a:lnTo>
                      <a:pt x="106" y="250"/>
                    </a:lnTo>
                    <a:lnTo>
                      <a:pt x="53" y="342"/>
                    </a:lnTo>
                    <a:lnTo>
                      <a:pt x="14" y="447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80"/>
                    </a:lnTo>
                    <a:lnTo>
                      <a:pt x="342" y="17619"/>
                    </a:lnTo>
                    <a:lnTo>
                      <a:pt x="447" y="17659"/>
                    </a:lnTo>
                    <a:lnTo>
                      <a:pt x="565" y="17672"/>
                    </a:lnTo>
                    <a:lnTo>
                      <a:pt x="43844" y="17672"/>
                    </a:lnTo>
                    <a:lnTo>
                      <a:pt x="43962" y="17659"/>
                    </a:lnTo>
                    <a:lnTo>
                      <a:pt x="44067" y="17619"/>
                    </a:lnTo>
                    <a:lnTo>
                      <a:pt x="44159" y="17580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47"/>
                    </a:lnTo>
                    <a:lnTo>
                      <a:pt x="44356" y="342"/>
                    </a:lnTo>
                    <a:lnTo>
                      <a:pt x="44317" y="250"/>
                    </a:lnTo>
                    <a:lnTo>
                      <a:pt x="44238" y="158"/>
                    </a:lnTo>
                    <a:lnTo>
                      <a:pt x="44159" y="92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rgbClr val="FFB90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2347;p45">
                <a:extLst>
                  <a:ext uri="{FF2B5EF4-FFF2-40B4-BE49-F238E27FC236}">
                    <a16:creationId xmlns:a16="http://schemas.microsoft.com/office/drawing/2014/main" id="{EE40A3BB-508B-FDD5-F13F-F8CAD4B758A0}"/>
                  </a:ext>
                </a:extLst>
              </p:cNvPr>
              <p:cNvSpPr/>
              <p:nvPr/>
            </p:nvSpPr>
            <p:spPr>
              <a:xfrm>
                <a:off x="3557425" y="2569005"/>
                <a:ext cx="214538" cy="33441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3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Google Shape;2348;p45">
                <a:extLst>
                  <a:ext uri="{FF2B5EF4-FFF2-40B4-BE49-F238E27FC236}">
                    <a16:creationId xmlns:a16="http://schemas.microsoft.com/office/drawing/2014/main" id="{2933E31B-F11D-547F-D028-1BF19DA99087}"/>
                  </a:ext>
                </a:extLst>
              </p:cNvPr>
              <p:cNvSpPr/>
              <p:nvPr/>
            </p:nvSpPr>
            <p:spPr>
              <a:xfrm>
                <a:off x="3557425" y="2620808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Google Shape;2349;p45">
                <a:extLst>
                  <a:ext uri="{FF2B5EF4-FFF2-40B4-BE49-F238E27FC236}">
                    <a16:creationId xmlns:a16="http://schemas.microsoft.com/office/drawing/2014/main" id="{CAE2C958-C56E-1582-0CEA-1455D253C023}"/>
                  </a:ext>
                </a:extLst>
              </p:cNvPr>
              <p:cNvSpPr/>
              <p:nvPr/>
            </p:nvSpPr>
            <p:spPr>
              <a:xfrm>
                <a:off x="3557425" y="2674730"/>
                <a:ext cx="721303" cy="161801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14" extrusionOk="0">
                    <a:moveTo>
                      <a:pt x="1" y="1"/>
                    </a:moveTo>
                    <a:lnTo>
                      <a:pt x="1" y="9013"/>
                    </a:lnTo>
                    <a:lnTo>
                      <a:pt x="40184" y="9013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2350;p45">
                <a:extLst>
                  <a:ext uri="{FF2B5EF4-FFF2-40B4-BE49-F238E27FC236}">
                    <a16:creationId xmlns:a16="http://schemas.microsoft.com/office/drawing/2014/main" id="{566C36C1-A077-A18E-0E0D-314D2521D8C9}"/>
                  </a:ext>
                </a:extLst>
              </p:cNvPr>
              <p:cNvSpPr/>
              <p:nvPr/>
            </p:nvSpPr>
            <p:spPr>
              <a:xfrm>
                <a:off x="3527987" y="2908565"/>
                <a:ext cx="797142" cy="316979"/>
              </a:xfrm>
              <a:custGeom>
                <a:avLst/>
                <a:gdLst/>
                <a:ahLst/>
                <a:cxnLst/>
                <a:rect l="l" t="t" r="r" b="b"/>
                <a:pathLst>
                  <a:path w="44409" h="17659" extrusionOk="0">
                    <a:moveTo>
                      <a:pt x="565" y="1"/>
                    </a:moveTo>
                    <a:lnTo>
                      <a:pt x="447" y="14"/>
                    </a:lnTo>
                    <a:lnTo>
                      <a:pt x="342" y="40"/>
                    </a:lnTo>
                    <a:lnTo>
                      <a:pt x="250" y="93"/>
                    </a:lnTo>
                    <a:lnTo>
                      <a:pt x="171" y="158"/>
                    </a:lnTo>
                    <a:lnTo>
                      <a:pt x="106" y="237"/>
                    </a:lnTo>
                    <a:lnTo>
                      <a:pt x="53" y="342"/>
                    </a:lnTo>
                    <a:lnTo>
                      <a:pt x="14" y="434"/>
                    </a:lnTo>
                    <a:lnTo>
                      <a:pt x="1" y="552"/>
                    </a:lnTo>
                    <a:lnTo>
                      <a:pt x="1" y="17108"/>
                    </a:lnTo>
                    <a:lnTo>
                      <a:pt x="14" y="17226"/>
                    </a:lnTo>
                    <a:lnTo>
                      <a:pt x="53" y="17331"/>
                    </a:lnTo>
                    <a:lnTo>
                      <a:pt x="106" y="17423"/>
                    </a:lnTo>
                    <a:lnTo>
                      <a:pt x="171" y="17501"/>
                    </a:lnTo>
                    <a:lnTo>
                      <a:pt x="250" y="17567"/>
                    </a:lnTo>
                    <a:lnTo>
                      <a:pt x="342" y="17620"/>
                    </a:lnTo>
                    <a:lnTo>
                      <a:pt x="447" y="17659"/>
                    </a:lnTo>
                    <a:lnTo>
                      <a:pt x="43962" y="17659"/>
                    </a:lnTo>
                    <a:lnTo>
                      <a:pt x="44067" y="17620"/>
                    </a:lnTo>
                    <a:lnTo>
                      <a:pt x="44159" y="17567"/>
                    </a:lnTo>
                    <a:lnTo>
                      <a:pt x="44238" y="17501"/>
                    </a:lnTo>
                    <a:lnTo>
                      <a:pt x="44317" y="17423"/>
                    </a:lnTo>
                    <a:lnTo>
                      <a:pt x="44356" y="17331"/>
                    </a:lnTo>
                    <a:lnTo>
                      <a:pt x="44395" y="17226"/>
                    </a:lnTo>
                    <a:lnTo>
                      <a:pt x="44408" y="17108"/>
                    </a:lnTo>
                    <a:lnTo>
                      <a:pt x="44408" y="552"/>
                    </a:lnTo>
                    <a:lnTo>
                      <a:pt x="44395" y="434"/>
                    </a:lnTo>
                    <a:lnTo>
                      <a:pt x="44356" y="342"/>
                    </a:lnTo>
                    <a:lnTo>
                      <a:pt x="44317" y="237"/>
                    </a:lnTo>
                    <a:lnTo>
                      <a:pt x="44238" y="158"/>
                    </a:lnTo>
                    <a:lnTo>
                      <a:pt x="44159" y="93"/>
                    </a:lnTo>
                    <a:lnTo>
                      <a:pt x="44067" y="40"/>
                    </a:lnTo>
                    <a:lnTo>
                      <a:pt x="43962" y="14"/>
                    </a:lnTo>
                    <a:lnTo>
                      <a:pt x="43844" y="1"/>
                    </a:lnTo>
                    <a:close/>
                  </a:path>
                </a:pathLst>
              </a:custGeom>
              <a:solidFill>
                <a:srgbClr val="8879F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Google Shape;2351;p45">
                <a:extLst>
                  <a:ext uri="{FF2B5EF4-FFF2-40B4-BE49-F238E27FC236}">
                    <a16:creationId xmlns:a16="http://schemas.microsoft.com/office/drawing/2014/main" id="{636F2558-AA1F-9360-06A2-DF8D6B3B1143}"/>
                  </a:ext>
                </a:extLst>
              </p:cNvPr>
              <p:cNvSpPr/>
              <p:nvPr/>
            </p:nvSpPr>
            <p:spPr>
              <a:xfrm>
                <a:off x="3557425" y="2933300"/>
                <a:ext cx="214538" cy="3345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1864" extrusionOk="0">
                    <a:moveTo>
                      <a:pt x="1" y="0"/>
                    </a:moveTo>
                    <a:lnTo>
                      <a:pt x="1" y="1863"/>
                    </a:lnTo>
                    <a:lnTo>
                      <a:pt x="11952" y="1863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Google Shape;2352;p45">
                <a:extLst>
                  <a:ext uri="{FF2B5EF4-FFF2-40B4-BE49-F238E27FC236}">
                    <a16:creationId xmlns:a16="http://schemas.microsoft.com/office/drawing/2014/main" id="{1013B76B-D0A1-7192-64E8-0D9A8DBDDD53}"/>
                  </a:ext>
                </a:extLst>
              </p:cNvPr>
              <p:cNvSpPr/>
              <p:nvPr/>
            </p:nvSpPr>
            <p:spPr>
              <a:xfrm>
                <a:off x="3557425" y="2985104"/>
                <a:ext cx="214538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11952" h="932" extrusionOk="0">
                    <a:moveTo>
                      <a:pt x="1" y="0"/>
                    </a:moveTo>
                    <a:lnTo>
                      <a:pt x="1" y="932"/>
                    </a:lnTo>
                    <a:lnTo>
                      <a:pt x="11952" y="932"/>
                    </a:lnTo>
                    <a:lnTo>
                      <a:pt x="1195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Google Shape;2353;p45">
                <a:extLst>
                  <a:ext uri="{FF2B5EF4-FFF2-40B4-BE49-F238E27FC236}">
                    <a16:creationId xmlns:a16="http://schemas.microsoft.com/office/drawing/2014/main" id="{4B282B2C-D6EF-C485-0F7A-A935802FDD54}"/>
                  </a:ext>
                </a:extLst>
              </p:cNvPr>
              <p:cNvSpPr/>
              <p:nvPr/>
            </p:nvSpPr>
            <p:spPr>
              <a:xfrm>
                <a:off x="3557425" y="3038792"/>
                <a:ext cx="721303" cy="162035"/>
              </a:xfrm>
              <a:custGeom>
                <a:avLst/>
                <a:gdLst/>
                <a:ahLst/>
                <a:cxnLst/>
                <a:rect l="l" t="t" r="r" b="b"/>
                <a:pathLst>
                  <a:path w="40184" h="9027" extrusionOk="0">
                    <a:moveTo>
                      <a:pt x="1" y="1"/>
                    </a:moveTo>
                    <a:lnTo>
                      <a:pt x="1" y="9026"/>
                    </a:lnTo>
                    <a:lnTo>
                      <a:pt x="40184" y="9026"/>
                    </a:lnTo>
                    <a:lnTo>
                      <a:pt x="4018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Google Shape;2354;p45">
                <a:extLst>
                  <a:ext uri="{FF2B5EF4-FFF2-40B4-BE49-F238E27FC236}">
                    <a16:creationId xmlns:a16="http://schemas.microsoft.com/office/drawing/2014/main" id="{3E71B28F-469B-424B-0948-19FE08FA0477}"/>
                  </a:ext>
                </a:extLst>
              </p:cNvPr>
              <p:cNvSpPr/>
              <p:nvPr/>
            </p:nvSpPr>
            <p:spPr>
              <a:xfrm>
                <a:off x="3294386" y="2851825"/>
                <a:ext cx="107395" cy="48285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0" extrusionOk="0">
                    <a:moveTo>
                      <a:pt x="1339" y="0"/>
                    </a:moveTo>
                    <a:lnTo>
                      <a:pt x="1208" y="13"/>
                    </a:lnTo>
                    <a:lnTo>
                      <a:pt x="1076" y="26"/>
                    </a:lnTo>
                    <a:lnTo>
                      <a:pt x="945" y="66"/>
                    </a:lnTo>
                    <a:lnTo>
                      <a:pt x="827" y="105"/>
                    </a:lnTo>
                    <a:lnTo>
                      <a:pt x="709" y="157"/>
                    </a:lnTo>
                    <a:lnTo>
                      <a:pt x="591" y="223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5"/>
                    </a:lnTo>
                    <a:lnTo>
                      <a:pt x="224" y="590"/>
                    </a:lnTo>
                    <a:lnTo>
                      <a:pt x="158" y="708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7"/>
                    </a:lnTo>
                    <a:lnTo>
                      <a:pt x="1" y="1351"/>
                    </a:lnTo>
                    <a:lnTo>
                      <a:pt x="1" y="1482"/>
                    </a:lnTo>
                    <a:lnTo>
                      <a:pt x="27" y="1614"/>
                    </a:lnTo>
                    <a:lnTo>
                      <a:pt x="53" y="1745"/>
                    </a:lnTo>
                    <a:lnTo>
                      <a:pt x="106" y="1863"/>
                    </a:lnTo>
                    <a:lnTo>
                      <a:pt x="158" y="1981"/>
                    </a:lnTo>
                    <a:lnTo>
                      <a:pt x="224" y="2099"/>
                    </a:lnTo>
                    <a:lnTo>
                      <a:pt x="302" y="2204"/>
                    </a:lnTo>
                    <a:lnTo>
                      <a:pt x="394" y="2296"/>
                    </a:lnTo>
                    <a:lnTo>
                      <a:pt x="486" y="2388"/>
                    </a:lnTo>
                    <a:lnTo>
                      <a:pt x="591" y="2466"/>
                    </a:lnTo>
                    <a:lnTo>
                      <a:pt x="709" y="2532"/>
                    </a:lnTo>
                    <a:lnTo>
                      <a:pt x="827" y="2584"/>
                    </a:lnTo>
                    <a:lnTo>
                      <a:pt x="945" y="2624"/>
                    </a:lnTo>
                    <a:lnTo>
                      <a:pt x="1076" y="2663"/>
                    </a:lnTo>
                    <a:lnTo>
                      <a:pt x="1208" y="2689"/>
                    </a:lnTo>
                    <a:lnTo>
                      <a:pt x="4776" y="2689"/>
                    </a:lnTo>
                    <a:lnTo>
                      <a:pt x="4907" y="2663"/>
                    </a:lnTo>
                    <a:lnTo>
                      <a:pt x="5038" y="2624"/>
                    </a:lnTo>
                    <a:lnTo>
                      <a:pt x="5156" y="2584"/>
                    </a:lnTo>
                    <a:lnTo>
                      <a:pt x="5275" y="2532"/>
                    </a:lnTo>
                    <a:lnTo>
                      <a:pt x="5393" y="2466"/>
                    </a:lnTo>
                    <a:lnTo>
                      <a:pt x="5498" y="2388"/>
                    </a:lnTo>
                    <a:lnTo>
                      <a:pt x="5589" y="2296"/>
                    </a:lnTo>
                    <a:lnTo>
                      <a:pt x="5681" y="2204"/>
                    </a:lnTo>
                    <a:lnTo>
                      <a:pt x="5747" y="2099"/>
                    </a:lnTo>
                    <a:lnTo>
                      <a:pt x="5826" y="1981"/>
                    </a:lnTo>
                    <a:lnTo>
                      <a:pt x="5878" y="1863"/>
                    </a:lnTo>
                    <a:lnTo>
                      <a:pt x="5917" y="1745"/>
                    </a:lnTo>
                    <a:lnTo>
                      <a:pt x="5957" y="1614"/>
                    </a:lnTo>
                    <a:lnTo>
                      <a:pt x="5970" y="1482"/>
                    </a:lnTo>
                    <a:lnTo>
                      <a:pt x="5983" y="1351"/>
                    </a:lnTo>
                    <a:lnTo>
                      <a:pt x="5970" y="1207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8"/>
                    </a:lnTo>
                    <a:lnTo>
                      <a:pt x="5747" y="590"/>
                    </a:lnTo>
                    <a:lnTo>
                      <a:pt x="5681" y="485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3"/>
                    </a:lnTo>
                    <a:lnTo>
                      <a:pt x="5275" y="157"/>
                    </a:lnTo>
                    <a:lnTo>
                      <a:pt x="5156" y="105"/>
                    </a:lnTo>
                    <a:lnTo>
                      <a:pt x="5038" y="66"/>
                    </a:lnTo>
                    <a:lnTo>
                      <a:pt x="4907" y="26"/>
                    </a:lnTo>
                    <a:lnTo>
                      <a:pt x="4776" y="13"/>
                    </a:lnTo>
                    <a:lnTo>
                      <a:pt x="463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Google Shape;2355;p45">
                <a:extLst>
                  <a:ext uri="{FF2B5EF4-FFF2-40B4-BE49-F238E27FC236}">
                    <a16:creationId xmlns:a16="http://schemas.microsoft.com/office/drawing/2014/main" id="{C4F1F5DD-C0BF-1992-656F-C5C346ABB9B3}"/>
                  </a:ext>
                </a:extLst>
              </p:cNvPr>
              <p:cNvSpPr/>
              <p:nvPr/>
            </p:nvSpPr>
            <p:spPr>
              <a:xfrm>
                <a:off x="3300040" y="2857946"/>
                <a:ext cx="36044" cy="36044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08" extrusionOk="0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46"/>
                    </a:lnTo>
                    <a:lnTo>
                      <a:pt x="119" y="525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00"/>
                    </a:lnTo>
                    <a:lnTo>
                      <a:pt x="1" y="905"/>
                    </a:lnTo>
                    <a:lnTo>
                      <a:pt x="1" y="1010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3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84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94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94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84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1010"/>
                    </a:lnTo>
                    <a:lnTo>
                      <a:pt x="2008" y="905"/>
                    </a:lnTo>
                    <a:lnTo>
                      <a:pt x="1995" y="800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25"/>
                    </a:lnTo>
                    <a:lnTo>
                      <a:pt x="1837" y="446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2356;p45">
                <a:extLst>
                  <a:ext uri="{FF2B5EF4-FFF2-40B4-BE49-F238E27FC236}">
                    <a16:creationId xmlns:a16="http://schemas.microsoft.com/office/drawing/2014/main" id="{3C75C4C6-CE4B-98BD-2348-3BA1560AFE5B}"/>
                  </a:ext>
                </a:extLst>
              </p:cNvPr>
              <p:cNvSpPr/>
              <p:nvPr/>
            </p:nvSpPr>
            <p:spPr>
              <a:xfrm>
                <a:off x="3304043" y="2861949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30"/>
                    </a:lnTo>
                    <a:lnTo>
                      <a:pt x="1" y="695"/>
                    </a:lnTo>
                    <a:lnTo>
                      <a:pt x="1" y="787"/>
                    </a:lnTo>
                    <a:lnTo>
                      <a:pt x="1" y="866"/>
                    </a:lnTo>
                    <a:lnTo>
                      <a:pt x="14" y="932"/>
                    </a:lnTo>
                    <a:lnTo>
                      <a:pt x="66" y="1089"/>
                    </a:lnTo>
                    <a:lnTo>
                      <a:pt x="132" y="1220"/>
                    </a:lnTo>
                    <a:lnTo>
                      <a:pt x="224" y="1338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61"/>
                    </a:lnTo>
                    <a:lnTo>
                      <a:pt x="866" y="1561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38"/>
                    </a:lnTo>
                    <a:lnTo>
                      <a:pt x="1431" y="1220"/>
                    </a:lnTo>
                    <a:lnTo>
                      <a:pt x="1496" y="1089"/>
                    </a:lnTo>
                    <a:lnTo>
                      <a:pt x="1549" y="932"/>
                    </a:lnTo>
                    <a:lnTo>
                      <a:pt x="1562" y="866"/>
                    </a:lnTo>
                    <a:lnTo>
                      <a:pt x="1562" y="787"/>
                    </a:lnTo>
                    <a:lnTo>
                      <a:pt x="1562" y="695"/>
                    </a:lnTo>
                    <a:lnTo>
                      <a:pt x="1549" y="630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Google Shape;2357;p45">
                <a:extLst>
                  <a:ext uri="{FF2B5EF4-FFF2-40B4-BE49-F238E27FC236}">
                    <a16:creationId xmlns:a16="http://schemas.microsoft.com/office/drawing/2014/main" id="{8261F2A8-3B59-C765-D78C-CDDBA9A29491}"/>
                  </a:ext>
                </a:extLst>
              </p:cNvPr>
              <p:cNvSpPr/>
              <p:nvPr/>
            </p:nvSpPr>
            <p:spPr>
              <a:xfrm>
                <a:off x="3294386" y="2916804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71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99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9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9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99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71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Google Shape;2358;p45">
                <a:extLst>
                  <a:ext uri="{FF2B5EF4-FFF2-40B4-BE49-F238E27FC236}">
                    <a16:creationId xmlns:a16="http://schemas.microsoft.com/office/drawing/2014/main" id="{AE5A6483-8A38-D951-57D4-180706E6615D}"/>
                  </a:ext>
                </a:extLst>
              </p:cNvPr>
              <p:cNvSpPr/>
              <p:nvPr/>
            </p:nvSpPr>
            <p:spPr>
              <a:xfrm>
                <a:off x="3360083" y="2922925"/>
                <a:ext cx="36062" cy="36295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22" extrusionOk="0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2"/>
                    </a:lnTo>
                    <a:lnTo>
                      <a:pt x="368" y="237"/>
                    </a:lnTo>
                    <a:lnTo>
                      <a:pt x="290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8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08"/>
                    </a:lnTo>
                    <a:lnTo>
                      <a:pt x="40" y="1313"/>
                    </a:lnTo>
                    <a:lnTo>
                      <a:pt x="80" y="1405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90" y="1720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20"/>
                    </a:lnTo>
                    <a:lnTo>
                      <a:pt x="1785" y="1654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405"/>
                    </a:lnTo>
                    <a:lnTo>
                      <a:pt x="1969" y="1313"/>
                    </a:lnTo>
                    <a:lnTo>
                      <a:pt x="1995" y="1208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8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1" y="237"/>
                    </a:lnTo>
                    <a:lnTo>
                      <a:pt x="1562" y="172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Google Shape;2359;p45">
                <a:extLst>
                  <a:ext uri="{FF2B5EF4-FFF2-40B4-BE49-F238E27FC236}">
                    <a16:creationId xmlns:a16="http://schemas.microsoft.com/office/drawing/2014/main" id="{B767C7B0-0128-79DF-3DB7-567917BCD5BB}"/>
                  </a:ext>
                </a:extLst>
              </p:cNvPr>
              <p:cNvSpPr/>
              <p:nvPr/>
            </p:nvSpPr>
            <p:spPr>
              <a:xfrm>
                <a:off x="3364085" y="2926928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27"/>
                    </a:lnTo>
                    <a:lnTo>
                      <a:pt x="473" y="67"/>
                    </a:lnTo>
                    <a:lnTo>
                      <a:pt x="342" y="145"/>
                    </a:lnTo>
                    <a:lnTo>
                      <a:pt x="224" y="237"/>
                    </a:lnTo>
                    <a:lnTo>
                      <a:pt x="132" y="355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6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510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510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6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55"/>
                    </a:lnTo>
                    <a:lnTo>
                      <a:pt x="1326" y="237"/>
                    </a:lnTo>
                    <a:lnTo>
                      <a:pt x="1221" y="145"/>
                    </a:lnTo>
                    <a:lnTo>
                      <a:pt x="1090" y="67"/>
                    </a:lnTo>
                    <a:lnTo>
                      <a:pt x="932" y="27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Google Shape;2360;p45">
                <a:extLst>
                  <a:ext uri="{FF2B5EF4-FFF2-40B4-BE49-F238E27FC236}">
                    <a16:creationId xmlns:a16="http://schemas.microsoft.com/office/drawing/2014/main" id="{ABEAFA50-E499-31F6-E1FE-3B1FE922FEAC}"/>
                  </a:ext>
                </a:extLst>
              </p:cNvPr>
              <p:cNvSpPr/>
              <p:nvPr/>
            </p:nvSpPr>
            <p:spPr>
              <a:xfrm>
                <a:off x="3294386" y="2982267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5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6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6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5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Google Shape;2361;p45">
                <a:extLst>
                  <a:ext uri="{FF2B5EF4-FFF2-40B4-BE49-F238E27FC236}">
                    <a16:creationId xmlns:a16="http://schemas.microsoft.com/office/drawing/2014/main" id="{E4978599-3AB9-888E-E58B-F0C3EF76F8FE}"/>
                  </a:ext>
                </a:extLst>
              </p:cNvPr>
              <p:cNvSpPr/>
              <p:nvPr/>
            </p:nvSpPr>
            <p:spPr>
              <a:xfrm>
                <a:off x="3300040" y="2988406"/>
                <a:ext cx="36044" cy="36044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08" extrusionOk="0">
                    <a:moveTo>
                      <a:pt x="906" y="0"/>
                    </a:moveTo>
                    <a:lnTo>
                      <a:pt x="801" y="13"/>
                    </a:lnTo>
                    <a:lnTo>
                      <a:pt x="709" y="39"/>
                    </a:lnTo>
                    <a:lnTo>
                      <a:pt x="617" y="79"/>
                    </a:lnTo>
                    <a:lnTo>
                      <a:pt x="525" y="118"/>
                    </a:lnTo>
                    <a:lnTo>
                      <a:pt x="447" y="171"/>
                    </a:lnTo>
                    <a:lnTo>
                      <a:pt x="368" y="223"/>
                    </a:lnTo>
                    <a:lnTo>
                      <a:pt x="289" y="289"/>
                    </a:lnTo>
                    <a:lnTo>
                      <a:pt x="224" y="367"/>
                    </a:lnTo>
                    <a:lnTo>
                      <a:pt x="171" y="433"/>
                    </a:lnTo>
                    <a:lnTo>
                      <a:pt x="119" y="525"/>
                    </a:lnTo>
                    <a:lnTo>
                      <a:pt x="79" y="604"/>
                    </a:lnTo>
                    <a:lnTo>
                      <a:pt x="40" y="708"/>
                    </a:lnTo>
                    <a:lnTo>
                      <a:pt x="14" y="800"/>
                    </a:lnTo>
                    <a:lnTo>
                      <a:pt x="1" y="892"/>
                    </a:lnTo>
                    <a:lnTo>
                      <a:pt x="1" y="997"/>
                    </a:lnTo>
                    <a:lnTo>
                      <a:pt x="1" y="1102"/>
                    </a:lnTo>
                    <a:lnTo>
                      <a:pt x="14" y="1207"/>
                    </a:lnTo>
                    <a:lnTo>
                      <a:pt x="40" y="1299"/>
                    </a:lnTo>
                    <a:lnTo>
                      <a:pt x="79" y="1391"/>
                    </a:lnTo>
                    <a:lnTo>
                      <a:pt x="119" y="1482"/>
                    </a:lnTo>
                    <a:lnTo>
                      <a:pt x="171" y="1561"/>
                    </a:lnTo>
                    <a:lnTo>
                      <a:pt x="224" y="1640"/>
                    </a:lnTo>
                    <a:lnTo>
                      <a:pt x="289" y="1719"/>
                    </a:lnTo>
                    <a:lnTo>
                      <a:pt x="368" y="1771"/>
                    </a:lnTo>
                    <a:lnTo>
                      <a:pt x="447" y="1837"/>
                    </a:lnTo>
                    <a:lnTo>
                      <a:pt x="525" y="1889"/>
                    </a:lnTo>
                    <a:lnTo>
                      <a:pt x="617" y="1929"/>
                    </a:lnTo>
                    <a:lnTo>
                      <a:pt x="709" y="1968"/>
                    </a:lnTo>
                    <a:lnTo>
                      <a:pt x="801" y="1981"/>
                    </a:lnTo>
                    <a:lnTo>
                      <a:pt x="906" y="2007"/>
                    </a:lnTo>
                    <a:lnTo>
                      <a:pt x="1103" y="2007"/>
                    </a:lnTo>
                    <a:lnTo>
                      <a:pt x="1208" y="1981"/>
                    </a:lnTo>
                    <a:lnTo>
                      <a:pt x="1299" y="1968"/>
                    </a:lnTo>
                    <a:lnTo>
                      <a:pt x="1391" y="1929"/>
                    </a:lnTo>
                    <a:lnTo>
                      <a:pt x="1483" y="1889"/>
                    </a:lnTo>
                    <a:lnTo>
                      <a:pt x="1562" y="1837"/>
                    </a:lnTo>
                    <a:lnTo>
                      <a:pt x="1640" y="1771"/>
                    </a:lnTo>
                    <a:lnTo>
                      <a:pt x="1719" y="1719"/>
                    </a:lnTo>
                    <a:lnTo>
                      <a:pt x="1785" y="1640"/>
                    </a:lnTo>
                    <a:lnTo>
                      <a:pt x="1837" y="1561"/>
                    </a:lnTo>
                    <a:lnTo>
                      <a:pt x="1890" y="1482"/>
                    </a:lnTo>
                    <a:lnTo>
                      <a:pt x="1929" y="1391"/>
                    </a:lnTo>
                    <a:lnTo>
                      <a:pt x="1968" y="1299"/>
                    </a:lnTo>
                    <a:lnTo>
                      <a:pt x="1995" y="1207"/>
                    </a:lnTo>
                    <a:lnTo>
                      <a:pt x="2008" y="1102"/>
                    </a:lnTo>
                    <a:lnTo>
                      <a:pt x="2008" y="997"/>
                    </a:lnTo>
                    <a:lnTo>
                      <a:pt x="2008" y="892"/>
                    </a:lnTo>
                    <a:lnTo>
                      <a:pt x="1995" y="800"/>
                    </a:lnTo>
                    <a:lnTo>
                      <a:pt x="1968" y="708"/>
                    </a:lnTo>
                    <a:lnTo>
                      <a:pt x="1929" y="604"/>
                    </a:lnTo>
                    <a:lnTo>
                      <a:pt x="1890" y="525"/>
                    </a:lnTo>
                    <a:lnTo>
                      <a:pt x="1837" y="433"/>
                    </a:lnTo>
                    <a:lnTo>
                      <a:pt x="1785" y="367"/>
                    </a:lnTo>
                    <a:lnTo>
                      <a:pt x="1719" y="289"/>
                    </a:lnTo>
                    <a:lnTo>
                      <a:pt x="1640" y="223"/>
                    </a:lnTo>
                    <a:lnTo>
                      <a:pt x="1562" y="171"/>
                    </a:lnTo>
                    <a:lnTo>
                      <a:pt x="1483" y="118"/>
                    </a:lnTo>
                    <a:lnTo>
                      <a:pt x="1391" y="79"/>
                    </a:lnTo>
                    <a:lnTo>
                      <a:pt x="1299" y="39"/>
                    </a:lnTo>
                    <a:lnTo>
                      <a:pt x="1208" y="13"/>
                    </a:lnTo>
                    <a:lnTo>
                      <a:pt x="1103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Google Shape;2362;p45">
                <a:extLst>
                  <a:ext uri="{FF2B5EF4-FFF2-40B4-BE49-F238E27FC236}">
                    <a16:creationId xmlns:a16="http://schemas.microsoft.com/office/drawing/2014/main" id="{A32C2209-9ECC-5288-1E9E-80CD58B85831}"/>
                  </a:ext>
                </a:extLst>
              </p:cNvPr>
              <p:cNvSpPr/>
              <p:nvPr/>
            </p:nvSpPr>
            <p:spPr>
              <a:xfrm>
                <a:off x="3304043" y="2992409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66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2"/>
                    </a:lnTo>
                    <a:lnTo>
                      <a:pt x="66" y="1076"/>
                    </a:lnTo>
                    <a:lnTo>
                      <a:pt x="132" y="1220"/>
                    </a:lnTo>
                    <a:lnTo>
                      <a:pt x="224" y="1325"/>
                    </a:lnTo>
                    <a:lnTo>
                      <a:pt x="342" y="1430"/>
                    </a:lnTo>
                    <a:lnTo>
                      <a:pt x="473" y="1496"/>
                    </a:lnTo>
                    <a:lnTo>
                      <a:pt x="617" y="1548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48"/>
                    </a:lnTo>
                    <a:lnTo>
                      <a:pt x="1089" y="1496"/>
                    </a:lnTo>
                    <a:lnTo>
                      <a:pt x="1221" y="1430"/>
                    </a:lnTo>
                    <a:lnTo>
                      <a:pt x="1326" y="1325"/>
                    </a:lnTo>
                    <a:lnTo>
                      <a:pt x="1431" y="1220"/>
                    </a:lnTo>
                    <a:lnTo>
                      <a:pt x="1496" y="1076"/>
                    </a:lnTo>
                    <a:lnTo>
                      <a:pt x="1549" y="932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66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Google Shape;2363;p45">
                <a:extLst>
                  <a:ext uri="{FF2B5EF4-FFF2-40B4-BE49-F238E27FC236}">
                    <a16:creationId xmlns:a16="http://schemas.microsoft.com/office/drawing/2014/main" id="{FF5F90EC-5B18-AA91-6C96-B96F4299C6A7}"/>
                  </a:ext>
                </a:extLst>
              </p:cNvPr>
              <p:cNvSpPr/>
              <p:nvPr/>
            </p:nvSpPr>
            <p:spPr>
              <a:xfrm>
                <a:off x="3294386" y="3047264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339" y="1"/>
                    </a:moveTo>
                    <a:lnTo>
                      <a:pt x="1208" y="14"/>
                    </a:ln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37"/>
                    </a:lnTo>
                    <a:lnTo>
                      <a:pt x="486" y="316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7"/>
                    </a:lnTo>
                    <a:lnTo>
                      <a:pt x="1" y="1208"/>
                    </a:lnTo>
                    <a:lnTo>
                      <a:pt x="1" y="1352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77"/>
                    </a:lnTo>
                    <a:lnTo>
                      <a:pt x="158" y="1995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67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38"/>
                    </a:lnTo>
                    <a:lnTo>
                      <a:pt x="1076" y="2664"/>
                    </a:lnTo>
                    <a:lnTo>
                      <a:pt x="1208" y="2690"/>
                    </a:lnTo>
                    <a:lnTo>
                      <a:pt x="4776" y="2690"/>
                    </a:lnTo>
                    <a:lnTo>
                      <a:pt x="4907" y="2664"/>
                    </a:lnTo>
                    <a:lnTo>
                      <a:pt x="5038" y="2638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67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95"/>
                    </a:lnTo>
                    <a:lnTo>
                      <a:pt x="5878" y="1877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52"/>
                    </a:lnTo>
                    <a:lnTo>
                      <a:pt x="5970" y="1208"/>
                    </a:lnTo>
                    <a:lnTo>
                      <a:pt x="5957" y="1077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16"/>
                    </a:lnTo>
                    <a:lnTo>
                      <a:pt x="5393" y="237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4"/>
                    </a:lnTo>
                    <a:lnTo>
                      <a:pt x="4632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Google Shape;2364;p45">
                <a:extLst>
                  <a:ext uri="{FF2B5EF4-FFF2-40B4-BE49-F238E27FC236}">
                    <a16:creationId xmlns:a16="http://schemas.microsoft.com/office/drawing/2014/main" id="{1B39B98F-98CA-4F0C-4BF0-DA4660E760D0}"/>
                  </a:ext>
                </a:extLst>
              </p:cNvPr>
              <p:cNvSpPr/>
              <p:nvPr/>
            </p:nvSpPr>
            <p:spPr>
              <a:xfrm>
                <a:off x="3360083" y="3053385"/>
                <a:ext cx="36062" cy="36062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09" extrusionOk="0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90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2"/>
                    </a:lnTo>
                    <a:lnTo>
                      <a:pt x="119" y="1483"/>
                    </a:lnTo>
                    <a:lnTo>
                      <a:pt x="171" y="1575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8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8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75"/>
                    </a:lnTo>
                    <a:lnTo>
                      <a:pt x="1890" y="1483"/>
                    </a:lnTo>
                    <a:lnTo>
                      <a:pt x="1929" y="1392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90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2365;p45">
                <a:extLst>
                  <a:ext uri="{FF2B5EF4-FFF2-40B4-BE49-F238E27FC236}">
                    <a16:creationId xmlns:a16="http://schemas.microsoft.com/office/drawing/2014/main" id="{365CC469-BC56-A7C4-1A60-307DCDAEB85C}"/>
                  </a:ext>
                </a:extLst>
              </p:cNvPr>
              <p:cNvSpPr/>
              <p:nvPr/>
            </p:nvSpPr>
            <p:spPr>
              <a:xfrm>
                <a:off x="3364085" y="3057388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775" y="1"/>
                    </a:moveTo>
                    <a:lnTo>
                      <a:pt x="696" y="14"/>
                    </a:lnTo>
                    <a:lnTo>
                      <a:pt x="618" y="14"/>
                    </a:lnTo>
                    <a:lnTo>
                      <a:pt x="473" y="67"/>
                    </a:lnTo>
                    <a:lnTo>
                      <a:pt x="342" y="132"/>
                    </a:lnTo>
                    <a:lnTo>
                      <a:pt x="224" y="237"/>
                    </a:lnTo>
                    <a:lnTo>
                      <a:pt x="132" y="342"/>
                    </a:lnTo>
                    <a:lnTo>
                      <a:pt x="67" y="486"/>
                    </a:lnTo>
                    <a:lnTo>
                      <a:pt x="14" y="631"/>
                    </a:lnTo>
                    <a:lnTo>
                      <a:pt x="1" y="709"/>
                    </a:lnTo>
                    <a:lnTo>
                      <a:pt x="1" y="788"/>
                    </a:lnTo>
                    <a:lnTo>
                      <a:pt x="1" y="867"/>
                    </a:lnTo>
                    <a:lnTo>
                      <a:pt x="14" y="945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39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39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45"/>
                    </a:lnTo>
                    <a:lnTo>
                      <a:pt x="1562" y="867"/>
                    </a:lnTo>
                    <a:lnTo>
                      <a:pt x="1562" y="788"/>
                    </a:lnTo>
                    <a:lnTo>
                      <a:pt x="1562" y="709"/>
                    </a:lnTo>
                    <a:lnTo>
                      <a:pt x="1549" y="631"/>
                    </a:lnTo>
                    <a:lnTo>
                      <a:pt x="1496" y="486"/>
                    </a:lnTo>
                    <a:lnTo>
                      <a:pt x="1431" y="342"/>
                    </a:lnTo>
                    <a:lnTo>
                      <a:pt x="1326" y="237"/>
                    </a:lnTo>
                    <a:lnTo>
                      <a:pt x="1221" y="132"/>
                    </a:lnTo>
                    <a:lnTo>
                      <a:pt x="1090" y="67"/>
                    </a:lnTo>
                    <a:lnTo>
                      <a:pt x="932" y="14"/>
                    </a:lnTo>
                    <a:lnTo>
                      <a:pt x="854" y="14"/>
                    </a:lnTo>
                    <a:lnTo>
                      <a:pt x="775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Google Shape;2366;p45">
                <a:extLst>
                  <a:ext uri="{FF2B5EF4-FFF2-40B4-BE49-F238E27FC236}">
                    <a16:creationId xmlns:a16="http://schemas.microsoft.com/office/drawing/2014/main" id="{D65F78C3-7FDF-3A39-6DB4-3A922F437B4C}"/>
                  </a:ext>
                </a:extLst>
              </p:cNvPr>
              <p:cNvSpPr/>
              <p:nvPr/>
            </p:nvSpPr>
            <p:spPr>
              <a:xfrm>
                <a:off x="3294386" y="3112728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53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3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696"/>
                    </a:lnTo>
                    <a:lnTo>
                      <a:pt x="106" y="814"/>
                    </a:lnTo>
                    <a:lnTo>
                      <a:pt x="53" y="945"/>
                    </a:lnTo>
                    <a:lnTo>
                      <a:pt x="27" y="1064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5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087"/>
                    </a:lnTo>
                    <a:lnTo>
                      <a:pt x="302" y="2192"/>
                    </a:lnTo>
                    <a:lnTo>
                      <a:pt x="394" y="2297"/>
                    </a:lnTo>
                    <a:lnTo>
                      <a:pt x="486" y="2375"/>
                    </a:lnTo>
                    <a:lnTo>
                      <a:pt x="591" y="2454"/>
                    </a:lnTo>
                    <a:lnTo>
                      <a:pt x="709" y="2520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20"/>
                    </a:lnTo>
                    <a:lnTo>
                      <a:pt x="5393" y="2454"/>
                    </a:lnTo>
                    <a:lnTo>
                      <a:pt x="5498" y="2375"/>
                    </a:lnTo>
                    <a:lnTo>
                      <a:pt x="5589" y="2297"/>
                    </a:lnTo>
                    <a:lnTo>
                      <a:pt x="5681" y="2192"/>
                    </a:lnTo>
                    <a:lnTo>
                      <a:pt x="5747" y="2087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5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64"/>
                    </a:lnTo>
                    <a:lnTo>
                      <a:pt x="5917" y="945"/>
                    </a:lnTo>
                    <a:lnTo>
                      <a:pt x="5878" y="814"/>
                    </a:lnTo>
                    <a:lnTo>
                      <a:pt x="5826" y="696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3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53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Google Shape;2367;p45">
                <a:extLst>
                  <a:ext uri="{FF2B5EF4-FFF2-40B4-BE49-F238E27FC236}">
                    <a16:creationId xmlns:a16="http://schemas.microsoft.com/office/drawing/2014/main" id="{49EF10DD-9C58-9A1D-2DD4-F14C854A0039}"/>
                  </a:ext>
                </a:extLst>
              </p:cNvPr>
              <p:cNvSpPr/>
              <p:nvPr/>
            </p:nvSpPr>
            <p:spPr>
              <a:xfrm>
                <a:off x="3300040" y="3118616"/>
                <a:ext cx="36044" cy="36295"/>
              </a:xfrm>
              <a:custGeom>
                <a:avLst/>
                <a:gdLst/>
                <a:ahLst/>
                <a:cxnLst/>
                <a:rect l="l" t="t" r="r" b="b"/>
                <a:pathLst>
                  <a:path w="2008" h="2022" extrusionOk="0">
                    <a:moveTo>
                      <a:pt x="998" y="1"/>
                    </a:moveTo>
                    <a:lnTo>
                      <a:pt x="906" y="14"/>
                    </a:lnTo>
                    <a:lnTo>
                      <a:pt x="801" y="27"/>
                    </a:lnTo>
                    <a:lnTo>
                      <a:pt x="709" y="53"/>
                    </a:lnTo>
                    <a:lnTo>
                      <a:pt x="617" y="80"/>
                    </a:lnTo>
                    <a:lnTo>
                      <a:pt x="525" y="132"/>
                    </a:lnTo>
                    <a:lnTo>
                      <a:pt x="447" y="185"/>
                    </a:lnTo>
                    <a:lnTo>
                      <a:pt x="368" y="237"/>
                    </a:lnTo>
                    <a:lnTo>
                      <a:pt x="289" y="303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39"/>
                    </a:lnTo>
                    <a:lnTo>
                      <a:pt x="79" y="617"/>
                    </a:lnTo>
                    <a:lnTo>
                      <a:pt x="40" y="709"/>
                    </a:lnTo>
                    <a:lnTo>
                      <a:pt x="14" y="814"/>
                    </a:lnTo>
                    <a:lnTo>
                      <a:pt x="1" y="906"/>
                    </a:lnTo>
                    <a:lnTo>
                      <a:pt x="1" y="1011"/>
                    </a:lnTo>
                    <a:lnTo>
                      <a:pt x="1" y="1116"/>
                    </a:lnTo>
                    <a:lnTo>
                      <a:pt x="14" y="1221"/>
                    </a:lnTo>
                    <a:lnTo>
                      <a:pt x="40" y="1313"/>
                    </a:lnTo>
                    <a:lnTo>
                      <a:pt x="79" y="1405"/>
                    </a:lnTo>
                    <a:lnTo>
                      <a:pt x="119" y="1496"/>
                    </a:lnTo>
                    <a:lnTo>
                      <a:pt x="171" y="1575"/>
                    </a:lnTo>
                    <a:lnTo>
                      <a:pt x="224" y="1654"/>
                    </a:lnTo>
                    <a:lnTo>
                      <a:pt x="289" y="1719"/>
                    </a:lnTo>
                    <a:lnTo>
                      <a:pt x="368" y="1785"/>
                    </a:lnTo>
                    <a:lnTo>
                      <a:pt x="447" y="1851"/>
                    </a:lnTo>
                    <a:lnTo>
                      <a:pt x="525" y="1903"/>
                    </a:lnTo>
                    <a:lnTo>
                      <a:pt x="617" y="1942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998" y="2021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299" y="1969"/>
                    </a:lnTo>
                    <a:lnTo>
                      <a:pt x="1391" y="1942"/>
                    </a:lnTo>
                    <a:lnTo>
                      <a:pt x="1483" y="1903"/>
                    </a:lnTo>
                    <a:lnTo>
                      <a:pt x="1562" y="1851"/>
                    </a:lnTo>
                    <a:lnTo>
                      <a:pt x="1640" y="1785"/>
                    </a:lnTo>
                    <a:lnTo>
                      <a:pt x="1719" y="1719"/>
                    </a:lnTo>
                    <a:lnTo>
                      <a:pt x="1785" y="1654"/>
                    </a:lnTo>
                    <a:lnTo>
                      <a:pt x="1837" y="1575"/>
                    </a:lnTo>
                    <a:lnTo>
                      <a:pt x="1890" y="1496"/>
                    </a:lnTo>
                    <a:lnTo>
                      <a:pt x="1929" y="1405"/>
                    </a:lnTo>
                    <a:lnTo>
                      <a:pt x="1968" y="1313"/>
                    </a:lnTo>
                    <a:lnTo>
                      <a:pt x="1995" y="1221"/>
                    </a:lnTo>
                    <a:lnTo>
                      <a:pt x="2008" y="1116"/>
                    </a:lnTo>
                    <a:lnTo>
                      <a:pt x="2008" y="1011"/>
                    </a:lnTo>
                    <a:lnTo>
                      <a:pt x="2008" y="906"/>
                    </a:lnTo>
                    <a:lnTo>
                      <a:pt x="1995" y="814"/>
                    </a:lnTo>
                    <a:lnTo>
                      <a:pt x="1968" y="709"/>
                    </a:lnTo>
                    <a:lnTo>
                      <a:pt x="1929" y="617"/>
                    </a:lnTo>
                    <a:lnTo>
                      <a:pt x="1890" y="539"/>
                    </a:lnTo>
                    <a:lnTo>
                      <a:pt x="1837" y="447"/>
                    </a:lnTo>
                    <a:lnTo>
                      <a:pt x="1785" y="368"/>
                    </a:lnTo>
                    <a:lnTo>
                      <a:pt x="1719" y="303"/>
                    </a:lnTo>
                    <a:lnTo>
                      <a:pt x="1640" y="237"/>
                    </a:lnTo>
                    <a:lnTo>
                      <a:pt x="1562" y="185"/>
                    </a:lnTo>
                    <a:lnTo>
                      <a:pt x="1483" y="132"/>
                    </a:lnTo>
                    <a:lnTo>
                      <a:pt x="1391" y="80"/>
                    </a:lnTo>
                    <a:lnTo>
                      <a:pt x="1299" y="53"/>
                    </a:lnTo>
                    <a:lnTo>
                      <a:pt x="1208" y="27"/>
                    </a:lnTo>
                    <a:lnTo>
                      <a:pt x="1103" y="14"/>
                    </a:lnTo>
                    <a:lnTo>
                      <a:pt x="99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Google Shape;2368;p45">
                <a:extLst>
                  <a:ext uri="{FF2B5EF4-FFF2-40B4-BE49-F238E27FC236}">
                    <a16:creationId xmlns:a16="http://schemas.microsoft.com/office/drawing/2014/main" id="{BB6B2BFC-4FC5-9FB9-758B-CC33E0500AFB}"/>
                  </a:ext>
                </a:extLst>
              </p:cNvPr>
              <p:cNvSpPr/>
              <p:nvPr/>
            </p:nvSpPr>
            <p:spPr>
              <a:xfrm>
                <a:off x="3304043" y="3122870"/>
                <a:ext cx="28038" cy="28038"/>
              </a:xfrm>
              <a:custGeom>
                <a:avLst/>
                <a:gdLst/>
                <a:ahLst/>
                <a:cxnLst/>
                <a:rect l="l" t="t" r="r" b="b"/>
                <a:pathLst>
                  <a:path w="1562" h="1562" extrusionOk="0">
                    <a:moveTo>
                      <a:pt x="696" y="0"/>
                    </a:moveTo>
                    <a:lnTo>
                      <a:pt x="617" y="13"/>
                    </a:lnTo>
                    <a:lnTo>
                      <a:pt x="473" y="52"/>
                    </a:lnTo>
                    <a:lnTo>
                      <a:pt x="342" y="131"/>
                    </a:lnTo>
                    <a:lnTo>
                      <a:pt x="224" y="223"/>
                    </a:lnTo>
                    <a:lnTo>
                      <a:pt x="132" y="341"/>
                    </a:lnTo>
                    <a:lnTo>
                      <a:pt x="66" y="472"/>
                    </a:lnTo>
                    <a:lnTo>
                      <a:pt x="14" y="617"/>
                    </a:lnTo>
                    <a:lnTo>
                      <a:pt x="1" y="695"/>
                    </a:lnTo>
                    <a:lnTo>
                      <a:pt x="1" y="774"/>
                    </a:lnTo>
                    <a:lnTo>
                      <a:pt x="1" y="853"/>
                    </a:lnTo>
                    <a:lnTo>
                      <a:pt x="14" y="931"/>
                    </a:lnTo>
                    <a:lnTo>
                      <a:pt x="66" y="1076"/>
                    </a:lnTo>
                    <a:lnTo>
                      <a:pt x="132" y="1207"/>
                    </a:lnTo>
                    <a:lnTo>
                      <a:pt x="224" y="1325"/>
                    </a:lnTo>
                    <a:lnTo>
                      <a:pt x="342" y="1417"/>
                    </a:lnTo>
                    <a:lnTo>
                      <a:pt x="473" y="1496"/>
                    </a:lnTo>
                    <a:lnTo>
                      <a:pt x="617" y="1535"/>
                    </a:lnTo>
                    <a:lnTo>
                      <a:pt x="696" y="1548"/>
                    </a:lnTo>
                    <a:lnTo>
                      <a:pt x="775" y="1561"/>
                    </a:lnTo>
                    <a:lnTo>
                      <a:pt x="866" y="1548"/>
                    </a:lnTo>
                    <a:lnTo>
                      <a:pt x="932" y="1535"/>
                    </a:lnTo>
                    <a:lnTo>
                      <a:pt x="1089" y="1496"/>
                    </a:lnTo>
                    <a:lnTo>
                      <a:pt x="1221" y="1417"/>
                    </a:lnTo>
                    <a:lnTo>
                      <a:pt x="1326" y="1325"/>
                    </a:lnTo>
                    <a:lnTo>
                      <a:pt x="1431" y="1207"/>
                    </a:lnTo>
                    <a:lnTo>
                      <a:pt x="1496" y="1076"/>
                    </a:lnTo>
                    <a:lnTo>
                      <a:pt x="1549" y="931"/>
                    </a:lnTo>
                    <a:lnTo>
                      <a:pt x="1562" y="853"/>
                    </a:lnTo>
                    <a:lnTo>
                      <a:pt x="1562" y="774"/>
                    </a:lnTo>
                    <a:lnTo>
                      <a:pt x="1562" y="695"/>
                    </a:lnTo>
                    <a:lnTo>
                      <a:pt x="1549" y="617"/>
                    </a:lnTo>
                    <a:lnTo>
                      <a:pt x="1496" y="472"/>
                    </a:lnTo>
                    <a:lnTo>
                      <a:pt x="1431" y="341"/>
                    </a:lnTo>
                    <a:lnTo>
                      <a:pt x="1326" y="223"/>
                    </a:lnTo>
                    <a:lnTo>
                      <a:pt x="1221" y="131"/>
                    </a:lnTo>
                    <a:lnTo>
                      <a:pt x="1089" y="52"/>
                    </a:lnTo>
                    <a:lnTo>
                      <a:pt x="932" y="13"/>
                    </a:lnTo>
                    <a:lnTo>
                      <a:pt x="866" y="0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Google Shape;2369;p45">
                <a:extLst>
                  <a:ext uri="{FF2B5EF4-FFF2-40B4-BE49-F238E27FC236}">
                    <a16:creationId xmlns:a16="http://schemas.microsoft.com/office/drawing/2014/main" id="{177CCB1C-89DA-39D6-6E16-C0AF44004D41}"/>
                  </a:ext>
                </a:extLst>
              </p:cNvPr>
              <p:cNvSpPr/>
              <p:nvPr/>
            </p:nvSpPr>
            <p:spPr>
              <a:xfrm>
                <a:off x="3294386" y="3177725"/>
                <a:ext cx="107395" cy="48303"/>
              </a:xfrm>
              <a:custGeom>
                <a:avLst/>
                <a:gdLst/>
                <a:ahLst/>
                <a:cxnLst/>
                <a:rect l="l" t="t" r="r" b="b"/>
                <a:pathLst>
                  <a:path w="5983" h="2691" extrusionOk="0">
                    <a:moveTo>
                      <a:pt x="1208" y="1"/>
                    </a:moveTo>
                    <a:lnTo>
                      <a:pt x="1076" y="27"/>
                    </a:lnTo>
                    <a:lnTo>
                      <a:pt x="945" y="66"/>
                    </a:lnTo>
                    <a:lnTo>
                      <a:pt x="827" y="106"/>
                    </a:lnTo>
                    <a:lnTo>
                      <a:pt x="709" y="158"/>
                    </a:lnTo>
                    <a:lnTo>
                      <a:pt x="591" y="224"/>
                    </a:lnTo>
                    <a:lnTo>
                      <a:pt x="486" y="302"/>
                    </a:lnTo>
                    <a:lnTo>
                      <a:pt x="394" y="394"/>
                    </a:lnTo>
                    <a:lnTo>
                      <a:pt x="302" y="486"/>
                    </a:lnTo>
                    <a:lnTo>
                      <a:pt x="224" y="591"/>
                    </a:lnTo>
                    <a:lnTo>
                      <a:pt x="158" y="709"/>
                    </a:lnTo>
                    <a:lnTo>
                      <a:pt x="106" y="827"/>
                    </a:lnTo>
                    <a:lnTo>
                      <a:pt x="53" y="945"/>
                    </a:lnTo>
                    <a:lnTo>
                      <a:pt x="27" y="1076"/>
                    </a:lnTo>
                    <a:lnTo>
                      <a:pt x="1" y="1208"/>
                    </a:lnTo>
                    <a:lnTo>
                      <a:pt x="1" y="1339"/>
                    </a:lnTo>
                    <a:lnTo>
                      <a:pt x="1" y="1483"/>
                    </a:lnTo>
                    <a:lnTo>
                      <a:pt x="27" y="1614"/>
                    </a:lnTo>
                    <a:lnTo>
                      <a:pt x="53" y="1746"/>
                    </a:lnTo>
                    <a:lnTo>
                      <a:pt x="106" y="1864"/>
                    </a:lnTo>
                    <a:lnTo>
                      <a:pt x="158" y="1982"/>
                    </a:lnTo>
                    <a:lnTo>
                      <a:pt x="224" y="2100"/>
                    </a:lnTo>
                    <a:lnTo>
                      <a:pt x="302" y="2205"/>
                    </a:lnTo>
                    <a:lnTo>
                      <a:pt x="394" y="2297"/>
                    </a:lnTo>
                    <a:lnTo>
                      <a:pt x="486" y="2388"/>
                    </a:lnTo>
                    <a:lnTo>
                      <a:pt x="591" y="2454"/>
                    </a:lnTo>
                    <a:lnTo>
                      <a:pt x="709" y="2533"/>
                    </a:lnTo>
                    <a:lnTo>
                      <a:pt x="827" y="2585"/>
                    </a:lnTo>
                    <a:lnTo>
                      <a:pt x="945" y="2625"/>
                    </a:lnTo>
                    <a:lnTo>
                      <a:pt x="1076" y="2664"/>
                    </a:lnTo>
                    <a:lnTo>
                      <a:pt x="1208" y="2677"/>
                    </a:lnTo>
                    <a:lnTo>
                      <a:pt x="1339" y="2690"/>
                    </a:lnTo>
                    <a:lnTo>
                      <a:pt x="4632" y="2690"/>
                    </a:lnTo>
                    <a:lnTo>
                      <a:pt x="4776" y="2677"/>
                    </a:lnTo>
                    <a:lnTo>
                      <a:pt x="4907" y="2664"/>
                    </a:lnTo>
                    <a:lnTo>
                      <a:pt x="5038" y="2625"/>
                    </a:lnTo>
                    <a:lnTo>
                      <a:pt x="5156" y="2585"/>
                    </a:lnTo>
                    <a:lnTo>
                      <a:pt x="5275" y="2533"/>
                    </a:lnTo>
                    <a:lnTo>
                      <a:pt x="5393" y="2454"/>
                    </a:lnTo>
                    <a:lnTo>
                      <a:pt x="5498" y="2388"/>
                    </a:lnTo>
                    <a:lnTo>
                      <a:pt x="5589" y="2297"/>
                    </a:lnTo>
                    <a:lnTo>
                      <a:pt x="5681" y="2205"/>
                    </a:lnTo>
                    <a:lnTo>
                      <a:pt x="5747" y="2100"/>
                    </a:lnTo>
                    <a:lnTo>
                      <a:pt x="5826" y="1982"/>
                    </a:lnTo>
                    <a:lnTo>
                      <a:pt x="5878" y="1864"/>
                    </a:lnTo>
                    <a:lnTo>
                      <a:pt x="5917" y="1746"/>
                    </a:lnTo>
                    <a:lnTo>
                      <a:pt x="5957" y="1614"/>
                    </a:lnTo>
                    <a:lnTo>
                      <a:pt x="5970" y="1483"/>
                    </a:lnTo>
                    <a:lnTo>
                      <a:pt x="5983" y="1339"/>
                    </a:lnTo>
                    <a:lnTo>
                      <a:pt x="5970" y="1208"/>
                    </a:lnTo>
                    <a:lnTo>
                      <a:pt x="5957" y="1076"/>
                    </a:lnTo>
                    <a:lnTo>
                      <a:pt x="5917" y="945"/>
                    </a:lnTo>
                    <a:lnTo>
                      <a:pt x="5878" y="827"/>
                    </a:lnTo>
                    <a:lnTo>
                      <a:pt x="5826" y="709"/>
                    </a:lnTo>
                    <a:lnTo>
                      <a:pt x="5747" y="591"/>
                    </a:lnTo>
                    <a:lnTo>
                      <a:pt x="5681" y="486"/>
                    </a:lnTo>
                    <a:lnTo>
                      <a:pt x="5589" y="394"/>
                    </a:lnTo>
                    <a:lnTo>
                      <a:pt x="5498" y="302"/>
                    </a:lnTo>
                    <a:lnTo>
                      <a:pt x="5393" y="224"/>
                    </a:lnTo>
                    <a:lnTo>
                      <a:pt x="5275" y="158"/>
                    </a:lnTo>
                    <a:lnTo>
                      <a:pt x="5156" y="106"/>
                    </a:lnTo>
                    <a:lnTo>
                      <a:pt x="5038" y="66"/>
                    </a:lnTo>
                    <a:lnTo>
                      <a:pt x="4907" y="27"/>
                    </a:lnTo>
                    <a:lnTo>
                      <a:pt x="47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Google Shape;2370;p45">
                <a:extLst>
                  <a:ext uri="{FF2B5EF4-FFF2-40B4-BE49-F238E27FC236}">
                    <a16:creationId xmlns:a16="http://schemas.microsoft.com/office/drawing/2014/main" id="{BB28FFA3-0CF2-C544-74ED-1D3F987ECC45}"/>
                  </a:ext>
                </a:extLst>
              </p:cNvPr>
              <p:cNvSpPr/>
              <p:nvPr/>
            </p:nvSpPr>
            <p:spPr>
              <a:xfrm>
                <a:off x="3360083" y="3183846"/>
                <a:ext cx="36062" cy="36062"/>
              </a:xfrm>
              <a:custGeom>
                <a:avLst/>
                <a:gdLst/>
                <a:ahLst/>
                <a:cxnLst/>
                <a:rect l="l" t="t" r="r" b="b"/>
                <a:pathLst>
                  <a:path w="2009" h="2009" extrusionOk="0">
                    <a:moveTo>
                      <a:pt x="906" y="1"/>
                    </a:moveTo>
                    <a:lnTo>
                      <a:pt x="801" y="14"/>
                    </a:lnTo>
                    <a:lnTo>
                      <a:pt x="709" y="40"/>
                    </a:lnTo>
                    <a:lnTo>
                      <a:pt x="617" y="80"/>
                    </a:lnTo>
                    <a:lnTo>
                      <a:pt x="526" y="119"/>
                    </a:lnTo>
                    <a:lnTo>
                      <a:pt x="447" y="171"/>
                    </a:lnTo>
                    <a:lnTo>
                      <a:pt x="368" y="224"/>
                    </a:lnTo>
                    <a:lnTo>
                      <a:pt x="290" y="289"/>
                    </a:lnTo>
                    <a:lnTo>
                      <a:pt x="224" y="368"/>
                    </a:lnTo>
                    <a:lnTo>
                      <a:pt x="171" y="447"/>
                    </a:lnTo>
                    <a:lnTo>
                      <a:pt x="119" y="526"/>
                    </a:lnTo>
                    <a:lnTo>
                      <a:pt x="80" y="617"/>
                    </a:lnTo>
                    <a:lnTo>
                      <a:pt x="40" y="709"/>
                    </a:lnTo>
                    <a:lnTo>
                      <a:pt x="14" y="801"/>
                    </a:lnTo>
                    <a:lnTo>
                      <a:pt x="1" y="906"/>
                    </a:lnTo>
                    <a:lnTo>
                      <a:pt x="1" y="998"/>
                    </a:lnTo>
                    <a:lnTo>
                      <a:pt x="1" y="1103"/>
                    </a:lnTo>
                    <a:lnTo>
                      <a:pt x="14" y="1208"/>
                    </a:lnTo>
                    <a:lnTo>
                      <a:pt x="40" y="1300"/>
                    </a:lnTo>
                    <a:lnTo>
                      <a:pt x="80" y="1391"/>
                    </a:lnTo>
                    <a:lnTo>
                      <a:pt x="119" y="1483"/>
                    </a:lnTo>
                    <a:lnTo>
                      <a:pt x="171" y="1562"/>
                    </a:lnTo>
                    <a:lnTo>
                      <a:pt x="224" y="1641"/>
                    </a:lnTo>
                    <a:lnTo>
                      <a:pt x="290" y="1719"/>
                    </a:lnTo>
                    <a:lnTo>
                      <a:pt x="368" y="1785"/>
                    </a:lnTo>
                    <a:lnTo>
                      <a:pt x="447" y="1837"/>
                    </a:lnTo>
                    <a:lnTo>
                      <a:pt x="526" y="1890"/>
                    </a:lnTo>
                    <a:lnTo>
                      <a:pt x="617" y="1929"/>
                    </a:lnTo>
                    <a:lnTo>
                      <a:pt x="709" y="1969"/>
                    </a:lnTo>
                    <a:lnTo>
                      <a:pt x="801" y="1995"/>
                    </a:lnTo>
                    <a:lnTo>
                      <a:pt x="906" y="2008"/>
                    </a:lnTo>
                    <a:lnTo>
                      <a:pt x="1103" y="2008"/>
                    </a:lnTo>
                    <a:lnTo>
                      <a:pt x="1208" y="1995"/>
                    </a:lnTo>
                    <a:lnTo>
                      <a:pt x="1300" y="1969"/>
                    </a:lnTo>
                    <a:lnTo>
                      <a:pt x="1392" y="1929"/>
                    </a:lnTo>
                    <a:lnTo>
                      <a:pt x="1483" y="1890"/>
                    </a:lnTo>
                    <a:lnTo>
                      <a:pt x="1562" y="1837"/>
                    </a:lnTo>
                    <a:lnTo>
                      <a:pt x="1641" y="1785"/>
                    </a:lnTo>
                    <a:lnTo>
                      <a:pt x="1719" y="1719"/>
                    </a:lnTo>
                    <a:lnTo>
                      <a:pt x="1785" y="1641"/>
                    </a:lnTo>
                    <a:lnTo>
                      <a:pt x="1838" y="1562"/>
                    </a:lnTo>
                    <a:lnTo>
                      <a:pt x="1890" y="1483"/>
                    </a:lnTo>
                    <a:lnTo>
                      <a:pt x="1929" y="1391"/>
                    </a:lnTo>
                    <a:lnTo>
                      <a:pt x="1969" y="1300"/>
                    </a:lnTo>
                    <a:lnTo>
                      <a:pt x="1995" y="1208"/>
                    </a:lnTo>
                    <a:lnTo>
                      <a:pt x="2008" y="1103"/>
                    </a:lnTo>
                    <a:lnTo>
                      <a:pt x="2008" y="998"/>
                    </a:lnTo>
                    <a:lnTo>
                      <a:pt x="2008" y="906"/>
                    </a:lnTo>
                    <a:lnTo>
                      <a:pt x="1995" y="801"/>
                    </a:lnTo>
                    <a:lnTo>
                      <a:pt x="1969" y="709"/>
                    </a:lnTo>
                    <a:lnTo>
                      <a:pt x="1929" y="617"/>
                    </a:lnTo>
                    <a:lnTo>
                      <a:pt x="1890" y="526"/>
                    </a:lnTo>
                    <a:lnTo>
                      <a:pt x="1838" y="447"/>
                    </a:lnTo>
                    <a:lnTo>
                      <a:pt x="1785" y="368"/>
                    </a:lnTo>
                    <a:lnTo>
                      <a:pt x="1719" y="289"/>
                    </a:lnTo>
                    <a:lnTo>
                      <a:pt x="1641" y="224"/>
                    </a:lnTo>
                    <a:lnTo>
                      <a:pt x="1562" y="171"/>
                    </a:lnTo>
                    <a:lnTo>
                      <a:pt x="1483" y="119"/>
                    </a:lnTo>
                    <a:lnTo>
                      <a:pt x="1392" y="80"/>
                    </a:lnTo>
                    <a:lnTo>
                      <a:pt x="1300" y="40"/>
                    </a:lnTo>
                    <a:lnTo>
                      <a:pt x="1208" y="14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Google Shape;2371;p45">
                <a:extLst>
                  <a:ext uri="{FF2B5EF4-FFF2-40B4-BE49-F238E27FC236}">
                    <a16:creationId xmlns:a16="http://schemas.microsoft.com/office/drawing/2014/main" id="{BBE5ACCA-E91D-D4D4-BE07-8AE4C22FCA2B}"/>
                  </a:ext>
                </a:extLst>
              </p:cNvPr>
              <p:cNvSpPr/>
              <p:nvPr/>
            </p:nvSpPr>
            <p:spPr>
              <a:xfrm>
                <a:off x="3364085" y="3187849"/>
                <a:ext cx="28056" cy="28056"/>
              </a:xfrm>
              <a:custGeom>
                <a:avLst/>
                <a:gdLst/>
                <a:ahLst/>
                <a:cxnLst/>
                <a:rect l="l" t="t" r="r" b="b"/>
                <a:pathLst>
                  <a:path w="1563" h="1563" extrusionOk="0">
                    <a:moveTo>
                      <a:pt x="696" y="1"/>
                    </a:moveTo>
                    <a:lnTo>
                      <a:pt x="618" y="14"/>
                    </a:lnTo>
                    <a:lnTo>
                      <a:pt x="473" y="66"/>
                    </a:lnTo>
                    <a:lnTo>
                      <a:pt x="342" y="132"/>
                    </a:lnTo>
                    <a:lnTo>
                      <a:pt x="224" y="224"/>
                    </a:lnTo>
                    <a:lnTo>
                      <a:pt x="132" y="342"/>
                    </a:lnTo>
                    <a:lnTo>
                      <a:pt x="67" y="473"/>
                    </a:lnTo>
                    <a:lnTo>
                      <a:pt x="14" y="617"/>
                    </a:lnTo>
                    <a:lnTo>
                      <a:pt x="1" y="696"/>
                    </a:lnTo>
                    <a:lnTo>
                      <a:pt x="1" y="775"/>
                    </a:lnTo>
                    <a:lnTo>
                      <a:pt x="1" y="867"/>
                    </a:lnTo>
                    <a:lnTo>
                      <a:pt x="14" y="932"/>
                    </a:lnTo>
                    <a:lnTo>
                      <a:pt x="67" y="1090"/>
                    </a:lnTo>
                    <a:lnTo>
                      <a:pt x="132" y="1221"/>
                    </a:lnTo>
                    <a:lnTo>
                      <a:pt x="224" y="1326"/>
                    </a:lnTo>
                    <a:lnTo>
                      <a:pt x="342" y="1431"/>
                    </a:lnTo>
                    <a:lnTo>
                      <a:pt x="473" y="1496"/>
                    </a:lnTo>
                    <a:lnTo>
                      <a:pt x="618" y="1549"/>
                    </a:lnTo>
                    <a:lnTo>
                      <a:pt x="696" y="1562"/>
                    </a:lnTo>
                    <a:lnTo>
                      <a:pt x="854" y="1562"/>
                    </a:lnTo>
                    <a:lnTo>
                      <a:pt x="932" y="1549"/>
                    </a:lnTo>
                    <a:lnTo>
                      <a:pt x="1090" y="1496"/>
                    </a:lnTo>
                    <a:lnTo>
                      <a:pt x="1221" y="1431"/>
                    </a:lnTo>
                    <a:lnTo>
                      <a:pt x="1326" y="1326"/>
                    </a:lnTo>
                    <a:lnTo>
                      <a:pt x="1431" y="1221"/>
                    </a:lnTo>
                    <a:lnTo>
                      <a:pt x="1496" y="1090"/>
                    </a:lnTo>
                    <a:lnTo>
                      <a:pt x="1549" y="932"/>
                    </a:lnTo>
                    <a:lnTo>
                      <a:pt x="1562" y="867"/>
                    </a:lnTo>
                    <a:lnTo>
                      <a:pt x="1562" y="775"/>
                    </a:lnTo>
                    <a:lnTo>
                      <a:pt x="1562" y="696"/>
                    </a:lnTo>
                    <a:lnTo>
                      <a:pt x="1549" y="617"/>
                    </a:lnTo>
                    <a:lnTo>
                      <a:pt x="1496" y="473"/>
                    </a:lnTo>
                    <a:lnTo>
                      <a:pt x="1431" y="342"/>
                    </a:lnTo>
                    <a:lnTo>
                      <a:pt x="1326" y="224"/>
                    </a:lnTo>
                    <a:lnTo>
                      <a:pt x="1221" y="132"/>
                    </a:lnTo>
                    <a:lnTo>
                      <a:pt x="1090" y="66"/>
                    </a:lnTo>
                    <a:lnTo>
                      <a:pt x="932" y="14"/>
                    </a:lnTo>
                    <a:lnTo>
                      <a:pt x="854" y="1"/>
                    </a:lnTo>
                    <a:close/>
                  </a:path>
                </a:pathLst>
              </a:custGeom>
              <a:solidFill>
                <a:srgbClr val="F7F7F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Google Shape;2372;p45">
                <a:extLst>
                  <a:ext uri="{FF2B5EF4-FFF2-40B4-BE49-F238E27FC236}">
                    <a16:creationId xmlns:a16="http://schemas.microsoft.com/office/drawing/2014/main" id="{00EBC669-BF88-4452-A5CC-02FA85D58996}"/>
                  </a:ext>
                </a:extLst>
              </p:cNvPr>
              <p:cNvSpPr/>
              <p:nvPr/>
            </p:nvSpPr>
            <p:spPr>
              <a:xfrm>
                <a:off x="3126248" y="2186095"/>
                <a:ext cx="42183" cy="41931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36" extrusionOk="0">
                    <a:moveTo>
                      <a:pt x="1050" y="1"/>
                    </a:moveTo>
                    <a:lnTo>
                      <a:pt x="932" y="14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32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0"/>
                    </a:lnTo>
                    <a:lnTo>
                      <a:pt x="198" y="512"/>
                    </a:lnTo>
                    <a:lnTo>
                      <a:pt x="132" y="604"/>
                    </a:lnTo>
                    <a:lnTo>
                      <a:pt x="93" y="709"/>
                    </a:lnTo>
                    <a:lnTo>
                      <a:pt x="53" y="814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86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3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44"/>
                    </a:lnTo>
                    <a:lnTo>
                      <a:pt x="814" y="2283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83"/>
                    </a:lnTo>
                    <a:lnTo>
                      <a:pt x="1628" y="2244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3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86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14"/>
                    </a:lnTo>
                    <a:lnTo>
                      <a:pt x="2244" y="709"/>
                    </a:lnTo>
                    <a:lnTo>
                      <a:pt x="2205" y="604"/>
                    </a:lnTo>
                    <a:lnTo>
                      <a:pt x="2139" y="512"/>
                    </a:lnTo>
                    <a:lnTo>
                      <a:pt x="2074" y="420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32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14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Google Shape;2373;p45">
                <a:extLst>
                  <a:ext uri="{FF2B5EF4-FFF2-40B4-BE49-F238E27FC236}">
                    <a16:creationId xmlns:a16="http://schemas.microsoft.com/office/drawing/2014/main" id="{10AD575F-84E5-2025-3021-C3A1572050FD}"/>
                  </a:ext>
                </a:extLst>
              </p:cNvPr>
              <p:cNvSpPr/>
              <p:nvPr/>
            </p:nvSpPr>
            <p:spPr>
              <a:xfrm>
                <a:off x="3190311" y="2188680"/>
                <a:ext cx="207951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8" extrusionOk="0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2374;p45">
                <a:extLst>
                  <a:ext uri="{FF2B5EF4-FFF2-40B4-BE49-F238E27FC236}">
                    <a16:creationId xmlns:a16="http://schemas.microsoft.com/office/drawing/2014/main" id="{845DA201-5019-7CBE-4914-4ECE95EBB458}"/>
                  </a:ext>
                </a:extLst>
              </p:cNvPr>
              <p:cNvSpPr/>
              <p:nvPr/>
            </p:nvSpPr>
            <p:spPr>
              <a:xfrm>
                <a:off x="3126248" y="2272758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Google Shape;2375;p45">
                <a:extLst>
                  <a:ext uri="{FF2B5EF4-FFF2-40B4-BE49-F238E27FC236}">
                    <a16:creationId xmlns:a16="http://schemas.microsoft.com/office/drawing/2014/main" id="{21717048-E379-EAAD-4F17-5929D76AD1E6}"/>
                  </a:ext>
                </a:extLst>
              </p:cNvPr>
              <p:cNvSpPr/>
              <p:nvPr/>
            </p:nvSpPr>
            <p:spPr>
              <a:xfrm>
                <a:off x="3190311" y="2275343"/>
                <a:ext cx="207951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1" extrusionOk="0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Google Shape;2376;p45">
                <a:extLst>
                  <a:ext uri="{FF2B5EF4-FFF2-40B4-BE49-F238E27FC236}">
                    <a16:creationId xmlns:a16="http://schemas.microsoft.com/office/drawing/2014/main" id="{2ED8D3B3-CC43-25A1-3A48-299BA75995C4}"/>
                  </a:ext>
                </a:extLst>
              </p:cNvPr>
              <p:cNvSpPr/>
              <p:nvPr/>
            </p:nvSpPr>
            <p:spPr>
              <a:xfrm>
                <a:off x="3126248" y="2416394"/>
                <a:ext cx="42183" cy="42183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50" extrusionOk="0">
                    <a:moveTo>
                      <a:pt x="1050" y="1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198"/>
                    </a:lnTo>
                    <a:lnTo>
                      <a:pt x="421" y="263"/>
                    </a:lnTo>
                    <a:lnTo>
                      <a:pt x="342" y="342"/>
                    </a:lnTo>
                    <a:lnTo>
                      <a:pt x="263" y="421"/>
                    </a:lnTo>
                    <a:lnTo>
                      <a:pt x="198" y="513"/>
                    </a:lnTo>
                    <a:lnTo>
                      <a:pt x="132" y="618"/>
                    </a:lnTo>
                    <a:lnTo>
                      <a:pt x="93" y="709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9"/>
                    </a:lnTo>
                    <a:lnTo>
                      <a:pt x="1" y="1287"/>
                    </a:lnTo>
                    <a:lnTo>
                      <a:pt x="14" y="1405"/>
                    </a:lnTo>
                    <a:lnTo>
                      <a:pt x="53" y="1523"/>
                    </a:lnTo>
                    <a:lnTo>
                      <a:pt x="93" y="1628"/>
                    </a:lnTo>
                    <a:lnTo>
                      <a:pt x="132" y="1733"/>
                    </a:lnTo>
                    <a:lnTo>
                      <a:pt x="198" y="1825"/>
                    </a:lnTo>
                    <a:lnTo>
                      <a:pt x="263" y="1916"/>
                    </a:lnTo>
                    <a:lnTo>
                      <a:pt x="342" y="1995"/>
                    </a:lnTo>
                    <a:lnTo>
                      <a:pt x="421" y="2074"/>
                    </a:lnTo>
                    <a:lnTo>
                      <a:pt x="512" y="2139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39"/>
                    </a:lnTo>
                    <a:lnTo>
                      <a:pt x="1916" y="2074"/>
                    </a:lnTo>
                    <a:lnTo>
                      <a:pt x="1995" y="1995"/>
                    </a:lnTo>
                    <a:lnTo>
                      <a:pt x="2074" y="1916"/>
                    </a:lnTo>
                    <a:lnTo>
                      <a:pt x="2139" y="1825"/>
                    </a:lnTo>
                    <a:lnTo>
                      <a:pt x="2205" y="1733"/>
                    </a:lnTo>
                    <a:lnTo>
                      <a:pt x="2244" y="1628"/>
                    </a:lnTo>
                    <a:lnTo>
                      <a:pt x="2283" y="1523"/>
                    </a:lnTo>
                    <a:lnTo>
                      <a:pt x="2323" y="1405"/>
                    </a:lnTo>
                    <a:lnTo>
                      <a:pt x="2336" y="1287"/>
                    </a:lnTo>
                    <a:lnTo>
                      <a:pt x="2349" y="1169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09"/>
                    </a:lnTo>
                    <a:lnTo>
                      <a:pt x="2205" y="618"/>
                    </a:lnTo>
                    <a:lnTo>
                      <a:pt x="2139" y="513"/>
                    </a:lnTo>
                    <a:lnTo>
                      <a:pt x="2074" y="421"/>
                    </a:lnTo>
                    <a:lnTo>
                      <a:pt x="1995" y="342"/>
                    </a:lnTo>
                    <a:lnTo>
                      <a:pt x="1916" y="263"/>
                    </a:lnTo>
                    <a:lnTo>
                      <a:pt x="1824" y="198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2377;p45">
                <a:extLst>
                  <a:ext uri="{FF2B5EF4-FFF2-40B4-BE49-F238E27FC236}">
                    <a16:creationId xmlns:a16="http://schemas.microsoft.com/office/drawing/2014/main" id="{48BDED04-BC40-B4A2-4871-1B8ED2A25127}"/>
                  </a:ext>
                </a:extLst>
              </p:cNvPr>
              <p:cNvSpPr/>
              <p:nvPr/>
            </p:nvSpPr>
            <p:spPr>
              <a:xfrm>
                <a:off x="3190311" y="2418996"/>
                <a:ext cx="207951" cy="36744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7" extrusionOk="0">
                    <a:moveTo>
                      <a:pt x="0" y="0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2378;p45">
                <a:extLst>
                  <a:ext uri="{FF2B5EF4-FFF2-40B4-BE49-F238E27FC236}">
                    <a16:creationId xmlns:a16="http://schemas.microsoft.com/office/drawing/2014/main" id="{B613B921-6D18-C0F2-B29F-D7F8ED04A889}"/>
                  </a:ext>
                </a:extLst>
              </p:cNvPr>
              <p:cNvSpPr/>
              <p:nvPr/>
            </p:nvSpPr>
            <p:spPr>
              <a:xfrm>
                <a:off x="3126248" y="2503056"/>
                <a:ext cx="42183" cy="42183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50" extrusionOk="0">
                    <a:moveTo>
                      <a:pt x="1168" y="1"/>
                    </a:moveTo>
                    <a:lnTo>
                      <a:pt x="1050" y="14"/>
                    </a:ln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3"/>
                    </a:lnTo>
                    <a:lnTo>
                      <a:pt x="604" y="145"/>
                    </a:lnTo>
                    <a:lnTo>
                      <a:pt x="512" y="211"/>
                    </a:lnTo>
                    <a:lnTo>
                      <a:pt x="421" y="276"/>
                    </a:lnTo>
                    <a:lnTo>
                      <a:pt x="342" y="342"/>
                    </a:lnTo>
                    <a:lnTo>
                      <a:pt x="263" y="434"/>
                    </a:lnTo>
                    <a:lnTo>
                      <a:pt x="198" y="526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300"/>
                    </a:lnTo>
                    <a:lnTo>
                      <a:pt x="14" y="1418"/>
                    </a:lnTo>
                    <a:lnTo>
                      <a:pt x="53" y="1523"/>
                    </a:lnTo>
                    <a:lnTo>
                      <a:pt x="93" y="1641"/>
                    </a:lnTo>
                    <a:lnTo>
                      <a:pt x="132" y="1732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8"/>
                    </a:lnTo>
                    <a:lnTo>
                      <a:pt x="421" y="2087"/>
                    </a:lnTo>
                    <a:lnTo>
                      <a:pt x="512" y="2152"/>
                    </a:lnTo>
                    <a:lnTo>
                      <a:pt x="604" y="2205"/>
                    </a:lnTo>
                    <a:lnTo>
                      <a:pt x="709" y="2257"/>
                    </a:lnTo>
                    <a:lnTo>
                      <a:pt x="814" y="2297"/>
                    </a:lnTo>
                    <a:lnTo>
                      <a:pt x="932" y="2323"/>
                    </a:lnTo>
                    <a:lnTo>
                      <a:pt x="1050" y="2349"/>
                    </a:lnTo>
                    <a:lnTo>
                      <a:pt x="1286" y="2349"/>
                    </a:lnTo>
                    <a:lnTo>
                      <a:pt x="1405" y="2323"/>
                    </a:lnTo>
                    <a:lnTo>
                      <a:pt x="1523" y="2297"/>
                    </a:lnTo>
                    <a:lnTo>
                      <a:pt x="1628" y="2257"/>
                    </a:lnTo>
                    <a:lnTo>
                      <a:pt x="1732" y="2205"/>
                    </a:lnTo>
                    <a:lnTo>
                      <a:pt x="1824" y="2152"/>
                    </a:lnTo>
                    <a:lnTo>
                      <a:pt x="1916" y="2087"/>
                    </a:lnTo>
                    <a:lnTo>
                      <a:pt x="1995" y="2008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32"/>
                    </a:lnTo>
                    <a:lnTo>
                      <a:pt x="2244" y="1641"/>
                    </a:lnTo>
                    <a:lnTo>
                      <a:pt x="2283" y="1523"/>
                    </a:lnTo>
                    <a:lnTo>
                      <a:pt x="2323" y="1418"/>
                    </a:lnTo>
                    <a:lnTo>
                      <a:pt x="2336" y="1300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6"/>
                    </a:lnTo>
                    <a:lnTo>
                      <a:pt x="2074" y="434"/>
                    </a:lnTo>
                    <a:lnTo>
                      <a:pt x="1995" y="342"/>
                    </a:lnTo>
                    <a:lnTo>
                      <a:pt x="1916" y="276"/>
                    </a:lnTo>
                    <a:lnTo>
                      <a:pt x="1824" y="211"/>
                    </a:lnTo>
                    <a:lnTo>
                      <a:pt x="1732" y="145"/>
                    </a:lnTo>
                    <a:lnTo>
                      <a:pt x="1628" y="93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14"/>
                    </a:lnTo>
                    <a:lnTo>
                      <a:pt x="11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2379;p45">
                <a:extLst>
                  <a:ext uri="{FF2B5EF4-FFF2-40B4-BE49-F238E27FC236}">
                    <a16:creationId xmlns:a16="http://schemas.microsoft.com/office/drawing/2014/main" id="{E2CEF8D6-EF55-8090-AC87-B65CBD1EEE14}"/>
                  </a:ext>
                </a:extLst>
              </p:cNvPr>
              <p:cNvSpPr/>
              <p:nvPr/>
            </p:nvSpPr>
            <p:spPr>
              <a:xfrm>
                <a:off x="3190311" y="2505659"/>
                <a:ext cx="207951" cy="36977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0" extrusionOk="0">
                    <a:moveTo>
                      <a:pt x="0" y="0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2380;p45">
                <a:extLst>
                  <a:ext uri="{FF2B5EF4-FFF2-40B4-BE49-F238E27FC236}">
                    <a16:creationId xmlns:a16="http://schemas.microsoft.com/office/drawing/2014/main" id="{3C48699B-C7E6-89D3-AF60-0A41808469FC}"/>
                  </a:ext>
                </a:extLst>
              </p:cNvPr>
              <p:cNvSpPr/>
              <p:nvPr/>
            </p:nvSpPr>
            <p:spPr>
              <a:xfrm>
                <a:off x="3126248" y="2646710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050" y="0"/>
                    </a:moveTo>
                    <a:lnTo>
                      <a:pt x="932" y="27"/>
                    </a:lnTo>
                    <a:lnTo>
                      <a:pt x="814" y="53"/>
                    </a:lnTo>
                    <a:lnTo>
                      <a:pt x="709" y="92"/>
                    </a:lnTo>
                    <a:lnTo>
                      <a:pt x="604" y="145"/>
                    </a:lnTo>
                    <a:lnTo>
                      <a:pt x="512" y="197"/>
                    </a:lnTo>
                    <a:lnTo>
                      <a:pt x="421" y="263"/>
                    </a:lnTo>
                    <a:lnTo>
                      <a:pt x="342" y="341"/>
                    </a:lnTo>
                    <a:lnTo>
                      <a:pt x="263" y="433"/>
                    </a:lnTo>
                    <a:lnTo>
                      <a:pt x="198" y="512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32"/>
                    </a:lnTo>
                    <a:lnTo>
                      <a:pt x="1" y="1050"/>
                    </a:lnTo>
                    <a:lnTo>
                      <a:pt x="1" y="1168"/>
                    </a:lnTo>
                    <a:lnTo>
                      <a:pt x="1" y="1299"/>
                    </a:lnTo>
                    <a:lnTo>
                      <a:pt x="14" y="1404"/>
                    </a:lnTo>
                    <a:lnTo>
                      <a:pt x="53" y="1522"/>
                    </a:lnTo>
                    <a:lnTo>
                      <a:pt x="93" y="1627"/>
                    </a:lnTo>
                    <a:lnTo>
                      <a:pt x="132" y="1732"/>
                    </a:lnTo>
                    <a:lnTo>
                      <a:pt x="198" y="1824"/>
                    </a:lnTo>
                    <a:lnTo>
                      <a:pt x="263" y="1916"/>
                    </a:lnTo>
                    <a:lnTo>
                      <a:pt x="342" y="2008"/>
                    </a:lnTo>
                    <a:lnTo>
                      <a:pt x="421" y="2073"/>
                    </a:lnTo>
                    <a:lnTo>
                      <a:pt x="512" y="2152"/>
                    </a:lnTo>
                    <a:lnTo>
                      <a:pt x="604" y="2204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22"/>
                    </a:lnTo>
                    <a:lnTo>
                      <a:pt x="1050" y="2336"/>
                    </a:lnTo>
                    <a:lnTo>
                      <a:pt x="1168" y="2349"/>
                    </a:lnTo>
                    <a:lnTo>
                      <a:pt x="1286" y="2336"/>
                    </a:lnTo>
                    <a:lnTo>
                      <a:pt x="1405" y="2322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04"/>
                    </a:lnTo>
                    <a:lnTo>
                      <a:pt x="1824" y="2152"/>
                    </a:lnTo>
                    <a:lnTo>
                      <a:pt x="1916" y="2073"/>
                    </a:lnTo>
                    <a:lnTo>
                      <a:pt x="1995" y="2008"/>
                    </a:lnTo>
                    <a:lnTo>
                      <a:pt x="2074" y="1916"/>
                    </a:lnTo>
                    <a:lnTo>
                      <a:pt x="2139" y="1824"/>
                    </a:lnTo>
                    <a:lnTo>
                      <a:pt x="2205" y="1732"/>
                    </a:lnTo>
                    <a:lnTo>
                      <a:pt x="2244" y="1627"/>
                    </a:lnTo>
                    <a:lnTo>
                      <a:pt x="2283" y="1522"/>
                    </a:lnTo>
                    <a:lnTo>
                      <a:pt x="2323" y="1404"/>
                    </a:lnTo>
                    <a:lnTo>
                      <a:pt x="2336" y="1299"/>
                    </a:lnTo>
                    <a:lnTo>
                      <a:pt x="2349" y="1168"/>
                    </a:lnTo>
                    <a:lnTo>
                      <a:pt x="2336" y="1050"/>
                    </a:lnTo>
                    <a:lnTo>
                      <a:pt x="2323" y="932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12"/>
                    </a:lnTo>
                    <a:lnTo>
                      <a:pt x="2074" y="433"/>
                    </a:lnTo>
                    <a:lnTo>
                      <a:pt x="1995" y="341"/>
                    </a:lnTo>
                    <a:lnTo>
                      <a:pt x="1916" y="263"/>
                    </a:lnTo>
                    <a:lnTo>
                      <a:pt x="1824" y="197"/>
                    </a:lnTo>
                    <a:lnTo>
                      <a:pt x="1732" y="145"/>
                    </a:lnTo>
                    <a:lnTo>
                      <a:pt x="1628" y="92"/>
                    </a:lnTo>
                    <a:lnTo>
                      <a:pt x="1523" y="53"/>
                    </a:lnTo>
                    <a:lnTo>
                      <a:pt x="1405" y="27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2381;p45">
                <a:extLst>
                  <a:ext uri="{FF2B5EF4-FFF2-40B4-BE49-F238E27FC236}">
                    <a16:creationId xmlns:a16="http://schemas.microsoft.com/office/drawing/2014/main" id="{09AD57E2-B194-8D31-B91D-CDE451A94E89}"/>
                  </a:ext>
                </a:extLst>
              </p:cNvPr>
              <p:cNvSpPr/>
              <p:nvPr/>
            </p:nvSpPr>
            <p:spPr>
              <a:xfrm>
                <a:off x="3190311" y="2649295"/>
                <a:ext cx="207951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61" extrusionOk="0">
                    <a:moveTo>
                      <a:pt x="0" y="1"/>
                    </a:moveTo>
                    <a:lnTo>
                      <a:pt x="0" y="2060"/>
                    </a:lnTo>
                    <a:lnTo>
                      <a:pt x="11584" y="2060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2382;p45">
                <a:extLst>
                  <a:ext uri="{FF2B5EF4-FFF2-40B4-BE49-F238E27FC236}">
                    <a16:creationId xmlns:a16="http://schemas.microsoft.com/office/drawing/2014/main" id="{33D5ED07-5B53-7F87-C065-ECA08BDBF540}"/>
                  </a:ext>
                </a:extLst>
              </p:cNvPr>
              <p:cNvSpPr/>
              <p:nvPr/>
            </p:nvSpPr>
            <p:spPr>
              <a:xfrm>
                <a:off x="3126248" y="2733373"/>
                <a:ext cx="42183" cy="42165"/>
              </a:xfrm>
              <a:custGeom>
                <a:avLst/>
                <a:gdLst/>
                <a:ahLst/>
                <a:cxnLst/>
                <a:rect l="l" t="t" r="r" b="b"/>
                <a:pathLst>
                  <a:path w="2350" h="2349" extrusionOk="0">
                    <a:moveTo>
                      <a:pt x="1168" y="0"/>
                    </a:moveTo>
                    <a:lnTo>
                      <a:pt x="1050" y="13"/>
                    </a:lnTo>
                    <a:lnTo>
                      <a:pt x="932" y="26"/>
                    </a:lnTo>
                    <a:lnTo>
                      <a:pt x="814" y="66"/>
                    </a:lnTo>
                    <a:lnTo>
                      <a:pt x="709" y="105"/>
                    </a:lnTo>
                    <a:lnTo>
                      <a:pt x="604" y="144"/>
                    </a:lnTo>
                    <a:lnTo>
                      <a:pt x="512" y="210"/>
                    </a:lnTo>
                    <a:lnTo>
                      <a:pt x="421" y="276"/>
                    </a:lnTo>
                    <a:lnTo>
                      <a:pt x="342" y="354"/>
                    </a:lnTo>
                    <a:lnTo>
                      <a:pt x="263" y="433"/>
                    </a:lnTo>
                    <a:lnTo>
                      <a:pt x="198" y="525"/>
                    </a:lnTo>
                    <a:lnTo>
                      <a:pt x="132" y="617"/>
                    </a:lnTo>
                    <a:lnTo>
                      <a:pt x="93" y="722"/>
                    </a:lnTo>
                    <a:lnTo>
                      <a:pt x="53" y="827"/>
                    </a:lnTo>
                    <a:lnTo>
                      <a:pt x="14" y="945"/>
                    </a:lnTo>
                    <a:lnTo>
                      <a:pt x="1" y="1063"/>
                    </a:lnTo>
                    <a:lnTo>
                      <a:pt x="1" y="1181"/>
                    </a:lnTo>
                    <a:lnTo>
                      <a:pt x="1" y="1299"/>
                    </a:lnTo>
                    <a:lnTo>
                      <a:pt x="14" y="1417"/>
                    </a:lnTo>
                    <a:lnTo>
                      <a:pt x="53" y="1535"/>
                    </a:lnTo>
                    <a:lnTo>
                      <a:pt x="93" y="1640"/>
                    </a:lnTo>
                    <a:lnTo>
                      <a:pt x="132" y="1745"/>
                    </a:lnTo>
                    <a:lnTo>
                      <a:pt x="198" y="1837"/>
                    </a:lnTo>
                    <a:lnTo>
                      <a:pt x="263" y="1929"/>
                    </a:lnTo>
                    <a:lnTo>
                      <a:pt x="342" y="2007"/>
                    </a:lnTo>
                    <a:lnTo>
                      <a:pt x="421" y="2086"/>
                    </a:lnTo>
                    <a:lnTo>
                      <a:pt x="512" y="2152"/>
                    </a:lnTo>
                    <a:lnTo>
                      <a:pt x="604" y="2217"/>
                    </a:lnTo>
                    <a:lnTo>
                      <a:pt x="709" y="2257"/>
                    </a:lnTo>
                    <a:lnTo>
                      <a:pt x="814" y="2296"/>
                    </a:lnTo>
                    <a:lnTo>
                      <a:pt x="932" y="2335"/>
                    </a:lnTo>
                    <a:lnTo>
                      <a:pt x="1050" y="2348"/>
                    </a:lnTo>
                    <a:lnTo>
                      <a:pt x="1286" y="2348"/>
                    </a:lnTo>
                    <a:lnTo>
                      <a:pt x="1405" y="2335"/>
                    </a:lnTo>
                    <a:lnTo>
                      <a:pt x="1523" y="2296"/>
                    </a:lnTo>
                    <a:lnTo>
                      <a:pt x="1628" y="2257"/>
                    </a:lnTo>
                    <a:lnTo>
                      <a:pt x="1732" y="2217"/>
                    </a:lnTo>
                    <a:lnTo>
                      <a:pt x="1824" y="2152"/>
                    </a:lnTo>
                    <a:lnTo>
                      <a:pt x="1916" y="2086"/>
                    </a:lnTo>
                    <a:lnTo>
                      <a:pt x="1995" y="2007"/>
                    </a:lnTo>
                    <a:lnTo>
                      <a:pt x="2074" y="1929"/>
                    </a:lnTo>
                    <a:lnTo>
                      <a:pt x="2139" y="1837"/>
                    </a:lnTo>
                    <a:lnTo>
                      <a:pt x="2205" y="1745"/>
                    </a:lnTo>
                    <a:lnTo>
                      <a:pt x="2244" y="1640"/>
                    </a:lnTo>
                    <a:lnTo>
                      <a:pt x="2283" y="1535"/>
                    </a:lnTo>
                    <a:lnTo>
                      <a:pt x="2323" y="1417"/>
                    </a:lnTo>
                    <a:lnTo>
                      <a:pt x="2336" y="1299"/>
                    </a:lnTo>
                    <a:lnTo>
                      <a:pt x="2349" y="1181"/>
                    </a:lnTo>
                    <a:lnTo>
                      <a:pt x="2336" y="1063"/>
                    </a:lnTo>
                    <a:lnTo>
                      <a:pt x="2323" y="945"/>
                    </a:lnTo>
                    <a:lnTo>
                      <a:pt x="2283" y="827"/>
                    </a:lnTo>
                    <a:lnTo>
                      <a:pt x="2244" y="722"/>
                    </a:lnTo>
                    <a:lnTo>
                      <a:pt x="2205" y="617"/>
                    </a:lnTo>
                    <a:lnTo>
                      <a:pt x="2139" y="525"/>
                    </a:lnTo>
                    <a:lnTo>
                      <a:pt x="2074" y="433"/>
                    </a:lnTo>
                    <a:lnTo>
                      <a:pt x="1995" y="354"/>
                    </a:lnTo>
                    <a:lnTo>
                      <a:pt x="1916" y="276"/>
                    </a:lnTo>
                    <a:lnTo>
                      <a:pt x="1824" y="210"/>
                    </a:lnTo>
                    <a:lnTo>
                      <a:pt x="1732" y="144"/>
                    </a:lnTo>
                    <a:lnTo>
                      <a:pt x="1628" y="105"/>
                    </a:lnTo>
                    <a:lnTo>
                      <a:pt x="1523" y="66"/>
                    </a:lnTo>
                    <a:lnTo>
                      <a:pt x="1405" y="26"/>
                    </a:lnTo>
                    <a:lnTo>
                      <a:pt x="1286" y="13"/>
                    </a:lnTo>
                    <a:lnTo>
                      <a:pt x="116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2383;p45">
                <a:extLst>
                  <a:ext uri="{FF2B5EF4-FFF2-40B4-BE49-F238E27FC236}">
                    <a16:creationId xmlns:a16="http://schemas.microsoft.com/office/drawing/2014/main" id="{D8513D22-E9F6-2C5F-D873-0D7FEB21840D}"/>
                  </a:ext>
                </a:extLst>
              </p:cNvPr>
              <p:cNvSpPr/>
              <p:nvPr/>
            </p:nvSpPr>
            <p:spPr>
              <a:xfrm>
                <a:off x="3190311" y="2736191"/>
                <a:ext cx="207951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11585" h="2048" extrusionOk="0">
                    <a:moveTo>
                      <a:pt x="0" y="1"/>
                    </a:moveTo>
                    <a:lnTo>
                      <a:pt x="0" y="2047"/>
                    </a:lnTo>
                    <a:lnTo>
                      <a:pt x="11584" y="2047"/>
                    </a:lnTo>
                    <a:lnTo>
                      <a:pt x="1158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2384;p45">
                <a:extLst>
                  <a:ext uri="{FF2B5EF4-FFF2-40B4-BE49-F238E27FC236}">
                    <a16:creationId xmlns:a16="http://schemas.microsoft.com/office/drawing/2014/main" id="{9E25E4BD-CD30-23B5-D633-0A03338C61D0}"/>
                  </a:ext>
                </a:extLst>
              </p:cNvPr>
              <p:cNvSpPr/>
              <p:nvPr/>
            </p:nvSpPr>
            <p:spPr>
              <a:xfrm>
                <a:off x="3076562" y="236719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0"/>
                    </a:moveTo>
                    <a:lnTo>
                      <a:pt x="20689" y="0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2385;p45">
                <a:extLst>
                  <a:ext uri="{FF2B5EF4-FFF2-40B4-BE49-F238E27FC236}">
                    <a16:creationId xmlns:a16="http://schemas.microsoft.com/office/drawing/2014/main" id="{6BD221BC-F7E6-FE74-F5B5-81EA6774341C}"/>
                  </a:ext>
                </a:extLst>
              </p:cNvPr>
              <p:cNvSpPr/>
              <p:nvPr/>
            </p:nvSpPr>
            <p:spPr>
              <a:xfrm>
                <a:off x="3076562" y="259607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2386;p45">
                <a:extLst>
                  <a:ext uri="{FF2B5EF4-FFF2-40B4-BE49-F238E27FC236}">
                    <a16:creationId xmlns:a16="http://schemas.microsoft.com/office/drawing/2014/main" id="{D522A000-DF01-FDAB-38BA-2A491C37F0D3}"/>
                  </a:ext>
                </a:extLst>
              </p:cNvPr>
              <p:cNvSpPr/>
              <p:nvPr/>
            </p:nvSpPr>
            <p:spPr>
              <a:xfrm>
                <a:off x="3076562" y="2813663"/>
                <a:ext cx="371386" cy="18"/>
              </a:xfrm>
              <a:custGeom>
                <a:avLst/>
                <a:gdLst/>
                <a:ahLst/>
                <a:cxnLst/>
                <a:rect l="l" t="t" r="r" b="b"/>
                <a:pathLst>
                  <a:path w="20690" h="1" fill="none" extrusionOk="0">
                    <a:moveTo>
                      <a:pt x="1" y="1"/>
                    </a:moveTo>
                    <a:lnTo>
                      <a:pt x="20689" y="1"/>
                    </a:lnTo>
                  </a:path>
                </a:pathLst>
              </a:custGeom>
              <a:noFill/>
              <a:ln w="5575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2387;p45">
                <a:extLst>
                  <a:ext uri="{FF2B5EF4-FFF2-40B4-BE49-F238E27FC236}">
                    <a16:creationId xmlns:a16="http://schemas.microsoft.com/office/drawing/2014/main" id="{0FB70D6F-065A-E3B2-3E42-4B399404EDDE}"/>
                  </a:ext>
                </a:extLst>
              </p:cNvPr>
              <p:cNvSpPr/>
              <p:nvPr/>
            </p:nvSpPr>
            <p:spPr>
              <a:xfrm>
                <a:off x="3128133" y="2857461"/>
                <a:ext cx="134248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61" extrusionOk="0">
                    <a:moveTo>
                      <a:pt x="1" y="1"/>
                    </a:moveTo>
                    <a:lnTo>
                      <a:pt x="1" y="2061"/>
                    </a:lnTo>
                    <a:lnTo>
                      <a:pt x="7479" y="2061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Google Shape;2388;p45">
                <a:extLst>
                  <a:ext uri="{FF2B5EF4-FFF2-40B4-BE49-F238E27FC236}">
                    <a16:creationId xmlns:a16="http://schemas.microsoft.com/office/drawing/2014/main" id="{08956206-D5BF-373E-1827-51861E594460}"/>
                  </a:ext>
                </a:extLst>
              </p:cNvPr>
              <p:cNvSpPr/>
              <p:nvPr/>
            </p:nvSpPr>
            <p:spPr>
              <a:xfrm>
                <a:off x="3128133" y="2922691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2389;p45">
                <a:extLst>
                  <a:ext uri="{FF2B5EF4-FFF2-40B4-BE49-F238E27FC236}">
                    <a16:creationId xmlns:a16="http://schemas.microsoft.com/office/drawing/2014/main" id="{86C0639E-F0A6-0692-E912-307B7005C497}"/>
                  </a:ext>
                </a:extLst>
              </p:cNvPr>
              <p:cNvSpPr/>
              <p:nvPr/>
            </p:nvSpPr>
            <p:spPr>
              <a:xfrm>
                <a:off x="3128133" y="2987688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Google Shape;2390;p45">
                <a:extLst>
                  <a:ext uri="{FF2B5EF4-FFF2-40B4-BE49-F238E27FC236}">
                    <a16:creationId xmlns:a16="http://schemas.microsoft.com/office/drawing/2014/main" id="{502B895D-E4C5-DF3E-F2AE-C70A6A89C17D}"/>
                  </a:ext>
                </a:extLst>
              </p:cNvPr>
              <p:cNvSpPr/>
              <p:nvPr/>
            </p:nvSpPr>
            <p:spPr>
              <a:xfrm>
                <a:off x="3128133" y="3052685"/>
                <a:ext cx="134248" cy="36995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61" extrusionOk="0">
                    <a:moveTo>
                      <a:pt x="1" y="1"/>
                    </a:moveTo>
                    <a:lnTo>
                      <a:pt x="1" y="2060"/>
                    </a:lnTo>
                    <a:lnTo>
                      <a:pt x="7479" y="2060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Google Shape;2391;p45">
                <a:extLst>
                  <a:ext uri="{FF2B5EF4-FFF2-40B4-BE49-F238E27FC236}">
                    <a16:creationId xmlns:a16="http://schemas.microsoft.com/office/drawing/2014/main" id="{B751D963-110E-33C2-E520-05540154C4DF}"/>
                  </a:ext>
                </a:extLst>
              </p:cNvPr>
              <p:cNvSpPr/>
              <p:nvPr/>
            </p:nvSpPr>
            <p:spPr>
              <a:xfrm>
                <a:off x="3128133" y="3117916"/>
                <a:ext cx="134248" cy="36762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8" extrusionOk="0">
                    <a:moveTo>
                      <a:pt x="1" y="1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Google Shape;2392;p45">
                <a:extLst>
                  <a:ext uri="{FF2B5EF4-FFF2-40B4-BE49-F238E27FC236}">
                    <a16:creationId xmlns:a16="http://schemas.microsoft.com/office/drawing/2014/main" id="{8A48754F-691D-BAEA-12AA-D344CC8C6E4C}"/>
                  </a:ext>
                </a:extLst>
              </p:cNvPr>
              <p:cNvSpPr/>
              <p:nvPr/>
            </p:nvSpPr>
            <p:spPr>
              <a:xfrm>
                <a:off x="3128133" y="3182913"/>
                <a:ext cx="134248" cy="36744"/>
              </a:xfrm>
              <a:custGeom>
                <a:avLst/>
                <a:gdLst/>
                <a:ahLst/>
                <a:cxnLst/>
                <a:rect l="l" t="t" r="r" b="b"/>
                <a:pathLst>
                  <a:path w="7479" h="2047" extrusionOk="0">
                    <a:moveTo>
                      <a:pt x="1" y="0"/>
                    </a:moveTo>
                    <a:lnTo>
                      <a:pt x="1" y="2047"/>
                    </a:lnTo>
                    <a:lnTo>
                      <a:pt x="7479" y="2047"/>
                    </a:lnTo>
                    <a:lnTo>
                      <a:pt x="74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9" name="Google Shape;2393;p45">
              <a:extLst>
                <a:ext uri="{FF2B5EF4-FFF2-40B4-BE49-F238E27FC236}">
                  <a16:creationId xmlns:a16="http://schemas.microsoft.com/office/drawing/2014/main" id="{C25E29D6-541F-D199-7E94-EF84AD423805}"/>
                </a:ext>
              </a:extLst>
            </p:cNvPr>
            <p:cNvGrpSpPr/>
            <p:nvPr/>
          </p:nvGrpSpPr>
          <p:grpSpPr>
            <a:xfrm>
              <a:off x="4962121" y="2452285"/>
              <a:ext cx="1066388" cy="666717"/>
              <a:chOff x="5097171" y="2413221"/>
              <a:chExt cx="931587" cy="582388"/>
            </a:xfrm>
          </p:grpSpPr>
          <p:sp>
            <p:nvSpPr>
              <p:cNvPr id="1025" name="Google Shape;2394;p45">
                <a:extLst>
                  <a:ext uri="{FF2B5EF4-FFF2-40B4-BE49-F238E27FC236}">
                    <a16:creationId xmlns:a16="http://schemas.microsoft.com/office/drawing/2014/main" id="{DE6F4075-39CD-17A4-93C1-ED7D361E41B1}"/>
                  </a:ext>
                </a:extLst>
              </p:cNvPr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519" extrusionOk="0">
                    <a:moveTo>
                      <a:pt x="0" y="1"/>
                    </a:moveTo>
                    <a:lnTo>
                      <a:pt x="0" y="29518"/>
                    </a:lnTo>
                    <a:lnTo>
                      <a:pt x="51899" y="29518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Google Shape;2395;p45">
                <a:extLst>
                  <a:ext uri="{FF2B5EF4-FFF2-40B4-BE49-F238E27FC236}">
                    <a16:creationId xmlns:a16="http://schemas.microsoft.com/office/drawing/2014/main" id="{58E84204-4A5C-79B0-A408-2339211F0DDE}"/>
                  </a:ext>
                </a:extLst>
              </p:cNvPr>
              <p:cNvSpPr/>
              <p:nvPr/>
            </p:nvSpPr>
            <p:spPr>
              <a:xfrm>
                <a:off x="5097171" y="2465743"/>
                <a:ext cx="931587" cy="529866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519" fill="none" extrusionOk="0">
                    <a:moveTo>
                      <a:pt x="51899" y="29518"/>
                    </a:moveTo>
                    <a:lnTo>
                      <a:pt x="0" y="29518"/>
                    </a:lnTo>
                    <a:lnTo>
                      <a:pt x="0" y="1"/>
                    </a:lnTo>
                    <a:lnTo>
                      <a:pt x="51899" y="1"/>
                    </a:lnTo>
                    <a:lnTo>
                      <a:pt x="51899" y="29518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2396;p45">
                <a:extLst>
                  <a:ext uri="{FF2B5EF4-FFF2-40B4-BE49-F238E27FC236}">
                    <a16:creationId xmlns:a16="http://schemas.microsoft.com/office/drawing/2014/main" id="{69CFBB51-53FD-2570-B654-2F85749B277C}"/>
                  </a:ext>
                </a:extLst>
              </p:cNvPr>
              <p:cNvSpPr/>
              <p:nvPr/>
            </p:nvSpPr>
            <p:spPr>
              <a:xfrm>
                <a:off x="5097171" y="2865364"/>
                <a:ext cx="931587" cy="130245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7256" extrusionOk="0">
                    <a:moveTo>
                      <a:pt x="0" y="0"/>
                    </a:moveTo>
                    <a:lnTo>
                      <a:pt x="0" y="7255"/>
                    </a:lnTo>
                    <a:lnTo>
                      <a:pt x="51899" y="7255"/>
                    </a:lnTo>
                    <a:lnTo>
                      <a:pt x="5189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Google Shape;2397;p45">
                <a:extLst>
                  <a:ext uri="{FF2B5EF4-FFF2-40B4-BE49-F238E27FC236}">
                    <a16:creationId xmlns:a16="http://schemas.microsoft.com/office/drawing/2014/main" id="{8DD3A26B-BF4D-BC61-07E1-2A7901094B83}"/>
                  </a:ext>
                </a:extLst>
              </p:cNvPr>
              <p:cNvSpPr/>
              <p:nvPr/>
            </p:nvSpPr>
            <p:spPr>
              <a:xfrm>
                <a:off x="5125658" y="2917885"/>
                <a:ext cx="745338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41523" h="1391" extrusionOk="0">
                    <a:moveTo>
                      <a:pt x="1" y="0"/>
                    </a:moveTo>
                    <a:lnTo>
                      <a:pt x="1" y="1391"/>
                    </a:lnTo>
                    <a:lnTo>
                      <a:pt x="41522" y="1391"/>
                    </a:lnTo>
                    <a:lnTo>
                      <a:pt x="4152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Google Shape;2398;p45">
                <a:extLst>
                  <a:ext uri="{FF2B5EF4-FFF2-40B4-BE49-F238E27FC236}">
                    <a16:creationId xmlns:a16="http://schemas.microsoft.com/office/drawing/2014/main" id="{3762A711-A768-04FA-79B6-BFE0107A3AF0}"/>
                  </a:ext>
                </a:extLst>
              </p:cNvPr>
              <p:cNvSpPr/>
              <p:nvPr/>
            </p:nvSpPr>
            <p:spPr>
              <a:xfrm>
                <a:off x="5125658" y="2917885"/>
                <a:ext cx="372552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20755" h="1391" extrusionOk="0">
                    <a:moveTo>
                      <a:pt x="1" y="0"/>
                    </a:moveTo>
                    <a:lnTo>
                      <a:pt x="1" y="1391"/>
                    </a:lnTo>
                    <a:lnTo>
                      <a:pt x="20755" y="1391"/>
                    </a:lnTo>
                    <a:lnTo>
                      <a:pt x="2075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2399;p45">
                <a:extLst>
                  <a:ext uri="{FF2B5EF4-FFF2-40B4-BE49-F238E27FC236}">
                    <a16:creationId xmlns:a16="http://schemas.microsoft.com/office/drawing/2014/main" id="{3C882F75-80F4-6AB8-5990-18C675156128}"/>
                  </a:ext>
                </a:extLst>
              </p:cNvPr>
              <p:cNvSpPr/>
              <p:nvPr/>
            </p:nvSpPr>
            <p:spPr>
              <a:xfrm>
                <a:off x="5956689" y="2917885"/>
                <a:ext cx="11093" cy="6139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42" extrusionOk="0">
                    <a:moveTo>
                      <a:pt x="1" y="0"/>
                    </a:moveTo>
                    <a:lnTo>
                      <a:pt x="1" y="341"/>
                    </a:lnTo>
                    <a:lnTo>
                      <a:pt x="171" y="341"/>
                    </a:lnTo>
                    <a:lnTo>
                      <a:pt x="171" y="184"/>
                    </a:lnTo>
                    <a:lnTo>
                      <a:pt x="617" y="184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Google Shape;2400;p45">
                <a:extLst>
                  <a:ext uri="{FF2B5EF4-FFF2-40B4-BE49-F238E27FC236}">
                    <a16:creationId xmlns:a16="http://schemas.microsoft.com/office/drawing/2014/main" id="{C819B114-8C37-B968-6C98-3770A79BE075}"/>
                  </a:ext>
                </a:extLst>
              </p:cNvPr>
              <p:cNvSpPr/>
              <p:nvPr/>
            </p:nvSpPr>
            <p:spPr>
              <a:xfrm>
                <a:off x="5989196" y="2917885"/>
                <a:ext cx="11075" cy="6139"/>
              </a:xfrm>
              <a:custGeom>
                <a:avLst/>
                <a:gdLst/>
                <a:ahLst/>
                <a:cxnLst/>
                <a:rect l="l" t="t" r="r" b="b"/>
                <a:pathLst>
                  <a:path w="617" h="342" extrusionOk="0">
                    <a:moveTo>
                      <a:pt x="0" y="0"/>
                    </a:moveTo>
                    <a:lnTo>
                      <a:pt x="0" y="184"/>
                    </a:lnTo>
                    <a:lnTo>
                      <a:pt x="446" y="184"/>
                    </a:lnTo>
                    <a:lnTo>
                      <a:pt x="446" y="341"/>
                    </a:lnTo>
                    <a:lnTo>
                      <a:pt x="617" y="341"/>
                    </a:lnTo>
                    <a:lnTo>
                      <a:pt x="61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Google Shape;2401;p45">
                <a:extLst>
                  <a:ext uri="{FF2B5EF4-FFF2-40B4-BE49-F238E27FC236}">
                    <a16:creationId xmlns:a16="http://schemas.microsoft.com/office/drawing/2014/main" id="{56A15A38-22E5-FB8A-9415-AD76215CCFD0}"/>
                  </a:ext>
                </a:extLst>
              </p:cNvPr>
              <p:cNvSpPr/>
              <p:nvPr/>
            </p:nvSpPr>
            <p:spPr>
              <a:xfrm>
                <a:off x="5989196" y="2936948"/>
                <a:ext cx="11075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617" h="329" extrusionOk="0">
                    <a:moveTo>
                      <a:pt x="446" y="1"/>
                    </a:moveTo>
                    <a:lnTo>
                      <a:pt x="446" y="158"/>
                    </a:lnTo>
                    <a:lnTo>
                      <a:pt x="0" y="158"/>
                    </a:lnTo>
                    <a:lnTo>
                      <a:pt x="0" y="329"/>
                    </a:lnTo>
                    <a:lnTo>
                      <a:pt x="617" y="329"/>
                    </a:lnTo>
                    <a:lnTo>
                      <a:pt x="61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Google Shape;2402;p45">
                <a:extLst>
                  <a:ext uri="{FF2B5EF4-FFF2-40B4-BE49-F238E27FC236}">
                    <a16:creationId xmlns:a16="http://schemas.microsoft.com/office/drawing/2014/main" id="{6DD6FC44-3905-BF8E-F88F-383A8947705F}"/>
                  </a:ext>
                </a:extLst>
              </p:cNvPr>
              <p:cNvSpPr/>
              <p:nvPr/>
            </p:nvSpPr>
            <p:spPr>
              <a:xfrm>
                <a:off x="5956689" y="2936948"/>
                <a:ext cx="11093" cy="5906"/>
              </a:xfrm>
              <a:custGeom>
                <a:avLst/>
                <a:gdLst/>
                <a:ahLst/>
                <a:cxnLst/>
                <a:rect l="l" t="t" r="r" b="b"/>
                <a:pathLst>
                  <a:path w="618" h="329" extrusionOk="0">
                    <a:moveTo>
                      <a:pt x="1" y="1"/>
                    </a:moveTo>
                    <a:lnTo>
                      <a:pt x="1" y="329"/>
                    </a:lnTo>
                    <a:lnTo>
                      <a:pt x="617" y="329"/>
                    </a:lnTo>
                    <a:lnTo>
                      <a:pt x="617" y="158"/>
                    </a:lnTo>
                    <a:lnTo>
                      <a:pt x="171" y="158"/>
                    </a:lnTo>
                    <a:lnTo>
                      <a:pt x="17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2403;p45">
                <a:extLst>
                  <a:ext uri="{FF2B5EF4-FFF2-40B4-BE49-F238E27FC236}">
                    <a16:creationId xmlns:a16="http://schemas.microsoft.com/office/drawing/2014/main" id="{362121D2-109F-C968-F340-F5B861884AB9}"/>
                  </a:ext>
                </a:extLst>
              </p:cNvPr>
              <p:cNvSpPr/>
              <p:nvPr/>
            </p:nvSpPr>
            <p:spPr>
              <a:xfrm>
                <a:off x="5890292" y="2917885"/>
                <a:ext cx="47101" cy="24968"/>
              </a:xfrm>
              <a:custGeom>
                <a:avLst/>
                <a:gdLst/>
                <a:ahLst/>
                <a:cxnLst/>
                <a:rect l="l" t="t" r="r" b="b"/>
                <a:pathLst>
                  <a:path w="2624" h="1391" extrusionOk="0">
                    <a:moveTo>
                      <a:pt x="0" y="0"/>
                    </a:moveTo>
                    <a:lnTo>
                      <a:pt x="0" y="1391"/>
                    </a:lnTo>
                    <a:lnTo>
                      <a:pt x="2624" y="1391"/>
                    </a:lnTo>
                    <a:lnTo>
                      <a:pt x="262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Google Shape;2404;p45">
                <a:extLst>
                  <a:ext uri="{FF2B5EF4-FFF2-40B4-BE49-F238E27FC236}">
                    <a16:creationId xmlns:a16="http://schemas.microsoft.com/office/drawing/2014/main" id="{64F7B608-A1DF-8D64-52DF-5E4A82BB76B7}"/>
                  </a:ext>
                </a:extLst>
              </p:cNvPr>
              <p:cNvSpPr/>
              <p:nvPr/>
            </p:nvSpPr>
            <p:spPr>
              <a:xfrm>
                <a:off x="5907237" y="2922121"/>
                <a:ext cx="15796" cy="16729"/>
              </a:xfrm>
              <a:custGeom>
                <a:avLst/>
                <a:gdLst/>
                <a:ahLst/>
                <a:cxnLst/>
                <a:rect l="l" t="t" r="r" b="b"/>
                <a:pathLst>
                  <a:path w="880" h="932" extrusionOk="0">
                    <a:moveTo>
                      <a:pt x="1" y="0"/>
                    </a:moveTo>
                    <a:lnTo>
                      <a:pt x="1" y="459"/>
                    </a:lnTo>
                    <a:lnTo>
                      <a:pt x="1" y="932"/>
                    </a:lnTo>
                    <a:lnTo>
                      <a:pt x="447" y="695"/>
                    </a:lnTo>
                    <a:lnTo>
                      <a:pt x="880" y="459"/>
                    </a:lnTo>
                    <a:lnTo>
                      <a:pt x="447" y="223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2405;p45">
                <a:extLst>
                  <a:ext uri="{FF2B5EF4-FFF2-40B4-BE49-F238E27FC236}">
                    <a16:creationId xmlns:a16="http://schemas.microsoft.com/office/drawing/2014/main" id="{52B26B86-0ED5-D52F-4B05-F69569BBADBE}"/>
                  </a:ext>
                </a:extLst>
              </p:cNvPr>
              <p:cNvSpPr/>
              <p:nvPr/>
            </p:nvSpPr>
            <p:spPr>
              <a:xfrm>
                <a:off x="5097171" y="2413221"/>
                <a:ext cx="931587" cy="52540"/>
              </a:xfrm>
              <a:custGeom>
                <a:avLst/>
                <a:gdLst/>
                <a:ahLst/>
                <a:cxnLst/>
                <a:rect l="l" t="t" r="r" b="b"/>
                <a:pathLst>
                  <a:path w="51899" h="2927" extrusionOk="0">
                    <a:moveTo>
                      <a:pt x="0" y="1"/>
                    </a:moveTo>
                    <a:lnTo>
                      <a:pt x="0" y="2927"/>
                    </a:lnTo>
                    <a:lnTo>
                      <a:pt x="51899" y="2927"/>
                    </a:lnTo>
                    <a:lnTo>
                      <a:pt x="5189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2406;p45">
                <a:extLst>
                  <a:ext uri="{FF2B5EF4-FFF2-40B4-BE49-F238E27FC236}">
                    <a16:creationId xmlns:a16="http://schemas.microsoft.com/office/drawing/2014/main" id="{9DD202CD-55E8-2A9D-3D1D-A4E49116AD2A}"/>
                  </a:ext>
                </a:extLst>
              </p:cNvPr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extrusionOk="0"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Google Shape;2407;p45">
                <a:extLst>
                  <a:ext uri="{FF2B5EF4-FFF2-40B4-BE49-F238E27FC236}">
                    <a16:creationId xmlns:a16="http://schemas.microsoft.com/office/drawing/2014/main" id="{0328F831-3055-9CEE-43E2-AFEAEEC652D2}"/>
                  </a:ext>
                </a:extLst>
              </p:cNvPr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fill="none" extrusionOk="0">
                    <a:moveTo>
                      <a:pt x="5720" y="1"/>
                    </a:moveTo>
                    <a:lnTo>
                      <a:pt x="5720" y="1"/>
                    </a:lnTo>
                    <a:lnTo>
                      <a:pt x="5982" y="1"/>
                    </a:lnTo>
                    <a:lnTo>
                      <a:pt x="6245" y="14"/>
                    </a:lnTo>
                    <a:lnTo>
                      <a:pt x="6507" y="53"/>
                    </a:lnTo>
                    <a:lnTo>
                      <a:pt x="6756" y="93"/>
                    </a:lnTo>
                    <a:lnTo>
                      <a:pt x="7019" y="145"/>
                    </a:lnTo>
                    <a:lnTo>
                      <a:pt x="7268" y="197"/>
                    </a:lnTo>
                    <a:lnTo>
                      <a:pt x="7504" y="276"/>
                    </a:lnTo>
                    <a:lnTo>
                      <a:pt x="7740" y="355"/>
                    </a:lnTo>
                    <a:lnTo>
                      <a:pt x="7976" y="460"/>
                    </a:lnTo>
                    <a:lnTo>
                      <a:pt x="8213" y="552"/>
                    </a:lnTo>
                    <a:lnTo>
                      <a:pt x="8436" y="670"/>
                    </a:lnTo>
                    <a:lnTo>
                      <a:pt x="8659" y="801"/>
                    </a:lnTo>
                    <a:lnTo>
                      <a:pt x="8868" y="932"/>
                    </a:lnTo>
                    <a:lnTo>
                      <a:pt x="9078" y="1063"/>
                    </a:lnTo>
                    <a:lnTo>
                      <a:pt x="9275" y="1221"/>
                    </a:lnTo>
                    <a:lnTo>
                      <a:pt x="9472" y="1378"/>
                    </a:lnTo>
                    <a:lnTo>
                      <a:pt x="9656" y="1549"/>
                    </a:lnTo>
                    <a:lnTo>
                      <a:pt x="9839" y="1719"/>
                    </a:lnTo>
                    <a:lnTo>
                      <a:pt x="10010" y="1903"/>
                    </a:lnTo>
                    <a:lnTo>
                      <a:pt x="10167" y="2087"/>
                    </a:lnTo>
                    <a:lnTo>
                      <a:pt x="10325" y="2283"/>
                    </a:lnTo>
                    <a:lnTo>
                      <a:pt x="10482" y="2493"/>
                    </a:lnTo>
                    <a:lnTo>
                      <a:pt x="10613" y="2703"/>
                    </a:lnTo>
                    <a:lnTo>
                      <a:pt x="10745" y="2913"/>
                    </a:lnTo>
                    <a:lnTo>
                      <a:pt x="10863" y="3136"/>
                    </a:lnTo>
                    <a:lnTo>
                      <a:pt x="10981" y="3372"/>
                    </a:lnTo>
                    <a:lnTo>
                      <a:pt x="11072" y="3595"/>
                    </a:lnTo>
                    <a:lnTo>
                      <a:pt x="11164" y="3845"/>
                    </a:lnTo>
                    <a:lnTo>
                      <a:pt x="11256" y="4081"/>
                    </a:lnTo>
                    <a:lnTo>
                      <a:pt x="11322" y="4330"/>
                    </a:lnTo>
                    <a:lnTo>
                      <a:pt x="11374" y="4579"/>
                    </a:lnTo>
                    <a:lnTo>
                      <a:pt x="11427" y="4842"/>
                    </a:lnTo>
                    <a:lnTo>
                      <a:pt x="11427" y="4842"/>
                    </a:lnTo>
                    <a:lnTo>
                      <a:pt x="11610" y="4789"/>
                    </a:lnTo>
                    <a:lnTo>
                      <a:pt x="11794" y="4763"/>
                    </a:lnTo>
                    <a:lnTo>
                      <a:pt x="11991" y="4750"/>
                    </a:lnTo>
                    <a:lnTo>
                      <a:pt x="12188" y="4737"/>
                    </a:lnTo>
                    <a:lnTo>
                      <a:pt x="12188" y="4737"/>
                    </a:lnTo>
                    <a:lnTo>
                      <a:pt x="12384" y="4750"/>
                    </a:lnTo>
                    <a:lnTo>
                      <a:pt x="12581" y="4763"/>
                    </a:lnTo>
                    <a:lnTo>
                      <a:pt x="12778" y="4789"/>
                    </a:lnTo>
                    <a:lnTo>
                      <a:pt x="12988" y="4842"/>
                    </a:lnTo>
                    <a:lnTo>
                      <a:pt x="12988" y="4842"/>
                    </a:lnTo>
                    <a:lnTo>
                      <a:pt x="13040" y="4579"/>
                    </a:lnTo>
                    <a:lnTo>
                      <a:pt x="13093" y="4330"/>
                    </a:lnTo>
                    <a:lnTo>
                      <a:pt x="13172" y="4081"/>
                    </a:lnTo>
                    <a:lnTo>
                      <a:pt x="13250" y="3845"/>
                    </a:lnTo>
                    <a:lnTo>
                      <a:pt x="13342" y="3608"/>
                    </a:lnTo>
                    <a:lnTo>
                      <a:pt x="13434" y="3385"/>
                    </a:lnTo>
                    <a:lnTo>
                      <a:pt x="13552" y="3162"/>
                    </a:lnTo>
                    <a:lnTo>
                      <a:pt x="13670" y="2939"/>
                    </a:lnTo>
                    <a:lnTo>
                      <a:pt x="13801" y="2729"/>
                    </a:lnTo>
                    <a:lnTo>
                      <a:pt x="13932" y="2520"/>
                    </a:lnTo>
                    <a:lnTo>
                      <a:pt x="14077" y="2323"/>
                    </a:lnTo>
                    <a:lnTo>
                      <a:pt x="14234" y="2126"/>
                    </a:lnTo>
                    <a:lnTo>
                      <a:pt x="14392" y="1942"/>
                    </a:lnTo>
                    <a:lnTo>
                      <a:pt x="14562" y="1759"/>
                    </a:lnTo>
                    <a:lnTo>
                      <a:pt x="14746" y="1588"/>
                    </a:lnTo>
                    <a:lnTo>
                      <a:pt x="14929" y="1431"/>
                    </a:lnTo>
                    <a:lnTo>
                      <a:pt x="15113" y="1273"/>
                    </a:lnTo>
                    <a:lnTo>
                      <a:pt x="15310" y="1129"/>
                    </a:lnTo>
                    <a:lnTo>
                      <a:pt x="15520" y="985"/>
                    </a:lnTo>
                    <a:lnTo>
                      <a:pt x="15730" y="853"/>
                    </a:lnTo>
                    <a:lnTo>
                      <a:pt x="15940" y="735"/>
                    </a:lnTo>
                    <a:lnTo>
                      <a:pt x="16163" y="617"/>
                    </a:lnTo>
                    <a:lnTo>
                      <a:pt x="16399" y="525"/>
                    </a:lnTo>
                    <a:lnTo>
                      <a:pt x="16622" y="420"/>
                    </a:lnTo>
                    <a:lnTo>
                      <a:pt x="16858" y="342"/>
                    </a:lnTo>
                    <a:lnTo>
                      <a:pt x="17107" y="276"/>
                    </a:lnTo>
                    <a:lnTo>
                      <a:pt x="17343" y="211"/>
                    </a:lnTo>
                    <a:lnTo>
                      <a:pt x="17593" y="158"/>
                    </a:lnTo>
                    <a:lnTo>
                      <a:pt x="17855" y="119"/>
                    </a:lnTo>
                    <a:lnTo>
                      <a:pt x="18104" y="79"/>
                    </a:lnTo>
                    <a:lnTo>
                      <a:pt x="18367" y="66"/>
                    </a:lnTo>
                    <a:lnTo>
                      <a:pt x="18629" y="53"/>
                    </a:lnTo>
                    <a:lnTo>
                      <a:pt x="18629" y="53"/>
                    </a:lnTo>
                    <a:lnTo>
                      <a:pt x="18918" y="66"/>
                    </a:lnTo>
                    <a:lnTo>
                      <a:pt x="19219" y="93"/>
                    </a:lnTo>
                    <a:lnTo>
                      <a:pt x="19508" y="119"/>
                    </a:lnTo>
                    <a:lnTo>
                      <a:pt x="19783" y="171"/>
                    </a:lnTo>
                    <a:lnTo>
                      <a:pt x="20059" y="237"/>
                    </a:lnTo>
                    <a:lnTo>
                      <a:pt x="20334" y="316"/>
                    </a:lnTo>
                    <a:lnTo>
                      <a:pt x="20610" y="394"/>
                    </a:lnTo>
                    <a:lnTo>
                      <a:pt x="20859" y="499"/>
                    </a:lnTo>
                    <a:lnTo>
                      <a:pt x="21122" y="617"/>
                    </a:lnTo>
                    <a:lnTo>
                      <a:pt x="21371" y="735"/>
                    </a:lnTo>
                    <a:lnTo>
                      <a:pt x="21607" y="880"/>
                    </a:lnTo>
                    <a:lnTo>
                      <a:pt x="21843" y="1024"/>
                    </a:lnTo>
                    <a:lnTo>
                      <a:pt x="22066" y="1181"/>
                    </a:lnTo>
                    <a:lnTo>
                      <a:pt x="22289" y="1352"/>
                    </a:lnTo>
                    <a:lnTo>
                      <a:pt x="22499" y="1536"/>
                    </a:lnTo>
                    <a:lnTo>
                      <a:pt x="22696" y="1732"/>
                    </a:lnTo>
                    <a:lnTo>
                      <a:pt x="22893" y="1929"/>
                    </a:lnTo>
                    <a:lnTo>
                      <a:pt x="23076" y="2139"/>
                    </a:lnTo>
                    <a:lnTo>
                      <a:pt x="23247" y="2349"/>
                    </a:lnTo>
                    <a:lnTo>
                      <a:pt x="23404" y="2572"/>
                    </a:lnTo>
                    <a:lnTo>
                      <a:pt x="23562" y="2808"/>
                    </a:lnTo>
                    <a:lnTo>
                      <a:pt x="23693" y="3044"/>
                    </a:lnTo>
                    <a:lnTo>
                      <a:pt x="23824" y="3294"/>
                    </a:lnTo>
                    <a:lnTo>
                      <a:pt x="23942" y="3543"/>
                    </a:lnTo>
                    <a:lnTo>
                      <a:pt x="24047" y="3805"/>
                    </a:lnTo>
                    <a:lnTo>
                      <a:pt x="24139" y="4081"/>
                    </a:lnTo>
                    <a:lnTo>
                      <a:pt x="24218" y="4343"/>
                    </a:lnTo>
                    <a:lnTo>
                      <a:pt x="24283" y="4632"/>
                    </a:lnTo>
                    <a:lnTo>
                      <a:pt x="24336" y="4907"/>
                    </a:lnTo>
                    <a:lnTo>
                      <a:pt x="24375" y="5196"/>
                    </a:lnTo>
                    <a:lnTo>
                      <a:pt x="24401" y="5484"/>
                    </a:lnTo>
                    <a:lnTo>
                      <a:pt x="24401" y="5786"/>
                    </a:lnTo>
                    <a:lnTo>
                      <a:pt x="24401" y="5786"/>
                    </a:lnTo>
                    <a:lnTo>
                      <a:pt x="24401" y="6075"/>
                    </a:lnTo>
                    <a:lnTo>
                      <a:pt x="24375" y="6377"/>
                    </a:lnTo>
                    <a:lnTo>
                      <a:pt x="24336" y="6652"/>
                    </a:lnTo>
                    <a:lnTo>
                      <a:pt x="24296" y="6941"/>
                    </a:lnTo>
                    <a:lnTo>
                      <a:pt x="24231" y="7216"/>
                    </a:lnTo>
                    <a:lnTo>
                      <a:pt x="24152" y="7492"/>
                    </a:lnTo>
                    <a:lnTo>
                      <a:pt x="24060" y="7754"/>
                    </a:lnTo>
                    <a:lnTo>
                      <a:pt x="23968" y="8016"/>
                    </a:lnTo>
                    <a:lnTo>
                      <a:pt x="23850" y="8279"/>
                    </a:lnTo>
                    <a:lnTo>
                      <a:pt x="23719" y="8528"/>
                    </a:lnTo>
                    <a:lnTo>
                      <a:pt x="23588" y="8764"/>
                    </a:lnTo>
                    <a:lnTo>
                      <a:pt x="23431" y="9000"/>
                    </a:lnTo>
                    <a:lnTo>
                      <a:pt x="23273" y="9223"/>
                    </a:lnTo>
                    <a:lnTo>
                      <a:pt x="23103" y="9446"/>
                    </a:lnTo>
                    <a:lnTo>
                      <a:pt x="22932" y="9656"/>
                    </a:lnTo>
                    <a:lnTo>
                      <a:pt x="22735" y="9853"/>
                    </a:lnTo>
                    <a:lnTo>
                      <a:pt x="22538" y="10050"/>
                    </a:lnTo>
                    <a:lnTo>
                      <a:pt x="22329" y="10234"/>
                    </a:lnTo>
                    <a:lnTo>
                      <a:pt x="22119" y="10404"/>
                    </a:lnTo>
                    <a:lnTo>
                      <a:pt x="21882" y="10561"/>
                    </a:lnTo>
                    <a:lnTo>
                      <a:pt x="21659" y="10719"/>
                    </a:lnTo>
                    <a:lnTo>
                      <a:pt x="21410" y="10850"/>
                    </a:lnTo>
                    <a:lnTo>
                      <a:pt x="21174" y="10981"/>
                    </a:lnTo>
                    <a:lnTo>
                      <a:pt x="20912" y="11099"/>
                    </a:lnTo>
                    <a:lnTo>
                      <a:pt x="20649" y="11204"/>
                    </a:lnTo>
                    <a:lnTo>
                      <a:pt x="20387" y="11296"/>
                    </a:lnTo>
                    <a:lnTo>
                      <a:pt x="20111" y="11375"/>
                    </a:lnTo>
                    <a:lnTo>
                      <a:pt x="19836" y="11440"/>
                    </a:lnTo>
                    <a:lnTo>
                      <a:pt x="19560" y="11493"/>
                    </a:lnTo>
                    <a:lnTo>
                      <a:pt x="19272" y="11532"/>
                    </a:lnTo>
                    <a:lnTo>
                      <a:pt x="18970" y="11545"/>
                    </a:lnTo>
                    <a:lnTo>
                      <a:pt x="18681" y="11559"/>
                    </a:lnTo>
                    <a:lnTo>
                      <a:pt x="18681" y="11559"/>
                    </a:lnTo>
                    <a:lnTo>
                      <a:pt x="18393" y="11559"/>
                    </a:lnTo>
                    <a:lnTo>
                      <a:pt x="18104" y="11532"/>
                    </a:lnTo>
                    <a:lnTo>
                      <a:pt x="17829" y="11506"/>
                    </a:lnTo>
                    <a:lnTo>
                      <a:pt x="17553" y="11454"/>
                    </a:lnTo>
                    <a:lnTo>
                      <a:pt x="17278" y="11388"/>
                    </a:lnTo>
                    <a:lnTo>
                      <a:pt x="17002" y="11322"/>
                    </a:lnTo>
                    <a:lnTo>
                      <a:pt x="16740" y="11231"/>
                    </a:lnTo>
                    <a:lnTo>
                      <a:pt x="16491" y="11139"/>
                    </a:lnTo>
                    <a:lnTo>
                      <a:pt x="16241" y="11034"/>
                    </a:lnTo>
                    <a:lnTo>
                      <a:pt x="15992" y="10903"/>
                    </a:lnTo>
                    <a:lnTo>
                      <a:pt x="15756" y="10771"/>
                    </a:lnTo>
                    <a:lnTo>
                      <a:pt x="15520" y="10627"/>
                    </a:lnTo>
                    <a:lnTo>
                      <a:pt x="15297" y="10483"/>
                    </a:lnTo>
                    <a:lnTo>
                      <a:pt x="15087" y="10312"/>
                    </a:lnTo>
                    <a:lnTo>
                      <a:pt x="14877" y="10142"/>
                    </a:lnTo>
                    <a:lnTo>
                      <a:pt x="14680" y="9958"/>
                    </a:lnTo>
                    <a:lnTo>
                      <a:pt x="14483" y="9774"/>
                    </a:lnTo>
                    <a:lnTo>
                      <a:pt x="14313" y="9564"/>
                    </a:lnTo>
                    <a:lnTo>
                      <a:pt x="14129" y="9355"/>
                    </a:lnTo>
                    <a:lnTo>
                      <a:pt x="13972" y="9145"/>
                    </a:lnTo>
                    <a:lnTo>
                      <a:pt x="13814" y="8922"/>
                    </a:lnTo>
                    <a:lnTo>
                      <a:pt x="13683" y="8685"/>
                    </a:lnTo>
                    <a:lnTo>
                      <a:pt x="13552" y="8449"/>
                    </a:lnTo>
                    <a:lnTo>
                      <a:pt x="13434" y="8200"/>
                    </a:lnTo>
                    <a:lnTo>
                      <a:pt x="13316" y="7951"/>
                    </a:lnTo>
                    <a:lnTo>
                      <a:pt x="13224" y="7688"/>
                    </a:lnTo>
                    <a:lnTo>
                      <a:pt x="13132" y="7426"/>
                    </a:lnTo>
                    <a:lnTo>
                      <a:pt x="13067" y="7151"/>
                    </a:lnTo>
                    <a:lnTo>
                      <a:pt x="13001" y="6875"/>
                    </a:lnTo>
                    <a:lnTo>
                      <a:pt x="12962" y="6600"/>
                    </a:lnTo>
                    <a:lnTo>
                      <a:pt x="12922" y="6311"/>
                    </a:lnTo>
                    <a:lnTo>
                      <a:pt x="12909" y="6022"/>
                    </a:lnTo>
                    <a:lnTo>
                      <a:pt x="12909" y="6022"/>
                    </a:lnTo>
                    <a:lnTo>
                      <a:pt x="12725" y="5970"/>
                    </a:lnTo>
                    <a:lnTo>
                      <a:pt x="12542" y="5930"/>
                    </a:lnTo>
                    <a:lnTo>
                      <a:pt x="12358" y="5904"/>
                    </a:lnTo>
                    <a:lnTo>
                      <a:pt x="12188" y="5904"/>
                    </a:lnTo>
                    <a:lnTo>
                      <a:pt x="12188" y="5904"/>
                    </a:lnTo>
                    <a:lnTo>
                      <a:pt x="11978" y="5917"/>
                    </a:lnTo>
                    <a:lnTo>
                      <a:pt x="11781" y="5944"/>
                    </a:lnTo>
                    <a:lnTo>
                      <a:pt x="11623" y="5996"/>
                    </a:lnTo>
                    <a:lnTo>
                      <a:pt x="11492" y="6049"/>
                    </a:lnTo>
                    <a:lnTo>
                      <a:pt x="11492" y="6049"/>
                    </a:lnTo>
                    <a:lnTo>
                      <a:pt x="11466" y="6324"/>
                    </a:lnTo>
                    <a:lnTo>
                      <a:pt x="11427" y="6600"/>
                    </a:lnTo>
                    <a:lnTo>
                      <a:pt x="11387" y="6875"/>
                    </a:lnTo>
                    <a:lnTo>
                      <a:pt x="11322" y="7137"/>
                    </a:lnTo>
                    <a:lnTo>
                      <a:pt x="11243" y="7413"/>
                    </a:lnTo>
                    <a:lnTo>
                      <a:pt x="11164" y="7662"/>
                    </a:lnTo>
                    <a:lnTo>
                      <a:pt x="11059" y="7925"/>
                    </a:lnTo>
                    <a:lnTo>
                      <a:pt x="10954" y="8161"/>
                    </a:lnTo>
                    <a:lnTo>
                      <a:pt x="10836" y="8410"/>
                    </a:lnTo>
                    <a:lnTo>
                      <a:pt x="10705" y="8646"/>
                    </a:lnTo>
                    <a:lnTo>
                      <a:pt x="10561" y="8869"/>
                    </a:lnTo>
                    <a:lnTo>
                      <a:pt x="10417" y="9092"/>
                    </a:lnTo>
                    <a:lnTo>
                      <a:pt x="10246" y="9302"/>
                    </a:lnTo>
                    <a:lnTo>
                      <a:pt x="10075" y="9512"/>
                    </a:lnTo>
                    <a:lnTo>
                      <a:pt x="9905" y="9709"/>
                    </a:lnTo>
                    <a:lnTo>
                      <a:pt x="9708" y="9892"/>
                    </a:lnTo>
                    <a:lnTo>
                      <a:pt x="9511" y="10076"/>
                    </a:lnTo>
                    <a:lnTo>
                      <a:pt x="9301" y="10247"/>
                    </a:lnTo>
                    <a:lnTo>
                      <a:pt x="9092" y="10404"/>
                    </a:lnTo>
                    <a:lnTo>
                      <a:pt x="8868" y="10561"/>
                    </a:lnTo>
                    <a:lnTo>
                      <a:pt x="8645" y="10706"/>
                    </a:lnTo>
                    <a:lnTo>
                      <a:pt x="8409" y="10837"/>
                    </a:lnTo>
                    <a:lnTo>
                      <a:pt x="8173" y="10955"/>
                    </a:lnTo>
                    <a:lnTo>
                      <a:pt x="7924" y="11060"/>
                    </a:lnTo>
                    <a:lnTo>
                      <a:pt x="7675" y="11165"/>
                    </a:lnTo>
                    <a:lnTo>
                      <a:pt x="7412" y="11244"/>
                    </a:lnTo>
                    <a:lnTo>
                      <a:pt x="7150" y="11322"/>
                    </a:lnTo>
                    <a:lnTo>
                      <a:pt x="6888" y="11388"/>
                    </a:lnTo>
                    <a:lnTo>
                      <a:pt x="6612" y="11427"/>
                    </a:lnTo>
                    <a:lnTo>
                      <a:pt x="6337" y="11467"/>
                    </a:lnTo>
                    <a:lnTo>
                      <a:pt x="6061" y="11493"/>
                    </a:lnTo>
                    <a:lnTo>
                      <a:pt x="5772" y="11493"/>
                    </a:lnTo>
                    <a:lnTo>
                      <a:pt x="5772" y="11493"/>
                    </a:lnTo>
                    <a:lnTo>
                      <a:pt x="5484" y="11493"/>
                    </a:lnTo>
                    <a:lnTo>
                      <a:pt x="5195" y="11467"/>
                    </a:lnTo>
                    <a:lnTo>
                      <a:pt x="4907" y="11440"/>
                    </a:lnTo>
                    <a:lnTo>
                      <a:pt x="4618" y="11388"/>
                    </a:lnTo>
                    <a:lnTo>
                      <a:pt x="4342" y="11322"/>
                    </a:lnTo>
                    <a:lnTo>
                      <a:pt x="4067" y="11244"/>
                    </a:lnTo>
                    <a:lnTo>
                      <a:pt x="3805" y="11152"/>
                    </a:lnTo>
                    <a:lnTo>
                      <a:pt x="3542" y="11060"/>
                    </a:lnTo>
                    <a:lnTo>
                      <a:pt x="3280" y="10942"/>
                    </a:lnTo>
                    <a:lnTo>
                      <a:pt x="3031" y="10811"/>
                    </a:lnTo>
                    <a:lnTo>
                      <a:pt x="2794" y="10680"/>
                    </a:lnTo>
                    <a:lnTo>
                      <a:pt x="2558" y="10522"/>
                    </a:lnTo>
                    <a:lnTo>
                      <a:pt x="2335" y="10365"/>
                    </a:lnTo>
                    <a:lnTo>
                      <a:pt x="2112" y="10194"/>
                    </a:lnTo>
                    <a:lnTo>
                      <a:pt x="1902" y="10024"/>
                    </a:lnTo>
                    <a:lnTo>
                      <a:pt x="1706" y="9827"/>
                    </a:lnTo>
                    <a:lnTo>
                      <a:pt x="1509" y="9630"/>
                    </a:lnTo>
                    <a:lnTo>
                      <a:pt x="1338" y="9420"/>
                    </a:lnTo>
                    <a:lnTo>
                      <a:pt x="1155" y="9210"/>
                    </a:lnTo>
                    <a:lnTo>
                      <a:pt x="997" y="8987"/>
                    </a:lnTo>
                    <a:lnTo>
                      <a:pt x="853" y="8751"/>
                    </a:lnTo>
                    <a:lnTo>
                      <a:pt x="708" y="8515"/>
                    </a:lnTo>
                    <a:lnTo>
                      <a:pt x="577" y="8266"/>
                    </a:lnTo>
                    <a:lnTo>
                      <a:pt x="459" y="8003"/>
                    </a:lnTo>
                    <a:lnTo>
                      <a:pt x="354" y="7741"/>
                    </a:lnTo>
                    <a:lnTo>
                      <a:pt x="262" y="7479"/>
                    </a:lnTo>
                    <a:lnTo>
                      <a:pt x="184" y="7203"/>
                    </a:lnTo>
                    <a:lnTo>
                      <a:pt x="118" y="6928"/>
                    </a:lnTo>
                    <a:lnTo>
                      <a:pt x="66" y="6652"/>
                    </a:lnTo>
                    <a:lnTo>
                      <a:pt x="26" y="6363"/>
                    </a:lnTo>
                    <a:lnTo>
                      <a:pt x="13" y="6075"/>
                    </a:lnTo>
                    <a:lnTo>
                      <a:pt x="0" y="5773"/>
                    </a:lnTo>
                    <a:lnTo>
                      <a:pt x="0" y="5773"/>
                    </a:lnTo>
                    <a:lnTo>
                      <a:pt x="0" y="5471"/>
                    </a:lnTo>
                    <a:lnTo>
                      <a:pt x="26" y="5183"/>
                    </a:lnTo>
                    <a:lnTo>
                      <a:pt x="66" y="4894"/>
                    </a:lnTo>
                    <a:lnTo>
                      <a:pt x="105" y="4619"/>
                    </a:lnTo>
                    <a:lnTo>
                      <a:pt x="171" y="4343"/>
                    </a:lnTo>
                    <a:lnTo>
                      <a:pt x="249" y="4068"/>
                    </a:lnTo>
                    <a:lnTo>
                      <a:pt x="341" y="3792"/>
                    </a:lnTo>
                    <a:lnTo>
                      <a:pt x="446" y="3530"/>
                    </a:lnTo>
                    <a:lnTo>
                      <a:pt x="551" y="3280"/>
                    </a:lnTo>
                    <a:lnTo>
                      <a:pt x="682" y="3031"/>
                    </a:lnTo>
                    <a:lnTo>
                      <a:pt x="813" y="2795"/>
                    </a:lnTo>
                    <a:lnTo>
                      <a:pt x="971" y="2559"/>
                    </a:lnTo>
                    <a:lnTo>
                      <a:pt x="1128" y="2336"/>
                    </a:lnTo>
                    <a:lnTo>
                      <a:pt x="1299" y="2113"/>
                    </a:lnTo>
                    <a:lnTo>
                      <a:pt x="1483" y="1903"/>
                    </a:lnTo>
                    <a:lnTo>
                      <a:pt x="1666" y="1706"/>
                    </a:lnTo>
                    <a:lnTo>
                      <a:pt x="1863" y="1509"/>
                    </a:lnTo>
                    <a:lnTo>
                      <a:pt x="2073" y="1326"/>
                    </a:lnTo>
                    <a:lnTo>
                      <a:pt x="2296" y="1155"/>
                    </a:lnTo>
                    <a:lnTo>
                      <a:pt x="2519" y="998"/>
                    </a:lnTo>
                    <a:lnTo>
                      <a:pt x="2742" y="840"/>
                    </a:lnTo>
                    <a:lnTo>
                      <a:pt x="2991" y="709"/>
                    </a:lnTo>
                    <a:lnTo>
                      <a:pt x="3240" y="578"/>
                    </a:lnTo>
                    <a:lnTo>
                      <a:pt x="3490" y="460"/>
                    </a:lnTo>
                    <a:lnTo>
                      <a:pt x="3752" y="355"/>
                    </a:lnTo>
                    <a:lnTo>
                      <a:pt x="4014" y="263"/>
                    </a:lnTo>
                    <a:lnTo>
                      <a:pt x="4290" y="184"/>
                    </a:lnTo>
                    <a:lnTo>
                      <a:pt x="4565" y="119"/>
                    </a:lnTo>
                    <a:lnTo>
                      <a:pt x="4854" y="66"/>
                    </a:lnTo>
                    <a:lnTo>
                      <a:pt x="5143" y="27"/>
                    </a:lnTo>
                    <a:lnTo>
                      <a:pt x="5431" y="1"/>
                    </a:lnTo>
                    <a:lnTo>
                      <a:pt x="5720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Google Shape;2408;p45">
                <a:extLst>
                  <a:ext uri="{FF2B5EF4-FFF2-40B4-BE49-F238E27FC236}">
                    <a16:creationId xmlns:a16="http://schemas.microsoft.com/office/drawing/2014/main" id="{404F6468-78C3-3AB6-37BD-D91D3850815F}"/>
                  </a:ext>
                </a:extLst>
              </p:cNvPr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9106" extrusionOk="0">
                    <a:moveTo>
                      <a:pt x="7963" y="1"/>
                    </a:move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Google Shape;2409;p45">
                <a:extLst>
                  <a:ext uri="{FF2B5EF4-FFF2-40B4-BE49-F238E27FC236}">
                    <a16:creationId xmlns:a16="http://schemas.microsoft.com/office/drawing/2014/main" id="{9BD1C903-F560-863C-940D-107816EEF5CE}"/>
                  </a:ext>
                </a:extLst>
              </p:cNvPr>
              <p:cNvSpPr/>
              <p:nvPr/>
            </p:nvSpPr>
            <p:spPr>
              <a:xfrm>
                <a:off x="5595463" y="2603024"/>
                <a:ext cx="162268" cy="163453"/>
              </a:xfrm>
              <a:custGeom>
                <a:avLst/>
                <a:gdLst/>
                <a:ahLst/>
                <a:cxnLst/>
                <a:rect l="l" t="t" r="r" b="b"/>
                <a:pathLst>
                  <a:path w="9040" h="9106" fill="none" extrusionOk="0">
                    <a:moveTo>
                      <a:pt x="7963" y="1"/>
                    </a:moveTo>
                    <a:lnTo>
                      <a:pt x="7963" y="1"/>
                    </a:lnTo>
                    <a:lnTo>
                      <a:pt x="5982" y="2021"/>
                    </a:lnTo>
                    <a:lnTo>
                      <a:pt x="4001" y="4028"/>
                    </a:lnTo>
                    <a:lnTo>
                      <a:pt x="0" y="8043"/>
                    </a:lnTo>
                    <a:lnTo>
                      <a:pt x="0" y="8043"/>
                    </a:lnTo>
                    <a:lnTo>
                      <a:pt x="223" y="8331"/>
                    </a:lnTo>
                    <a:lnTo>
                      <a:pt x="459" y="8607"/>
                    </a:lnTo>
                    <a:lnTo>
                      <a:pt x="709" y="8869"/>
                    </a:lnTo>
                    <a:lnTo>
                      <a:pt x="984" y="9106"/>
                    </a:lnTo>
                    <a:lnTo>
                      <a:pt x="984" y="9106"/>
                    </a:lnTo>
                    <a:lnTo>
                      <a:pt x="9039" y="972"/>
                    </a:lnTo>
                    <a:lnTo>
                      <a:pt x="9039" y="972"/>
                    </a:lnTo>
                    <a:lnTo>
                      <a:pt x="8790" y="709"/>
                    </a:lnTo>
                    <a:lnTo>
                      <a:pt x="8527" y="447"/>
                    </a:lnTo>
                    <a:lnTo>
                      <a:pt x="8252" y="211"/>
                    </a:lnTo>
                    <a:lnTo>
                      <a:pt x="796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Google Shape;2410;p45">
                <a:extLst>
                  <a:ext uri="{FF2B5EF4-FFF2-40B4-BE49-F238E27FC236}">
                    <a16:creationId xmlns:a16="http://schemas.microsoft.com/office/drawing/2014/main" id="{F805709C-F5FF-36D0-6A87-E25932D5A873}"/>
                  </a:ext>
                </a:extLst>
              </p:cNvPr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avLst/>
                <a:gdLst/>
                <a:ahLst/>
                <a:cxnLst/>
                <a:rect l="l" t="t" r="r" b="b"/>
                <a:pathLst>
                  <a:path w="9119" h="9198" extrusionOk="0">
                    <a:moveTo>
                      <a:pt x="7583" y="1"/>
                    </a:move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Google Shape;2411;p45">
                <a:extLst>
                  <a:ext uri="{FF2B5EF4-FFF2-40B4-BE49-F238E27FC236}">
                    <a16:creationId xmlns:a16="http://schemas.microsoft.com/office/drawing/2014/main" id="{8F64EAFC-0516-190A-7008-39BFDCB82B3D}"/>
                  </a:ext>
                </a:extLst>
              </p:cNvPr>
              <p:cNvSpPr/>
              <p:nvPr/>
            </p:nvSpPr>
            <p:spPr>
              <a:xfrm>
                <a:off x="5354556" y="2592667"/>
                <a:ext cx="163686" cy="165104"/>
              </a:xfrm>
              <a:custGeom>
                <a:avLst/>
                <a:gdLst/>
                <a:ahLst/>
                <a:cxnLst/>
                <a:rect l="l" t="t" r="r" b="b"/>
                <a:pathLst>
                  <a:path w="9119" h="9198" fill="none" extrusionOk="0">
                    <a:moveTo>
                      <a:pt x="7583" y="1"/>
                    </a:moveTo>
                    <a:lnTo>
                      <a:pt x="7583" y="1"/>
                    </a:lnTo>
                    <a:lnTo>
                      <a:pt x="7570" y="53"/>
                    </a:lnTo>
                    <a:lnTo>
                      <a:pt x="7544" y="106"/>
                    </a:lnTo>
                    <a:lnTo>
                      <a:pt x="0" y="7715"/>
                    </a:lnTo>
                    <a:lnTo>
                      <a:pt x="0" y="7715"/>
                    </a:lnTo>
                    <a:lnTo>
                      <a:pt x="105" y="7925"/>
                    </a:lnTo>
                    <a:lnTo>
                      <a:pt x="223" y="8121"/>
                    </a:lnTo>
                    <a:lnTo>
                      <a:pt x="342" y="8318"/>
                    </a:lnTo>
                    <a:lnTo>
                      <a:pt x="460" y="8502"/>
                    </a:lnTo>
                    <a:lnTo>
                      <a:pt x="604" y="8685"/>
                    </a:lnTo>
                    <a:lnTo>
                      <a:pt x="735" y="8856"/>
                    </a:lnTo>
                    <a:lnTo>
                      <a:pt x="893" y="9027"/>
                    </a:lnTo>
                    <a:lnTo>
                      <a:pt x="1037" y="9197"/>
                    </a:lnTo>
                    <a:lnTo>
                      <a:pt x="9118" y="1050"/>
                    </a:lnTo>
                    <a:lnTo>
                      <a:pt x="9118" y="1050"/>
                    </a:lnTo>
                    <a:lnTo>
                      <a:pt x="8948" y="893"/>
                    </a:lnTo>
                    <a:lnTo>
                      <a:pt x="8764" y="735"/>
                    </a:lnTo>
                    <a:lnTo>
                      <a:pt x="8580" y="604"/>
                    </a:lnTo>
                    <a:lnTo>
                      <a:pt x="8397" y="460"/>
                    </a:lnTo>
                    <a:lnTo>
                      <a:pt x="8200" y="342"/>
                    </a:lnTo>
                    <a:lnTo>
                      <a:pt x="8003" y="224"/>
                    </a:lnTo>
                    <a:lnTo>
                      <a:pt x="7793" y="106"/>
                    </a:lnTo>
                    <a:lnTo>
                      <a:pt x="7583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Google Shape;2412;p45">
                <a:extLst>
                  <a:ext uri="{FF2B5EF4-FFF2-40B4-BE49-F238E27FC236}">
                    <a16:creationId xmlns:a16="http://schemas.microsoft.com/office/drawing/2014/main" id="{CBE9AF0E-DE1F-7187-3709-2A35FAB9DB95}"/>
                  </a:ext>
                </a:extLst>
              </p:cNvPr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8397" h="8463" extrusionOk="0">
                    <a:moveTo>
                      <a:pt x="7859" y="1"/>
                    </a:move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Google Shape;2413;p45">
                <a:extLst>
                  <a:ext uri="{FF2B5EF4-FFF2-40B4-BE49-F238E27FC236}">
                    <a16:creationId xmlns:a16="http://schemas.microsoft.com/office/drawing/2014/main" id="{C06E1CC9-8913-4000-0D86-8C73372FFB71}"/>
                  </a:ext>
                </a:extLst>
              </p:cNvPr>
              <p:cNvSpPr/>
              <p:nvPr/>
            </p:nvSpPr>
            <p:spPr>
              <a:xfrm>
                <a:off x="5392933" y="2630811"/>
                <a:ext cx="150726" cy="151911"/>
              </a:xfrm>
              <a:custGeom>
                <a:avLst/>
                <a:gdLst/>
                <a:ahLst/>
                <a:cxnLst/>
                <a:rect l="l" t="t" r="r" b="b"/>
                <a:pathLst>
                  <a:path w="8397" h="8463" fill="none" extrusionOk="0">
                    <a:moveTo>
                      <a:pt x="7859" y="1"/>
                    </a:moveTo>
                    <a:lnTo>
                      <a:pt x="1" y="7951"/>
                    </a:lnTo>
                    <a:lnTo>
                      <a:pt x="1" y="7951"/>
                    </a:lnTo>
                    <a:lnTo>
                      <a:pt x="250" y="8095"/>
                    </a:lnTo>
                    <a:lnTo>
                      <a:pt x="512" y="8227"/>
                    </a:lnTo>
                    <a:lnTo>
                      <a:pt x="775" y="8358"/>
                    </a:lnTo>
                    <a:lnTo>
                      <a:pt x="1063" y="8463"/>
                    </a:lnTo>
                    <a:lnTo>
                      <a:pt x="8397" y="1064"/>
                    </a:lnTo>
                    <a:lnTo>
                      <a:pt x="8397" y="1064"/>
                    </a:lnTo>
                    <a:lnTo>
                      <a:pt x="8279" y="788"/>
                    </a:lnTo>
                    <a:lnTo>
                      <a:pt x="8161" y="513"/>
                    </a:lnTo>
                    <a:lnTo>
                      <a:pt x="8017" y="250"/>
                    </a:lnTo>
                    <a:lnTo>
                      <a:pt x="7859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2414;p45">
                <a:extLst>
                  <a:ext uri="{FF2B5EF4-FFF2-40B4-BE49-F238E27FC236}">
                    <a16:creationId xmlns:a16="http://schemas.microsoft.com/office/drawing/2014/main" id="{407E8A08-6192-7C99-4D05-1BBE037C495E}"/>
                  </a:ext>
                </a:extLst>
              </p:cNvPr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702" extrusionOk="0">
                    <a:moveTo>
                      <a:pt x="7452" y="1"/>
                    </a:move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Google Shape;2415;p45">
                <a:extLst>
                  <a:ext uri="{FF2B5EF4-FFF2-40B4-BE49-F238E27FC236}">
                    <a16:creationId xmlns:a16="http://schemas.microsoft.com/office/drawing/2014/main" id="{1F8B4935-E8FE-6831-8483-CE7574445561}"/>
                  </a:ext>
                </a:extLst>
              </p:cNvPr>
              <p:cNvSpPr/>
              <p:nvPr/>
            </p:nvSpPr>
            <p:spPr>
              <a:xfrm>
                <a:off x="5640428" y="2647774"/>
                <a:ext cx="136833" cy="138251"/>
              </a:xfrm>
              <a:custGeom>
                <a:avLst/>
                <a:gdLst/>
                <a:ahLst/>
                <a:cxnLst/>
                <a:rect l="l" t="t" r="r" b="b"/>
                <a:pathLst>
                  <a:path w="7623" h="7702" fill="none" extrusionOk="0">
                    <a:moveTo>
                      <a:pt x="7452" y="1"/>
                    </a:moveTo>
                    <a:lnTo>
                      <a:pt x="1" y="7518"/>
                    </a:lnTo>
                    <a:lnTo>
                      <a:pt x="1" y="7518"/>
                    </a:lnTo>
                    <a:lnTo>
                      <a:pt x="250" y="7610"/>
                    </a:lnTo>
                    <a:lnTo>
                      <a:pt x="512" y="7701"/>
                    </a:lnTo>
                    <a:lnTo>
                      <a:pt x="512" y="7701"/>
                    </a:lnTo>
                    <a:lnTo>
                      <a:pt x="2297" y="5904"/>
                    </a:lnTo>
                    <a:lnTo>
                      <a:pt x="4081" y="4107"/>
                    </a:lnTo>
                    <a:lnTo>
                      <a:pt x="5852" y="2296"/>
                    </a:lnTo>
                    <a:lnTo>
                      <a:pt x="7623" y="486"/>
                    </a:lnTo>
                    <a:lnTo>
                      <a:pt x="7623" y="486"/>
                    </a:lnTo>
                    <a:lnTo>
                      <a:pt x="7544" y="237"/>
                    </a:lnTo>
                    <a:lnTo>
                      <a:pt x="7452" y="1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Google Shape;2416;p45">
                <a:extLst>
                  <a:ext uri="{FF2B5EF4-FFF2-40B4-BE49-F238E27FC236}">
                    <a16:creationId xmlns:a16="http://schemas.microsoft.com/office/drawing/2014/main" id="{C99FC9EA-295F-C521-75EC-30774BA371D9}"/>
                  </a:ext>
                </a:extLst>
              </p:cNvPr>
              <p:cNvSpPr/>
              <p:nvPr/>
            </p:nvSpPr>
            <p:spPr>
              <a:xfrm>
                <a:off x="5343966" y="2582777"/>
                <a:ext cx="438016" cy="207484"/>
              </a:xfrm>
              <a:custGeom>
                <a:avLst/>
                <a:gdLst/>
                <a:ahLst/>
                <a:cxnLst/>
                <a:rect l="l" t="t" r="r" b="b"/>
                <a:pathLst>
                  <a:path w="24402" h="11559" extrusionOk="0">
                    <a:moveTo>
                      <a:pt x="5733" y="1155"/>
                    </a:moveTo>
                    <a:lnTo>
                      <a:pt x="5969" y="1168"/>
                    </a:lnTo>
                    <a:lnTo>
                      <a:pt x="6192" y="1181"/>
                    </a:lnTo>
                    <a:lnTo>
                      <a:pt x="6428" y="1208"/>
                    </a:lnTo>
                    <a:lnTo>
                      <a:pt x="6651" y="1247"/>
                    </a:lnTo>
                    <a:lnTo>
                      <a:pt x="6874" y="1299"/>
                    </a:lnTo>
                    <a:lnTo>
                      <a:pt x="7097" y="1365"/>
                    </a:lnTo>
                    <a:lnTo>
                      <a:pt x="7307" y="1431"/>
                    </a:lnTo>
                    <a:lnTo>
                      <a:pt x="7517" y="1509"/>
                    </a:lnTo>
                    <a:lnTo>
                      <a:pt x="7714" y="1601"/>
                    </a:lnTo>
                    <a:lnTo>
                      <a:pt x="7911" y="1706"/>
                    </a:lnTo>
                    <a:lnTo>
                      <a:pt x="8108" y="1811"/>
                    </a:lnTo>
                    <a:lnTo>
                      <a:pt x="8291" y="1929"/>
                    </a:lnTo>
                    <a:lnTo>
                      <a:pt x="8475" y="2060"/>
                    </a:lnTo>
                    <a:lnTo>
                      <a:pt x="8645" y="2192"/>
                    </a:lnTo>
                    <a:lnTo>
                      <a:pt x="8816" y="2336"/>
                    </a:lnTo>
                    <a:lnTo>
                      <a:pt x="8973" y="2493"/>
                    </a:lnTo>
                    <a:lnTo>
                      <a:pt x="9131" y="2651"/>
                    </a:lnTo>
                    <a:lnTo>
                      <a:pt x="9275" y="2821"/>
                    </a:lnTo>
                    <a:lnTo>
                      <a:pt x="9406" y="2992"/>
                    </a:lnTo>
                    <a:lnTo>
                      <a:pt x="9538" y="3162"/>
                    </a:lnTo>
                    <a:lnTo>
                      <a:pt x="9656" y="3346"/>
                    </a:lnTo>
                    <a:lnTo>
                      <a:pt x="9774" y="3543"/>
                    </a:lnTo>
                    <a:lnTo>
                      <a:pt x="9879" y="3740"/>
                    </a:lnTo>
                    <a:lnTo>
                      <a:pt x="9970" y="3949"/>
                    </a:lnTo>
                    <a:lnTo>
                      <a:pt x="10049" y="4146"/>
                    </a:lnTo>
                    <a:lnTo>
                      <a:pt x="10128" y="4369"/>
                    </a:lnTo>
                    <a:lnTo>
                      <a:pt x="10180" y="4579"/>
                    </a:lnTo>
                    <a:lnTo>
                      <a:pt x="10233" y="4802"/>
                    </a:lnTo>
                    <a:lnTo>
                      <a:pt x="10285" y="5025"/>
                    </a:lnTo>
                    <a:lnTo>
                      <a:pt x="10312" y="5261"/>
                    </a:lnTo>
                    <a:lnTo>
                      <a:pt x="10325" y="5484"/>
                    </a:lnTo>
                    <a:lnTo>
                      <a:pt x="10338" y="5721"/>
                    </a:lnTo>
                    <a:lnTo>
                      <a:pt x="10325" y="5957"/>
                    </a:lnTo>
                    <a:lnTo>
                      <a:pt x="10312" y="6193"/>
                    </a:lnTo>
                    <a:lnTo>
                      <a:pt x="10285" y="6429"/>
                    </a:lnTo>
                    <a:lnTo>
                      <a:pt x="10246" y="6652"/>
                    </a:lnTo>
                    <a:lnTo>
                      <a:pt x="10194" y="6875"/>
                    </a:lnTo>
                    <a:lnTo>
                      <a:pt x="10141" y="7085"/>
                    </a:lnTo>
                    <a:lnTo>
                      <a:pt x="10062" y="7295"/>
                    </a:lnTo>
                    <a:lnTo>
                      <a:pt x="9984" y="7505"/>
                    </a:lnTo>
                    <a:lnTo>
                      <a:pt x="9892" y="7715"/>
                    </a:lnTo>
                    <a:lnTo>
                      <a:pt x="9787" y="7911"/>
                    </a:lnTo>
                    <a:lnTo>
                      <a:pt x="9682" y="8108"/>
                    </a:lnTo>
                    <a:lnTo>
                      <a:pt x="9564" y="8292"/>
                    </a:lnTo>
                    <a:lnTo>
                      <a:pt x="9433" y="8476"/>
                    </a:lnTo>
                    <a:lnTo>
                      <a:pt x="9301" y="8646"/>
                    </a:lnTo>
                    <a:lnTo>
                      <a:pt x="9157" y="8817"/>
                    </a:lnTo>
                    <a:lnTo>
                      <a:pt x="9013" y="8974"/>
                    </a:lnTo>
                    <a:lnTo>
                      <a:pt x="8842" y="9118"/>
                    </a:lnTo>
                    <a:lnTo>
                      <a:pt x="8685" y="9276"/>
                    </a:lnTo>
                    <a:lnTo>
                      <a:pt x="8514" y="9407"/>
                    </a:lnTo>
                    <a:lnTo>
                      <a:pt x="8331" y="9538"/>
                    </a:lnTo>
                    <a:lnTo>
                      <a:pt x="8147" y="9656"/>
                    </a:lnTo>
                    <a:lnTo>
                      <a:pt x="7950" y="9761"/>
                    </a:lnTo>
                    <a:lnTo>
                      <a:pt x="7753" y="9866"/>
                    </a:lnTo>
                    <a:lnTo>
                      <a:pt x="7557" y="9958"/>
                    </a:lnTo>
                    <a:lnTo>
                      <a:pt x="7347" y="10050"/>
                    </a:lnTo>
                    <a:lnTo>
                      <a:pt x="7137" y="10115"/>
                    </a:lnTo>
                    <a:lnTo>
                      <a:pt x="6914" y="10181"/>
                    </a:lnTo>
                    <a:lnTo>
                      <a:pt x="6691" y="10234"/>
                    </a:lnTo>
                    <a:lnTo>
                      <a:pt x="6468" y="10273"/>
                    </a:lnTo>
                    <a:lnTo>
                      <a:pt x="6245" y="10299"/>
                    </a:lnTo>
                    <a:lnTo>
                      <a:pt x="6009" y="10325"/>
                    </a:lnTo>
                    <a:lnTo>
                      <a:pt x="5536" y="10325"/>
                    </a:lnTo>
                    <a:lnTo>
                      <a:pt x="5300" y="10312"/>
                    </a:lnTo>
                    <a:lnTo>
                      <a:pt x="5077" y="10286"/>
                    </a:lnTo>
                    <a:lnTo>
                      <a:pt x="4854" y="10247"/>
                    </a:lnTo>
                    <a:lnTo>
                      <a:pt x="4631" y="10194"/>
                    </a:lnTo>
                    <a:lnTo>
                      <a:pt x="4408" y="10129"/>
                    </a:lnTo>
                    <a:lnTo>
                      <a:pt x="4198" y="10063"/>
                    </a:lnTo>
                    <a:lnTo>
                      <a:pt x="3988" y="9984"/>
                    </a:lnTo>
                    <a:lnTo>
                      <a:pt x="3778" y="9892"/>
                    </a:lnTo>
                    <a:lnTo>
                      <a:pt x="3582" y="9787"/>
                    </a:lnTo>
                    <a:lnTo>
                      <a:pt x="3398" y="9683"/>
                    </a:lnTo>
                    <a:lnTo>
                      <a:pt x="3201" y="9564"/>
                    </a:lnTo>
                    <a:lnTo>
                      <a:pt x="3031" y="9433"/>
                    </a:lnTo>
                    <a:lnTo>
                      <a:pt x="2847" y="9302"/>
                    </a:lnTo>
                    <a:lnTo>
                      <a:pt x="2689" y="9158"/>
                    </a:lnTo>
                    <a:lnTo>
                      <a:pt x="2519" y="9000"/>
                    </a:lnTo>
                    <a:lnTo>
                      <a:pt x="2375" y="8843"/>
                    </a:lnTo>
                    <a:lnTo>
                      <a:pt x="2230" y="8672"/>
                    </a:lnTo>
                    <a:lnTo>
                      <a:pt x="2086" y="8502"/>
                    </a:lnTo>
                    <a:lnTo>
                      <a:pt x="1968" y="8331"/>
                    </a:lnTo>
                    <a:lnTo>
                      <a:pt x="1837" y="8134"/>
                    </a:lnTo>
                    <a:lnTo>
                      <a:pt x="1732" y="7951"/>
                    </a:lnTo>
                    <a:lnTo>
                      <a:pt x="1627" y="7754"/>
                    </a:lnTo>
                    <a:lnTo>
                      <a:pt x="1535" y="7544"/>
                    </a:lnTo>
                    <a:lnTo>
                      <a:pt x="1456" y="7347"/>
                    </a:lnTo>
                    <a:lnTo>
                      <a:pt x="1378" y="7124"/>
                    </a:lnTo>
                    <a:lnTo>
                      <a:pt x="1312" y="6914"/>
                    </a:lnTo>
                    <a:lnTo>
                      <a:pt x="1259" y="6691"/>
                    </a:lnTo>
                    <a:lnTo>
                      <a:pt x="1220" y="6468"/>
                    </a:lnTo>
                    <a:lnTo>
                      <a:pt x="1194" y="6232"/>
                    </a:lnTo>
                    <a:lnTo>
                      <a:pt x="1168" y="6009"/>
                    </a:lnTo>
                    <a:lnTo>
                      <a:pt x="1168" y="5773"/>
                    </a:lnTo>
                    <a:lnTo>
                      <a:pt x="1168" y="5537"/>
                    </a:lnTo>
                    <a:lnTo>
                      <a:pt x="1181" y="5301"/>
                    </a:lnTo>
                    <a:lnTo>
                      <a:pt x="1220" y="5065"/>
                    </a:lnTo>
                    <a:lnTo>
                      <a:pt x="1259" y="4842"/>
                    </a:lnTo>
                    <a:lnTo>
                      <a:pt x="1299" y="4619"/>
                    </a:lnTo>
                    <a:lnTo>
                      <a:pt x="1364" y="4409"/>
                    </a:lnTo>
                    <a:lnTo>
                      <a:pt x="1443" y="4186"/>
                    </a:lnTo>
                    <a:lnTo>
                      <a:pt x="1522" y="3989"/>
                    </a:lnTo>
                    <a:lnTo>
                      <a:pt x="1614" y="3779"/>
                    </a:lnTo>
                    <a:lnTo>
                      <a:pt x="1706" y="3582"/>
                    </a:lnTo>
                    <a:lnTo>
                      <a:pt x="1824" y="3385"/>
                    </a:lnTo>
                    <a:lnTo>
                      <a:pt x="1942" y="3202"/>
                    </a:lnTo>
                    <a:lnTo>
                      <a:pt x="2060" y="3018"/>
                    </a:lnTo>
                    <a:lnTo>
                      <a:pt x="2204" y="2847"/>
                    </a:lnTo>
                    <a:lnTo>
                      <a:pt x="2348" y="2677"/>
                    </a:lnTo>
                    <a:lnTo>
                      <a:pt x="2493" y="2520"/>
                    </a:lnTo>
                    <a:lnTo>
                      <a:pt x="2650" y="2362"/>
                    </a:lnTo>
                    <a:lnTo>
                      <a:pt x="2821" y="2218"/>
                    </a:lnTo>
                    <a:lnTo>
                      <a:pt x="2991" y="2087"/>
                    </a:lnTo>
                    <a:lnTo>
                      <a:pt x="3175" y="1955"/>
                    </a:lnTo>
                    <a:lnTo>
                      <a:pt x="3359" y="1837"/>
                    </a:lnTo>
                    <a:lnTo>
                      <a:pt x="3542" y="1719"/>
                    </a:lnTo>
                    <a:lnTo>
                      <a:pt x="3739" y="1627"/>
                    </a:lnTo>
                    <a:lnTo>
                      <a:pt x="3949" y="1536"/>
                    </a:lnTo>
                    <a:lnTo>
                      <a:pt x="4159" y="1444"/>
                    </a:lnTo>
                    <a:lnTo>
                      <a:pt x="4369" y="1378"/>
                    </a:lnTo>
                    <a:lnTo>
                      <a:pt x="4592" y="1313"/>
                    </a:lnTo>
                    <a:lnTo>
                      <a:pt x="4802" y="1260"/>
                    </a:lnTo>
                    <a:lnTo>
                      <a:pt x="5038" y="1221"/>
                    </a:lnTo>
                    <a:lnTo>
                      <a:pt x="5261" y="1181"/>
                    </a:lnTo>
                    <a:lnTo>
                      <a:pt x="5497" y="1168"/>
                    </a:lnTo>
                    <a:lnTo>
                      <a:pt x="5733" y="1155"/>
                    </a:lnTo>
                    <a:close/>
                    <a:moveTo>
                      <a:pt x="18629" y="1221"/>
                    </a:moveTo>
                    <a:lnTo>
                      <a:pt x="18865" y="1234"/>
                    </a:lnTo>
                    <a:lnTo>
                      <a:pt x="19101" y="1247"/>
                    </a:lnTo>
                    <a:lnTo>
                      <a:pt x="19324" y="1273"/>
                    </a:lnTo>
                    <a:lnTo>
                      <a:pt x="19560" y="1313"/>
                    </a:lnTo>
                    <a:lnTo>
                      <a:pt x="19783" y="1365"/>
                    </a:lnTo>
                    <a:lnTo>
                      <a:pt x="19993" y="1431"/>
                    </a:lnTo>
                    <a:lnTo>
                      <a:pt x="20203" y="1496"/>
                    </a:lnTo>
                    <a:lnTo>
                      <a:pt x="20413" y="1575"/>
                    </a:lnTo>
                    <a:lnTo>
                      <a:pt x="20623" y="1667"/>
                    </a:lnTo>
                    <a:lnTo>
                      <a:pt x="20820" y="1772"/>
                    </a:lnTo>
                    <a:lnTo>
                      <a:pt x="21017" y="1877"/>
                    </a:lnTo>
                    <a:lnTo>
                      <a:pt x="21200" y="1995"/>
                    </a:lnTo>
                    <a:lnTo>
                      <a:pt x="21384" y="2126"/>
                    </a:lnTo>
                    <a:lnTo>
                      <a:pt x="21555" y="2257"/>
                    </a:lnTo>
                    <a:lnTo>
                      <a:pt x="21725" y="2401"/>
                    </a:lnTo>
                    <a:lnTo>
                      <a:pt x="21882" y="2559"/>
                    </a:lnTo>
                    <a:lnTo>
                      <a:pt x="22027" y="2716"/>
                    </a:lnTo>
                    <a:lnTo>
                      <a:pt x="22171" y="2874"/>
                    </a:lnTo>
                    <a:lnTo>
                      <a:pt x="22315" y="3057"/>
                    </a:lnTo>
                    <a:lnTo>
                      <a:pt x="22447" y="3228"/>
                    </a:lnTo>
                    <a:lnTo>
                      <a:pt x="22565" y="3412"/>
                    </a:lnTo>
                    <a:lnTo>
                      <a:pt x="22670" y="3608"/>
                    </a:lnTo>
                    <a:lnTo>
                      <a:pt x="22775" y="3805"/>
                    </a:lnTo>
                    <a:lnTo>
                      <a:pt x="22866" y="4002"/>
                    </a:lnTo>
                    <a:lnTo>
                      <a:pt x="22958" y="4212"/>
                    </a:lnTo>
                    <a:lnTo>
                      <a:pt x="23024" y="4422"/>
                    </a:lnTo>
                    <a:lnTo>
                      <a:pt x="23089" y="4645"/>
                    </a:lnTo>
                    <a:lnTo>
                      <a:pt x="23142" y="4868"/>
                    </a:lnTo>
                    <a:lnTo>
                      <a:pt x="23181" y="5091"/>
                    </a:lnTo>
                    <a:lnTo>
                      <a:pt x="23208" y="5327"/>
                    </a:lnTo>
                    <a:lnTo>
                      <a:pt x="23234" y="5550"/>
                    </a:lnTo>
                    <a:lnTo>
                      <a:pt x="23234" y="5786"/>
                    </a:lnTo>
                    <a:lnTo>
                      <a:pt x="23234" y="6022"/>
                    </a:lnTo>
                    <a:lnTo>
                      <a:pt x="23221" y="6258"/>
                    </a:lnTo>
                    <a:lnTo>
                      <a:pt x="23194" y="6481"/>
                    </a:lnTo>
                    <a:lnTo>
                      <a:pt x="23155" y="6718"/>
                    </a:lnTo>
                    <a:lnTo>
                      <a:pt x="23103" y="6928"/>
                    </a:lnTo>
                    <a:lnTo>
                      <a:pt x="23037" y="7151"/>
                    </a:lnTo>
                    <a:lnTo>
                      <a:pt x="22971" y="7360"/>
                    </a:lnTo>
                    <a:lnTo>
                      <a:pt x="22893" y="7570"/>
                    </a:lnTo>
                    <a:lnTo>
                      <a:pt x="22801" y="7780"/>
                    </a:lnTo>
                    <a:lnTo>
                      <a:pt x="22696" y="7977"/>
                    </a:lnTo>
                    <a:lnTo>
                      <a:pt x="22591" y="8174"/>
                    </a:lnTo>
                    <a:lnTo>
                      <a:pt x="22473" y="8357"/>
                    </a:lnTo>
                    <a:lnTo>
                      <a:pt x="22342" y="8528"/>
                    </a:lnTo>
                    <a:lnTo>
                      <a:pt x="22210" y="8712"/>
                    </a:lnTo>
                    <a:lnTo>
                      <a:pt x="22066" y="8869"/>
                    </a:lnTo>
                    <a:lnTo>
                      <a:pt x="21909" y="9040"/>
                    </a:lnTo>
                    <a:lnTo>
                      <a:pt x="21751" y="9184"/>
                    </a:lnTo>
                    <a:lnTo>
                      <a:pt x="21581" y="9328"/>
                    </a:lnTo>
                    <a:lnTo>
                      <a:pt x="21410" y="9473"/>
                    </a:lnTo>
                    <a:lnTo>
                      <a:pt x="21240" y="9604"/>
                    </a:lnTo>
                    <a:lnTo>
                      <a:pt x="21043" y="9722"/>
                    </a:lnTo>
                    <a:lnTo>
                      <a:pt x="20859" y="9827"/>
                    </a:lnTo>
                    <a:lnTo>
                      <a:pt x="20662" y="9932"/>
                    </a:lnTo>
                    <a:lnTo>
                      <a:pt x="20453" y="10024"/>
                    </a:lnTo>
                    <a:lnTo>
                      <a:pt x="20243" y="10115"/>
                    </a:lnTo>
                    <a:lnTo>
                      <a:pt x="20033" y="10181"/>
                    </a:lnTo>
                    <a:lnTo>
                      <a:pt x="19823" y="10247"/>
                    </a:lnTo>
                    <a:lnTo>
                      <a:pt x="19600" y="10299"/>
                    </a:lnTo>
                    <a:lnTo>
                      <a:pt x="19377" y="10338"/>
                    </a:lnTo>
                    <a:lnTo>
                      <a:pt x="19141" y="10365"/>
                    </a:lnTo>
                    <a:lnTo>
                      <a:pt x="18904" y="10391"/>
                    </a:lnTo>
                    <a:lnTo>
                      <a:pt x="18472" y="10391"/>
                    </a:lnTo>
                    <a:lnTo>
                      <a:pt x="18275" y="10378"/>
                    </a:lnTo>
                    <a:lnTo>
                      <a:pt x="18065" y="10352"/>
                    </a:lnTo>
                    <a:lnTo>
                      <a:pt x="17868" y="10325"/>
                    </a:lnTo>
                    <a:lnTo>
                      <a:pt x="17671" y="10286"/>
                    </a:lnTo>
                    <a:lnTo>
                      <a:pt x="17475" y="10234"/>
                    </a:lnTo>
                    <a:lnTo>
                      <a:pt x="17278" y="10181"/>
                    </a:lnTo>
                    <a:lnTo>
                      <a:pt x="17081" y="10115"/>
                    </a:lnTo>
                    <a:lnTo>
                      <a:pt x="16897" y="10050"/>
                    </a:lnTo>
                    <a:lnTo>
                      <a:pt x="16714" y="9958"/>
                    </a:lnTo>
                    <a:lnTo>
                      <a:pt x="16530" y="9866"/>
                    </a:lnTo>
                    <a:lnTo>
                      <a:pt x="16359" y="9774"/>
                    </a:lnTo>
                    <a:lnTo>
                      <a:pt x="16176" y="9669"/>
                    </a:lnTo>
                    <a:lnTo>
                      <a:pt x="16018" y="9551"/>
                    </a:lnTo>
                    <a:lnTo>
                      <a:pt x="15848" y="9433"/>
                    </a:lnTo>
                    <a:lnTo>
                      <a:pt x="15690" y="9302"/>
                    </a:lnTo>
                    <a:lnTo>
                      <a:pt x="15480" y="9118"/>
                    </a:lnTo>
                    <a:lnTo>
                      <a:pt x="15284" y="8908"/>
                    </a:lnTo>
                    <a:lnTo>
                      <a:pt x="15100" y="8699"/>
                    </a:lnTo>
                    <a:lnTo>
                      <a:pt x="14929" y="8476"/>
                    </a:lnTo>
                    <a:lnTo>
                      <a:pt x="14772" y="8239"/>
                    </a:lnTo>
                    <a:lnTo>
                      <a:pt x="14628" y="7990"/>
                    </a:lnTo>
                    <a:lnTo>
                      <a:pt x="14497" y="7741"/>
                    </a:lnTo>
                    <a:lnTo>
                      <a:pt x="14392" y="7492"/>
                    </a:lnTo>
                    <a:lnTo>
                      <a:pt x="14300" y="7216"/>
                    </a:lnTo>
                    <a:lnTo>
                      <a:pt x="14221" y="6954"/>
                    </a:lnTo>
                    <a:lnTo>
                      <a:pt x="14155" y="6678"/>
                    </a:lnTo>
                    <a:lnTo>
                      <a:pt x="14116" y="6403"/>
                    </a:lnTo>
                    <a:lnTo>
                      <a:pt x="14090" y="6114"/>
                    </a:lnTo>
                    <a:lnTo>
                      <a:pt x="14077" y="5839"/>
                    </a:lnTo>
                    <a:lnTo>
                      <a:pt x="14077" y="5550"/>
                    </a:lnTo>
                    <a:lnTo>
                      <a:pt x="14103" y="5261"/>
                    </a:lnTo>
                    <a:lnTo>
                      <a:pt x="14129" y="5051"/>
                    </a:lnTo>
                    <a:lnTo>
                      <a:pt x="14182" y="4842"/>
                    </a:lnTo>
                    <a:lnTo>
                      <a:pt x="14221" y="4645"/>
                    </a:lnTo>
                    <a:lnTo>
                      <a:pt x="14287" y="4448"/>
                    </a:lnTo>
                    <a:lnTo>
                      <a:pt x="14352" y="4238"/>
                    </a:lnTo>
                    <a:lnTo>
                      <a:pt x="14431" y="4054"/>
                    </a:lnTo>
                    <a:lnTo>
                      <a:pt x="14510" y="3858"/>
                    </a:lnTo>
                    <a:lnTo>
                      <a:pt x="14601" y="3674"/>
                    </a:lnTo>
                    <a:lnTo>
                      <a:pt x="14706" y="3503"/>
                    </a:lnTo>
                    <a:lnTo>
                      <a:pt x="14811" y="3320"/>
                    </a:lnTo>
                    <a:lnTo>
                      <a:pt x="14929" y="3149"/>
                    </a:lnTo>
                    <a:lnTo>
                      <a:pt x="15048" y="2992"/>
                    </a:lnTo>
                    <a:lnTo>
                      <a:pt x="15179" y="2834"/>
                    </a:lnTo>
                    <a:lnTo>
                      <a:pt x="15310" y="2677"/>
                    </a:lnTo>
                    <a:lnTo>
                      <a:pt x="15454" y="2533"/>
                    </a:lnTo>
                    <a:lnTo>
                      <a:pt x="15599" y="2401"/>
                    </a:lnTo>
                    <a:lnTo>
                      <a:pt x="15756" y="2270"/>
                    </a:lnTo>
                    <a:lnTo>
                      <a:pt x="15913" y="2139"/>
                    </a:lnTo>
                    <a:lnTo>
                      <a:pt x="16084" y="2021"/>
                    </a:lnTo>
                    <a:lnTo>
                      <a:pt x="16254" y="1903"/>
                    </a:lnTo>
                    <a:lnTo>
                      <a:pt x="16438" y="1811"/>
                    </a:lnTo>
                    <a:lnTo>
                      <a:pt x="16609" y="1706"/>
                    </a:lnTo>
                    <a:lnTo>
                      <a:pt x="16792" y="1627"/>
                    </a:lnTo>
                    <a:lnTo>
                      <a:pt x="16989" y="1536"/>
                    </a:lnTo>
                    <a:lnTo>
                      <a:pt x="17186" y="1470"/>
                    </a:lnTo>
                    <a:lnTo>
                      <a:pt x="17383" y="1404"/>
                    </a:lnTo>
                    <a:lnTo>
                      <a:pt x="17579" y="1352"/>
                    </a:lnTo>
                    <a:lnTo>
                      <a:pt x="17789" y="1313"/>
                    </a:lnTo>
                    <a:lnTo>
                      <a:pt x="17999" y="1273"/>
                    </a:lnTo>
                    <a:lnTo>
                      <a:pt x="18209" y="1247"/>
                    </a:lnTo>
                    <a:lnTo>
                      <a:pt x="18419" y="1234"/>
                    </a:lnTo>
                    <a:lnTo>
                      <a:pt x="18629" y="1221"/>
                    </a:lnTo>
                    <a:close/>
                    <a:moveTo>
                      <a:pt x="5431" y="1"/>
                    </a:moveTo>
                    <a:lnTo>
                      <a:pt x="5143" y="27"/>
                    </a:lnTo>
                    <a:lnTo>
                      <a:pt x="4854" y="66"/>
                    </a:lnTo>
                    <a:lnTo>
                      <a:pt x="4565" y="119"/>
                    </a:lnTo>
                    <a:lnTo>
                      <a:pt x="4290" y="184"/>
                    </a:lnTo>
                    <a:lnTo>
                      <a:pt x="4014" y="263"/>
                    </a:lnTo>
                    <a:lnTo>
                      <a:pt x="3752" y="355"/>
                    </a:lnTo>
                    <a:lnTo>
                      <a:pt x="3490" y="460"/>
                    </a:lnTo>
                    <a:lnTo>
                      <a:pt x="3240" y="578"/>
                    </a:lnTo>
                    <a:lnTo>
                      <a:pt x="2991" y="709"/>
                    </a:lnTo>
                    <a:lnTo>
                      <a:pt x="2742" y="840"/>
                    </a:lnTo>
                    <a:lnTo>
                      <a:pt x="2519" y="998"/>
                    </a:lnTo>
                    <a:lnTo>
                      <a:pt x="2296" y="1155"/>
                    </a:lnTo>
                    <a:lnTo>
                      <a:pt x="2073" y="1326"/>
                    </a:lnTo>
                    <a:lnTo>
                      <a:pt x="1863" y="1509"/>
                    </a:lnTo>
                    <a:lnTo>
                      <a:pt x="1666" y="1706"/>
                    </a:lnTo>
                    <a:lnTo>
                      <a:pt x="1483" y="1903"/>
                    </a:lnTo>
                    <a:lnTo>
                      <a:pt x="1299" y="2113"/>
                    </a:lnTo>
                    <a:lnTo>
                      <a:pt x="1128" y="2336"/>
                    </a:lnTo>
                    <a:lnTo>
                      <a:pt x="971" y="2559"/>
                    </a:lnTo>
                    <a:lnTo>
                      <a:pt x="813" y="2795"/>
                    </a:lnTo>
                    <a:lnTo>
                      <a:pt x="682" y="3031"/>
                    </a:lnTo>
                    <a:lnTo>
                      <a:pt x="551" y="3280"/>
                    </a:lnTo>
                    <a:lnTo>
                      <a:pt x="446" y="3530"/>
                    </a:lnTo>
                    <a:lnTo>
                      <a:pt x="341" y="3792"/>
                    </a:lnTo>
                    <a:lnTo>
                      <a:pt x="249" y="4068"/>
                    </a:lnTo>
                    <a:lnTo>
                      <a:pt x="171" y="4343"/>
                    </a:lnTo>
                    <a:lnTo>
                      <a:pt x="105" y="4619"/>
                    </a:lnTo>
                    <a:lnTo>
                      <a:pt x="66" y="4894"/>
                    </a:lnTo>
                    <a:lnTo>
                      <a:pt x="26" y="5183"/>
                    </a:lnTo>
                    <a:lnTo>
                      <a:pt x="0" y="5471"/>
                    </a:lnTo>
                    <a:lnTo>
                      <a:pt x="0" y="5773"/>
                    </a:lnTo>
                    <a:lnTo>
                      <a:pt x="13" y="6075"/>
                    </a:lnTo>
                    <a:lnTo>
                      <a:pt x="26" y="6363"/>
                    </a:lnTo>
                    <a:lnTo>
                      <a:pt x="66" y="6652"/>
                    </a:lnTo>
                    <a:lnTo>
                      <a:pt x="118" y="6928"/>
                    </a:lnTo>
                    <a:lnTo>
                      <a:pt x="184" y="7203"/>
                    </a:lnTo>
                    <a:lnTo>
                      <a:pt x="262" y="7479"/>
                    </a:lnTo>
                    <a:lnTo>
                      <a:pt x="354" y="7741"/>
                    </a:lnTo>
                    <a:lnTo>
                      <a:pt x="459" y="8003"/>
                    </a:lnTo>
                    <a:lnTo>
                      <a:pt x="577" y="8266"/>
                    </a:lnTo>
                    <a:lnTo>
                      <a:pt x="708" y="8515"/>
                    </a:lnTo>
                    <a:lnTo>
                      <a:pt x="853" y="8751"/>
                    </a:lnTo>
                    <a:lnTo>
                      <a:pt x="997" y="8987"/>
                    </a:lnTo>
                    <a:lnTo>
                      <a:pt x="1155" y="9210"/>
                    </a:lnTo>
                    <a:lnTo>
                      <a:pt x="1338" y="9420"/>
                    </a:lnTo>
                    <a:lnTo>
                      <a:pt x="1509" y="9630"/>
                    </a:lnTo>
                    <a:lnTo>
                      <a:pt x="1706" y="9827"/>
                    </a:lnTo>
                    <a:lnTo>
                      <a:pt x="1902" y="10024"/>
                    </a:lnTo>
                    <a:lnTo>
                      <a:pt x="2112" y="10194"/>
                    </a:lnTo>
                    <a:lnTo>
                      <a:pt x="2335" y="10365"/>
                    </a:lnTo>
                    <a:lnTo>
                      <a:pt x="2558" y="10522"/>
                    </a:lnTo>
                    <a:lnTo>
                      <a:pt x="2794" y="10680"/>
                    </a:lnTo>
                    <a:lnTo>
                      <a:pt x="3031" y="10811"/>
                    </a:lnTo>
                    <a:lnTo>
                      <a:pt x="3280" y="10942"/>
                    </a:lnTo>
                    <a:lnTo>
                      <a:pt x="3542" y="11060"/>
                    </a:lnTo>
                    <a:lnTo>
                      <a:pt x="3805" y="11152"/>
                    </a:lnTo>
                    <a:lnTo>
                      <a:pt x="4067" y="11244"/>
                    </a:lnTo>
                    <a:lnTo>
                      <a:pt x="4342" y="11322"/>
                    </a:lnTo>
                    <a:lnTo>
                      <a:pt x="4618" y="11388"/>
                    </a:lnTo>
                    <a:lnTo>
                      <a:pt x="4907" y="11440"/>
                    </a:lnTo>
                    <a:lnTo>
                      <a:pt x="5195" y="11467"/>
                    </a:lnTo>
                    <a:lnTo>
                      <a:pt x="5484" y="11493"/>
                    </a:lnTo>
                    <a:lnTo>
                      <a:pt x="6061" y="11493"/>
                    </a:lnTo>
                    <a:lnTo>
                      <a:pt x="6337" y="11467"/>
                    </a:lnTo>
                    <a:lnTo>
                      <a:pt x="6612" y="11427"/>
                    </a:lnTo>
                    <a:lnTo>
                      <a:pt x="6888" y="11388"/>
                    </a:lnTo>
                    <a:lnTo>
                      <a:pt x="7150" y="11322"/>
                    </a:lnTo>
                    <a:lnTo>
                      <a:pt x="7412" y="11244"/>
                    </a:lnTo>
                    <a:lnTo>
                      <a:pt x="7675" y="11165"/>
                    </a:lnTo>
                    <a:lnTo>
                      <a:pt x="7924" y="11060"/>
                    </a:lnTo>
                    <a:lnTo>
                      <a:pt x="8173" y="10955"/>
                    </a:lnTo>
                    <a:lnTo>
                      <a:pt x="8409" y="10837"/>
                    </a:lnTo>
                    <a:lnTo>
                      <a:pt x="8645" y="10706"/>
                    </a:lnTo>
                    <a:lnTo>
                      <a:pt x="8868" y="10561"/>
                    </a:lnTo>
                    <a:lnTo>
                      <a:pt x="9092" y="10404"/>
                    </a:lnTo>
                    <a:lnTo>
                      <a:pt x="9301" y="10247"/>
                    </a:lnTo>
                    <a:lnTo>
                      <a:pt x="9511" y="10076"/>
                    </a:lnTo>
                    <a:lnTo>
                      <a:pt x="9708" y="9892"/>
                    </a:lnTo>
                    <a:lnTo>
                      <a:pt x="9905" y="9709"/>
                    </a:lnTo>
                    <a:lnTo>
                      <a:pt x="10075" y="9512"/>
                    </a:lnTo>
                    <a:lnTo>
                      <a:pt x="10246" y="9302"/>
                    </a:lnTo>
                    <a:lnTo>
                      <a:pt x="10417" y="9092"/>
                    </a:lnTo>
                    <a:lnTo>
                      <a:pt x="10561" y="8869"/>
                    </a:lnTo>
                    <a:lnTo>
                      <a:pt x="10705" y="8646"/>
                    </a:lnTo>
                    <a:lnTo>
                      <a:pt x="10836" y="8410"/>
                    </a:lnTo>
                    <a:lnTo>
                      <a:pt x="10954" y="8161"/>
                    </a:lnTo>
                    <a:lnTo>
                      <a:pt x="11059" y="7925"/>
                    </a:lnTo>
                    <a:lnTo>
                      <a:pt x="11164" y="7662"/>
                    </a:lnTo>
                    <a:lnTo>
                      <a:pt x="11243" y="7413"/>
                    </a:lnTo>
                    <a:lnTo>
                      <a:pt x="11322" y="7137"/>
                    </a:lnTo>
                    <a:lnTo>
                      <a:pt x="11387" y="6875"/>
                    </a:lnTo>
                    <a:lnTo>
                      <a:pt x="11427" y="6600"/>
                    </a:lnTo>
                    <a:lnTo>
                      <a:pt x="11466" y="6324"/>
                    </a:lnTo>
                    <a:lnTo>
                      <a:pt x="11492" y="6049"/>
                    </a:lnTo>
                    <a:lnTo>
                      <a:pt x="11623" y="5996"/>
                    </a:lnTo>
                    <a:lnTo>
                      <a:pt x="11781" y="5944"/>
                    </a:lnTo>
                    <a:lnTo>
                      <a:pt x="11978" y="5917"/>
                    </a:lnTo>
                    <a:lnTo>
                      <a:pt x="12188" y="5904"/>
                    </a:lnTo>
                    <a:lnTo>
                      <a:pt x="12358" y="5904"/>
                    </a:lnTo>
                    <a:lnTo>
                      <a:pt x="12542" y="5930"/>
                    </a:lnTo>
                    <a:lnTo>
                      <a:pt x="12725" y="5970"/>
                    </a:lnTo>
                    <a:lnTo>
                      <a:pt x="12909" y="6022"/>
                    </a:lnTo>
                    <a:lnTo>
                      <a:pt x="12922" y="6311"/>
                    </a:lnTo>
                    <a:lnTo>
                      <a:pt x="12962" y="6600"/>
                    </a:lnTo>
                    <a:lnTo>
                      <a:pt x="13001" y="6875"/>
                    </a:lnTo>
                    <a:lnTo>
                      <a:pt x="13067" y="7151"/>
                    </a:lnTo>
                    <a:lnTo>
                      <a:pt x="13132" y="7426"/>
                    </a:lnTo>
                    <a:lnTo>
                      <a:pt x="13224" y="7688"/>
                    </a:lnTo>
                    <a:lnTo>
                      <a:pt x="13316" y="7951"/>
                    </a:lnTo>
                    <a:lnTo>
                      <a:pt x="13434" y="8200"/>
                    </a:lnTo>
                    <a:lnTo>
                      <a:pt x="13552" y="8449"/>
                    </a:lnTo>
                    <a:lnTo>
                      <a:pt x="13683" y="8685"/>
                    </a:lnTo>
                    <a:lnTo>
                      <a:pt x="13814" y="8922"/>
                    </a:lnTo>
                    <a:lnTo>
                      <a:pt x="13972" y="9145"/>
                    </a:lnTo>
                    <a:lnTo>
                      <a:pt x="14129" y="9355"/>
                    </a:lnTo>
                    <a:lnTo>
                      <a:pt x="14313" y="9564"/>
                    </a:lnTo>
                    <a:lnTo>
                      <a:pt x="14483" y="9774"/>
                    </a:lnTo>
                    <a:lnTo>
                      <a:pt x="14680" y="9958"/>
                    </a:lnTo>
                    <a:lnTo>
                      <a:pt x="14877" y="10142"/>
                    </a:lnTo>
                    <a:lnTo>
                      <a:pt x="15087" y="10312"/>
                    </a:lnTo>
                    <a:lnTo>
                      <a:pt x="15297" y="10483"/>
                    </a:lnTo>
                    <a:lnTo>
                      <a:pt x="15520" y="10627"/>
                    </a:lnTo>
                    <a:lnTo>
                      <a:pt x="15756" y="10771"/>
                    </a:lnTo>
                    <a:lnTo>
                      <a:pt x="15992" y="10903"/>
                    </a:lnTo>
                    <a:lnTo>
                      <a:pt x="16241" y="11034"/>
                    </a:lnTo>
                    <a:lnTo>
                      <a:pt x="16491" y="11139"/>
                    </a:lnTo>
                    <a:lnTo>
                      <a:pt x="16740" y="11231"/>
                    </a:lnTo>
                    <a:lnTo>
                      <a:pt x="17002" y="11322"/>
                    </a:lnTo>
                    <a:lnTo>
                      <a:pt x="17278" y="11388"/>
                    </a:lnTo>
                    <a:lnTo>
                      <a:pt x="17553" y="11454"/>
                    </a:lnTo>
                    <a:lnTo>
                      <a:pt x="17829" y="11506"/>
                    </a:lnTo>
                    <a:lnTo>
                      <a:pt x="18104" y="11532"/>
                    </a:lnTo>
                    <a:lnTo>
                      <a:pt x="18393" y="11559"/>
                    </a:lnTo>
                    <a:lnTo>
                      <a:pt x="18681" y="11559"/>
                    </a:lnTo>
                    <a:lnTo>
                      <a:pt x="18970" y="11545"/>
                    </a:lnTo>
                    <a:lnTo>
                      <a:pt x="19272" y="11532"/>
                    </a:lnTo>
                    <a:lnTo>
                      <a:pt x="19560" y="11493"/>
                    </a:lnTo>
                    <a:lnTo>
                      <a:pt x="19836" y="11440"/>
                    </a:lnTo>
                    <a:lnTo>
                      <a:pt x="20111" y="11375"/>
                    </a:lnTo>
                    <a:lnTo>
                      <a:pt x="20387" y="11296"/>
                    </a:lnTo>
                    <a:lnTo>
                      <a:pt x="20649" y="11204"/>
                    </a:lnTo>
                    <a:lnTo>
                      <a:pt x="20912" y="11099"/>
                    </a:lnTo>
                    <a:lnTo>
                      <a:pt x="21174" y="10981"/>
                    </a:lnTo>
                    <a:lnTo>
                      <a:pt x="21410" y="10850"/>
                    </a:lnTo>
                    <a:lnTo>
                      <a:pt x="21659" y="10719"/>
                    </a:lnTo>
                    <a:lnTo>
                      <a:pt x="21882" y="10561"/>
                    </a:lnTo>
                    <a:lnTo>
                      <a:pt x="22119" y="10404"/>
                    </a:lnTo>
                    <a:lnTo>
                      <a:pt x="22329" y="10234"/>
                    </a:lnTo>
                    <a:lnTo>
                      <a:pt x="22538" y="10050"/>
                    </a:lnTo>
                    <a:lnTo>
                      <a:pt x="22735" y="9853"/>
                    </a:lnTo>
                    <a:lnTo>
                      <a:pt x="22932" y="9656"/>
                    </a:lnTo>
                    <a:lnTo>
                      <a:pt x="23103" y="9446"/>
                    </a:lnTo>
                    <a:lnTo>
                      <a:pt x="23273" y="9223"/>
                    </a:lnTo>
                    <a:lnTo>
                      <a:pt x="23431" y="9000"/>
                    </a:lnTo>
                    <a:lnTo>
                      <a:pt x="23588" y="8764"/>
                    </a:lnTo>
                    <a:lnTo>
                      <a:pt x="23719" y="8528"/>
                    </a:lnTo>
                    <a:lnTo>
                      <a:pt x="23850" y="8279"/>
                    </a:lnTo>
                    <a:lnTo>
                      <a:pt x="23968" y="8016"/>
                    </a:lnTo>
                    <a:lnTo>
                      <a:pt x="24060" y="7754"/>
                    </a:lnTo>
                    <a:lnTo>
                      <a:pt x="24152" y="7492"/>
                    </a:lnTo>
                    <a:lnTo>
                      <a:pt x="24231" y="7216"/>
                    </a:lnTo>
                    <a:lnTo>
                      <a:pt x="24296" y="6941"/>
                    </a:lnTo>
                    <a:lnTo>
                      <a:pt x="24336" y="6652"/>
                    </a:lnTo>
                    <a:lnTo>
                      <a:pt x="24375" y="6377"/>
                    </a:lnTo>
                    <a:lnTo>
                      <a:pt x="24401" y="6075"/>
                    </a:lnTo>
                    <a:lnTo>
                      <a:pt x="24401" y="5786"/>
                    </a:lnTo>
                    <a:lnTo>
                      <a:pt x="24401" y="5484"/>
                    </a:lnTo>
                    <a:lnTo>
                      <a:pt x="24375" y="5196"/>
                    </a:lnTo>
                    <a:lnTo>
                      <a:pt x="24336" y="4907"/>
                    </a:lnTo>
                    <a:lnTo>
                      <a:pt x="24283" y="4632"/>
                    </a:lnTo>
                    <a:lnTo>
                      <a:pt x="24218" y="4343"/>
                    </a:lnTo>
                    <a:lnTo>
                      <a:pt x="24139" y="4081"/>
                    </a:lnTo>
                    <a:lnTo>
                      <a:pt x="24047" y="3805"/>
                    </a:lnTo>
                    <a:lnTo>
                      <a:pt x="23942" y="3543"/>
                    </a:lnTo>
                    <a:lnTo>
                      <a:pt x="23824" y="3294"/>
                    </a:lnTo>
                    <a:lnTo>
                      <a:pt x="23693" y="3044"/>
                    </a:lnTo>
                    <a:lnTo>
                      <a:pt x="23562" y="2808"/>
                    </a:lnTo>
                    <a:lnTo>
                      <a:pt x="23404" y="2572"/>
                    </a:lnTo>
                    <a:lnTo>
                      <a:pt x="23247" y="2349"/>
                    </a:lnTo>
                    <a:lnTo>
                      <a:pt x="23076" y="2139"/>
                    </a:lnTo>
                    <a:lnTo>
                      <a:pt x="22893" y="1929"/>
                    </a:lnTo>
                    <a:lnTo>
                      <a:pt x="22696" y="1732"/>
                    </a:lnTo>
                    <a:lnTo>
                      <a:pt x="22499" y="1536"/>
                    </a:lnTo>
                    <a:lnTo>
                      <a:pt x="22289" y="1352"/>
                    </a:lnTo>
                    <a:lnTo>
                      <a:pt x="22066" y="1181"/>
                    </a:lnTo>
                    <a:lnTo>
                      <a:pt x="21843" y="1024"/>
                    </a:lnTo>
                    <a:lnTo>
                      <a:pt x="21607" y="880"/>
                    </a:lnTo>
                    <a:lnTo>
                      <a:pt x="21371" y="735"/>
                    </a:lnTo>
                    <a:lnTo>
                      <a:pt x="21122" y="617"/>
                    </a:lnTo>
                    <a:lnTo>
                      <a:pt x="20859" y="499"/>
                    </a:lnTo>
                    <a:lnTo>
                      <a:pt x="20610" y="394"/>
                    </a:lnTo>
                    <a:lnTo>
                      <a:pt x="20334" y="316"/>
                    </a:lnTo>
                    <a:lnTo>
                      <a:pt x="20059" y="237"/>
                    </a:lnTo>
                    <a:lnTo>
                      <a:pt x="19783" y="171"/>
                    </a:lnTo>
                    <a:lnTo>
                      <a:pt x="19508" y="119"/>
                    </a:lnTo>
                    <a:lnTo>
                      <a:pt x="19219" y="93"/>
                    </a:lnTo>
                    <a:lnTo>
                      <a:pt x="18918" y="66"/>
                    </a:lnTo>
                    <a:lnTo>
                      <a:pt x="18629" y="53"/>
                    </a:lnTo>
                    <a:lnTo>
                      <a:pt x="18367" y="66"/>
                    </a:lnTo>
                    <a:lnTo>
                      <a:pt x="18104" y="79"/>
                    </a:lnTo>
                    <a:lnTo>
                      <a:pt x="17855" y="119"/>
                    </a:lnTo>
                    <a:lnTo>
                      <a:pt x="17593" y="158"/>
                    </a:lnTo>
                    <a:lnTo>
                      <a:pt x="17343" y="211"/>
                    </a:lnTo>
                    <a:lnTo>
                      <a:pt x="17107" y="276"/>
                    </a:lnTo>
                    <a:lnTo>
                      <a:pt x="16858" y="342"/>
                    </a:lnTo>
                    <a:lnTo>
                      <a:pt x="16622" y="420"/>
                    </a:lnTo>
                    <a:lnTo>
                      <a:pt x="16399" y="525"/>
                    </a:lnTo>
                    <a:lnTo>
                      <a:pt x="16163" y="617"/>
                    </a:lnTo>
                    <a:lnTo>
                      <a:pt x="15940" y="735"/>
                    </a:lnTo>
                    <a:lnTo>
                      <a:pt x="15730" y="853"/>
                    </a:lnTo>
                    <a:lnTo>
                      <a:pt x="15520" y="985"/>
                    </a:lnTo>
                    <a:lnTo>
                      <a:pt x="15310" y="1129"/>
                    </a:lnTo>
                    <a:lnTo>
                      <a:pt x="15113" y="1273"/>
                    </a:lnTo>
                    <a:lnTo>
                      <a:pt x="14929" y="1431"/>
                    </a:lnTo>
                    <a:lnTo>
                      <a:pt x="14746" y="1588"/>
                    </a:lnTo>
                    <a:lnTo>
                      <a:pt x="14562" y="1759"/>
                    </a:lnTo>
                    <a:lnTo>
                      <a:pt x="14392" y="1942"/>
                    </a:lnTo>
                    <a:lnTo>
                      <a:pt x="14234" y="2126"/>
                    </a:lnTo>
                    <a:lnTo>
                      <a:pt x="14077" y="2323"/>
                    </a:lnTo>
                    <a:lnTo>
                      <a:pt x="13932" y="2520"/>
                    </a:lnTo>
                    <a:lnTo>
                      <a:pt x="13801" y="2729"/>
                    </a:lnTo>
                    <a:lnTo>
                      <a:pt x="13670" y="2939"/>
                    </a:lnTo>
                    <a:lnTo>
                      <a:pt x="13552" y="3162"/>
                    </a:lnTo>
                    <a:lnTo>
                      <a:pt x="13434" y="3385"/>
                    </a:lnTo>
                    <a:lnTo>
                      <a:pt x="13342" y="3608"/>
                    </a:lnTo>
                    <a:lnTo>
                      <a:pt x="13250" y="3845"/>
                    </a:lnTo>
                    <a:lnTo>
                      <a:pt x="13172" y="4081"/>
                    </a:lnTo>
                    <a:lnTo>
                      <a:pt x="13093" y="4330"/>
                    </a:lnTo>
                    <a:lnTo>
                      <a:pt x="13040" y="4579"/>
                    </a:lnTo>
                    <a:lnTo>
                      <a:pt x="12988" y="4842"/>
                    </a:lnTo>
                    <a:lnTo>
                      <a:pt x="12778" y="4789"/>
                    </a:lnTo>
                    <a:lnTo>
                      <a:pt x="12581" y="4763"/>
                    </a:lnTo>
                    <a:lnTo>
                      <a:pt x="12384" y="4750"/>
                    </a:lnTo>
                    <a:lnTo>
                      <a:pt x="12188" y="4737"/>
                    </a:lnTo>
                    <a:lnTo>
                      <a:pt x="11991" y="4750"/>
                    </a:lnTo>
                    <a:lnTo>
                      <a:pt x="11794" y="4763"/>
                    </a:lnTo>
                    <a:lnTo>
                      <a:pt x="11610" y="4789"/>
                    </a:lnTo>
                    <a:lnTo>
                      <a:pt x="11427" y="4842"/>
                    </a:lnTo>
                    <a:lnTo>
                      <a:pt x="11374" y="4579"/>
                    </a:lnTo>
                    <a:lnTo>
                      <a:pt x="11322" y="4330"/>
                    </a:lnTo>
                    <a:lnTo>
                      <a:pt x="11256" y="4081"/>
                    </a:lnTo>
                    <a:lnTo>
                      <a:pt x="11164" y="3845"/>
                    </a:lnTo>
                    <a:lnTo>
                      <a:pt x="11072" y="3595"/>
                    </a:lnTo>
                    <a:lnTo>
                      <a:pt x="10981" y="3372"/>
                    </a:lnTo>
                    <a:lnTo>
                      <a:pt x="10863" y="3136"/>
                    </a:lnTo>
                    <a:lnTo>
                      <a:pt x="10745" y="2913"/>
                    </a:lnTo>
                    <a:lnTo>
                      <a:pt x="10613" y="2703"/>
                    </a:lnTo>
                    <a:lnTo>
                      <a:pt x="10482" y="2493"/>
                    </a:lnTo>
                    <a:lnTo>
                      <a:pt x="10325" y="2283"/>
                    </a:lnTo>
                    <a:lnTo>
                      <a:pt x="10167" y="2087"/>
                    </a:lnTo>
                    <a:lnTo>
                      <a:pt x="10010" y="1903"/>
                    </a:lnTo>
                    <a:lnTo>
                      <a:pt x="9839" y="1719"/>
                    </a:lnTo>
                    <a:lnTo>
                      <a:pt x="9656" y="1549"/>
                    </a:lnTo>
                    <a:lnTo>
                      <a:pt x="9472" y="1378"/>
                    </a:lnTo>
                    <a:lnTo>
                      <a:pt x="9275" y="1221"/>
                    </a:lnTo>
                    <a:lnTo>
                      <a:pt x="9078" y="1063"/>
                    </a:lnTo>
                    <a:lnTo>
                      <a:pt x="8868" y="932"/>
                    </a:lnTo>
                    <a:lnTo>
                      <a:pt x="8659" y="801"/>
                    </a:lnTo>
                    <a:lnTo>
                      <a:pt x="8436" y="670"/>
                    </a:lnTo>
                    <a:lnTo>
                      <a:pt x="8213" y="552"/>
                    </a:lnTo>
                    <a:lnTo>
                      <a:pt x="7976" y="460"/>
                    </a:lnTo>
                    <a:lnTo>
                      <a:pt x="7740" y="355"/>
                    </a:lnTo>
                    <a:lnTo>
                      <a:pt x="7504" y="276"/>
                    </a:lnTo>
                    <a:lnTo>
                      <a:pt x="7268" y="197"/>
                    </a:lnTo>
                    <a:lnTo>
                      <a:pt x="7019" y="145"/>
                    </a:lnTo>
                    <a:lnTo>
                      <a:pt x="6756" y="93"/>
                    </a:lnTo>
                    <a:lnTo>
                      <a:pt x="6507" y="53"/>
                    </a:lnTo>
                    <a:lnTo>
                      <a:pt x="6245" y="14"/>
                    </a:lnTo>
                    <a:lnTo>
                      <a:pt x="598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" name="Google Shape;2417;p45">
              <a:extLst>
                <a:ext uri="{FF2B5EF4-FFF2-40B4-BE49-F238E27FC236}">
                  <a16:creationId xmlns:a16="http://schemas.microsoft.com/office/drawing/2014/main" id="{13EEA7F7-B588-8584-80DE-A6E120220F7E}"/>
                </a:ext>
              </a:extLst>
            </p:cNvPr>
            <p:cNvGrpSpPr/>
            <p:nvPr/>
          </p:nvGrpSpPr>
          <p:grpSpPr>
            <a:xfrm>
              <a:off x="3124753" y="2097067"/>
              <a:ext cx="2904005" cy="2628275"/>
              <a:chOff x="735516" y="1544617"/>
              <a:chExt cx="2904005" cy="2628275"/>
            </a:xfrm>
          </p:grpSpPr>
          <p:sp>
            <p:nvSpPr>
              <p:cNvPr id="31" name="Google Shape;2418;p45">
                <a:extLst>
                  <a:ext uri="{FF2B5EF4-FFF2-40B4-BE49-F238E27FC236}">
                    <a16:creationId xmlns:a16="http://schemas.microsoft.com/office/drawing/2014/main" id="{E71F4E46-7A5E-05A1-EB69-7F3C9E79CF7E}"/>
                  </a:ext>
                </a:extLst>
              </p:cNvPr>
              <p:cNvSpPr/>
              <p:nvPr/>
            </p:nvSpPr>
            <p:spPr>
              <a:xfrm>
                <a:off x="1961914" y="2680601"/>
                <a:ext cx="305922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17043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17042" y="919"/>
                    </a:lnTo>
                    <a:lnTo>
                      <a:pt x="17042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419;p45">
                <a:extLst>
                  <a:ext uri="{FF2B5EF4-FFF2-40B4-BE49-F238E27FC236}">
                    <a16:creationId xmlns:a16="http://schemas.microsoft.com/office/drawing/2014/main" id="{81ED00A8-3562-5990-E200-E9A8333BEC42}"/>
                  </a:ext>
                </a:extLst>
              </p:cNvPr>
              <p:cNvSpPr/>
              <p:nvPr/>
            </p:nvSpPr>
            <p:spPr>
              <a:xfrm>
                <a:off x="2274872" y="2680601"/>
                <a:ext cx="97738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5445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5445" y="919"/>
                    </a:lnTo>
                    <a:lnTo>
                      <a:pt x="5445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420;p45">
                <a:extLst>
                  <a:ext uri="{FF2B5EF4-FFF2-40B4-BE49-F238E27FC236}">
                    <a16:creationId xmlns:a16="http://schemas.microsoft.com/office/drawing/2014/main" id="{4CD6A9B0-E0A8-2C86-07B5-B4A7C52DBF53}"/>
                  </a:ext>
                </a:extLst>
              </p:cNvPr>
              <p:cNvSpPr/>
              <p:nvPr/>
            </p:nvSpPr>
            <p:spPr>
              <a:xfrm>
                <a:off x="2379664" y="2680601"/>
                <a:ext cx="115167" cy="16514"/>
              </a:xfrm>
              <a:custGeom>
                <a:avLst/>
                <a:gdLst/>
                <a:ahLst/>
                <a:cxnLst/>
                <a:rect l="l" t="t" r="r" b="b"/>
                <a:pathLst>
                  <a:path w="6416" h="920" extrusionOk="0">
                    <a:moveTo>
                      <a:pt x="1" y="1"/>
                    </a:moveTo>
                    <a:lnTo>
                      <a:pt x="1" y="919"/>
                    </a:lnTo>
                    <a:lnTo>
                      <a:pt x="6416" y="919"/>
                    </a:lnTo>
                    <a:lnTo>
                      <a:pt x="6416" y="1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421;p45">
                <a:extLst>
                  <a:ext uri="{FF2B5EF4-FFF2-40B4-BE49-F238E27FC236}">
                    <a16:creationId xmlns:a16="http://schemas.microsoft.com/office/drawing/2014/main" id="{38AB5DF8-B9B7-3D78-6886-41ED81C95EFD}"/>
                  </a:ext>
                </a:extLst>
              </p:cNvPr>
              <p:cNvSpPr/>
              <p:nvPr/>
            </p:nvSpPr>
            <p:spPr>
              <a:xfrm>
                <a:off x="1896683" y="2717111"/>
                <a:ext cx="254818" cy="16496"/>
              </a:xfrm>
              <a:custGeom>
                <a:avLst/>
                <a:gdLst/>
                <a:ahLst/>
                <a:cxnLst/>
                <a:rect l="l" t="t" r="r" b="b"/>
                <a:pathLst>
                  <a:path w="14196" h="919" extrusionOk="0">
                    <a:moveTo>
                      <a:pt x="1" y="0"/>
                    </a:moveTo>
                    <a:lnTo>
                      <a:pt x="1" y="919"/>
                    </a:lnTo>
                    <a:lnTo>
                      <a:pt x="14195" y="919"/>
                    </a:lnTo>
                    <a:lnTo>
                      <a:pt x="14195" y="0"/>
                    </a:lnTo>
                    <a:close/>
                  </a:path>
                </a:pathLst>
              </a:custGeom>
              <a:solidFill>
                <a:srgbClr val="393F7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422;p45">
                <a:extLst>
                  <a:ext uri="{FF2B5EF4-FFF2-40B4-BE49-F238E27FC236}">
                    <a16:creationId xmlns:a16="http://schemas.microsoft.com/office/drawing/2014/main" id="{04992CBB-7DBE-0985-A801-4A727A156549}"/>
                  </a:ext>
                </a:extLst>
              </p:cNvPr>
              <p:cNvSpPr/>
              <p:nvPr/>
            </p:nvSpPr>
            <p:spPr>
              <a:xfrm>
                <a:off x="2159723" y="2717111"/>
                <a:ext cx="83378" cy="16496"/>
              </a:xfrm>
              <a:custGeom>
                <a:avLst/>
                <a:gdLst/>
                <a:ahLst/>
                <a:cxnLst/>
                <a:rect l="l" t="t" r="r" b="b"/>
                <a:pathLst>
                  <a:path w="4645" h="919" extrusionOk="0">
                    <a:moveTo>
                      <a:pt x="0" y="0"/>
                    </a:moveTo>
                    <a:lnTo>
                      <a:pt x="0" y="919"/>
                    </a:lnTo>
                    <a:lnTo>
                      <a:pt x="4645" y="919"/>
                    </a:lnTo>
                    <a:lnTo>
                      <a:pt x="4645" y="0"/>
                    </a:lnTo>
                    <a:close/>
                  </a:path>
                </a:pathLst>
              </a:custGeom>
              <a:solidFill>
                <a:srgbClr val="E7C95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423;p45">
                <a:extLst>
                  <a:ext uri="{FF2B5EF4-FFF2-40B4-BE49-F238E27FC236}">
                    <a16:creationId xmlns:a16="http://schemas.microsoft.com/office/drawing/2014/main" id="{03E7C131-825F-2E9F-8614-B9F9125CCF43}"/>
                  </a:ext>
                </a:extLst>
              </p:cNvPr>
              <p:cNvSpPr/>
              <p:nvPr/>
            </p:nvSpPr>
            <p:spPr>
              <a:xfrm>
                <a:off x="2050928" y="4038428"/>
                <a:ext cx="116119" cy="75139"/>
              </a:xfrm>
              <a:custGeom>
                <a:avLst/>
                <a:gdLst/>
                <a:ahLst/>
                <a:cxnLst/>
                <a:rect l="l" t="t" r="r" b="b"/>
                <a:pathLst>
                  <a:path w="6469" h="4186" extrusionOk="0">
                    <a:moveTo>
                      <a:pt x="1" y="0"/>
                    </a:moveTo>
                    <a:lnTo>
                      <a:pt x="132" y="4185"/>
                    </a:lnTo>
                    <a:lnTo>
                      <a:pt x="1483" y="4185"/>
                    </a:lnTo>
                    <a:lnTo>
                      <a:pt x="1732" y="4172"/>
                    </a:lnTo>
                    <a:lnTo>
                      <a:pt x="1995" y="4146"/>
                    </a:lnTo>
                    <a:lnTo>
                      <a:pt x="2244" y="4106"/>
                    </a:lnTo>
                    <a:lnTo>
                      <a:pt x="2493" y="4054"/>
                    </a:lnTo>
                    <a:lnTo>
                      <a:pt x="2729" y="4001"/>
                    </a:lnTo>
                    <a:lnTo>
                      <a:pt x="2979" y="3923"/>
                    </a:lnTo>
                    <a:lnTo>
                      <a:pt x="3215" y="3844"/>
                    </a:lnTo>
                    <a:lnTo>
                      <a:pt x="3451" y="3765"/>
                    </a:lnTo>
                    <a:lnTo>
                      <a:pt x="3674" y="3660"/>
                    </a:lnTo>
                    <a:lnTo>
                      <a:pt x="3910" y="3555"/>
                    </a:lnTo>
                    <a:lnTo>
                      <a:pt x="4120" y="3437"/>
                    </a:lnTo>
                    <a:lnTo>
                      <a:pt x="4343" y="3306"/>
                    </a:lnTo>
                    <a:lnTo>
                      <a:pt x="4553" y="3162"/>
                    </a:lnTo>
                    <a:lnTo>
                      <a:pt x="4763" y="3017"/>
                    </a:lnTo>
                    <a:lnTo>
                      <a:pt x="4959" y="2860"/>
                    </a:lnTo>
                    <a:lnTo>
                      <a:pt x="6245" y="1797"/>
                    </a:lnTo>
                    <a:lnTo>
                      <a:pt x="6311" y="1732"/>
                    </a:lnTo>
                    <a:lnTo>
                      <a:pt x="6363" y="1666"/>
                    </a:lnTo>
                    <a:lnTo>
                      <a:pt x="6403" y="1601"/>
                    </a:lnTo>
                    <a:lnTo>
                      <a:pt x="6429" y="1522"/>
                    </a:lnTo>
                    <a:lnTo>
                      <a:pt x="6455" y="1443"/>
                    </a:lnTo>
                    <a:lnTo>
                      <a:pt x="6468" y="1364"/>
                    </a:lnTo>
                    <a:lnTo>
                      <a:pt x="6468" y="1286"/>
                    </a:lnTo>
                    <a:lnTo>
                      <a:pt x="6455" y="1207"/>
                    </a:lnTo>
                    <a:lnTo>
                      <a:pt x="6416" y="1076"/>
                    </a:lnTo>
                    <a:lnTo>
                      <a:pt x="6363" y="945"/>
                    </a:lnTo>
                    <a:lnTo>
                      <a:pt x="6298" y="827"/>
                    </a:lnTo>
                    <a:lnTo>
                      <a:pt x="6232" y="722"/>
                    </a:lnTo>
                    <a:lnTo>
                      <a:pt x="6153" y="617"/>
                    </a:lnTo>
                    <a:lnTo>
                      <a:pt x="6075" y="512"/>
                    </a:lnTo>
                    <a:lnTo>
                      <a:pt x="5983" y="420"/>
                    </a:lnTo>
                    <a:lnTo>
                      <a:pt x="5878" y="341"/>
                    </a:lnTo>
                    <a:lnTo>
                      <a:pt x="5773" y="262"/>
                    </a:lnTo>
                    <a:lnTo>
                      <a:pt x="5668" y="197"/>
                    </a:lnTo>
                    <a:lnTo>
                      <a:pt x="5550" y="131"/>
                    </a:lnTo>
                    <a:lnTo>
                      <a:pt x="5419" y="92"/>
                    </a:lnTo>
                    <a:lnTo>
                      <a:pt x="5301" y="53"/>
                    </a:lnTo>
                    <a:lnTo>
                      <a:pt x="5169" y="26"/>
                    </a:lnTo>
                    <a:lnTo>
                      <a:pt x="50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424;p45">
                <a:extLst>
                  <a:ext uri="{FF2B5EF4-FFF2-40B4-BE49-F238E27FC236}">
                    <a16:creationId xmlns:a16="http://schemas.microsoft.com/office/drawing/2014/main" id="{F01BFD84-B2A3-76B7-F31E-6713C3D9501E}"/>
                  </a:ext>
                </a:extLst>
              </p:cNvPr>
              <p:cNvSpPr/>
              <p:nvPr/>
            </p:nvSpPr>
            <p:spPr>
              <a:xfrm>
                <a:off x="2212711" y="4039128"/>
                <a:ext cx="116101" cy="75139"/>
              </a:xfrm>
              <a:custGeom>
                <a:avLst/>
                <a:gdLst/>
                <a:ahLst/>
                <a:cxnLst/>
                <a:rect l="l" t="t" r="r" b="b"/>
                <a:pathLst>
                  <a:path w="6468" h="4186" extrusionOk="0">
                    <a:moveTo>
                      <a:pt x="1443" y="0"/>
                    </a:moveTo>
                    <a:lnTo>
                      <a:pt x="1312" y="14"/>
                    </a:lnTo>
                    <a:lnTo>
                      <a:pt x="1168" y="53"/>
                    </a:lnTo>
                    <a:lnTo>
                      <a:pt x="1050" y="92"/>
                    </a:lnTo>
                    <a:lnTo>
                      <a:pt x="919" y="132"/>
                    </a:lnTo>
                    <a:lnTo>
                      <a:pt x="800" y="197"/>
                    </a:lnTo>
                    <a:lnTo>
                      <a:pt x="696" y="263"/>
                    </a:lnTo>
                    <a:lnTo>
                      <a:pt x="591" y="342"/>
                    </a:lnTo>
                    <a:lnTo>
                      <a:pt x="486" y="420"/>
                    </a:lnTo>
                    <a:lnTo>
                      <a:pt x="394" y="512"/>
                    </a:lnTo>
                    <a:lnTo>
                      <a:pt x="315" y="617"/>
                    </a:lnTo>
                    <a:lnTo>
                      <a:pt x="236" y="722"/>
                    </a:lnTo>
                    <a:lnTo>
                      <a:pt x="171" y="827"/>
                    </a:lnTo>
                    <a:lnTo>
                      <a:pt x="105" y="945"/>
                    </a:lnTo>
                    <a:lnTo>
                      <a:pt x="66" y="1076"/>
                    </a:lnTo>
                    <a:lnTo>
                      <a:pt x="26" y="1194"/>
                    </a:lnTo>
                    <a:lnTo>
                      <a:pt x="0" y="1286"/>
                    </a:lnTo>
                    <a:lnTo>
                      <a:pt x="0" y="1365"/>
                    </a:lnTo>
                    <a:lnTo>
                      <a:pt x="13" y="1443"/>
                    </a:lnTo>
                    <a:lnTo>
                      <a:pt x="40" y="1522"/>
                    </a:lnTo>
                    <a:lnTo>
                      <a:pt x="66" y="1601"/>
                    </a:lnTo>
                    <a:lnTo>
                      <a:pt x="118" y="1667"/>
                    </a:lnTo>
                    <a:lnTo>
                      <a:pt x="171" y="1732"/>
                    </a:lnTo>
                    <a:lnTo>
                      <a:pt x="223" y="1798"/>
                    </a:lnTo>
                    <a:lnTo>
                      <a:pt x="1509" y="2860"/>
                    </a:lnTo>
                    <a:lnTo>
                      <a:pt x="1706" y="3018"/>
                    </a:lnTo>
                    <a:lnTo>
                      <a:pt x="1916" y="3162"/>
                    </a:lnTo>
                    <a:lnTo>
                      <a:pt x="2126" y="3306"/>
                    </a:lnTo>
                    <a:lnTo>
                      <a:pt x="2349" y="3424"/>
                    </a:lnTo>
                    <a:lnTo>
                      <a:pt x="2572" y="3556"/>
                    </a:lnTo>
                    <a:lnTo>
                      <a:pt x="2795" y="3661"/>
                    </a:lnTo>
                    <a:lnTo>
                      <a:pt x="3018" y="3766"/>
                    </a:lnTo>
                    <a:lnTo>
                      <a:pt x="3254" y="3844"/>
                    </a:lnTo>
                    <a:lnTo>
                      <a:pt x="3503" y="3923"/>
                    </a:lnTo>
                    <a:lnTo>
                      <a:pt x="3739" y="4002"/>
                    </a:lnTo>
                    <a:lnTo>
                      <a:pt x="3988" y="4054"/>
                    </a:lnTo>
                    <a:lnTo>
                      <a:pt x="4238" y="4107"/>
                    </a:lnTo>
                    <a:lnTo>
                      <a:pt x="4487" y="4146"/>
                    </a:lnTo>
                    <a:lnTo>
                      <a:pt x="4736" y="4172"/>
                    </a:lnTo>
                    <a:lnTo>
                      <a:pt x="4985" y="4185"/>
                    </a:lnTo>
                    <a:lnTo>
                      <a:pt x="6337" y="4185"/>
                    </a:lnTo>
                    <a:lnTo>
                      <a:pt x="6468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425;p45">
                <a:extLst>
                  <a:ext uri="{FF2B5EF4-FFF2-40B4-BE49-F238E27FC236}">
                    <a16:creationId xmlns:a16="http://schemas.microsoft.com/office/drawing/2014/main" id="{14B9339D-36C5-07D8-4FDC-4896ED8FBFF2}"/>
                  </a:ext>
                </a:extLst>
              </p:cNvPr>
              <p:cNvSpPr/>
              <p:nvPr/>
            </p:nvSpPr>
            <p:spPr>
              <a:xfrm>
                <a:off x="735516" y="2825188"/>
                <a:ext cx="2904005" cy="59845"/>
              </a:xfrm>
              <a:custGeom>
                <a:avLst/>
                <a:gdLst/>
                <a:ahLst/>
                <a:cxnLst/>
                <a:rect l="l" t="t" r="r" b="b"/>
                <a:pathLst>
                  <a:path w="161783" h="3334" extrusionOk="0">
                    <a:moveTo>
                      <a:pt x="0" y="1"/>
                    </a:moveTo>
                    <a:lnTo>
                      <a:pt x="0" y="3333"/>
                    </a:lnTo>
                    <a:lnTo>
                      <a:pt x="161783" y="3333"/>
                    </a:lnTo>
                    <a:lnTo>
                      <a:pt x="161783" y="1"/>
                    </a:lnTo>
                    <a:close/>
                  </a:path>
                </a:pathLst>
              </a:custGeom>
              <a:solidFill>
                <a:srgbClr val="43434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426;p45">
                <a:extLst>
                  <a:ext uri="{FF2B5EF4-FFF2-40B4-BE49-F238E27FC236}">
                    <a16:creationId xmlns:a16="http://schemas.microsoft.com/office/drawing/2014/main" id="{80B78C1A-687B-1FFC-8A38-B609A1D483A8}"/>
                  </a:ext>
                </a:extLst>
              </p:cNvPr>
              <p:cNvSpPr/>
              <p:nvPr/>
            </p:nvSpPr>
            <p:spPr>
              <a:xfrm>
                <a:off x="2005245" y="4066448"/>
                <a:ext cx="86914" cy="4758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2651" extrusionOk="0">
                    <a:moveTo>
                      <a:pt x="0" y="0"/>
                    </a:moveTo>
                    <a:lnTo>
                      <a:pt x="0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5" y="1837"/>
                    </a:lnTo>
                    <a:lnTo>
                      <a:pt x="158" y="1955"/>
                    </a:lnTo>
                    <a:lnTo>
                      <a:pt x="223" y="2060"/>
                    </a:lnTo>
                    <a:lnTo>
                      <a:pt x="302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696" y="2493"/>
                    </a:lnTo>
                    <a:lnTo>
                      <a:pt x="814" y="2545"/>
                    </a:lnTo>
                    <a:lnTo>
                      <a:pt x="945" y="2585"/>
                    </a:lnTo>
                    <a:lnTo>
                      <a:pt x="1063" y="2624"/>
                    </a:lnTo>
                    <a:lnTo>
                      <a:pt x="1207" y="2637"/>
                    </a:lnTo>
                    <a:lnTo>
                      <a:pt x="1339" y="2650"/>
                    </a:lnTo>
                    <a:lnTo>
                      <a:pt x="3490" y="2650"/>
                    </a:lnTo>
                    <a:lnTo>
                      <a:pt x="3634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43" y="2349"/>
                    </a:lnTo>
                    <a:lnTo>
                      <a:pt x="4448" y="2257"/>
                    </a:lnTo>
                    <a:lnTo>
                      <a:pt x="4526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6" y="1837"/>
                    </a:lnTo>
                    <a:lnTo>
                      <a:pt x="4776" y="1706"/>
                    </a:lnTo>
                    <a:lnTo>
                      <a:pt x="4802" y="1574"/>
                    </a:lnTo>
                    <a:lnTo>
                      <a:pt x="4828" y="1443"/>
                    </a:lnTo>
                    <a:lnTo>
                      <a:pt x="4841" y="1312"/>
                    </a:lnTo>
                    <a:lnTo>
                      <a:pt x="4841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427;p45">
                <a:extLst>
                  <a:ext uri="{FF2B5EF4-FFF2-40B4-BE49-F238E27FC236}">
                    <a16:creationId xmlns:a16="http://schemas.microsoft.com/office/drawing/2014/main" id="{EE18BA4D-C3F6-5487-CC15-65F6AD2EC45A}"/>
                  </a:ext>
                </a:extLst>
              </p:cNvPr>
              <p:cNvSpPr/>
              <p:nvPr/>
            </p:nvSpPr>
            <p:spPr>
              <a:xfrm>
                <a:off x="1903900" y="3163581"/>
                <a:ext cx="191688" cy="90477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50405" extrusionOk="0">
                    <a:moveTo>
                      <a:pt x="0" y="1"/>
                    </a:moveTo>
                    <a:lnTo>
                      <a:pt x="4723" y="50404"/>
                    </a:lnTo>
                    <a:lnTo>
                      <a:pt x="10679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428;p45">
                <a:extLst>
                  <a:ext uri="{FF2B5EF4-FFF2-40B4-BE49-F238E27FC236}">
                    <a16:creationId xmlns:a16="http://schemas.microsoft.com/office/drawing/2014/main" id="{6002F232-4E50-DA76-E444-2A3FD94717C5}"/>
                  </a:ext>
                </a:extLst>
              </p:cNvPr>
              <p:cNvSpPr/>
              <p:nvPr/>
            </p:nvSpPr>
            <p:spPr>
              <a:xfrm>
                <a:off x="2267477" y="4066448"/>
                <a:ext cx="86914" cy="47585"/>
              </a:xfrm>
              <a:custGeom>
                <a:avLst/>
                <a:gdLst/>
                <a:ahLst/>
                <a:cxnLst/>
                <a:rect l="l" t="t" r="r" b="b"/>
                <a:pathLst>
                  <a:path w="4842" h="2651" extrusionOk="0">
                    <a:moveTo>
                      <a:pt x="1" y="0"/>
                    </a:moveTo>
                    <a:lnTo>
                      <a:pt x="1" y="1312"/>
                    </a:lnTo>
                    <a:lnTo>
                      <a:pt x="14" y="1443"/>
                    </a:lnTo>
                    <a:lnTo>
                      <a:pt x="27" y="1574"/>
                    </a:lnTo>
                    <a:lnTo>
                      <a:pt x="66" y="1706"/>
                    </a:lnTo>
                    <a:lnTo>
                      <a:pt x="106" y="1837"/>
                    </a:lnTo>
                    <a:lnTo>
                      <a:pt x="171" y="1955"/>
                    </a:lnTo>
                    <a:lnTo>
                      <a:pt x="237" y="2060"/>
                    </a:lnTo>
                    <a:lnTo>
                      <a:pt x="316" y="2165"/>
                    </a:lnTo>
                    <a:lnTo>
                      <a:pt x="394" y="2257"/>
                    </a:lnTo>
                    <a:lnTo>
                      <a:pt x="486" y="2349"/>
                    </a:lnTo>
                    <a:lnTo>
                      <a:pt x="591" y="2427"/>
                    </a:lnTo>
                    <a:lnTo>
                      <a:pt x="709" y="2493"/>
                    </a:lnTo>
                    <a:lnTo>
                      <a:pt x="827" y="2545"/>
                    </a:lnTo>
                    <a:lnTo>
                      <a:pt x="945" y="2585"/>
                    </a:lnTo>
                    <a:lnTo>
                      <a:pt x="1076" y="2624"/>
                    </a:lnTo>
                    <a:lnTo>
                      <a:pt x="1208" y="2637"/>
                    </a:lnTo>
                    <a:lnTo>
                      <a:pt x="1339" y="2650"/>
                    </a:lnTo>
                    <a:lnTo>
                      <a:pt x="3503" y="2650"/>
                    </a:lnTo>
                    <a:lnTo>
                      <a:pt x="3635" y="2637"/>
                    </a:lnTo>
                    <a:lnTo>
                      <a:pt x="3766" y="2624"/>
                    </a:lnTo>
                    <a:lnTo>
                      <a:pt x="3897" y="2585"/>
                    </a:lnTo>
                    <a:lnTo>
                      <a:pt x="4015" y="2545"/>
                    </a:lnTo>
                    <a:lnTo>
                      <a:pt x="4133" y="2493"/>
                    </a:lnTo>
                    <a:lnTo>
                      <a:pt x="4251" y="2427"/>
                    </a:lnTo>
                    <a:lnTo>
                      <a:pt x="4356" y="2349"/>
                    </a:lnTo>
                    <a:lnTo>
                      <a:pt x="4448" y="2257"/>
                    </a:lnTo>
                    <a:lnTo>
                      <a:pt x="4527" y="2165"/>
                    </a:lnTo>
                    <a:lnTo>
                      <a:pt x="4605" y="2060"/>
                    </a:lnTo>
                    <a:lnTo>
                      <a:pt x="4671" y="1955"/>
                    </a:lnTo>
                    <a:lnTo>
                      <a:pt x="4737" y="1837"/>
                    </a:lnTo>
                    <a:lnTo>
                      <a:pt x="4776" y="1706"/>
                    </a:lnTo>
                    <a:lnTo>
                      <a:pt x="4815" y="1574"/>
                    </a:lnTo>
                    <a:lnTo>
                      <a:pt x="4828" y="1443"/>
                    </a:lnTo>
                    <a:lnTo>
                      <a:pt x="4842" y="1312"/>
                    </a:lnTo>
                    <a:lnTo>
                      <a:pt x="4842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429;p45">
                <a:extLst>
                  <a:ext uri="{FF2B5EF4-FFF2-40B4-BE49-F238E27FC236}">
                    <a16:creationId xmlns:a16="http://schemas.microsoft.com/office/drawing/2014/main" id="{8D72730C-44EE-849A-4C0E-0C7968F4BE5A}"/>
                  </a:ext>
                </a:extLst>
              </p:cNvPr>
              <p:cNvSpPr/>
              <p:nvPr/>
            </p:nvSpPr>
            <p:spPr>
              <a:xfrm>
                <a:off x="2260423" y="3163581"/>
                <a:ext cx="191688" cy="904770"/>
              </a:xfrm>
              <a:custGeom>
                <a:avLst/>
                <a:gdLst/>
                <a:ahLst/>
                <a:cxnLst/>
                <a:rect l="l" t="t" r="r" b="b"/>
                <a:pathLst>
                  <a:path w="10679" h="50405" extrusionOk="0">
                    <a:moveTo>
                      <a:pt x="0" y="1"/>
                    </a:moveTo>
                    <a:lnTo>
                      <a:pt x="0" y="50404"/>
                    </a:lnTo>
                    <a:lnTo>
                      <a:pt x="5956" y="50404"/>
                    </a:lnTo>
                    <a:lnTo>
                      <a:pt x="1067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430;p45">
                <a:extLst>
                  <a:ext uri="{FF2B5EF4-FFF2-40B4-BE49-F238E27FC236}">
                    <a16:creationId xmlns:a16="http://schemas.microsoft.com/office/drawing/2014/main" id="{677CE204-DDBB-37AA-B831-5EA8463FA9F3}"/>
                  </a:ext>
                </a:extLst>
              </p:cNvPr>
              <p:cNvSpPr/>
              <p:nvPr/>
            </p:nvSpPr>
            <p:spPr>
              <a:xfrm>
                <a:off x="1640950" y="2743246"/>
                <a:ext cx="66415" cy="99622"/>
              </a:xfrm>
              <a:custGeom>
                <a:avLst/>
                <a:gdLst/>
                <a:ahLst/>
                <a:cxnLst/>
                <a:rect l="l" t="t" r="r" b="b"/>
                <a:pathLst>
                  <a:path w="3700" h="5550" extrusionOk="0">
                    <a:moveTo>
                      <a:pt x="3503" y="0"/>
                    </a:moveTo>
                    <a:lnTo>
                      <a:pt x="3319" y="14"/>
                    </a:lnTo>
                    <a:lnTo>
                      <a:pt x="3136" y="40"/>
                    </a:lnTo>
                    <a:lnTo>
                      <a:pt x="2952" y="66"/>
                    </a:lnTo>
                    <a:lnTo>
                      <a:pt x="2769" y="119"/>
                    </a:lnTo>
                    <a:lnTo>
                      <a:pt x="2598" y="158"/>
                    </a:lnTo>
                    <a:lnTo>
                      <a:pt x="2427" y="224"/>
                    </a:lnTo>
                    <a:lnTo>
                      <a:pt x="2257" y="289"/>
                    </a:lnTo>
                    <a:lnTo>
                      <a:pt x="2086" y="368"/>
                    </a:lnTo>
                    <a:lnTo>
                      <a:pt x="1929" y="447"/>
                    </a:lnTo>
                    <a:lnTo>
                      <a:pt x="1771" y="538"/>
                    </a:lnTo>
                    <a:lnTo>
                      <a:pt x="1627" y="630"/>
                    </a:lnTo>
                    <a:lnTo>
                      <a:pt x="1483" y="735"/>
                    </a:lnTo>
                    <a:lnTo>
                      <a:pt x="1339" y="840"/>
                    </a:lnTo>
                    <a:lnTo>
                      <a:pt x="1207" y="958"/>
                    </a:lnTo>
                    <a:lnTo>
                      <a:pt x="1076" y="1076"/>
                    </a:lnTo>
                    <a:lnTo>
                      <a:pt x="958" y="1207"/>
                    </a:lnTo>
                    <a:lnTo>
                      <a:pt x="840" y="1339"/>
                    </a:lnTo>
                    <a:lnTo>
                      <a:pt x="735" y="1483"/>
                    </a:lnTo>
                    <a:lnTo>
                      <a:pt x="630" y="1627"/>
                    </a:lnTo>
                    <a:lnTo>
                      <a:pt x="525" y="1772"/>
                    </a:lnTo>
                    <a:lnTo>
                      <a:pt x="446" y="1929"/>
                    </a:lnTo>
                    <a:lnTo>
                      <a:pt x="355" y="2086"/>
                    </a:lnTo>
                    <a:lnTo>
                      <a:pt x="289" y="2257"/>
                    </a:lnTo>
                    <a:lnTo>
                      <a:pt x="223" y="2427"/>
                    </a:lnTo>
                    <a:lnTo>
                      <a:pt x="158" y="2598"/>
                    </a:lnTo>
                    <a:lnTo>
                      <a:pt x="118" y="2769"/>
                    </a:lnTo>
                    <a:lnTo>
                      <a:pt x="66" y="2952"/>
                    </a:lnTo>
                    <a:lnTo>
                      <a:pt x="40" y="3136"/>
                    </a:lnTo>
                    <a:lnTo>
                      <a:pt x="14" y="3320"/>
                    </a:lnTo>
                    <a:lnTo>
                      <a:pt x="0" y="3503"/>
                    </a:lnTo>
                    <a:lnTo>
                      <a:pt x="0" y="3700"/>
                    </a:ln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431;p45">
                <a:extLst>
                  <a:ext uri="{FF2B5EF4-FFF2-40B4-BE49-F238E27FC236}">
                    <a16:creationId xmlns:a16="http://schemas.microsoft.com/office/drawing/2014/main" id="{F9613A31-2DE5-3853-D7DC-66381D55F909}"/>
                  </a:ext>
                </a:extLst>
              </p:cNvPr>
              <p:cNvSpPr/>
              <p:nvPr/>
            </p:nvSpPr>
            <p:spPr>
              <a:xfrm>
                <a:off x="1640716" y="2524005"/>
                <a:ext cx="235019" cy="385045"/>
              </a:xfrm>
              <a:custGeom>
                <a:avLst/>
                <a:gdLst/>
                <a:ahLst/>
                <a:cxnLst/>
                <a:rect l="l" t="t" r="r" b="b"/>
                <a:pathLst>
                  <a:path w="13093" h="21451" extrusionOk="0">
                    <a:moveTo>
                      <a:pt x="6442" y="1"/>
                    </a:moveTo>
                    <a:lnTo>
                      <a:pt x="145" y="17134"/>
                    </a:lnTo>
                    <a:lnTo>
                      <a:pt x="66" y="17370"/>
                    </a:lnTo>
                    <a:lnTo>
                      <a:pt x="13" y="17620"/>
                    </a:lnTo>
                    <a:lnTo>
                      <a:pt x="0" y="17869"/>
                    </a:lnTo>
                    <a:lnTo>
                      <a:pt x="0" y="18118"/>
                    </a:lnTo>
                    <a:lnTo>
                      <a:pt x="27" y="18367"/>
                    </a:lnTo>
                    <a:lnTo>
                      <a:pt x="79" y="18603"/>
                    </a:lnTo>
                    <a:lnTo>
                      <a:pt x="145" y="18853"/>
                    </a:lnTo>
                    <a:lnTo>
                      <a:pt x="250" y="19076"/>
                    </a:lnTo>
                    <a:lnTo>
                      <a:pt x="761" y="20099"/>
                    </a:lnTo>
                    <a:lnTo>
                      <a:pt x="866" y="20283"/>
                    </a:lnTo>
                    <a:lnTo>
                      <a:pt x="984" y="20453"/>
                    </a:lnTo>
                    <a:lnTo>
                      <a:pt x="1115" y="20624"/>
                    </a:lnTo>
                    <a:lnTo>
                      <a:pt x="1247" y="20768"/>
                    </a:lnTo>
                    <a:lnTo>
                      <a:pt x="1404" y="20899"/>
                    </a:lnTo>
                    <a:lnTo>
                      <a:pt x="1561" y="21017"/>
                    </a:lnTo>
                    <a:lnTo>
                      <a:pt x="1732" y="21135"/>
                    </a:lnTo>
                    <a:lnTo>
                      <a:pt x="1916" y="21227"/>
                    </a:lnTo>
                    <a:lnTo>
                      <a:pt x="2099" y="21306"/>
                    </a:lnTo>
                    <a:lnTo>
                      <a:pt x="2283" y="21358"/>
                    </a:lnTo>
                    <a:lnTo>
                      <a:pt x="2480" y="21411"/>
                    </a:lnTo>
                    <a:lnTo>
                      <a:pt x="2690" y="21437"/>
                    </a:lnTo>
                    <a:lnTo>
                      <a:pt x="2886" y="21450"/>
                    </a:lnTo>
                    <a:lnTo>
                      <a:pt x="3096" y="21450"/>
                    </a:lnTo>
                    <a:lnTo>
                      <a:pt x="3306" y="21437"/>
                    </a:lnTo>
                    <a:lnTo>
                      <a:pt x="3503" y="21398"/>
                    </a:lnTo>
                    <a:lnTo>
                      <a:pt x="3844" y="21306"/>
                    </a:lnTo>
                    <a:lnTo>
                      <a:pt x="4172" y="21201"/>
                    </a:lnTo>
                    <a:lnTo>
                      <a:pt x="4500" y="21070"/>
                    </a:lnTo>
                    <a:lnTo>
                      <a:pt x="4802" y="20912"/>
                    </a:lnTo>
                    <a:lnTo>
                      <a:pt x="5104" y="20755"/>
                    </a:lnTo>
                    <a:lnTo>
                      <a:pt x="5392" y="20571"/>
                    </a:lnTo>
                    <a:lnTo>
                      <a:pt x="5668" y="20361"/>
                    </a:lnTo>
                    <a:lnTo>
                      <a:pt x="5930" y="20151"/>
                    </a:lnTo>
                    <a:lnTo>
                      <a:pt x="6179" y="19915"/>
                    </a:lnTo>
                    <a:lnTo>
                      <a:pt x="6415" y="19666"/>
                    </a:lnTo>
                    <a:lnTo>
                      <a:pt x="6638" y="19404"/>
                    </a:lnTo>
                    <a:lnTo>
                      <a:pt x="6835" y="19128"/>
                    </a:lnTo>
                    <a:lnTo>
                      <a:pt x="7019" y="18840"/>
                    </a:lnTo>
                    <a:lnTo>
                      <a:pt x="7189" y="18538"/>
                    </a:lnTo>
                    <a:lnTo>
                      <a:pt x="7334" y="18223"/>
                    </a:lnTo>
                    <a:lnTo>
                      <a:pt x="7465" y="17895"/>
                    </a:lnTo>
                    <a:lnTo>
                      <a:pt x="13093" y="2598"/>
                    </a:lnTo>
                    <a:lnTo>
                      <a:pt x="6442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432;p45">
                <a:extLst>
                  <a:ext uri="{FF2B5EF4-FFF2-40B4-BE49-F238E27FC236}">
                    <a16:creationId xmlns:a16="http://schemas.microsoft.com/office/drawing/2014/main" id="{62AA2B3C-5DE0-BCF5-4C6F-468D14768B77}"/>
                  </a:ext>
                </a:extLst>
              </p:cNvPr>
              <p:cNvSpPr/>
              <p:nvPr/>
            </p:nvSpPr>
            <p:spPr>
              <a:xfrm>
                <a:off x="2667672" y="2743246"/>
                <a:ext cx="66415" cy="99622"/>
              </a:xfrm>
              <a:custGeom>
                <a:avLst/>
                <a:gdLst/>
                <a:ahLst/>
                <a:cxnLst/>
                <a:rect l="l" t="t" r="r" b="b"/>
                <a:pathLst>
                  <a:path w="3700" h="5550" extrusionOk="0">
                    <a:moveTo>
                      <a:pt x="0" y="0"/>
                    </a:moveTo>
                    <a:lnTo>
                      <a:pt x="0" y="5550"/>
                    </a:lnTo>
                    <a:lnTo>
                      <a:pt x="3700" y="5550"/>
                    </a:lnTo>
                    <a:lnTo>
                      <a:pt x="3700" y="3700"/>
                    </a:lnTo>
                    <a:lnTo>
                      <a:pt x="3700" y="3503"/>
                    </a:lnTo>
                    <a:lnTo>
                      <a:pt x="3686" y="3320"/>
                    </a:lnTo>
                    <a:lnTo>
                      <a:pt x="3660" y="3136"/>
                    </a:lnTo>
                    <a:lnTo>
                      <a:pt x="3634" y="2952"/>
                    </a:lnTo>
                    <a:lnTo>
                      <a:pt x="3582" y="2769"/>
                    </a:lnTo>
                    <a:lnTo>
                      <a:pt x="3542" y="2598"/>
                    </a:lnTo>
                    <a:lnTo>
                      <a:pt x="3477" y="2427"/>
                    </a:lnTo>
                    <a:lnTo>
                      <a:pt x="3411" y="2257"/>
                    </a:lnTo>
                    <a:lnTo>
                      <a:pt x="3332" y="2086"/>
                    </a:lnTo>
                    <a:lnTo>
                      <a:pt x="3254" y="1929"/>
                    </a:lnTo>
                    <a:lnTo>
                      <a:pt x="3162" y="1772"/>
                    </a:lnTo>
                    <a:lnTo>
                      <a:pt x="3070" y="1627"/>
                    </a:lnTo>
                    <a:lnTo>
                      <a:pt x="2965" y="1483"/>
                    </a:lnTo>
                    <a:lnTo>
                      <a:pt x="2860" y="1339"/>
                    </a:lnTo>
                    <a:lnTo>
                      <a:pt x="2742" y="1207"/>
                    </a:lnTo>
                    <a:lnTo>
                      <a:pt x="2624" y="1076"/>
                    </a:lnTo>
                    <a:lnTo>
                      <a:pt x="2493" y="958"/>
                    </a:lnTo>
                    <a:lnTo>
                      <a:pt x="2361" y="840"/>
                    </a:lnTo>
                    <a:lnTo>
                      <a:pt x="2217" y="735"/>
                    </a:lnTo>
                    <a:lnTo>
                      <a:pt x="2073" y="630"/>
                    </a:lnTo>
                    <a:lnTo>
                      <a:pt x="1929" y="538"/>
                    </a:lnTo>
                    <a:lnTo>
                      <a:pt x="1771" y="447"/>
                    </a:lnTo>
                    <a:lnTo>
                      <a:pt x="1614" y="368"/>
                    </a:lnTo>
                    <a:lnTo>
                      <a:pt x="1443" y="289"/>
                    </a:lnTo>
                    <a:lnTo>
                      <a:pt x="1273" y="224"/>
                    </a:lnTo>
                    <a:lnTo>
                      <a:pt x="1102" y="158"/>
                    </a:lnTo>
                    <a:lnTo>
                      <a:pt x="932" y="119"/>
                    </a:lnTo>
                    <a:lnTo>
                      <a:pt x="748" y="66"/>
                    </a:lnTo>
                    <a:lnTo>
                      <a:pt x="564" y="40"/>
                    </a:lnTo>
                    <a:lnTo>
                      <a:pt x="381" y="14"/>
                    </a:lnTo>
                    <a:lnTo>
                      <a:pt x="197" y="0"/>
                    </a:lnTo>
                    <a:close/>
                  </a:path>
                </a:pathLst>
              </a:custGeom>
              <a:solidFill>
                <a:srgbClr val="FFB7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433;p45">
                <a:extLst>
                  <a:ext uri="{FF2B5EF4-FFF2-40B4-BE49-F238E27FC236}">
                    <a16:creationId xmlns:a16="http://schemas.microsoft.com/office/drawing/2014/main" id="{C7C02370-2223-DD70-1DBD-780B171F1094}"/>
                  </a:ext>
                </a:extLst>
              </p:cNvPr>
              <p:cNvSpPr/>
              <p:nvPr/>
            </p:nvSpPr>
            <p:spPr>
              <a:xfrm>
                <a:off x="2499301" y="2524005"/>
                <a:ext cx="235019" cy="385045"/>
              </a:xfrm>
              <a:custGeom>
                <a:avLst/>
                <a:gdLst/>
                <a:ahLst/>
                <a:cxnLst/>
                <a:rect l="l" t="t" r="r" b="b"/>
                <a:pathLst>
                  <a:path w="13093" h="21451" extrusionOk="0">
                    <a:moveTo>
                      <a:pt x="6651" y="1"/>
                    </a:moveTo>
                    <a:lnTo>
                      <a:pt x="0" y="2598"/>
                    </a:lnTo>
                    <a:lnTo>
                      <a:pt x="5615" y="17895"/>
                    </a:lnTo>
                    <a:lnTo>
                      <a:pt x="5746" y="18223"/>
                    </a:lnTo>
                    <a:lnTo>
                      <a:pt x="5904" y="18538"/>
                    </a:lnTo>
                    <a:lnTo>
                      <a:pt x="6074" y="18840"/>
                    </a:lnTo>
                    <a:lnTo>
                      <a:pt x="6258" y="19128"/>
                    </a:lnTo>
                    <a:lnTo>
                      <a:pt x="6455" y="19404"/>
                    </a:lnTo>
                    <a:lnTo>
                      <a:pt x="6678" y="19666"/>
                    </a:lnTo>
                    <a:lnTo>
                      <a:pt x="6914" y="19915"/>
                    </a:lnTo>
                    <a:lnTo>
                      <a:pt x="7163" y="20151"/>
                    </a:lnTo>
                    <a:lnTo>
                      <a:pt x="7425" y="20361"/>
                    </a:lnTo>
                    <a:lnTo>
                      <a:pt x="7701" y="20571"/>
                    </a:lnTo>
                    <a:lnTo>
                      <a:pt x="7989" y="20755"/>
                    </a:lnTo>
                    <a:lnTo>
                      <a:pt x="8278" y="20912"/>
                    </a:lnTo>
                    <a:lnTo>
                      <a:pt x="8593" y="21070"/>
                    </a:lnTo>
                    <a:lnTo>
                      <a:pt x="8921" y="21201"/>
                    </a:lnTo>
                    <a:lnTo>
                      <a:pt x="9249" y="21306"/>
                    </a:lnTo>
                    <a:lnTo>
                      <a:pt x="9577" y="21398"/>
                    </a:lnTo>
                    <a:lnTo>
                      <a:pt x="9787" y="21437"/>
                    </a:lnTo>
                    <a:lnTo>
                      <a:pt x="9997" y="21450"/>
                    </a:lnTo>
                    <a:lnTo>
                      <a:pt x="10207" y="21450"/>
                    </a:lnTo>
                    <a:lnTo>
                      <a:pt x="10403" y="21437"/>
                    </a:lnTo>
                    <a:lnTo>
                      <a:pt x="10600" y="21411"/>
                    </a:lnTo>
                    <a:lnTo>
                      <a:pt x="10797" y="21358"/>
                    </a:lnTo>
                    <a:lnTo>
                      <a:pt x="10994" y="21306"/>
                    </a:lnTo>
                    <a:lnTo>
                      <a:pt x="11177" y="21227"/>
                    </a:lnTo>
                    <a:lnTo>
                      <a:pt x="11361" y="21135"/>
                    </a:lnTo>
                    <a:lnTo>
                      <a:pt x="11532" y="21017"/>
                    </a:lnTo>
                    <a:lnTo>
                      <a:pt x="11689" y="20899"/>
                    </a:lnTo>
                    <a:lnTo>
                      <a:pt x="11846" y="20768"/>
                    </a:lnTo>
                    <a:lnTo>
                      <a:pt x="11978" y="20624"/>
                    </a:lnTo>
                    <a:lnTo>
                      <a:pt x="12109" y="20453"/>
                    </a:lnTo>
                    <a:lnTo>
                      <a:pt x="12227" y="20283"/>
                    </a:lnTo>
                    <a:lnTo>
                      <a:pt x="12332" y="20099"/>
                    </a:lnTo>
                    <a:lnTo>
                      <a:pt x="12843" y="19076"/>
                    </a:lnTo>
                    <a:lnTo>
                      <a:pt x="12935" y="18853"/>
                    </a:lnTo>
                    <a:lnTo>
                      <a:pt x="13014" y="18603"/>
                    </a:lnTo>
                    <a:lnTo>
                      <a:pt x="13066" y="18367"/>
                    </a:lnTo>
                    <a:lnTo>
                      <a:pt x="13093" y="18118"/>
                    </a:lnTo>
                    <a:lnTo>
                      <a:pt x="13093" y="17869"/>
                    </a:lnTo>
                    <a:lnTo>
                      <a:pt x="13066" y="17620"/>
                    </a:lnTo>
                    <a:lnTo>
                      <a:pt x="13027" y="17370"/>
                    </a:lnTo>
                    <a:lnTo>
                      <a:pt x="12948" y="17134"/>
                    </a:lnTo>
                    <a:lnTo>
                      <a:pt x="6651" y="1"/>
                    </a:lnTo>
                    <a:close/>
                  </a:path>
                </a:pathLst>
              </a:custGeom>
              <a:solidFill>
                <a:srgbClr val="FFC09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434;p45">
                <a:extLst>
                  <a:ext uri="{FF2B5EF4-FFF2-40B4-BE49-F238E27FC236}">
                    <a16:creationId xmlns:a16="http://schemas.microsoft.com/office/drawing/2014/main" id="{48573B5E-263D-8141-22F4-04133436A102}"/>
                  </a:ext>
                </a:extLst>
              </p:cNvPr>
              <p:cNvSpPr/>
              <p:nvPr/>
            </p:nvSpPr>
            <p:spPr>
              <a:xfrm>
                <a:off x="1896683" y="3002516"/>
                <a:ext cx="581670" cy="312276"/>
              </a:xfrm>
              <a:custGeom>
                <a:avLst/>
                <a:gdLst/>
                <a:ahLst/>
                <a:cxnLst/>
                <a:rect l="l" t="t" r="r" b="b"/>
                <a:pathLst>
                  <a:path w="32405" h="17397" extrusionOk="0">
                    <a:moveTo>
                      <a:pt x="1" y="1"/>
                    </a:moveTo>
                    <a:lnTo>
                      <a:pt x="14" y="1076"/>
                    </a:lnTo>
                    <a:lnTo>
                      <a:pt x="1" y="2165"/>
                    </a:lnTo>
                    <a:lnTo>
                      <a:pt x="1" y="4277"/>
                    </a:lnTo>
                    <a:lnTo>
                      <a:pt x="1" y="5314"/>
                    </a:lnTo>
                    <a:lnTo>
                      <a:pt x="14" y="6324"/>
                    </a:lnTo>
                    <a:lnTo>
                      <a:pt x="53" y="7308"/>
                    </a:lnTo>
                    <a:lnTo>
                      <a:pt x="106" y="8252"/>
                    </a:lnTo>
                    <a:lnTo>
                      <a:pt x="145" y="8698"/>
                    </a:lnTo>
                    <a:lnTo>
                      <a:pt x="184" y="9144"/>
                    </a:lnTo>
                    <a:lnTo>
                      <a:pt x="237" y="9577"/>
                    </a:lnTo>
                    <a:lnTo>
                      <a:pt x="289" y="9997"/>
                    </a:lnTo>
                    <a:lnTo>
                      <a:pt x="355" y="10404"/>
                    </a:lnTo>
                    <a:lnTo>
                      <a:pt x="434" y="10797"/>
                    </a:lnTo>
                    <a:lnTo>
                      <a:pt x="525" y="11165"/>
                    </a:lnTo>
                    <a:lnTo>
                      <a:pt x="630" y="11532"/>
                    </a:lnTo>
                    <a:lnTo>
                      <a:pt x="735" y="11873"/>
                    </a:lnTo>
                    <a:lnTo>
                      <a:pt x="853" y="12201"/>
                    </a:lnTo>
                    <a:lnTo>
                      <a:pt x="998" y="12503"/>
                    </a:lnTo>
                    <a:lnTo>
                      <a:pt x="1142" y="12805"/>
                    </a:lnTo>
                    <a:lnTo>
                      <a:pt x="1299" y="13067"/>
                    </a:lnTo>
                    <a:lnTo>
                      <a:pt x="1483" y="13316"/>
                    </a:lnTo>
                    <a:lnTo>
                      <a:pt x="1680" y="13552"/>
                    </a:lnTo>
                    <a:lnTo>
                      <a:pt x="1877" y="13762"/>
                    </a:lnTo>
                    <a:lnTo>
                      <a:pt x="2139" y="13985"/>
                    </a:lnTo>
                    <a:lnTo>
                      <a:pt x="2414" y="14195"/>
                    </a:lnTo>
                    <a:lnTo>
                      <a:pt x="2703" y="14405"/>
                    </a:lnTo>
                    <a:lnTo>
                      <a:pt x="3018" y="14615"/>
                    </a:lnTo>
                    <a:lnTo>
                      <a:pt x="3346" y="14812"/>
                    </a:lnTo>
                    <a:lnTo>
                      <a:pt x="3687" y="14996"/>
                    </a:lnTo>
                    <a:lnTo>
                      <a:pt x="4041" y="15179"/>
                    </a:lnTo>
                    <a:lnTo>
                      <a:pt x="4409" y="15350"/>
                    </a:lnTo>
                    <a:lnTo>
                      <a:pt x="4802" y="15520"/>
                    </a:lnTo>
                    <a:lnTo>
                      <a:pt x="5196" y="15678"/>
                    </a:lnTo>
                    <a:lnTo>
                      <a:pt x="5602" y="15822"/>
                    </a:lnTo>
                    <a:lnTo>
                      <a:pt x="6035" y="15966"/>
                    </a:lnTo>
                    <a:lnTo>
                      <a:pt x="6468" y="16111"/>
                    </a:lnTo>
                    <a:lnTo>
                      <a:pt x="6914" y="16242"/>
                    </a:lnTo>
                    <a:lnTo>
                      <a:pt x="7373" y="16360"/>
                    </a:lnTo>
                    <a:lnTo>
                      <a:pt x="7846" y="16478"/>
                    </a:lnTo>
                    <a:lnTo>
                      <a:pt x="8318" y="16596"/>
                    </a:lnTo>
                    <a:lnTo>
                      <a:pt x="8803" y="16701"/>
                    </a:lnTo>
                    <a:lnTo>
                      <a:pt x="9302" y="16793"/>
                    </a:lnTo>
                    <a:lnTo>
                      <a:pt x="9800" y="16885"/>
                    </a:lnTo>
                    <a:lnTo>
                      <a:pt x="10312" y="16963"/>
                    </a:lnTo>
                    <a:lnTo>
                      <a:pt x="10824" y="17029"/>
                    </a:lnTo>
                    <a:lnTo>
                      <a:pt x="11873" y="17160"/>
                    </a:lnTo>
                    <a:lnTo>
                      <a:pt x="12936" y="17265"/>
                    </a:lnTo>
                    <a:lnTo>
                      <a:pt x="14012" y="17331"/>
                    </a:lnTo>
                    <a:lnTo>
                      <a:pt x="15114" y="17370"/>
                    </a:lnTo>
                    <a:lnTo>
                      <a:pt x="16203" y="17396"/>
                    </a:lnTo>
                    <a:lnTo>
                      <a:pt x="17291" y="17370"/>
                    </a:lnTo>
                    <a:lnTo>
                      <a:pt x="18380" y="17331"/>
                    </a:lnTo>
                    <a:lnTo>
                      <a:pt x="19469" y="17265"/>
                    </a:lnTo>
                    <a:lnTo>
                      <a:pt x="20532" y="17160"/>
                    </a:lnTo>
                    <a:lnTo>
                      <a:pt x="21581" y="17029"/>
                    </a:lnTo>
                    <a:lnTo>
                      <a:pt x="22093" y="16963"/>
                    </a:lnTo>
                    <a:lnTo>
                      <a:pt x="22605" y="16885"/>
                    </a:lnTo>
                    <a:lnTo>
                      <a:pt x="23103" y="16793"/>
                    </a:lnTo>
                    <a:lnTo>
                      <a:pt x="23602" y="16701"/>
                    </a:lnTo>
                    <a:lnTo>
                      <a:pt x="24087" y="16596"/>
                    </a:lnTo>
                    <a:lnTo>
                      <a:pt x="24559" y="16478"/>
                    </a:lnTo>
                    <a:lnTo>
                      <a:pt x="25032" y="16360"/>
                    </a:lnTo>
                    <a:lnTo>
                      <a:pt x="25491" y="16242"/>
                    </a:lnTo>
                    <a:lnTo>
                      <a:pt x="25937" y="16111"/>
                    </a:lnTo>
                    <a:lnTo>
                      <a:pt x="26370" y="15966"/>
                    </a:lnTo>
                    <a:lnTo>
                      <a:pt x="26790" y="15822"/>
                    </a:lnTo>
                    <a:lnTo>
                      <a:pt x="27209" y="15678"/>
                    </a:lnTo>
                    <a:lnTo>
                      <a:pt x="27603" y="15520"/>
                    </a:lnTo>
                    <a:lnTo>
                      <a:pt x="27996" y="15350"/>
                    </a:lnTo>
                    <a:lnTo>
                      <a:pt x="28364" y="15179"/>
                    </a:lnTo>
                    <a:lnTo>
                      <a:pt x="28718" y="14996"/>
                    </a:lnTo>
                    <a:lnTo>
                      <a:pt x="29059" y="14812"/>
                    </a:lnTo>
                    <a:lnTo>
                      <a:pt x="29387" y="14615"/>
                    </a:lnTo>
                    <a:lnTo>
                      <a:pt x="29702" y="14405"/>
                    </a:lnTo>
                    <a:lnTo>
                      <a:pt x="29991" y="14195"/>
                    </a:lnTo>
                    <a:lnTo>
                      <a:pt x="30266" y="13985"/>
                    </a:lnTo>
                    <a:lnTo>
                      <a:pt x="30515" y="13762"/>
                    </a:lnTo>
                    <a:lnTo>
                      <a:pt x="30725" y="13552"/>
                    </a:lnTo>
                    <a:lnTo>
                      <a:pt x="30922" y="13316"/>
                    </a:lnTo>
                    <a:lnTo>
                      <a:pt x="31093" y="13067"/>
                    </a:lnTo>
                    <a:lnTo>
                      <a:pt x="31263" y="12805"/>
                    </a:lnTo>
                    <a:lnTo>
                      <a:pt x="31407" y="12503"/>
                    </a:lnTo>
                    <a:lnTo>
                      <a:pt x="31539" y="12201"/>
                    </a:lnTo>
                    <a:lnTo>
                      <a:pt x="31670" y="11873"/>
                    </a:lnTo>
                    <a:lnTo>
                      <a:pt x="31775" y="11532"/>
                    </a:lnTo>
                    <a:lnTo>
                      <a:pt x="31880" y="11165"/>
                    </a:lnTo>
                    <a:lnTo>
                      <a:pt x="31958" y="10797"/>
                    </a:lnTo>
                    <a:lnTo>
                      <a:pt x="32037" y="10404"/>
                    </a:lnTo>
                    <a:lnTo>
                      <a:pt x="32116" y="9997"/>
                    </a:lnTo>
                    <a:lnTo>
                      <a:pt x="32168" y="9577"/>
                    </a:lnTo>
                    <a:lnTo>
                      <a:pt x="32221" y="9144"/>
                    </a:lnTo>
                    <a:lnTo>
                      <a:pt x="32260" y="8698"/>
                    </a:lnTo>
                    <a:lnTo>
                      <a:pt x="32299" y="8252"/>
                    </a:lnTo>
                    <a:lnTo>
                      <a:pt x="32352" y="7308"/>
                    </a:lnTo>
                    <a:lnTo>
                      <a:pt x="32391" y="6324"/>
                    </a:lnTo>
                    <a:lnTo>
                      <a:pt x="32404" y="5314"/>
                    </a:lnTo>
                    <a:lnTo>
                      <a:pt x="32404" y="4277"/>
                    </a:lnTo>
                    <a:lnTo>
                      <a:pt x="32391" y="2165"/>
                    </a:lnTo>
                    <a:lnTo>
                      <a:pt x="32391" y="1076"/>
                    </a:lnTo>
                    <a:lnTo>
                      <a:pt x="3240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435;p45">
                <a:extLst>
                  <a:ext uri="{FF2B5EF4-FFF2-40B4-BE49-F238E27FC236}">
                    <a16:creationId xmlns:a16="http://schemas.microsoft.com/office/drawing/2014/main" id="{7F124F52-E5CB-51E6-6F7F-0C4298BFFF68}"/>
                  </a:ext>
                </a:extLst>
              </p:cNvPr>
              <p:cNvSpPr/>
              <p:nvPr/>
            </p:nvSpPr>
            <p:spPr>
              <a:xfrm>
                <a:off x="1715604" y="2185378"/>
                <a:ext cx="943829" cy="944080"/>
              </a:xfrm>
              <a:custGeom>
                <a:avLst/>
                <a:gdLst/>
                <a:ahLst/>
                <a:cxnLst/>
                <a:rect l="l" t="t" r="r" b="b"/>
                <a:pathLst>
                  <a:path w="52581" h="52595" extrusionOk="0">
                    <a:moveTo>
                      <a:pt x="22053" y="1"/>
                    </a:moveTo>
                    <a:lnTo>
                      <a:pt x="21436" y="14"/>
                    </a:lnTo>
                    <a:lnTo>
                      <a:pt x="20833" y="40"/>
                    </a:lnTo>
                    <a:lnTo>
                      <a:pt x="20230" y="92"/>
                    </a:lnTo>
                    <a:lnTo>
                      <a:pt x="19626" y="158"/>
                    </a:lnTo>
                    <a:lnTo>
                      <a:pt x="19036" y="237"/>
                    </a:lnTo>
                    <a:lnTo>
                      <a:pt x="18432" y="342"/>
                    </a:lnTo>
                    <a:lnTo>
                      <a:pt x="17842" y="460"/>
                    </a:lnTo>
                    <a:lnTo>
                      <a:pt x="17252" y="591"/>
                    </a:lnTo>
                    <a:lnTo>
                      <a:pt x="16674" y="748"/>
                    </a:lnTo>
                    <a:lnTo>
                      <a:pt x="16097" y="919"/>
                    </a:lnTo>
                    <a:lnTo>
                      <a:pt x="15520" y="1116"/>
                    </a:lnTo>
                    <a:lnTo>
                      <a:pt x="14956" y="1326"/>
                    </a:lnTo>
                    <a:lnTo>
                      <a:pt x="14392" y="1549"/>
                    </a:lnTo>
                    <a:lnTo>
                      <a:pt x="13841" y="1798"/>
                    </a:lnTo>
                    <a:lnTo>
                      <a:pt x="13303" y="2073"/>
                    </a:lnTo>
                    <a:lnTo>
                      <a:pt x="12765" y="2349"/>
                    </a:lnTo>
                    <a:lnTo>
                      <a:pt x="12345" y="2585"/>
                    </a:lnTo>
                    <a:lnTo>
                      <a:pt x="11912" y="2834"/>
                    </a:lnTo>
                    <a:lnTo>
                      <a:pt x="11492" y="3097"/>
                    </a:lnTo>
                    <a:lnTo>
                      <a:pt x="11059" y="3385"/>
                    </a:lnTo>
                    <a:lnTo>
                      <a:pt x="10613" y="3674"/>
                    </a:lnTo>
                    <a:lnTo>
                      <a:pt x="10180" y="3989"/>
                    </a:lnTo>
                    <a:lnTo>
                      <a:pt x="9734" y="4317"/>
                    </a:lnTo>
                    <a:lnTo>
                      <a:pt x="9288" y="4671"/>
                    </a:lnTo>
                    <a:lnTo>
                      <a:pt x="8842" y="5038"/>
                    </a:lnTo>
                    <a:lnTo>
                      <a:pt x="8396" y="5419"/>
                    </a:lnTo>
                    <a:lnTo>
                      <a:pt x="7963" y="5825"/>
                    </a:lnTo>
                    <a:lnTo>
                      <a:pt x="7517" y="6245"/>
                    </a:lnTo>
                    <a:lnTo>
                      <a:pt x="7071" y="6678"/>
                    </a:lnTo>
                    <a:lnTo>
                      <a:pt x="6638" y="7150"/>
                    </a:lnTo>
                    <a:lnTo>
                      <a:pt x="6205" y="7623"/>
                    </a:lnTo>
                    <a:lnTo>
                      <a:pt x="5772" y="8134"/>
                    </a:lnTo>
                    <a:lnTo>
                      <a:pt x="5340" y="8659"/>
                    </a:lnTo>
                    <a:lnTo>
                      <a:pt x="4920" y="9197"/>
                    </a:lnTo>
                    <a:lnTo>
                      <a:pt x="4513" y="9774"/>
                    </a:lnTo>
                    <a:lnTo>
                      <a:pt x="4106" y="10365"/>
                    </a:lnTo>
                    <a:lnTo>
                      <a:pt x="3700" y="10968"/>
                    </a:lnTo>
                    <a:lnTo>
                      <a:pt x="3306" y="11611"/>
                    </a:lnTo>
                    <a:lnTo>
                      <a:pt x="2926" y="12267"/>
                    </a:lnTo>
                    <a:lnTo>
                      <a:pt x="2558" y="12962"/>
                    </a:lnTo>
                    <a:lnTo>
                      <a:pt x="2191" y="13671"/>
                    </a:lnTo>
                    <a:lnTo>
                      <a:pt x="1837" y="14405"/>
                    </a:lnTo>
                    <a:lnTo>
                      <a:pt x="1496" y="15166"/>
                    </a:lnTo>
                    <a:lnTo>
                      <a:pt x="1168" y="15953"/>
                    </a:lnTo>
                    <a:lnTo>
                      <a:pt x="866" y="16767"/>
                    </a:lnTo>
                    <a:lnTo>
                      <a:pt x="564" y="17606"/>
                    </a:lnTo>
                    <a:lnTo>
                      <a:pt x="276" y="18485"/>
                    </a:lnTo>
                    <a:lnTo>
                      <a:pt x="0" y="19377"/>
                    </a:lnTo>
                    <a:lnTo>
                      <a:pt x="10679" y="23720"/>
                    </a:lnTo>
                    <a:lnTo>
                      <a:pt x="10574" y="24638"/>
                    </a:lnTo>
                    <a:lnTo>
                      <a:pt x="10469" y="25701"/>
                    </a:lnTo>
                    <a:lnTo>
                      <a:pt x="10351" y="27091"/>
                    </a:lnTo>
                    <a:lnTo>
                      <a:pt x="10233" y="28757"/>
                    </a:lnTo>
                    <a:lnTo>
                      <a:pt x="10180" y="29676"/>
                    </a:lnTo>
                    <a:lnTo>
                      <a:pt x="10128" y="30647"/>
                    </a:lnTo>
                    <a:lnTo>
                      <a:pt x="10089" y="31657"/>
                    </a:lnTo>
                    <a:lnTo>
                      <a:pt x="10049" y="32693"/>
                    </a:lnTo>
                    <a:lnTo>
                      <a:pt x="10023" y="33756"/>
                    </a:lnTo>
                    <a:lnTo>
                      <a:pt x="10010" y="34845"/>
                    </a:lnTo>
                    <a:lnTo>
                      <a:pt x="10010" y="35947"/>
                    </a:lnTo>
                    <a:lnTo>
                      <a:pt x="10023" y="37049"/>
                    </a:lnTo>
                    <a:lnTo>
                      <a:pt x="10062" y="38151"/>
                    </a:lnTo>
                    <a:lnTo>
                      <a:pt x="10115" y="39240"/>
                    </a:lnTo>
                    <a:lnTo>
                      <a:pt x="10194" y="40315"/>
                    </a:lnTo>
                    <a:lnTo>
                      <a:pt x="10285" y="41378"/>
                    </a:lnTo>
                    <a:lnTo>
                      <a:pt x="10403" y="42401"/>
                    </a:lnTo>
                    <a:lnTo>
                      <a:pt x="10469" y="42900"/>
                    </a:lnTo>
                    <a:lnTo>
                      <a:pt x="10548" y="43398"/>
                    </a:lnTo>
                    <a:lnTo>
                      <a:pt x="10640" y="43884"/>
                    </a:lnTo>
                    <a:lnTo>
                      <a:pt x="10731" y="44343"/>
                    </a:lnTo>
                    <a:lnTo>
                      <a:pt x="10823" y="44802"/>
                    </a:lnTo>
                    <a:lnTo>
                      <a:pt x="10928" y="45248"/>
                    </a:lnTo>
                    <a:lnTo>
                      <a:pt x="11046" y="45668"/>
                    </a:lnTo>
                    <a:lnTo>
                      <a:pt x="11164" y="46088"/>
                    </a:lnTo>
                    <a:lnTo>
                      <a:pt x="11296" y="46481"/>
                    </a:lnTo>
                    <a:lnTo>
                      <a:pt x="11440" y="46862"/>
                    </a:lnTo>
                    <a:lnTo>
                      <a:pt x="11584" y="47229"/>
                    </a:lnTo>
                    <a:lnTo>
                      <a:pt x="11742" y="47570"/>
                    </a:lnTo>
                    <a:lnTo>
                      <a:pt x="11912" y="47898"/>
                    </a:lnTo>
                    <a:lnTo>
                      <a:pt x="12083" y="48200"/>
                    </a:lnTo>
                    <a:lnTo>
                      <a:pt x="12266" y="48488"/>
                    </a:lnTo>
                    <a:lnTo>
                      <a:pt x="12463" y="48751"/>
                    </a:lnTo>
                    <a:lnTo>
                      <a:pt x="12673" y="48987"/>
                    </a:lnTo>
                    <a:lnTo>
                      <a:pt x="12883" y="49197"/>
                    </a:lnTo>
                    <a:lnTo>
                      <a:pt x="13119" y="49407"/>
                    </a:lnTo>
                    <a:lnTo>
                      <a:pt x="13381" y="49617"/>
                    </a:lnTo>
                    <a:lnTo>
                      <a:pt x="13657" y="49813"/>
                    </a:lnTo>
                    <a:lnTo>
                      <a:pt x="13946" y="49997"/>
                    </a:lnTo>
                    <a:lnTo>
                      <a:pt x="14247" y="50181"/>
                    </a:lnTo>
                    <a:lnTo>
                      <a:pt x="14562" y="50351"/>
                    </a:lnTo>
                    <a:lnTo>
                      <a:pt x="14903" y="50522"/>
                    </a:lnTo>
                    <a:lnTo>
                      <a:pt x="15244" y="50692"/>
                    </a:lnTo>
                    <a:lnTo>
                      <a:pt x="15612" y="50837"/>
                    </a:lnTo>
                    <a:lnTo>
                      <a:pt x="15979" y="50994"/>
                    </a:lnTo>
                    <a:lnTo>
                      <a:pt x="16373" y="51138"/>
                    </a:lnTo>
                    <a:lnTo>
                      <a:pt x="16766" y="51270"/>
                    </a:lnTo>
                    <a:lnTo>
                      <a:pt x="17173" y="51401"/>
                    </a:lnTo>
                    <a:lnTo>
                      <a:pt x="17593" y="51519"/>
                    </a:lnTo>
                    <a:lnTo>
                      <a:pt x="18026" y="51637"/>
                    </a:lnTo>
                    <a:lnTo>
                      <a:pt x="18458" y="51755"/>
                    </a:lnTo>
                    <a:lnTo>
                      <a:pt x="18905" y="51847"/>
                    </a:lnTo>
                    <a:lnTo>
                      <a:pt x="19364" y="51952"/>
                    </a:lnTo>
                    <a:lnTo>
                      <a:pt x="20295" y="52122"/>
                    </a:lnTo>
                    <a:lnTo>
                      <a:pt x="21253" y="52267"/>
                    </a:lnTo>
                    <a:lnTo>
                      <a:pt x="22237" y="52385"/>
                    </a:lnTo>
                    <a:lnTo>
                      <a:pt x="23234" y="52477"/>
                    </a:lnTo>
                    <a:lnTo>
                      <a:pt x="24244" y="52542"/>
                    </a:lnTo>
                    <a:lnTo>
                      <a:pt x="25267" y="52582"/>
                    </a:lnTo>
                    <a:lnTo>
                      <a:pt x="26291" y="52595"/>
                    </a:lnTo>
                    <a:lnTo>
                      <a:pt x="27314" y="52582"/>
                    </a:lnTo>
                    <a:lnTo>
                      <a:pt x="28337" y="52542"/>
                    </a:lnTo>
                    <a:lnTo>
                      <a:pt x="29347" y="52477"/>
                    </a:lnTo>
                    <a:lnTo>
                      <a:pt x="30344" y="52385"/>
                    </a:lnTo>
                    <a:lnTo>
                      <a:pt x="31328" y="52267"/>
                    </a:lnTo>
                    <a:lnTo>
                      <a:pt x="32286" y="52122"/>
                    </a:lnTo>
                    <a:lnTo>
                      <a:pt x="33217" y="51952"/>
                    </a:lnTo>
                    <a:lnTo>
                      <a:pt x="33676" y="51847"/>
                    </a:lnTo>
                    <a:lnTo>
                      <a:pt x="34123" y="51755"/>
                    </a:lnTo>
                    <a:lnTo>
                      <a:pt x="34555" y="51637"/>
                    </a:lnTo>
                    <a:lnTo>
                      <a:pt x="34988" y="51519"/>
                    </a:lnTo>
                    <a:lnTo>
                      <a:pt x="35408" y="51401"/>
                    </a:lnTo>
                    <a:lnTo>
                      <a:pt x="35815" y="51270"/>
                    </a:lnTo>
                    <a:lnTo>
                      <a:pt x="36208" y="51138"/>
                    </a:lnTo>
                    <a:lnTo>
                      <a:pt x="36589" y="50994"/>
                    </a:lnTo>
                    <a:lnTo>
                      <a:pt x="36969" y="50837"/>
                    </a:lnTo>
                    <a:lnTo>
                      <a:pt x="37324" y="50692"/>
                    </a:lnTo>
                    <a:lnTo>
                      <a:pt x="37678" y="50522"/>
                    </a:lnTo>
                    <a:lnTo>
                      <a:pt x="38006" y="50351"/>
                    </a:lnTo>
                    <a:lnTo>
                      <a:pt x="38334" y="50181"/>
                    </a:lnTo>
                    <a:lnTo>
                      <a:pt x="38635" y="49997"/>
                    </a:lnTo>
                    <a:lnTo>
                      <a:pt x="38924" y="49813"/>
                    </a:lnTo>
                    <a:lnTo>
                      <a:pt x="39200" y="49617"/>
                    </a:lnTo>
                    <a:lnTo>
                      <a:pt x="39462" y="49407"/>
                    </a:lnTo>
                    <a:lnTo>
                      <a:pt x="39698" y="49197"/>
                    </a:lnTo>
                    <a:lnTo>
                      <a:pt x="39908" y="48987"/>
                    </a:lnTo>
                    <a:lnTo>
                      <a:pt x="40118" y="48751"/>
                    </a:lnTo>
                    <a:lnTo>
                      <a:pt x="40315" y="48488"/>
                    </a:lnTo>
                    <a:lnTo>
                      <a:pt x="40498" y="48200"/>
                    </a:lnTo>
                    <a:lnTo>
                      <a:pt x="40669" y="47898"/>
                    </a:lnTo>
                    <a:lnTo>
                      <a:pt x="40839" y="47570"/>
                    </a:lnTo>
                    <a:lnTo>
                      <a:pt x="40997" y="47229"/>
                    </a:lnTo>
                    <a:lnTo>
                      <a:pt x="41141" y="46862"/>
                    </a:lnTo>
                    <a:lnTo>
                      <a:pt x="41285" y="46481"/>
                    </a:lnTo>
                    <a:lnTo>
                      <a:pt x="41417" y="46088"/>
                    </a:lnTo>
                    <a:lnTo>
                      <a:pt x="41535" y="45668"/>
                    </a:lnTo>
                    <a:lnTo>
                      <a:pt x="41653" y="45248"/>
                    </a:lnTo>
                    <a:lnTo>
                      <a:pt x="41758" y="44802"/>
                    </a:lnTo>
                    <a:lnTo>
                      <a:pt x="41850" y="44343"/>
                    </a:lnTo>
                    <a:lnTo>
                      <a:pt x="41941" y="43884"/>
                    </a:lnTo>
                    <a:lnTo>
                      <a:pt x="42033" y="43398"/>
                    </a:lnTo>
                    <a:lnTo>
                      <a:pt x="42112" y="42900"/>
                    </a:lnTo>
                    <a:lnTo>
                      <a:pt x="42178" y="42401"/>
                    </a:lnTo>
                    <a:lnTo>
                      <a:pt x="42296" y="41378"/>
                    </a:lnTo>
                    <a:lnTo>
                      <a:pt x="42387" y="40315"/>
                    </a:lnTo>
                    <a:lnTo>
                      <a:pt x="42466" y="39240"/>
                    </a:lnTo>
                    <a:lnTo>
                      <a:pt x="42519" y="38151"/>
                    </a:lnTo>
                    <a:lnTo>
                      <a:pt x="42545" y="37049"/>
                    </a:lnTo>
                    <a:lnTo>
                      <a:pt x="42571" y="35947"/>
                    </a:lnTo>
                    <a:lnTo>
                      <a:pt x="42571" y="34845"/>
                    </a:lnTo>
                    <a:lnTo>
                      <a:pt x="42558" y="33756"/>
                    </a:lnTo>
                    <a:lnTo>
                      <a:pt x="42532" y="32693"/>
                    </a:lnTo>
                    <a:lnTo>
                      <a:pt x="42492" y="31657"/>
                    </a:lnTo>
                    <a:lnTo>
                      <a:pt x="42453" y="30647"/>
                    </a:lnTo>
                    <a:lnTo>
                      <a:pt x="42401" y="29676"/>
                    </a:lnTo>
                    <a:lnTo>
                      <a:pt x="42335" y="28757"/>
                    </a:lnTo>
                    <a:lnTo>
                      <a:pt x="42217" y="27091"/>
                    </a:lnTo>
                    <a:lnTo>
                      <a:pt x="42099" y="25701"/>
                    </a:lnTo>
                    <a:lnTo>
                      <a:pt x="42007" y="24638"/>
                    </a:lnTo>
                    <a:lnTo>
                      <a:pt x="41902" y="23720"/>
                    </a:lnTo>
                    <a:lnTo>
                      <a:pt x="52581" y="19377"/>
                    </a:lnTo>
                    <a:lnTo>
                      <a:pt x="52292" y="18459"/>
                    </a:lnTo>
                    <a:lnTo>
                      <a:pt x="52004" y="17554"/>
                    </a:lnTo>
                    <a:lnTo>
                      <a:pt x="51689" y="16688"/>
                    </a:lnTo>
                    <a:lnTo>
                      <a:pt x="51361" y="15861"/>
                    </a:lnTo>
                    <a:lnTo>
                      <a:pt x="51033" y="15048"/>
                    </a:lnTo>
                    <a:lnTo>
                      <a:pt x="50679" y="14274"/>
                    </a:lnTo>
                    <a:lnTo>
                      <a:pt x="50311" y="13513"/>
                    </a:lnTo>
                    <a:lnTo>
                      <a:pt x="49931" y="12792"/>
                    </a:lnTo>
                    <a:lnTo>
                      <a:pt x="49550" y="12083"/>
                    </a:lnTo>
                    <a:lnTo>
                      <a:pt x="49144" y="11414"/>
                    </a:lnTo>
                    <a:lnTo>
                      <a:pt x="48737" y="10758"/>
                    </a:lnTo>
                    <a:lnTo>
                      <a:pt x="48330" y="10142"/>
                    </a:lnTo>
                    <a:lnTo>
                      <a:pt x="47911" y="9538"/>
                    </a:lnTo>
                    <a:lnTo>
                      <a:pt x="47478" y="8961"/>
                    </a:lnTo>
                    <a:lnTo>
                      <a:pt x="47045" y="8410"/>
                    </a:lnTo>
                    <a:lnTo>
                      <a:pt x="46599" y="7885"/>
                    </a:lnTo>
                    <a:lnTo>
                      <a:pt x="46153" y="7373"/>
                    </a:lnTo>
                    <a:lnTo>
                      <a:pt x="45707" y="6888"/>
                    </a:lnTo>
                    <a:lnTo>
                      <a:pt x="45247" y="6429"/>
                    </a:lnTo>
                    <a:lnTo>
                      <a:pt x="44788" y="5983"/>
                    </a:lnTo>
                    <a:lnTo>
                      <a:pt x="44342" y="5563"/>
                    </a:lnTo>
                    <a:lnTo>
                      <a:pt x="43883" y="5156"/>
                    </a:lnTo>
                    <a:lnTo>
                      <a:pt x="43424" y="4776"/>
                    </a:lnTo>
                    <a:lnTo>
                      <a:pt x="42965" y="4409"/>
                    </a:lnTo>
                    <a:lnTo>
                      <a:pt x="42506" y="4067"/>
                    </a:lnTo>
                    <a:lnTo>
                      <a:pt x="42046" y="3739"/>
                    </a:lnTo>
                    <a:lnTo>
                      <a:pt x="41600" y="3425"/>
                    </a:lnTo>
                    <a:lnTo>
                      <a:pt x="41154" y="3136"/>
                    </a:lnTo>
                    <a:lnTo>
                      <a:pt x="40708" y="2860"/>
                    </a:lnTo>
                    <a:lnTo>
                      <a:pt x="40275" y="2598"/>
                    </a:lnTo>
                    <a:lnTo>
                      <a:pt x="39842" y="2362"/>
                    </a:lnTo>
                    <a:lnTo>
                      <a:pt x="39423" y="2139"/>
                    </a:lnTo>
                    <a:lnTo>
                      <a:pt x="38898" y="1877"/>
                    </a:lnTo>
                    <a:lnTo>
                      <a:pt x="38373" y="1627"/>
                    </a:lnTo>
                    <a:lnTo>
                      <a:pt x="37848" y="1404"/>
                    </a:lnTo>
                    <a:lnTo>
                      <a:pt x="37310" y="1194"/>
                    </a:lnTo>
                    <a:lnTo>
                      <a:pt x="36773" y="1011"/>
                    </a:lnTo>
                    <a:lnTo>
                      <a:pt x="36222" y="827"/>
                    </a:lnTo>
                    <a:lnTo>
                      <a:pt x="35671" y="670"/>
                    </a:lnTo>
                    <a:lnTo>
                      <a:pt x="35106" y="538"/>
                    </a:lnTo>
                    <a:lnTo>
                      <a:pt x="34555" y="407"/>
                    </a:lnTo>
                    <a:lnTo>
                      <a:pt x="33978" y="302"/>
                    </a:lnTo>
                    <a:lnTo>
                      <a:pt x="33414" y="210"/>
                    </a:lnTo>
                    <a:lnTo>
                      <a:pt x="32850" y="132"/>
                    </a:lnTo>
                    <a:lnTo>
                      <a:pt x="32273" y="79"/>
                    </a:lnTo>
                    <a:lnTo>
                      <a:pt x="31696" y="40"/>
                    </a:lnTo>
                    <a:lnTo>
                      <a:pt x="31118" y="14"/>
                    </a:lnTo>
                    <a:lnTo>
                      <a:pt x="30541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436;p45">
                <a:extLst>
                  <a:ext uri="{FF2B5EF4-FFF2-40B4-BE49-F238E27FC236}">
                    <a16:creationId xmlns:a16="http://schemas.microsoft.com/office/drawing/2014/main" id="{313A6BE4-D5CE-C826-8491-B98BE8BBA7D0}"/>
                  </a:ext>
                </a:extLst>
              </p:cNvPr>
              <p:cNvSpPr/>
              <p:nvPr/>
            </p:nvSpPr>
            <p:spPr>
              <a:xfrm>
                <a:off x="1737269" y="3217521"/>
                <a:ext cx="900498" cy="138484"/>
              </a:xfrm>
              <a:custGeom>
                <a:avLst/>
                <a:gdLst/>
                <a:ahLst/>
                <a:cxnLst/>
                <a:rect l="l" t="t" r="r" b="b"/>
                <a:pathLst>
                  <a:path w="50167" h="7715" extrusionOk="0">
                    <a:moveTo>
                      <a:pt x="5143" y="0"/>
                    </a:moveTo>
                    <a:lnTo>
                      <a:pt x="4880" y="26"/>
                    </a:lnTo>
                    <a:lnTo>
                      <a:pt x="4605" y="53"/>
                    </a:lnTo>
                    <a:lnTo>
                      <a:pt x="4329" y="105"/>
                    </a:lnTo>
                    <a:lnTo>
                      <a:pt x="4067" y="158"/>
                    </a:lnTo>
                    <a:lnTo>
                      <a:pt x="3805" y="223"/>
                    </a:lnTo>
                    <a:lnTo>
                      <a:pt x="3555" y="315"/>
                    </a:lnTo>
                    <a:lnTo>
                      <a:pt x="3306" y="407"/>
                    </a:lnTo>
                    <a:lnTo>
                      <a:pt x="3057" y="512"/>
                    </a:lnTo>
                    <a:lnTo>
                      <a:pt x="2821" y="630"/>
                    </a:lnTo>
                    <a:lnTo>
                      <a:pt x="2584" y="761"/>
                    </a:lnTo>
                    <a:lnTo>
                      <a:pt x="2361" y="905"/>
                    </a:lnTo>
                    <a:lnTo>
                      <a:pt x="2152" y="1050"/>
                    </a:lnTo>
                    <a:lnTo>
                      <a:pt x="1942" y="1207"/>
                    </a:lnTo>
                    <a:lnTo>
                      <a:pt x="1732" y="1378"/>
                    </a:lnTo>
                    <a:lnTo>
                      <a:pt x="1548" y="1561"/>
                    </a:lnTo>
                    <a:lnTo>
                      <a:pt x="1364" y="1758"/>
                    </a:lnTo>
                    <a:lnTo>
                      <a:pt x="1194" y="1955"/>
                    </a:lnTo>
                    <a:lnTo>
                      <a:pt x="1023" y="2152"/>
                    </a:lnTo>
                    <a:lnTo>
                      <a:pt x="866" y="2375"/>
                    </a:lnTo>
                    <a:lnTo>
                      <a:pt x="722" y="2598"/>
                    </a:lnTo>
                    <a:lnTo>
                      <a:pt x="590" y="2821"/>
                    </a:lnTo>
                    <a:lnTo>
                      <a:pt x="472" y="3070"/>
                    </a:lnTo>
                    <a:lnTo>
                      <a:pt x="367" y="3306"/>
                    </a:lnTo>
                    <a:lnTo>
                      <a:pt x="276" y="3555"/>
                    </a:lnTo>
                    <a:lnTo>
                      <a:pt x="197" y="3818"/>
                    </a:lnTo>
                    <a:lnTo>
                      <a:pt x="131" y="4080"/>
                    </a:lnTo>
                    <a:lnTo>
                      <a:pt x="66" y="4356"/>
                    </a:lnTo>
                    <a:lnTo>
                      <a:pt x="26" y="4631"/>
                    </a:lnTo>
                    <a:lnTo>
                      <a:pt x="0" y="4907"/>
                    </a:lnTo>
                    <a:lnTo>
                      <a:pt x="0" y="4999"/>
                    </a:lnTo>
                    <a:lnTo>
                      <a:pt x="0" y="5274"/>
                    </a:lnTo>
                    <a:lnTo>
                      <a:pt x="26" y="5536"/>
                    </a:lnTo>
                    <a:lnTo>
                      <a:pt x="92" y="5799"/>
                    </a:lnTo>
                    <a:lnTo>
                      <a:pt x="171" y="6048"/>
                    </a:lnTo>
                    <a:lnTo>
                      <a:pt x="276" y="6284"/>
                    </a:lnTo>
                    <a:lnTo>
                      <a:pt x="407" y="6507"/>
                    </a:lnTo>
                    <a:lnTo>
                      <a:pt x="564" y="6717"/>
                    </a:lnTo>
                    <a:lnTo>
                      <a:pt x="735" y="6914"/>
                    </a:lnTo>
                    <a:lnTo>
                      <a:pt x="932" y="7084"/>
                    </a:lnTo>
                    <a:lnTo>
                      <a:pt x="1128" y="7242"/>
                    </a:lnTo>
                    <a:lnTo>
                      <a:pt x="1351" y="7373"/>
                    </a:lnTo>
                    <a:lnTo>
                      <a:pt x="1587" y="7491"/>
                    </a:lnTo>
                    <a:lnTo>
                      <a:pt x="1837" y="7583"/>
                    </a:lnTo>
                    <a:lnTo>
                      <a:pt x="2099" y="7649"/>
                    </a:lnTo>
                    <a:lnTo>
                      <a:pt x="2361" y="7701"/>
                    </a:lnTo>
                    <a:lnTo>
                      <a:pt x="2637" y="7714"/>
                    </a:lnTo>
                    <a:lnTo>
                      <a:pt x="47530" y="7714"/>
                    </a:lnTo>
                    <a:lnTo>
                      <a:pt x="47806" y="7701"/>
                    </a:lnTo>
                    <a:lnTo>
                      <a:pt x="48068" y="7649"/>
                    </a:lnTo>
                    <a:lnTo>
                      <a:pt x="48330" y="7583"/>
                    </a:lnTo>
                    <a:lnTo>
                      <a:pt x="48580" y="7491"/>
                    </a:lnTo>
                    <a:lnTo>
                      <a:pt x="48816" y="7373"/>
                    </a:lnTo>
                    <a:lnTo>
                      <a:pt x="49039" y="7242"/>
                    </a:lnTo>
                    <a:lnTo>
                      <a:pt x="49236" y="7084"/>
                    </a:lnTo>
                    <a:lnTo>
                      <a:pt x="49432" y="6914"/>
                    </a:lnTo>
                    <a:lnTo>
                      <a:pt x="49603" y="6717"/>
                    </a:lnTo>
                    <a:lnTo>
                      <a:pt x="49747" y="6507"/>
                    </a:lnTo>
                    <a:lnTo>
                      <a:pt x="49878" y="6284"/>
                    </a:lnTo>
                    <a:lnTo>
                      <a:pt x="49996" y="6048"/>
                    </a:lnTo>
                    <a:lnTo>
                      <a:pt x="50075" y="5799"/>
                    </a:lnTo>
                    <a:lnTo>
                      <a:pt x="50128" y="5536"/>
                    </a:lnTo>
                    <a:lnTo>
                      <a:pt x="50167" y="5274"/>
                    </a:lnTo>
                    <a:lnTo>
                      <a:pt x="50167" y="4999"/>
                    </a:lnTo>
                    <a:lnTo>
                      <a:pt x="50167" y="4907"/>
                    </a:lnTo>
                    <a:lnTo>
                      <a:pt x="50141" y="4631"/>
                    </a:lnTo>
                    <a:lnTo>
                      <a:pt x="50101" y="4356"/>
                    </a:lnTo>
                    <a:lnTo>
                      <a:pt x="50036" y="4080"/>
                    </a:lnTo>
                    <a:lnTo>
                      <a:pt x="49970" y="3818"/>
                    </a:lnTo>
                    <a:lnTo>
                      <a:pt x="49891" y="3555"/>
                    </a:lnTo>
                    <a:lnTo>
                      <a:pt x="49800" y="3306"/>
                    </a:lnTo>
                    <a:lnTo>
                      <a:pt x="49695" y="3070"/>
                    </a:lnTo>
                    <a:lnTo>
                      <a:pt x="49563" y="2821"/>
                    </a:lnTo>
                    <a:lnTo>
                      <a:pt x="49432" y="2598"/>
                    </a:lnTo>
                    <a:lnTo>
                      <a:pt x="49301" y="2375"/>
                    </a:lnTo>
                    <a:lnTo>
                      <a:pt x="49144" y="2152"/>
                    </a:lnTo>
                    <a:lnTo>
                      <a:pt x="48973" y="1955"/>
                    </a:lnTo>
                    <a:lnTo>
                      <a:pt x="48803" y="1758"/>
                    </a:lnTo>
                    <a:lnTo>
                      <a:pt x="48619" y="1561"/>
                    </a:lnTo>
                    <a:lnTo>
                      <a:pt x="48422" y="1378"/>
                    </a:lnTo>
                    <a:lnTo>
                      <a:pt x="48225" y="1207"/>
                    </a:lnTo>
                    <a:lnTo>
                      <a:pt x="48015" y="1050"/>
                    </a:lnTo>
                    <a:lnTo>
                      <a:pt x="47806" y="905"/>
                    </a:lnTo>
                    <a:lnTo>
                      <a:pt x="47569" y="761"/>
                    </a:lnTo>
                    <a:lnTo>
                      <a:pt x="47346" y="630"/>
                    </a:lnTo>
                    <a:lnTo>
                      <a:pt x="47110" y="512"/>
                    </a:lnTo>
                    <a:lnTo>
                      <a:pt x="46861" y="407"/>
                    </a:lnTo>
                    <a:lnTo>
                      <a:pt x="46612" y="315"/>
                    </a:lnTo>
                    <a:lnTo>
                      <a:pt x="46362" y="223"/>
                    </a:lnTo>
                    <a:lnTo>
                      <a:pt x="46100" y="158"/>
                    </a:lnTo>
                    <a:lnTo>
                      <a:pt x="45838" y="105"/>
                    </a:lnTo>
                    <a:lnTo>
                      <a:pt x="45562" y="53"/>
                    </a:lnTo>
                    <a:lnTo>
                      <a:pt x="45287" y="26"/>
                    </a:lnTo>
                    <a:lnTo>
                      <a:pt x="45011" y="0"/>
                    </a:lnTo>
                    <a:lnTo>
                      <a:pt x="44736" y="0"/>
                    </a:lnTo>
                    <a:lnTo>
                      <a:pt x="44460" y="13"/>
                    </a:lnTo>
                    <a:lnTo>
                      <a:pt x="44172" y="26"/>
                    </a:lnTo>
                    <a:lnTo>
                      <a:pt x="38622" y="643"/>
                    </a:lnTo>
                    <a:lnTo>
                      <a:pt x="36943" y="827"/>
                    </a:lnTo>
                    <a:lnTo>
                      <a:pt x="35251" y="971"/>
                    </a:lnTo>
                    <a:lnTo>
                      <a:pt x="33558" y="1102"/>
                    </a:lnTo>
                    <a:lnTo>
                      <a:pt x="31866" y="1207"/>
                    </a:lnTo>
                    <a:lnTo>
                      <a:pt x="30174" y="1299"/>
                    </a:lnTo>
                    <a:lnTo>
                      <a:pt x="28468" y="1351"/>
                    </a:lnTo>
                    <a:lnTo>
                      <a:pt x="26776" y="1391"/>
                    </a:lnTo>
                    <a:lnTo>
                      <a:pt x="25084" y="1404"/>
                    </a:lnTo>
                    <a:lnTo>
                      <a:pt x="23391" y="1391"/>
                    </a:lnTo>
                    <a:lnTo>
                      <a:pt x="21686" y="1351"/>
                    </a:lnTo>
                    <a:lnTo>
                      <a:pt x="19993" y="1299"/>
                    </a:lnTo>
                    <a:lnTo>
                      <a:pt x="18301" y="1207"/>
                    </a:lnTo>
                    <a:lnTo>
                      <a:pt x="16609" y="1102"/>
                    </a:lnTo>
                    <a:lnTo>
                      <a:pt x="14916" y="971"/>
                    </a:lnTo>
                    <a:lnTo>
                      <a:pt x="13224" y="827"/>
                    </a:lnTo>
                    <a:lnTo>
                      <a:pt x="11545" y="643"/>
                    </a:lnTo>
                    <a:lnTo>
                      <a:pt x="5982" y="26"/>
                    </a:lnTo>
                    <a:lnTo>
                      <a:pt x="5707" y="13"/>
                    </a:lnTo>
                    <a:lnTo>
                      <a:pt x="543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437;p45">
                <a:extLst>
                  <a:ext uri="{FF2B5EF4-FFF2-40B4-BE49-F238E27FC236}">
                    <a16:creationId xmlns:a16="http://schemas.microsoft.com/office/drawing/2014/main" id="{8A8632C2-D4AD-57E2-0D3F-E7EDB7B72F55}"/>
                  </a:ext>
                </a:extLst>
              </p:cNvPr>
              <p:cNvSpPr/>
              <p:nvPr/>
            </p:nvSpPr>
            <p:spPr>
              <a:xfrm>
                <a:off x="1845813" y="2327380"/>
                <a:ext cx="683159" cy="855766"/>
              </a:xfrm>
              <a:custGeom>
                <a:avLst/>
                <a:gdLst/>
                <a:ahLst/>
                <a:cxnLst/>
                <a:rect l="l" t="t" r="r" b="b"/>
                <a:pathLst>
                  <a:path w="38059" h="47675" extrusionOk="0">
                    <a:moveTo>
                      <a:pt x="18958" y="0"/>
                    </a:moveTo>
                    <a:lnTo>
                      <a:pt x="18381" y="13"/>
                    </a:lnTo>
                    <a:lnTo>
                      <a:pt x="17790" y="40"/>
                    </a:lnTo>
                    <a:lnTo>
                      <a:pt x="17200" y="79"/>
                    </a:lnTo>
                    <a:lnTo>
                      <a:pt x="16610" y="158"/>
                    </a:lnTo>
                    <a:lnTo>
                      <a:pt x="16019" y="236"/>
                    </a:lnTo>
                    <a:lnTo>
                      <a:pt x="15429" y="341"/>
                    </a:lnTo>
                    <a:lnTo>
                      <a:pt x="14825" y="473"/>
                    </a:lnTo>
                    <a:lnTo>
                      <a:pt x="14235" y="617"/>
                    </a:lnTo>
                    <a:lnTo>
                      <a:pt x="13631" y="787"/>
                    </a:lnTo>
                    <a:lnTo>
                      <a:pt x="13185" y="932"/>
                    </a:lnTo>
                    <a:lnTo>
                      <a:pt x="12739" y="1076"/>
                    </a:lnTo>
                    <a:lnTo>
                      <a:pt x="12359" y="1207"/>
                    </a:lnTo>
                    <a:lnTo>
                      <a:pt x="11979" y="1352"/>
                    </a:lnTo>
                    <a:lnTo>
                      <a:pt x="11611" y="1509"/>
                    </a:lnTo>
                    <a:lnTo>
                      <a:pt x="11244" y="1653"/>
                    </a:lnTo>
                    <a:lnTo>
                      <a:pt x="10890" y="1824"/>
                    </a:lnTo>
                    <a:lnTo>
                      <a:pt x="10522" y="1994"/>
                    </a:lnTo>
                    <a:lnTo>
                      <a:pt x="10181" y="2178"/>
                    </a:lnTo>
                    <a:lnTo>
                      <a:pt x="9827" y="2362"/>
                    </a:lnTo>
                    <a:lnTo>
                      <a:pt x="9486" y="2559"/>
                    </a:lnTo>
                    <a:lnTo>
                      <a:pt x="9145" y="2755"/>
                    </a:lnTo>
                    <a:lnTo>
                      <a:pt x="8817" y="2952"/>
                    </a:lnTo>
                    <a:lnTo>
                      <a:pt x="8489" y="3175"/>
                    </a:lnTo>
                    <a:lnTo>
                      <a:pt x="8174" y="3385"/>
                    </a:lnTo>
                    <a:lnTo>
                      <a:pt x="7859" y="3608"/>
                    </a:lnTo>
                    <a:lnTo>
                      <a:pt x="7544" y="3844"/>
                    </a:lnTo>
                    <a:lnTo>
                      <a:pt x="7243" y="4080"/>
                    </a:lnTo>
                    <a:lnTo>
                      <a:pt x="6941" y="4330"/>
                    </a:lnTo>
                    <a:lnTo>
                      <a:pt x="6639" y="4579"/>
                    </a:lnTo>
                    <a:lnTo>
                      <a:pt x="6350" y="4828"/>
                    </a:lnTo>
                    <a:lnTo>
                      <a:pt x="6062" y="5090"/>
                    </a:lnTo>
                    <a:lnTo>
                      <a:pt x="5786" y="5353"/>
                    </a:lnTo>
                    <a:lnTo>
                      <a:pt x="5511" y="5628"/>
                    </a:lnTo>
                    <a:lnTo>
                      <a:pt x="4986" y="6192"/>
                    </a:lnTo>
                    <a:lnTo>
                      <a:pt x="4488" y="6770"/>
                    </a:lnTo>
                    <a:lnTo>
                      <a:pt x="4002" y="7373"/>
                    </a:lnTo>
                    <a:lnTo>
                      <a:pt x="3556" y="7990"/>
                    </a:lnTo>
                    <a:lnTo>
                      <a:pt x="3123" y="8619"/>
                    </a:lnTo>
                    <a:lnTo>
                      <a:pt x="2717" y="9275"/>
                    </a:lnTo>
                    <a:lnTo>
                      <a:pt x="2336" y="9945"/>
                    </a:lnTo>
                    <a:lnTo>
                      <a:pt x="1982" y="10627"/>
                    </a:lnTo>
                    <a:lnTo>
                      <a:pt x="1654" y="11322"/>
                    </a:lnTo>
                    <a:lnTo>
                      <a:pt x="1365" y="12044"/>
                    </a:lnTo>
                    <a:lnTo>
                      <a:pt x="1090" y="12765"/>
                    </a:lnTo>
                    <a:lnTo>
                      <a:pt x="854" y="13500"/>
                    </a:lnTo>
                    <a:lnTo>
                      <a:pt x="644" y="14248"/>
                    </a:lnTo>
                    <a:lnTo>
                      <a:pt x="460" y="15008"/>
                    </a:lnTo>
                    <a:lnTo>
                      <a:pt x="303" y="15769"/>
                    </a:lnTo>
                    <a:lnTo>
                      <a:pt x="237" y="16163"/>
                    </a:lnTo>
                    <a:lnTo>
                      <a:pt x="185" y="16543"/>
                    </a:lnTo>
                    <a:lnTo>
                      <a:pt x="132" y="16937"/>
                    </a:lnTo>
                    <a:lnTo>
                      <a:pt x="93" y="17331"/>
                    </a:lnTo>
                    <a:lnTo>
                      <a:pt x="53" y="17724"/>
                    </a:lnTo>
                    <a:lnTo>
                      <a:pt x="27" y="18118"/>
                    </a:lnTo>
                    <a:lnTo>
                      <a:pt x="14" y="18511"/>
                    </a:lnTo>
                    <a:lnTo>
                      <a:pt x="1" y="18918"/>
                    </a:lnTo>
                    <a:lnTo>
                      <a:pt x="1" y="19311"/>
                    </a:lnTo>
                    <a:lnTo>
                      <a:pt x="14" y="19718"/>
                    </a:lnTo>
                    <a:lnTo>
                      <a:pt x="27" y="20112"/>
                    </a:lnTo>
                    <a:lnTo>
                      <a:pt x="53" y="20518"/>
                    </a:lnTo>
                    <a:lnTo>
                      <a:pt x="906" y="33060"/>
                    </a:lnTo>
                    <a:lnTo>
                      <a:pt x="932" y="33493"/>
                    </a:lnTo>
                    <a:lnTo>
                      <a:pt x="985" y="33939"/>
                    </a:lnTo>
                    <a:lnTo>
                      <a:pt x="1037" y="34372"/>
                    </a:lnTo>
                    <a:lnTo>
                      <a:pt x="1103" y="34792"/>
                    </a:lnTo>
                    <a:lnTo>
                      <a:pt x="1182" y="35212"/>
                    </a:lnTo>
                    <a:lnTo>
                      <a:pt x="1273" y="35618"/>
                    </a:lnTo>
                    <a:lnTo>
                      <a:pt x="1365" y="36025"/>
                    </a:lnTo>
                    <a:lnTo>
                      <a:pt x="1470" y="36419"/>
                    </a:lnTo>
                    <a:lnTo>
                      <a:pt x="1588" y="36812"/>
                    </a:lnTo>
                    <a:lnTo>
                      <a:pt x="1719" y="37193"/>
                    </a:lnTo>
                    <a:lnTo>
                      <a:pt x="1851" y="37573"/>
                    </a:lnTo>
                    <a:lnTo>
                      <a:pt x="1995" y="37940"/>
                    </a:lnTo>
                    <a:lnTo>
                      <a:pt x="2152" y="38308"/>
                    </a:lnTo>
                    <a:lnTo>
                      <a:pt x="2310" y="38662"/>
                    </a:lnTo>
                    <a:lnTo>
                      <a:pt x="2480" y="39016"/>
                    </a:lnTo>
                    <a:lnTo>
                      <a:pt x="2664" y="39357"/>
                    </a:lnTo>
                    <a:lnTo>
                      <a:pt x="2861" y="39698"/>
                    </a:lnTo>
                    <a:lnTo>
                      <a:pt x="3058" y="40026"/>
                    </a:lnTo>
                    <a:lnTo>
                      <a:pt x="3254" y="40354"/>
                    </a:lnTo>
                    <a:lnTo>
                      <a:pt x="3477" y="40669"/>
                    </a:lnTo>
                    <a:lnTo>
                      <a:pt x="3687" y="40984"/>
                    </a:lnTo>
                    <a:lnTo>
                      <a:pt x="3923" y="41286"/>
                    </a:lnTo>
                    <a:lnTo>
                      <a:pt x="4160" y="41588"/>
                    </a:lnTo>
                    <a:lnTo>
                      <a:pt x="4409" y="41876"/>
                    </a:lnTo>
                    <a:lnTo>
                      <a:pt x="4724" y="42230"/>
                    </a:lnTo>
                    <a:lnTo>
                      <a:pt x="5052" y="42571"/>
                    </a:lnTo>
                    <a:lnTo>
                      <a:pt x="5393" y="42899"/>
                    </a:lnTo>
                    <a:lnTo>
                      <a:pt x="5747" y="43214"/>
                    </a:lnTo>
                    <a:lnTo>
                      <a:pt x="6101" y="43529"/>
                    </a:lnTo>
                    <a:lnTo>
                      <a:pt x="6482" y="43831"/>
                    </a:lnTo>
                    <a:lnTo>
                      <a:pt x="6862" y="44120"/>
                    </a:lnTo>
                    <a:lnTo>
                      <a:pt x="7256" y="44395"/>
                    </a:lnTo>
                    <a:lnTo>
                      <a:pt x="7649" y="44657"/>
                    </a:lnTo>
                    <a:lnTo>
                      <a:pt x="8069" y="44907"/>
                    </a:lnTo>
                    <a:lnTo>
                      <a:pt x="8489" y="45156"/>
                    </a:lnTo>
                    <a:lnTo>
                      <a:pt x="8922" y="45392"/>
                    </a:lnTo>
                    <a:lnTo>
                      <a:pt x="9355" y="45615"/>
                    </a:lnTo>
                    <a:lnTo>
                      <a:pt x="9801" y="45825"/>
                    </a:lnTo>
                    <a:lnTo>
                      <a:pt x="10260" y="46022"/>
                    </a:lnTo>
                    <a:lnTo>
                      <a:pt x="10719" y="46205"/>
                    </a:lnTo>
                    <a:lnTo>
                      <a:pt x="11191" y="46389"/>
                    </a:lnTo>
                    <a:lnTo>
                      <a:pt x="11677" y="46547"/>
                    </a:lnTo>
                    <a:lnTo>
                      <a:pt x="12162" y="46704"/>
                    </a:lnTo>
                    <a:lnTo>
                      <a:pt x="12661" y="46848"/>
                    </a:lnTo>
                    <a:lnTo>
                      <a:pt x="13159" y="46979"/>
                    </a:lnTo>
                    <a:lnTo>
                      <a:pt x="13658" y="47098"/>
                    </a:lnTo>
                    <a:lnTo>
                      <a:pt x="14182" y="47216"/>
                    </a:lnTo>
                    <a:lnTo>
                      <a:pt x="14694" y="47307"/>
                    </a:lnTo>
                    <a:lnTo>
                      <a:pt x="15219" y="47399"/>
                    </a:lnTo>
                    <a:lnTo>
                      <a:pt x="15757" y="47465"/>
                    </a:lnTo>
                    <a:lnTo>
                      <a:pt x="16282" y="47530"/>
                    </a:lnTo>
                    <a:lnTo>
                      <a:pt x="16833" y="47583"/>
                    </a:lnTo>
                    <a:lnTo>
                      <a:pt x="17370" y="47622"/>
                    </a:lnTo>
                    <a:lnTo>
                      <a:pt x="17921" y="47662"/>
                    </a:lnTo>
                    <a:lnTo>
                      <a:pt x="18472" y="47675"/>
                    </a:lnTo>
                    <a:lnTo>
                      <a:pt x="19037" y="47675"/>
                    </a:lnTo>
                    <a:lnTo>
                      <a:pt x="19929" y="47662"/>
                    </a:lnTo>
                    <a:lnTo>
                      <a:pt x="20808" y="47622"/>
                    </a:lnTo>
                    <a:lnTo>
                      <a:pt x="21673" y="47544"/>
                    </a:lnTo>
                    <a:lnTo>
                      <a:pt x="22526" y="47439"/>
                    </a:lnTo>
                    <a:lnTo>
                      <a:pt x="23379" y="47307"/>
                    </a:lnTo>
                    <a:lnTo>
                      <a:pt x="23786" y="47229"/>
                    </a:lnTo>
                    <a:lnTo>
                      <a:pt x="24205" y="47150"/>
                    </a:lnTo>
                    <a:lnTo>
                      <a:pt x="24612" y="47058"/>
                    </a:lnTo>
                    <a:lnTo>
                      <a:pt x="25019" y="46953"/>
                    </a:lnTo>
                    <a:lnTo>
                      <a:pt x="25412" y="46848"/>
                    </a:lnTo>
                    <a:lnTo>
                      <a:pt x="25806" y="46730"/>
                    </a:lnTo>
                    <a:lnTo>
                      <a:pt x="26199" y="46612"/>
                    </a:lnTo>
                    <a:lnTo>
                      <a:pt x="26593" y="46481"/>
                    </a:lnTo>
                    <a:lnTo>
                      <a:pt x="26973" y="46350"/>
                    </a:lnTo>
                    <a:lnTo>
                      <a:pt x="27341" y="46205"/>
                    </a:lnTo>
                    <a:lnTo>
                      <a:pt x="27721" y="46061"/>
                    </a:lnTo>
                    <a:lnTo>
                      <a:pt x="28089" y="45904"/>
                    </a:lnTo>
                    <a:lnTo>
                      <a:pt x="28443" y="45733"/>
                    </a:lnTo>
                    <a:lnTo>
                      <a:pt x="28797" y="45563"/>
                    </a:lnTo>
                    <a:lnTo>
                      <a:pt x="29151" y="45392"/>
                    </a:lnTo>
                    <a:lnTo>
                      <a:pt x="29492" y="45208"/>
                    </a:lnTo>
                    <a:lnTo>
                      <a:pt x="29833" y="45012"/>
                    </a:lnTo>
                    <a:lnTo>
                      <a:pt x="30175" y="44815"/>
                    </a:lnTo>
                    <a:lnTo>
                      <a:pt x="30502" y="44605"/>
                    </a:lnTo>
                    <a:lnTo>
                      <a:pt x="30817" y="44395"/>
                    </a:lnTo>
                    <a:lnTo>
                      <a:pt x="31132" y="44172"/>
                    </a:lnTo>
                    <a:lnTo>
                      <a:pt x="31447" y="43949"/>
                    </a:lnTo>
                    <a:lnTo>
                      <a:pt x="31749" y="43713"/>
                    </a:lnTo>
                    <a:lnTo>
                      <a:pt x="32037" y="43464"/>
                    </a:lnTo>
                    <a:lnTo>
                      <a:pt x="32326" y="43214"/>
                    </a:lnTo>
                    <a:lnTo>
                      <a:pt x="32615" y="42965"/>
                    </a:lnTo>
                    <a:lnTo>
                      <a:pt x="32890" y="42703"/>
                    </a:lnTo>
                    <a:lnTo>
                      <a:pt x="33153" y="42427"/>
                    </a:lnTo>
                    <a:lnTo>
                      <a:pt x="33415" y="42152"/>
                    </a:lnTo>
                    <a:lnTo>
                      <a:pt x="33664" y="41876"/>
                    </a:lnTo>
                    <a:lnTo>
                      <a:pt x="33913" y="41588"/>
                    </a:lnTo>
                    <a:lnTo>
                      <a:pt x="34150" y="41286"/>
                    </a:lnTo>
                    <a:lnTo>
                      <a:pt x="34373" y="40984"/>
                    </a:lnTo>
                    <a:lnTo>
                      <a:pt x="34596" y="40669"/>
                    </a:lnTo>
                    <a:lnTo>
                      <a:pt x="34819" y="40354"/>
                    </a:lnTo>
                    <a:lnTo>
                      <a:pt x="35015" y="40026"/>
                    </a:lnTo>
                    <a:lnTo>
                      <a:pt x="35212" y="39698"/>
                    </a:lnTo>
                    <a:lnTo>
                      <a:pt x="35409" y="39357"/>
                    </a:lnTo>
                    <a:lnTo>
                      <a:pt x="35580" y="39016"/>
                    </a:lnTo>
                    <a:lnTo>
                      <a:pt x="35763" y="38662"/>
                    </a:lnTo>
                    <a:lnTo>
                      <a:pt x="35921" y="38308"/>
                    </a:lnTo>
                    <a:lnTo>
                      <a:pt x="36078" y="37940"/>
                    </a:lnTo>
                    <a:lnTo>
                      <a:pt x="36222" y="37573"/>
                    </a:lnTo>
                    <a:lnTo>
                      <a:pt x="36354" y="37193"/>
                    </a:lnTo>
                    <a:lnTo>
                      <a:pt x="36485" y="36812"/>
                    </a:lnTo>
                    <a:lnTo>
                      <a:pt x="36590" y="36419"/>
                    </a:lnTo>
                    <a:lnTo>
                      <a:pt x="36708" y="36025"/>
                    </a:lnTo>
                    <a:lnTo>
                      <a:pt x="36800" y="35618"/>
                    </a:lnTo>
                    <a:lnTo>
                      <a:pt x="36891" y="35212"/>
                    </a:lnTo>
                    <a:lnTo>
                      <a:pt x="36970" y="34792"/>
                    </a:lnTo>
                    <a:lnTo>
                      <a:pt x="37036" y="34372"/>
                    </a:lnTo>
                    <a:lnTo>
                      <a:pt x="37088" y="33939"/>
                    </a:lnTo>
                    <a:lnTo>
                      <a:pt x="37128" y="33493"/>
                    </a:lnTo>
                    <a:lnTo>
                      <a:pt x="37167" y="33060"/>
                    </a:lnTo>
                    <a:lnTo>
                      <a:pt x="37062" y="33349"/>
                    </a:lnTo>
                    <a:lnTo>
                      <a:pt x="36931" y="33690"/>
                    </a:lnTo>
                    <a:lnTo>
                      <a:pt x="36747" y="34136"/>
                    </a:lnTo>
                    <a:lnTo>
                      <a:pt x="36852" y="33703"/>
                    </a:lnTo>
                    <a:lnTo>
                      <a:pt x="36957" y="33270"/>
                    </a:lnTo>
                    <a:lnTo>
                      <a:pt x="37049" y="32837"/>
                    </a:lnTo>
                    <a:lnTo>
                      <a:pt x="37128" y="32391"/>
                    </a:lnTo>
                    <a:lnTo>
                      <a:pt x="37193" y="31945"/>
                    </a:lnTo>
                    <a:lnTo>
                      <a:pt x="37259" y="31499"/>
                    </a:lnTo>
                    <a:lnTo>
                      <a:pt x="37298" y="31040"/>
                    </a:lnTo>
                    <a:lnTo>
                      <a:pt x="37337" y="30581"/>
                    </a:lnTo>
                    <a:lnTo>
                      <a:pt x="38020" y="20676"/>
                    </a:lnTo>
                    <a:lnTo>
                      <a:pt x="38046" y="20046"/>
                    </a:lnTo>
                    <a:lnTo>
                      <a:pt x="38059" y="19430"/>
                    </a:lnTo>
                    <a:lnTo>
                      <a:pt x="38059" y="18826"/>
                    </a:lnTo>
                    <a:lnTo>
                      <a:pt x="38033" y="18223"/>
                    </a:lnTo>
                    <a:lnTo>
                      <a:pt x="37980" y="17619"/>
                    </a:lnTo>
                    <a:lnTo>
                      <a:pt x="37928" y="17029"/>
                    </a:lnTo>
                    <a:lnTo>
                      <a:pt x="37849" y="16438"/>
                    </a:lnTo>
                    <a:lnTo>
                      <a:pt x="37744" y="15848"/>
                    </a:lnTo>
                    <a:lnTo>
                      <a:pt x="37639" y="15271"/>
                    </a:lnTo>
                    <a:lnTo>
                      <a:pt x="37508" y="14707"/>
                    </a:lnTo>
                    <a:lnTo>
                      <a:pt x="37351" y="14143"/>
                    </a:lnTo>
                    <a:lnTo>
                      <a:pt x="37193" y="13592"/>
                    </a:lnTo>
                    <a:lnTo>
                      <a:pt x="37009" y="13041"/>
                    </a:lnTo>
                    <a:lnTo>
                      <a:pt x="36813" y="12490"/>
                    </a:lnTo>
                    <a:lnTo>
                      <a:pt x="36603" y="11965"/>
                    </a:lnTo>
                    <a:lnTo>
                      <a:pt x="36380" y="11440"/>
                    </a:lnTo>
                    <a:lnTo>
                      <a:pt x="36131" y="10915"/>
                    </a:lnTo>
                    <a:lnTo>
                      <a:pt x="35881" y="10404"/>
                    </a:lnTo>
                    <a:lnTo>
                      <a:pt x="35606" y="9905"/>
                    </a:lnTo>
                    <a:lnTo>
                      <a:pt x="35330" y="9420"/>
                    </a:lnTo>
                    <a:lnTo>
                      <a:pt x="35029" y="8934"/>
                    </a:lnTo>
                    <a:lnTo>
                      <a:pt x="34714" y="8462"/>
                    </a:lnTo>
                    <a:lnTo>
                      <a:pt x="34399" y="8003"/>
                    </a:lnTo>
                    <a:lnTo>
                      <a:pt x="34058" y="7557"/>
                    </a:lnTo>
                    <a:lnTo>
                      <a:pt x="33704" y="7111"/>
                    </a:lnTo>
                    <a:lnTo>
                      <a:pt x="33349" y="6678"/>
                    </a:lnTo>
                    <a:lnTo>
                      <a:pt x="32969" y="6258"/>
                    </a:lnTo>
                    <a:lnTo>
                      <a:pt x="32588" y="5851"/>
                    </a:lnTo>
                    <a:lnTo>
                      <a:pt x="32195" y="5458"/>
                    </a:lnTo>
                    <a:lnTo>
                      <a:pt x="31788" y="5064"/>
                    </a:lnTo>
                    <a:lnTo>
                      <a:pt x="31368" y="4697"/>
                    </a:lnTo>
                    <a:lnTo>
                      <a:pt x="30935" y="4330"/>
                    </a:lnTo>
                    <a:lnTo>
                      <a:pt x="30502" y="3988"/>
                    </a:lnTo>
                    <a:lnTo>
                      <a:pt x="30056" y="3647"/>
                    </a:lnTo>
                    <a:lnTo>
                      <a:pt x="29597" y="3319"/>
                    </a:lnTo>
                    <a:lnTo>
                      <a:pt x="29138" y="3018"/>
                    </a:lnTo>
                    <a:lnTo>
                      <a:pt x="28653" y="2716"/>
                    </a:lnTo>
                    <a:lnTo>
                      <a:pt x="28180" y="2440"/>
                    </a:lnTo>
                    <a:lnTo>
                      <a:pt x="27682" y="2165"/>
                    </a:lnTo>
                    <a:lnTo>
                      <a:pt x="27183" y="1916"/>
                    </a:lnTo>
                    <a:lnTo>
                      <a:pt x="26685" y="1680"/>
                    </a:lnTo>
                    <a:lnTo>
                      <a:pt x="26160" y="1443"/>
                    </a:lnTo>
                    <a:lnTo>
                      <a:pt x="25648" y="1233"/>
                    </a:lnTo>
                    <a:lnTo>
                      <a:pt x="25111" y="1050"/>
                    </a:lnTo>
                    <a:lnTo>
                      <a:pt x="24586" y="866"/>
                    </a:lnTo>
                    <a:lnTo>
                      <a:pt x="24048" y="709"/>
                    </a:lnTo>
                    <a:lnTo>
                      <a:pt x="23497" y="551"/>
                    </a:lnTo>
                    <a:lnTo>
                      <a:pt x="22946" y="433"/>
                    </a:lnTo>
                    <a:lnTo>
                      <a:pt x="22395" y="315"/>
                    </a:lnTo>
                    <a:lnTo>
                      <a:pt x="21831" y="223"/>
                    </a:lnTo>
                    <a:lnTo>
                      <a:pt x="21267" y="145"/>
                    </a:lnTo>
                    <a:lnTo>
                      <a:pt x="20689" y="79"/>
                    </a:lnTo>
                    <a:lnTo>
                      <a:pt x="20125" y="27"/>
                    </a:lnTo>
                    <a:lnTo>
                      <a:pt x="19548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438;p45">
                <a:extLst>
                  <a:ext uri="{FF2B5EF4-FFF2-40B4-BE49-F238E27FC236}">
                    <a16:creationId xmlns:a16="http://schemas.microsoft.com/office/drawing/2014/main" id="{F3B30EB3-5FE6-FCAD-B39F-81F3FF285EF7}"/>
                  </a:ext>
                </a:extLst>
              </p:cNvPr>
              <p:cNvSpPr/>
              <p:nvPr/>
            </p:nvSpPr>
            <p:spPr>
              <a:xfrm>
                <a:off x="2064354" y="2534129"/>
                <a:ext cx="246328" cy="126942"/>
              </a:xfrm>
              <a:custGeom>
                <a:avLst/>
                <a:gdLst/>
                <a:ahLst/>
                <a:cxnLst/>
                <a:rect l="l" t="t" r="r" b="b"/>
                <a:pathLst>
                  <a:path w="13723" h="7072" extrusionOk="0">
                    <a:moveTo>
                      <a:pt x="3346" y="1"/>
                    </a:moveTo>
                    <a:lnTo>
                      <a:pt x="3175" y="14"/>
                    </a:lnTo>
                    <a:lnTo>
                      <a:pt x="2991" y="40"/>
                    </a:lnTo>
                    <a:lnTo>
                      <a:pt x="2821" y="66"/>
                    </a:lnTo>
                    <a:lnTo>
                      <a:pt x="2650" y="106"/>
                    </a:lnTo>
                    <a:lnTo>
                      <a:pt x="2480" y="158"/>
                    </a:lnTo>
                    <a:lnTo>
                      <a:pt x="2322" y="211"/>
                    </a:lnTo>
                    <a:lnTo>
                      <a:pt x="2152" y="276"/>
                    </a:lnTo>
                    <a:lnTo>
                      <a:pt x="2007" y="342"/>
                    </a:lnTo>
                    <a:lnTo>
                      <a:pt x="1850" y="421"/>
                    </a:lnTo>
                    <a:lnTo>
                      <a:pt x="1706" y="512"/>
                    </a:lnTo>
                    <a:lnTo>
                      <a:pt x="1561" y="604"/>
                    </a:lnTo>
                    <a:lnTo>
                      <a:pt x="1417" y="696"/>
                    </a:lnTo>
                    <a:lnTo>
                      <a:pt x="1286" y="801"/>
                    </a:lnTo>
                    <a:lnTo>
                      <a:pt x="1155" y="919"/>
                    </a:lnTo>
                    <a:lnTo>
                      <a:pt x="1037" y="1037"/>
                    </a:lnTo>
                    <a:lnTo>
                      <a:pt x="919" y="1155"/>
                    </a:lnTo>
                    <a:lnTo>
                      <a:pt x="801" y="1286"/>
                    </a:lnTo>
                    <a:lnTo>
                      <a:pt x="696" y="1418"/>
                    </a:lnTo>
                    <a:lnTo>
                      <a:pt x="604" y="1562"/>
                    </a:lnTo>
                    <a:lnTo>
                      <a:pt x="512" y="1706"/>
                    </a:lnTo>
                    <a:lnTo>
                      <a:pt x="420" y="1851"/>
                    </a:lnTo>
                    <a:lnTo>
                      <a:pt x="341" y="1995"/>
                    </a:lnTo>
                    <a:lnTo>
                      <a:pt x="276" y="2152"/>
                    </a:lnTo>
                    <a:lnTo>
                      <a:pt x="210" y="2323"/>
                    </a:lnTo>
                    <a:lnTo>
                      <a:pt x="158" y="2480"/>
                    </a:lnTo>
                    <a:lnTo>
                      <a:pt x="105" y="2651"/>
                    </a:lnTo>
                    <a:lnTo>
                      <a:pt x="66" y="2821"/>
                    </a:lnTo>
                    <a:lnTo>
                      <a:pt x="40" y="2992"/>
                    </a:lnTo>
                    <a:lnTo>
                      <a:pt x="13" y="3176"/>
                    </a:lnTo>
                    <a:lnTo>
                      <a:pt x="0" y="3346"/>
                    </a:lnTo>
                    <a:lnTo>
                      <a:pt x="0" y="3530"/>
                    </a:lnTo>
                    <a:lnTo>
                      <a:pt x="0" y="3713"/>
                    </a:lnTo>
                    <a:lnTo>
                      <a:pt x="13" y="3897"/>
                    </a:lnTo>
                    <a:lnTo>
                      <a:pt x="40" y="4068"/>
                    </a:lnTo>
                    <a:lnTo>
                      <a:pt x="66" y="4251"/>
                    </a:lnTo>
                    <a:lnTo>
                      <a:pt x="105" y="4422"/>
                    </a:lnTo>
                    <a:lnTo>
                      <a:pt x="158" y="4579"/>
                    </a:lnTo>
                    <a:lnTo>
                      <a:pt x="210" y="4750"/>
                    </a:lnTo>
                    <a:lnTo>
                      <a:pt x="276" y="4907"/>
                    </a:lnTo>
                    <a:lnTo>
                      <a:pt x="341" y="5065"/>
                    </a:lnTo>
                    <a:lnTo>
                      <a:pt x="420" y="5222"/>
                    </a:lnTo>
                    <a:lnTo>
                      <a:pt x="512" y="5366"/>
                    </a:lnTo>
                    <a:lnTo>
                      <a:pt x="604" y="5511"/>
                    </a:lnTo>
                    <a:lnTo>
                      <a:pt x="696" y="5655"/>
                    </a:lnTo>
                    <a:lnTo>
                      <a:pt x="801" y="5786"/>
                    </a:lnTo>
                    <a:lnTo>
                      <a:pt x="919" y="5904"/>
                    </a:lnTo>
                    <a:lnTo>
                      <a:pt x="1037" y="6036"/>
                    </a:lnTo>
                    <a:lnTo>
                      <a:pt x="1155" y="6154"/>
                    </a:lnTo>
                    <a:lnTo>
                      <a:pt x="1286" y="6259"/>
                    </a:lnTo>
                    <a:lnTo>
                      <a:pt x="1417" y="6364"/>
                    </a:lnTo>
                    <a:lnTo>
                      <a:pt x="1561" y="6468"/>
                    </a:lnTo>
                    <a:lnTo>
                      <a:pt x="1706" y="6560"/>
                    </a:lnTo>
                    <a:lnTo>
                      <a:pt x="1850" y="6639"/>
                    </a:lnTo>
                    <a:lnTo>
                      <a:pt x="2007" y="6718"/>
                    </a:lnTo>
                    <a:lnTo>
                      <a:pt x="2152" y="6796"/>
                    </a:lnTo>
                    <a:lnTo>
                      <a:pt x="2322" y="6849"/>
                    </a:lnTo>
                    <a:lnTo>
                      <a:pt x="2480" y="6915"/>
                    </a:lnTo>
                    <a:lnTo>
                      <a:pt x="2650" y="6954"/>
                    </a:lnTo>
                    <a:lnTo>
                      <a:pt x="2821" y="6993"/>
                    </a:lnTo>
                    <a:lnTo>
                      <a:pt x="2991" y="7033"/>
                    </a:lnTo>
                    <a:lnTo>
                      <a:pt x="3175" y="7046"/>
                    </a:lnTo>
                    <a:lnTo>
                      <a:pt x="3346" y="7059"/>
                    </a:lnTo>
                    <a:lnTo>
                      <a:pt x="3529" y="7072"/>
                    </a:lnTo>
                    <a:lnTo>
                      <a:pt x="10194" y="7072"/>
                    </a:lnTo>
                    <a:lnTo>
                      <a:pt x="10364" y="7059"/>
                    </a:lnTo>
                    <a:lnTo>
                      <a:pt x="10548" y="7046"/>
                    </a:lnTo>
                    <a:lnTo>
                      <a:pt x="10732" y="7033"/>
                    </a:lnTo>
                    <a:lnTo>
                      <a:pt x="10902" y="6993"/>
                    </a:lnTo>
                    <a:lnTo>
                      <a:pt x="11073" y="6954"/>
                    </a:lnTo>
                    <a:lnTo>
                      <a:pt x="11243" y="6915"/>
                    </a:lnTo>
                    <a:lnTo>
                      <a:pt x="11401" y="6849"/>
                    </a:lnTo>
                    <a:lnTo>
                      <a:pt x="11558" y="6796"/>
                    </a:lnTo>
                    <a:lnTo>
                      <a:pt x="11716" y="6718"/>
                    </a:lnTo>
                    <a:lnTo>
                      <a:pt x="11873" y="6639"/>
                    </a:lnTo>
                    <a:lnTo>
                      <a:pt x="12017" y="6560"/>
                    </a:lnTo>
                    <a:lnTo>
                      <a:pt x="12162" y="6468"/>
                    </a:lnTo>
                    <a:lnTo>
                      <a:pt x="12306" y="6364"/>
                    </a:lnTo>
                    <a:lnTo>
                      <a:pt x="12437" y="6259"/>
                    </a:lnTo>
                    <a:lnTo>
                      <a:pt x="12568" y="6154"/>
                    </a:lnTo>
                    <a:lnTo>
                      <a:pt x="12686" y="6036"/>
                    </a:lnTo>
                    <a:lnTo>
                      <a:pt x="12804" y="5904"/>
                    </a:lnTo>
                    <a:lnTo>
                      <a:pt x="12909" y="5786"/>
                    </a:lnTo>
                    <a:lnTo>
                      <a:pt x="13014" y="5655"/>
                    </a:lnTo>
                    <a:lnTo>
                      <a:pt x="13119" y="5511"/>
                    </a:lnTo>
                    <a:lnTo>
                      <a:pt x="13211" y="5366"/>
                    </a:lnTo>
                    <a:lnTo>
                      <a:pt x="13290" y="5222"/>
                    </a:lnTo>
                    <a:lnTo>
                      <a:pt x="13369" y="5065"/>
                    </a:lnTo>
                    <a:lnTo>
                      <a:pt x="13447" y="4907"/>
                    </a:lnTo>
                    <a:lnTo>
                      <a:pt x="13513" y="4750"/>
                    </a:lnTo>
                    <a:lnTo>
                      <a:pt x="13565" y="4579"/>
                    </a:lnTo>
                    <a:lnTo>
                      <a:pt x="13618" y="4422"/>
                    </a:lnTo>
                    <a:lnTo>
                      <a:pt x="13657" y="4251"/>
                    </a:lnTo>
                    <a:lnTo>
                      <a:pt x="13683" y="4068"/>
                    </a:lnTo>
                    <a:lnTo>
                      <a:pt x="13710" y="3897"/>
                    </a:lnTo>
                    <a:lnTo>
                      <a:pt x="13723" y="3713"/>
                    </a:lnTo>
                    <a:lnTo>
                      <a:pt x="13723" y="3530"/>
                    </a:lnTo>
                    <a:lnTo>
                      <a:pt x="13723" y="3346"/>
                    </a:lnTo>
                    <a:lnTo>
                      <a:pt x="13710" y="3176"/>
                    </a:lnTo>
                    <a:lnTo>
                      <a:pt x="13683" y="2992"/>
                    </a:lnTo>
                    <a:lnTo>
                      <a:pt x="13657" y="2821"/>
                    </a:lnTo>
                    <a:lnTo>
                      <a:pt x="13618" y="2651"/>
                    </a:lnTo>
                    <a:lnTo>
                      <a:pt x="13565" y="2480"/>
                    </a:lnTo>
                    <a:lnTo>
                      <a:pt x="13513" y="2323"/>
                    </a:lnTo>
                    <a:lnTo>
                      <a:pt x="13447" y="2152"/>
                    </a:lnTo>
                    <a:lnTo>
                      <a:pt x="13369" y="1995"/>
                    </a:lnTo>
                    <a:lnTo>
                      <a:pt x="13290" y="1851"/>
                    </a:lnTo>
                    <a:lnTo>
                      <a:pt x="13211" y="1706"/>
                    </a:lnTo>
                    <a:lnTo>
                      <a:pt x="13119" y="1562"/>
                    </a:lnTo>
                    <a:lnTo>
                      <a:pt x="13014" y="1418"/>
                    </a:lnTo>
                    <a:lnTo>
                      <a:pt x="12909" y="1286"/>
                    </a:lnTo>
                    <a:lnTo>
                      <a:pt x="12804" y="1155"/>
                    </a:lnTo>
                    <a:lnTo>
                      <a:pt x="12686" y="1037"/>
                    </a:lnTo>
                    <a:lnTo>
                      <a:pt x="12568" y="919"/>
                    </a:lnTo>
                    <a:lnTo>
                      <a:pt x="12437" y="801"/>
                    </a:lnTo>
                    <a:lnTo>
                      <a:pt x="12306" y="696"/>
                    </a:lnTo>
                    <a:lnTo>
                      <a:pt x="12162" y="604"/>
                    </a:lnTo>
                    <a:lnTo>
                      <a:pt x="12017" y="512"/>
                    </a:lnTo>
                    <a:lnTo>
                      <a:pt x="11873" y="421"/>
                    </a:lnTo>
                    <a:lnTo>
                      <a:pt x="11716" y="342"/>
                    </a:lnTo>
                    <a:lnTo>
                      <a:pt x="11558" y="276"/>
                    </a:lnTo>
                    <a:lnTo>
                      <a:pt x="11401" y="211"/>
                    </a:lnTo>
                    <a:lnTo>
                      <a:pt x="11243" y="158"/>
                    </a:lnTo>
                    <a:lnTo>
                      <a:pt x="11073" y="106"/>
                    </a:lnTo>
                    <a:lnTo>
                      <a:pt x="10902" y="66"/>
                    </a:lnTo>
                    <a:lnTo>
                      <a:pt x="10732" y="40"/>
                    </a:lnTo>
                    <a:lnTo>
                      <a:pt x="10548" y="14"/>
                    </a:lnTo>
                    <a:lnTo>
                      <a:pt x="10364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439;p45">
                <a:extLst>
                  <a:ext uri="{FF2B5EF4-FFF2-40B4-BE49-F238E27FC236}">
                    <a16:creationId xmlns:a16="http://schemas.microsoft.com/office/drawing/2014/main" id="{DAF36A55-E144-8B2C-56AA-B19FC43D3E3D}"/>
                  </a:ext>
                </a:extLst>
              </p:cNvPr>
              <p:cNvSpPr/>
              <p:nvPr/>
            </p:nvSpPr>
            <p:spPr>
              <a:xfrm>
                <a:off x="2165143" y="3497038"/>
                <a:ext cx="44749" cy="533869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9742" extrusionOk="0">
                    <a:moveTo>
                      <a:pt x="0" y="0"/>
                    </a:moveTo>
                    <a:lnTo>
                      <a:pt x="0" y="29741"/>
                    </a:lnTo>
                    <a:lnTo>
                      <a:pt x="2493" y="29741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440;p45">
                <a:extLst>
                  <a:ext uri="{FF2B5EF4-FFF2-40B4-BE49-F238E27FC236}">
                    <a16:creationId xmlns:a16="http://schemas.microsoft.com/office/drawing/2014/main" id="{B7483D06-6877-24D1-60A8-D1FA7FB8E3E6}"/>
                  </a:ext>
                </a:extLst>
              </p:cNvPr>
              <p:cNvSpPr/>
              <p:nvPr/>
            </p:nvSpPr>
            <p:spPr>
              <a:xfrm>
                <a:off x="2131469" y="2564033"/>
                <a:ext cx="112098" cy="955389"/>
              </a:xfrm>
              <a:custGeom>
                <a:avLst/>
                <a:gdLst/>
                <a:ahLst/>
                <a:cxnLst/>
                <a:rect l="l" t="t" r="r" b="b"/>
                <a:pathLst>
                  <a:path w="6245" h="53225" extrusionOk="0">
                    <a:moveTo>
                      <a:pt x="1023" y="1"/>
                    </a:moveTo>
                    <a:lnTo>
                      <a:pt x="905" y="14"/>
                    </a:lnTo>
                    <a:lnTo>
                      <a:pt x="800" y="53"/>
                    </a:lnTo>
                    <a:lnTo>
                      <a:pt x="696" y="80"/>
                    </a:lnTo>
                    <a:lnTo>
                      <a:pt x="604" y="132"/>
                    </a:lnTo>
                    <a:lnTo>
                      <a:pt x="499" y="185"/>
                    </a:lnTo>
                    <a:lnTo>
                      <a:pt x="420" y="250"/>
                    </a:lnTo>
                    <a:lnTo>
                      <a:pt x="341" y="329"/>
                    </a:lnTo>
                    <a:lnTo>
                      <a:pt x="263" y="408"/>
                    </a:lnTo>
                    <a:lnTo>
                      <a:pt x="197" y="499"/>
                    </a:lnTo>
                    <a:lnTo>
                      <a:pt x="145" y="591"/>
                    </a:lnTo>
                    <a:lnTo>
                      <a:pt x="92" y="696"/>
                    </a:lnTo>
                    <a:lnTo>
                      <a:pt x="53" y="801"/>
                    </a:lnTo>
                    <a:lnTo>
                      <a:pt x="26" y="906"/>
                    </a:lnTo>
                    <a:lnTo>
                      <a:pt x="13" y="1024"/>
                    </a:lnTo>
                    <a:lnTo>
                      <a:pt x="0" y="1129"/>
                    </a:lnTo>
                    <a:lnTo>
                      <a:pt x="0" y="50116"/>
                    </a:lnTo>
                    <a:lnTo>
                      <a:pt x="0" y="50273"/>
                    </a:lnTo>
                    <a:lnTo>
                      <a:pt x="13" y="50430"/>
                    </a:lnTo>
                    <a:lnTo>
                      <a:pt x="40" y="50588"/>
                    </a:lnTo>
                    <a:lnTo>
                      <a:pt x="66" y="50745"/>
                    </a:lnTo>
                    <a:lnTo>
                      <a:pt x="145" y="51034"/>
                    </a:lnTo>
                    <a:lnTo>
                      <a:pt x="249" y="51322"/>
                    </a:lnTo>
                    <a:lnTo>
                      <a:pt x="381" y="51598"/>
                    </a:lnTo>
                    <a:lnTo>
                      <a:pt x="538" y="51860"/>
                    </a:lnTo>
                    <a:lnTo>
                      <a:pt x="709" y="52097"/>
                    </a:lnTo>
                    <a:lnTo>
                      <a:pt x="919" y="52320"/>
                    </a:lnTo>
                    <a:lnTo>
                      <a:pt x="1142" y="52516"/>
                    </a:lnTo>
                    <a:lnTo>
                      <a:pt x="1378" y="52700"/>
                    </a:lnTo>
                    <a:lnTo>
                      <a:pt x="1640" y="52857"/>
                    </a:lnTo>
                    <a:lnTo>
                      <a:pt x="1902" y="52989"/>
                    </a:lnTo>
                    <a:lnTo>
                      <a:pt x="2191" y="53094"/>
                    </a:lnTo>
                    <a:lnTo>
                      <a:pt x="2493" y="53172"/>
                    </a:lnTo>
                    <a:lnTo>
                      <a:pt x="2650" y="53199"/>
                    </a:lnTo>
                    <a:lnTo>
                      <a:pt x="2808" y="53212"/>
                    </a:lnTo>
                    <a:lnTo>
                      <a:pt x="2965" y="53225"/>
                    </a:lnTo>
                    <a:lnTo>
                      <a:pt x="3280" y="53225"/>
                    </a:lnTo>
                    <a:lnTo>
                      <a:pt x="3437" y="53212"/>
                    </a:lnTo>
                    <a:lnTo>
                      <a:pt x="3595" y="53199"/>
                    </a:lnTo>
                    <a:lnTo>
                      <a:pt x="3752" y="53172"/>
                    </a:lnTo>
                    <a:lnTo>
                      <a:pt x="4054" y="53094"/>
                    </a:lnTo>
                    <a:lnTo>
                      <a:pt x="4329" y="52989"/>
                    </a:lnTo>
                    <a:lnTo>
                      <a:pt x="4605" y="52857"/>
                    </a:lnTo>
                    <a:lnTo>
                      <a:pt x="4867" y="52700"/>
                    </a:lnTo>
                    <a:lnTo>
                      <a:pt x="5103" y="52516"/>
                    </a:lnTo>
                    <a:lnTo>
                      <a:pt x="5326" y="52320"/>
                    </a:lnTo>
                    <a:lnTo>
                      <a:pt x="5523" y="52097"/>
                    </a:lnTo>
                    <a:lnTo>
                      <a:pt x="5707" y="51860"/>
                    </a:lnTo>
                    <a:lnTo>
                      <a:pt x="5864" y="51598"/>
                    </a:lnTo>
                    <a:lnTo>
                      <a:pt x="5996" y="51322"/>
                    </a:lnTo>
                    <a:lnTo>
                      <a:pt x="6101" y="51034"/>
                    </a:lnTo>
                    <a:lnTo>
                      <a:pt x="6179" y="50745"/>
                    </a:lnTo>
                    <a:lnTo>
                      <a:pt x="6205" y="50588"/>
                    </a:lnTo>
                    <a:lnTo>
                      <a:pt x="6219" y="50430"/>
                    </a:lnTo>
                    <a:lnTo>
                      <a:pt x="6232" y="50273"/>
                    </a:lnTo>
                    <a:lnTo>
                      <a:pt x="6245" y="50116"/>
                    </a:lnTo>
                    <a:lnTo>
                      <a:pt x="6245" y="1129"/>
                    </a:lnTo>
                    <a:lnTo>
                      <a:pt x="6232" y="1024"/>
                    </a:lnTo>
                    <a:lnTo>
                      <a:pt x="6219" y="906"/>
                    </a:lnTo>
                    <a:lnTo>
                      <a:pt x="6192" y="801"/>
                    </a:lnTo>
                    <a:lnTo>
                      <a:pt x="6153" y="696"/>
                    </a:lnTo>
                    <a:lnTo>
                      <a:pt x="6101" y="591"/>
                    </a:lnTo>
                    <a:lnTo>
                      <a:pt x="6048" y="499"/>
                    </a:lnTo>
                    <a:lnTo>
                      <a:pt x="5982" y="408"/>
                    </a:lnTo>
                    <a:lnTo>
                      <a:pt x="5904" y="329"/>
                    </a:lnTo>
                    <a:lnTo>
                      <a:pt x="5825" y="250"/>
                    </a:lnTo>
                    <a:lnTo>
                      <a:pt x="5733" y="185"/>
                    </a:lnTo>
                    <a:lnTo>
                      <a:pt x="5641" y="132"/>
                    </a:lnTo>
                    <a:lnTo>
                      <a:pt x="5550" y="80"/>
                    </a:lnTo>
                    <a:lnTo>
                      <a:pt x="5445" y="53"/>
                    </a:lnTo>
                    <a:lnTo>
                      <a:pt x="5326" y="14"/>
                    </a:lnTo>
                    <a:lnTo>
                      <a:pt x="522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441;p45">
                <a:extLst>
                  <a:ext uri="{FF2B5EF4-FFF2-40B4-BE49-F238E27FC236}">
                    <a16:creationId xmlns:a16="http://schemas.microsoft.com/office/drawing/2014/main" id="{96542282-C642-4154-C392-63427FB99A44}"/>
                  </a:ext>
                </a:extLst>
              </p:cNvPr>
              <p:cNvSpPr/>
              <p:nvPr/>
            </p:nvSpPr>
            <p:spPr>
              <a:xfrm>
                <a:off x="1780583" y="3354102"/>
                <a:ext cx="813871" cy="74654"/>
              </a:xfrm>
              <a:custGeom>
                <a:avLst/>
                <a:gdLst/>
                <a:ahLst/>
                <a:cxnLst/>
                <a:rect l="l" t="t" r="r" b="b"/>
                <a:pathLst>
                  <a:path w="45341" h="4159" extrusionOk="0">
                    <a:moveTo>
                      <a:pt x="1" y="0"/>
                    </a:moveTo>
                    <a:lnTo>
                      <a:pt x="14" y="210"/>
                    </a:lnTo>
                    <a:lnTo>
                      <a:pt x="27" y="420"/>
                    </a:lnTo>
                    <a:lnTo>
                      <a:pt x="53" y="630"/>
                    </a:lnTo>
                    <a:lnTo>
                      <a:pt x="93" y="840"/>
                    </a:lnTo>
                    <a:lnTo>
                      <a:pt x="132" y="1037"/>
                    </a:lnTo>
                    <a:lnTo>
                      <a:pt x="185" y="1233"/>
                    </a:lnTo>
                    <a:lnTo>
                      <a:pt x="250" y="1430"/>
                    </a:lnTo>
                    <a:lnTo>
                      <a:pt x="329" y="1614"/>
                    </a:lnTo>
                    <a:lnTo>
                      <a:pt x="421" y="1798"/>
                    </a:lnTo>
                    <a:lnTo>
                      <a:pt x="513" y="1981"/>
                    </a:lnTo>
                    <a:lnTo>
                      <a:pt x="604" y="2152"/>
                    </a:lnTo>
                    <a:lnTo>
                      <a:pt x="709" y="2322"/>
                    </a:lnTo>
                    <a:lnTo>
                      <a:pt x="827" y="2480"/>
                    </a:lnTo>
                    <a:lnTo>
                      <a:pt x="959" y="2637"/>
                    </a:lnTo>
                    <a:lnTo>
                      <a:pt x="1090" y="2795"/>
                    </a:lnTo>
                    <a:lnTo>
                      <a:pt x="1221" y="2939"/>
                    </a:lnTo>
                    <a:lnTo>
                      <a:pt x="1365" y="3070"/>
                    </a:lnTo>
                    <a:lnTo>
                      <a:pt x="1523" y="3201"/>
                    </a:lnTo>
                    <a:lnTo>
                      <a:pt x="1680" y="3332"/>
                    </a:lnTo>
                    <a:lnTo>
                      <a:pt x="1838" y="3450"/>
                    </a:lnTo>
                    <a:lnTo>
                      <a:pt x="2008" y="3555"/>
                    </a:lnTo>
                    <a:lnTo>
                      <a:pt x="2179" y="3647"/>
                    </a:lnTo>
                    <a:lnTo>
                      <a:pt x="2362" y="3739"/>
                    </a:lnTo>
                    <a:lnTo>
                      <a:pt x="2546" y="3831"/>
                    </a:lnTo>
                    <a:lnTo>
                      <a:pt x="2730" y="3897"/>
                    </a:lnTo>
                    <a:lnTo>
                      <a:pt x="2926" y="3962"/>
                    </a:lnTo>
                    <a:lnTo>
                      <a:pt x="3123" y="4028"/>
                    </a:lnTo>
                    <a:lnTo>
                      <a:pt x="3320" y="4067"/>
                    </a:lnTo>
                    <a:lnTo>
                      <a:pt x="3530" y="4106"/>
                    </a:lnTo>
                    <a:lnTo>
                      <a:pt x="3740" y="4133"/>
                    </a:lnTo>
                    <a:lnTo>
                      <a:pt x="3950" y="4146"/>
                    </a:lnTo>
                    <a:lnTo>
                      <a:pt x="4160" y="4159"/>
                    </a:lnTo>
                    <a:lnTo>
                      <a:pt x="41181" y="4159"/>
                    </a:lnTo>
                    <a:lnTo>
                      <a:pt x="41391" y="4146"/>
                    </a:lnTo>
                    <a:lnTo>
                      <a:pt x="41601" y="4133"/>
                    </a:lnTo>
                    <a:lnTo>
                      <a:pt x="41811" y="4106"/>
                    </a:lnTo>
                    <a:lnTo>
                      <a:pt x="42021" y="4067"/>
                    </a:lnTo>
                    <a:lnTo>
                      <a:pt x="42218" y="4028"/>
                    </a:lnTo>
                    <a:lnTo>
                      <a:pt x="42415" y="3962"/>
                    </a:lnTo>
                    <a:lnTo>
                      <a:pt x="42611" y="3897"/>
                    </a:lnTo>
                    <a:lnTo>
                      <a:pt x="42795" y="3831"/>
                    </a:lnTo>
                    <a:lnTo>
                      <a:pt x="42979" y="3739"/>
                    </a:lnTo>
                    <a:lnTo>
                      <a:pt x="43162" y="3647"/>
                    </a:lnTo>
                    <a:lnTo>
                      <a:pt x="43333" y="3555"/>
                    </a:lnTo>
                    <a:lnTo>
                      <a:pt x="43503" y="3450"/>
                    </a:lnTo>
                    <a:lnTo>
                      <a:pt x="43661" y="3332"/>
                    </a:lnTo>
                    <a:lnTo>
                      <a:pt x="43818" y="3201"/>
                    </a:lnTo>
                    <a:lnTo>
                      <a:pt x="43976" y="3070"/>
                    </a:lnTo>
                    <a:lnTo>
                      <a:pt x="44120" y="2939"/>
                    </a:lnTo>
                    <a:lnTo>
                      <a:pt x="44251" y="2795"/>
                    </a:lnTo>
                    <a:lnTo>
                      <a:pt x="44382" y="2637"/>
                    </a:lnTo>
                    <a:lnTo>
                      <a:pt x="44514" y="2480"/>
                    </a:lnTo>
                    <a:lnTo>
                      <a:pt x="44632" y="2322"/>
                    </a:lnTo>
                    <a:lnTo>
                      <a:pt x="44737" y="2152"/>
                    </a:lnTo>
                    <a:lnTo>
                      <a:pt x="44828" y="1981"/>
                    </a:lnTo>
                    <a:lnTo>
                      <a:pt x="44920" y="1798"/>
                    </a:lnTo>
                    <a:lnTo>
                      <a:pt x="45012" y="1614"/>
                    </a:lnTo>
                    <a:lnTo>
                      <a:pt x="45078" y="1430"/>
                    </a:lnTo>
                    <a:lnTo>
                      <a:pt x="45143" y="1233"/>
                    </a:lnTo>
                    <a:lnTo>
                      <a:pt x="45209" y="1037"/>
                    </a:lnTo>
                    <a:lnTo>
                      <a:pt x="45248" y="840"/>
                    </a:lnTo>
                    <a:lnTo>
                      <a:pt x="45288" y="630"/>
                    </a:lnTo>
                    <a:lnTo>
                      <a:pt x="45314" y="420"/>
                    </a:lnTo>
                    <a:lnTo>
                      <a:pt x="45327" y="210"/>
                    </a:lnTo>
                    <a:lnTo>
                      <a:pt x="4534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442;p45">
                <a:extLst>
                  <a:ext uri="{FF2B5EF4-FFF2-40B4-BE49-F238E27FC236}">
                    <a16:creationId xmlns:a16="http://schemas.microsoft.com/office/drawing/2014/main" id="{8E76CD89-0CA4-0A99-D3F3-14D6484FDFCD}"/>
                  </a:ext>
                </a:extLst>
              </p:cNvPr>
              <p:cNvSpPr/>
              <p:nvPr/>
            </p:nvSpPr>
            <p:spPr>
              <a:xfrm>
                <a:off x="1847931" y="4030889"/>
                <a:ext cx="89517" cy="89732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4999" extrusionOk="0">
                    <a:moveTo>
                      <a:pt x="2494" y="0"/>
                    </a:moveTo>
                    <a:lnTo>
                      <a:pt x="2231" y="13"/>
                    </a:lnTo>
                    <a:lnTo>
                      <a:pt x="1982" y="53"/>
                    </a:lnTo>
                    <a:lnTo>
                      <a:pt x="1746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090" y="433"/>
                    </a:lnTo>
                    <a:lnTo>
                      <a:pt x="906" y="577"/>
                    </a:lnTo>
                    <a:lnTo>
                      <a:pt x="723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85" y="1522"/>
                    </a:lnTo>
                    <a:lnTo>
                      <a:pt x="106" y="1758"/>
                    </a:lnTo>
                    <a:lnTo>
                      <a:pt x="40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40" y="3004"/>
                    </a:lnTo>
                    <a:lnTo>
                      <a:pt x="106" y="3241"/>
                    </a:lnTo>
                    <a:lnTo>
                      <a:pt x="185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23" y="4264"/>
                    </a:lnTo>
                    <a:lnTo>
                      <a:pt x="906" y="4421"/>
                    </a:lnTo>
                    <a:lnTo>
                      <a:pt x="1090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46" y="4881"/>
                    </a:lnTo>
                    <a:lnTo>
                      <a:pt x="1982" y="4946"/>
                    </a:lnTo>
                    <a:lnTo>
                      <a:pt x="2231" y="4985"/>
                    </a:lnTo>
                    <a:lnTo>
                      <a:pt x="2494" y="4999"/>
                    </a:lnTo>
                    <a:lnTo>
                      <a:pt x="2743" y="4985"/>
                    </a:lnTo>
                    <a:lnTo>
                      <a:pt x="2992" y="4946"/>
                    </a:lnTo>
                    <a:lnTo>
                      <a:pt x="3228" y="4881"/>
                    </a:lnTo>
                    <a:lnTo>
                      <a:pt x="3464" y="4802"/>
                    </a:lnTo>
                    <a:lnTo>
                      <a:pt x="3674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52" y="4264"/>
                    </a:lnTo>
                    <a:lnTo>
                      <a:pt x="4422" y="4080"/>
                    </a:lnTo>
                    <a:lnTo>
                      <a:pt x="4553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68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68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53" y="1102"/>
                    </a:lnTo>
                    <a:lnTo>
                      <a:pt x="4422" y="905"/>
                    </a:lnTo>
                    <a:lnTo>
                      <a:pt x="4252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74" y="302"/>
                    </a:lnTo>
                    <a:lnTo>
                      <a:pt x="3464" y="197"/>
                    </a:lnTo>
                    <a:lnTo>
                      <a:pt x="3228" y="118"/>
                    </a:lnTo>
                    <a:lnTo>
                      <a:pt x="2992" y="53"/>
                    </a:lnTo>
                    <a:lnTo>
                      <a:pt x="2743" y="13"/>
                    </a:lnTo>
                    <a:lnTo>
                      <a:pt x="249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2443;p45">
                <a:extLst>
                  <a:ext uri="{FF2B5EF4-FFF2-40B4-BE49-F238E27FC236}">
                    <a16:creationId xmlns:a16="http://schemas.microsoft.com/office/drawing/2014/main" id="{173E72A6-1C9A-8484-1912-CCDE4E16FD49}"/>
                  </a:ext>
                </a:extLst>
              </p:cNvPr>
              <p:cNvSpPr/>
              <p:nvPr/>
            </p:nvSpPr>
            <p:spPr>
              <a:xfrm>
                <a:off x="1870315" y="4053255"/>
                <a:ext cx="44749" cy="45001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507" extrusionOk="0">
                    <a:moveTo>
                      <a:pt x="1247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66" y="66"/>
                    </a:lnTo>
                    <a:lnTo>
                      <a:pt x="761" y="106"/>
                    </a:lnTo>
                    <a:lnTo>
                      <a:pt x="643" y="158"/>
                    </a:lnTo>
                    <a:lnTo>
                      <a:pt x="551" y="224"/>
                    </a:lnTo>
                    <a:lnTo>
                      <a:pt x="446" y="289"/>
                    </a:lnTo>
                    <a:lnTo>
                      <a:pt x="368" y="368"/>
                    </a:lnTo>
                    <a:lnTo>
                      <a:pt x="276" y="460"/>
                    </a:lnTo>
                    <a:lnTo>
                      <a:pt x="210" y="552"/>
                    </a:lnTo>
                    <a:lnTo>
                      <a:pt x="145" y="656"/>
                    </a:lnTo>
                    <a:lnTo>
                      <a:pt x="92" y="761"/>
                    </a:lnTo>
                    <a:lnTo>
                      <a:pt x="53" y="880"/>
                    </a:lnTo>
                    <a:lnTo>
                      <a:pt x="27" y="998"/>
                    </a:lnTo>
                    <a:lnTo>
                      <a:pt x="0" y="1129"/>
                    </a:lnTo>
                    <a:lnTo>
                      <a:pt x="0" y="1247"/>
                    </a:lnTo>
                    <a:lnTo>
                      <a:pt x="0" y="1378"/>
                    </a:lnTo>
                    <a:lnTo>
                      <a:pt x="27" y="1509"/>
                    </a:lnTo>
                    <a:lnTo>
                      <a:pt x="53" y="1627"/>
                    </a:lnTo>
                    <a:lnTo>
                      <a:pt x="92" y="1732"/>
                    </a:lnTo>
                    <a:lnTo>
                      <a:pt x="145" y="1850"/>
                    </a:lnTo>
                    <a:lnTo>
                      <a:pt x="210" y="1955"/>
                    </a:lnTo>
                    <a:lnTo>
                      <a:pt x="276" y="2047"/>
                    </a:lnTo>
                    <a:lnTo>
                      <a:pt x="368" y="2139"/>
                    </a:lnTo>
                    <a:lnTo>
                      <a:pt x="446" y="2218"/>
                    </a:lnTo>
                    <a:lnTo>
                      <a:pt x="551" y="2283"/>
                    </a:lnTo>
                    <a:lnTo>
                      <a:pt x="643" y="2349"/>
                    </a:lnTo>
                    <a:lnTo>
                      <a:pt x="761" y="2401"/>
                    </a:lnTo>
                    <a:lnTo>
                      <a:pt x="866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7" y="2506"/>
                    </a:lnTo>
                    <a:lnTo>
                      <a:pt x="1365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34" y="2218"/>
                    </a:lnTo>
                    <a:lnTo>
                      <a:pt x="2126" y="2139"/>
                    </a:lnTo>
                    <a:lnTo>
                      <a:pt x="2204" y="2047"/>
                    </a:lnTo>
                    <a:lnTo>
                      <a:pt x="2283" y="1955"/>
                    </a:lnTo>
                    <a:lnTo>
                      <a:pt x="2335" y="1850"/>
                    </a:lnTo>
                    <a:lnTo>
                      <a:pt x="2388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80" y="1378"/>
                    </a:lnTo>
                    <a:lnTo>
                      <a:pt x="2493" y="1247"/>
                    </a:lnTo>
                    <a:lnTo>
                      <a:pt x="2480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388" y="761"/>
                    </a:lnTo>
                    <a:lnTo>
                      <a:pt x="2335" y="656"/>
                    </a:lnTo>
                    <a:lnTo>
                      <a:pt x="2283" y="552"/>
                    </a:lnTo>
                    <a:lnTo>
                      <a:pt x="2204" y="460"/>
                    </a:lnTo>
                    <a:lnTo>
                      <a:pt x="2126" y="368"/>
                    </a:lnTo>
                    <a:lnTo>
                      <a:pt x="2034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65" y="14"/>
                    </a:lnTo>
                    <a:lnTo>
                      <a:pt x="124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Google Shape;2444;p45">
                <a:extLst>
                  <a:ext uri="{FF2B5EF4-FFF2-40B4-BE49-F238E27FC236}">
                    <a16:creationId xmlns:a16="http://schemas.microsoft.com/office/drawing/2014/main" id="{A8FBBA8C-C193-0CEC-5078-C7E3FB5E874E}"/>
                  </a:ext>
                </a:extLst>
              </p:cNvPr>
              <p:cNvSpPr/>
              <p:nvPr/>
            </p:nvSpPr>
            <p:spPr>
              <a:xfrm>
                <a:off x="1855237" y="3966359"/>
                <a:ext cx="313694" cy="64548"/>
              </a:xfrm>
              <a:custGeom>
                <a:avLst/>
                <a:gdLst/>
                <a:ahLst/>
                <a:cxnLst/>
                <a:rect l="l" t="t" r="r" b="b"/>
                <a:pathLst>
                  <a:path w="17476" h="3596" extrusionOk="0">
                    <a:moveTo>
                      <a:pt x="17475" y="1"/>
                    </a:moveTo>
                    <a:lnTo>
                      <a:pt x="512" y="2415"/>
                    </a:lnTo>
                    <a:lnTo>
                      <a:pt x="407" y="2441"/>
                    </a:lnTo>
                    <a:lnTo>
                      <a:pt x="316" y="2480"/>
                    </a:lnTo>
                    <a:lnTo>
                      <a:pt x="224" y="2546"/>
                    </a:lnTo>
                    <a:lnTo>
                      <a:pt x="145" y="2611"/>
                    </a:lnTo>
                    <a:lnTo>
                      <a:pt x="92" y="2703"/>
                    </a:lnTo>
                    <a:lnTo>
                      <a:pt x="40" y="2795"/>
                    </a:lnTo>
                    <a:lnTo>
                      <a:pt x="14" y="2900"/>
                    </a:lnTo>
                    <a:lnTo>
                      <a:pt x="1" y="3005"/>
                    </a:lnTo>
                    <a:lnTo>
                      <a:pt x="14" y="3123"/>
                    </a:lnTo>
                    <a:lnTo>
                      <a:pt x="53" y="3241"/>
                    </a:lnTo>
                    <a:lnTo>
                      <a:pt x="106" y="3333"/>
                    </a:lnTo>
                    <a:lnTo>
                      <a:pt x="184" y="3425"/>
                    </a:lnTo>
                    <a:lnTo>
                      <a:pt x="263" y="3503"/>
                    </a:lnTo>
                    <a:lnTo>
                      <a:pt x="368" y="3556"/>
                    </a:lnTo>
                    <a:lnTo>
                      <a:pt x="473" y="3582"/>
                    </a:lnTo>
                    <a:lnTo>
                      <a:pt x="604" y="3595"/>
                    </a:lnTo>
                    <a:lnTo>
                      <a:pt x="17475" y="3595"/>
                    </a:lnTo>
                    <a:lnTo>
                      <a:pt x="17475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Google Shape;2445;p45">
                <a:extLst>
                  <a:ext uri="{FF2B5EF4-FFF2-40B4-BE49-F238E27FC236}">
                    <a16:creationId xmlns:a16="http://schemas.microsoft.com/office/drawing/2014/main" id="{8883F1A0-5787-0F6E-3B37-415AC78B784B}"/>
                  </a:ext>
                </a:extLst>
              </p:cNvPr>
              <p:cNvSpPr/>
              <p:nvPr/>
            </p:nvSpPr>
            <p:spPr>
              <a:xfrm>
                <a:off x="2437589" y="4030889"/>
                <a:ext cx="89517" cy="89732"/>
              </a:xfrm>
              <a:custGeom>
                <a:avLst/>
                <a:gdLst/>
                <a:ahLst/>
                <a:cxnLst/>
                <a:rect l="l" t="t" r="r" b="b"/>
                <a:pathLst>
                  <a:path w="4987" h="4999" extrusionOk="0">
                    <a:moveTo>
                      <a:pt x="2493" y="0"/>
                    </a:moveTo>
                    <a:lnTo>
                      <a:pt x="2244" y="13"/>
                    </a:lnTo>
                    <a:lnTo>
                      <a:pt x="1995" y="53"/>
                    </a:lnTo>
                    <a:lnTo>
                      <a:pt x="1759" y="118"/>
                    </a:lnTo>
                    <a:lnTo>
                      <a:pt x="1523" y="197"/>
                    </a:lnTo>
                    <a:lnTo>
                      <a:pt x="1300" y="302"/>
                    </a:lnTo>
                    <a:lnTo>
                      <a:pt x="1103" y="433"/>
                    </a:lnTo>
                    <a:lnTo>
                      <a:pt x="906" y="577"/>
                    </a:lnTo>
                    <a:lnTo>
                      <a:pt x="736" y="735"/>
                    </a:lnTo>
                    <a:lnTo>
                      <a:pt x="565" y="905"/>
                    </a:lnTo>
                    <a:lnTo>
                      <a:pt x="421" y="1102"/>
                    </a:lnTo>
                    <a:lnTo>
                      <a:pt x="303" y="1312"/>
                    </a:lnTo>
                    <a:lnTo>
                      <a:pt x="198" y="1522"/>
                    </a:lnTo>
                    <a:lnTo>
                      <a:pt x="106" y="1758"/>
                    </a:lnTo>
                    <a:lnTo>
                      <a:pt x="53" y="1994"/>
                    </a:lnTo>
                    <a:lnTo>
                      <a:pt x="14" y="2244"/>
                    </a:lnTo>
                    <a:lnTo>
                      <a:pt x="1" y="2493"/>
                    </a:lnTo>
                    <a:lnTo>
                      <a:pt x="14" y="2755"/>
                    </a:lnTo>
                    <a:lnTo>
                      <a:pt x="53" y="3004"/>
                    </a:lnTo>
                    <a:lnTo>
                      <a:pt x="106" y="3241"/>
                    </a:lnTo>
                    <a:lnTo>
                      <a:pt x="198" y="3477"/>
                    </a:lnTo>
                    <a:lnTo>
                      <a:pt x="303" y="3687"/>
                    </a:lnTo>
                    <a:lnTo>
                      <a:pt x="421" y="3897"/>
                    </a:lnTo>
                    <a:lnTo>
                      <a:pt x="565" y="4080"/>
                    </a:lnTo>
                    <a:lnTo>
                      <a:pt x="736" y="4264"/>
                    </a:lnTo>
                    <a:lnTo>
                      <a:pt x="906" y="4421"/>
                    </a:lnTo>
                    <a:lnTo>
                      <a:pt x="1103" y="4566"/>
                    </a:lnTo>
                    <a:lnTo>
                      <a:pt x="1300" y="4697"/>
                    </a:lnTo>
                    <a:lnTo>
                      <a:pt x="1523" y="4802"/>
                    </a:lnTo>
                    <a:lnTo>
                      <a:pt x="1759" y="4881"/>
                    </a:lnTo>
                    <a:lnTo>
                      <a:pt x="1995" y="4946"/>
                    </a:lnTo>
                    <a:lnTo>
                      <a:pt x="2244" y="4985"/>
                    </a:lnTo>
                    <a:lnTo>
                      <a:pt x="2493" y="4999"/>
                    </a:lnTo>
                    <a:lnTo>
                      <a:pt x="2756" y="4985"/>
                    </a:lnTo>
                    <a:lnTo>
                      <a:pt x="2992" y="4946"/>
                    </a:lnTo>
                    <a:lnTo>
                      <a:pt x="3241" y="4881"/>
                    </a:lnTo>
                    <a:lnTo>
                      <a:pt x="3464" y="4802"/>
                    </a:lnTo>
                    <a:lnTo>
                      <a:pt x="3687" y="4697"/>
                    </a:lnTo>
                    <a:lnTo>
                      <a:pt x="3884" y="4566"/>
                    </a:lnTo>
                    <a:lnTo>
                      <a:pt x="4081" y="4421"/>
                    </a:lnTo>
                    <a:lnTo>
                      <a:pt x="4265" y="4264"/>
                    </a:lnTo>
                    <a:lnTo>
                      <a:pt x="4422" y="4080"/>
                    </a:lnTo>
                    <a:lnTo>
                      <a:pt x="4566" y="3897"/>
                    </a:lnTo>
                    <a:lnTo>
                      <a:pt x="4684" y="3687"/>
                    </a:lnTo>
                    <a:lnTo>
                      <a:pt x="4789" y="3477"/>
                    </a:lnTo>
                    <a:lnTo>
                      <a:pt x="4881" y="3241"/>
                    </a:lnTo>
                    <a:lnTo>
                      <a:pt x="4934" y="3004"/>
                    </a:lnTo>
                    <a:lnTo>
                      <a:pt x="4973" y="2755"/>
                    </a:lnTo>
                    <a:lnTo>
                      <a:pt x="4986" y="2493"/>
                    </a:lnTo>
                    <a:lnTo>
                      <a:pt x="4973" y="2244"/>
                    </a:lnTo>
                    <a:lnTo>
                      <a:pt x="4934" y="1994"/>
                    </a:lnTo>
                    <a:lnTo>
                      <a:pt x="4881" y="1758"/>
                    </a:lnTo>
                    <a:lnTo>
                      <a:pt x="4789" y="1522"/>
                    </a:lnTo>
                    <a:lnTo>
                      <a:pt x="4684" y="1312"/>
                    </a:lnTo>
                    <a:lnTo>
                      <a:pt x="4566" y="1102"/>
                    </a:lnTo>
                    <a:lnTo>
                      <a:pt x="4422" y="905"/>
                    </a:lnTo>
                    <a:lnTo>
                      <a:pt x="4265" y="735"/>
                    </a:lnTo>
                    <a:lnTo>
                      <a:pt x="4081" y="577"/>
                    </a:lnTo>
                    <a:lnTo>
                      <a:pt x="3884" y="433"/>
                    </a:lnTo>
                    <a:lnTo>
                      <a:pt x="3687" y="302"/>
                    </a:lnTo>
                    <a:lnTo>
                      <a:pt x="3464" y="197"/>
                    </a:lnTo>
                    <a:lnTo>
                      <a:pt x="3241" y="118"/>
                    </a:lnTo>
                    <a:lnTo>
                      <a:pt x="2992" y="53"/>
                    </a:lnTo>
                    <a:lnTo>
                      <a:pt x="2756" y="13"/>
                    </a:lnTo>
                    <a:lnTo>
                      <a:pt x="249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2446;p45">
                <a:extLst>
                  <a:ext uri="{FF2B5EF4-FFF2-40B4-BE49-F238E27FC236}">
                    <a16:creationId xmlns:a16="http://schemas.microsoft.com/office/drawing/2014/main" id="{726758D0-3B89-5EE3-521D-F1D8B5AB0FB9}"/>
                  </a:ext>
                </a:extLst>
              </p:cNvPr>
              <p:cNvSpPr/>
              <p:nvPr/>
            </p:nvSpPr>
            <p:spPr>
              <a:xfrm>
                <a:off x="2459972" y="4053255"/>
                <a:ext cx="44749" cy="45001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2507" extrusionOk="0">
                    <a:moveTo>
                      <a:pt x="1246" y="1"/>
                    </a:moveTo>
                    <a:lnTo>
                      <a:pt x="1115" y="14"/>
                    </a:lnTo>
                    <a:lnTo>
                      <a:pt x="997" y="27"/>
                    </a:lnTo>
                    <a:lnTo>
                      <a:pt x="879" y="66"/>
                    </a:lnTo>
                    <a:lnTo>
                      <a:pt x="761" y="106"/>
                    </a:lnTo>
                    <a:lnTo>
                      <a:pt x="656" y="158"/>
                    </a:lnTo>
                    <a:lnTo>
                      <a:pt x="551" y="224"/>
                    </a:lnTo>
                    <a:lnTo>
                      <a:pt x="459" y="289"/>
                    </a:lnTo>
                    <a:lnTo>
                      <a:pt x="367" y="368"/>
                    </a:lnTo>
                    <a:lnTo>
                      <a:pt x="289" y="460"/>
                    </a:lnTo>
                    <a:lnTo>
                      <a:pt x="210" y="552"/>
                    </a:lnTo>
                    <a:lnTo>
                      <a:pt x="158" y="656"/>
                    </a:lnTo>
                    <a:lnTo>
                      <a:pt x="105" y="761"/>
                    </a:lnTo>
                    <a:lnTo>
                      <a:pt x="53" y="880"/>
                    </a:lnTo>
                    <a:lnTo>
                      <a:pt x="26" y="998"/>
                    </a:lnTo>
                    <a:lnTo>
                      <a:pt x="13" y="1129"/>
                    </a:lnTo>
                    <a:lnTo>
                      <a:pt x="0" y="1247"/>
                    </a:lnTo>
                    <a:lnTo>
                      <a:pt x="13" y="1378"/>
                    </a:lnTo>
                    <a:lnTo>
                      <a:pt x="26" y="1509"/>
                    </a:lnTo>
                    <a:lnTo>
                      <a:pt x="53" y="1627"/>
                    </a:lnTo>
                    <a:lnTo>
                      <a:pt x="105" y="1732"/>
                    </a:lnTo>
                    <a:lnTo>
                      <a:pt x="158" y="1850"/>
                    </a:lnTo>
                    <a:lnTo>
                      <a:pt x="210" y="1955"/>
                    </a:lnTo>
                    <a:lnTo>
                      <a:pt x="289" y="2047"/>
                    </a:lnTo>
                    <a:lnTo>
                      <a:pt x="367" y="2139"/>
                    </a:lnTo>
                    <a:lnTo>
                      <a:pt x="459" y="2218"/>
                    </a:lnTo>
                    <a:lnTo>
                      <a:pt x="551" y="2283"/>
                    </a:lnTo>
                    <a:lnTo>
                      <a:pt x="656" y="2349"/>
                    </a:lnTo>
                    <a:lnTo>
                      <a:pt x="761" y="2401"/>
                    </a:lnTo>
                    <a:lnTo>
                      <a:pt x="879" y="2441"/>
                    </a:lnTo>
                    <a:lnTo>
                      <a:pt x="997" y="2480"/>
                    </a:lnTo>
                    <a:lnTo>
                      <a:pt x="1115" y="2493"/>
                    </a:lnTo>
                    <a:lnTo>
                      <a:pt x="1246" y="2506"/>
                    </a:lnTo>
                    <a:lnTo>
                      <a:pt x="1378" y="2493"/>
                    </a:lnTo>
                    <a:lnTo>
                      <a:pt x="1496" y="2480"/>
                    </a:lnTo>
                    <a:lnTo>
                      <a:pt x="1614" y="2441"/>
                    </a:lnTo>
                    <a:lnTo>
                      <a:pt x="1732" y="2401"/>
                    </a:lnTo>
                    <a:lnTo>
                      <a:pt x="1837" y="2349"/>
                    </a:lnTo>
                    <a:lnTo>
                      <a:pt x="1942" y="2283"/>
                    </a:lnTo>
                    <a:lnTo>
                      <a:pt x="2047" y="2218"/>
                    </a:lnTo>
                    <a:lnTo>
                      <a:pt x="2125" y="2139"/>
                    </a:lnTo>
                    <a:lnTo>
                      <a:pt x="2217" y="2047"/>
                    </a:lnTo>
                    <a:lnTo>
                      <a:pt x="2283" y="1955"/>
                    </a:lnTo>
                    <a:lnTo>
                      <a:pt x="2348" y="1850"/>
                    </a:lnTo>
                    <a:lnTo>
                      <a:pt x="2401" y="1732"/>
                    </a:lnTo>
                    <a:lnTo>
                      <a:pt x="2440" y="1627"/>
                    </a:lnTo>
                    <a:lnTo>
                      <a:pt x="2467" y="1509"/>
                    </a:lnTo>
                    <a:lnTo>
                      <a:pt x="2493" y="1378"/>
                    </a:lnTo>
                    <a:lnTo>
                      <a:pt x="2493" y="1247"/>
                    </a:lnTo>
                    <a:lnTo>
                      <a:pt x="2493" y="1129"/>
                    </a:lnTo>
                    <a:lnTo>
                      <a:pt x="2467" y="998"/>
                    </a:lnTo>
                    <a:lnTo>
                      <a:pt x="2440" y="880"/>
                    </a:lnTo>
                    <a:lnTo>
                      <a:pt x="2401" y="761"/>
                    </a:lnTo>
                    <a:lnTo>
                      <a:pt x="2348" y="656"/>
                    </a:lnTo>
                    <a:lnTo>
                      <a:pt x="2283" y="552"/>
                    </a:lnTo>
                    <a:lnTo>
                      <a:pt x="2217" y="460"/>
                    </a:lnTo>
                    <a:lnTo>
                      <a:pt x="2125" y="368"/>
                    </a:lnTo>
                    <a:lnTo>
                      <a:pt x="2047" y="289"/>
                    </a:lnTo>
                    <a:lnTo>
                      <a:pt x="1942" y="224"/>
                    </a:lnTo>
                    <a:lnTo>
                      <a:pt x="1837" y="158"/>
                    </a:lnTo>
                    <a:lnTo>
                      <a:pt x="1732" y="106"/>
                    </a:lnTo>
                    <a:lnTo>
                      <a:pt x="1614" y="66"/>
                    </a:lnTo>
                    <a:lnTo>
                      <a:pt x="1496" y="27"/>
                    </a:lnTo>
                    <a:lnTo>
                      <a:pt x="1378" y="14"/>
                    </a:lnTo>
                    <a:lnTo>
                      <a:pt x="1246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Google Shape;2447;p45">
                <a:extLst>
                  <a:ext uri="{FF2B5EF4-FFF2-40B4-BE49-F238E27FC236}">
                    <a16:creationId xmlns:a16="http://schemas.microsoft.com/office/drawing/2014/main" id="{FEEF9938-E461-076C-C029-F5DBD137C0A4}"/>
                  </a:ext>
                </a:extLst>
              </p:cNvPr>
              <p:cNvSpPr/>
              <p:nvPr/>
            </p:nvSpPr>
            <p:spPr>
              <a:xfrm>
                <a:off x="2206105" y="3966359"/>
                <a:ext cx="313694" cy="64548"/>
              </a:xfrm>
              <a:custGeom>
                <a:avLst/>
                <a:gdLst/>
                <a:ahLst/>
                <a:cxnLst/>
                <a:rect l="l" t="t" r="r" b="b"/>
                <a:pathLst>
                  <a:path w="17476" h="3596" extrusionOk="0">
                    <a:moveTo>
                      <a:pt x="1" y="1"/>
                    </a:moveTo>
                    <a:lnTo>
                      <a:pt x="1" y="3595"/>
                    </a:lnTo>
                    <a:lnTo>
                      <a:pt x="16872" y="3595"/>
                    </a:lnTo>
                    <a:lnTo>
                      <a:pt x="16990" y="3582"/>
                    </a:lnTo>
                    <a:lnTo>
                      <a:pt x="17108" y="3556"/>
                    </a:lnTo>
                    <a:lnTo>
                      <a:pt x="17213" y="3503"/>
                    </a:lnTo>
                    <a:lnTo>
                      <a:pt x="17292" y="3425"/>
                    </a:lnTo>
                    <a:lnTo>
                      <a:pt x="17370" y="3333"/>
                    </a:lnTo>
                    <a:lnTo>
                      <a:pt x="17423" y="3241"/>
                    </a:lnTo>
                    <a:lnTo>
                      <a:pt x="17462" y="3123"/>
                    </a:lnTo>
                    <a:lnTo>
                      <a:pt x="17475" y="3005"/>
                    </a:lnTo>
                    <a:lnTo>
                      <a:pt x="17462" y="2900"/>
                    </a:lnTo>
                    <a:lnTo>
                      <a:pt x="17436" y="2795"/>
                    </a:lnTo>
                    <a:lnTo>
                      <a:pt x="17384" y="2703"/>
                    </a:lnTo>
                    <a:lnTo>
                      <a:pt x="17331" y="2611"/>
                    </a:lnTo>
                    <a:lnTo>
                      <a:pt x="17252" y="2546"/>
                    </a:lnTo>
                    <a:lnTo>
                      <a:pt x="17161" y="2480"/>
                    </a:lnTo>
                    <a:lnTo>
                      <a:pt x="17069" y="2441"/>
                    </a:lnTo>
                    <a:lnTo>
                      <a:pt x="16964" y="2415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Google Shape;2448;p45">
                <a:extLst>
                  <a:ext uri="{FF2B5EF4-FFF2-40B4-BE49-F238E27FC236}">
                    <a16:creationId xmlns:a16="http://schemas.microsoft.com/office/drawing/2014/main" id="{F5F25BEE-4FF0-2A7B-6E9E-7EAC5EA8A017}"/>
                  </a:ext>
                </a:extLst>
              </p:cNvPr>
              <p:cNvSpPr/>
              <p:nvPr/>
            </p:nvSpPr>
            <p:spPr>
              <a:xfrm>
                <a:off x="2161374" y="3978601"/>
                <a:ext cx="44749" cy="112116"/>
              </a:xfrm>
              <a:custGeom>
                <a:avLst/>
                <a:gdLst/>
                <a:ahLst/>
                <a:cxnLst/>
                <a:rect l="l" t="t" r="r" b="b"/>
                <a:pathLst>
                  <a:path w="2493" h="6246" extrusionOk="0">
                    <a:moveTo>
                      <a:pt x="0" y="1"/>
                    </a:moveTo>
                    <a:lnTo>
                      <a:pt x="420" y="6245"/>
                    </a:lnTo>
                    <a:lnTo>
                      <a:pt x="2073" y="6245"/>
                    </a:lnTo>
                    <a:lnTo>
                      <a:pt x="2493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Google Shape;2449;p45">
                <a:extLst>
                  <a:ext uri="{FF2B5EF4-FFF2-40B4-BE49-F238E27FC236}">
                    <a16:creationId xmlns:a16="http://schemas.microsoft.com/office/drawing/2014/main" id="{01924253-AA1E-B423-97E6-F68B698FEBB4}"/>
                  </a:ext>
                </a:extLst>
              </p:cNvPr>
              <p:cNvSpPr/>
              <p:nvPr/>
            </p:nvSpPr>
            <p:spPr>
              <a:xfrm>
                <a:off x="2162792" y="4068333"/>
                <a:ext cx="41931" cy="104559"/>
              </a:xfrm>
              <a:custGeom>
                <a:avLst/>
                <a:gdLst/>
                <a:ahLst/>
                <a:cxnLst/>
                <a:rect l="l" t="t" r="r" b="b"/>
                <a:pathLst>
                  <a:path w="2336" h="5825" extrusionOk="0">
                    <a:moveTo>
                      <a:pt x="1050" y="0"/>
                    </a:moveTo>
                    <a:lnTo>
                      <a:pt x="931" y="26"/>
                    </a:lnTo>
                    <a:lnTo>
                      <a:pt x="827" y="53"/>
                    </a:lnTo>
                    <a:lnTo>
                      <a:pt x="722" y="92"/>
                    </a:lnTo>
                    <a:lnTo>
                      <a:pt x="617" y="131"/>
                    </a:lnTo>
                    <a:lnTo>
                      <a:pt x="512" y="197"/>
                    </a:lnTo>
                    <a:lnTo>
                      <a:pt x="433" y="263"/>
                    </a:lnTo>
                    <a:lnTo>
                      <a:pt x="341" y="341"/>
                    </a:lnTo>
                    <a:lnTo>
                      <a:pt x="276" y="420"/>
                    </a:lnTo>
                    <a:lnTo>
                      <a:pt x="197" y="512"/>
                    </a:lnTo>
                    <a:lnTo>
                      <a:pt x="144" y="604"/>
                    </a:lnTo>
                    <a:lnTo>
                      <a:pt x="92" y="709"/>
                    </a:lnTo>
                    <a:lnTo>
                      <a:pt x="52" y="814"/>
                    </a:lnTo>
                    <a:lnTo>
                      <a:pt x="26" y="932"/>
                    </a:lnTo>
                    <a:lnTo>
                      <a:pt x="13" y="1037"/>
                    </a:lnTo>
                    <a:lnTo>
                      <a:pt x="0" y="1168"/>
                    </a:lnTo>
                    <a:lnTo>
                      <a:pt x="0" y="4657"/>
                    </a:lnTo>
                    <a:lnTo>
                      <a:pt x="13" y="4775"/>
                    </a:lnTo>
                    <a:lnTo>
                      <a:pt x="26" y="4894"/>
                    </a:lnTo>
                    <a:lnTo>
                      <a:pt x="52" y="4999"/>
                    </a:lnTo>
                    <a:lnTo>
                      <a:pt x="92" y="5103"/>
                    </a:lnTo>
                    <a:lnTo>
                      <a:pt x="144" y="5208"/>
                    </a:lnTo>
                    <a:lnTo>
                      <a:pt x="197" y="5300"/>
                    </a:lnTo>
                    <a:lnTo>
                      <a:pt x="276" y="5392"/>
                    </a:lnTo>
                    <a:lnTo>
                      <a:pt x="341" y="5484"/>
                    </a:lnTo>
                    <a:lnTo>
                      <a:pt x="433" y="5550"/>
                    </a:lnTo>
                    <a:lnTo>
                      <a:pt x="512" y="5615"/>
                    </a:lnTo>
                    <a:lnTo>
                      <a:pt x="617" y="5681"/>
                    </a:lnTo>
                    <a:lnTo>
                      <a:pt x="722" y="5733"/>
                    </a:lnTo>
                    <a:lnTo>
                      <a:pt x="827" y="5773"/>
                    </a:lnTo>
                    <a:lnTo>
                      <a:pt x="931" y="5799"/>
                    </a:lnTo>
                    <a:lnTo>
                      <a:pt x="1050" y="5812"/>
                    </a:lnTo>
                    <a:lnTo>
                      <a:pt x="1168" y="5825"/>
                    </a:lnTo>
                    <a:lnTo>
                      <a:pt x="1286" y="5812"/>
                    </a:lnTo>
                    <a:lnTo>
                      <a:pt x="1404" y="5799"/>
                    </a:lnTo>
                    <a:lnTo>
                      <a:pt x="1509" y="5773"/>
                    </a:lnTo>
                    <a:lnTo>
                      <a:pt x="1627" y="5733"/>
                    </a:lnTo>
                    <a:lnTo>
                      <a:pt x="1719" y="5681"/>
                    </a:lnTo>
                    <a:lnTo>
                      <a:pt x="1824" y="5615"/>
                    </a:lnTo>
                    <a:lnTo>
                      <a:pt x="1915" y="5550"/>
                    </a:lnTo>
                    <a:lnTo>
                      <a:pt x="1994" y="5484"/>
                    </a:lnTo>
                    <a:lnTo>
                      <a:pt x="2073" y="5392"/>
                    </a:lnTo>
                    <a:lnTo>
                      <a:pt x="2138" y="5300"/>
                    </a:lnTo>
                    <a:lnTo>
                      <a:pt x="2191" y="5208"/>
                    </a:lnTo>
                    <a:lnTo>
                      <a:pt x="2243" y="5103"/>
                    </a:lnTo>
                    <a:lnTo>
                      <a:pt x="2283" y="4999"/>
                    </a:lnTo>
                    <a:lnTo>
                      <a:pt x="2309" y="4894"/>
                    </a:lnTo>
                    <a:lnTo>
                      <a:pt x="2322" y="4775"/>
                    </a:lnTo>
                    <a:lnTo>
                      <a:pt x="2335" y="4657"/>
                    </a:lnTo>
                    <a:lnTo>
                      <a:pt x="2335" y="1168"/>
                    </a:lnTo>
                    <a:lnTo>
                      <a:pt x="2322" y="1037"/>
                    </a:lnTo>
                    <a:lnTo>
                      <a:pt x="2309" y="932"/>
                    </a:lnTo>
                    <a:lnTo>
                      <a:pt x="2283" y="814"/>
                    </a:lnTo>
                    <a:lnTo>
                      <a:pt x="2243" y="709"/>
                    </a:lnTo>
                    <a:lnTo>
                      <a:pt x="2191" y="604"/>
                    </a:lnTo>
                    <a:lnTo>
                      <a:pt x="2138" y="512"/>
                    </a:lnTo>
                    <a:lnTo>
                      <a:pt x="2073" y="420"/>
                    </a:lnTo>
                    <a:lnTo>
                      <a:pt x="1994" y="341"/>
                    </a:lnTo>
                    <a:lnTo>
                      <a:pt x="1915" y="263"/>
                    </a:lnTo>
                    <a:lnTo>
                      <a:pt x="1824" y="197"/>
                    </a:lnTo>
                    <a:lnTo>
                      <a:pt x="1719" y="131"/>
                    </a:lnTo>
                    <a:lnTo>
                      <a:pt x="1627" y="92"/>
                    </a:lnTo>
                    <a:lnTo>
                      <a:pt x="1509" y="53"/>
                    </a:lnTo>
                    <a:lnTo>
                      <a:pt x="1404" y="26"/>
                    </a:lnTo>
                    <a:lnTo>
                      <a:pt x="128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2450;p45">
                <a:extLst>
                  <a:ext uri="{FF2B5EF4-FFF2-40B4-BE49-F238E27FC236}">
                    <a16:creationId xmlns:a16="http://schemas.microsoft.com/office/drawing/2014/main" id="{7925D5D2-64E9-F047-D4A8-93F60328AD7C}"/>
                  </a:ext>
                </a:extLst>
              </p:cNvPr>
              <p:cNvSpPr/>
              <p:nvPr/>
            </p:nvSpPr>
            <p:spPr>
              <a:xfrm>
                <a:off x="1891747" y="1544617"/>
                <a:ext cx="591309" cy="702240"/>
              </a:xfrm>
              <a:custGeom>
                <a:avLst/>
                <a:gdLst/>
                <a:ahLst/>
                <a:cxnLst/>
                <a:rect l="l" t="t" r="r" b="b"/>
                <a:pathLst>
                  <a:path w="32942" h="39122" extrusionOk="0">
                    <a:moveTo>
                      <a:pt x="19009" y="1"/>
                    </a:moveTo>
                    <a:lnTo>
                      <a:pt x="18695" y="27"/>
                    </a:lnTo>
                    <a:lnTo>
                      <a:pt x="18406" y="93"/>
                    </a:lnTo>
                    <a:lnTo>
                      <a:pt x="18130" y="171"/>
                    </a:lnTo>
                    <a:lnTo>
                      <a:pt x="17881" y="276"/>
                    </a:lnTo>
                    <a:lnTo>
                      <a:pt x="17645" y="407"/>
                    </a:lnTo>
                    <a:lnTo>
                      <a:pt x="17422" y="552"/>
                    </a:lnTo>
                    <a:lnTo>
                      <a:pt x="17238" y="709"/>
                    </a:lnTo>
                    <a:lnTo>
                      <a:pt x="17055" y="893"/>
                    </a:lnTo>
                    <a:lnTo>
                      <a:pt x="16897" y="1090"/>
                    </a:lnTo>
                    <a:lnTo>
                      <a:pt x="16766" y="1299"/>
                    </a:lnTo>
                    <a:lnTo>
                      <a:pt x="16648" y="1523"/>
                    </a:lnTo>
                    <a:lnTo>
                      <a:pt x="16556" y="1746"/>
                    </a:lnTo>
                    <a:lnTo>
                      <a:pt x="16478" y="1982"/>
                    </a:lnTo>
                    <a:lnTo>
                      <a:pt x="16412" y="2231"/>
                    </a:lnTo>
                    <a:lnTo>
                      <a:pt x="16373" y="2480"/>
                    </a:lnTo>
                    <a:lnTo>
                      <a:pt x="16359" y="2729"/>
                    </a:lnTo>
                    <a:lnTo>
                      <a:pt x="16281" y="2848"/>
                    </a:lnTo>
                    <a:lnTo>
                      <a:pt x="16254" y="2848"/>
                    </a:lnTo>
                    <a:lnTo>
                      <a:pt x="15874" y="2874"/>
                    </a:lnTo>
                    <a:lnTo>
                      <a:pt x="15507" y="2913"/>
                    </a:lnTo>
                    <a:lnTo>
                      <a:pt x="15152" y="2952"/>
                    </a:lnTo>
                    <a:lnTo>
                      <a:pt x="14798" y="2992"/>
                    </a:lnTo>
                    <a:lnTo>
                      <a:pt x="14457" y="3044"/>
                    </a:lnTo>
                    <a:lnTo>
                      <a:pt x="14116" y="3110"/>
                    </a:lnTo>
                    <a:lnTo>
                      <a:pt x="13788" y="3175"/>
                    </a:lnTo>
                    <a:lnTo>
                      <a:pt x="13460" y="3254"/>
                    </a:lnTo>
                    <a:lnTo>
                      <a:pt x="13145" y="3333"/>
                    </a:lnTo>
                    <a:lnTo>
                      <a:pt x="12830" y="3425"/>
                    </a:lnTo>
                    <a:lnTo>
                      <a:pt x="12516" y="3517"/>
                    </a:lnTo>
                    <a:lnTo>
                      <a:pt x="12214" y="3622"/>
                    </a:lnTo>
                    <a:lnTo>
                      <a:pt x="11925" y="3726"/>
                    </a:lnTo>
                    <a:lnTo>
                      <a:pt x="11637" y="3845"/>
                    </a:lnTo>
                    <a:lnTo>
                      <a:pt x="11348" y="3963"/>
                    </a:lnTo>
                    <a:lnTo>
                      <a:pt x="11072" y="4094"/>
                    </a:lnTo>
                    <a:lnTo>
                      <a:pt x="10810" y="4238"/>
                    </a:lnTo>
                    <a:lnTo>
                      <a:pt x="10548" y="4382"/>
                    </a:lnTo>
                    <a:lnTo>
                      <a:pt x="10285" y="4527"/>
                    </a:lnTo>
                    <a:lnTo>
                      <a:pt x="10036" y="4684"/>
                    </a:lnTo>
                    <a:lnTo>
                      <a:pt x="9800" y="4842"/>
                    </a:lnTo>
                    <a:lnTo>
                      <a:pt x="9551" y="5012"/>
                    </a:lnTo>
                    <a:lnTo>
                      <a:pt x="9328" y="5183"/>
                    </a:lnTo>
                    <a:lnTo>
                      <a:pt x="9105" y="5366"/>
                    </a:lnTo>
                    <a:lnTo>
                      <a:pt x="8882" y="5550"/>
                    </a:lnTo>
                    <a:lnTo>
                      <a:pt x="8672" y="5747"/>
                    </a:lnTo>
                    <a:lnTo>
                      <a:pt x="8462" y="5944"/>
                    </a:lnTo>
                    <a:lnTo>
                      <a:pt x="8252" y="6154"/>
                    </a:lnTo>
                    <a:lnTo>
                      <a:pt x="8068" y="6363"/>
                    </a:lnTo>
                    <a:lnTo>
                      <a:pt x="7871" y="6586"/>
                    </a:lnTo>
                    <a:lnTo>
                      <a:pt x="7688" y="6809"/>
                    </a:lnTo>
                    <a:lnTo>
                      <a:pt x="7517" y="7032"/>
                    </a:lnTo>
                    <a:lnTo>
                      <a:pt x="7347" y="7269"/>
                    </a:lnTo>
                    <a:lnTo>
                      <a:pt x="7176" y="7505"/>
                    </a:lnTo>
                    <a:lnTo>
                      <a:pt x="7019" y="7754"/>
                    </a:lnTo>
                    <a:lnTo>
                      <a:pt x="6874" y="8003"/>
                    </a:lnTo>
                    <a:lnTo>
                      <a:pt x="6730" y="8266"/>
                    </a:lnTo>
                    <a:lnTo>
                      <a:pt x="6586" y="8515"/>
                    </a:lnTo>
                    <a:lnTo>
                      <a:pt x="6323" y="9066"/>
                    </a:lnTo>
                    <a:lnTo>
                      <a:pt x="6087" y="9617"/>
                    </a:lnTo>
                    <a:lnTo>
                      <a:pt x="5877" y="10194"/>
                    </a:lnTo>
                    <a:lnTo>
                      <a:pt x="5681" y="10798"/>
                    </a:lnTo>
                    <a:lnTo>
                      <a:pt x="5523" y="11414"/>
                    </a:lnTo>
                    <a:lnTo>
                      <a:pt x="5379" y="12057"/>
                    </a:lnTo>
                    <a:lnTo>
                      <a:pt x="5261" y="12713"/>
                    </a:lnTo>
                    <a:lnTo>
                      <a:pt x="5169" y="13395"/>
                    </a:lnTo>
                    <a:lnTo>
                      <a:pt x="5090" y="14077"/>
                    </a:lnTo>
                    <a:lnTo>
                      <a:pt x="5051" y="14799"/>
                    </a:lnTo>
                    <a:lnTo>
                      <a:pt x="5025" y="15520"/>
                    </a:lnTo>
                    <a:lnTo>
                      <a:pt x="5025" y="16255"/>
                    </a:lnTo>
                    <a:lnTo>
                      <a:pt x="5051" y="17016"/>
                    </a:lnTo>
                    <a:lnTo>
                      <a:pt x="5025" y="17803"/>
                    </a:lnTo>
                    <a:lnTo>
                      <a:pt x="4985" y="18577"/>
                    </a:lnTo>
                    <a:lnTo>
                      <a:pt x="4920" y="19351"/>
                    </a:lnTo>
                    <a:lnTo>
                      <a:pt x="4841" y="20112"/>
                    </a:lnTo>
                    <a:lnTo>
                      <a:pt x="4736" y="20873"/>
                    </a:lnTo>
                    <a:lnTo>
                      <a:pt x="4618" y="21634"/>
                    </a:lnTo>
                    <a:lnTo>
                      <a:pt x="4461" y="22382"/>
                    </a:lnTo>
                    <a:lnTo>
                      <a:pt x="4303" y="23130"/>
                    </a:lnTo>
                    <a:lnTo>
                      <a:pt x="4106" y="23877"/>
                    </a:lnTo>
                    <a:lnTo>
                      <a:pt x="3896" y="24612"/>
                    </a:lnTo>
                    <a:lnTo>
                      <a:pt x="3673" y="25334"/>
                    </a:lnTo>
                    <a:lnTo>
                      <a:pt x="3424" y="26068"/>
                    </a:lnTo>
                    <a:lnTo>
                      <a:pt x="3149" y="26790"/>
                    </a:lnTo>
                    <a:lnTo>
                      <a:pt x="2860" y="27498"/>
                    </a:lnTo>
                    <a:lnTo>
                      <a:pt x="2545" y="28220"/>
                    </a:lnTo>
                    <a:lnTo>
                      <a:pt x="2204" y="28928"/>
                    </a:lnTo>
                    <a:lnTo>
                      <a:pt x="2020" y="29309"/>
                    </a:lnTo>
                    <a:lnTo>
                      <a:pt x="1811" y="29715"/>
                    </a:lnTo>
                    <a:lnTo>
                      <a:pt x="1338" y="30594"/>
                    </a:lnTo>
                    <a:lnTo>
                      <a:pt x="1102" y="31067"/>
                    </a:lnTo>
                    <a:lnTo>
                      <a:pt x="879" y="31552"/>
                    </a:lnTo>
                    <a:lnTo>
                      <a:pt x="656" y="32050"/>
                    </a:lnTo>
                    <a:lnTo>
                      <a:pt x="459" y="32549"/>
                    </a:lnTo>
                    <a:lnTo>
                      <a:pt x="289" y="33047"/>
                    </a:lnTo>
                    <a:lnTo>
                      <a:pt x="223" y="33310"/>
                    </a:lnTo>
                    <a:lnTo>
                      <a:pt x="158" y="33559"/>
                    </a:lnTo>
                    <a:lnTo>
                      <a:pt x="105" y="33808"/>
                    </a:lnTo>
                    <a:lnTo>
                      <a:pt x="53" y="34058"/>
                    </a:lnTo>
                    <a:lnTo>
                      <a:pt x="26" y="34307"/>
                    </a:lnTo>
                    <a:lnTo>
                      <a:pt x="13" y="34556"/>
                    </a:lnTo>
                    <a:lnTo>
                      <a:pt x="0" y="34792"/>
                    </a:lnTo>
                    <a:lnTo>
                      <a:pt x="13" y="35042"/>
                    </a:lnTo>
                    <a:lnTo>
                      <a:pt x="39" y="35278"/>
                    </a:lnTo>
                    <a:lnTo>
                      <a:pt x="79" y="35501"/>
                    </a:lnTo>
                    <a:lnTo>
                      <a:pt x="144" y="35737"/>
                    </a:lnTo>
                    <a:lnTo>
                      <a:pt x="210" y="35960"/>
                    </a:lnTo>
                    <a:lnTo>
                      <a:pt x="315" y="36183"/>
                    </a:lnTo>
                    <a:lnTo>
                      <a:pt x="420" y="36393"/>
                    </a:lnTo>
                    <a:lnTo>
                      <a:pt x="538" y="36563"/>
                    </a:lnTo>
                    <a:lnTo>
                      <a:pt x="656" y="36734"/>
                    </a:lnTo>
                    <a:lnTo>
                      <a:pt x="787" y="36891"/>
                    </a:lnTo>
                    <a:lnTo>
                      <a:pt x="932" y="37036"/>
                    </a:lnTo>
                    <a:lnTo>
                      <a:pt x="1089" y="37180"/>
                    </a:lnTo>
                    <a:lnTo>
                      <a:pt x="1246" y="37311"/>
                    </a:lnTo>
                    <a:lnTo>
                      <a:pt x="1417" y="37429"/>
                    </a:lnTo>
                    <a:lnTo>
                      <a:pt x="1587" y="37547"/>
                    </a:lnTo>
                    <a:lnTo>
                      <a:pt x="1771" y="37652"/>
                    </a:lnTo>
                    <a:lnTo>
                      <a:pt x="1968" y="37757"/>
                    </a:lnTo>
                    <a:lnTo>
                      <a:pt x="2152" y="37849"/>
                    </a:lnTo>
                    <a:lnTo>
                      <a:pt x="2362" y="37928"/>
                    </a:lnTo>
                    <a:lnTo>
                      <a:pt x="2558" y="38006"/>
                    </a:lnTo>
                    <a:lnTo>
                      <a:pt x="2768" y="38072"/>
                    </a:lnTo>
                    <a:lnTo>
                      <a:pt x="3201" y="38190"/>
                    </a:lnTo>
                    <a:lnTo>
                      <a:pt x="3634" y="38269"/>
                    </a:lnTo>
                    <a:lnTo>
                      <a:pt x="4080" y="38334"/>
                    </a:lnTo>
                    <a:lnTo>
                      <a:pt x="4513" y="38374"/>
                    </a:lnTo>
                    <a:lnTo>
                      <a:pt x="4959" y="38374"/>
                    </a:lnTo>
                    <a:lnTo>
                      <a:pt x="5379" y="38361"/>
                    </a:lnTo>
                    <a:lnTo>
                      <a:pt x="5799" y="38334"/>
                    </a:lnTo>
                    <a:lnTo>
                      <a:pt x="6205" y="38282"/>
                    </a:lnTo>
                    <a:lnTo>
                      <a:pt x="6573" y="38203"/>
                    </a:lnTo>
                    <a:lnTo>
                      <a:pt x="6874" y="38125"/>
                    </a:lnTo>
                    <a:lnTo>
                      <a:pt x="7163" y="38033"/>
                    </a:lnTo>
                    <a:lnTo>
                      <a:pt x="7452" y="37941"/>
                    </a:lnTo>
                    <a:lnTo>
                      <a:pt x="7727" y="37836"/>
                    </a:lnTo>
                    <a:lnTo>
                      <a:pt x="7990" y="37705"/>
                    </a:lnTo>
                    <a:lnTo>
                      <a:pt x="8252" y="37574"/>
                    </a:lnTo>
                    <a:lnTo>
                      <a:pt x="8514" y="37442"/>
                    </a:lnTo>
                    <a:lnTo>
                      <a:pt x="8764" y="37285"/>
                    </a:lnTo>
                    <a:lnTo>
                      <a:pt x="8987" y="37521"/>
                    </a:lnTo>
                    <a:lnTo>
                      <a:pt x="9236" y="37731"/>
                    </a:lnTo>
                    <a:lnTo>
                      <a:pt x="9472" y="37928"/>
                    </a:lnTo>
                    <a:lnTo>
                      <a:pt x="9721" y="38111"/>
                    </a:lnTo>
                    <a:lnTo>
                      <a:pt x="9984" y="38282"/>
                    </a:lnTo>
                    <a:lnTo>
                      <a:pt x="10246" y="38426"/>
                    </a:lnTo>
                    <a:lnTo>
                      <a:pt x="10522" y="38571"/>
                    </a:lnTo>
                    <a:lnTo>
                      <a:pt x="10784" y="38689"/>
                    </a:lnTo>
                    <a:lnTo>
                      <a:pt x="11059" y="38794"/>
                    </a:lnTo>
                    <a:lnTo>
                      <a:pt x="11348" y="38885"/>
                    </a:lnTo>
                    <a:lnTo>
                      <a:pt x="11637" y="38951"/>
                    </a:lnTo>
                    <a:lnTo>
                      <a:pt x="11925" y="39017"/>
                    </a:lnTo>
                    <a:lnTo>
                      <a:pt x="12214" y="39056"/>
                    </a:lnTo>
                    <a:lnTo>
                      <a:pt x="12502" y="39095"/>
                    </a:lnTo>
                    <a:lnTo>
                      <a:pt x="12791" y="39108"/>
                    </a:lnTo>
                    <a:lnTo>
                      <a:pt x="13093" y="39122"/>
                    </a:lnTo>
                    <a:lnTo>
                      <a:pt x="13395" y="39108"/>
                    </a:lnTo>
                    <a:lnTo>
                      <a:pt x="13683" y="39095"/>
                    </a:lnTo>
                    <a:lnTo>
                      <a:pt x="13985" y="39056"/>
                    </a:lnTo>
                    <a:lnTo>
                      <a:pt x="14274" y="39017"/>
                    </a:lnTo>
                    <a:lnTo>
                      <a:pt x="14575" y="38951"/>
                    </a:lnTo>
                    <a:lnTo>
                      <a:pt x="14877" y="38885"/>
                    </a:lnTo>
                    <a:lnTo>
                      <a:pt x="15166" y="38807"/>
                    </a:lnTo>
                    <a:lnTo>
                      <a:pt x="15454" y="38715"/>
                    </a:lnTo>
                    <a:lnTo>
                      <a:pt x="15743" y="38623"/>
                    </a:lnTo>
                    <a:lnTo>
                      <a:pt x="16031" y="38505"/>
                    </a:lnTo>
                    <a:lnTo>
                      <a:pt x="16320" y="38387"/>
                    </a:lnTo>
                    <a:lnTo>
                      <a:pt x="16596" y="38256"/>
                    </a:lnTo>
                    <a:lnTo>
                      <a:pt x="16871" y="38111"/>
                    </a:lnTo>
                    <a:lnTo>
                      <a:pt x="17133" y="37967"/>
                    </a:lnTo>
                    <a:lnTo>
                      <a:pt x="17409" y="37810"/>
                    </a:lnTo>
                    <a:lnTo>
                      <a:pt x="17671" y="37639"/>
                    </a:lnTo>
                    <a:lnTo>
                      <a:pt x="17684" y="37652"/>
                    </a:lnTo>
                    <a:lnTo>
                      <a:pt x="17881" y="37757"/>
                    </a:lnTo>
                    <a:lnTo>
                      <a:pt x="18078" y="37862"/>
                    </a:lnTo>
                    <a:lnTo>
                      <a:pt x="18275" y="37954"/>
                    </a:lnTo>
                    <a:lnTo>
                      <a:pt x="18485" y="38046"/>
                    </a:lnTo>
                    <a:lnTo>
                      <a:pt x="18681" y="38111"/>
                    </a:lnTo>
                    <a:lnTo>
                      <a:pt x="18891" y="38190"/>
                    </a:lnTo>
                    <a:lnTo>
                      <a:pt x="19088" y="38243"/>
                    </a:lnTo>
                    <a:lnTo>
                      <a:pt x="19298" y="38295"/>
                    </a:lnTo>
                    <a:lnTo>
                      <a:pt x="19705" y="38374"/>
                    </a:lnTo>
                    <a:lnTo>
                      <a:pt x="20125" y="38426"/>
                    </a:lnTo>
                    <a:lnTo>
                      <a:pt x="20531" y="38453"/>
                    </a:lnTo>
                    <a:lnTo>
                      <a:pt x="20951" y="38439"/>
                    </a:lnTo>
                    <a:lnTo>
                      <a:pt x="21358" y="38400"/>
                    </a:lnTo>
                    <a:lnTo>
                      <a:pt x="21751" y="38321"/>
                    </a:lnTo>
                    <a:lnTo>
                      <a:pt x="22145" y="38216"/>
                    </a:lnTo>
                    <a:lnTo>
                      <a:pt x="22538" y="38085"/>
                    </a:lnTo>
                    <a:lnTo>
                      <a:pt x="22919" y="37928"/>
                    </a:lnTo>
                    <a:lnTo>
                      <a:pt x="23103" y="37836"/>
                    </a:lnTo>
                    <a:lnTo>
                      <a:pt x="23273" y="37731"/>
                    </a:lnTo>
                    <a:lnTo>
                      <a:pt x="23457" y="37626"/>
                    </a:lnTo>
                    <a:lnTo>
                      <a:pt x="23627" y="37508"/>
                    </a:lnTo>
                    <a:lnTo>
                      <a:pt x="23798" y="37390"/>
                    </a:lnTo>
                    <a:lnTo>
                      <a:pt x="23968" y="37259"/>
                    </a:lnTo>
                    <a:lnTo>
                      <a:pt x="24244" y="37429"/>
                    </a:lnTo>
                    <a:lnTo>
                      <a:pt x="24533" y="37587"/>
                    </a:lnTo>
                    <a:lnTo>
                      <a:pt x="24834" y="37731"/>
                    </a:lnTo>
                    <a:lnTo>
                      <a:pt x="25149" y="37875"/>
                    </a:lnTo>
                    <a:lnTo>
                      <a:pt x="25477" y="38006"/>
                    </a:lnTo>
                    <a:lnTo>
                      <a:pt x="25805" y="38125"/>
                    </a:lnTo>
                    <a:lnTo>
                      <a:pt x="26159" y="38243"/>
                    </a:lnTo>
                    <a:lnTo>
                      <a:pt x="26514" y="38334"/>
                    </a:lnTo>
                    <a:lnTo>
                      <a:pt x="26868" y="38426"/>
                    </a:lnTo>
                    <a:lnTo>
                      <a:pt x="27222" y="38492"/>
                    </a:lnTo>
                    <a:lnTo>
                      <a:pt x="27589" y="38557"/>
                    </a:lnTo>
                    <a:lnTo>
                      <a:pt x="27957" y="38597"/>
                    </a:lnTo>
                    <a:lnTo>
                      <a:pt x="28311" y="38623"/>
                    </a:lnTo>
                    <a:lnTo>
                      <a:pt x="28678" y="38636"/>
                    </a:lnTo>
                    <a:lnTo>
                      <a:pt x="29032" y="38636"/>
                    </a:lnTo>
                    <a:lnTo>
                      <a:pt x="29387" y="38610"/>
                    </a:lnTo>
                    <a:lnTo>
                      <a:pt x="29728" y="38571"/>
                    </a:lnTo>
                    <a:lnTo>
                      <a:pt x="30056" y="38505"/>
                    </a:lnTo>
                    <a:lnTo>
                      <a:pt x="30384" y="38426"/>
                    </a:lnTo>
                    <a:lnTo>
                      <a:pt x="30698" y="38334"/>
                    </a:lnTo>
                    <a:lnTo>
                      <a:pt x="30987" y="38203"/>
                    </a:lnTo>
                    <a:lnTo>
                      <a:pt x="31276" y="38059"/>
                    </a:lnTo>
                    <a:lnTo>
                      <a:pt x="31538" y="37902"/>
                    </a:lnTo>
                    <a:lnTo>
                      <a:pt x="31787" y="37705"/>
                    </a:lnTo>
                    <a:lnTo>
                      <a:pt x="31905" y="37600"/>
                    </a:lnTo>
                    <a:lnTo>
                      <a:pt x="32023" y="37495"/>
                    </a:lnTo>
                    <a:lnTo>
                      <a:pt x="32128" y="37377"/>
                    </a:lnTo>
                    <a:lnTo>
                      <a:pt x="32233" y="37246"/>
                    </a:lnTo>
                    <a:lnTo>
                      <a:pt x="32325" y="37128"/>
                    </a:lnTo>
                    <a:lnTo>
                      <a:pt x="32417" y="36983"/>
                    </a:lnTo>
                    <a:lnTo>
                      <a:pt x="32496" y="36839"/>
                    </a:lnTo>
                    <a:lnTo>
                      <a:pt x="32574" y="36695"/>
                    </a:lnTo>
                    <a:lnTo>
                      <a:pt x="32640" y="36537"/>
                    </a:lnTo>
                    <a:lnTo>
                      <a:pt x="32706" y="36380"/>
                    </a:lnTo>
                    <a:lnTo>
                      <a:pt x="32758" y="36209"/>
                    </a:lnTo>
                    <a:lnTo>
                      <a:pt x="32811" y="36026"/>
                    </a:lnTo>
                    <a:lnTo>
                      <a:pt x="32850" y="35842"/>
                    </a:lnTo>
                    <a:lnTo>
                      <a:pt x="32889" y="35645"/>
                    </a:lnTo>
                    <a:lnTo>
                      <a:pt x="32916" y="35448"/>
                    </a:lnTo>
                    <a:lnTo>
                      <a:pt x="32942" y="35238"/>
                    </a:lnTo>
                    <a:lnTo>
                      <a:pt x="32942" y="35002"/>
                    </a:lnTo>
                    <a:lnTo>
                      <a:pt x="32942" y="34779"/>
                    </a:lnTo>
                    <a:lnTo>
                      <a:pt x="32942" y="34543"/>
                    </a:lnTo>
                    <a:lnTo>
                      <a:pt x="32916" y="34320"/>
                    </a:lnTo>
                    <a:lnTo>
                      <a:pt x="32889" y="34097"/>
                    </a:lnTo>
                    <a:lnTo>
                      <a:pt x="32850" y="33887"/>
                    </a:lnTo>
                    <a:lnTo>
                      <a:pt x="32811" y="33664"/>
                    </a:lnTo>
                    <a:lnTo>
                      <a:pt x="32758" y="33454"/>
                    </a:lnTo>
                    <a:lnTo>
                      <a:pt x="32627" y="33021"/>
                    </a:lnTo>
                    <a:lnTo>
                      <a:pt x="32470" y="32615"/>
                    </a:lnTo>
                    <a:lnTo>
                      <a:pt x="32286" y="32208"/>
                    </a:lnTo>
                    <a:lnTo>
                      <a:pt x="32089" y="31801"/>
                    </a:lnTo>
                    <a:lnTo>
                      <a:pt x="31879" y="31408"/>
                    </a:lnTo>
                    <a:lnTo>
                      <a:pt x="31656" y="31014"/>
                    </a:lnTo>
                    <a:lnTo>
                      <a:pt x="31197" y="30240"/>
                    </a:lnTo>
                    <a:lnTo>
                      <a:pt x="30751" y="29453"/>
                    </a:lnTo>
                    <a:lnTo>
                      <a:pt x="30528" y="29059"/>
                    </a:lnTo>
                    <a:lnTo>
                      <a:pt x="30318" y="28666"/>
                    </a:lnTo>
                    <a:lnTo>
                      <a:pt x="30174" y="28351"/>
                    </a:lnTo>
                    <a:lnTo>
                      <a:pt x="30029" y="28023"/>
                    </a:lnTo>
                    <a:lnTo>
                      <a:pt x="29898" y="27695"/>
                    </a:lnTo>
                    <a:lnTo>
                      <a:pt x="29767" y="27367"/>
                    </a:lnTo>
                    <a:lnTo>
                      <a:pt x="29636" y="26960"/>
                    </a:lnTo>
                    <a:lnTo>
                      <a:pt x="29518" y="26540"/>
                    </a:lnTo>
                    <a:lnTo>
                      <a:pt x="29413" y="26108"/>
                    </a:lnTo>
                    <a:lnTo>
                      <a:pt x="29321" y="25661"/>
                    </a:lnTo>
                    <a:lnTo>
                      <a:pt x="29242" y="25215"/>
                    </a:lnTo>
                    <a:lnTo>
                      <a:pt x="29177" y="24756"/>
                    </a:lnTo>
                    <a:lnTo>
                      <a:pt x="29111" y="24297"/>
                    </a:lnTo>
                    <a:lnTo>
                      <a:pt x="29072" y="23825"/>
                    </a:lnTo>
                    <a:lnTo>
                      <a:pt x="29032" y="23366"/>
                    </a:lnTo>
                    <a:lnTo>
                      <a:pt x="29006" y="22893"/>
                    </a:lnTo>
                    <a:lnTo>
                      <a:pt x="28967" y="21962"/>
                    </a:lnTo>
                    <a:lnTo>
                      <a:pt x="28954" y="21057"/>
                    </a:lnTo>
                    <a:lnTo>
                      <a:pt x="28941" y="20178"/>
                    </a:lnTo>
                    <a:lnTo>
                      <a:pt x="28954" y="19496"/>
                    </a:lnTo>
                    <a:lnTo>
                      <a:pt x="28980" y="18840"/>
                    </a:lnTo>
                    <a:lnTo>
                      <a:pt x="29019" y="18184"/>
                    </a:lnTo>
                    <a:lnTo>
                      <a:pt x="29072" y="17554"/>
                    </a:lnTo>
                    <a:lnTo>
                      <a:pt x="29177" y="16268"/>
                    </a:lnTo>
                    <a:lnTo>
                      <a:pt x="29216" y="15639"/>
                    </a:lnTo>
                    <a:lnTo>
                      <a:pt x="29255" y="14996"/>
                    </a:lnTo>
                    <a:lnTo>
                      <a:pt x="29255" y="14340"/>
                    </a:lnTo>
                    <a:lnTo>
                      <a:pt x="29242" y="13671"/>
                    </a:lnTo>
                    <a:lnTo>
                      <a:pt x="29216" y="13330"/>
                    </a:lnTo>
                    <a:lnTo>
                      <a:pt x="29190" y="12975"/>
                    </a:lnTo>
                    <a:lnTo>
                      <a:pt x="29150" y="12634"/>
                    </a:lnTo>
                    <a:lnTo>
                      <a:pt x="29098" y="12280"/>
                    </a:lnTo>
                    <a:lnTo>
                      <a:pt x="29032" y="11913"/>
                    </a:lnTo>
                    <a:lnTo>
                      <a:pt x="28967" y="11545"/>
                    </a:lnTo>
                    <a:lnTo>
                      <a:pt x="28875" y="11165"/>
                    </a:lnTo>
                    <a:lnTo>
                      <a:pt x="28783" y="10785"/>
                    </a:lnTo>
                    <a:lnTo>
                      <a:pt x="28678" y="10391"/>
                    </a:lnTo>
                    <a:lnTo>
                      <a:pt x="28547" y="9997"/>
                    </a:lnTo>
                    <a:lnTo>
                      <a:pt x="28403" y="9591"/>
                    </a:lnTo>
                    <a:lnTo>
                      <a:pt x="28245" y="9171"/>
                    </a:lnTo>
                    <a:lnTo>
                      <a:pt x="28140" y="8935"/>
                    </a:lnTo>
                    <a:lnTo>
                      <a:pt x="28035" y="8685"/>
                    </a:lnTo>
                    <a:lnTo>
                      <a:pt x="27904" y="8462"/>
                    </a:lnTo>
                    <a:lnTo>
                      <a:pt x="27773" y="8226"/>
                    </a:lnTo>
                    <a:lnTo>
                      <a:pt x="27629" y="8016"/>
                    </a:lnTo>
                    <a:lnTo>
                      <a:pt x="27484" y="7807"/>
                    </a:lnTo>
                    <a:lnTo>
                      <a:pt x="27327" y="7597"/>
                    </a:lnTo>
                    <a:lnTo>
                      <a:pt x="27169" y="7400"/>
                    </a:lnTo>
                    <a:lnTo>
                      <a:pt x="26841" y="7032"/>
                    </a:lnTo>
                    <a:lnTo>
                      <a:pt x="26514" y="6691"/>
                    </a:lnTo>
                    <a:lnTo>
                      <a:pt x="26172" y="6377"/>
                    </a:lnTo>
                    <a:lnTo>
                      <a:pt x="25831" y="6088"/>
                    </a:lnTo>
                    <a:lnTo>
                      <a:pt x="25503" y="5839"/>
                    </a:lnTo>
                    <a:lnTo>
                      <a:pt x="25202" y="5629"/>
                    </a:lnTo>
                    <a:lnTo>
                      <a:pt x="24926" y="5445"/>
                    </a:lnTo>
                    <a:lnTo>
                      <a:pt x="24690" y="5288"/>
                    </a:lnTo>
                    <a:lnTo>
                      <a:pt x="24336" y="5091"/>
                    </a:lnTo>
                    <a:lnTo>
                      <a:pt x="24191" y="5025"/>
                    </a:lnTo>
                    <a:lnTo>
                      <a:pt x="24244" y="4789"/>
                    </a:lnTo>
                    <a:lnTo>
                      <a:pt x="24270" y="4553"/>
                    </a:lnTo>
                    <a:lnTo>
                      <a:pt x="24270" y="4304"/>
                    </a:lnTo>
                    <a:lnTo>
                      <a:pt x="24244" y="4068"/>
                    </a:lnTo>
                    <a:lnTo>
                      <a:pt x="24205" y="3831"/>
                    </a:lnTo>
                    <a:lnTo>
                      <a:pt x="24126" y="3608"/>
                    </a:lnTo>
                    <a:lnTo>
                      <a:pt x="24034" y="3385"/>
                    </a:lnTo>
                    <a:lnTo>
                      <a:pt x="23916" y="3175"/>
                    </a:lnTo>
                    <a:lnTo>
                      <a:pt x="23772" y="2992"/>
                    </a:lnTo>
                    <a:lnTo>
                      <a:pt x="23614" y="2821"/>
                    </a:lnTo>
                    <a:lnTo>
                      <a:pt x="23522" y="2743"/>
                    </a:lnTo>
                    <a:lnTo>
                      <a:pt x="23431" y="2664"/>
                    </a:lnTo>
                    <a:lnTo>
                      <a:pt x="23326" y="2598"/>
                    </a:lnTo>
                    <a:lnTo>
                      <a:pt x="23221" y="2546"/>
                    </a:lnTo>
                    <a:lnTo>
                      <a:pt x="23103" y="2493"/>
                    </a:lnTo>
                    <a:lnTo>
                      <a:pt x="22985" y="2441"/>
                    </a:lnTo>
                    <a:lnTo>
                      <a:pt x="22866" y="2401"/>
                    </a:lnTo>
                    <a:lnTo>
                      <a:pt x="22735" y="2375"/>
                    </a:lnTo>
                    <a:lnTo>
                      <a:pt x="22591" y="2349"/>
                    </a:lnTo>
                    <a:lnTo>
                      <a:pt x="22460" y="2336"/>
                    </a:lnTo>
                    <a:lnTo>
                      <a:pt x="22302" y="2323"/>
                    </a:lnTo>
                    <a:lnTo>
                      <a:pt x="22158" y="2336"/>
                    </a:lnTo>
                    <a:lnTo>
                      <a:pt x="22040" y="2349"/>
                    </a:lnTo>
                    <a:lnTo>
                      <a:pt x="21922" y="2362"/>
                    </a:lnTo>
                    <a:lnTo>
                      <a:pt x="21883" y="2126"/>
                    </a:lnTo>
                    <a:lnTo>
                      <a:pt x="21804" y="1890"/>
                    </a:lnTo>
                    <a:lnTo>
                      <a:pt x="21725" y="1654"/>
                    </a:lnTo>
                    <a:lnTo>
                      <a:pt x="21620" y="1431"/>
                    </a:lnTo>
                    <a:lnTo>
                      <a:pt x="21489" y="1221"/>
                    </a:lnTo>
                    <a:lnTo>
                      <a:pt x="21358" y="1024"/>
                    </a:lnTo>
                    <a:lnTo>
                      <a:pt x="21200" y="827"/>
                    </a:lnTo>
                    <a:lnTo>
                      <a:pt x="21030" y="657"/>
                    </a:lnTo>
                    <a:lnTo>
                      <a:pt x="20833" y="499"/>
                    </a:lnTo>
                    <a:lnTo>
                      <a:pt x="20623" y="368"/>
                    </a:lnTo>
                    <a:lnTo>
                      <a:pt x="20400" y="250"/>
                    </a:lnTo>
                    <a:lnTo>
                      <a:pt x="20151" y="145"/>
                    </a:lnTo>
                    <a:lnTo>
                      <a:pt x="19888" y="66"/>
                    </a:lnTo>
                    <a:lnTo>
                      <a:pt x="19613" y="27"/>
                    </a:lnTo>
                    <a:lnTo>
                      <a:pt x="19324" y="1"/>
                    </a:lnTo>
                    <a:close/>
                  </a:path>
                </a:pathLst>
              </a:custGeom>
              <a:solidFill>
                <a:srgbClr val="B278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Google Shape;2451;p45">
                <a:extLst>
                  <a:ext uri="{FF2B5EF4-FFF2-40B4-BE49-F238E27FC236}">
                    <a16:creationId xmlns:a16="http://schemas.microsoft.com/office/drawing/2014/main" id="{94F9A438-B540-E4D2-C822-F765E3E0A558}"/>
                  </a:ext>
                </a:extLst>
              </p:cNvPr>
              <p:cNvSpPr/>
              <p:nvPr/>
            </p:nvSpPr>
            <p:spPr>
              <a:xfrm>
                <a:off x="1989700" y="3428739"/>
                <a:ext cx="395636" cy="44767"/>
              </a:xfrm>
              <a:custGeom>
                <a:avLst/>
                <a:gdLst/>
                <a:ahLst/>
                <a:cxnLst/>
                <a:rect l="l" t="t" r="r" b="b"/>
                <a:pathLst>
                  <a:path w="22041" h="2494" extrusionOk="0">
                    <a:moveTo>
                      <a:pt x="1" y="1"/>
                    </a:moveTo>
                    <a:lnTo>
                      <a:pt x="14" y="250"/>
                    </a:lnTo>
                    <a:lnTo>
                      <a:pt x="53" y="499"/>
                    </a:lnTo>
                    <a:lnTo>
                      <a:pt x="106" y="736"/>
                    </a:lnTo>
                    <a:lnTo>
                      <a:pt x="197" y="972"/>
                    </a:lnTo>
                    <a:lnTo>
                      <a:pt x="302" y="1182"/>
                    </a:lnTo>
                    <a:lnTo>
                      <a:pt x="420" y="1392"/>
                    </a:lnTo>
                    <a:lnTo>
                      <a:pt x="565" y="1588"/>
                    </a:lnTo>
                    <a:lnTo>
                      <a:pt x="735" y="1759"/>
                    </a:lnTo>
                    <a:lnTo>
                      <a:pt x="906" y="1916"/>
                    </a:lnTo>
                    <a:lnTo>
                      <a:pt x="1103" y="2061"/>
                    </a:lnTo>
                    <a:lnTo>
                      <a:pt x="1299" y="2192"/>
                    </a:lnTo>
                    <a:lnTo>
                      <a:pt x="1522" y="2297"/>
                    </a:lnTo>
                    <a:lnTo>
                      <a:pt x="1759" y="2375"/>
                    </a:lnTo>
                    <a:lnTo>
                      <a:pt x="1995" y="2441"/>
                    </a:lnTo>
                    <a:lnTo>
                      <a:pt x="2244" y="2480"/>
                    </a:lnTo>
                    <a:lnTo>
                      <a:pt x="2493" y="2494"/>
                    </a:lnTo>
                    <a:lnTo>
                      <a:pt x="19548" y="2494"/>
                    </a:lnTo>
                    <a:lnTo>
                      <a:pt x="19797" y="2480"/>
                    </a:lnTo>
                    <a:lnTo>
                      <a:pt x="20046" y="2441"/>
                    </a:lnTo>
                    <a:lnTo>
                      <a:pt x="20282" y="2375"/>
                    </a:lnTo>
                    <a:lnTo>
                      <a:pt x="20519" y="2297"/>
                    </a:lnTo>
                    <a:lnTo>
                      <a:pt x="20729" y="2192"/>
                    </a:lnTo>
                    <a:lnTo>
                      <a:pt x="20938" y="2061"/>
                    </a:lnTo>
                    <a:lnTo>
                      <a:pt x="21135" y="1916"/>
                    </a:lnTo>
                    <a:lnTo>
                      <a:pt x="21306" y="1759"/>
                    </a:lnTo>
                    <a:lnTo>
                      <a:pt x="21476" y="1588"/>
                    </a:lnTo>
                    <a:lnTo>
                      <a:pt x="21621" y="1392"/>
                    </a:lnTo>
                    <a:lnTo>
                      <a:pt x="21739" y="1182"/>
                    </a:lnTo>
                    <a:lnTo>
                      <a:pt x="21844" y="972"/>
                    </a:lnTo>
                    <a:lnTo>
                      <a:pt x="21922" y="736"/>
                    </a:lnTo>
                    <a:lnTo>
                      <a:pt x="21988" y="499"/>
                    </a:lnTo>
                    <a:lnTo>
                      <a:pt x="22027" y="250"/>
                    </a:lnTo>
                    <a:lnTo>
                      <a:pt x="22040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148" name="Imagen 147">
            <a:extLst>
              <a:ext uri="{FF2B5EF4-FFF2-40B4-BE49-F238E27FC236}">
                <a16:creationId xmlns:a16="http://schemas.microsoft.com/office/drawing/2014/main" id="{A22FAE0B-79FE-6425-4528-BB575553C8EE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0616540" y="1429333"/>
            <a:ext cx="124210" cy="124210"/>
          </a:xfrm>
          <a:prstGeom prst="rect">
            <a:avLst/>
          </a:prstGeom>
        </p:spPr>
      </p:pic>
      <p:cxnSp>
        <p:nvCxnSpPr>
          <p:cNvPr id="3" name="Conector: curvado 2">
            <a:extLst>
              <a:ext uri="{FF2B5EF4-FFF2-40B4-BE49-F238E27FC236}">
                <a16:creationId xmlns:a16="http://schemas.microsoft.com/office/drawing/2014/main" id="{6AF64E59-88BD-79F6-A41A-B7F13D6E747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9223570" y="3809808"/>
            <a:ext cx="478700" cy="461780"/>
          </a:xfrm>
          <a:prstGeom prst="curvedConnector3">
            <a:avLst>
              <a:gd name="adj1" fmla="val 40904"/>
            </a:avLst>
          </a:prstGeom>
          <a:ln>
            <a:solidFill>
              <a:srgbClr val="8778F5"/>
            </a:solidFill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1D9083E8-214E-5C09-513B-518CA6836B41}"/>
                  </a:ext>
                </a:extLst>
              </p:cNvPr>
              <p:cNvSpPr txBox="1"/>
              <p:nvPr/>
            </p:nvSpPr>
            <p:spPr>
              <a:xfrm>
                <a:off x="9693810" y="3538971"/>
                <a:ext cx="2338524" cy="2275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̂"/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acc>
                      <m:d>
                        <m:dPr>
                          <m:ctrlPr>
                            <a:rPr lang="en-US" sz="14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=3</m:t>
                      </m:r>
                      <m:sSubSup>
                        <m:sSubSupPr>
                          <m:ctrlPr>
                            <a:rPr lang="en-US" sz="14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1400" i="1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sz="1400" i="1" smtClean="0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400" i="1" smtClean="0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+4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1400"/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1D9083E8-214E-5C09-513B-518CA6836B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3810" y="3538971"/>
                <a:ext cx="2338524" cy="227563"/>
              </a:xfrm>
              <a:prstGeom prst="rect">
                <a:avLst/>
              </a:prstGeom>
              <a:blipFill>
                <a:blip r:embed="rId5"/>
                <a:stretch>
                  <a:fillRect l="-1302" t="-16216" b="-324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3214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0A49227-957D-8E18-A56A-5CD7F345F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smtClean="0">
                <a:solidFill>
                  <a:schemeClr val="bg1"/>
                </a:solidFill>
              </a:rPr>
              <a:pPr/>
              <a:t>6</a:t>
            </a:fld>
            <a:endParaRPr lang="es-ES_tradnl">
              <a:solidFill>
                <a:schemeClr val="bg1"/>
              </a:solidFill>
            </a:endParaRPr>
          </a:p>
        </p:txBody>
      </p:sp>
      <p:grpSp>
        <p:nvGrpSpPr>
          <p:cNvPr id="12" name="Grupo 23">
            <a:extLst>
              <a:ext uri="{FF2B5EF4-FFF2-40B4-BE49-F238E27FC236}">
                <a16:creationId xmlns:a16="http://schemas.microsoft.com/office/drawing/2014/main" id="{77D56640-783A-FB55-0ECA-CBBFCB3DE9FB}"/>
              </a:ext>
            </a:extLst>
          </p:cNvPr>
          <p:cNvGrpSpPr/>
          <p:nvPr/>
        </p:nvGrpSpPr>
        <p:grpSpPr bwMode="auto">
          <a:xfrm>
            <a:off x="1593688" y="1398967"/>
            <a:ext cx="2891629" cy="3995689"/>
            <a:chOff x="660910" y="1181787"/>
            <a:chExt cx="2379087" cy="3469874"/>
          </a:xfrm>
          <a:solidFill>
            <a:srgbClr val="FFC000">
              <a:alpha val="10000"/>
            </a:srgbClr>
          </a:solidFill>
        </p:grpSpPr>
        <p:sp>
          <p:nvSpPr>
            <p:cNvPr id="13" name="Google Shape;1857;p37">
              <a:extLst>
                <a:ext uri="{FF2B5EF4-FFF2-40B4-BE49-F238E27FC236}">
                  <a16:creationId xmlns:a16="http://schemas.microsoft.com/office/drawing/2014/main" id="{E58C1A07-0D36-5179-6A8A-70F2409FCCD5}"/>
                </a:ext>
              </a:extLst>
            </p:cNvPr>
            <p:cNvSpPr/>
            <p:nvPr/>
          </p:nvSpPr>
          <p:spPr bwMode="auto">
            <a:xfrm>
              <a:off x="681668" y="1451261"/>
              <a:ext cx="2296438" cy="3200400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40">
                <a:buClr>
                  <a:srgbClr val="000000"/>
                </a:buClr>
                <a:defRPr/>
              </a:pPr>
              <a:endParaRPr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4" name="Google Shape;1859;p37">
              <a:extLst>
                <a:ext uri="{FF2B5EF4-FFF2-40B4-BE49-F238E27FC236}">
                  <a16:creationId xmlns:a16="http://schemas.microsoft.com/office/drawing/2014/main" id="{DBFA5AD9-E689-E232-5E5C-6878542BFBE3}"/>
                </a:ext>
              </a:extLst>
            </p:cNvPr>
            <p:cNvSpPr/>
            <p:nvPr/>
          </p:nvSpPr>
          <p:spPr bwMode="auto">
            <a:xfrm>
              <a:off x="660910" y="1181787"/>
              <a:ext cx="2379087" cy="354468"/>
            </a:xfrm>
            <a:prstGeom prst="roundRect">
              <a:avLst>
                <a:gd name="adj" fmla="val 50000"/>
              </a:avLst>
            </a:prstGeom>
            <a:solidFill>
              <a:srgbClr val="FFC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40">
                <a:buClr>
                  <a:srgbClr val="000000"/>
                </a:buClr>
                <a:defRPr/>
              </a:pPr>
              <a:r>
                <a:rPr lang="es-CO" b="1" kern="0">
                  <a:latin typeface="Fira Sans Extra Condensed"/>
                  <a:ea typeface="Fira Sans Extra Condensed"/>
                  <a:cs typeface="Fira Sans Extra Condensed"/>
                  <a:sym typeface="Arial"/>
                </a:rPr>
                <a:t>Input </a:t>
              </a:r>
              <a:r>
                <a:rPr lang="es-CO" b="1" kern="0" err="1">
                  <a:latin typeface="Fira Sans Extra Condensed"/>
                  <a:ea typeface="Fira Sans Extra Condensed"/>
                  <a:cs typeface="Fira Sans Extra Condensed"/>
                  <a:sym typeface="Arial"/>
                </a:rPr>
                <a:t>features</a:t>
              </a:r>
              <a:endParaRPr lang="es-CO" b="1" kern="0">
                <a:latin typeface="Fira Sans Extra Condensed"/>
                <a:ea typeface="Fira Sans Extra Condensed"/>
                <a:cs typeface="Fira Sans Extra Condensed"/>
                <a:sym typeface="Arial"/>
              </a:endParaRPr>
            </a:p>
          </p:txBody>
        </p:sp>
      </p:grpSp>
      <p:grpSp>
        <p:nvGrpSpPr>
          <p:cNvPr id="15" name="Google Shape;1862;p37">
            <a:extLst>
              <a:ext uri="{FF2B5EF4-FFF2-40B4-BE49-F238E27FC236}">
                <a16:creationId xmlns:a16="http://schemas.microsoft.com/office/drawing/2014/main" id="{7A4C6183-0548-9423-CC5D-2C7B7224BD57}"/>
              </a:ext>
            </a:extLst>
          </p:cNvPr>
          <p:cNvGrpSpPr/>
          <p:nvPr/>
        </p:nvGrpSpPr>
        <p:grpSpPr bwMode="auto">
          <a:xfrm>
            <a:off x="1529357" y="1513086"/>
            <a:ext cx="3217411" cy="3753316"/>
            <a:chOff x="556110" y="1374967"/>
            <a:chExt cx="2538702" cy="3139982"/>
          </a:xfrm>
        </p:grpSpPr>
        <p:sp>
          <p:nvSpPr>
            <p:cNvPr id="16" name="Google Shape;1863;p37">
              <a:extLst>
                <a:ext uri="{FF2B5EF4-FFF2-40B4-BE49-F238E27FC236}">
                  <a16:creationId xmlns:a16="http://schemas.microsoft.com/office/drawing/2014/main" id="{B5E7E1DD-6D23-C965-78A6-38C61A211A5E}"/>
                </a:ext>
              </a:extLst>
            </p:cNvPr>
            <p:cNvSpPr txBox="1"/>
            <p:nvPr/>
          </p:nvSpPr>
          <p:spPr bwMode="auto">
            <a:xfrm>
              <a:off x="556110" y="1374967"/>
              <a:ext cx="22404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40">
                <a:buClr>
                  <a:srgbClr val="000000"/>
                </a:buClr>
                <a:defRPr/>
              </a:pPr>
              <a:endParaRPr sz="2000" b="1" kern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Arial"/>
              </a:endParaRPr>
            </a:p>
          </p:txBody>
        </p:sp>
        <p:grpSp>
          <p:nvGrpSpPr>
            <p:cNvPr id="17" name="Google Shape;1864;p37">
              <a:extLst>
                <a:ext uri="{FF2B5EF4-FFF2-40B4-BE49-F238E27FC236}">
                  <a16:creationId xmlns:a16="http://schemas.microsoft.com/office/drawing/2014/main" id="{98B2522C-0CD5-6A55-F4F9-CD7FBB454E40}"/>
                </a:ext>
              </a:extLst>
            </p:cNvPr>
            <p:cNvGrpSpPr/>
            <p:nvPr/>
          </p:nvGrpSpPr>
          <p:grpSpPr bwMode="auto">
            <a:xfrm>
              <a:off x="871183" y="1920820"/>
              <a:ext cx="2223629" cy="1158683"/>
              <a:chOff x="877709" y="2248945"/>
              <a:chExt cx="2223629" cy="1158683"/>
            </a:xfrm>
          </p:grpSpPr>
          <p:sp>
            <p:nvSpPr>
              <p:cNvPr id="21" name="Google Shape;1865;p37">
                <a:extLst>
                  <a:ext uri="{FF2B5EF4-FFF2-40B4-BE49-F238E27FC236}">
                    <a16:creationId xmlns:a16="http://schemas.microsoft.com/office/drawing/2014/main" id="{F27FA9A8-4649-E2A7-FF5D-B09DD27DBACE}"/>
                  </a:ext>
                </a:extLst>
              </p:cNvPr>
              <p:cNvSpPr txBox="1"/>
              <p:nvPr/>
            </p:nvSpPr>
            <p:spPr bwMode="auto">
              <a:xfrm>
                <a:off x="968466" y="2248945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40">
                  <a:buClr>
                    <a:srgbClr val="000000"/>
                  </a:buClr>
                  <a:defRPr/>
                </a:pPr>
                <a:r>
                  <a:rPr lang="en" b="1" kern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Arial"/>
                  </a:rPr>
                  <a:t>Variable (19)</a:t>
                </a:r>
                <a:endParaRPr b="1" kern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Arial"/>
                </a:endParaRPr>
              </a:p>
            </p:txBody>
          </p:sp>
          <p:sp>
            <p:nvSpPr>
              <p:cNvPr id="22" name="Google Shape;1866;p37">
                <a:extLst>
                  <a:ext uri="{FF2B5EF4-FFF2-40B4-BE49-F238E27FC236}">
                    <a16:creationId xmlns:a16="http://schemas.microsoft.com/office/drawing/2014/main" id="{2C0FD058-5D91-C8C0-F65A-C8E6FFC8A9B2}"/>
                  </a:ext>
                </a:extLst>
              </p:cNvPr>
              <p:cNvSpPr txBox="1"/>
              <p:nvPr/>
            </p:nvSpPr>
            <p:spPr bwMode="auto">
              <a:xfrm>
                <a:off x="877709" y="2550901"/>
                <a:ext cx="2223629" cy="85672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pPr marL="187325" indent="-184150" defTabSz="1219140">
                  <a:buClr>
                    <a:srgbClr val="000000"/>
                  </a:buClr>
                  <a:buSzPts val="1400"/>
                  <a:buFont typeface="Arial" panose="020B0604020202020204" pitchFamily="34" charset="0"/>
                  <a:buChar char="•"/>
                  <a:defRPr/>
                </a:pPr>
                <a:r>
                  <a:rPr lang="en" sz="1600" kern="0">
                    <a:solidFill>
                      <a:srgbClr val="000000"/>
                    </a:solidFill>
                    <a:latin typeface="+mj-lt"/>
                    <a:ea typeface="Roboto"/>
                    <a:cs typeface="Roboto"/>
                    <a:sym typeface="Arial"/>
                  </a:rPr>
                  <a:t>Operating conditions (7)</a:t>
                </a:r>
                <a:endParaRPr sz="1600" kern="0">
                  <a:solidFill>
                    <a:srgbClr val="000000"/>
                  </a:solidFill>
                  <a:latin typeface="+mj-lt"/>
                  <a:ea typeface="Roboto"/>
                  <a:cs typeface="Roboto"/>
                  <a:sym typeface="Arial"/>
                </a:endParaRPr>
              </a:p>
              <a:p>
                <a:pPr marL="187325" indent="-184150" defTabSz="1219140">
                  <a:buClr>
                    <a:srgbClr val="000000"/>
                  </a:buClr>
                  <a:buSzPts val="1400"/>
                  <a:buFont typeface="Arial" panose="020B0604020202020204" pitchFamily="34" charset="0"/>
                  <a:buChar char="•"/>
                  <a:defRPr/>
                </a:pPr>
                <a:r>
                  <a:rPr lang="en" sz="1600" kern="0">
                    <a:solidFill>
                      <a:srgbClr val="000000"/>
                    </a:solidFill>
                    <a:latin typeface="+mj-lt"/>
                    <a:ea typeface="Roboto"/>
                    <a:cs typeface="Roboto"/>
                    <a:sym typeface="Arial"/>
                  </a:rPr>
                  <a:t>Undetermined physical parameters (12)</a:t>
                </a:r>
                <a:endParaRPr sz="1600" kern="0">
                  <a:solidFill>
                    <a:srgbClr val="000000"/>
                  </a:solidFill>
                  <a:latin typeface="+mj-lt"/>
                  <a:ea typeface="Roboto"/>
                  <a:cs typeface="Roboto"/>
                  <a:sym typeface="Arial"/>
                </a:endParaRPr>
              </a:p>
            </p:txBody>
          </p:sp>
        </p:grpSp>
        <p:grpSp>
          <p:nvGrpSpPr>
            <p:cNvPr id="18" name="Google Shape;1867;p37">
              <a:extLst>
                <a:ext uri="{FF2B5EF4-FFF2-40B4-BE49-F238E27FC236}">
                  <a16:creationId xmlns:a16="http://schemas.microsoft.com/office/drawing/2014/main" id="{4B5AEA9B-DC63-355E-26F8-8DFBFCC29895}"/>
                </a:ext>
              </a:extLst>
            </p:cNvPr>
            <p:cNvGrpSpPr/>
            <p:nvPr/>
          </p:nvGrpSpPr>
          <p:grpSpPr bwMode="auto">
            <a:xfrm>
              <a:off x="921580" y="3203873"/>
              <a:ext cx="2166680" cy="1311076"/>
              <a:chOff x="928105" y="1892048"/>
              <a:chExt cx="2166680" cy="1311076"/>
            </a:xfrm>
          </p:grpSpPr>
          <p:sp>
            <p:nvSpPr>
              <p:cNvPr id="19" name="Google Shape;1868;p37">
                <a:extLst>
                  <a:ext uri="{FF2B5EF4-FFF2-40B4-BE49-F238E27FC236}">
                    <a16:creationId xmlns:a16="http://schemas.microsoft.com/office/drawing/2014/main" id="{3996637E-8C04-44FC-1212-4BCE9DCD3935}"/>
                  </a:ext>
                </a:extLst>
              </p:cNvPr>
              <p:cNvSpPr txBox="1"/>
              <p:nvPr/>
            </p:nvSpPr>
            <p:spPr bwMode="auto">
              <a:xfrm>
                <a:off x="980385" y="1892048"/>
                <a:ext cx="2114400" cy="33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40">
                  <a:buClr>
                    <a:srgbClr val="000000"/>
                  </a:buClr>
                  <a:defRPr/>
                </a:pPr>
                <a:r>
                  <a:rPr lang="en" b="1" kern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Arial"/>
                  </a:rPr>
                  <a:t>Fixed (14)</a:t>
                </a:r>
                <a:endParaRPr b="1" kern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Arial"/>
                </a:endParaRPr>
              </a:p>
            </p:txBody>
          </p:sp>
          <p:sp>
            <p:nvSpPr>
              <p:cNvPr id="20" name="Google Shape;1869;p37">
                <a:extLst>
                  <a:ext uri="{FF2B5EF4-FFF2-40B4-BE49-F238E27FC236}">
                    <a16:creationId xmlns:a16="http://schemas.microsoft.com/office/drawing/2014/main" id="{6570ED8F-8FB0-76B7-7EE4-59FA3848DD41}"/>
                  </a:ext>
                </a:extLst>
              </p:cNvPr>
              <p:cNvSpPr txBox="1"/>
              <p:nvPr/>
            </p:nvSpPr>
            <p:spPr bwMode="auto">
              <a:xfrm>
                <a:off x="928105" y="2133344"/>
                <a:ext cx="2098990" cy="1069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noAutofit/>
              </a:bodyPr>
              <a:lstStyle/>
              <a:p>
                <a:pPr marL="187325" indent="-184150" defTabSz="1219140">
                  <a:buClr>
                    <a:srgbClr val="000000"/>
                  </a:buClr>
                  <a:buSzPts val="1400"/>
                  <a:buFont typeface="Arial" panose="020B0604020202020204" pitchFamily="34" charset="0"/>
                  <a:buChar char="•"/>
                  <a:defRPr/>
                </a:pPr>
                <a:r>
                  <a:rPr lang="en" sz="1600" kern="0" err="1">
                    <a:solidFill>
                      <a:srgbClr val="000000"/>
                    </a:solidFill>
                    <a:latin typeface="+mj-lt"/>
                    <a:ea typeface="Roboto"/>
                    <a:cs typeface="Roboto"/>
                    <a:sym typeface="Arial"/>
                  </a:rPr>
                  <a:t>Accesible</a:t>
                </a:r>
                <a:r>
                  <a:rPr lang="en" sz="1600" kern="0">
                    <a:solidFill>
                      <a:srgbClr val="000000"/>
                    </a:solidFill>
                    <a:latin typeface="+mj-lt"/>
                    <a:ea typeface="Roboto"/>
                    <a:cs typeface="Roboto"/>
                    <a:sym typeface="Arial"/>
                  </a:rPr>
                  <a:t> physical parameters (7)</a:t>
                </a:r>
                <a:endParaRPr sz="1600" kern="0">
                  <a:solidFill>
                    <a:srgbClr val="000000"/>
                  </a:solidFill>
                  <a:latin typeface="+mj-lt"/>
                  <a:ea typeface="Roboto"/>
                  <a:cs typeface="Roboto"/>
                  <a:sym typeface="Arial"/>
                </a:endParaRPr>
              </a:p>
              <a:p>
                <a:pPr marL="187325" indent="-184150" defTabSz="1219140">
                  <a:buClr>
                    <a:srgbClr val="000000"/>
                  </a:buClr>
                  <a:buSzPts val="1400"/>
                  <a:buFont typeface="Arial" panose="020B0604020202020204" pitchFamily="34" charset="0"/>
                  <a:buChar char="•"/>
                  <a:defRPr/>
                </a:pPr>
                <a:r>
                  <a:rPr lang="en" sz="1600" kern="0">
                    <a:solidFill>
                      <a:srgbClr val="000000"/>
                    </a:solidFill>
                    <a:latin typeface="+mj-lt"/>
                    <a:ea typeface="Roboto"/>
                    <a:cs typeface="Roboto"/>
                    <a:sym typeface="Arial"/>
                  </a:rPr>
                  <a:t>Current density parameters (7)</a:t>
                </a:r>
                <a:endParaRPr lang="es-CO" sz="1600" kern="0">
                  <a:solidFill>
                    <a:srgbClr val="000000"/>
                  </a:solidFill>
                  <a:latin typeface="+mj-lt"/>
                  <a:ea typeface="Roboto"/>
                  <a:cs typeface="Roboto"/>
                  <a:sym typeface="Arial"/>
                </a:endParaRPr>
              </a:p>
            </p:txBody>
          </p:sp>
        </p:grpSp>
      </p:grpSp>
      <p:sp>
        <p:nvSpPr>
          <p:cNvPr id="30" name="Abrir llave 25">
            <a:extLst>
              <a:ext uri="{FF2B5EF4-FFF2-40B4-BE49-F238E27FC236}">
                <a16:creationId xmlns:a16="http://schemas.microsoft.com/office/drawing/2014/main" id="{366BA0B6-F287-E424-57CC-57E897FE1E55}"/>
              </a:ext>
            </a:extLst>
          </p:cNvPr>
          <p:cNvSpPr/>
          <p:nvPr/>
        </p:nvSpPr>
        <p:spPr bwMode="auto">
          <a:xfrm>
            <a:off x="1707848" y="2224882"/>
            <a:ext cx="369802" cy="1214365"/>
          </a:xfrm>
          <a:prstGeom prst="leftBrace">
            <a:avLst>
              <a:gd name="adj1" fmla="val 8333"/>
              <a:gd name="adj2" fmla="val 50000"/>
            </a:avLst>
          </a:prstGeom>
          <a:noFill/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1219140">
              <a:buClr>
                <a:srgbClr val="000000"/>
              </a:buClr>
              <a:defRPr/>
            </a:pPr>
            <a:endParaRPr lang="de-DE" kern="0">
              <a:solidFill>
                <a:srgbClr val="000000"/>
              </a:solidFill>
              <a:latin typeface="Arial"/>
              <a:sym typeface="Arial"/>
            </a:endParaRP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CA1BCA7B-9F9C-13C7-F2BE-F7D427E1B062}"/>
              </a:ext>
            </a:extLst>
          </p:cNvPr>
          <p:cNvGrpSpPr/>
          <p:nvPr/>
        </p:nvGrpSpPr>
        <p:grpSpPr>
          <a:xfrm>
            <a:off x="4381811" y="1341913"/>
            <a:ext cx="3558001" cy="3844172"/>
            <a:chOff x="4355041" y="1649147"/>
            <a:chExt cx="3928981" cy="4229960"/>
          </a:xfrm>
        </p:grpSpPr>
        <p:grpSp>
          <p:nvGrpSpPr>
            <p:cNvPr id="32" name="Grupo 39">
              <a:extLst>
                <a:ext uri="{FF2B5EF4-FFF2-40B4-BE49-F238E27FC236}">
                  <a16:creationId xmlns:a16="http://schemas.microsoft.com/office/drawing/2014/main" id="{03F462C0-9D55-5F36-7B36-3DCCB4B2F978}"/>
                </a:ext>
              </a:extLst>
            </p:cNvPr>
            <p:cNvGrpSpPr/>
            <p:nvPr/>
          </p:nvGrpSpPr>
          <p:grpSpPr bwMode="auto">
            <a:xfrm>
              <a:off x="4355041" y="1649147"/>
              <a:ext cx="3928981" cy="4229960"/>
              <a:chOff x="3718053" y="1350067"/>
              <a:chExt cx="4687667" cy="5186281"/>
            </a:xfrm>
          </p:grpSpPr>
          <p:sp>
            <p:nvSpPr>
              <p:cNvPr id="33" name="Google Shape;530;p20">
                <a:extLst>
                  <a:ext uri="{FF2B5EF4-FFF2-40B4-BE49-F238E27FC236}">
                    <a16:creationId xmlns:a16="http://schemas.microsoft.com/office/drawing/2014/main" id="{31F3468D-A8A8-4EBC-35BE-022C6308B08A}"/>
                  </a:ext>
                </a:extLst>
              </p:cNvPr>
              <p:cNvSpPr/>
              <p:nvPr/>
            </p:nvSpPr>
            <p:spPr bwMode="auto">
              <a:xfrm>
                <a:off x="3718053" y="4046681"/>
                <a:ext cx="330400" cy="3304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10">
                  <a:buClr>
                    <a:srgbClr val="000000"/>
                  </a:buClr>
                  <a:defRPr/>
                </a:pPr>
                <a:endParaRPr sz="2400" b="1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Arial"/>
                </a:endParaRPr>
              </a:p>
            </p:txBody>
          </p:sp>
          <p:sp>
            <p:nvSpPr>
              <p:cNvPr id="34" name="Google Shape;531;p20">
                <a:extLst>
                  <a:ext uri="{FF2B5EF4-FFF2-40B4-BE49-F238E27FC236}">
                    <a16:creationId xmlns:a16="http://schemas.microsoft.com/office/drawing/2014/main" id="{110FEF52-DE9F-29B1-C6FD-E4399DE5885A}"/>
                  </a:ext>
                </a:extLst>
              </p:cNvPr>
              <p:cNvSpPr/>
              <p:nvPr/>
            </p:nvSpPr>
            <p:spPr bwMode="auto">
              <a:xfrm>
                <a:off x="7929336" y="2551514"/>
                <a:ext cx="330400" cy="3304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10">
                  <a:buClr>
                    <a:srgbClr val="000000"/>
                  </a:buClr>
                  <a:defRPr/>
                </a:pPr>
                <a:endParaRPr sz="2400" b="1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Arial"/>
                </a:endParaRPr>
              </a:p>
            </p:txBody>
          </p:sp>
          <p:sp>
            <p:nvSpPr>
              <p:cNvPr id="35" name="Google Shape;532;p20">
                <a:extLst>
                  <a:ext uri="{FF2B5EF4-FFF2-40B4-BE49-F238E27FC236}">
                    <a16:creationId xmlns:a16="http://schemas.microsoft.com/office/drawing/2014/main" id="{3BE9D48E-D157-E5B8-7408-82CF05071A0C}"/>
                  </a:ext>
                </a:extLst>
              </p:cNvPr>
              <p:cNvSpPr/>
              <p:nvPr/>
            </p:nvSpPr>
            <p:spPr bwMode="auto">
              <a:xfrm>
                <a:off x="4686137" y="2458993"/>
                <a:ext cx="2833738" cy="4077355"/>
              </a:xfrm>
              <a:custGeom>
                <a:avLst/>
                <a:gdLst/>
                <a:ahLst/>
                <a:cxnLst/>
                <a:rect l="l" t="t" r="r" b="b"/>
                <a:pathLst>
                  <a:path w="49706" h="71520" extrusionOk="0">
                    <a:moveTo>
                      <a:pt x="2960" y="0"/>
                    </a:moveTo>
                    <a:lnTo>
                      <a:pt x="2789" y="14"/>
                    </a:lnTo>
                    <a:lnTo>
                      <a:pt x="2604" y="43"/>
                    </a:lnTo>
                    <a:lnTo>
                      <a:pt x="2434" y="85"/>
                    </a:lnTo>
                    <a:lnTo>
                      <a:pt x="2263" y="128"/>
                    </a:lnTo>
                    <a:lnTo>
                      <a:pt x="2106" y="171"/>
                    </a:lnTo>
                    <a:lnTo>
                      <a:pt x="1936" y="242"/>
                    </a:lnTo>
                    <a:lnTo>
                      <a:pt x="1779" y="313"/>
                    </a:lnTo>
                    <a:lnTo>
                      <a:pt x="1637" y="384"/>
                    </a:lnTo>
                    <a:lnTo>
                      <a:pt x="1480" y="470"/>
                    </a:lnTo>
                    <a:lnTo>
                      <a:pt x="1338" y="569"/>
                    </a:lnTo>
                    <a:lnTo>
                      <a:pt x="1210" y="669"/>
                    </a:lnTo>
                    <a:lnTo>
                      <a:pt x="1082" y="783"/>
                    </a:lnTo>
                    <a:lnTo>
                      <a:pt x="954" y="897"/>
                    </a:lnTo>
                    <a:lnTo>
                      <a:pt x="840" y="1010"/>
                    </a:lnTo>
                    <a:lnTo>
                      <a:pt x="726" y="1138"/>
                    </a:lnTo>
                    <a:lnTo>
                      <a:pt x="555" y="1352"/>
                    </a:lnTo>
                    <a:lnTo>
                      <a:pt x="413" y="1580"/>
                    </a:lnTo>
                    <a:lnTo>
                      <a:pt x="299" y="1807"/>
                    </a:lnTo>
                    <a:lnTo>
                      <a:pt x="185" y="2063"/>
                    </a:lnTo>
                    <a:lnTo>
                      <a:pt x="114" y="2320"/>
                    </a:lnTo>
                    <a:lnTo>
                      <a:pt x="43" y="2590"/>
                    </a:lnTo>
                    <a:lnTo>
                      <a:pt x="15" y="2860"/>
                    </a:lnTo>
                    <a:lnTo>
                      <a:pt x="0" y="3145"/>
                    </a:lnTo>
                    <a:lnTo>
                      <a:pt x="0" y="43529"/>
                    </a:lnTo>
                    <a:lnTo>
                      <a:pt x="15" y="44042"/>
                    </a:lnTo>
                    <a:lnTo>
                      <a:pt x="57" y="44554"/>
                    </a:lnTo>
                    <a:lnTo>
                      <a:pt x="128" y="45080"/>
                    </a:lnTo>
                    <a:lnTo>
                      <a:pt x="228" y="45607"/>
                    </a:lnTo>
                    <a:lnTo>
                      <a:pt x="356" y="46133"/>
                    </a:lnTo>
                    <a:lnTo>
                      <a:pt x="498" y="46660"/>
                    </a:lnTo>
                    <a:lnTo>
                      <a:pt x="669" y="47201"/>
                    </a:lnTo>
                    <a:lnTo>
                      <a:pt x="868" y="47741"/>
                    </a:lnTo>
                    <a:lnTo>
                      <a:pt x="1082" y="48282"/>
                    </a:lnTo>
                    <a:lnTo>
                      <a:pt x="1324" y="48823"/>
                    </a:lnTo>
                    <a:lnTo>
                      <a:pt x="1594" y="49364"/>
                    </a:lnTo>
                    <a:lnTo>
                      <a:pt x="1864" y="49904"/>
                    </a:lnTo>
                    <a:lnTo>
                      <a:pt x="2163" y="50445"/>
                    </a:lnTo>
                    <a:lnTo>
                      <a:pt x="2491" y="50986"/>
                    </a:lnTo>
                    <a:lnTo>
                      <a:pt x="2818" y="51527"/>
                    </a:lnTo>
                    <a:lnTo>
                      <a:pt x="3174" y="52082"/>
                    </a:lnTo>
                    <a:lnTo>
                      <a:pt x="3529" y="52622"/>
                    </a:lnTo>
                    <a:lnTo>
                      <a:pt x="3914" y="53163"/>
                    </a:lnTo>
                    <a:lnTo>
                      <a:pt x="4312" y="53690"/>
                    </a:lnTo>
                    <a:lnTo>
                      <a:pt x="4710" y="54230"/>
                    </a:lnTo>
                    <a:lnTo>
                      <a:pt x="5137" y="54771"/>
                    </a:lnTo>
                    <a:lnTo>
                      <a:pt x="5564" y="55298"/>
                    </a:lnTo>
                    <a:lnTo>
                      <a:pt x="5991" y="55824"/>
                    </a:lnTo>
                    <a:lnTo>
                      <a:pt x="6446" y="56351"/>
                    </a:lnTo>
                    <a:lnTo>
                      <a:pt x="7357" y="57389"/>
                    </a:lnTo>
                    <a:lnTo>
                      <a:pt x="8311" y="58400"/>
                    </a:lnTo>
                    <a:lnTo>
                      <a:pt x="9264" y="59396"/>
                    </a:lnTo>
                    <a:lnTo>
                      <a:pt x="10246" y="60363"/>
                    </a:lnTo>
                    <a:lnTo>
                      <a:pt x="11213" y="61317"/>
                    </a:lnTo>
                    <a:lnTo>
                      <a:pt x="12195" y="62228"/>
                    </a:lnTo>
                    <a:lnTo>
                      <a:pt x="13149" y="63096"/>
                    </a:lnTo>
                    <a:lnTo>
                      <a:pt x="14102" y="63935"/>
                    </a:lnTo>
                    <a:lnTo>
                      <a:pt x="15013" y="64746"/>
                    </a:lnTo>
                    <a:lnTo>
                      <a:pt x="15909" y="65500"/>
                    </a:lnTo>
                    <a:lnTo>
                      <a:pt x="16763" y="66212"/>
                    </a:lnTo>
                    <a:lnTo>
                      <a:pt x="17560" y="66881"/>
                    </a:lnTo>
                    <a:lnTo>
                      <a:pt x="19011" y="68048"/>
                    </a:lnTo>
                    <a:lnTo>
                      <a:pt x="20178" y="68987"/>
                    </a:lnTo>
                    <a:lnTo>
                      <a:pt x="21032" y="69670"/>
                    </a:lnTo>
                    <a:lnTo>
                      <a:pt x="21317" y="69897"/>
                    </a:lnTo>
                    <a:lnTo>
                      <a:pt x="21487" y="70068"/>
                    </a:lnTo>
                    <a:lnTo>
                      <a:pt x="21672" y="70239"/>
                    </a:lnTo>
                    <a:lnTo>
                      <a:pt x="21872" y="70410"/>
                    </a:lnTo>
                    <a:lnTo>
                      <a:pt x="22071" y="70566"/>
                    </a:lnTo>
                    <a:lnTo>
                      <a:pt x="22270" y="70709"/>
                    </a:lnTo>
                    <a:lnTo>
                      <a:pt x="22484" y="70837"/>
                    </a:lnTo>
                    <a:lnTo>
                      <a:pt x="22697" y="70950"/>
                    </a:lnTo>
                    <a:lnTo>
                      <a:pt x="22910" y="71064"/>
                    </a:lnTo>
                    <a:lnTo>
                      <a:pt x="23138" y="71164"/>
                    </a:lnTo>
                    <a:lnTo>
                      <a:pt x="23366" y="71249"/>
                    </a:lnTo>
                    <a:lnTo>
                      <a:pt x="23593" y="71320"/>
                    </a:lnTo>
                    <a:lnTo>
                      <a:pt x="23821" y="71377"/>
                    </a:lnTo>
                    <a:lnTo>
                      <a:pt x="24049" y="71434"/>
                    </a:lnTo>
                    <a:lnTo>
                      <a:pt x="24291" y="71477"/>
                    </a:lnTo>
                    <a:lnTo>
                      <a:pt x="24533" y="71505"/>
                    </a:lnTo>
                    <a:lnTo>
                      <a:pt x="24760" y="71520"/>
                    </a:lnTo>
                    <a:lnTo>
                      <a:pt x="25244" y="71520"/>
                    </a:lnTo>
                    <a:lnTo>
                      <a:pt x="25472" y="71505"/>
                    </a:lnTo>
                    <a:lnTo>
                      <a:pt x="25714" y="71477"/>
                    </a:lnTo>
                    <a:lnTo>
                      <a:pt x="25956" y="71434"/>
                    </a:lnTo>
                    <a:lnTo>
                      <a:pt x="26183" y="71377"/>
                    </a:lnTo>
                    <a:lnTo>
                      <a:pt x="26411" y="71320"/>
                    </a:lnTo>
                    <a:lnTo>
                      <a:pt x="26639" y="71249"/>
                    </a:lnTo>
                    <a:lnTo>
                      <a:pt x="26866" y="71164"/>
                    </a:lnTo>
                    <a:lnTo>
                      <a:pt x="27094" y="71064"/>
                    </a:lnTo>
                    <a:lnTo>
                      <a:pt x="27307" y="70950"/>
                    </a:lnTo>
                    <a:lnTo>
                      <a:pt x="27521" y="70837"/>
                    </a:lnTo>
                    <a:lnTo>
                      <a:pt x="27734" y="70709"/>
                    </a:lnTo>
                    <a:lnTo>
                      <a:pt x="27934" y="70566"/>
                    </a:lnTo>
                    <a:lnTo>
                      <a:pt x="28133" y="70410"/>
                    </a:lnTo>
                    <a:lnTo>
                      <a:pt x="28318" y="70253"/>
                    </a:lnTo>
                    <a:lnTo>
                      <a:pt x="28503" y="70068"/>
                    </a:lnTo>
                    <a:lnTo>
                      <a:pt x="28645" y="69926"/>
                    </a:lnTo>
                    <a:lnTo>
                      <a:pt x="28787" y="69798"/>
                    </a:lnTo>
                    <a:lnTo>
                      <a:pt x="29001" y="69613"/>
                    </a:lnTo>
                    <a:lnTo>
                      <a:pt x="29627" y="69101"/>
                    </a:lnTo>
                    <a:lnTo>
                      <a:pt x="31548" y="67535"/>
                    </a:lnTo>
                    <a:lnTo>
                      <a:pt x="32786" y="66511"/>
                    </a:lnTo>
                    <a:lnTo>
                      <a:pt x="34166" y="65344"/>
                    </a:lnTo>
                    <a:lnTo>
                      <a:pt x="35646" y="64049"/>
                    </a:lnTo>
                    <a:lnTo>
                      <a:pt x="36415" y="63352"/>
                    </a:lnTo>
                    <a:lnTo>
                      <a:pt x="37197" y="62640"/>
                    </a:lnTo>
                    <a:lnTo>
                      <a:pt x="37994" y="61900"/>
                    </a:lnTo>
                    <a:lnTo>
                      <a:pt x="38791" y="61132"/>
                    </a:lnTo>
                    <a:lnTo>
                      <a:pt x="39602" y="60335"/>
                    </a:lnTo>
                    <a:lnTo>
                      <a:pt x="40399" y="59538"/>
                    </a:lnTo>
                    <a:lnTo>
                      <a:pt x="41196" y="58713"/>
                    </a:lnTo>
                    <a:lnTo>
                      <a:pt x="41978" y="57873"/>
                    </a:lnTo>
                    <a:lnTo>
                      <a:pt x="42747" y="57019"/>
                    </a:lnTo>
                    <a:lnTo>
                      <a:pt x="43487" y="56151"/>
                    </a:lnTo>
                    <a:lnTo>
                      <a:pt x="44213" y="55269"/>
                    </a:lnTo>
                    <a:lnTo>
                      <a:pt x="44910" y="54373"/>
                    </a:lnTo>
                    <a:lnTo>
                      <a:pt x="45579" y="53490"/>
                    </a:lnTo>
                    <a:lnTo>
                      <a:pt x="46219" y="52580"/>
                    </a:lnTo>
                    <a:lnTo>
                      <a:pt x="46518" y="52139"/>
                    </a:lnTo>
                    <a:lnTo>
                      <a:pt x="46817" y="51683"/>
                    </a:lnTo>
                    <a:lnTo>
                      <a:pt x="47087" y="51228"/>
                    </a:lnTo>
                    <a:lnTo>
                      <a:pt x="47357" y="50772"/>
                    </a:lnTo>
                    <a:lnTo>
                      <a:pt x="47614" y="50331"/>
                    </a:lnTo>
                    <a:lnTo>
                      <a:pt x="47870" y="49876"/>
                    </a:lnTo>
                    <a:lnTo>
                      <a:pt x="48097" y="49421"/>
                    </a:lnTo>
                    <a:lnTo>
                      <a:pt x="48311" y="48965"/>
                    </a:lnTo>
                    <a:lnTo>
                      <a:pt x="48624" y="48268"/>
                    </a:lnTo>
                    <a:lnTo>
                      <a:pt x="48894" y="47585"/>
                    </a:lnTo>
                    <a:lnTo>
                      <a:pt x="49022" y="47229"/>
                    </a:lnTo>
                    <a:lnTo>
                      <a:pt x="49136" y="46888"/>
                    </a:lnTo>
                    <a:lnTo>
                      <a:pt x="49250" y="46546"/>
                    </a:lnTo>
                    <a:lnTo>
                      <a:pt x="49335" y="46205"/>
                    </a:lnTo>
                    <a:lnTo>
                      <a:pt x="49421" y="45863"/>
                    </a:lnTo>
                    <a:lnTo>
                      <a:pt x="49492" y="45522"/>
                    </a:lnTo>
                    <a:lnTo>
                      <a:pt x="49563" y="45194"/>
                    </a:lnTo>
                    <a:lnTo>
                      <a:pt x="49606" y="44853"/>
                    </a:lnTo>
                    <a:lnTo>
                      <a:pt x="49648" y="44526"/>
                    </a:lnTo>
                    <a:lnTo>
                      <a:pt x="49677" y="44184"/>
                    </a:lnTo>
                    <a:lnTo>
                      <a:pt x="49705" y="43857"/>
                    </a:lnTo>
                    <a:lnTo>
                      <a:pt x="49705" y="43529"/>
                    </a:lnTo>
                    <a:lnTo>
                      <a:pt x="49705" y="3145"/>
                    </a:lnTo>
                    <a:lnTo>
                      <a:pt x="49691" y="2818"/>
                    </a:lnTo>
                    <a:lnTo>
                      <a:pt x="49648" y="2505"/>
                    </a:lnTo>
                    <a:lnTo>
                      <a:pt x="49563" y="2206"/>
                    </a:lnTo>
                    <a:lnTo>
                      <a:pt x="49463" y="1921"/>
                    </a:lnTo>
                    <a:lnTo>
                      <a:pt x="49321" y="1651"/>
                    </a:lnTo>
                    <a:lnTo>
                      <a:pt x="49165" y="1380"/>
                    </a:lnTo>
                    <a:lnTo>
                      <a:pt x="48994" y="1138"/>
                    </a:lnTo>
                    <a:lnTo>
                      <a:pt x="48780" y="925"/>
                    </a:lnTo>
                    <a:lnTo>
                      <a:pt x="48567" y="712"/>
                    </a:lnTo>
                    <a:lnTo>
                      <a:pt x="48325" y="541"/>
                    </a:lnTo>
                    <a:lnTo>
                      <a:pt x="48055" y="384"/>
                    </a:lnTo>
                    <a:lnTo>
                      <a:pt x="47784" y="242"/>
                    </a:lnTo>
                    <a:lnTo>
                      <a:pt x="47500" y="142"/>
                    </a:lnTo>
                    <a:lnTo>
                      <a:pt x="47201" y="57"/>
                    </a:lnTo>
                    <a:lnTo>
                      <a:pt x="46888" y="14"/>
                    </a:lnTo>
                    <a:lnTo>
                      <a:pt x="46561" y="0"/>
                    </a:lnTo>
                    <a:close/>
                  </a:path>
                </a:pathLst>
              </a:custGeom>
              <a:solidFill>
                <a:srgbClr val="2776EA">
                  <a:alpha val="1254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6" name="Google Shape;533;p20">
                <a:extLst>
                  <a:ext uri="{FF2B5EF4-FFF2-40B4-BE49-F238E27FC236}">
                    <a16:creationId xmlns:a16="http://schemas.microsoft.com/office/drawing/2014/main" id="{7DAAD90E-3CB1-2F11-CDF2-E189DB37C629}"/>
                  </a:ext>
                </a:extLst>
              </p:cNvPr>
              <p:cNvSpPr/>
              <p:nvPr/>
            </p:nvSpPr>
            <p:spPr bwMode="auto">
              <a:xfrm>
                <a:off x="4678689" y="2163798"/>
                <a:ext cx="2833738" cy="4077355"/>
              </a:xfrm>
              <a:custGeom>
                <a:avLst/>
                <a:gdLst/>
                <a:ahLst/>
                <a:cxnLst/>
                <a:rect l="l" t="t" r="r" b="b"/>
                <a:pathLst>
                  <a:path w="49706" h="71520" fill="none" extrusionOk="0">
                    <a:moveTo>
                      <a:pt x="46561" y="0"/>
                    </a:moveTo>
                    <a:lnTo>
                      <a:pt x="3145" y="0"/>
                    </a:lnTo>
                    <a:lnTo>
                      <a:pt x="3145" y="0"/>
                    </a:lnTo>
                    <a:lnTo>
                      <a:pt x="2960" y="0"/>
                    </a:lnTo>
                    <a:lnTo>
                      <a:pt x="2789" y="14"/>
                    </a:lnTo>
                    <a:lnTo>
                      <a:pt x="2604" y="43"/>
                    </a:lnTo>
                    <a:lnTo>
                      <a:pt x="2434" y="85"/>
                    </a:lnTo>
                    <a:lnTo>
                      <a:pt x="2263" y="128"/>
                    </a:lnTo>
                    <a:lnTo>
                      <a:pt x="2106" y="171"/>
                    </a:lnTo>
                    <a:lnTo>
                      <a:pt x="1936" y="242"/>
                    </a:lnTo>
                    <a:lnTo>
                      <a:pt x="1779" y="313"/>
                    </a:lnTo>
                    <a:lnTo>
                      <a:pt x="1637" y="384"/>
                    </a:lnTo>
                    <a:lnTo>
                      <a:pt x="1480" y="470"/>
                    </a:lnTo>
                    <a:lnTo>
                      <a:pt x="1338" y="569"/>
                    </a:lnTo>
                    <a:lnTo>
                      <a:pt x="1210" y="669"/>
                    </a:lnTo>
                    <a:lnTo>
                      <a:pt x="1082" y="783"/>
                    </a:lnTo>
                    <a:lnTo>
                      <a:pt x="954" y="897"/>
                    </a:lnTo>
                    <a:lnTo>
                      <a:pt x="840" y="1010"/>
                    </a:lnTo>
                    <a:lnTo>
                      <a:pt x="726" y="1138"/>
                    </a:lnTo>
                    <a:lnTo>
                      <a:pt x="726" y="1138"/>
                    </a:lnTo>
                    <a:lnTo>
                      <a:pt x="555" y="1352"/>
                    </a:lnTo>
                    <a:lnTo>
                      <a:pt x="413" y="1580"/>
                    </a:lnTo>
                    <a:lnTo>
                      <a:pt x="299" y="1807"/>
                    </a:lnTo>
                    <a:lnTo>
                      <a:pt x="185" y="2063"/>
                    </a:lnTo>
                    <a:lnTo>
                      <a:pt x="114" y="2320"/>
                    </a:lnTo>
                    <a:lnTo>
                      <a:pt x="43" y="2590"/>
                    </a:lnTo>
                    <a:lnTo>
                      <a:pt x="15" y="2860"/>
                    </a:lnTo>
                    <a:lnTo>
                      <a:pt x="0" y="3145"/>
                    </a:lnTo>
                    <a:lnTo>
                      <a:pt x="0" y="43529"/>
                    </a:lnTo>
                    <a:lnTo>
                      <a:pt x="0" y="43529"/>
                    </a:lnTo>
                    <a:lnTo>
                      <a:pt x="15" y="44042"/>
                    </a:lnTo>
                    <a:lnTo>
                      <a:pt x="57" y="44554"/>
                    </a:lnTo>
                    <a:lnTo>
                      <a:pt x="128" y="45080"/>
                    </a:lnTo>
                    <a:lnTo>
                      <a:pt x="228" y="45607"/>
                    </a:lnTo>
                    <a:lnTo>
                      <a:pt x="356" y="46133"/>
                    </a:lnTo>
                    <a:lnTo>
                      <a:pt x="498" y="46660"/>
                    </a:lnTo>
                    <a:lnTo>
                      <a:pt x="669" y="47201"/>
                    </a:lnTo>
                    <a:lnTo>
                      <a:pt x="868" y="47741"/>
                    </a:lnTo>
                    <a:lnTo>
                      <a:pt x="1082" y="48282"/>
                    </a:lnTo>
                    <a:lnTo>
                      <a:pt x="1324" y="48823"/>
                    </a:lnTo>
                    <a:lnTo>
                      <a:pt x="1594" y="49364"/>
                    </a:lnTo>
                    <a:lnTo>
                      <a:pt x="1864" y="49904"/>
                    </a:lnTo>
                    <a:lnTo>
                      <a:pt x="2163" y="50445"/>
                    </a:lnTo>
                    <a:lnTo>
                      <a:pt x="2491" y="50986"/>
                    </a:lnTo>
                    <a:lnTo>
                      <a:pt x="2818" y="51527"/>
                    </a:lnTo>
                    <a:lnTo>
                      <a:pt x="3174" y="52082"/>
                    </a:lnTo>
                    <a:lnTo>
                      <a:pt x="3529" y="52622"/>
                    </a:lnTo>
                    <a:lnTo>
                      <a:pt x="3914" y="53163"/>
                    </a:lnTo>
                    <a:lnTo>
                      <a:pt x="4312" y="53690"/>
                    </a:lnTo>
                    <a:lnTo>
                      <a:pt x="4710" y="54230"/>
                    </a:lnTo>
                    <a:lnTo>
                      <a:pt x="5137" y="54771"/>
                    </a:lnTo>
                    <a:lnTo>
                      <a:pt x="5564" y="55298"/>
                    </a:lnTo>
                    <a:lnTo>
                      <a:pt x="5991" y="55824"/>
                    </a:lnTo>
                    <a:lnTo>
                      <a:pt x="6446" y="56351"/>
                    </a:lnTo>
                    <a:lnTo>
                      <a:pt x="7357" y="57389"/>
                    </a:lnTo>
                    <a:lnTo>
                      <a:pt x="8311" y="58400"/>
                    </a:lnTo>
                    <a:lnTo>
                      <a:pt x="9264" y="59396"/>
                    </a:lnTo>
                    <a:lnTo>
                      <a:pt x="10246" y="60363"/>
                    </a:lnTo>
                    <a:lnTo>
                      <a:pt x="11213" y="61317"/>
                    </a:lnTo>
                    <a:lnTo>
                      <a:pt x="12195" y="62228"/>
                    </a:lnTo>
                    <a:lnTo>
                      <a:pt x="13149" y="63096"/>
                    </a:lnTo>
                    <a:lnTo>
                      <a:pt x="14102" y="63935"/>
                    </a:lnTo>
                    <a:lnTo>
                      <a:pt x="15013" y="64746"/>
                    </a:lnTo>
                    <a:lnTo>
                      <a:pt x="15909" y="65500"/>
                    </a:lnTo>
                    <a:lnTo>
                      <a:pt x="16763" y="66212"/>
                    </a:lnTo>
                    <a:lnTo>
                      <a:pt x="17560" y="66881"/>
                    </a:lnTo>
                    <a:lnTo>
                      <a:pt x="19011" y="68048"/>
                    </a:lnTo>
                    <a:lnTo>
                      <a:pt x="20178" y="68987"/>
                    </a:lnTo>
                    <a:lnTo>
                      <a:pt x="21032" y="69670"/>
                    </a:lnTo>
                    <a:lnTo>
                      <a:pt x="21317" y="69897"/>
                    </a:lnTo>
                    <a:lnTo>
                      <a:pt x="21487" y="70068"/>
                    </a:lnTo>
                    <a:lnTo>
                      <a:pt x="21487" y="70068"/>
                    </a:lnTo>
                    <a:lnTo>
                      <a:pt x="21672" y="70239"/>
                    </a:lnTo>
                    <a:lnTo>
                      <a:pt x="21872" y="70410"/>
                    </a:lnTo>
                    <a:lnTo>
                      <a:pt x="22071" y="70566"/>
                    </a:lnTo>
                    <a:lnTo>
                      <a:pt x="22270" y="70709"/>
                    </a:lnTo>
                    <a:lnTo>
                      <a:pt x="22484" y="70837"/>
                    </a:lnTo>
                    <a:lnTo>
                      <a:pt x="22697" y="70950"/>
                    </a:lnTo>
                    <a:lnTo>
                      <a:pt x="22910" y="71064"/>
                    </a:lnTo>
                    <a:lnTo>
                      <a:pt x="23138" y="71164"/>
                    </a:lnTo>
                    <a:lnTo>
                      <a:pt x="23366" y="71249"/>
                    </a:lnTo>
                    <a:lnTo>
                      <a:pt x="23593" y="71320"/>
                    </a:lnTo>
                    <a:lnTo>
                      <a:pt x="23821" y="71377"/>
                    </a:lnTo>
                    <a:lnTo>
                      <a:pt x="24049" y="71434"/>
                    </a:lnTo>
                    <a:lnTo>
                      <a:pt x="24291" y="71477"/>
                    </a:lnTo>
                    <a:lnTo>
                      <a:pt x="24533" y="71505"/>
                    </a:lnTo>
                    <a:lnTo>
                      <a:pt x="24760" y="71520"/>
                    </a:lnTo>
                    <a:lnTo>
                      <a:pt x="25002" y="71520"/>
                    </a:lnTo>
                    <a:lnTo>
                      <a:pt x="25002" y="71520"/>
                    </a:lnTo>
                    <a:lnTo>
                      <a:pt x="25244" y="71520"/>
                    </a:lnTo>
                    <a:lnTo>
                      <a:pt x="25472" y="71505"/>
                    </a:lnTo>
                    <a:lnTo>
                      <a:pt x="25714" y="71477"/>
                    </a:lnTo>
                    <a:lnTo>
                      <a:pt x="25956" y="71434"/>
                    </a:lnTo>
                    <a:lnTo>
                      <a:pt x="26183" y="71377"/>
                    </a:lnTo>
                    <a:lnTo>
                      <a:pt x="26411" y="71320"/>
                    </a:lnTo>
                    <a:lnTo>
                      <a:pt x="26639" y="71249"/>
                    </a:lnTo>
                    <a:lnTo>
                      <a:pt x="26866" y="71164"/>
                    </a:lnTo>
                    <a:lnTo>
                      <a:pt x="27094" y="71064"/>
                    </a:lnTo>
                    <a:lnTo>
                      <a:pt x="27307" y="70950"/>
                    </a:lnTo>
                    <a:lnTo>
                      <a:pt x="27521" y="70837"/>
                    </a:lnTo>
                    <a:lnTo>
                      <a:pt x="27734" y="70709"/>
                    </a:lnTo>
                    <a:lnTo>
                      <a:pt x="27934" y="70566"/>
                    </a:lnTo>
                    <a:lnTo>
                      <a:pt x="28133" y="70410"/>
                    </a:lnTo>
                    <a:lnTo>
                      <a:pt x="28318" y="70253"/>
                    </a:lnTo>
                    <a:lnTo>
                      <a:pt x="28503" y="70068"/>
                    </a:lnTo>
                    <a:lnTo>
                      <a:pt x="28503" y="70068"/>
                    </a:lnTo>
                    <a:lnTo>
                      <a:pt x="28645" y="69926"/>
                    </a:lnTo>
                    <a:lnTo>
                      <a:pt x="28645" y="69926"/>
                    </a:lnTo>
                    <a:lnTo>
                      <a:pt x="28787" y="69798"/>
                    </a:lnTo>
                    <a:lnTo>
                      <a:pt x="29001" y="69613"/>
                    </a:lnTo>
                    <a:lnTo>
                      <a:pt x="29627" y="69101"/>
                    </a:lnTo>
                    <a:lnTo>
                      <a:pt x="31548" y="67535"/>
                    </a:lnTo>
                    <a:lnTo>
                      <a:pt x="32786" y="66511"/>
                    </a:lnTo>
                    <a:lnTo>
                      <a:pt x="34166" y="65344"/>
                    </a:lnTo>
                    <a:lnTo>
                      <a:pt x="35646" y="64049"/>
                    </a:lnTo>
                    <a:lnTo>
                      <a:pt x="36415" y="63352"/>
                    </a:lnTo>
                    <a:lnTo>
                      <a:pt x="37197" y="62640"/>
                    </a:lnTo>
                    <a:lnTo>
                      <a:pt x="37994" y="61900"/>
                    </a:lnTo>
                    <a:lnTo>
                      <a:pt x="38791" y="61132"/>
                    </a:lnTo>
                    <a:lnTo>
                      <a:pt x="39602" y="60335"/>
                    </a:lnTo>
                    <a:lnTo>
                      <a:pt x="40399" y="59538"/>
                    </a:lnTo>
                    <a:lnTo>
                      <a:pt x="41196" y="58713"/>
                    </a:lnTo>
                    <a:lnTo>
                      <a:pt x="41978" y="57873"/>
                    </a:lnTo>
                    <a:lnTo>
                      <a:pt x="42747" y="57019"/>
                    </a:lnTo>
                    <a:lnTo>
                      <a:pt x="43487" y="56151"/>
                    </a:lnTo>
                    <a:lnTo>
                      <a:pt x="44213" y="55269"/>
                    </a:lnTo>
                    <a:lnTo>
                      <a:pt x="44910" y="54373"/>
                    </a:lnTo>
                    <a:lnTo>
                      <a:pt x="45579" y="53490"/>
                    </a:lnTo>
                    <a:lnTo>
                      <a:pt x="46219" y="52580"/>
                    </a:lnTo>
                    <a:lnTo>
                      <a:pt x="46518" y="52139"/>
                    </a:lnTo>
                    <a:lnTo>
                      <a:pt x="46817" y="51683"/>
                    </a:lnTo>
                    <a:lnTo>
                      <a:pt x="47087" y="51228"/>
                    </a:lnTo>
                    <a:lnTo>
                      <a:pt x="47357" y="50772"/>
                    </a:lnTo>
                    <a:lnTo>
                      <a:pt x="47614" y="50331"/>
                    </a:lnTo>
                    <a:lnTo>
                      <a:pt x="47870" y="49876"/>
                    </a:lnTo>
                    <a:lnTo>
                      <a:pt x="48097" y="49421"/>
                    </a:lnTo>
                    <a:lnTo>
                      <a:pt x="48311" y="48965"/>
                    </a:lnTo>
                    <a:lnTo>
                      <a:pt x="48311" y="48965"/>
                    </a:lnTo>
                    <a:lnTo>
                      <a:pt x="48624" y="48268"/>
                    </a:lnTo>
                    <a:lnTo>
                      <a:pt x="48894" y="47585"/>
                    </a:lnTo>
                    <a:lnTo>
                      <a:pt x="49022" y="47229"/>
                    </a:lnTo>
                    <a:lnTo>
                      <a:pt x="49136" y="46888"/>
                    </a:lnTo>
                    <a:lnTo>
                      <a:pt x="49250" y="46546"/>
                    </a:lnTo>
                    <a:lnTo>
                      <a:pt x="49335" y="46205"/>
                    </a:lnTo>
                    <a:lnTo>
                      <a:pt x="49421" y="45863"/>
                    </a:lnTo>
                    <a:lnTo>
                      <a:pt x="49492" y="45522"/>
                    </a:lnTo>
                    <a:lnTo>
                      <a:pt x="49563" y="45194"/>
                    </a:lnTo>
                    <a:lnTo>
                      <a:pt x="49606" y="44853"/>
                    </a:lnTo>
                    <a:lnTo>
                      <a:pt x="49648" y="44526"/>
                    </a:lnTo>
                    <a:lnTo>
                      <a:pt x="49677" y="44184"/>
                    </a:lnTo>
                    <a:lnTo>
                      <a:pt x="49705" y="43857"/>
                    </a:lnTo>
                    <a:lnTo>
                      <a:pt x="49705" y="43529"/>
                    </a:lnTo>
                    <a:lnTo>
                      <a:pt x="49705" y="3145"/>
                    </a:lnTo>
                    <a:lnTo>
                      <a:pt x="49705" y="3145"/>
                    </a:lnTo>
                    <a:lnTo>
                      <a:pt x="49691" y="2818"/>
                    </a:lnTo>
                    <a:lnTo>
                      <a:pt x="49648" y="2505"/>
                    </a:lnTo>
                    <a:lnTo>
                      <a:pt x="49563" y="2206"/>
                    </a:lnTo>
                    <a:lnTo>
                      <a:pt x="49463" y="1921"/>
                    </a:lnTo>
                    <a:lnTo>
                      <a:pt x="49321" y="1651"/>
                    </a:lnTo>
                    <a:lnTo>
                      <a:pt x="49165" y="1380"/>
                    </a:lnTo>
                    <a:lnTo>
                      <a:pt x="48994" y="1138"/>
                    </a:lnTo>
                    <a:lnTo>
                      <a:pt x="48780" y="925"/>
                    </a:lnTo>
                    <a:lnTo>
                      <a:pt x="48567" y="712"/>
                    </a:lnTo>
                    <a:lnTo>
                      <a:pt x="48325" y="541"/>
                    </a:lnTo>
                    <a:lnTo>
                      <a:pt x="48055" y="384"/>
                    </a:lnTo>
                    <a:lnTo>
                      <a:pt x="47784" y="242"/>
                    </a:lnTo>
                    <a:lnTo>
                      <a:pt x="47500" y="142"/>
                    </a:lnTo>
                    <a:lnTo>
                      <a:pt x="47201" y="57"/>
                    </a:lnTo>
                    <a:lnTo>
                      <a:pt x="46888" y="14"/>
                    </a:lnTo>
                    <a:lnTo>
                      <a:pt x="46561" y="0"/>
                    </a:lnTo>
                  </a:path>
                </a:pathLst>
              </a:cu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534;p20">
                <a:extLst>
                  <a:ext uri="{FF2B5EF4-FFF2-40B4-BE49-F238E27FC236}">
                    <a16:creationId xmlns:a16="http://schemas.microsoft.com/office/drawing/2014/main" id="{CA97ACAB-2D7C-6300-D208-E5550812897B}"/>
                  </a:ext>
                </a:extLst>
              </p:cNvPr>
              <p:cNvSpPr/>
              <p:nvPr/>
            </p:nvSpPr>
            <p:spPr bwMode="auto">
              <a:xfrm>
                <a:off x="4610503" y="2095611"/>
                <a:ext cx="2970050" cy="4213668"/>
              </a:xfrm>
              <a:custGeom>
                <a:avLst/>
                <a:gdLst/>
                <a:ahLst/>
                <a:cxnLst/>
                <a:rect l="l" t="t" r="r" b="b"/>
                <a:pathLst>
                  <a:path w="52097" h="73911" extrusionOk="0">
                    <a:moveTo>
                      <a:pt x="47757" y="1196"/>
                    </a:moveTo>
                    <a:lnTo>
                      <a:pt x="48084" y="1210"/>
                    </a:lnTo>
                    <a:lnTo>
                      <a:pt x="48397" y="1253"/>
                    </a:lnTo>
                    <a:lnTo>
                      <a:pt x="48696" y="1338"/>
                    </a:lnTo>
                    <a:lnTo>
                      <a:pt x="48980" y="1438"/>
                    </a:lnTo>
                    <a:lnTo>
                      <a:pt x="49251" y="1580"/>
                    </a:lnTo>
                    <a:lnTo>
                      <a:pt x="49521" y="1737"/>
                    </a:lnTo>
                    <a:lnTo>
                      <a:pt x="49763" y="1908"/>
                    </a:lnTo>
                    <a:lnTo>
                      <a:pt x="49976" y="2121"/>
                    </a:lnTo>
                    <a:lnTo>
                      <a:pt x="50190" y="2334"/>
                    </a:lnTo>
                    <a:lnTo>
                      <a:pt x="50361" y="2576"/>
                    </a:lnTo>
                    <a:lnTo>
                      <a:pt x="50517" y="2847"/>
                    </a:lnTo>
                    <a:lnTo>
                      <a:pt x="50659" y="3117"/>
                    </a:lnTo>
                    <a:lnTo>
                      <a:pt x="50759" y="3402"/>
                    </a:lnTo>
                    <a:lnTo>
                      <a:pt x="50844" y="3701"/>
                    </a:lnTo>
                    <a:lnTo>
                      <a:pt x="50887" y="4014"/>
                    </a:lnTo>
                    <a:lnTo>
                      <a:pt x="50901" y="4341"/>
                    </a:lnTo>
                    <a:lnTo>
                      <a:pt x="50901" y="44725"/>
                    </a:lnTo>
                    <a:lnTo>
                      <a:pt x="50901" y="45053"/>
                    </a:lnTo>
                    <a:lnTo>
                      <a:pt x="50873" y="45380"/>
                    </a:lnTo>
                    <a:lnTo>
                      <a:pt x="50844" y="45722"/>
                    </a:lnTo>
                    <a:lnTo>
                      <a:pt x="50802" y="46049"/>
                    </a:lnTo>
                    <a:lnTo>
                      <a:pt x="50759" y="46390"/>
                    </a:lnTo>
                    <a:lnTo>
                      <a:pt x="50688" y="46718"/>
                    </a:lnTo>
                    <a:lnTo>
                      <a:pt x="50617" y="47059"/>
                    </a:lnTo>
                    <a:lnTo>
                      <a:pt x="50531" y="47401"/>
                    </a:lnTo>
                    <a:lnTo>
                      <a:pt x="50446" y="47742"/>
                    </a:lnTo>
                    <a:lnTo>
                      <a:pt x="50332" y="48084"/>
                    </a:lnTo>
                    <a:lnTo>
                      <a:pt x="50218" y="48425"/>
                    </a:lnTo>
                    <a:lnTo>
                      <a:pt x="50090" y="48781"/>
                    </a:lnTo>
                    <a:lnTo>
                      <a:pt x="49820" y="49464"/>
                    </a:lnTo>
                    <a:lnTo>
                      <a:pt x="49507" y="50161"/>
                    </a:lnTo>
                    <a:lnTo>
                      <a:pt x="49293" y="50617"/>
                    </a:lnTo>
                    <a:lnTo>
                      <a:pt x="49066" y="51072"/>
                    </a:lnTo>
                    <a:lnTo>
                      <a:pt x="48810" y="51527"/>
                    </a:lnTo>
                    <a:lnTo>
                      <a:pt x="48553" y="51968"/>
                    </a:lnTo>
                    <a:lnTo>
                      <a:pt x="48283" y="52424"/>
                    </a:lnTo>
                    <a:lnTo>
                      <a:pt x="48013" y="52879"/>
                    </a:lnTo>
                    <a:lnTo>
                      <a:pt x="47714" y="53335"/>
                    </a:lnTo>
                    <a:lnTo>
                      <a:pt x="47415" y="53776"/>
                    </a:lnTo>
                    <a:lnTo>
                      <a:pt x="46775" y="54686"/>
                    </a:lnTo>
                    <a:lnTo>
                      <a:pt x="46106" y="55569"/>
                    </a:lnTo>
                    <a:lnTo>
                      <a:pt x="45409" y="56465"/>
                    </a:lnTo>
                    <a:lnTo>
                      <a:pt x="44683" y="57347"/>
                    </a:lnTo>
                    <a:lnTo>
                      <a:pt x="43943" y="58215"/>
                    </a:lnTo>
                    <a:lnTo>
                      <a:pt x="43174" y="59069"/>
                    </a:lnTo>
                    <a:lnTo>
                      <a:pt x="42392" y="59909"/>
                    </a:lnTo>
                    <a:lnTo>
                      <a:pt x="41595" y="60734"/>
                    </a:lnTo>
                    <a:lnTo>
                      <a:pt x="40798" y="61531"/>
                    </a:lnTo>
                    <a:lnTo>
                      <a:pt x="39987" y="62328"/>
                    </a:lnTo>
                    <a:lnTo>
                      <a:pt x="39190" y="63096"/>
                    </a:lnTo>
                    <a:lnTo>
                      <a:pt x="38393" y="63836"/>
                    </a:lnTo>
                    <a:lnTo>
                      <a:pt x="37611" y="64548"/>
                    </a:lnTo>
                    <a:lnTo>
                      <a:pt x="36842" y="65245"/>
                    </a:lnTo>
                    <a:lnTo>
                      <a:pt x="35362" y="66540"/>
                    </a:lnTo>
                    <a:lnTo>
                      <a:pt x="33982" y="67707"/>
                    </a:lnTo>
                    <a:lnTo>
                      <a:pt x="32744" y="68731"/>
                    </a:lnTo>
                    <a:lnTo>
                      <a:pt x="30823" y="70297"/>
                    </a:lnTo>
                    <a:lnTo>
                      <a:pt x="30197" y="70809"/>
                    </a:lnTo>
                    <a:lnTo>
                      <a:pt x="29983" y="70994"/>
                    </a:lnTo>
                    <a:lnTo>
                      <a:pt x="29841" y="71122"/>
                    </a:lnTo>
                    <a:lnTo>
                      <a:pt x="29699" y="71264"/>
                    </a:lnTo>
                    <a:lnTo>
                      <a:pt x="29514" y="71449"/>
                    </a:lnTo>
                    <a:lnTo>
                      <a:pt x="29329" y="71606"/>
                    </a:lnTo>
                    <a:lnTo>
                      <a:pt x="29130" y="71762"/>
                    </a:lnTo>
                    <a:lnTo>
                      <a:pt x="28930" y="71905"/>
                    </a:lnTo>
                    <a:lnTo>
                      <a:pt x="28717" y="72033"/>
                    </a:lnTo>
                    <a:lnTo>
                      <a:pt x="28503" y="72146"/>
                    </a:lnTo>
                    <a:lnTo>
                      <a:pt x="28290" y="72260"/>
                    </a:lnTo>
                    <a:lnTo>
                      <a:pt x="28062" y="72360"/>
                    </a:lnTo>
                    <a:lnTo>
                      <a:pt x="27835" y="72445"/>
                    </a:lnTo>
                    <a:lnTo>
                      <a:pt x="27607" y="72516"/>
                    </a:lnTo>
                    <a:lnTo>
                      <a:pt x="27379" y="72573"/>
                    </a:lnTo>
                    <a:lnTo>
                      <a:pt x="27152" y="72630"/>
                    </a:lnTo>
                    <a:lnTo>
                      <a:pt x="26910" y="72673"/>
                    </a:lnTo>
                    <a:lnTo>
                      <a:pt x="26668" y="72701"/>
                    </a:lnTo>
                    <a:lnTo>
                      <a:pt x="26440" y="72716"/>
                    </a:lnTo>
                    <a:lnTo>
                      <a:pt x="25956" y="72716"/>
                    </a:lnTo>
                    <a:lnTo>
                      <a:pt x="25729" y="72701"/>
                    </a:lnTo>
                    <a:lnTo>
                      <a:pt x="25487" y="72673"/>
                    </a:lnTo>
                    <a:lnTo>
                      <a:pt x="25245" y="72630"/>
                    </a:lnTo>
                    <a:lnTo>
                      <a:pt x="25017" y="72573"/>
                    </a:lnTo>
                    <a:lnTo>
                      <a:pt x="24789" y="72516"/>
                    </a:lnTo>
                    <a:lnTo>
                      <a:pt x="24562" y="72445"/>
                    </a:lnTo>
                    <a:lnTo>
                      <a:pt x="24334" y="72360"/>
                    </a:lnTo>
                    <a:lnTo>
                      <a:pt x="24106" y="72260"/>
                    </a:lnTo>
                    <a:lnTo>
                      <a:pt x="23893" y="72146"/>
                    </a:lnTo>
                    <a:lnTo>
                      <a:pt x="23680" y="72033"/>
                    </a:lnTo>
                    <a:lnTo>
                      <a:pt x="23466" y="71905"/>
                    </a:lnTo>
                    <a:lnTo>
                      <a:pt x="23267" y="71762"/>
                    </a:lnTo>
                    <a:lnTo>
                      <a:pt x="23068" y="71606"/>
                    </a:lnTo>
                    <a:lnTo>
                      <a:pt x="22868" y="71435"/>
                    </a:lnTo>
                    <a:lnTo>
                      <a:pt x="22683" y="71264"/>
                    </a:lnTo>
                    <a:lnTo>
                      <a:pt x="22513" y="71093"/>
                    </a:lnTo>
                    <a:lnTo>
                      <a:pt x="22228" y="70866"/>
                    </a:lnTo>
                    <a:lnTo>
                      <a:pt x="21374" y="70183"/>
                    </a:lnTo>
                    <a:lnTo>
                      <a:pt x="20207" y="69244"/>
                    </a:lnTo>
                    <a:lnTo>
                      <a:pt x="18756" y="68077"/>
                    </a:lnTo>
                    <a:lnTo>
                      <a:pt x="17959" y="67408"/>
                    </a:lnTo>
                    <a:lnTo>
                      <a:pt x="17105" y="66696"/>
                    </a:lnTo>
                    <a:lnTo>
                      <a:pt x="16209" y="65942"/>
                    </a:lnTo>
                    <a:lnTo>
                      <a:pt x="15298" y="65131"/>
                    </a:lnTo>
                    <a:lnTo>
                      <a:pt x="14345" y="64292"/>
                    </a:lnTo>
                    <a:lnTo>
                      <a:pt x="13391" y="63424"/>
                    </a:lnTo>
                    <a:lnTo>
                      <a:pt x="12409" y="62513"/>
                    </a:lnTo>
                    <a:lnTo>
                      <a:pt x="11442" y="61559"/>
                    </a:lnTo>
                    <a:lnTo>
                      <a:pt x="10460" y="60592"/>
                    </a:lnTo>
                    <a:lnTo>
                      <a:pt x="9507" y="59596"/>
                    </a:lnTo>
                    <a:lnTo>
                      <a:pt x="8553" y="58585"/>
                    </a:lnTo>
                    <a:lnTo>
                      <a:pt x="7642" y="57547"/>
                    </a:lnTo>
                    <a:lnTo>
                      <a:pt x="7187" y="57020"/>
                    </a:lnTo>
                    <a:lnTo>
                      <a:pt x="6760" y="56494"/>
                    </a:lnTo>
                    <a:lnTo>
                      <a:pt x="6333" y="55967"/>
                    </a:lnTo>
                    <a:lnTo>
                      <a:pt x="5906" y="55426"/>
                    </a:lnTo>
                    <a:lnTo>
                      <a:pt x="5508" y="54886"/>
                    </a:lnTo>
                    <a:lnTo>
                      <a:pt x="5110" y="54359"/>
                    </a:lnTo>
                    <a:lnTo>
                      <a:pt x="4725" y="53818"/>
                    </a:lnTo>
                    <a:lnTo>
                      <a:pt x="4370" y="53278"/>
                    </a:lnTo>
                    <a:lnTo>
                      <a:pt x="4014" y="52723"/>
                    </a:lnTo>
                    <a:lnTo>
                      <a:pt x="3687" y="52182"/>
                    </a:lnTo>
                    <a:lnTo>
                      <a:pt x="3359" y="51641"/>
                    </a:lnTo>
                    <a:lnTo>
                      <a:pt x="3060" y="51100"/>
                    </a:lnTo>
                    <a:lnTo>
                      <a:pt x="2790" y="50560"/>
                    </a:lnTo>
                    <a:lnTo>
                      <a:pt x="2520" y="50019"/>
                    </a:lnTo>
                    <a:lnTo>
                      <a:pt x="2278" y="49478"/>
                    </a:lnTo>
                    <a:lnTo>
                      <a:pt x="2064" y="48937"/>
                    </a:lnTo>
                    <a:lnTo>
                      <a:pt x="1865" y="48397"/>
                    </a:lnTo>
                    <a:lnTo>
                      <a:pt x="1694" y="47856"/>
                    </a:lnTo>
                    <a:lnTo>
                      <a:pt x="1552" y="47329"/>
                    </a:lnTo>
                    <a:lnTo>
                      <a:pt x="1424" y="46803"/>
                    </a:lnTo>
                    <a:lnTo>
                      <a:pt x="1324" y="46276"/>
                    </a:lnTo>
                    <a:lnTo>
                      <a:pt x="1253" y="45750"/>
                    </a:lnTo>
                    <a:lnTo>
                      <a:pt x="1211" y="45238"/>
                    </a:lnTo>
                    <a:lnTo>
                      <a:pt x="1196" y="44725"/>
                    </a:lnTo>
                    <a:lnTo>
                      <a:pt x="1196" y="4341"/>
                    </a:lnTo>
                    <a:lnTo>
                      <a:pt x="1211" y="4056"/>
                    </a:lnTo>
                    <a:lnTo>
                      <a:pt x="1239" y="3786"/>
                    </a:lnTo>
                    <a:lnTo>
                      <a:pt x="1310" y="3516"/>
                    </a:lnTo>
                    <a:lnTo>
                      <a:pt x="1381" y="3259"/>
                    </a:lnTo>
                    <a:lnTo>
                      <a:pt x="1495" y="3003"/>
                    </a:lnTo>
                    <a:lnTo>
                      <a:pt x="1609" y="2776"/>
                    </a:lnTo>
                    <a:lnTo>
                      <a:pt x="1751" y="2548"/>
                    </a:lnTo>
                    <a:lnTo>
                      <a:pt x="1922" y="2334"/>
                    </a:lnTo>
                    <a:lnTo>
                      <a:pt x="2036" y="2206"/>
                    </a:lnTo>
                    <a:lnTo>
                      <a:pt x="2150" y="2093"/>
                    </a:lnTo>
                    <a:lnTo>
                      <a:pt x="2278" y="1979"/>
                    </a:lnTo>
                    <a:lnTo>
                      <a:pt x="2406" y="1865"/>
                    </a:lnTo>
                    <a:lnTo>
                      <a:pt x="2534" y="1765"/>
                    </a:lnTo>
                    <a:lnTo>
                      <a:pt x="2676" y="1666"/>
                    </a:lnTo>
                    <a:lnTo>
                      <a:pt x="2833" y="1580"/>
                    </a:lnTo>
                    <a:lnTo>
                      <a:pt x="2975" y="1509"/>
                    </a:lnTo>
                    <a:lnTo>
                      <a:pt x="3132" y="1438"/>
                    </a:lnTo>
                    <a:lnTo>
                      <a:pt x="3302" y="1367"/>
                    </a:lnTo>
                    <a:lnTo>
                      <a:pt x="3459" y="1324"/>
                    </a:lnTo>
                    <a:lnTo>
                      <a:pt x="3630" y="1281"/>
                    </a:lnTo>
                    <a:lnTo>
                      <a:pt x="3800" y="1239"/>
                    </a:lnTo>
                    <a:lnTo>
                      <a:pt x="3985" y="1210"/>
                    </a:lnTo>
                    <a:lnTo>
                      <a:pt x="4156" y="1196"/>
                    </a:lnTo>
                    <a:close/>
                    <a:moveTo>
                      <a:pt x="4341" y="1"/>
                    </a:moveTo>
                    <a:lnTo>
                      <a:pt x="4113" y="15"/>
                    </a:lnTo>
                    <a:lnTo>
                      <a:pt x="3900" y="29"/>
                    </a:lnTo>
                    <a:lnTo>
                      <a:pt x="3687" y="58"/>
                    </a:lnTo>
                    <a:lnTo>
                      <a:pt x="3473" y="86"/>
                    </a:lnTo>
                    <a:lnTo>
                      <a:pt x="3260" y="143"/>
                    </a:lnTo>
                    <a:lnTo>
                      <a:pt x="3046" y="200"/>
                    </a:lnTo>
                    <a:lnTo>
                      <a:pt x="2847" y="271"/>
                    </a:lnTo>
                    <a:lnTo>
                      <a:pt x="2662" y="342"/>
                    </a:lnTo>
                    <a:lnTo>
                      <a:pt x="2463" y="428"/>
                    </a:lnTo>
                    <a:lnTo>
                      <a:pt x="2278" y="527"/>
                    </a:lnTo>
                    <a:lnTo>
                      <a:pt x="2093" y="627"/>
                    </a:lnTo>
                    <a:lnTo>
                      <a:pt x="1922" y="741"/>
                    </a:lnTo>
                    <a:lnTo>
                      <a:pt x="1751" y="869"/>
                    </a:lnTo>
                    <a:lnTo>
                      <a:pt x="1581" y="997"/>
                    </a:lnTo>
                    <a:lnTo>
                      <a:pt x="1424" y="1125"/>
                    </a:lnTo>
                    <a:lnTo>
                      <a:pt x="1282" y="1281"/>
                    </a:lnTo>
                    <a:lnTo>
                      <a:pt x="1125" y="1424"/>
                    </a:lnTo>
                    <a:lnTo>
                      <a:pt x="997" y="1580"/>
                    </a:lnTo>
                    <a:lnTo>
                      <a:pt x="869" y="1751"/>
                    </a:lnTo>
                    <a:lnTo>
                      <a:pt x="741" y="1922"/>
                    </a:lnTo>
                    <a:lnTo>
                      <a:pt x="627" y="2093"/>
                    </a:lnTo>
                    <a:lnTo>
                      <a:pt x="527" y="2278"/>
                    </a:lnTo>
                    <a:lnTo>
                      <a:pt x="428" y="2463"/>
                    </a:lnTo>
                    <a:lnTo>
                      <a:pt x="343" y="2648"/>
                    </a:lnTo>
                    <a:lnTo>
                      <a:pt x="271" y="2847"/>
                    </a:lnTo>
                    <a:lnTo>
                      <a:pt x="200" y="3046"/>
                    </a:lnTo>
                    <a:lnTo>
                      <a:pt x="143" y="3259"/>
                    </a:lnTo>
                    <a:lnTo>
                      <a:pt x="86" y="3473"/>
                    </a:lnTo>
                    <a:lnTo>
                      <a:pt x="58" y="3686"/>
                    </a:lnTo>
                    <a:lnTo>
                      <a:pt x="29" y="3900"/>
                    </a:lnTo>
                    <a:lnTo>
                      <a:pt x="15" y="4113"/>
                    </a:lnTo>
                    <a:lnTo>
                      <a:pt x="1" y="4341"/>
                    </a:lnTo>
                    <a:lnTo>
                      <a:pt x="1" y="44725"/>
                    </a:lnTo>
                    <a:lnTo>
                      <a:pt x="15" y="45152"/>
                    </a:lnTo>
                    <a:lnTo>
                      <a:pt x="44" y="45565"/>
                    </a:lnTo>
                    <a:lnTo>
                      <a:pt x="72" y="45992"/>
                    </a:lnTo>
                    <a:lnTo>
                      <a:pt x="143" y="46419"/>
                    </a:lnTo>
                    <a:lnTo>
                      <a:pt x="214" y="46846"/>
                    </a:lnTo>
                    <a:lnTo>
                      <a:pt x="300" y="47273"/>
                    </a:lnTo>
                    <a:lnTo>
                      <a:pt x="399" y="47699"/>
                    </a:lnTo>
                    <a:lnTo>
                      <a:pt x="527" y="48126"/>
                    </a:lnTo>
                    <a:lnTo>
                      <a:pt x="656" y="48553"/>
                    </a:lnTo>
                    <a:lnTo>
                      <a:pt x="798" y="48994"/>
                    </a:lnTo>
                    <a:lnTo>
                      <a:pt x="969" y="49421"/>
                    </a:lnTo>
                    <a:lnTo>
                      <a:pt x="1139" y="49862"/>
                    </a:lnTo>
                    <a:lnTo>
                      <a:pt x="1324" y="50289"/>
                    </a:lnTo>
                    <a:lnTo>
                      <a:pt x="1524" y="50730"/>
                    </a:lnTo>
                    <a:lnTo>
                      <a:pt x="1737" y="51172"/>
                    </a:lnTo>
                    <a:lnTo>
                      <a:pt x="1965" y="51598"/>
                    </a:lnTo>
                    <a:lnTo>
                      <a:pt x="2192" y="52040"/>
                    </a:lnTo>
                    <a:lnTo>
                      <a:pt x="2449" y="52481"/>
                    </a:lnTo>
                    <a:lnTo>
                      <a:pt x="2705" y="52908"/>
                    </a:lnTo>
                    <a:lnTo>
                      <a:pt x="2975" y="53349"/>
                    </a:lnTo>
                    <a:lnTo>
                      <a:pt x="3245" y="53790"/>
                    </a:lnTo>
                    <a:lnTo>
                      <a:pt x="3544" y="54217"/>
                    </a:lnTo>
                    <a:lnTo>
                      <a:pt x="4156" y="55099"/>
                    </a:lnTo>
                    <a:lnTo>
                      <a:pt x="4796" y="55967"/>
                    </a:lnTo>
                    <a:lnTo>
                      <a:pt x="5480" y="56835"/>
                    </a:lnTo>
                    <a:lnTo>
                      <a:pt x="6177" y="57703"/>
                    </a:lnTo>
                    <a:lnTo>
                      <a:pt x="6917" y="58557"/>
                    </a:lnTo>
                    <a:lnTo>
                      <a:pt x="7685" y="59411"/>
                    </a:lnTo>
                    <a:lnTo>
                      <a:pt x="8468" y="60250"/>
                    </a:lnTo>
                    <a:lnTo>
                      <a:pt x="9279" y="61090"/>
                    </a:lnTo>
                    <a:lnTo>
                      <a:pt x="10104" y="61929"/>
                    </a:lnTo>
                    <a:lnTo>
                      <a:pt x="10944" y="62741"/>
                    </a:lnTo>
                    <a:lnTo>
                      <a:pt x="11798" y="63552"/>
                    </a:lnTo>
                    <a:lnTo>
                      <a:pt x="12651" y="64363"/>
                    </a:lnTo>
                    <a:lnTo>
                      <a:pt x="13519" y="65145"/>
                    </a:lnTo>
                    <a:lnTo>
                      <a:pt x="14402" y="65928"/>
                    </a:lnTo>
                    <a:lnTo>
                      <a:pt x="15270" y="66682"/>
                    </a:lnTo>
                    <a:lnTo>
                      <a:pt x="16152" y="67436"/>
                    </a:lnTo>
                    <a:lnTo>
                      <a:pt x="17020" y="68162"/>
                    </a:lnTo>
                    <a:lnTo>
                      <a:pt x="18742" y="69585"/>
                    </a:lnTo>
                    <a:lnTo>
                      <a:pt x="20407" y="70937"/>
                    </a:lnTo>
                    <a:lnTo>
                      <a:pt x="21317" y="71663"/>
                    </a:lnTo>
                    <a:lnTo>
                      <a:pt x="21659" y="71933"/>
                    </a:lnTo>
                    <a:lnTo>
                      <a:pt x="21844" y="72104"/>
                    </a:lnTo>
                    <a:lnTo>
                      <a:pt x="22072" y="72317"/>
                    </a:lnTo>
                    <a:lnTo>
                      <a:pt x="22299" y="72516"/>
                    </a:lnTo>
                    <a:lnTo>
                      <a:pt x="22541" y="72701"/>
                    </a:lnTo>
                    <a:lnTo>
                      <a:pt x="22783" y="72872"/>
                    </a:lnTo>
                    <a:lnTo>
                      <a:pt x="23039" y="73043"/>
                    </a:lnTo>
                    <a:lnTo>
                      <a:pt x="23295" y="73185"/>
                    </a:lnTo>
                    <a:lnTo>
                      <a:pt x="23566" y="73328"/>
                    </a:lnTo>
                    <a:lnTo>
                      <a:pt x="23836" y="73441"/>
                    </a:lnTo>
                    <a:lnTo>
                      <a:pt x="24121" y="73555"/>
                    </a:lnTo>
                    <a:lnTo>
                      <a:pt x="24405" y="73655"/>
                    </a:lnTo>
                    <a:lnTo>
                      <a:pt x="24690" y="73726"/>
                    </a:lnTo>
                    <a:lnTo>
                      <a:pt x="24989" y="73797"/>
                    </a:lnTo>
                    <a:lnTo>
                      <a:pt x="25288" y="73840"/>
                    </a:lnTo>
                    <a:lnTo>
                      <a:pt x="25586" y="73883"/>
                    </a:lnTo>
                    <a:lnTo>
                      <a:pt x="25885" y="73911"/>
                    </a:lnTo>
                    <a:lnTo>
                      <a:pt x="26511" y="73911"/>
                    </a:lnTo>
                    <a:lnTo>
                      <a:pt x="26810" y="73883"/>
                    </a:lnTo>
                    <a:lnTo>
                      <a:pt x="27109" y="73840"/>
                    </a:lnTo>
                    <a:lnTo>
                      <a:pt x="27408" y="73797"/>
                    </a:lnTo>
                    <a:lnTo>
                      <a:pt x="27707" y="73726"/>
                    </a:lnTo>
                    <a:lnTo>
                      <a:pt x="27991" y="73655"/>
                    </a:lnTo>
                    <a:lnTo>
                      <a:pt x="28276" y="73555"/>
                    </a:lnTo>
                    <a:lnTo>
                      <a:pt x="28560" y="73441"/>
                    </a:lnTo>
                    <a:lnTo>
                      <a:pt x="28831" y="73328"/>
                    </a:lnTo>
                    <a:lnTo>
                      <a:pt x="29101" y="73185"/>
                    </a:lnTo>
                    <a:lnTo>
                      <a:pt x="29357" y="73043"/>
                    </a:lnTo>
                    <a:lnTo>
                      <a:pt x="29613" y="72886"/>
                    </a:lnTo>
                    <a:lnTo>
                      <a:pt x="29855" y="72716"/>
                    </a:lnTo>
                    <a:lnTo>
                      <a:pt x="30097" y="72516"/>
                    </a:lnTo>
                    <a:lnTo>
                      <a:pt x="30325" y="72317"/>
                    </a:lnTo>
                    <a:lnTo>
                      <a:pt x="30553" y="72118"/>
                    </a:lnTo>
                    <a:lnTo>
                      <a:pt x="30681" y="71976"/>
                    </a:lnTo>
                    <a:lnTo>
                      <a:pt x="30866" y="71819"/>
                    </a:lnTo>
                    <a:lnTo>
                      <a:pt x="31164" y="71563"/>
                    </a:lnTo>
                    <a:lnTo>
                      <a:pt x="32018" y="70880"/>
                    </a:lnTo>
                    <a:lnTo>
                      <a:pt x="33029" y="70055"/>
                    </a:lnTo>
                    <a:lnTo>
                      <a:pt x="34252" y="69044"/>
                    </a:lnTo>
                    <a:lnTo>
                      <a:pt x="35633" y="67878"/>
                    </a:lnTo>
                    <a:lnTo>
                      <a:pt x="37155" y="66568"/>
                    </a:lnTo>
                    <a:lnTo>
                      <a:pt x="37938" y="65857"/>
                    </a:lnTo>
                    <a:lnTo>
                      <a:pt x="38763" y="65131"/>
                    </a:lnTo>
                    <a:lnTo>
                      <a:pt x="39589" y="64363"/>
                    </a:lnTo>
                    <a:lnTo>
                      <a:pt x="40428" y="63566"/>
                    </a:lnTo>
                    <a:lnTo>
                      <a:pt x="41268" y="62755"/>
                    </a:lnTo>
                    <a:lnTo>
                      <a:pt x="42107" y="61915"/>
                    </a:lnTo>
                    <a:lnTo>
                      <a:pt x="42933" y="61061"/>
                    </a:lnTo>
                    <a:lnTo>
                      <a:pt x="43758" y="60179"/>
                    </a:lnTo>
                    <a:lnTo>
                      <a:pt x="44270" y="59624"/>
                    </a:lnTo>
                    <a:lnTo>
                      <a:pt x="44768" y="59069"/>
                    </a:lnTo>
                    <a:lnTo>
                      <a:pt x="45252" y="58528"/>
                    </a:lnTo>
                    <a:lnTo>
                      <a:pt x="45707" y="57973"/>
                    </a:lnTo>
                    <a:lnTo>
                      <a:pt x="46149" y="57447"/>
                    </a:lnTo>
                    <a:lnTo>
                      <a:pt x="46590" y="56906"/>
                    </a:lnTo>
                    <a:lnTo>
                      <a:pt x="47002" y="56380"/>
                    </a:lnTo>
                    <a:lnTo>
                      <a:pt x="47401" y="55853"/>
                    </a:lnTo>
                    <a:lnTo>
                      <a:pt x="47785" y="55327"/>
                    </a:lnTo>
                    <a:lnTo>
                      <a:pt x="48141" y="54814"/>
                    </a:lnTo>
                    <a:lnTo>
                      <a:pt x="48496" y="54302"/>
                    </a:lnTo>
                    <a:lnTo>
                      <a:pt x="48824" y="53804"/>
                    </a:lnTo>
                    <a:lnTo>
                      <a:pt x="49151" y="53292"/>
                    </a:lnTo>
                    <a:lnTo>
                      <a:pt x="49450" y="52794"/>
                    </a:lnTo>
                    <a:lnTo>
                      <a:pt x="49734" y="52310"/>
                    </a:lnTo>
                    <a:lnTo>
                      <a:pt x="50005" y="51826"/>
                    </a:lnTo>
                    <a:lnTo>
                      <a:pt x="50261" y="51342"/>
                    </a:lnTo>
                    <a:lnTo>
                      <a:pt x="50489" y="50859"/>
                    </a:lnTo>
                    <a:lnTo>
                      <a:pt x="50716" y="50389"/>
                    </a:lnTo>
                    <a:lnTo>
                      <a:pt x="50916" y="49919"/>
                    </a:lnTo>
                    <a:lnTo>
                      <a:pt x="51101" y="49464"/>
                    </a:lnTo>
                    <a:lnTo>
                      <a:pt x="51271" y="49009"/>
                    </a:lnTo>
                    <a:lnTo>
                      <a:pt x="51428" y="48553"/>
                    </a:lnTo>
                    <a:lnTo>
                      <a:pt x="51570" y="48112"/>
                    </a:lnTo>
                    <a:lnTo>
                      <a:pt x="51698" y="47671"/>
                    </a:lnTo>
                    <a:lnTo>
                      <a:pt x="51798" y="47230"/>
                    </a:lnTo>
                    <a:lnTo>
                      <a:pt x="51897" y="46803"/>
                    </a:lnTo>
                    <a:lnTo>
                      <a:pt x="51969" y="46376"/>
                    </a:lnTo>
                    <a:lnTo>
                      <a:pt x="52025" y="45949"/>
                    </a:lnTo>
                    <a:lnTo>
                      <a:pt x="52068" y="45537"/>
                    </a:lnTo>
                    <a:lnTo>
                      <a:pt x="52082" y="45138"/>
                    </a:lnTo>
                    <a:lnTo>
                      <a:pt x="52097" y="44725"/>
                    </a:lnTo>
                    <a:lnTo>
                      <a:pt x="52097" y="4341"/>
                    </a:lnTo>
                    <a:lnTo>
                      <a:pt x="52097" y="4113"/>
                    </a:lnTo>
                    <a:lnTo>
                      <a:pt x="52068" y="3900"/>
                    </a:lnTo>
                    <a:lnTo>
                      <a:pt x="52040" y="3686"/>
                    </a:lnTo>
                    <a:lnTo>
                      <a:pt x="52011" y="3473"/>
                    </a:lnTo>
                    <a:lnTo>
                      <a:pt x="51954" y="3259"/>
                    </a:lnTo>
                    <a:lnTo>
                      <a:pt x="51897" y="3046"/>
                    </a:lnTo>
                    <a:lnTo>
                      <a:pt x="51826" y="2847"/>
                    </a:lnTo>
                    <a:lnTo>
                      <a:pt x="51755" y="2648"/>
                    </a:lnTo>
                    <a:lnTo>
                      <a:pt x="51670" y="2463"/>
                    </a:lnTo>
                    <a:lnTo>
                      <a:pt x="51570" y="2278"/>
                    </a:lnTo>
                    <a:lnTo>
                      <a:pt x="51471" y="2093"/>
                    </a:lnTo>
                    <a:lnTo>
                      <a:pt x="51357" y="1922"/>
                    </a:lnTo>
                    <a:lnTo>
                      <a:pt x="51229" y="1751"/>
                    </a:lnTo>
                    <a:lnTo>
                      <a:pt x="51101" y="1580"/>
                    </a:lnTo>
                    <a:lnTo>
                      <a:pt x="50972" y="1424"/>
                    </a:lnTo>
                    <a:lnTo>
                      <a:pt x="50830" y="1281"/>
                    </a:lnTo>
                    <a:lnTo>
                      <a:pt x="50674" y="1125"/>
                    </a:lnTo>
                    <a:lnTo>
                      <a:pt x="50517" y="997"/>
                    </a:lnTo>
                    <a:lnTo>
                      <a:pt x="50346" y="869"/>
                    </a:lnTo>
                    <a:lnTo>
                      <a:pt x="50176" y="741"/>
                    </a:lnTo>
                    <a:lnTo>
                      <a:pt x="50005" y="627"/>
                    </a:lnTo>
                    <a:lnTo>
                      <a:pt x="49820" y="527"/>
                    </a:lnTo>
                    <a:lnTo>
                      <a:pt x="49635" y="428"/>
                    </a:lnTo>
                    <a:lnTo>
                      <a:pt x="49450" y="342"/>
                    </a:lnTo>
                    <a:lnTo>
                      <a:pt x="49251" y="271"/>
                    </a:lnTo>
                    <a:lnTo>
                      <a:pt x="49051" y="200"/>
                    </a:lnTo>
                    <a:lnTo>
                      <a:pt x="48838" y="143"/>
                    </a:lnTo>
                    <a:lnTo>
                      <a:pt x="48625" y="86"/>
                    </a:lnTo>
                    <a:lnTo>
                      <a:pt x="48411" y="58"/>
                    </a:lnTo>
                    <a:lnTo>
                      <a:pt x="48198" y="29"/>
                    </a:lnTo>
                    <a:lnTo>
                      <a:pt x="47984" y="15"/>
                    </a:lnTo>
                    <a:lnTo>
                      <a:pt x="47757" y="1"/>
                    </a:lnTo>
                    <a:close/>
                  </a:path>
                </a:pathLst>
              </a:custGeom>
              <a:solidFill>
                <a:srgbClr val="2776EA">
                  <a:alpha val="376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535;p20">
                <a:extLst>
                  <a:ext uri="{FF2B5EF4-FFF2-40B4-BE49-F238E27FC236}">
                    <a16:creationId xmlns:a16="http://schemas.microsoft.com/office/drawing/2014/main" id="{3309C931-D5B9-E94A-F8D3-E60C4BF47DF8}"/>
                  </a:ext>
                </a:extLst>
              </p:cNvPr>
              <p:cNvSpPr/>
              <p:nvPr/>
            </p:nvSpPr>
            <p:spPr bwMode="auto">
              <a:xfrm>
                <a:off x="4807649" y="2364138"/>
                <a:ext cx="2575770" cy="3676632"/>
              </a:xfrm>
              <a:custGeom>
                <a:avLst/>
                <a:gdLst/>
                <a:ahLst/>
                <a:cxnLst/>
                <a:rect l="l" t="t" r="r" b="b"/>
                <a:pathLst>
                  <a:path w="45181" h="64491" extrusionOk="0">
                    <a:moveTo>
                      <a:pt x="41808" y="1196"/>
                    </a:moveTo>
                    <a:lnTo>
                      <a:pt x="42022" y="1210"/>
                    </a:lnTo>
                    <a:lnTo>
                      <a:pt x="42249" y="1239"/>
                    </a:lnTo>
                    <a:lnTo>
                      <a:pt x="42449" y="1296"/>
                    </a:lnTo>
                    <a:lnTo>
                      <a:pt x="42648" y="1367"/>
                    </a:lnTo>
                    <a:lnTo>
                      <a:pt x="42847" y="1467"/>
                    </a:lnTo>
                    <a:lnTo>
                      <a:pt x="43018" y="1566"/>
                    </a:lnTo>
                    <a:lnTo>
                      <a:pt x="43189" y="1694"/>
                    </a:lnTo>
                    <a:lnTo>
                      <a:pt x="43345" y="1837"/>
                    </a:lnTo>
                    <a:lnTo>
                      <a:pt x="43487" y="1993"/>
                    </a:lnTo>
                    <a:lnTo>
                      <a:pt x="43615" y="2164"/>
                    </a:lnTo>
                    <a:lnTo>
                      <a:pt x="43729" y="2349"/>
                    </a:lnTo>
                    <a:lnTo>
                      <a:pt x="43815" y="2534"/>
                    </a:lnTo>
                    <a:lnTo>
                      <a:pt x="43886" y="2733"/>
                    </a:lnTo>
                    <a:lnTo>
                      <a:pt x="43943" y="2946"/>
                    </a:lnTo>
                    <a:lnTo>
                      <a:pt x="43985" y="3160"/>
                    </a:lnTo>
                    <a:lnTo>
                      <a:pt x="43985" y="3388"/>
                    </a:lnTo>
                    <a:lnTo>
                      <a:pt x="43985" y="39119"/>
                    </a:lnTo>
                    <a:lnTo>
                      <a:pt x="43985" y="39503"/>
                    </a:lnTo>
                    <a:lnTo>
                      <a:pt x="43957" y="39873"/>
                    </a:lnTo>
                    <a:lnTo>
                      <a:pt x="43900" y="40257"/>
                    </a:lnTo>
                    <a:lnTo>
                      <a:pt x="43843" y="40642"/>
                    </a:lnTo>
                    <a:lnTo>
                      <a:pt x="43758" y="41026"/>
                    </a:lnTo>
                    <a:lnTo>
                      <a:pt x="43672" y="41424"/>
                    </a:lnTo>
                    <a:lnTo>
                      <a:pt x="43559" y="41808"/>
                    </a:lnTo>
                    <a:lnTo>
                      <a:pt x="43430" y="42207"/>
                    </a:lnTo>
                    <a:lnTo>
                      <a:pt x="43288" y="42605"/>
                    </a:lnTo>
                    <a:lnTo>
                      <a:pt x="43132" y="43004"/>
                    </a:lnTo>
                    <a:lnTo>
                      <a:pt x="42961" y="43402"/>
                    </a:lnTo>
                    <a:lnTo>
                      <a:pt x="42776" y="43801"/>
                    </a:lnTo>
                    <a:lnTo>
                      <a:pt x="42577" y="44199"/>
                    </a:lnTo>
                    <a:lnTo>
                      <a:pt x="42363" y="44612"/>
                    </a:lnTo>
                    <a:lnTo>
                      <a:pt x="42136" y="45010"/>
                    </a:lnTo>
                    <a:lnTo>
                      <a:pt x="41908" y="45409"/>
                    </a:lnTo>
                    <a:lnTo>
                      <a:pt x="41666" y="45821"/>
                    </a:lnTo>
                    <a:lnTo>
                      <a:pt x="41410" y="46220"/>
                    </a:lnTo>
                    <a:lnTo>
                      <a:pt x="40869" y="47031"/>
                    </a:lnTo>
                    <a:lnTo>
                      <a:pt x="40286" y="47828"/>
                    </a:lnTo>
                    <a:lnTo>
                      <a:pt x="39674" y="48639"/>
                    </a:lnTo>
                    <a:lnTo>
                      <a:pt x="39048" y="49421"/>
                    </a:lnTo>
                    <a:lnTo>
                      <a:pt x="38379" y="50204"/>
                    </a:lnTo>
                    <a:lnTo>
                      <a:pt x="37696" y="50987"/>
                    </a:lnTo>
                    <a:lnTo>
                      <a:pt x="36999" y="51755"/>
                    </a:lnTo>
                    <a:lnTo>
                      <a:pt x="36287" y="52495"/>
                    </a:lnTo>
                    <a:lnTo>
                      <a:pt x="35576" y="53235"/>
                    </a:lnTo>
                    <a:lnTo>
                      <a:pt x="34850" y="53947"/>
                    </a:lnTo>
                    <a:lnTo>
                      <a:pt x="34124" y="54658"/>
                    </a:lnTo>
                    <a:lnTo>
                      <a:pt x="33398" y="55327"/>
                    </a:lnTo>
                    <a:lnTo>
                      <a:pt x="32687" y="55996"/>
                    </a:lnTo>
                    <a:lnTo>
                      <a:pt x="31990" y="56622"/>
                    </a:lnTo>
                    <a:lnTo>
                      <a:pt x="31307" y="57234"/>
                    </a:lnTo>
                    <a:lnTo>
                      <a:pt x="29983" y="58372"/>
                    </a:lnTo>
                    <a:lnTo>
                      <a:pt x="28788" y="59382"/>
                    </a:lnTo>
                    <a:lnTo>
                      <a:pt x="27721" y="60250"/>
                    </a:lnTo>
                    <a:lnTo>
                      <a:pt x="26824" y="60976"/>
                    </a:lnTo>
                    <a:lnTo>
                      <a:pt x="25985" y="61673"/>
                    </a:lnTo>
                    <a:lnTo>
                      <a:pt x="25714" y="61901"/>
                    </a:lnTo>
                    <a:lnTo>
                      <a:pt x="25529" y="62072"/>
                    </a:lnTo>
                    <a:lnTo>
                      <a:pt x="25401" y="62186"/>
                    </a:lnTo>
                    <a:lnTo>
                      <a:pt x="25273" y="62314"/>
                    </a:lnTo>
                    <a:lnTo>
                      <a:pt x="25131" y="62442"/>
                    </a:lnTo>
                    <a:lnTo>
                      <a:pt x="24974" y="62556"/>
                    </a:lnTo>
                    <a:lnTo>
                      <a:pt x="24832" y="62669"/>
                    </a:lnTo>
                    <a:lnTo>
                      <a:pt x="24675" y="62769"/>
                    </a:lnTo>
                    <a:lnTo>
                      <a:pt x="24505" y="62854"/>
                    </a:lnTo>
                    <a:lnTo>
                      <a:pt x="24348" y="62940"/>
                    </a:lnTo>
                    <a:lnTo>
                      <a:pt x="24177" y="63011"/>
                    </a:lnTo>
                    <a:lnTo>
                      <a:pt x="24007" y="63082"/>
                    </a:lnTo>
                    <a:lnTo>
                      <a:pt x="23822" y="63139"/>
                    </a:lnTo>
                    <a:lnTo>
                      <a:pt x="23651" y="63182"/>
                    </a:lnTo>
                    <a:lnTo>
                      <a:pt x="23466" y="63224"/>
                    </a:lnTo>
                    <a:lnTo>
                      <a:pt x="23281" y="63253"/>
                    </a:lnTo>
                    <a:lnTo>
                      <a:pt x="23096" y="63281"/>
                    </a:lnTo>
                    <a:lnTo>
                      <a:pt x="22911" y="63296"/>
                    </a:lnTo>
                    <a:lnTo>
                      <a:pt x="22527" y="63296"/>
                    </a:lnTo>
                    <a:lnTo>
                      <a:pt x="22342" y="63281"/>
                    </a:lnTo>
                    <a:lnTo>
                      <a:pt x="22157" y="63253"/>
                    </a:lnTo>
                    <a:lnTo>
                      <a:pt x="21972" y="63224"/>
                    </a:lnTo>
                    <a:lnTo>
                      <a:pt x="21787" y="63182"/>
                    </a:lnTo>
                    <a:lnTo>
                      <a:pt x="21616" y="63139"/>
                    </a:lnTo>
                    <a:lnTo>
                      <a:pt x="21445" y="63082"/>
                    </a:lnTo>
                    <a:lnTo>
                      <a:pt x="21275" y="63011"/>
                    </a:lnTo>
                    <a:lnTo>
                      <a:pt x="21104" y="62940"/>
                    </a:lnTo>
                    <a:lnTo>
                      <a:pt x="20933" y="62854"/>
                    </a:lnTo>
                    <a:lnTo>
                      <a:pt x="20777" y="62755"/>
                    </a:lnTo>
                    <a:lnTo>
                      <a:pt x="20620" y="62655"/>
                    </a:lnTo>
                    <a:lnTo>
                      <a:pt x="20463" y="62556"/>
                    </a:lnTo>
                    <a:lnTo>
                      <a:pt x="20321" y="62442"/>
                    </a:lnTo>
                    <a:lnTo>
                      <a:pt x="20179" y="62314"/>
                    </a:lnTo>
                    <a:lnTo>
                      <a:pt x="20037" y="62186"/>
                    </a:lnTo>
                    <a:lnTo>
                      <a:pt x="19852" y="62015"/>
                    </a:lnTo>
                    <a:lnTo>
                      <a:pt x="19581" y="61787"/>
                    </a:lnTo>
                    <a:lnTo>
                      <a:pt x="18628" y="61019"/>
                    </a:lnTo>
                    <a:lnTo>
                      <a:pt x="17717" y="60293"/>
                    </a:lnTo>
                    <a:lnTo>
                      <a:pt x="16636" y="59425"/>
                    </a:lnTo>
                    <a:lnTo>
                      <a:pt x="15426" y="58415"/>
                    </a:lnTo>
                    <a:lnTo>
                      <a:pt x="14088" y="57276"/>
                    </a:lnTo>
                    <a:lnTo>
                      <a:pt x="13391" y="56664"/>
                    </a:lnTo>
                    <a:lnTo>
                      <a:pt x="12680" y="56038"/>
                    </a:lnTo>
                    <a:lnTo>
                      <a:pt x="11954" y="55370"/>
                    </a:lnTo>
                    <a:lnTo>
                      <a:pt x="11214" y="54701"/>
                    </a:lnTo>
                    <a:lnTo>
                      <a:pt x="10488" y="53989"/>
                    </a:lnTo>
                    <a:lnTo>
                      <a:pt x="9748" y="53278"/>
                    </a:lnTo>
                    <a:lnTo>
                      <a:pt x="9023" y="52538"/>
                    </a:lnTo>
                    <a:lnTo>
                      <a:pt x="8297" y="51784"/>
                    </a:lnTo>
                    <a:lnTo>
                      <a:pt x="7585" y="51015"/>
                    </a:lnTo>
                    <a:lnTo>
                      <a:pt x="6888" y="50247"/>
                    </a:lnTo>
                    <a:lnTo>
                      <a:pt x="6219" y="49464"/>
                    </a:lnTo>
                    <a:lnTo>
                      <a:pt x="5579" y="48667"/>
                    </a:lnTo>
                    <a:lnTo>
                      <a:pt x="4953" y="47870"/>
                    </a:lnTo>
                    <a:lnTo>
                      <a:pt x="4369" y="47059"/>
                    </a:lnTo>
                    <a:lnTo>
                      <a:pt x="3814" y="46248"/>
                    </a:lnTo>
                    <a:lnTo>
                      <a:pt x="3558" y="45850"/>
                    </a:lnTo>
                    <a:lnTo>
                      <a:pt x="3316" y="45437"/>
                    </a:lnTo>
                    <a:lnTo>
                      <a:pt x="3075" y="45039"/>
                    </a:lnTo>
                    <a:lnTo>
                      <a:pt x="2847" y="44626"/>
                    </a:lnTo>
                    <a:lnTo>
                      <a:pt x="2633" y="44227"/>
                    </a:lnTo>
                    <a:lnTo>
                      <a:pt x="2434" y="43829"/>
                    </a:lnTo>
                    <a:lnTo>
                      <a:pt x="2249" y="43416"/>
                    </a:lnTo>
                    <a:lnTo>
                      <a:pt x="2078" y="43018"/>
                    </a:lnTo>
                    <a:lnTo>
                      <a:pt x="1908" y="42619"/>
                    </a:lnTo>
                    <a:lnTo>
                      <a:pt x="1765" y="42221"/>
                    </a:lnTo>
                    <a:lnTo>
                      <a:pt x="1637" y="41823"/>
                    </a:lnTo>
                    <a:lnTo>
                      <a:pt x="1523" y="41438"/>
                    </a:lnTo>
                    <a:lnTo>
                      <a:pt x="1424" y="41040"/>
                    </a:lnTo>
                    <a:lnTo>
                      <a:pt x="1338" y="40656"/>
                    </a:lnTo>
                    <a:lnTo>
                      <a:pt x="1282" y="40272"/>
                    </a:lnTo>
                    <a:lnTo>
                      <a:pt x="1225" y="39887"/>
                    </a:lnTo>
                    <a:lnTo>
                      <a:pt x="1210" y="39503"/>
                    </a:lnTo>
                    <a:lnTo>
                      <a:pt x="1196" y="39119"/>
                    </a:lnTo>
                    <a:lnTo>
                      <a:pt x="1196" y="3388"/>
                    </a:lnTo>
                    <a:lnTo>
                      <a:pt x="1210" y="3160"/>
                    </a:lnTo>
                    <a:lnTo>
                      <a:pt x="1239" y="2946"/>
                    </a:lnTo>
                    <a:lnTo>
                      <a:pt x="1296" y="2733"/>
                    </a:lnTo>
                    <a:lnTo>
                      <a:pt x="1367" y="2534"/>
                    </a:lnTo>
                    <a:lnTo>
                      <a:pt x="1452" y="2349"/>
                    </a:lnTo>
                    <a:lnTo>
                      <a:pt x="1566" y="2164"/>
                    </a:lnTo>
                    <a:lnTo>
                      <a:pt x="1694" y="1993"/>
                    </a:lnTo>
                    <a:lnTo>
                      <a:pt x="1837" y="1837"/>
                    </a:lnTo>
                    <a:lnTo>
                      <a:pt x="1993" y="1694"/>
                    </a:lnTo>
                    <a:lnTo>
                      <a:pt x="2164" y="1566"/>
                    </a:lnTo>
                    <a:lnTo>
                      <a:pt x="2335" y="1467"/>
                    </a:lnTo>
                    <a:lnTo>
                      <a:pt x="2534" y="1367"/>
                    </a:lnTo>
                    <a:lnTo>
                      <a:pt x="2733" y="1296"/>
                    </a:lnTo>
                    <a:lnTo>
                      <a:pt x="2946" y="1239"/>
                    </a:lnTo>
                    <a:lnTo>
                      <a:pt x="3160" y="1210"/>
                    </a:lnTo>
                    <a:lnTo>
                      <a:pt x="3388" y="1196"/>
                    </a:lnTo>
                    <a:close/>
                    <a:moveTo>
                      <a:pt x="3203" y="1"/>
                    </a:moveTo>
                    <a:lnTo>
                      <a:pt x="3032" y="15"/>
                    </a:lnTo>
                    <a:lnTo>
                      <a:pt x="2861" y="44"/>
                    </a:lnTo>
                    <a:lnTo>
                      <a:pt x="2705" y="72"/>
                    </a:lnTo>
                    <a:lnTo>
                      <a:pt x="2377" y="157"/>
                    </a:lnTo>
                    <a:lnTo>
                      <a:pt x="2064" y="271"/>
                    </a:lnTo>
                    <a:lnTo>
                      <a:pt x="1765" y="414"/>
                    </a:lnTo>
                    <a:lnTo>
                      <a:pt x="1495" y="584"/>
                    </a:lnTo>
                    <a:lnTo>
                      <a:pt x="1239" y="769"/>
                    </a:lnTo>
                    <a:lnTo>
                      <a:pt x="997" y="997"/>
                    </a:lnTo>
                    <a:lnTo>
                      <a:pt x="769" y="1239"/>
                    </a:lnTo>
                    <a:lnTo>
                      <a:pt x="584" y="1495"/>
                    </a:lnTo>
                    <a:lnTo>
                      <a:pt x="414" y="1780"/>
                    </a:lnTo>
                    <a:lnTo>
                      <a:pt x="271" y="2064"/>
                    </a:lnTo>
                    <a:lnTo>
                      <a:pt x="157" y="2377"/>
                    </a:lnTo>
                    <a:lnTo>
                      <a:pt x="72" y="2705"/>
                    </a:lnTo>
                    <a:lnTo>
                      <a:pt x="44" y="2875"/>
                    </a:lnTo>
                    <a:lnTo>
                      <a:pt x="15" y="3032"/>
                    </a:lnTo>
                    <a:lnTo>
                      <a:pt x="1" y="3217"/>
                    </a:lnTo>
                    <a:lnTo>
                      <a:pt x="1" y="3388"/>
                    </a:lnTo>
                    <a:lnTo>
                      <a:pt x="1" y="39119"/>
                    </a:lnTo>
                    <a:lnTo>
                      <a:pt x="15" y="39532"/>
                    </a:lnTo>
                    <a:lnTo>
                      <a:pt x="44" y="39930"/>
                    </a:lnTo>
                    <a:lnTo>
                      <a:pt x="86" y="40343"/>
                    </a:lnTo>
                    <a:lnTo>
                      <a:pt x="157" y="40755"/>
                    </a:lnTo>
                    <a:lnTo>
                      <a:pt x="243" y="41168"/>
                    </a:lnTo>
                    <a:lnTo>
                      <a:pt x="342" y="41581"/>
                    </a:lnTo>
                    <a:lnTo>
                      <a:pt x="456" y="42008"/>
                    </a:lnTo>
                    <a:lnTo>
                      <a:pt x="584" y="42420"/>
                    </a:lnTo>
                    <a:lnTo>
                      <a:pt x="741" y="42847"/>
                    </a:lnTo>
                    <a:lnTo>
                      <a:pt x="897" y="43274"/>
                    </a:lnTo>
                    <a:lnTo>
                      <a:pt x="1082" y="43687"/>
                    </a:lnTo>
                    <a:lnTo>
                      <a:pt x="1267" y="44114"/>
                    </a:lnTo>
                    <a:lnTo>
                      <a:pt x="1481" y="44541"/>
                    </a:lnTo>
                    <a:lnTo>
                      <a:pt x="1694" y="44967"/>
                    </a:lnTo>
                    <a:lnTo>
                      <a:pt x="1936" y="45394"/>
                    </a:lnTo>
                    <a:lnTo>
                      <a:pt x="2178" y="45821"/>
                    </a:lnTo>
                    <a:lnTo>
                      <a:pt x="2434" y="46234"/>
                    </a:lnTo>
                    <a:lnTo>
                      <a:pt x="2690" y="46661"/>
                    </a:lnTo>
                    <a:lnTo>
                      <a:pt x="2975" y="47088"/>
                    </a:lnTo>
                    <a:lnTo>
                      <a:pt x="3260" y="47515"/>
                    </a:lnTo>
                    <a:lnTo>
                      <a:pt x="3857" y="48354"/>
                    </a:lnTo>
                    <a:lnTo>
                      <a:pt x="4498" y="49194"/>
                    </a:lnTo>
                    <a:lnTo>
                      <a:pt x="5152" y="50019"/>
                    </a:lnTo>
                    <a:lnTo>
                      <a:pt x="5849" y="50830"/>
                    </a:lnTo>
                    <a:lnTo>
                      <a:pt x="6561" y="51641"/>
                    </a:lnTo>
                    <a:lnTo>
                      <a:pt x="7287" y="52438"/>
                    </a:lnTo>
                    <a:lnTo>
                      <a:pt x="8027" y="53221"/>
                    </a:lnTo>
                    <a:lnTo>
                      <a:pt x="8781" y="53975"/>
                    </a:lnTo>
                    <a:lnTo>
                      <a:pt x="9535" y="54715"/>
                    </a:lnTo>
                    <a:lnTo>
                      <a:pt x="10289" y="55441"/>
                    </a:lnTo>
                    <a:lnTo>
                      <a:pt x="11029" y="56152"/>
                    </a:lnTo>
                    <a:lnTo>
                      <a:pt x="11783" y="56821"/>
                    </a:lnTo>
                    <a:lnTo>
                      <a:pt x="12509" y="57476"/>
                    </a:lnTo>
                    <a:lnTo>
                      <a:pt x="13220" y="58102"/>
                    </a:lnTo>
                    <a:lnTo>
                      <a:pt x="14586" y="59269"/>
                    </a:lnTo>
                    <a:lnTo>
                      <a:pt x="15853" y="60307"/>
                    </a:lnTo>
                    <a:lnTo>
                      <a:pt x="16963" y="61218"/>
                    </a:lnTo>
                    <a:lnTo>
                      <a:pt x="17888" y="61958"/>
                    </a:lnTo>
                    <a:lnTo>
                      <a:pt x="18727" y="62627"/>
                    </a:lnTo>
                    <a:lnTo>
                      <a:pt x="19026" y="62869"/>
                    </a:lnTo>
                    <a:lnTo>
                      <a:pt x="19197" y="63025"/>
                    </a:lnTo>
                    <a:lnTo>
                      <a:pt x="19368" y="63196"/>
                    </a:lnTo>
                    <a:lnTo>
                      <a:pt x="19567" y="63367"/>
                    </a:lnTo>
                    <a:lnTo>
                      <a:pt x="19752" y="63509"/>
                    </a:lnTo>
                    <a:lnTo>
                      <a:pt x="19951" y="63651"/>
                    </a:lnTo>
                    <a:lnTo>
                      <a:pt x="20165" y="63779"/>
                    </a:lnTo>
                    <a:lnTo>
                      <a:pt x="20378" y="63907"/>
                    </a:lnTo>
                    <a:lnTo>
                      <a:pt x="20592" y="64007"/>
                    </a:lnTo>
                    <a:lnTo>
                      <a:pt x="20805" y="64107"/>
                    </a:lnTo>
                    <a:lnTo>
                      <a:pt x="21033" y="64206"/>
                    </a:lnTo>
                    <a:lnTo>
                      <a:pt x="21260" y="64277"/>
                    </a:lnTo>
                    <a:lnTo>
                      <a:pt x="21502" y="64349"/>
                    </a:lnTo>
                    <a:lnTo>
                      <a:pt x="21744" y="64391"/>
                    </a:lnTo>
                    <a:lnTo>
                      <a:pt x="21986" y="64434"/>
                    </a:lnTo>
                    <a:lnTo>
                      <a:pt x="22228" y="64462"/>
                    </a:lnTo>
                    <a:lnTo>
                      <a:pt x="22470" y="64491"/>
                    </a:lnTo>
                    <a:lnTo>
                      <a:pt x="22968" y="64491"/>
                    </a:lnTo>
                    <a:lnTo>
                      <a:pt x="23224" y="64462"/>
                    </a:lnTo>
                    <a:lnTo>
                      <a:pt x="23466" y="64434"/>
                    </a:lnTo>
                    <a:lnTo>
                      <a:pt x="23708" y="64391"/>
                    </a:lnTo>
                    <a:lnTo>
                      <a:pt x="23936" y="64349"/>
                    </a:lnTo>
                    <a:lnTo>
                      <a:pt x="24177" y="64277"/>
                    </a:lnTo>
                    <a:lnTo>
                      <a:pt x="24405" y="64206"/>
                    </a:lnTo>
                    <a:lnTo>
                      <a:pt x="24633" y="64121"/>
                    </a:lnTo>
                    <a:lnTo>
                      <a:pt x="24860" y="64021"/>
                    </a:lnTo>
                    <a:lnTo>
                      <a:pt x="25074" y="63907"/>
                    </a:lnTo>
                    <a:lnTo>
                      <a:pt x="25287" y="63794"/>
                    </a:lnTo>
                    <a:lnTo>
                      <a:pt x="25487" y="63651"/>
                    </a:lnTo>
                    <a:lnTo>
                      <a:pt x="25686" y="63523"/>
                    </a:lnTo>
                    <a:lnTo>
                      <a:pt x="25885" y="63367"/>
                    </a:lnTo>
                    <a:lnTo>
                      <a:pt x="26070" y="63210"/>
                    </a:lnTo>
                    <a:lnTo>
                      <a:pt x="26241" y="63039"/>
                    </a:lnTo>
                    <a:lnTo>
                      <a:pt x="26369" y="62911"/>
                    </a:lnTo>
                    <a:lnTo>
                      <a:pt x="26525" y="62769"/>
                    </a:lnTo>
                    <a:lnTo>
                      <a:pt x="26796" y="62541"/>
                    </a:lnTo>
                    <a:lnTo>
                      <a:pt x="27578" y="61901"/>
                    </a:lnTo>
                    <a:lnTo>
                      <a:pt x="28489" y="61161"/>
                    </a:lnTo>
                    <a:lnTo>
                      <a:pt x="29585" y="60265"/>
                    </a:lnTo>
                    <a:lnTo>
                      <a:pt x="30823" y="59226"/>
                    </a:lnTo>
                    <a:lnTo>
                      <a:pt x="32160" y="58059"/>
                    </a:lnTo>
                    <a:lnTo>
                      <a:pt x="32872" y="57433"/>
                    </a:lnTo>
                    <a:lnTo>
                      <a:pt x="33598" y="56778"/>
                    </a:lnTo>
                    <a:lnTo>
                      <a:pt x="34323" y="56095"/>
                    </a:lnTo>
                    <a:lnTo>
                      <a:pt x="35063" y="55398"/>
                    </a:lnTo>
                    <a:lnTo>
                      <a:pt x="35803" y="54672"/>
                    </a:lnTo>
                    <a:lnTo>
                      <a:pt x="36543" y="53932"/>
                    </a:lnTo>
                    <a:lnTo>
                      <a:pt x="37283" y="53164"/>
                    </a:lnTo>
                    <a:lnTo>
                      <a:pt x="38009" y="52395"/>
                    </a:lnTo>
                    <a:lnTo>
                      <a:pt x="38735" y="51599"/>
                    </a:lnTo>
                    <a:lnTo>
                      <a:pt x="39432" y="50802"/>
                    </a:lnTo>
                    <a:lnTo>
                      <a:pt x="40101" y="49976"/>
                    </a:lnTo>
                    <a:lnTo>
                      <a:pt x="40755" y="49151"/>
                    </a:lnTo>
                    <a:lnTo>
                      <a:pt x="41381" y="48311"/>
                    </a:lnTo>
                    <a:lnTo>
                      <a:pt x="41979" y="47472"/>
                    </a:lnTo>
                    <a:lnTo>
                      <a:pt x="42264" y="47059"/>
                    </a:lnTo>
                    <a:lnTo>
                      <a:pt x="42534" y="46632"/>
                    </a:lnTo>
                    <a:lnTo>
                      <a:pt x="42790" y="46205"/>
                    </a:lnTo>
                    <a:lnTo>
                      <a:pt x="43046" y="45793"/>
                    </a:lnTo>
                    <a:lnTo>
                      <a:pt x="43288" y="45366"/>
                    </a:lnTo>
                    <a:lnTo>
                      <a:pt x="43516" y="44939"/>
                    </a:lnTo>
                    <a:lnTo>
                      <a:pt x="43729" y="44512"/>
                    </a:lnTo>
                    <a:lnTo>
                      <a:pt x="43929" y="44099"/>
                    </a:lnTo>
                    <a:lnTo>
                      <a:pt x="44114" y="43673"/>
                    </a:lnTo>
                    <a:lnTo>
                      <a:pt x="44299" y="43246"/>
                    </a:lnTo>
                    <a:lnTo>
                      <a:pt x="44455" y="42833"/>
                    </a:lnTo>
                    <a:lnTo>
                      <a:pt x="44612" y="42406"/>
                    </a:lnTo>
                    <a:lnTo>
                      <a:pt x="44740" y="41993"/>
                    </a:lnTo>
                    <a:lnTo>
                      <a:pt x="44853" y="41566"/>
                    </a:lnTo>
                    <a:lnTo>
                      <a:pt x="44953" y="41154"/>
                    </a:lnTo>
                    <a:lnTo>
                      <a:pt x="45038" y="40741"/>
                    </a:lnTo>
                    <a:lnTo>
                      <a:pt x="45095" y="40343"/>
                    </a:lnTo>
                    <a:lnTo>
                      <a:pt x="45138" y="39930"/>
                    </a:lnTo>
                    <a:lnTo>
                      <a:pt x="45167" y="39532"/>
                    </a:lnTo>
                    <a:lnTo>
                      <a:pt x="45181" y="39119"/>
                    </a:lnTo>
                    <a:lnTo>
                      <a:pt x="45181" y="3388"/>
                    </a:lnTo>
                    <a:lnTo>
                      <a:pt x="45181" y="3217"/>
                    </a:lnTo>
                    <a:lnTo>
                      <a:pt x="45167" y="3032"/>
                    </a:lnTo>
                    <a:lnTo>
                      <a:pt x="45138" y="2875"/>
                    </a:lnTo>
                    <a:lnTo>
                      <a:pt x="45110" y="2705"/>
                    </a:lnTo>
                    <a:lnTo>
                      <a:pt x="45024" y="2377"/>
                    </a:lnTo>
                    <a:lnTo>
                      <a:pt x="44910" y="2064"/>
                    </a:lnTo>
                    <a:lnTo>
                      <a:pt x="44768" y="1780"/>
                    </a:lnTo>
                    <a:lnTo>
                      <a:pt x="44597" y="1495"/>
                    </a:lnTo>
                    <a:lnTo>
                      <a:pt x="44412" y="1239"/>
                    </a:lnTo>
                    <a:lnTo>
                      <a:pt x="44185" y="997"/>
                    </a:lnTo>
                    <a:lnTo>
                      <a:pt x="43957" y="769"/>
                    </a:lnTo>
                    <a:lnTo>
                      <a:pt x="43687" y="584"/>
                    </a:lnTo>
                    <a:lnTo>
                      <a:pt x="43416" y="414"/>
                    </a:lnTo>
                    <a:lnTo>
                      <a:pt x="43117" y="271"/>
                    </a:lnTo>
                    <a:lnTo>
                      <a:pt x="42804" y="157"/>
                    </a:lnTo>
                    <a:lnTo>
                      <a:pt x="42477" y="72"/>
                    </a:lnTo>
                    <a:lnTo>
                      <a:pt x="42321" y="44"/>
                    </a:lnTo>
                    <a:lnTo>
                      <a:pt x="42150" y="15"/>
                    </a:lnTo>
                    <a:lnTo>
                      <a:pt x="41979" y="1"/>
                    </a:lnTo>
                    <a:close/>
                  </a:path>
                </a:pathLst>
              </a:custGeom>
              <a:solidFill>
                <a:srgbClr val="2776EA">
                  <a:alpha val="25099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536;p20">
                <a:extLst>
                  <a:ext uri="{FF2B5EF4-FFF2-40B4-BE49-F238E27FC236}">
                    <a16:creationId xmlns:a16="http://schemas.microsoft.com/office/drawing/2014/main" id="{1420C1FA-581C-19D8-283E-FC710583E684}"/>
                  </a:ext>
                </a:extLst>
              </p:cNvPr>
              <p:cNvSpPr/>
              <p:nvPr/>
            </p:nvSpPr>
            <p:spPr bwMode="auto">
              <a:xfrm>
                <a:off x="5467221" y="1578058"/>
                <a:ext cx="370793" cy="827500"/>
              </a:xfrm>
              <a:custGeom>
                <a:avLst/>
                <a:gdLst/>
                <a:ahLst/>
                <a:cxnLst/>
                <a:rect l="l" t="t" r="r" b="b"/>
                <a:pathLst>
                  <a:path w="6504" h="14515" extrusionOk="0">
                    <a:moveTo>
                      <a:pt x="840" y="0"/>
                    </a:moveTo>
                    <a:lnTo>
                      <a:pt x="1" y="854"/>
                    </a:lnTo>
                    <a:lnTo>
                      <a:pt x="5309" y="6162"/>
                    </a:lnTo>
                    <a:lnTo>
                      <a:pt x="5309" y="14515"/>
                    </a:lnTo>
                    <a:lnTo>
                      <a:pt x="6504" y="14515"/>
                    </a:lnTo>
                    <a:lnTo>
                      <a:pt x="6504" y="5664"/>
                    </a:lnTo>
                    <a:lnTo>
                      <a:pt x="84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537;p20">
                <a:extLst>
                  <a:ext uri="{FF2B5EF4-FFF2-40B4-BE49-F238E27FC236}">
                    <a16:creationId xmlns:a16="http://schemas.microsoft.com/office/drawing/2014/main" id="{250000C4-7204-CE71-F1EF-AE365E53CCFC}"/>
                  </a:ext>
                </a:extLst>
              </p:cNvPr>
              <p:cNvSpPr/>
              <p:nvPr/>
            </p:nvSpPr>
            <p:spPr bwMode="auto">
              <a:xfrm>
                <a:off x="5515110" y="2003936"/>
                <a:ext cx="68184" cy="401636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7045" extrusionOk="0">
                    <a:moveTo>
                      <a:pt x="0" y="1"/>
                    </a:moveTo>
                    <a:lnTo>
                      <a:pt x="0" y="7045"/>
                    </a:lnTo>
                    <a:lnTo>
                      <a:pt x="1196" y="7045"/>
                    </a:lnTo>
                    <a:lnTo>
                      <a:pt x="11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538;p20">
                <a:extLst>
                  <a:ext uri="{FF2B5EF4-FFF2-40B4-BE49-F238E27FC236}">
                    <a16:creationId xmlns:a16="http://schemas.microsoft.com/office/drawing/2014/main" id="{E37448F4-3745-D520-C895-D7BAD08A6D68}"/>
                  </a:ext>
                </a:extLst>
              </p:cNvPr>
              <p:cNvSpPr/>
              <p:nvPr/>
            </p:nvSpPr>
            <p:spPr bwMode="auto">
              <a:xfrm>
                <a:off x="6160884" y="1403600"/>
                <a:ext cx="339152" cy="1001951"/>
              </a:xfrm>
              <a:custGeom>
                <a:avLst/>
                <a:gdLst/>
                <a:ahLst/>
                <a:cxnLst/>
                <a:rect l="l" t="t" r="r" b="b"/>
                <a:pathLst>
                  <a:path w="5949" h="17575" extrusionOk="0">
                    <a:moveTo>
                      <a:pt x="5109" y="1"/>
                    </a:moveTo>
                    <a:lnTo>
                      <a:pt x="0" y="5123"/>
                    </a:lnTo>
                    <a:lnTo>
                      <a:pt x="0" y="17575"/>
                    </a:lnTo>
                    <a:lnTo>
                      <a:pt x="1181" y="17575"/>
                    </a:lnTo>
                    <a:lnTo>
                      <a:pt x="1181" y="5607"/>
                    </a:lnTo>
                    <a:lnTo>
                      <a:pt x="5948" y="854"/>
                    </a:lnTo>
                    <a:lnTo>
                      <a:pt x="510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539;p20">
                <a:extLst>
                  <a:ext uri="{FF2B5EF4-FFF2-40B4-BE49-F238E27FC236}">
                    <a16:creationId xmlns:a16="http://schemas.microsoft.com/office/drawing/2014/main" id="{1046804A-AEDD-6C50-1077-0D6FD6CD44E9}"/>
                  </a:ext>
                </a:extLst>
              </p:cNvPr>
              <p:cNvSpPr/>
              <p:nvPr/>
            </p:nvSpPr>
            <p:spPr bwMode="auto">
              <a:xfrm>
                <a:off x="6382375" y="1620190"/>
                <a:ext cx="330201" cy="785369"/>
              </a:xfrm>
              <a:custGeom>
                <a:avLst/>
                <a:gdLst/>
                <a:ahLst/>
                <a:cxnLst/>
                <a:rect l="l" t="t" r="r" b="b"/>
                <a:pathLst>
                  <a:path w="5792" h="13776" extrusionOk="0">
                    <a:moveTo>
                      <a:pt x="4952" y="1"/>
                    </a:moveTo>
                    <a:lnTo>
                      <a:pt x="0" y="4953"/>
                    </a:lnTo>
                    <a:lnTo>
                      <a:pt x="0" y="13776"/>
                    </a:lnTo>
                    <a:lnTo>
                      <a:pt x="1195" y="13776"/>
                    </a:lnTo>
                    <a:lnTo>
                      <a:pt x="1195" y="5451"/>
                    </a:lnTo>
                    <a:lnTo>
                      <a:pt x="5792" y="855"/>
                    </a:lnTo>
                    <a:lnTo>
                      <a:pt x="495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540;p20">
                <a:extLst>
                  <a:ext uri="{FF2B5EF4-FFF2-40B4-BE49-F238E27FC236}">
                    <a16:creationId xmlns:a16="http://schemas.microsoft.com/office/drawing/2014/main" id="{D00155CD-977E-3F67-AFA8-28C5DEEF14DB}"/>
                  </a:ext>
                </a:extLst>
              </p:cNvPr>
              <p:cNvSpPr/>
              <p:nvPr/>
            </p:nvSpPr>
            <p:spPr bwMode="auto">
              <a:xfrm>
                <a:off x="6605463" y="2003936"/>
                <a:ext cx="68184" cy="401636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7045" extrusionOk="0">
                    <a:moveTo>
                      <a:pt x="0" y="1"/>
                    </a:moveTo>
                    <a:lnTo>
                      <a:pt x="0" y="7045"/>
                    </a:lnTo>
                    <a:lnTo>
                      <a:pt x="1196" y="7045"/>
                    </a:lnTo>
                    <a:lnTo>
                      <a:pt x="119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541;p20">
                <a:extLst>
                  <a:ext uri="{FF2B5EF4-FFF2-40B4-BE49-F238E27FC236}">
                    <a16:creationId xmlns:a16="http://schemas.microsoft.com/office/drawing/2014/main" id="{8BEAD275-BD80-5AD8-8DEA-6A87212F130D}"/>
                  </a:ext>
                </a:extLst>
              </p:cNvPr>
              <p:cNvSpPr/>
              <p:nvPr/>
            </p:nvSpPr>
            <p:spPr bwMode="auto">
              <a:xfrm>
                <a:off x="6580320" y="1564260"/>
                <a:ext cx="193948" cy="193948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3402" extrusionOk="0">
                    <a:moveTo>
                      <a:pt x="1523" y="0"/>
                    </a:moveTo>
                    <a:lnTo>
                      <a:pt x="1352" y="29"/>
                    </a:lnTo>
                    <a:lnTo>
                      <a:pt x="1195" y="71"/>
                    </a:lnTo>
                    <a:lnTo>
                      <a:pt x="1039" y="128"/>
                    </a:lnTo>
                    <a:lnTo>
                      <a:pt x="882" y="199"/>
                    </a:lnTo>
                    <a:lnTo>
                      <a:pt x="740" y="285"/>
                    </a:lnTo>
                    <a:lnTo>
                      <a:pt x="612" y="384"/>
                    </a:lnTo>
                    <a:lnTo>
                      <a:pt x="498" y="498"/>
                    </a:lnTo>
                    <a:lnTo>
                      <a:pt x="384" y="612"/>
                    </a:lnTo>
                    <a:lnTo>
                      <a:pt x="285" y="740"/>
                    </a:lnTo>
                    <a:lnTo>
                      <a:pt x="199" y="882"/>
                    </a:lnTo>
                    <a:lnTo>
                      <a:pt x="128" y="1039"/>
                    </a:lnTo>
                    <a:lnTo>
                      <a:pt x="71" y="1195"/>
                    </a:lnTo>
                    <a:lnTo>
                      <a:pt x="29" y="1352"/>
                    </a:lnTo>
                    <a:lnTo>
                      <a:pt x="0" y="1523"/>
                    </a:lnTo>
                    <a:lnTo>
                      <a:pt x="0" y="1693"/>
                    </a:lnTo>
                    <a:lnTo>
                      <a:pt x="0" y="1878"/>
                    </a:lnTo>
                    <a:lnTo>
                      <a:pt x="29" y="2035"/>
                    </a:lnTo>
                    <a:lnTo>
                      <a:pt x="71" y="2206"/>
                    </a:lnTo>
                    <a:lnTo>
                      <a:pt x="128" y="2362"/>
                    </a:lnTo>
                    <a:lnTo>
                      <a:pt x="199" y="2505"/>
                    </a:lnTo>
                    <a:lnTo>
                      <a:pt x="285" y="2647"/>
                    </a:lnTo>
                    <a:lnTo>
                      <a:pt x="384" y="2775"/>
                    </a:lnTo>
                    <a:lnTo>
                      <a:pt x="498" y="2903"/>
                    </a:lnTo>
                    <a:lnTo>
                      <a:pt x="612" y="3017"/>
                    </a:lnTo>
                    <a:lnTo>
                      <a:pt x="740" y="3102"/>
                    </a:lnTo>
                    <a:lnTo>
                      <a:pt x="882" y="3188"/>
                    </a:lnTo>
                    <a:lnTo>
                      <a:pt x="1039" y="3259"/>
                    </a:lnTo>
                    <a:lnTo>
                      <a:pt x="1195" y="3330"/>
                    </a:lnTo>
                    <a:lnTo>
                      <a:pt x="1352" y="3358"/>
                    </a:lnTo>
                    <a:lnTo>
                      <a:pt x="1523" y="3387"/>
                    </a:lnTo>
                    <a:lnTo>
                      <a:pt x="1694" y="3401"/>
                    </a:lnTo>
                    <a:lnTo>
                      <a:pt x="1879" y="3387"/>
                    </a:lnTo>
                    <a:lnTo>
                      <a:pt x="2035" y="3358"/>
                    </a:lnTo>
                    <a:lnTo>
                      <a:pt x="2206" y="3330"/>
                    </a:lnTo>
                    <a:lnTo>
                      <a:pt x="2362" y="3259"/>
                    </a:lnTo>
                    <a:lnTo>
                      <a:pt x="2505" y="3188"/>
                    </a:lnTo>
                    <a:lnTo>
                      <a:pt x="2647" y="3102"/>
                    </a:lnTo>
                    <a:lnTo>
                      <a:pt x="2775" y="3017"/>
                    </a:lnTo>
                    <a:lnTo>
                      <a:pt x="2903" y="2903"/>
                    </a:lnTo>
                    <a:lnTo>
                      <a:pt x="3017" y="2775"/>
                    </a:lnTo>
                    <a:lnTo>
                      <a:pt x="3102" y="2647"/>
                    </a:lnTo>
                    <a:lnTo>
                      <a:pt x="3188" y="2505"/>
                    </a:lnTo>
                    <a:lnTo>
                      <a:pt x="3259" y="2362"/>
                    </a:lnTo>
                    <a:lnTo>
                      <a:pt x="3330" y="2206"/>
                    </a:lnTo>
                    <a:lnTo>
                      <a:pt x="3358" y="2035"/>
                    </a:lnTo>
                    <a:lnTo>
                      <a:pt x="3387" y="1878"/>
                    </a:lnTo>
                    <a:lnTo>
                      <a:pt x="3401" y="1693"/>
                    </a:lnTo>
                    <a:lnTo>
                      <a:pt x="3387" y="1523"/>
                    </a:lnTo>
                    <a:lnTo>
                      <a:pt x="3358" y="1352"/>
                    </a:lnTo>
                    <a:lnTo>
                      <a:pt x="3330" y="1195"/>
                    </a:lnTo>
                    <a:lnTo>
                      <a:pt x="3259" y="1039"/>
                    </a:lnTo>
                    <a:lnTo>
                      <a:pt x="3188" y="882"/>
                    </a:lnTo>
                    <a:lnTo>
                      <a:pt x="3102" y="740"/>
                    </a:lnTo>
                    <a:lnTo>
                      <a:pt x="3017" y="612"/>
                    </a:lnTo>
                    <a:lnTo>
                      <a:pt x="2903" y="498"/>
                    </a:lnTo>
                    <a:lnTo>
                      <a:pt x="2775" y="384"/>
                    </a:lnTo>
                    <a:lnTo>
                      <a:pt x="2647" y="285"/>
                    </a:lnTo>
                    <a:lnTo>
                      <a:pt x="2505" y="199"/>
                    </a:lnTo>
                    <a:lnTo>
                      <a:pt x="2362" y="128"/>
                    </a:lnTo>
                    <a:lnTo>
                      <a:pt x="2206" y="71"/>
                    </a:lnTo>
                    <a:lnTo>
                      <a:pt x="2035" y="29"/>
                    </a:lnTo>
                    <a:lnTo>
                      <a:pt x="1879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542;p20">
                <a:extLst>
                  <a:ext uri="{FF2B5EF4-FFF2-40B4-BE49-F238E27FC236}">
                    <a16:creationId xmlns:a16="http://schemas.microsoft.com/office/drawing/2014/main" id="{DA48F57A-884F-CD90-B411-18478C444A69}"/>
                  </a:ext>
                </a:extLst>
              </p:cNvPr>
              <p:cNvSpPr/>
              <p:nvPr/>
            </p:nvSpPr>
            <p:spPr bwMode="auto">
              <a:xfrm>
                <a:off x="6366127" y="1350067"/>
                <a:ext cx="193948" cy="193948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3402" extrusionOk="0">
                    <a:moveTo>
                      <a:pt x="1708" y="0"/>
                    </a:moveTo>
                    <a:lnTo>
                      <a:pt x="1523" y="15"/>
                    </a:lnTo>
                    <a:lnTo>
                      <a:pt x="1352" y="29"/>
                    </a:lnTo>
                    <a:lnTo>
                      <a:pt x="1196" y="72"/>
                    </a:lnTo>
                    <a:lnTo>
                      <a:pt x="1039" y="128"/>
                    </a:lnTo>
                    <a:lnTo>
                      <a:pt x="897" y="200"/>
                    </a:lnTo>
                    <a:lnTo>
                      <a:pt x="755" y="285"/>
                    </a:lnTo>
                    <a:lnTo>
                      <a:pt x="612" y="385"/>
                    </a:lnTo>
                    <a:lnTo>
                      <a:pt x="499" y="498"/>
                    </a:lnTo>
                    <a:lnTo>
                      <a:pt x="385" y="612"/>
                    </a:lnTo>
                    <a:lnTo>
                      <a:pt x="285" y="755"/>
                    </a:lnTo>
                    <a:lnTo>
                      <a:pt x="200" y="897"/>
                    </a:lnTo>
                    <a:lnTo>
                      <a:pt x="129" y="1039"/>
                    </a:lnTo>
                    <a:lnTo>
                      <a:pt x="72" y="1196"/>
                    </a:lnTo>
                    <a:lnTo>
                      <a:pt x="29" y="1352"/>
                    </a:lnTo>
                    <a:lnTo>
                      <a:pt x="15" y="1523"/>
                    </a:lnTo>
                    <a:lnTo>
                      <a:pt x="0" y="1708"/>
                    </a:lnTo>
                    <a:lnTo>
                      <a:pt x="15" y="1879"/>
                    </a:lnTo>
                    <a:lnTo>
                      <a:pt x="29" y="2050"/>
                    </a:lnTo>
                    <a:lnTo>
                      <a:pt x="72" y="2206"/>
                    </a:lnTo>
                    <a:lnTo>
                      <a:pt x="129" y="2363"/>
                    </a:lnTo>
                    <a:lnTo>
                      <a:pt x="200" y="2519"/>
                    </a:lnTo>
                    <a:lnTo>
                      <a:pt x="285" y="2647"/>
                    </a:lnTo>
                    <a:lnTo>
                      <a:pt x="385" y="2789"/>
                    </a:lnTo>
                    <a:lnTo>
                      <a:pt x="499" y="2903"/>
                    </a:lnTo>
                    <a:lnTo>
                      <a:pt x="612" y="3017"/>
                    </a:lnTo>
                    <a:lnTo>
                      <a:pt x="755" y="3117"/>
                    </a:lnTo>
                    <a:lnTo>
                      <a:pt x="897" y="3202"/>
                    </a:lnTo>
                    <a:lnTo>
                      <a:pt x="1039" y="3273"/>
                    </a:lnTo>
                    <a:lnTo>
                      <a:pt x="1196" y="3330"/>
                    </a:lnTo>
                    <a:lnTo>
                      <a:pt x="1352" y="3373"/>
                    </a:lnTo>
                    <a:lnTo>
                      <a:pt x="1523" y="3387"/>
                    </a:lnTo>
                    <a:lnTo>
                      <a:pt x="1708" y="3401"/>
                    </a:lnTo>
                    <a:lnTo>
                      <a:pt x="1879" y="3387"/>
                    </a:lnTo>
                    <a:lnTo>
                      <a:pt x="2050" y="3373"/>
                    </a:lnTo>
                    <a:lnTo>
                      <a:pt x="2206" y="3330"/>
                    </a:lnTo>
                    <a:lnTo>
                      <a:pt x="2363" y="3273"/>
                    </a:lnTo>
                    <a:lnTo>
                      <a:pt x="2519" y="3202"/>
                    </a:lnTo>
                    <a:lnTo>
                      <a:pt x="2647" y="3117"/>
                    </a:lnTo>
                    <a:lnTo>
                      <a:pt x="2790" y="3017"/>
                    </a:lnTo>
                    <a:lnTo>
                      <a:pt x="2903" y="2903"/>
                    </a:lnTo>
                    <a:lnTo>
                      <a:pt x="3017" y="2789"/>
                    </a:lnTo>
                    <a:lnTo>
                      <a:pt x="3117" y="2647"/>
                    </a:lnTo>
                    <a:lnTo>
                      <a:pt x="3202" y="2519"/>
                    </a:lnTo>
                    <a:lnTo>
                      <a:pt x="3273" y="2363"/>
                    </a:lnTo>
                    <a:lnTo>
                      <a:pt x="3330" y="2206"/>
                    </a:lnTo>
                    <a:lnTo>
                      <a:pt x="3373" y="2050"/>
                    </a:lnTo>
                    <a:lnTo>
                      <a:pt x="3387" y="1879"/>
                    </a:lnTo>
                    <a:lnTo>
                      <a:pt x="3401" y="1708"/>
                    </a:lnTo>
                    <a:lnTo>
                      <a:pt x="3387" y="1523"/>
                    </a:lnTo>
                    <a:lnTo>
                      <a:pt x="3373" y="1352"/>
                    </a:lnTo>
                    <a:lnTo>
                      <a:pt x="3330" y="1196"/>
                    </a:lnTo>
                    <a:lnTo>
                      <a:pt x="3273" y="1039"/>
                    </a:lnTo>
                    <a:lnTo>
                      <a:pt x="3202" y="897"/>
                    </a:lnTo>
                    <a:lnTo>
                      <a:pt x="3117" y="755"/>
                    </a:lnTo>
                    <a:lnTo>
                      <a:pt x="3017" y="612"/>
                    </a:lnTo>
                    <a:lnTo>
                      <a:pt x="2903" y="498"/>
                    </a:lnTo>
                    <a:lnTo>
                      <a:pt x="2790" y="385"/>
                    </a:lnTo>
                    <a:lnTo>
                      <a:pt x="2647" y="285"/>
                    </a:lnTo>
                    <a:lnTo>
                      <a:pt x="2519" y="200"/>
                    </a:lnTo>
                    <a:lnTo>
                      <a:pt x="2363" y="128"/>
                    </a:lnTo>
                    <a:lnTo>
                      <a:pt x="2206" y="72"/>
                    </a:lnTo>
                    <a:lnTo>
                      <a:pt x="2050" y="29"/>
                    </a:lnTo>
                    <a:lnTo>
                      <a:pt x="1879" y="15"/>
                    </a:lnTo>
                    <a:lnTo>
                      <a:pt x="17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543;p20">
                <a:extLst>
                  <a:ext uri="{FF2B5EF4-FFF2-40B4-BE49-F238E27FC236}">
                    <a16:creationId xmlns:a16="http://schemas.microsoft.com/office/drawing/2014/main" id="{536ECA6C-2AF9-4E41-96D1-E822BEF09CE8}"/>
                  </a:ext>
                </a:extLst>
              </p:cNvPr>
              <p:cNvSpPr/>
              <p:nvPr/>
            </p:nvSpPr>
            <p:spPr bwMode="auto">
              <a:xfrm>
                <a:off x="5416936" y="1548012"/>
                <a:ext cx="193948" cy="193948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3402" extrusionOk="0">
                    <a:moveTo>
                      <a:pt x="1537" y="1"/>
                    </a:moveTo>
                    <a:lnTo>
                      <a:pt x="1367" y="29"/>
                    </a:lnTo>
                    <a:lnTo>
                      <a:pt x="1196" y="72"/>
                    </a:lnTo>
                    <a:lnTo>
                      <a:pt x="1039" y="129"/>
                    </a:lnTo>
                    <a:lnTo>
                      <a:pt x="897" y="200"/>
                    </a:lnTo>
                    <a:lnTo>
                      <a:pt x="755" y="285"/>
                    </a:lnTo>
                    <a:lnTo>
                      <a:pt x="627" y="385"/>
                    </a:lnTo>
                    <a:lnTo>
                      <a:pt x="499" y="499"/>
                    </a:lnTo>
                    <a:lnTo>
                      <a:pt x="399" y="612"/>
                    </a:lnTo>
                    <a:lnTo>
                      <a:pt x="299" y="740"/>
                    </a:lnTo>
                    <a:lnTo>
                      <a:pt x="214" y="883"/>
                    </a:lnTo>
                    <a:lnTo>
                      <a:pt x="143" y="1039"/>
                    </a:lnTo>
                    <a:lnTo>
                      <a:pt x="86" y="1196"/>
                    </a:lnTo>
                    <a:lnTo>
                      <a:pt x="43" y="1352"/>
                    </a:lnTo>
                    <a:lnTo>
                      <a:pt x="15" y="1523"/>
                    </a:lnTo>
                    <a:lnTo>
                      <a:pt x="1" y="1694"/>
                    </a:lnTo>
                    <a:lnTo>
                      <a:pt x="15" y="1865"/>
                    </a:lnTo>
                    <a:lnTo>
                      <a:pt x="43" y="2035"/>
                    </a:lnTo>
                    <a:lnTo>
                      <a:pt x="86" y="2206"/>
                    </a:lnTo>
                    <a:lnTo>
                      <a:pt x="143" y="2363"/>
                    </a:lnTo>
                    <a:lnTo>
                      <a:pt x="214" y="2505"/>
                    </a:lnTo>
                    <a:lnTo>
                      <a:pt x="299" y="2647"/>
                    </a:lnTo>
                    <a:lnTo>
                      <a:pt x="399" y="2775"/>
                    </a:lnTo>
                    <a:lnTo>
                      <a:pt x="499" y="2903"/>
                    </a:lnTo>
                    <a:lnTo>
                      <a:pt x="627" y="3003"/>
                    </a:lnTo>
                    <a:lnTo>
                      <a:pt x="755" y="3103"/>
                    </a:lnTo>
                    <a:lnTo>
                      <a:pt x="897" y="3188"/>
                    </a:lnTo>
                    <a:lnTo>
                      <a:pt x="1039" y="3259"/>
                    </a:lnTo>
                    <a:lnTo>
                      <a:pt x="1196" y="3316"/>
                    </a:lnTo>
                    <a:lnTo>
                      <a:pt x="1367" y="3359"/>
                    </a:lnTo>
                    <a:lnTo>
                      <a:pt x="1537" y="3387"/>
                    </a:lnTo>
                    <a:lnTo>
                      <a:pt x="1708" y="3401"/>
                    </a:lnTo>
                    <a:lnTo>
                      <a:pt x="1879" y="3387"/>
                    </a:lnTo>
                    <a:lnTo>
                      <a:pt x="2050" y="3359"/>
                    </a:lnTo>
                    <a:lnTo>
                      <a:pt x="2206" y="3316"/>
                    </a:lnTo>
                    <a:lnTo>
                      <a:pt x="2363" y="3259"/>
                    </a:lnTo>
                    <a:lnTo>
                      <a:pt x="2519" y="3188"/>
                    </a:lnTo>
                    <a:lnTo>
                      <a:pt x="2661" y="3103"/>
                    </a:lnTo>
                    <a:lnTo>
                      <a:pt x="2790" y="3003"/>
                    </a:lnTo>
                    <a:lnTo>
                      <a:pt x="2903" y="2903"/>
                    </a:lnTo>
                    <a:lnTo>
                      <a:pt x="3017" y="2775"/>
                    </a:lnTo>
                    <a:lnTo>
                      <a:pt x="3117" y="2647"/>
                    </a:lnTo>
                    <a:lnTo>
                      <a:pt x="3202" y="2505"/>
                    </a:lnTo>
                    <a:lnTo>
                      <a:pt x="3273" y="2363"/>
                    </a:lnTo>
                    <a:lnTo>
                      <a:pt x="3330" y="2206"/>
                    </a:lnTo>
                    <a:lnTo>
                      <a:pt x="3373" y="2035"/>
                    </a:lnTo>
                    <a:lnTo>
                      <a:pt x="3401" y="1865"/>
                    </a:lnTo>
                    <a:lnTo>
                      <a:pt x="3401" y="1694"/>
                    </a:lnTo>
                    <a:lnTo>
                      <a:pt x="3401" y="1523"/>
                    </a:lnTo>
                    <a:lnTo>
                      <a:pt x="3373" y="1352"/>
                    </a:lnTo>
                    <a:lnTo>
                      <a:pt x="3330" y="1196"/>
                    </a:lnTo>
                    <a:lnTo>
                      <a:pt x="3273" y="1039"/>
                    </a:lnTo>
                    <a:lnTo>
                      <a:pt x="3202" y="883"/>
                    </a:lnTo>
                    <a:lnTo>
                      <a:pt x="3117" y="740"/>
                    </a:lnTo>
                    <a:lnTo>
                      <a:pt x="3017" y="612"/>
                    </a:lnTo>
                    <a:lnTo>
                      <a:pt x="2903" y="499"/>
                    </a:lnTo>
                    <a:lnTo>
                      <a:pt x="2790" y="385"/>
                    </a:lnTo>
                    <a:lnTo>
                      <a:pt x="2661" y="285"/>
                    </a:lnTo>
                    <a:lnTo>
                      <a:pt x="2519" y="200"/>
                    </a:lnTo>
                    <a:lnTo>
                      <a:pt x="2363" y="129"/>
                    </a:lnTo>
                    <a:lnTo>
                      <a:pt x="2206" y="72"/>
                    </a:lnTo>
                    <a:lnTo>
                      <a:pt x="2050" y="29"/>
                    </a:lnTo>
                    <a:lnTo>
                      <a:pt x="187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544;p20">
                <a:extLst>
                  <a:ext uri="{FF2B5EF4-FFF2-40B4-BE49-F238E27FC236}">
                    <a16:creationId xmlns:a16="http://schemas.microsoft.com/office/drawing/2014/main" id="{F87EFBD2-2651-03CC-CEDB-0E8724529DE5}"/>
                  </a:ext>
                </a:extLst>
              </p:cNvPr>
              <p:cNvSpPr/>
              <p:nvPr/>
            </p:nvSpPr>
            <p:spPr bwMode="auto">
              <a:xfrm>
                <a:off x="7349411" y="2669611"/>
                <a:ext cx="827500" cy="370793"/>
              </a:xfrm>
              <a:custGeom>
                <a:avLst/>
                <a:gdLst/>
                <a:ahLst/>
                <a:cxnLst/>
                <a:rect l="l" t="t" r="r" b="b"/>
                <a:pathLst>
                  <a:path w="14515" h="6504" extrusionOk="0">
                    <a:moveTo>
                      <a:pt x="13675" y="0"/>
                    </a:moveTo>
                    <a:lnTo>
                      <a:pt x="8367" y="5308"/>
                    </a:lnTo>
                    <a:lnTo>
                      <a:pt x="0" y="5308"/>
                    </a:lnTo>
                    <a:lnTo>
                      <a:pt x="0" y="6503"/>
                    </a:lnTo>
                    <a:lnTo>
                      <a:pt x="8865" y="6503"/>
                    </a:lnTo>
                    <a:lnTo>
                      <a:pt x="14515" y="840"/>
                    </a:lnTo>
                    <a:lnTo>
                      <a:pt x="13675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545;p20">
                <a:extLst>
                  <a:ext uri="{FF2B5EF4-FFF2-40B4-BE49-F238E27FC236}">
                    <a16:creationId xmlns:a16="http://schemas.microsoft.com/office/drawing/2014/main" id="{2A111CF6-854F-E4A0-6C4A-331102E99E03}"/>
                  </a:ext>
                </a:extLst>
              </p:cNvPr>
              <p:cNvSpPr/>
              <p:nvPr/>
            </p:nvSpPr>
            <p:spPr bwMode="auto">
              <a:xfrm>
                <a:off x="7349411" y="2717444"/>
                <a:ext cx="401579" cy="68241"/>
              </a:xfrm>
              <a:custGeom>
                <a:avLst/>
                <a:gdLst/>
                <a:ahLst/>
                <a:cxnLst/>
                <a:rect l="l" t="t" r="r" b="b"/>
                <a:pathLst>
                  <a:path w="7044" h="1197" extrusionOk="0">
                    <a:moveTo>
                      <a:pt x="0" y="1"/>
                    </a:moveTo>
                    <a:lnTo>
                      <a:pt x="0" y="1196"/>
                    </a:lnTo>
                    <a:lnTo>
                      <a:pt x="7044" y="1196"/>
                    </a:lnTo>
                    <a:lnTo>
                      <a:pt x="70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546;p20">
                <a:extLst>
                  <a:ext uri="{FF2B5EF4-FFF2-40B4-BE49-F238E27FC236}">
                    <a16:creationId xmlns:a16="http://schemas.microsoft.com/office/drawing/2014/main" id="{CB470F4F-D061-0EF3-B5C0-A68D19DF630B}"/>
                  </a:ext>
                </a:extLst>
              </p:cNvPr>
              <p:cNvSpPr/>
              <p:nvPr/>
            </p:nvSpPr>
            <p:spPr bwMode="auto">
              <a:xfrm>
                <a:off x="7349411" y="3363218"/>
                <a:ext cx="1001951" cy="339152"/>
              </a:xfrm>
              <a:custGeom>
                <a:avLst/>
                <a:gdLst/>
                <a:ahLst/>
                <a:cxnLst/>
                <a:rect l="l" t="t" r="r" b="b"/>
                <a:pathLst>
                  <a:path w="17575" h="5949" extrusionOk="0">
                    <a:moveTo>
                      <a:pt x="0" y="1"/>
                    </a:moveTo>
                    <a:lnTo>
                      <a:pt x="0" y="1182"/>
                    </a:lnTo>
                    <a:lnTo>
                      <a:pt x="11967" y="1182"/>
                    </a:lnTo>
                    <a:lnTo>
                      <a:pt x="16734" y="5949"/>
                    </a:lnTo>
                    <a:lnTo>
                      <a:pt x="17574" y="5109"/>
                    </a:lnTo>
                    <a:lnTo>
                      <a:pt x="12466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47;p20">
                <a:extLst>
                  <a:ext uri="{FF2B5EF4-FFF2-40B4-BE49-F238E27FC236}">
                    <a16:creationId xmlns:a16="http://schemas.microsoft.com/office/drawing/2014/main" id="{9449D5B0-7DF9-8E1F-EC56-9D6116503EA2}"/>
                  </a:ext>
                </a:extLst>
              </p:cNvPr>
              <p:cNvSpPr/>
              <p:nvPr/>
            </p:nvSpPr>
            <p:spPr bwMode="auto">
              <a:xfrm>
                <a:off x="7349411" y="3584709"/>
                <a:ext cx="785313" cy="331057"/>
              </a:xfrm>
              <a:custGeom>
                <a:avLst/>
                <a:gdLst/>
                <a:ahLst/>
                <a:cxnLst/>
                <a:rect l="l" t="t" r="r" b="b"/>
                <a:pathLst>
                  <a:path w="13775" h="5807" extrusionOk="0">
                    <a:moveTo>
                      <a:pt x="0" y="1"/>
                    </a:moveTo>
                    <a:lnTo>
                      <a:pt x="0" y="1196"/>
                    </a:lnTo>
                    <a:lnTo>
                      <a:pt x="8325" y="1196"/>
                    </a:lnTo>
                    <a:lnTo>
                      <a:pt x="12935" y="5806"/>
                    </a:lnTo>
                    <a:lnTo>
                      <a:pt x="13775" y="4953"/>
                    </a:lnTo>
                    <a:lnTo>
                      <a:pt x="882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48;p20">
                <a:extLst>
                  <a:ext uri="{FF2B5EF4-FFF2-40B4-BE49-F238E27FC236}">
                    <a16:creationId xmlns:a16="http://schemas.microsoft.com/office/drawing/2014/main" id="{DB5F65A7-CA82-6783-3973-DC093C9AA6DE}"/>
                  </a:ext>
                </a:extLst>
              </p:cNvPr>
              <p:cNvSpPr/>
              <p:nvPr/>
            </p:nvSpPr>
            <p:spPr bwMode="auto">
              <a:xfrm>
                <a:off x="7349411" y="3807798"/>
                <a:ext cx="401579" cy="68241"/>
              </a:xfrm>
              <a:custGeom>
                <a:avLst/>
                <a:gdLst/>
                <a:ahLst/>
                <a:cxnLst/>
                <a:rect l="l" t="t" r="r" b="b"/>
                <a:pathLst>
                  <a:path w="7044" h="1197" extrusionOk="0">
                    <a:moveTo>
                      <a:pt x="0" y="1"/>
                    </a:moveTo>
                    <a:lnTo>
                      <a:pt x="0" y="1196"/>
                    </a:lnTo>
                    <a:lnTo>
                      <a:pt x="7044" y="1196"/>
                    </a:lnTo>
                    <a:lnTo>
                      <a:pt x="7044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49;p20">
                <a:extLst>
                  <a:ext uri="{FF2B5EF4-FFF2-40B4-BE49-F238E27FC236}">
                    <a16:creationId xmlns:a16="http://schemas.microsoft.com/office/drawing/2014/main" id="{E31679A3-B566-345B-4415-F8A1593B6162}"/>
                  </a:ext>
                </a:extLst>
              </p:cNvPr>
              <p:cNvSpPr/>
              <p:nvPr/>
            </p:nvSpPr>
            <p:spPr bwMode="auto">
              <a:xfrm>
                <a:off x="7997579" y="3782655"/>
                <a:ext cx="193948" cy="193948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3402" extrusionOk="0">
                    <a:moveTo>
                      <a:pt x="1523" y="1"/>
                    </a:moveTo>
                    <a:lnTo>
                      <a:pt x="1353" y="29"/>
                    </a:lnTo>
                    <a:lnTo>
                      <a:pt x="1196" y="72"/>
                    </a:lnTo>
                    <a:lnTo>
                      <a:pt x="1040" y="129"/>
                    </a:lnTo>
                    <a:lnTo>
                      <a:pt x="883" y="200"/>
                    </a:lnTo>
                    <a:lnTo>
                      <a:pt x="741" y="285"/>
                    </a:lnTo>
                    <a:lnTo>
                      <a:pt x="613" y="385"/>
                    </a:lnTo>
                    <a:lnTo>
                      <a:pt x="499" y="499"/>
                    </a:lnTo>
                    <a:lnTo>
                      <a:pt x="385" y="613"/>
                    </a:lnTo>
                    <a:lnTo>
                      <a:pt x="285" y="755"/>
                    </a:lnTo>
                    <a:lnTo>
                      <a:pt x="200" y="883"/>
                    </a:lnTo>
                    <a:lnTo>
                      <a:pt x="129" y="1040"/>
                    </a:lnTo>
                    <a:lnTo>
                      <a:pt x="72" y="1196"/>
                    </a:lnTo>
                    <a:lnTo>
                      <a:pt x="29" y="1353"/>
                    </a:lnTo>
                    <a:lnTo>
                      <a:pt x="1" y="1523"/>
                    </a:lnTo>
                    <a:lnTo>
                      <a:pt x="1" y="1694"/>
                    </a:lnTo>
                    <a:lnTo>
                      <a:pt x="1" y="1879"/>
                    </a:lnTo>
                    <a:lnTo>
                      <a:pt x="29" y="2050"/>
                    </a:lnTo>
                    <a:lnTo>
                      <a:pt x="72" y="2206"/>
                    </a:lnTo>
                    <a:lnTo>
                      <a:pt x="129" y="2363"/>
                    </a:lnTo>
                    <a:lnTo>
                      <a:pt x="200" y="2505"/>
                    </a:lnTo>
                    <a:lnTo>
                      <a:pt x="285" y="2648"/>
                    </a:lnTo>
                    <a:lnTo>
                      <a:pt x="385" y="2776"/>
                    </a:lnTo>
                    <a:lnTo>
                      <a:pt x="499" y="2904"/>
                    </a:lnTo>
                    <a:lnTo>
                      <a:pt x="613" y="3017"/>
                    </a:lnTo>
                    <a:lnTo>
                      <a:pt x="741" y="3117"/>
                    </a:lnTo>
                    <a:lnTo>
                      <a:pt x="883" y="3202"/>
                    </a:lnTo>
                    <a:lnTo>
                      <a:pt x="1040" y="3274"/>
                    </a:lnTo>
                    <a:lnTo>
                      <a:pt x="1196" y="3331"/>
                    </a:lnTo>
                    <a:lnTo>
                      <a:pt x="1353" y="3373"/>
                    </a:lnTo>
                    <a:lnTo>
                      <a:pt x="1523" y="3387"/>
                    </a:lnTo>
                    <a:lnTo>
                      <a:pt x="1694" y="3402"/>
                    </a:lnTo>
                    <a:lnTo>
                      <a:pt x="1865" y="3387"/>
                    </a:lnTo>
                    <a:lnTo>
                      <a:pt x="2036" y="3373"/>
                    </a:lnTo>
                    <a:lnTo>
                      <a:pt x="2206" y="3331"/>
                    </a:lnTo>
                    <a:lnTo>
                      <a:pt x="2363" y="3274"/>
                    </a:lnTo>
                    <a:lnTo>
                      <a:pt x="2505" y="3202"/>
                    </a:lnTo>
                    <a:lnTo>
                      <a:pt x="2648" y="3117"/>
                    </a:lnTo>
                    <a:lnTo>
                      <a:pt x="2776" y="3017"/>
                    </a:lnTo>
                    <a:lnTo>
                      <a:pt x="2904" y="2904"/>
                    </a:lnTo>
                    <a:lnTo>
                      <a:pt x="3003" y="2776"/>
                    </a:lnTo>
                    <a:lnTo>
                      <a:pt x="3103" y="2648"/>
                    </a:lnTo>
                    <a:lnTo>
                      <a:pt x="3188" y="2505"/>
                    </a:lnTo>
                    <a:lnTo>
                      <a:pt x="3259" y="2363"/>
                    </a:lnTo>
                    <a:lnTo>
                      <a:pt x="3316" y="2206"/>
                    </a:lnTo>
                    <a:lnTo>
                      <a:pt x="3359" y="2050"/>
                    </a:lnTo>
                    <a:lnTo>
                      <a:pt x="3388" y="1879"/>
                    </a:lnTo>
                    <a:lnTo>
                      <a:pt x="3402" y="1694"/>
                    </a:lnTo>
                    <a:lnTo>
                      <a:pt x="3388" y="1523"/>
                    </a:lnTo>
                    <a:lnTo>
                      <a:pt x="3359" y="1353"/>
                    </a:lnTo>
                    <a:lnTo>
                      <a:pt x="3316" y="1196"/>
                    </a:lnTo>
                    <a:lnTo>
                      <a:pt x="3259" y="1040"/>
                    </a:lnTo>
                    <a:lnTo>
                      <a:pt x="3188" y="883"/>
                    </a:lnTo>
                    <a:lnTo>
                      <a:pt x="3103" y="755"/>
                    </a:lnTo>
                    <a:lnTo>
                      <a:pt x="3003" y="613"/>
                    </a:lnTo>
                    <a:lnTo>
                      <a:pt x="2904" y="499"/>
                    </a:lnTo>
                    <a:lnTo>
                      <a:pt x="2776" y="385"/>
                    </a:lnTo>
                    <a:lnTo>
                      <a:pt x="2648" y="285"/>
                    </a:lnTo>
                    <a:lnTo>
                      <a:pt x="2505" y="200"/>
                    </a:lnTo>
                    <a:lnTo>
                      <a:pt x="2363" y="129"/>
                    </a:lnTo>
                    <a:lnTo>
                      <a:pt x="2206" y="72"/>
                    </a:lnTo>
                    <a:lnTo>
                      <a:pt x="2036" y="29"/>
                    </a:lnTo>
                    <a:lnTo>
                      <a:pt x="1865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50;p20">
                <a:extLst>
                  <a:ext uri="{FF2B5EF4-FFF2-40B4-BE49-F238E27FC236}">
                    <a16:creationId xmlns:a16="http://schemas.microsoft.com/office/drawing/2014/main" id="{1BD1A7A7-8A87-9627-F551-94F05C8CF725}"/>
                  </a:ext>
                </a:extLst>
              </p:cNvPr>
              <p:cNvSpPr/>
              <p:nvPr/>
            </p:nvSpPr>
            <p:spPr bwMode="auto">
              <a:xfrm>
                <a:off x="8210973" y="3568518"/>
                <a:ext cx="194747" cy="193891"/>
              </a:xfrm>
              <a:custGeom>
                <a:avLst/>
                <a:gdLst/>
                <a:ahLst/>
                <a:cxnLst/>
                <a:rect l="l" t="t" r="r" b="b"/>
                <a:pathLst>
                  <a:path w="3416" h="3401" extrusionOk="0">
                    <a:moveTo>
                      <a:pt x="1708" y="0"/>
                    </a:moveTo>
                    <a:lnTo>
                      <a:pt x="1537" y="14"/>
                    </a:lnTo>
                    <a:lnTo>
                      <a:pt x="1366" y="43"/>
                    </a:lnTo>
                    <a:lnTo>
                      <a:pt x="1196" y="71"/>
                    </a:lnTo>
                    <a:lnTo>
                      <a:pt x="1039" y="128"/>
                    </a:lnTo>
                    <a:lnTo>
                      <a:pt x="897" y="213"/>
                    </a:lnTo>
                    <a:lnTo>
                      <a:pt x="754" y="285"/>
                    </a:lnTo>
                    <a:lnTo>
                      <a:pt x="626" y="384"/>
                    </a:lnTo>
                    <a:lnTo>
                      <a:pt x="498" y="498"/>
                    </a:lnTo>
                    <a:lnTo>
                      <a:pt x="399" y="626"/>
                    </a:lnTo>
                    <a:lnTo>
                      <a:pt x="299" y="754"/>
                    </a:lnTo>
                    <a:lnTo>
                      <a:pt x="214" y="897"/>
                    </a:lnTo>
                    <a:lnTo>
                      <a:pt x="143" y="1039"/>
                    </a:lnTo>
                    <a:lnTo>
                      <a:pt x="86" y="1195"/>
                    </a:lnTo>
                    <a:lnTo>
                      <a:pt x="43" y="1366"/>
                    </a:lnTo>
                    <a:lnTo>
                      <a:pt x="14" y="1523"/>
                    </a:lnTo>
                    <a:lnTo>
                      <a:pt x="0" y="1708"/>
                    </a:lnTo>
                    <a:lnTo>
                      <a:pt x="14" y="1878"/>
                    </a:lnTo>
                    <a:lnTo>
                      <a:pt x="43" y="2049"/>
                    </a:lnTo>
                    <a:lnTo>
                      <a:pt x="86" y="2206"/>
                    </a:lnTo>
                    <a:lnTo>
                      <a:pt x="143" y="2362"/>
                    </a:lnTo>
                    <a:lnTo>
                      <a:pt x="214" y="2519"/>
                    </a:lnTo>
                    <a:lnTo>
                      <a:pt x="299" y="2661"/>
                    </a:lnTo>
                    <a:lnTo>
                      <a:pt x="399" y="2789"/>
                    </a:lnTo>
                    <a:lnTo>
                      <a:pt x="498" y="2903"/>
                    </a:lnTo>
                    <a:lnTo>
                      <a:pt x="626" y="3017"/>
                    </a:lnTo>
                    <a:lnTo>
                      <a:pt x="754" y="3116"/>
                    </a:lnTo>
                    <a:lnTo>
                      <a:pt x="897" y="3202"/>
                    </a:lnTo>
                    <a:lnTo>
                      <a:pt x="1039" y="3273"/>
                    </a:lnTo>
                    <a:lnTo>
                      <a:pt x="1196" y="3330"/>
                    </a:lnTo>
                    <a:lnTo>
                      <a:pt x="1366" y="3373"/>
                    </a:lnTo>
                    <a:lnTo>
                      <a:pt x="1537" y="3401"/>
                    </a:lnTo>
                    <a:lnTo>
                      <a:pt x="1879" y="3401"/>
                    </a:lnTo>
                    <a:lnTo>
                      <a:pt x="2049" y="3373"/>
                    </a:lnTo>
                    <a:lnTo>
                      <a:pt x="2220" y="3330"/>
                    </a:lnTo>
                    <a:lnTo>
                      <a:pt x="2377" y="3273"/>
                    </a:lnTo>
                    <a:lnTo>
                      <a:pt x="2519" y="3202"/>
                    </a:lnTo>
                    <a:lnTo>
                      <a:pt x="2661" y="3116"/>
                    </a:lnTo>
                    <a:lnTo>
                      <a:pt x="2789" y="3017"/>
                    </a:lnTo>
                    <a:lnTo>
                      <a:pt x="2917" y="2903"/>
                    </a:lnTo>
                    <a:lnTo>
                      <a:pt x="3017" y="2789"/>
                    </a:lnTo>
                    <a:lnTo>
                      <a:pt x="3117" y="2661"/>
                    </a:lnTo>
                    <a:lnTo>
                      <a:pt x="3202" y="2519"/>
                    </a:lnTo>
                    <a:lnTo>
                      <a:pt x="3273" y="2362"/>
                    </a:lnTo>
                    <a:lnTo>
                      <a:pt x="3330" y="2206"/>
                    </a:lnTo>
                    <a:lnTo>
                      <a:pt x="3373" y="2049"/>
                    </a:lnTo>
                    <a:lnTo>
                      <a:pt x="3401" y="1878"/>
                    </a:lnTo>
                    <a:lnTo>
                      <a:pt x="3415" y="1708"/>
                    </a:lnTo>
                    <a:lnTo>
                      <a:pt x="3401" y="1523"/>
                    </a:lnTo>
                    <a:lnTo>
                      <a:pt x="3373" y="1366"/>
                    </a:lnTo>
                    <a:lnTo>
                      <a:pt x="3330" y="1195"/>
                    </a:lnTo>
                    <a:lnTo>
                      <a:pt x="3273" y="1039"/>
                    </a:lnTo>
                    <a:lnTo>
                      <a:pt x="3202" y="897"/>
                    </a:lnTo>
                    <a:lnTo>
                      <a:pt x="3117" y="754"/>
                    </a:lnTo>
                    <a:lnTo>
                      <a:pt x="3017" y="626"/>
                    </a:lnTo>
                    <a:lnTo>
                      <a:pt x="2917" y="498"/>
                    </a:lnTo>
                    <a:lnTo>
                      <a:pt x="2789" y="384"/>
                    </a:lnTo>
                    <a:lnTo>
                      <a:pt x="2661" y="285"/>
                    </a:lnTo>
                    <a:lnTo>
                      <a:pt x="2519" y="213"/>
                    </a:lnTo>
                    <a:lnTo>
                      <a:pt x="2377" y="128"/>
                    </a:lnTo>
                    <a:lnTo>
                      <a:pt x="2220" y="71"/>
                    </a:lnTo>
                    <a:lnTo>
                      <a:pt x="2049" y="43"/>
                    </a:lnTo>
                    <a:lnTo>
                      <a:pt x="1879" y="14"/>
                    </a:lnTo>
                    <a:lnTo>
                      <a:pt x="170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4" name="Google Shape;551;p20">
                <a:extLst>
                  <a:ext uri="{FF2B5EF4-FFF2-40B4-BE49-F238E27FC236}">
                    <a16:creationId xmlns:a16="http://schemas.microsoft.com/office/drawing/2014/main" id="{C2C108BA-6FB9-54BA-16DE-CDCCABCF0874}"/>
                  </a:ext>
                </a:extLst>
              </p:cNvPr>
              <p:cNvSpPr/>
              <p:nvPr/>
            </p:nvSpPr>
            <p:spPr bwMode="auto">
              <a:xfrm>
                <a:off x="8013827" y="2619326"/>
                <a:ext cx="193948" cy="194747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3416" extrusionOk="0">
                    <a:moveTo>
                      <a:pt x="1694" y="0"/>
                    </a:moveTo>
                    <a:lnTo>
                      <a:pt x="1523" y="14"/>
                    </a:lnTo>
                    <a:lnTo>
                      <a:pt x="1352" y="43"/>
                    </a:lnTo>
                    <a:lnTo>
                      <a:pt x="1196" y="85"/>
                    </a:lnTo>
                    <a:lnTo>
                      <a:pt x="1039" y="142"/>
                    </a:lnTo>
                    <a:lnTo>
                      <a:pt x="883" y="213"/>
                    </a:lnTo>
                    <a:lnTo>
                      <a:pt x="755" y="299"/>
                    </a:lnTo>
                    <a:lnTo>
                      <a:pt x="612" y="398"/>
                    </a:lnTo>
                    <a:lnTo>
                      <a:pt x="498" y="498"/>
                    </a:lnTo>
                    <a:lnTo>
                      <a:pt x="385" y="626"/>
                    </a:lnTo>
                    <a:lnTo>
                      <a:pt x="285" y="754"/>
                    </a:lnTo>
                    <a:lnTo>
                      <a:pt x="200" y="897"/>
                    </a:lnTo>
                    <a:lnTo>
                      <a:pt x="128" y="1039"/>
                    </a:lnTo>
                    <a:lnTo>
                      <a:pt x="72" y="1195"/>
                    </a:lnTo>
                    <a:lnTo>
                      <a:pt x="29" y="1366"/>
                    </a:lnTo>
                    <a:lnTo>
                      <a:pt x="0" y="1537"/>
                    </a:lnTo>
                    <a:lnTo>
                      <a:pt x="0" y="1708"/>
                    </a:lnTo>
                    <a:lnTo>
                      <a:pt x="0" y="1878"/>
                    </a:lnTo>
                    <a:lnTo>
                      <a:pt x="29" y="2049"/>
                    </a:lnTo>
                    <a:lnTo>
                      <a:pt x="72" y="2220"/>
                    </a:lnTo>
                    <a:lnTo>
                      <a:pt x="128" y="2376"/>
                    </a:lnTo>
                    <a:lnTo>
                      <a:pt x="200" y="2519"/>
                    </a:lnTo>
                    <a:lnTo>
                      <a:pt x="285" y="2661"/>
                    </a:lnTo>
                    <a:lnTo>
                      <a:pt x="385" y="2789"/>
                    </a:lnTo>
                    <a:lnTo>
                      <a:pt x="498" y="2917"/>
                    </a:lnTo>
                    <a:lnTo>
                      <a:pt x="612" y="3017"/>
                    </a:lnTo>
                    <a:lnTo>
                      <a:pt x="755" y="3116"/>
                    </a:lnTo>
                    <a:lnTo>
                      <a:pt x="883" y="3202"/>
                    </a:lnTo>
                    <a:lnTo>
                      <a:pt x="1039" y="3273"/>
                    </a:lnTo>
                    <a:lnTo>
                      <a:pt x="1196" y="3330"/>
                    </a:lnTo>
                    <a:lnTo>
                      <a:pt x="1352" y="3373"/>
                    </a:lnTo>
                    <a:lnTo>
                      <a:pt x="1523" y="3401"/>
                    </a:lnTo>
                    <a:lnTo>
                      <a:pt x="1694" y="3415"/>
                    </a:lnTo>
                    <a:lnTo>
                      <a:pt x="1879" y="3401"/>
                    </a:lnTo>
                    <a:lnTo>
                      <a:pt x="2035" y="3373"/>
                    </a:lnTo>
                    <a:lnTo>
                      <a:pt x="2206" y="3330"/>
                    </a:lnTo>
                    <a:lnTo>
                      <a:pt x="2363" y="3273"/>
                    </a:lnTo>
                    <a:lnTo>
                      <a:pt x="2505" y="3202"/>
                    </a:lnTo>
                    <a:lnTo>
                      <a:pt x="2647" y="3116"/>
                    </a:lnTo>
                    <a:lnTo>
                      <a:pt x="2775" y="3017"/>
                    </a:lnTo>
                    <a:lnTo>
                      <a:pt x="2903" y="2917"/>
                    </a:lnTo>
                    <a:lnTo>
                      <a:pt x="3017" y="2789"/>
                    </a:lnTo>
                    <a:lnTo>
                      <a:pt x="3117" y="2661"/>
                    </a:lnTo>
                    <a:lnTo>
                      <a:pt x="3202" y="2519"/>
                    </a:lnTo>
                    <a:lnTo>
                      <a:pt x="3273" y="2376"/>
                    </a:lnTo>
                    <a:lnTo>
                      <a:pt x="3330" y="2220"/>
                    </a:lnTo>
                    <a:lnTo>
                      <a:pt x="3373" y="2049"/>
                    </a:lnTo>
                    <a:lnTo>
                      <a:pt x="3387" y="1878"/>
                    </a:lnTo>
                    <a:lnTo>
                      <a:pt x="3401" y="1708"/>
                    </a:lnTo>
                    <a:lnTo>
                      <a:pt x="3387" y="1537"/>
                    </a:lnTo>
                    <a:lnTo>
                      <a:pt x="3373" y="1366"/>
                    </a:lnTo>
                    <a:lnTo>
                      <a:pt x="3330" y="1195"/>
                    </a:lnTo>
                    <a:lnTo>
                      <a:pt x="3273" y="1039"/>
                    </a:lnTo>
                    <a:lnTo>
                      <a:pt x="3202" y="897"/>
                    </a:lnTo>
                    <a:lnTo>
                      <a:pt x="3117" y="754"/>
                    </a:lnTo>
                    <a:lnTo>
                      <a:pt x="3017" y="626"/>
                    </a:lnTo>
                    <a:lnTo>
                      <a:pt x="2903" y="498"/>
                    </a:lnTo>
                    <a:lnTo>
                      <a:pt x="2775" y="398"/>
                    </a:lnTo>
                    <a:lnTo>
                      <a:pt x="2647" y="299"/>
                    </a:lnTo>
                    <a:lnTo>
                      <a:pt x="2505" y="213"/>
                    </a:lnTo>
                    <a:lnTo>
                      <a:pt x="2363" y="142"/>
                    </a:lnTo>
                    <a:lnTo>
                      <a:pt x="2206" y="85"/>
                    </a:lnTo>
                    <a:lnTo>
                      <a:pt x="2035" y="43"/>
                    </a:lnTo>
                    <a:lnTo>
                      <a:pt x="1879" y="14"/>
                    </a:lnTo>
                    <a:lnTo>
                      <a:pt x="169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5" name="Google Shape;552;p20">
                <a:extLst>
                  <a:ext uri="{FF2B5EF4-FFF2-40B4-BE49-F238E27FC236}">
                    <a16:creationId xmlns:a16="http://schemas.microsoft.com/office/drawing/2014/main" id="{2E3A7BA6-3A9D-A49B-E06D-2ED2786BAA43}"/>
                  </a:ext>
                </a:extLst>
              </p:cNvPr>
              <p:cNvSpPr/>
              <p:nvPr/>
            </p:nvSpPr>
            <p:spPr bwMode="auto">
              <a:xfrm>
                <a:off x="4014273" y="3216011"/>
                <a:ext cx="827500" cy="370793"/>
              </a:xfrm>
              <a:custGeom>
                <a:avLst/>
                <a:gdLst/>
                <a:ahLst/>
                <a:cxnLst/>
                <a:rect l="l" t="t" r="r" b="b"/>
                <a:pathLst>
                  <a:path w="14515" h="6504" extrusionOk="0">
                    <a:moveTo>
                      <a:pt x="840" y="0"/>
                    </a:moveTo>
                    <a:lnTo>
                      <a:pt x="0" y="840"/>
                    </a:lnTo>
                    <a:lnTo>
                      <a:pt x="5664" y="6503"/>
                    </a:lnTo>
                    <a:lnTo>
                      <a:pt x="14515" y="6503"/>
                    </a:lnTo>
                    <a:lnTo>
                      <a:pt x="14515" y="5308"/>
                    </a:lnTo>
                    <a:lnTo>
                      <a:pt x="6147" y="5308"/>
                    </a:lnTo>
                    <a:lnTo>
                      <a:pt x="84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53;p20">
                <a:extLst>
                  <a:ext uri="{FF2B5EF4-FFF2-40B4-BE49-F238E27FC236}">
                    <a16:creationId xmlns:a16="http://schemas.microsoft.com/office/drawing/2014/main" id="{4B5A8B52-EF8D-55BE-839A-61A09A071C6D}"/>
                  </a:ext>
                </a:extLst>
              </p:cNvPr>
              <p:cNvSpPr/>
              <p:nvPr/>
            </p:nvSpPr>
            <p:spPr bwMode="auto">
              <a:xfrm>
                <a:off x="4440152" y="3263844"/>
                <a:ext cx="401636" cy="68241"/>
              </a:xfrm>
              <a:custGeom>
                <a:avLst/>
                <a:gdLst/>
                <a:ahLst/>
                <a:cxnLst/>
                <a:rect l="l" t="t" r="r" b="b"/>
                <a:pathLst>
                  <a:path w="7045" h="1197" extrusionOk="0">
                    <a:moveTo>
                      <a:pt x="1" y="1"/>
                    </a:moveTo>
                    <a:lnTo>
                      <a:pt x="1" y="1196"/>
                    </a:lnTo>
                    <a:lnTo>
                      <a:pt x="7045" y="1196"/>
                    </a:lnTo>
                    <a:lnTo>
                      <a:pt x="70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54;p20">
                <a:extLst>
                  <a:ext uri="{FF2B5EF4-FFF2-40B4-BE49-F238E27FC236}">
                    <a16:creationId xmlns:a16="http://schemas.microsoft.com/office/drawing/2014/main" id="{B14910AA-3EC6-6614-2210-1942B20FF5E6}"/>
                  </a:ext>
                </a:extLst>
              </p:cNvPr>
              <p:cNvSpPr/>
              <p:nvPr/>
            </p:nvSpPr>
            <p:spPr bwMode="auto">
              <a:xfrm>
                <a:off x="3839817" y="3909618"/>
                <a:ext cx="1001951" cy="339152"/>
              </a:xfrm>
              <a:custGeom>
                <a:avLst/>
                <a:gdLst/>
                <a:ahLst/>
                <a:cxnLst/>
                <a:rect l="l" t="t" r="r" b="b"/>
                <a:pathLst>
                  <a:path w="17575" h="5949" extrusionOk="0">
                    <a:moveTo>
                      <a:pt x="5109" y="1"/>
                    </a:moveTo>
                    <a:lnTo>
                      <a:pt x="1" y="5109"/>
                    </a:lnTo>
                    <a:lnTo>
                      <a:pt x="840" y="5949"/>
                    </a:lnTo>
                    <a:lnTo>
                      <a:pt x="5607" y="1182"/>
                    </a:lnTo>
                    <a:lnTo>
                      <a:pt x="17575" y="1182"/>
                    </a:lnTo>
                    <a:lnTo>
                      <a:pt x="1757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55;p20">
                <a:extLst>
                  <a:ext uri="{FF2B5EF4-FFF2-40B4-BE49-F238E27FC236}">
                    <a16:creationId xmlns:a16="http://schemas.microsoft.com/office/drawing/2014/main" id="{E7C55B27-2F25-B565-7B53-F96BEDBFC9C1}"/>
                  </a:ext>
                </a:extLst>
              </p:cNvPr>
              <p:cNvSpPr/>
              <p:nvPr/>
            </p:nvSpPr>
            <p:spPr bwMode="auto">
              <a:xfrm>
                <a:off x="4056405" y="4131110"/>
                <a:ext cx="785369" cy="331057"/>
              </a:xfrm>
              <a:custGeom>
                <a:avLst/>
                <a:gdLst/>
                <a:ahLst/>
                <a:cxnLst/>
                <a:rect l="l" t="t" r="r" b="b"/>
                <a:pathLst>
                  <a:path w="13776" h="5807" extrusionOk="0">
                    <a:moveTo>
                      <a:pt x="4953" y="1"/>
                    </a:moveTo>
                    <a:lnTo>
                      <a:pt x="1" y="4953"/>
                    </a:lnTo>
                    <a:lnTo>
                      <a:pt x="841" y="5806"/>
                    </a:lnTo>
                    <a:lnTo>
                      <a:pt x="5451" y="1196"/>
                    </a:lnTo>
                    <a:lnTo>
                      <a:pt x="13776" y="1196"/>
                    </a:lnTo>
                    <a:lnTo>
                      <a:pt x="13776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56;p20">
                <a:extLst>
                  <a:ext uri="{FF2B5EF4-FFF2-40B4-BE49-F238E27FC236}">
                    <a16:creationId xmlns:a16="http://schemas.microsoft.com/office/drawing/2014/main" id="{93734FCE-8BAB-8A0B-D7A1-4623D12AD984}"/>
                  </a:ext>
                </a:extLst>
              </p:cNvPr>
              <p:cNvSpPr/>
              <p:nvPr/>
            </p:nvSpPr>
            <p:spPr bwMode="auto">
              <a:xfrm>
                <a:off x="4440152" y="4354198"/>
                <a:ext cx="401636" cy="68241"/>
              </a:xfrm>
              <a:custGeom>
                <a:avLst/>
                <a:gdLst/>
                <a:ahLst/>
                <a:cxnLst/>
                <a:rect l="l" t="t" r="r" b="b"/>
                <a:pathLst>
                  <a:path w="7045" h="1197" extrusionOk="0">
                    <a:moveTo>
                      <a:pt x="1" y="1"/>
                    </a:moveTo>
                    <a:lnTo>
                      <a:pt x="1" y="1196"/>
                    </a:lnTo>
                    <a:lnTo>
                      <a:pt x="7045" y="1196"/>
                    </a:lnTo>
                    <a:lnTo>
                      <a:pt x="7045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0" name="Google Shape;557;p20">
                <a:extLst>
                  <a:ext uri="{FF2B5EF4-FFF2-40B4-BE49-F238E27FC236}">
                    <a16:creationId xmlns:a16="http://schemas.microsoft.com/office/drawing/2014/main" id="{ADAE87B4-8A71-B270-B3A0-C62D6EA9AB2B}"/>
                  </a:ext>
                </a:extLst>
              </p:cNvPr>
              <p:cNvSpPr/>
              <p:nvPr/>
            </p:nvSpPr>
            <p:spPr bwMode="auto">
              <a:xfrm>
                <a:off x="3999621" y="4329055"/>
                <a:ext cx="194803" cy="193948"/>
              </a:xfrm>
              <a:custGeom>
                <a:avLst/>
                <a:gdLst/>
                <a:ahLst/>
                <a:cxnLst/>
                <a:rect l="l" t="t" r="r" b="b"/>
                <a:pathLst>
                  <a:path w="3417" h="3402" extrusionOk="0">
                    <a:moveTo>
                      <a:pt x="1538" y="1"/>
                    </a:moveTo>
                    <a:lnTo>
                      <a:pt x="1367" y="29"/>
                    </a:lnTo>
                    <a:lnTo>
                      <a:pt x="1196" y="72"/>
                    </a:lnTo>
                    <a:lnTo>
                      <a:pt x="1040" y="129"/>
                    </a:lnTo>
                    <a:lnTo>
                      <a:pt x="897" y="200"/>
                    </a:lnTo>
                    <a:lnTo>
                      <a:pt x="755" y="285"/>
                    </a:lnTo>
                    <a:lnTo>
                      <a:pt x="627" y="385"/>
                    </a:lnTo>
                    <a:lnTo>
                      <a:pt x="499" y="499"/>
                    </a:lnTo>
                    <a:lnTo>
                      <a:pt x="399" y="613"/>
                    </a:lnTo>
                    <a:lnTo>
                      <a:pt x="300" y="755"/>
                    </a:lnTo>
                    <a:lnTo>
                      <a:pt x="214" y="883"/>
                    </a:lnTo>
                    <a:lnTo>
                      <a:pt x="143" y="1040"/>
                    </a:lnTo>
                    <a:lnTo>
                      <a:pt x="86" y="1196"/>
                    </a:lnTo>
                    <a:lnTo>
                      <a:pt x="44" y="1353"/>
                    </a:lnTo>
                    <a:lnTo>
                      <a:pt x="15" y="1523"/>
                    </a:lnTo>
                    <a:lnTo>
                      <a:pt x="1" y="1694"/>
                    </a:lnTo>
                    <a:lnTo>
                      <a:pt x="15" y="1879"/>
                    </a:lnTo>
                    <a:lnTo>
                      <a:pt x="44" y="2050"/>
                    </a:lnTo>
                    <a:lnTo>
                      <a:pt x="86" y="2206"/>
                    </a:lnTo>
                    <a:lnTo>
                      <a:pt x="143" y="2363"/>
                    </a:lnTo>
                    <a:lnTo>
                      <a:pt x="214" y="2505"/>
                    </a:lnTo>
                    <a:lnTo>
                      <a:pt x="300" y="2648"/>
                    </a:lnTo>
                    <a:lnTo>
                      <a:pt x="399" y="2776"/>
                    </a:lnTo>
                    <a:lnTo>
                      <a:pt x="499" y="2904"/>
                    </a:lnTo>
                    <a:lnTo>
                      <a:pt x="627" y="3017"/>
                    </a:lnTo>
                    <a:lnTo>
                      <a:pt x="755" y="3117"/>
                    </a:lnTo>
                    <a:lnTo>
                      <a:pt x="897" y="3202"/>
                    </a:lnTo>
                    <a:lnTo>
                      <a:pt x="1040" y="3274"/>
                    </a:lnTo>
                    <a:lnTo>
                      <a:pt x="1196" y="3331"/>
                    </a:lnTo>
                    <a:lnTo>
                      <a:pt x="1367" y="3373"/>
                    </a:lnTo>
                    <a:lnTo>
                      <a:pt x="1538" y="3387"/>
                    </a:lnTo>
                    <a:lnTo>
                      <a:pt x="1708" y="3402"/>
                    </a:lnTo>
                    <a:lnTo>
                      <a:pt x="1879" y="3387"/>
                    </a:lnTo>
                    <a:lnTo>
                      <a:pt x="2050" y="3373"/>
                    </a:lnTo>
                    <a:lnTo>
                      <a:pt x="2221" y="3331"/>
                    </a:lnTo>
                    <a:lnTo>
                      <a:pt x="2377" y="3274"/>
                    </a:lnTo>
                    <a:lnTo>
                      <a:pt x="2520" y="3202"/>
                    </a:lnTo>
                    <a:lnTo>
                      <a:pt x="2662" y="3117"/>
                    </a:lnTo>
                    <a:lnTo>
                      <a:pt x="2790" y="3017"/>
                    </a:lnTo>
                    <a:lnTo>
                      <a:pt x="2918" y="2904"/>
                    </a:lnTo>
                    <a:lnTo>
                      <a:pt x="3018" y="2776"/>
                    </a:lnTo>
                    <a:lnTo>
                      <a:pt x="3117" y="2648"/>
                    </a:lnTo>
                    <a:lnTo>
                      <a:pt x="3203" y="2505"/>
                    </a:lnTo>
                    <a:lnTo>
                      <a:pt x="3274" y="2363"/>
                    </a:lnTo>
                    <a:lnTo>
                      <a:pt x="3331" y="2206"/>
                    </a:lnTo>
                    <a:lnTo>
                      <a:pt x="3373" y="2050"/>
                    </a:lnTo>
                    <a:lnTo>
                      <a:pt x="3402" y="1879"/>
                    </a:lnTo>
                    <a:lnTo>
                      <a:pt x="3416" y="1694"/>
                    </a:lnTo>
                    <a:lnTo>
                      <a:pt x="3402" y="1523"/>
                    </a:lnTo>
                    <a:lnTo>
                      <a:pt x="3373" y="1353"/>
                    </a:lnTo>
                    <a:lnTo>
                      <a:pt x="3331" y="1196"/>
                    </a:lnTo>
                    <a:lnTo>
                      <a:pt x="3274" y="1040"/>
                    </a:lnTo>
                    <a:lnTo>
                      <a:pt x="3203" y="883"/>
                    </a:lnTo>
                    <a:lnTo>
                      <a:pt x="3117" y="755"/>
                    </a:lnTo>
                    <a:lnTo>
                      <a:pt x="3018" y="613"/>
                    </a:lnTo>
                    <a:lnTo>
                      <a:pt x="2918" y="499"/>
                    </a:lnTo>
                    <a:lnTo>
                      <a:pt x="2790" y="385"/>
                    </a:lnTo>
                    <a:lnTo>
                      <a:pt x="2662" y="285"/>
                    </a:lnTo>
                    <a:lnTo>
                      <a:pt x="2520" y="200"/>
                    </a:lnTo>
                    <a:lnTo>
                      <a:pt x="2377" y="129"/>
                    </a:lnTo>
                    <a:lnTo>
                      <a:pt x="2221" y="72"/>
                    </a:lnTo>
                    <a:lnTo>
                      <a:pt x="2050" y="29"/>
                    </a:lnTo>
                    <a:lnTo>
                      <a:pt x="1879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1" name="Google Shape;558;p20">
                <a:extLst>
                  <a:ext uri="{FF2B5EF4-FFF2-40B4-BE49-F238E27FC236}">
                    <a16:creationId xmlns:a16="http://schemas.microsoft.com/office/drawing/2014/main" id="{1CBE9ACA-2F41-CBD5-02AA-91EBA71D8F50}"/>
                  </a:ext>
                </a:extLst>
              </p:cNvPr>
              <p:cNvSpPr/>
              <p:nvPr/>
            </p:nvSpPr>
            <p:spPr bwMode="auto">
              <a:xfrm>
                <a:off x="3786282" y="4114918"/>
                <a:ext cx="193948" cy="193891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3401" extrusionOk="0">
                    <a:moveTo>
                      <a:pt x="1694" y="0"/>
                    </a:moveTo>
                    <a:lnTo>
                      <a:pt x="1523" y="14"/>
                    </a:lnTo>
                    <a:lnTo>
                      <a:pt x="1352" y="43"/>
                    </a:lnTo>
                    <a:lnTo>
                      <a:pt x="1196" y="71"/>
                    </a:lnTo>
                    <a:lnTo>
                      <a:pt x="1039" y="128"/>
                    </a:lnTo>
                    <a:lnTo>
                      <a:pt x="883" y="213"/>
                    </a:lnTo>
                    <a:lnTo>
                      <a:pt x="740" y="285"/>
                    </a:lnTo>
                    <a:lnTo>
                      <a:pt x="612" y="384"/>
                    </a:lnTo>
                    <a:lnTo>
                      <a:pt x="498" y="498"/>
                    </a:lnTo>
                    <a:lnTo>
                      <a:pt x="385" y="626"/>
                    </a:lnTo>
                    <a:lnTo>
                      <a:pt x="285" y="754"/>
                    </a:lnTo>
                    <a:lnTo>
                      <a:pt x="200" y="897"/>
                    </a:lnTo>
                    <a:lnTo>
                      <a:pt x="128" y="1039"/>
                    </a:lnTo>
                    <a:lnTo>
                      <a:pt x="72" y="1195"/>
                    </a:lnTo>
                    <a:lnTo>
                      <a:pt x="29" y="1366"/>
                    </a:lnTo>
                    <a:lnTo>
                      <a:pt x="0" y="1523"/>
                    </a:lnTo>
                    <a:lnTo>
                      <a:pt x="0" y="1708"/>
                    </a:lnTo>
                    <a:lnTo>
                      <a:pt x="0" y="1878"/>
                    </a:lnTo>
                    <a:lnTo>
                      <a:pt x="29" y="2049"/>
                    </a:lnTo>
                    <a:lnTo>
                      <a:pt x="72" y="2206"/>
                    </a:lnTo>
                    <a:lnTo>
                      <a:pt x="128" y="2362"/>
                    </a:lnTo>
                    <a:lnTo>
                      <a:pt x="200" y="2519"/>
                    </a:lnTo>
                    <a:lnTo>
                      <a:pt x="285" y="2661"/>
                    </a:lnTo>
                    <a:lnTo>
                      <a:pt x="385" y="2789"/>
                    </a:lnTo>
                    <a:lnTo>
                      <a:pt x="498" y="2903"/>
                    </a:lnTo>
                    <a:lnTo>
                      <a:pt x="612" y="3017"/>
                    </a:lnTo>
                    <a:lnTo>
                      <a:pt x="740" y="3116"/>
                    </a:lnTo>
                    <a:lnTo>
                      <a:pt x="883" y="3202"/>
                    </a:lnTo>
                    <a:lnTo>
                      <a:pt x="1039" y="3273"/>
                    </a:lnTo>
                    <a:lnTo>
                      <a:pt x="1196" y="3330"/>
                    </a:lnTo>
                    <a:lnTo>
                      <a:pt x="1352" y="3373"/>
                    </a:lnTo>
                    <a:lnTo>
                      <a:pt x="1523" y="3401"/>
                    </a:lnTo>
                    <a:lnTo>
                      <a:pt x="1865" y="3401"/>
                    </a:lnTo>
                    <a:lnTo>
                      <a:pt x="2035" y="3373"/>
                    </a:lnTo>
                    <a:lnTo>
                      <a:pt x="2206" y="3330"/>
                    </a:lnTo>
                    <a:lnTo>
                      <a:pt x="2363" y="3273"/>
                    </a:lnTo>
                    <a:lnTo>
                      <a:pt x="2505" y="3202"/>
                    </a:lnTo>
                    <a:lnTo>
                      <a:pt x="2647" y="3116"/>
                    </a:lnTo>
                    <a:lnTo>
                      <a:pt x="2775" y="3017"/>
                    </a:lnTo>
                    <a:lnTo>
                      <a:pt x="2903" y="2903"/>
                    </a:lnTo>
                    <a:lnTo>
                      <a:pt x="3003" y="2789"/>
                    </a:lnTo>
                    <a:lnTo>
                      <a:pt x="3103" y="2661"/>
                    </a:lnTo>
                    <a:lnTo>
                      <a:pt x="3188" y="2519"/>
                    </a:lnTo>
                    <a:lnTo>
                      <a:pt x="3259" y="2362"/>
                    </a:lnTo>
                    <a:lnTo>
                      <a:pt x="3316" y="2206"/>
                    </a:lnTo>
                    <a:lnTo>
                      <a:pt x="3359" y="2049"/>
                    </a:lnTo>
                    <a:lnTo>
                      <a:pt x="3387" y="1878"/>
                    </a:lnTo>
                    <a:lnTo>
                      <a:pt x="3401" y="1708"/>
                    </a:lnTo>
                    <a:lnTo>
                      <a:pt x="3387" y="1523"/>
                    </a:lnTo>
                    <a:lnTo>
                      <a:pt x="3359" y="1366"/>
                    </a:lnTo>
                    <a:lnTo>
                      <a:pt x="3316" y="1195"/>
                    </a:lnTo>
                    <a:lnTo>
                      <a:pt x="3259" y="1039"/>
                    </a:lnTo>
                    <a:lnTo>
                      <a:pt x="3188" y="897"/>
                    </a:lnTo>
                    <a:lnTo>
                      <a:pt x="3103" y="754"/>
                    </a:lnTo>
                    <a:lnTo>
                      <a:pt x="3003" y="626"/>
                    </a:lnTo>
                    <a:lnTo>
                      <a:pt x="2903" y="498"/>
                    </a:lnTo>
                    <a:lnTo>
                      <a:pt x="2775" y="384"/>
                    </a:lnTo>
                    <a:lnTo>
                      <a:pt x="2647" y="285"/>
                    </a:lnTo>
                    <a:lnTo>
                      <a:pt x="2505" y="213"/>
                    </a:lnTo>
                    <a:lnTo>
                      <a:pt x="2363" y="128"/>
                    </a:lnTo>
                    <a:lnTo>
                      <a:pt x="2206" y="71"/>
                    </a:lnTo>
                    <a:lnTo>
                      <a:pt x="2035" y="43"/>
                    </a:lnTo>
                    <a:lnTo>
                      <a:pt x="1865" y="14"/>
                    </a:lnTo>
                    <a:lnTo>
                      <a:pt x="1694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2" name="Google Shape;559;p20">
                <a:extLst>
                  <a:ext uri="{FF2B5EF4-FFF2-40B4-BE49-F238E27FC236}">
                    <a16:creationId xmlns:a16="http://schemas.microsoft.com/office/drawing/2014/main" id="{7A3E7F8A-30D1-2366-0102-E9D7DEF00CD8}"/>
                  </a:ext>
                </a:extLst>
              </p:cNvPr>
              <p:cNvSpPr/>
              <p:nvPr/>
            </p:nvSpPr>
            <p:spPr bwMode="auto">
              <a:xfrm>
                <a:off x="3983430" y="3165726"/>
                <a:ext cx="193948" cy="194747"/>
              </a:xfrm>
              <a:custGeom>
                <a:avLst/>
                <a:gdLst/>
                <a:ahLst/>
                <a:cxnLst/>
                <a:rect l="l" t="t" r="r" b="b"/>
                <a:pathLst>
                  <a:path w="3402" h="3416" extrusionOk="0">
                    <a:moveTo>
                      <a:pt x="1708" y="0"/>
                    </a:moveTo>
                    <a:lnTo>
                      <a:pt x="1537" y="14"/>
                    </a:lnTo>
                    <a:lnTo>
                      <a:pt x="1366" y="43"/>
                    </a:lnTo>
                    <a:lnTo>
                      <a:pt x="1196" y="85"/>
                    </a:lnTo>
                    <a:lnTo>
                      <a:pt x="1039" y="142"/>
                    </a:lnTo>
                    <a:lnTo>
                      <a:pt x="897" y="213"/>
                    </a:lnTo>
                    <a:lnTo>
                      <a:pt x="754" y="299"/>
                    </a:lnTo>
                    <a:lnTo>
                      <a:pt x="626" y="398"/>
                    </a:lnTo>
                    <a:lnTo>
                      <a:pt x="498" y="498"/>
                    </a:lnTo>
                    <a:lnTo>
                      <a:pt x="384" y="626"/>
                    </a:lnTo>
                    <a:lnTo>
                      <a:pt x="299" y="754"/>
                    </a:lnTo>
                    <a:lnTo>
                      <a:pt x="214" y="897"/>
                    </a:lnTo>
                    <a:lnTo>
                      <a:pt x="143" y="1039"/>
                    </a:lnTo>
                    <a:lnTo>
                      <a:pt x="86" y="1195"/>
                    </a:lnTo>
                    <a:lnTo>
                      <a:pt x="43" y="1366"/>
                    </a:lnTo>
                    <a:lnTo>
                      <a:pt x="15" y="1537"/>
                    </a:lnTo>
                    <a:lnTo>
                      <a:pt x="0" y="1708"/>
                    </a:lnTo>
                    <a:lnTo>
                      <a:pt x="15" y="1878"/>
                    </a:lnTo>
                    <a:lnTo>
                      <a:pt x="43" y="2049"/>
                    </a:lnTo>
                    <a:lnTo>
                      <a:pt x="86" y="2220"/>
                    </a:lnTo>
                    <a:lnTo>
                      <a:pt x="143" y="2376"/>
                    </a:lnTo>
                    <a:lnTo>
                      <a:pt x="214" y="2519"/>
                    </a:lnTo>
                    <a:lnTo>
                      <a:pt x="299" y="2661"/>
                    </a:lnTo>
                    <a:lnTo>
                      <a:pt x="384" y="2789"/>
                    </a:lnTo>
                    <a:lnTo>
                      <a:pt x="498" y="2917"/>
                    </a:lnTo>
                    <a:lnTo>
                      <a:pt x="626" y="3017"/>
                    </a:lnTo>
                    <a:lnTo>
                      <a:pt x="754" y="3116"/>
                    </a:lnTo>
                    <a:lnTo>
                      <a:pt x="897" y="3202"/>
                    </a:lnTo>
                    <a:lnTo>
                      <a:pt x="1039" y="3273"/>
                    </a:lnTo>
                    <a:lnTo>
                      <a:pt x="1196" y="3330"/>
                    </a:lnTo>
                    <a:lnTo>
                      <a:pt x="1366" y="3373"/>
                    </a:lnTo>
                    <a:lnTo>
                      <a:pt x="1537" y="3401"/>
                    </a:lnTo>
                    <a:lnTo>
                      <a:pt x="1708" y="3415"/>
                    </a:lnTo>
                    <a:lnTo>
                      <a:pt x="1879" y="3401"/>
                    </a:lnTo>
                    <a:lnTo>
                      <a:pt x="2049" y="3373"/>
                    </a:lnTo>
                    <a:lnTo>
                      <a:pt x="2206" y="3330"/>
                    </a:lnTo>
                    <a:lnTo>
                      <a:pt x="2362" y="3273"/>
                    </a:lnTo>
                    <a:lnTo>
                      <a:pt x="2519" y="3202"/>
                    </a:lnTo>
                    <a:lnTo>
                      <a:pt x="2661" y="3116"/>
                    </a:lnTo>
                    <a:lnTo>
                      <a:pt x="2789" y="3017"/>
                    </a:lnTo>
                    <a:lnTo>
                      <a:pt x="2903" y="2917"/>
                    </a:lnTo>
                    <a:lnTo>
                      <a:pt x="3017" y="2789"/>
                    </a:lnTo>
                    <a:lnTo>
                      <a:pt x="3117" y="2661"/>
                    </a:lnTo>
                    <a:lnTo>
                      <a:pt x="3202" y="2519"/>
                    </a:lnTo>
                    <a:lnTo>
                      <a:pt x="3273" y="2376"/>
                    </a:lnTo>
                    <a:lnTo>
                      <a:pt x="3330" y="2220"/>
                    </a:lnTo>
                    <a:lnTo>
                      <a:pt x="3373" y="2049"/>
                    </a:lnTo>
                    <a:lnTo>
                      <a:pt x="3401" y="1878"/>
                    </a:lnTo>
                    <a:lnTo>
                      <a:pt x="3401" y="1708"/>
                    </a:lnTo>
                    <a:lnTo>
                      <a:pt x="3401" y="1537"/>
                    </a:lnTo>
                    <a:lnTo>
                      <a:pt x="3373" y="1366"/>
                    </a:lnTo>
                    <a:lnTo>
                      <a:pt x="3330" y="1195"/>
                    </a:lnTo>
                    <a:lnTo>
                      <a:pt x="3273" y="1039"/>
                    </a:lnTo>
                    <a:lnTo>
                      <a:pt x="3202" y="897"/>
                    </a:lnTo>
                    <a:lnTo>
                      <a:pt x="3117" y="754"/>
                    </a:lnTo>
                    <a:lnTo>
                      <a:pt x="3017" y="626"/>
                    </a:lnTo>
                    <a:lnTo>
                      <a:pt x="2903" y="498"/>
                    </a:lnTo>
                    <a:lnTo>
                      <a:pt x="2789" y="398"/>
                    </a:lnTo>
                    <a:lnTo>
                      <a:pt x="2661" y="299"/>
                    </a:lnTo>
                    <a:lnTo>
                      <a:pt x="2519" y="213"/>
                    </a:lnTo>
                    <a:lnTo>
                      <a:pt x="2362" y="142"/>
                    </a:lnTo>
                    <a:lnTo>
                      <a:pt x="2206" y="85"/>
                    </a:lnTo>
                    <a:lnTo>
                      <a:pt x="2049" y="43"/>
                    </a:lnTo>
                    <a:lnTo>
                      <a:pt x="1879" y="14"/>
                    </a:lnTo>
                    <a:lnTo>
                      <a:pt x="1708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sp>
            <p:nvSpPr>
              <p:cNvPr id="63" name="Google Shape;560;p20">
                <a:extLst>
                  <a:ext uri="{FF2B5EF4-FFF2-40B4-BE49-F238E27FC236}">
                    <a16:creationId xmlns:a16="http://schemas.microsoft.com/office/drawing/2014/main" id="{C43CD252-DBBE-5471-69E8-E5F6345435D7}"/>
                  </a:ext>
                </a:extLst>
              </p:cNvPr>
              <p:cNvSpPr/>
              <p:nvPr/>
            </p:nvSpPr>
            <p:spPr bwMode="auto">
              <a:xfrm>
                <a:off x="5348702" y="1573496"/>
                <a:ext cx="330400" cy="330400"/>
              </a:xfrm>
              <a:prstGeom prst="ellipse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10">
                  <a:buClr>
                    <a:srgbClr val="000000"/>
                  </a:buClr>
                  <a:defRPr/>
                </a:pPr>
                <a:endParaRPr sz="2400" b="1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Arial"/>
                </a:endParaRPr>
              </a:p>
            </p:txBody>
          </p:sp>
          <p:sp>
            <p:nvSpPr>
              <p:cNvPr id="64" name="Google Shape;561;p20">
                <a:extLst>
                  <a:ext uri="{FF2B5EF4-FFF2-40B4-BE49-F238E27FC236}">
                    <a16:creationId xmlns:a16="http://schemas.microsoft.com/office/drawing/2014/main" id="{6C4D9D9A-78BE-055D-C1EB-075FFDAD742A}"/>
                  </a:ext>
                </a:extLst>
              </p:cNvPr>
              <p:cNvSpPr/>
              <p:nvPr/>
            </p:nvSpPr>
            <p:spPr bwMode="auto">
              <a:xfrm>
                <a:off x="5572413" y="4603301"/>
                <a:ext cx="1046400" cy="10464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defTabSz="1219110">
                  <a:buClr>
                    <a:srgbClr val="000000"/>
                  </a:buClr>
                  <a:defRPr/>
                </a:pPr>
                <a:endParaRPr sz="1851" kern="0">
                  <a:solidFill>
                    <a:srgbClr val="000000"/>
                  </a:solidFill>
                  <a:latin typeface="Arial"/>
                  <a:cs typeface="Arial"/>
                  <a:sym typeface="Arial"/>
                </a:endParaRPr>
              </a:p>
            </p:txBody>
          </p:sp>
          <p:grpSp>
            <p:nvGrpSpPr>
              <p:cNvPr id="65" name="Google Shape;562;p20">
                <a:extLst>
                  <a:ext uri="{FF2B5EF4-FFF2-40B4-BE49-F238E27FC236}">
                    <a16:creationId xmlns:a16="http://schemas.microsoft.com/office/drawing/2014/main" id="{492A939B-3C94-AB55-3DC1-0077AEC8C7F6}"/>
                  </a:ext>
                </a:extLst>
              </p:cNvPr>
              <p:cNvGrpSpPr/>
              <p:nvPr/>
            </p:nvGrpSpPr>
            <p:grpSpPr bwMode="auto">
              <a:xfrm>
                <a:off x="5778262" y="4811510"/>
                <a:ext cx="629523" cy="629483"/>
                <a:chOff x="-44512325" y="3176075"/>
                <a:chExt cx="300899" cy="300899"/>
              </a:xfrm>
            </p:grpSpPr>
            <p:sp>
              <p:nvSpPr>
                <p:cNvPr id="66" name="Google Shape;563;p20">
                  <a:extLst>
                    <a:ext uri="{FF2B5EF4-FFF2-40B4-BE49-F238E27FC236}">
                      <a16:creationId xmlns:a16="http://schemas.microsoft.com/office/drawing/2014/main" id="{2CFE5ABF-4C47-FEC8-5812-668ACBD0824B}"/>
                    </a:ext>
                  </a:extLst>
                </p:cNvPr>
                <p:cNvSpPr/>
                <p:nvPr/>
              </p:nvSpPr>
              <p:spPr bwMode="auto">
                <a:xfrm>
                  <a:off x="-44512325" y="3176075"/>
                  <a:ext cx="300899" cy="3008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036" h="12036" extrusionOk="0">
                      <a:moveTo>
                        <a:pt x="3246" y="2868"/>
                      </a:moveTo>
                      <a:cubicBezTo>
                        <a:pt x="3435" y="2868"/>
                        <a:pt x="3592" y="3025"/>
                        <a:pt x="3592" y="3246"/>
                      </a:cubicBezTo>
                      <a:cubicBezTo>
                        <a:pt x="3592" y="3435"/>
                        <a:pt x="3435" y="3592"/>
                        <a:pt x="3246" y="3592"/>
                      </a:cubicBezTo>
                      <a:cubicBezTo>
                        <a:pt x="3057" y="3592"/>
                        <a:pt x="2899" y="3435"/>
                        <a:pt x="2899" y="3246"/>
                      </a:cubicBezTo>
                      <a:cubicBezTo>
                        <a:pt x="2899" y="3025"/>
                        <a:pt x="3057" y="2868"/>
                        <a:pt x="3246" y="2868"/>
                      </a:cubicBezTo>
                      <a:close/>
                      <a:moveTo>
                        <a:pt x="8854" y="2868"/>
                      </a:moveTo>
                      <a:cubicBezTo>
                        <a:pt x="9043" y="2868"/>
                        <a:pt x="9200" y="3025"/>
                        <a:pt x="9200" y="3246"/>
                      </a:cubicBezTo>
                      <a:cubicBezTo>
                        <a:pt x="9200" y="3435"/>
                        <a:pt x="9043" y="3592"/>
                        <a:pt x="8854" y="3592"/>
                      </a:cubicBezTo>
                      <a:cubicBezTo>
                        <a:pt x="8665" y="3592"/>
                        <a:pt x="8507" y="3435"/>
                        <a:pt x="8507" y="3246"/>
                      </a:cubicBezTo>
                      <a:cubicBezTo>
                        <a:pt x="8507" y="3025"/>
                        <a:pt x="8665" y="2868"/>
                        <a:pt x="8854" y="2868"/>
                      </a:cubicBezTo>
                      <a:close/>
                      <a:moveTo>
                        <a:pt x="6774" y="3277"/>
                      </a:moveTo>
                      <a:cubicBezTo>
                        <a:pt x="6963" y="3277"/>
                        <a:pt x="7121" y="3435"/>
                        <a:pt x="7121" y="3624"/>
                      </a:cubicBezTo>
                      <a:lnTo>
                        <a:pt x="7121" y="3876"/>
                      </a:lnTo>
                      <a:cubicBezTo>
                        <a:pt x="7247" y="3907"/>
                        <a:pt x="7341" y="3970"/>
                        <a:pt x="7467" y="4065"/>
                      </a:cubicBezTo>
                      <a:lnTo>
                        <a:pt x="7656" y="3939"/>
                      </a:lnTo>
                      <a:cubicBezTo>
                        <a:pt x="7706" y="3919"/>
                        <a:pt x="7766" y="3908"/>
                        <a:pt x="7825" y="3908"/>
                      </a:cubicBezTo>
                      <a:cubicBezTo>
                        <a:pt x="7955" y="3908"/>
                        <a:pt x="8086" y="3957"/>
                        <a:pt x="8129" y="4065"/>
                      </a:cubicBezTo>
                      <a:lnTo>
                        <a:pt x="8854" y="5294"/>
                      </a:lnTo>
                      <a:cubicBezTo>
                        <a:pt x="8917" y="5451"/>
                        <a:pt x="8885" y="5672"/>
                        <a:pt x="8728" y="5735"/>
                      </a:cubicBezTo>
                      <a:lnTo>
                        <a:pt x="8539" y="5861"/>
                      </a:lnTo>
                      <a:lnTo>
                        <a:pt x="8539" y="6270"/>
                      </a:lnTo>
                      <a:lnTo>
                        <a:pt x="8728" y="6396"/>
                      </a:lnTo>
                      <a:cubicBezTo>
                        <a:pt x="8885" y="6459"/>
                        <a:pt x="8980" y="6711"/>
                        <a:pt x="8854" y="6869"/>
                      </a:cubicBezTo>
                      <a:lnTo>
                        <a:pt x="8129" y="8066"/>
                      </a:lnTo>
                      <a:cubicBezTo>
                        <a:pt x="8043" y="8174"/>
                        <a:pt x="7927" y="8222"/>
                        <a:pt x="7812" y="8222"/>
                      </a:cubicBezTo>
                      <a:cubicBezTo>
                        <a:pt x="7759" y="8222"/>
                        <a:pt x="7706" y="8212"/>
                        <a:pt x="7656" y="8192"/>
                      </a:cubicBezTo>
                      <a:lnTo>
                        <a:pt x="7467" y="8066"/>
                      </a:lnTo>
                      <a:cubicBezTo>
                        <a:pt x="7341" y="8160"/>
                        <a:pt x="7215" y="8223"/>
                        <a:pt x="7121" y="8255"/>
                      </a:cubicBezTo>
                      <a:lnTo>
                        <a:pt x="7121" y="8507"/>
                      </a:lnTo>
                      <a:cubicBezTo>
                        <a:pt x="7121" y="8696"/>
                        <a:pt x="6963" y="8854"/>
                        <a:pt x="6774" y="8854"/>
                      </a:cubicBezTo>
                      <a:lnTo>
                        <a:pt x="5357" y="8854"/>
                      </a:lnTo>
                      <a:cubicBezTo>
                        <a:pt x="5136" y="8854"/>
                        <a:pt x="4978" y="8696"/>
                        <a:pt x="4978" y="8507"/>
                      </a:cubicBezTo>
                      <a:lnTo>
                        <a:pt x="4978" y="8255"/>
                      </a:lnTo>
                      <a:cubicBezTo>
                        <a:pt x="4884" y="8223"/>
                        <a:pt x="4758" y="8160"/>
                        <a:pt x="4632" y="8066"/>
                      </a:cubicBezTo>
                      <a:lnTo>
                        <a:pt x="4443" y="8192"/>
                      </a:lnTo>
                      <a:cubicBezTo>
                        <a:pt x="4393" y="8212"/>
                        <a:pt x="4334" y="8222"/>
                        <a:pt x="4274" y="8222"/>
                      </a:cubicBezTo>
                      <a:cubicBezTo>
                        <a:pt x="4145" y="8222"/>
                        <a:pt x="4013" y="8174"/>
                        <a:pt x="3970" y="8066"/>
                      </a:cubicBezTo>
                      <a:lnTo>
                        <a:pt x="3246" y="6869"/>
                      </a:lnTo>
                      <a:cubicBezTo>
                        <a:pt x="3183" y="6680"/>
                        <a:pt x="3214" y="6459"/>
                        <a:pt x="3372" y="6396"/>
                      </a:cubicBezTo>
                      <a:lnTo>
                        <a:pt x="3561" y="6270"/>
                      </a:lnTo>
                      <a:lnTo>
                        <a:pt x="3561" y="5861"/>
                      </a:lnTo>
                      <a:lnTo>
                        <a:pt x="3372" y="5735"/>
                      </a:lnTo>
                      <a:cubicBezTo>
                        <a:pt x="3214" y="5672"/>
                        <a:pt x="3151" y="5420"/>
                        <a:pt x="3246" y="5294"/>
                      </a:cubicBezTo>
                      <a:lnTo>
                        <a:pt x="3970" y="4065"/>
                      </a:lnTo>
                      <a:cubicBezTo>
                        <a:pt x="4013" y="3958"/>
                        <a:pt x="4142" y="3880"/>
                        <a:pt x="4270" y="3880"/>
                      </a:cubicBezTo>
                      <a:cubicBezTo>
                        <a:pt x="4331" y="3880"/>
                        <a:pt x="4392" y="3898"/>
                        <a:pt x="4443" y="3939"/>
                      </a:cubicBezTo>
                      <a:lnTo>
                        <a:pt x="4632" y="4065"/>
                      </a:lnTo>
                      <a:cubicBezTo>
                        <a:pt x="4758" y="3970"/>
                        <a:pt x="4884" y="3907"/>
                        <a:pt x="4978" y="3876"/>
                      </a:cubicBezTo>
                      <a:lnTo>
                        <a:pt x="4978" y="3624"/>
                      </a:lnTo>
                      <a:cubicBezTo>
                        <a:pt x="4978" y="3435"/>
                        <a:pt x="5136" y="3277"/>
                        <a:pt x="5357" y="3277"/>
                      </a:cubicBezTo>
                      <a:close/>
                      <a:moveTo>
                        <a:pt x="3246" y="8475"/>
                      </a:moveTo>
                      <a:cubicBezTo>
                        <a:pt x="3435" y="8475"/>
                        <a:pt x="3592" y="8633"/>
                        <a:pt x="3592" y="8822"/>
                      </a:cubicBezTo>
                      <a:cubicBezTo>
                        <a:pt x="3592" y="9043"/>
                        <a:pt x="3435" y="9169"/>
                        <a:pt x="3246" y="9169"/>
                      </a:cubicBezTo>
                      <a:cubicBezTo>
                        <a:pt x="3057" y="9169"/>
                        <a:pt x="2899" y="9011"/>
                        <a:pt x="2899" y="8822"/>
                      </a:cubicBezTo>
                      <a:cubicBezTo>
                        <a:pt x="2899" y="8633"/>
                        <a:pt x="3057" y="8475"/>
                        <a:pt x="3246" y="8475"/>
                      </a:cubicBezTo>
                      <a:close/>
                      <a:moveTo>
                        <a:pt x="8854" y="8475"/>
                      </a:moveTo>
                      <a:cubicBezTo>
                        <a:pt x="9043" y="8475"/>
                        <a:pt x="9200" y="8633"/>
                        <a:pt x="9200" y="8822"/>
                      </a:cubicBezTo>
                      <a:cubicBezTo>
                        <a:pt x="9200" y="9043"/>
                        <a:pt x="9043" y="9169"/>
                        <a:pt x="8854" y="9169"/>
                      </a:cubicBezTo>
                      <a:cubicBezTo>
                        <a:pt x="8665" y="9169"/>
                        <a:pt x="8507" y="9011"/>
                        <a:pt x="8507" y="8822"/>
                      </a:cubicBezTo>
                      <a:cubicBezTo>
                        <a:pt x="8507" y="8633"/>
                        <a:pt x="8665" y="8475"/>
                        <a:pt x="8854" y="8475"/>
                      </a:cubicBezTo>
                      <a:close/>
                      <a:moveTo>
                        <a:pt x="3183" y="1"/>
                      </a:moveTo>
                      <a:cubicBezTo>
                        <a:pt x="2994" y="1"/>
                        <a:pt x="2836" y="158"/>
                        <a:pt x="2836" y="347"/>
                      </a:cubicBezTo>
                      <a:lnTo>
                        <a:pt x="2836" y="1418"/>
                      </a:lnTo>
                      <a:lnTo>
                        <a:pt x="2458" y="1418"/>
                      </a:lnTo>
                      <a:cubicBezTo>
                        <a:pt x="1891" y="1418"/>
                        <a:pt x="1418" y="1891"/>
                        <a:pt x="1418" y="2490"/>
                      </a:cubicBezTo>
                      <a:lnTo>
                        <a:pt x="1418" y="2836"/>
                      </a:lnTo>
                      <a:lnTo>
                        <a:pt x="347" y="2836"/>
                      </a:lnTo>
                      <a:cubicBezTo>
                        <a:pt x="158" y="2836"/>
                        <a:pt x="1" y="2994"/>
                        <a:pt x="1" y="3183"/>
                      </a:cubicBezTo>
                      <a:cubicBezTo>
                        <a:pt x="1" y="3372"/>
                        <a:pt x="158" y="3529"/>
                        <a:pt x="347" y="3529"/>
                      </a:cubicBezTo>
                      <a:lnTo>
                        <a:pt x="1418" y="3529"/>
                      </a:lnTo>
                      <a:lnTo>
                        <a:pt x="1418" y="4254"/>
                      </a:lnTo>
                      <a:lnTo>
                        <a:pt x="347" y="4254"/>
                      </a:lnTo>
                      <a:cubicBezTo>
                        <a:pt x="158" y="4254"/>
                        <a:pt x="1" y="4411"/>
                        <a:pt x="1" y="4600"/>
                      </a:cubicBezTo>
                      <a:cubicBezTo>
                        <a:pt x="1" y="4821"/>
                        <a:pt x="158" y="4978"/>
                        <a:pt x="347" y="4978"/>
                      </a:cubicBezTo>
                      <a:lnTo>
                        <a:pt x="1418" y="4978"/>
                      </a:lnTo>
                      <a:lnTo>
                        <a:pt x="1418" y="5672"/>
                      </a:lnTo>
                      <a:lnTo>
                        <a:pt x="347" y="5672"/>
                      </a:lnTo>
                      <a:cubicBezTo>
                        <a:pt x="158" y="5672"/>
                        <a:pt x="1" y="5829"/>
                        <a:pt x="1" y="6018"/>
                      </a:cubicBezTo>
                      <a:cubicBezTo>
                        <a:pt x="1" y="6239"/>
                        <a:pt x="158" y="6396"/>
                        <a:pt x="347" y="6396"/>
                      </a:cubicBezTo>
                      <a:lnTo>
                        <a:pt x="1418" y="6396"/>
                      </a:lnTo>
                      <a:lnTo>
                        <a:pt x="1418" y="7089"/>
                      </a:lnTo>
                      <a:lnTo>
                        <a:pt x="347" y="7089"/>
                      </a:lnTo>
                      <a:cubicBezTo>
                        <a:pt x="158" y="7089"/>
                        <a:pt x="1" y="7247"/>
                        <a:pt x="1" y="7436"/>
                      </a:cubicBezTo>
                      <a:cubicBezTo>
                        <a:pt x="1" y="7656"/>
                        <a:pt x="158" y="7814"/>
                        <a:pt x="347" y="7814"/>
                      </a:cubicBezTo>
                      <a:lnTo>
                        <a:pt x="1418" y="7814"/>
                      </a:lnTo>
                      <a:lnTo>
                        <a:pt x="1418" y="8507"/>
                      </a:lnTo>
                      <a:lnTo>
                        <a:pt x="347" y="8507"/>
                      </a:lnTo>
                      <a:cubicBezTo>
                        <a:pt x="158" y="8507"/>
                        <a:pt x="1" y="8665"/>
                        <a:pt x="1" y="8854"/>
                      </a:cubicBezTo>
                      <a:cubicBezTo>
                        <a:pt x="1" y="9074"/>
                        <a:pt x="158" y="9232"/>
                        <a:pt x="347" y="9232"/>
                      </a:cubicBezTo>
                      <a:lnTo>
                        <a:pt x="1418" y="9232"/>
                      </a:lnTo>
                      <a:lnTo>
                        <a:pt x="1418" y="9578"/>
                      </a:lnTo>
                      <a:cubicBezTo>
                        <a:pt x="1418" y="10177"/>
                        <a:pt x="1891" y="10618"/>
                        <a:pt x="2458" y="10618"/>
                      </a:cubicBezTo>
                      <a:lnTo>
                        <a:pt x="2836" y="10618"/>
                      </a:lnTo>
                      <a:lnTo>
                        <a:pt x="2836" y="11689"/>
                      </a:lnTo>
                      <a:cubicBezTo>
                        <a:pt x="2836" y="11878"/>
                        <a:pt x="2994" y="12036"/>
                        <a:pt x="3183" y="12036"/>
                      </a:cubicBezTo>
                      <a:cubicBezTo>
                        <a:pt x="3372" y="12036"/>
                        <a:pt x="3529" y="11878"/>
                        <a:pt x="3529" y="11689"/>
                      </a:cubicBezTo>
                      <a:lnTo>
                        <a:pt x="3529" y="10618"/>
                      </a:lnTo>
                      <a:lnTo>
                        <a:pt x="4254" y="10618"/>
                      </a:lnTo>
                      <a:lnTo>
                        <a:pt x="4254" y="11689"/>
                      </a:lnTo>
                      <a:cubicBezTo>
                        <a:pt x="4254" y="11878"/>
                        <a:pt x="4411" y="12036"/>
                        <a:pt x="4600" y="12036"/>
                      </a:cubicBezTo>
                      <a:cubicBezTo>
                        <a:pt x="4789" y="12036"/>
                        <a:pt x="4947" y="11878"/>
                        <a:pt x="4947" y="11689"/>
                      </a:cubicBezTo>
                      <a:lnTo>
                        <a:pt x="4947" y="10618"/>
                      </a:lnTo>
                      <a:lnTo>
                        <a:pt x="5672" y="10618"/>
                      </a:lnTo>
                      <a:lnTo>
                        <a:pt x="5672" y="11689"/>
                      </a:lnTo>
                      <a:cubicBezTo>
                        <a:pt x="5672" y="11878"/>
                        <a:pt x="5829" y="12036"/>
                        <a:pt x="6018" y="12036"/>
                      </a:cubicBezTo>
                      <a:cubicBezTo>
                        <a:pt x="6207" y="12036"/>
                        <a:pt x="6365" y="11878"/>
                        <a:pt x="6365" y="11689"/>
                      </a:cubicBezTo>
                      <a:lnTo>
                        <a:pt x="6365" y="10618"/>
                      </a:lnTo>
                      <a:lnTo>
                        <a:pt x="7089" y="10618"/>
                      </a:lnTo>
                      <a:lnTo>
                        <a:pt x="7089" y="11689"/>
                      </a:lnTo>
                      <a:cubicBezTo>
                        <a:pt x="7089" y="11878"/>
                        <a:pt x="7247" y="12036"/>
                        <a:pt x="7436" y="12036"/>
                      </a:cubicBezTo>
                      <a:cubicBezTo>
                        <a:pt x="7625" y="12036"/>
                        <a:pt x="7782" y="11878"/>
                        <a:pt x="7782" y="11689"/>
                      </a:cubicBezTo>
                      <a:lnTo>
                        <a:pt x="7782" y="10618"/>
                      </a:lnTo>
                      <a:lnTo>
                        <a:pt x="8507" y="10618"/>
                      </a:lnTo>
                      <a:lnTo>
                        <a:pt x="8507" y="11689"/>
                      </a:lnTo>
                      <a:cubicBezTo>
                        <a:pt x="8507" y="11878"/>
                        <a:pt x="8665" y="12036"/>
                        <a:pt x="8854" y="12036"/>
                      </a:cubicBezTo>
                      <a:cubicBezTo>
                        <a:pt x="9043" y="12036"/>
                        <a:pt x="9200" y="11878"/>
                        <a:pt x="9200" y="11689"/>
                      </a:cubicBezTo>
                      <a:lnTo>
                        <a:pt x="9200" y="10618"/>
                      </a:lnTo>
                      <a:lnTo>
                        <a:pt x="9547" y="10618"/>
                      </a:lnTo>
                      <a:cubicBezTo>
                        <a:pt x="10145" y="10618"/>
                        <a:pt x="10618" y="10177"/>
                        <a:pt x="10618" y="9578"/>
                      </a:cubicBezTo>
                      <a:lnTo>
                        <a:pt x="10618" y="9232"/>
                      </a:lnTo>
                      <a:lnTo>
                        <a:pt x="11689" y="9232"/>
                      </a:lnTo>
                      <a:cubicBezTo>
                        <a:pt x="11878" y="9232"/>
                        <a:pt x="12036" y="9074"/>
                        <a:pt x="12036" y="8854"/>
                      </a:cubicBezTo>
                      <a:cubicBezTo>
                        <a:pt x="12036" y="8665"/>
                        <a:pt x="11878" y="8507"/>
                        <a:pt x="11689" y="8507"/>
                      </a:cubicBezTo>
                      <a:lnTo>
                        <a:pt x="10618" y="8507"/>
                      </a:lnTo>
                      <a:lnTo>
                        <a:pt x="10618" y="7814"/>
                      </a:lnTo>
                      <a:lnTo>
                        <a:pt x="11689" y="7814"/>
                      </a:lnTo>
                      <a:cubicBezTo>
                        <a:pt x="11878" y="7814"/>
                        <a:pt x="12036" y="7656"/>
                        <a:pt x="12036" y="7436"/>
                      </a:cubicBezTo>
                      <a:cubicBezTo>
                        <a:pt x="12036" y="7247"/>
                        <a:pt x="11878" y="7089"/>
                        <a:pt x="11689" y="7089"/>
                      </a:cubicBezTo>
                      <a:lnTo>
                        <a:pt x="10618" y="7089"/>
                      </a:lnTo>
                      <a:lnTo>
                        <a:pt x="10618" y="6396"/>
                      </a:lnTo>
                      <a:lnTo>
                        <a:pt x="11689" y="6396"/>
                      </a:lnTo>
                      <a:cubicBezTo>
                        <a:pt x="11878" y="6396"/>
                        <a:pt x="12036" y="6239"/>
                        <a:pt x="12036" y="6018"/>
                      </a:cubicBezTo>
                      <a:cubicBezTo>
                        <a:pt x="12036" y="5829"/>
                        <a:pt x="11878" y="5672"/>
                        <a:pt x="11689" y="5672"/>
                      </a:cubicBezTo>
                      <a:lnTo>
                        <a:pt x="10618" y="5672"/>
                      </a:lnTo>
                      <a:lnTo>
                        <a:pt x="10618" y="4978"/>
                      </a:lnTo>
                      <a:lnTo>
                        <a:pt x="11689" y="4978"/>
                      </a:lnTo>
                      <a:cubicBezTo>
                        <a:pt x="11878" y="4978"/>
                        <a:pt x="12036" y="4821"/>
                        <a:pt x="12036" y="4600"/>
                      </a:cubicBezTo>
                      <a:cubicBezTo>
                        <a:pt x="12036" y="4411"/>
                        <a:pt x="11878" y="4254"/>
                        <a:pt x="11689" y="4254"/>
                      </a:cubicBezTo>
                      <a:lnTo>
                        <a:pt x="10618" y="4254"/>
                      </a:lnTo>
                      <a:lnTo>
                        <a:pt x="10618" y="3529"/>
                      </a:lnTo>
                      <a:lnTo>
                        <a:pt x="11689" y="3529"/>
                      </a:lnTo>
                      <a:cubicBezTo>
                        <a:pt x="11878" y="3529"/>
                        <a:pt x="12036" y="3372"/>
                        <a:pt x="12036" y="3183"/>
                      </a:cubicBezTo>
                      <a:cubicBezTo>
                        <a:pt x="12036" y="2994"/>
                        <a:pt x="11878" y="2836"/>
                        <a:pt x="11689" y="2836"/>
                      </a:cubicBezTo>
                      <a:lnTo>
                        <a:pt x="10618" y="2836"/>
                      </a:lnTo>
                      <a:lnTo>
                        <a:pt x="10618" y="2490"/>
                      </a:lnTo>
                      <a:cubicBezTo>
                        <a:pt x="10618" y="1891"/>
                        <a:pt x="10145" y="1418"/>
                        <a:pt x="9547" y="1418"/>
                      </a:cubicBezTo>
                      <a:lnTo>
                        <a:pt x="9200" y="1418"/>
                      </a:lnTo>
                      <a:lnTo>
                        <a:pt x="9200" y="347"/>
                      </a:lnTo>
                      <a:cubicBezTo>
                        <a:pt x="9200" y="158"/>
                        <a:pt x="9043" y="1"/>
                        <a:pt x="8854" y="1"/>
                      </a:cubicBezTo>
                      <a:cubicBezTo>
                        <a:pt x="8665" y="1"/>
                        <a:pt x="8507" y="158"/>
                        <a:pt x="8507" y="347"/>
                      </a:cubicBezTo>
                      <a:lnTo>
                        <a:pt x="8507" y="1418"/>
                      </a:lnTo>
                      <a:lnTo>
                        <a:pt x="7782" y="1418"/>
                      </a:lnTo>
                      <a:lnTo>
                        <a:pt x="7782" y="347"/>
                      </a:lnTo>
                      <a:cubicBezTo>
                        <a:pt x="7782" y="158"/>
                        <a:pt x="7625" y="1"/>
                        <a:pt x="7436" y="1"/>
                      </a:cubicBezTo>
                      <a:cubicBezTo>
                        <a:pt x="7247" y="1"/>
                        <a:pt x="7089" y="158"/>
                        <a:pt x="7089" y="347"/>
                      </a:cubicBezTo>
                      <a:lnTo>
                        <a:pt x="7089" y="1418"/>
                      </a:lnTo>
                      <a:lnTo>
                        <a:pt x="6365" y="1418"/>
                      </a:lnTo>
                      <a:lnTo>
                        <a:pt x="6365" y="347"/>
                      </a:lnTo>
                      <a:cubicBezTo>
                        <a:pt x="6365" y="158"/>
                        <a:pt x="6207" y="1"/>
                        <a:pt x="6018" y="1"/>
                      </a:cubicBezTo>
                      <a:cubicBezTo>
                        <a:pt x="5829" y="1"/>
                        <a:pt x="5672" y="158"/>
                        <a:pt x="5672" y="347"/>
                      </a:cubicBezTo>
                      <a:lnTo>
                        <a:pt x="5672" y="1418"/>
                      </a:lnTo>
                      <a:lnTo>
                        <a:pt x="4947" y="1418"/>
                      </a:lnTo>
                      <a:lnTo>
                        <a:pt x="4947" y="347"/>
                      </a:lnTo>
                      <a:cubicBezTo>
                        <a:pt x="4947" y="158"/>
                        <a:pt x="4789" y="1"/>
                        <a:pt x="4600" y="1"/>
                      </a:cubicBezTo>
                      <a:cubicBezTo>
                        <a:pt x="4411" y="1"/>
                        <a:pt x="4254" y="158"/>
                        <a:pt x="4254" y="347"/>
                      </a:cubicBezTo>
                      <a:lnTo>
                        <a:pt x="4254" y="1418"/>
                      </a:lnTo>
                      <a:lnTo>
                        <a:pt x="3529" y="1418"/>
                      </a:lnTo>
                      <a:lnTo>
                        <a:pt x="3529" y="347"/>
                      </a:lnTo>
                      <a:cubicBezTo>
                        <a:pt x="3529" y="158"/>
                        <a:pt x="3372" y="1"/>
                        <a:pt x="318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10">
                    <a:buClr>
                      <a:srgbClr val="000000"/>
                    </a:buClr>
                    <a:defRPr/>
                  </a:pPr>
                  <a:endParaRPr sz="1851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" name="Google Shape;564;p20">
                  <a:extLst>
                    <a:ext uri="{FF2B5EF4-FFF2-40B4-BE49-F238E27FC236}">
                      <a16:creationId xmlns:a16="http://schemas.microsoft.com/office/drawing/2014/main" id="{F75512E6-F20F-24C6-FF8D-ED9DC983537E}"/>
                    </a:ext>
                  </a:extLst>
                </p:cNvPr>
                <p:cNvSpPr/>
                <p:nvPr/>
              </p:nvSpPr>
              <p:spPr bwMode="auto">
                <a:xfrm>
                  <a:off x="-44369750" y="3317850"/>
                  <a:ext cx="17350" cy="18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94" h="726" extrusionOk="0">
                      <a:moveTo>
                        <a:pt x="347" y="1"/>
                      </a:moveTo>
                      <a:cubicBezTo>
                        <a:pt x="158" y="1"/>
                        <a:pt x="0" y="158"/>
                        <a:pt x="0" y="347"/>
                      </a:cubicBezTo>
                      <a:cubicBezTo>
                        <a:pt x="0" y="568"/>
                        <a:pt x="158" y="725"/>
                        <a:pt x="347" y="725"/>
                      </a:cubicBezTo>
                      <a:cubicBezTo>
                        <a:pt x="536" y="725"/>
                        <a:pt x="693" y="568"/>
                        <a:pt x="693" y="347"/>
                      </a:cubicBezTo>
                      <a:cubicBezTo>
                        <a:pt x="693" y="158"/>
                        <a:pt x="536" y="1"/>
                        <a:pt x="347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10">
                    <a:buClr>
                      <a:srgbClr val="000000"/>
                    </a:buClr>
                    <a:defRPr/>
                  </a:pPr>
                  <a:endParaRPr sz="1851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" name="Google Shape;565;p20">
                  <a:extLst>
                    <a:ext uri="{FF2B5EF4-FFF2-40B4-BE49-F238E27FC236}">
                      <a16:creationId xmlns:a16="http://schemas.microsoft.com/office/drawing/2014/main" id="{5DF9C20C-C777-1888-D200-E430D46F71EC}"/>
                    </a:ext>
                  </a:extLst>
                </p:cNvPr>
                <p:cNvSpPr/>
                <p:nvPr/>
              </p:nvSpPr>
              <p:spPr bwMode="auto">
                <a:xfrm>
                  <a:off x="-44411500" y="3275325"/>
                  <a:ext cx="100825" cy="102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33" h="4096" extrusionOk="0">
                      <a:moveTo>
                        <a:pt x="2017" y="1008"/>
                      </a:moveTo>
                      <a:cubicBezTo>
                        <a:pt x="2615" y="1008"/>
                        <a:pt x="3088" y="1481"/>
                        <a:pt x="3088" y="2048"/>
                      </a:cubicBezTo>
                      <a:cubicBezTo>
                        <a:pt x="3088" y="2647"/>
                        <a:pt x="2615" y="3119"/>
                        <a:pt x="2017" y="3119"/>
                      </a:cubicBezTo>
                      <a:cubicBezTo>
                        <a:pt x="1418" y="3119"/>
                        <a:pt x="945" y="2647"/>
                        <a:pt x="945" y="2048"/>
                      </a:cubicBezTo>
                      <a:cubicBezTo>
                        <a:pt x="945" y="1481"/>
                        <a:pt x="1418" y="1008"/>
                        <a:pt x="2017" y="1008"/>
                      </a:cubicBezTo>
                      <a:close/>
                      <a:moveTo>
                        <a:pt x="1670" y="0"/>
                      </a:moveTo>
                      <a:lnTo>
                        <a:pt x="1670" y="126"/>
                      </a:lnTo>
                      <a:cubicBezTo>
                        <a:pt x="1670" y="284"/>
                        <a:pt x="1576" y="410"/>
                        <a:pt x="1418" y="441"/>
                      </a:cubicBezTo>
                      <a:cubicBezTo>
                        <a:pt x="1229" y="536"/>
                        <a:pt x="1040" y="630"/>
                        <a:pt x="882" y="756"/>
                      </a:cubicBezTo>
                      <a:cubicBezTo>
                        <a:pt x="809" y="811"/>
                        <a:pt x="725" y="845"/>
                        <a:pt x="643" y="845"/>
                      </a:cubicBezTo>
                      <a:cubicBezTo>
                        <a:pt x="584" y="845"/>
                        <a:pt x="526" y="828"/>
                        <a:pt x="473" y="788"/>
                      </a:cubicBezTo>
                      <a:lnTo>
                        <a:pt x="347" y="725"/>
                      </a:lnTo>
                      <a:lnTo>
                        <a:pt x="0" y="1324"/>
                      </a:lnTo>
                      <a:lnTo>
                        <a:pt x="126" y="1387"/>
                      </a:lnTo>
                      <a:cubicBezTo>
                        <a:pt x="252" y="1481"/>
                        <a:pt x="315" y="1639"/>
                        <a:pt x="284" y="1733"/>
                      </a:cubicBezTo>
                      <a:cubicBezTo>
                        <a:pt x="252" y="1985"/>
                        <a:pt x="252" y="2143"/>
                        <a:pt x="284" y="2363"/>
                      </a:cubicBezTo>
                      <a:cubicBezTo>
                        <a:pt x="315" y="2521"/>
                        <a:pt x="252" y="2647"/>
                        <a:pt x="126" y="2741"/>
                      </a:cubicBezTo>
                      <a:lnTo>
                        <a:pt x="0" y="2804"/>
                      </a:lnTo>
                      <a:lnTo>
                        <a:pt x="347" y="3403"/>
                      </a:lnTo>
                      <a:lnTo>
                        <a:pt x="473" y="3308"/>
                      </a:lnTo>
                      <a:cubicBezTo>
                        <a:pt x="518" y="3286"/>
                        <a:pt x="566" y="3276"/>
                        <a:pt x="616" y="3276"/>
                      </a:cubicBezTo>
                      <a:cubicBezTo>
                        <a:pt x="707" y="3276"/>
                        <a:pt x="801" y="3310"/>
                        <a:pt x="882" y="3371"/>
                      </a:cubicBezTo>
                      <a:cubicBezTo>
                        <a:pt x="1040" y="3529"/>
                        <a:pt x="1229" y="3592"/>
                        <a:pt x="1418" y="3686"/>
                      </a:cubicBezTo>
                      <a:cubicBezTo>
                        <a:pt x="1576" y="3718"/>
                        <a:pt x="1670" y="3875"/>
                        <a:pt x="1670" y="4001"/>
                      </a:cubicBezTo>
                      <a:lnTo>
                        <a:pt x="1670" y="4096"/>
                      </a:lnTo>
                      <a:lnTo>
                        <a:pt x="2363" y="4096"/>
                      </a:lnTo>
                      <a:lnTo>
                        <a:pt x="2363" y="4001"/>
                      </a:lnTo>
                      <a:cubicBezTo>
                        <a:pt x="2363" y="3844"/>
                        <a:pt x="2458" y="3718"/>
                        <a:pt x="2615" y="3686"/>
                      </a:cubicBezTo>
                      <a:cubicBezTo>
                        <a:pt x="2804" y="3592"/>
                        <a:pt x="2993" y="3466"/>
                        <a:pt x="3151" y="3371"/>
                      </a:cubicBezTo>
                      <a:cubicBezTo>
                        <a:pt x="3232" y="3310"/>
                        <a:pt x="3327" y="3276"/>
                        <a:pt x="3417" y="3276"/>
                      </a:cubicBezTo>
                      <a:cubicBezTo>
                        <a:pt x="3467" y="3276"/>
                        <a:pt x="3516" y="3286"/>
                        <a:pt x="3560" y="3308"/>
                      </a:cubicBezTo>
                      <a:lnTo>
                        <a:pt x="3686" y="3403"/>
                      </a:lnTo>
                      <a:lnTo>
                        <a:pt x="4033" y="2804"/>
                      </a:lnTo>
                      <a:lnTo>
                        <a:pt x="3907" y="2741"/>
                      </a:lnTo>
                      <a:cubicBezTo>
                        <a:pt x="3781" y="2647"/>
                        <a:pt x="3718" y="2489"/>
                        <a:pt x="3749" y="2363"/>
                      </a:cubicBezTo>
                      <a:cubicBezTo>
                        <a:pt x="3781" y="2143"/>
                        <a:pt x="3781" y="1985"/>
                        <a:pt x="3749" y="1733"/>
                      </a:cubicBezTo>
                      <a:cubicBezTo>
                        <a:pt x="3718" y="1576"/>
                        <a:pt x="3781" y="1481"/>
                        <a:pt x="3907" y="1387"/>
                      </a:cubicBezTo>
                      <a:lnTo>
                        <a:pt x="4033" y="1324"/>
                      </a:lnTo>
                      <a:lnTo>
                        <a:pt x="3686" y="725"/>
                      </a:lnTo>
                      <a:lnTo>
                        <a:pt x="3560" y="788"/>
                      </a:lnTo>
                      <a:cubicBezTo>
                        <a:pt x="3502" y="832"/>
                        <a:pt x="3437" y="855"/>
                        <a:pt x="3371" y="855"/>
                      </a:cubicBezTo>
                      <a:cubicBezTo>
                        <a:pt x="3295" y="855"/>
                        <a:pt x="3218" y="824"/>
                        <a:pt x="3151" y="756"/>
                      </a:cubicBezTo>
                      <a:cubicBezTo>
                        <a:pt x="2993" y="599"/>
                        <a:pt x="2804" y="536"/>
                        <a:pt x="2615" y="441"/>
                      </a:cubicBezTo>
                      <a:cubicBezTo>
                        <a:pt x="2458" y="410"/>
                        <a:pt x="2363" y="252"/>
                        <a:pt x="2363" y="126"/>
                      </a:cubicBezTo>
                      <a:lnTo>
                        <a:pt x="2363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pPr defTabSz="1219110">
                    <a:buClr>
                      <a:srgbClr val="000000"/>
                    </a:buClr>
                    <a:defRPr/>
                  </a:pPr>
                  <a:endParaRPr sz="1851" kern="0">
                    <a:solidFill>
                      <a:srgbClr val="000000"/>
                    </a:solidFill>
                    <a:latin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9" name="Google Shape;526;p20">
              <a:extLst>
                <a:ext uri="{FF2B5EF4-FFF2-40B4-BE49-F238E27FC236}">
                  <a16:creationId xmlns:a16="http://schemas.microsoft.com/office/drawing/2014/main" id="{32AF8BD3-1118-9500-DA63-57638B52AEF8}"/>
                </a:ext>
              </a:extLst>
            </p:cNvPr>
            <p:cNvGrpSpPr/>
            <p:nvPr/>
          </p:nvGrpSpPr>
          <p:grpSpPr bwMode="auto">
            <a:xfrm>
              <a:off x="5202417" y="2867781"/>
              <a:ext cx="2312800" cy="1314934"/>
              <a:chOff x="3704250" y="2113000"/>
              <a:chExt cx="1734599" cy="986201"/>
            </a:xfrm>
          </p:grpSpPr>
          <p:sp>
            <p:nvSpPr>
              <p:cNvPr id="10" name="Google Shape;527;p20">
                <a:extLst>
                  <a:ext uri="{FF2B5EF4-FFF2-40B4-BE49-F238E27FC236}">
                    <a16:creationId xmlns:a16="http://schemas.microsoft.com/office/drawing/2014/main" id="{F03ECE4F-9BC5-8A5D-2CD5-75C85FB65D7A}"/>
                  </a:ext>
                </a:extLst>
              </p:cNvPr>
              <p:cNvSpPr txBox="1"/>
              <p:nvPr/>
            </p:nvSpPr>
            <p:spPr bwMode="auto">
              <a:xfrm>
                <a:off x="3704250" y="2113000"/>
                <a:ext cx="1734599" cy="278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10">
                  <a:buClr>
                    <a:srgbClr val="000000"/>
                  </a:buClr>
                  <a:defRPr/>
                </a:pPr>
                <a:r>
                  <a:rPr lang="en" sz="2400" b="1" kern="0">
                    <a:solidFill>
                      <a:srgbClr val="000000"/>
                    </a:solidFill>
                    <a:latin typeface="Fira Sans Extra Condensed"/>
                    <a:ea typeface="Fira Sans Extra Condensed"/>
                    <a:cs typeface="Fira Sans Extra Condensed"/>
                    <a:sym typeface="Arial"/>
                  </a:rPr>
                  <a:t>AlphaPEM</a:t>
                </a:r>
                <a:endParaRPr sz="2400" b="1" kern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Arial"/>
                </a:endParaRPr>
              </a:p>
            </p:txBody>
          </p:sp>
          <p:sp>
            <p:nvSpPr>
              <p:cNvPr id="11" name="Google Shape;528;p20">
                <a:extLst>
                  <a:ext uri="{FF2B5EF4-FFF2-40B4-BE49-F238E27FC236}">
                    <a16:creationId xmlns:a16="http://schemas.microsoft.com/office/drawing/2014/main" id="{35BDE143-5DDD-8DBD-4F8D-336D46CF79DC}"/>
                  </a:ext>
                </a:extLst>
              </p:cNvPr>
              <p:cNvSpPr txBox="1"/>
              <p:nvPr/>
            </p:nvSpPr>
            <p:spPr bwMode="auto">
              <a:xfrm>
                <a:off x="3809199" y="2494689"/>
                <a:ext cx="1537560" cy="6045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algn="ctr" defTabSz="1219110">
                  <a:buClr>
                    <a:srgbClr val="000000"/>
                  </a:buClr>
                  <a:defRPr/>
                </a:pPr>
                <a:r>
                  <a:rPr lang="en" sz="1851" kern="0">
                    <a:solidFill>
                      <a:srgbClr val="000000"/>
                    </a:solidFill>
                    <a:latin typeface="+mj-lt"/>
                    <a:ea typeface="Roboto"/>
                    <a:cs typeface="Roboto"/>
                    <a:sym typeface="Arial"/>
                  </a:rPr>
                  <a:t>Black-box, complex simulator</a:t>
                </a:r>
                <a:endParaRPr sz="1851" kern="0">
                  <a:solidFill>
                    <a:srgbClr val="000000"/>
                  </a:solidFill>
                  <a:latin typeface="+mj-lt"/>
                  <a:ea typeface="Roboto"/>
                  <a:cs typeface="Roboto"/>
                  <a:sym typeface="Arial"/>
                </a:endParaRPr>
              </a:p>
            </p:txBody>
          </p:sp>
        </p:grp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959B0DAB-8C4D-8EF2-22F4-CDB5D2ADCB86}"/>
              </a:ext>
            </a:extLst>
          </p:cNvPr>
          <p:cNvGrpSpPr/>
          <p:nvPr/>
        </p:nvGrpSpPr>
        <p:grpSpPr>
          <a:xfrm>
            <a:off x="7964241" y="1398968"/>
            <a:ext cx="3912449" cy="4060065"/>
            <a:chOff x="7964241" y="1398968"/>
            <a:chExt cx="3912449" cy="4060065"/>
          </a:xfrm>
        </p:grpSpPr>
        <p:sp>
          <p:nvSpPr>
            <p:cNvPr id="71" name="Google Shape;1857;p37">
              <a:extLst>
                <a:ext uri="{FF2B5EF4-FFF2-40B4-BE49-F238E27FC236}">
                  <a16:creationId xmlns:a16="http://schemas.microsoft.com/office/drawing/2014/main" id="{AA1FFD77-B532-F313-0FF8-7E957A569B71}"/>
                </a:ext>
              </a:extLst>
            </p:cNvPr>
            <p:cNvSpPr/>
            <p:nvPr/>
          </p:nvSpPr>
          <p:spPr bwMode="auto">
            <a:xfrm>
              <a:off x="7964241" y="1709277"/>
              <a:ext cx="3912449" cy="3749756"/>
            </a:xfrm>
            <a:prstGeom prst="rect">
              <a:avLst/>
            </a:prstGeom>
            <a:solidFill>
              <a:srgbClr val="8879F5">
                <a:alpha val="12549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40">
                <a:buClr>
                  <a:srgbClr val="000000"/>
                </a:buClr>
                <a:defRPr/>
              </a:pPr>
              <a:endParaRPr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72" name="Google Shape;1859;p37">
              <a:extLst>
                <a:ext uri="{FF2B5EF4-FFF2-40B4-BE49-F238E27FC236}">
                  <a16:creationId xmlns:a16="http://schemas.microsoft.com/office/drawing/2014/main" id="{E2A1A92A-3961-28F0-EC57-F2E359619491}"/>
                </a:ext>
              </a:extLst>
            </p:cNvPr>
            <p:cNvSpPr/>
            <p:nvPr/>
          </p:nvSpPr>
          <p:spPr bwMode="auto">
            <a:xfrm>
              <a:off x="8297907" y="1398968"/>
              <a:ext cx="3125900" cy="408182"/>
            </a:xfrm>
            <a:prstGeom prst="roundRect">
              <a:avLst>
                <a:gd name="adj" fmla="val 50000"/>
              </a:avLst>
            </a:prstGeom>
            <a:solidFill>
              <a:srgbClr val="8879F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40">
                <a:buClr>
                  <a:srgbClr val="000000"/>
                </a:buClr>
                <a:defRPr/>
              </a:pPr>
              <a:r>
                <a:rPr lang="es-CO" b="1" kern="0" err="1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Arial"/>
                </a:rPr>
                <a:t>Functional</a:t>
              </a:r>
              <a:r>
                <a:rPr lang="es-CO" b="1" kern="0">
                  <a:solidFill>
                    <a:srgbClr val="FFFFFF"/>
                  </a:solidFill>
                  <a:latin typeface="Fira Sans Extra Condensed"/>
                  <a:ea typeface="Fira Sans Extra Condensed"/>
                  <a:cs typeface="Fira Sans Extra Condensed"/>
                  <a:sym typeface="Arial"/>
                </a:rPr>
                <a:t> output</a:t>
              </a:r>
            </a:p>
          </p:txBody>
        </p:sp>
        <p:sp>
          <p:nvSpPr>
            <p:cNvPr id="74" name="Google Shape;1863;p37">
              <a:extLst>
                <a:ext uri="{FF2B5EF4-FFF2-40B4-BE49-F238E27FC236}">
                  <a16:creationId xmlns:a16="http://schemas.microsoft.com/office/drawing/2014/main" id="{CE86E354-56ED-885E-A42A-06A3D93CDFD0}"/>
                </a:ext>
              </a:extLst>
            </p:cNvPr>
            <p:cNvSpPr txBox="1"/>
            <p:nvPr/>
          </p:nvSpPr>
          <p:spPr bwMode="auto">
            <a:xfrm>
              <a:off x="8550836" y="1527709"/>
              <a:ext cx="2629663" cy="39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40">
                <a:buClr>
                  <a:srgbClr val="000000"/>
                </a:buClr>
                <a:defRPr/>
              </a:pPr>
              <a:endParaRPr sz="2000" b="1" kern="0">
                <a:solidFill>
                  <a:srgbClr val="FFFFFF"/>
                </a:solidFill>
                <a:latin typeface="Fira Sans Extra Condensed"/>
                <a:ea typeface="Fira Sans Extra Condensed"/>
                <a:cs typeface="Fira Sans Extra Condensed"/>
                <a:sym typeface="Arial"/>
              </a:endParaRPr>
            </a:p>
          </p:txBody>
        </p:sp>
        <p:sp>
          <p:nvSpPr>
            <p:cNvPr id="82" name="Google Shape;1877;p37">
              <a:extLst>
                <a:ext uri="{FF2B5EF4-FFF2-40B4-BE49-F238E27FC236}">
                  <a16:creationId xmlns:a16="http://schemas.microsoft.com/office/drawing/2014/main" id="{091959DC-A267-1C49-1493-3531A8E0F44C}"/>
                </a:ext>
              </a:extLst>
            </p:cNvPr>
            <p:cNvSpPr txBox="1"/>
            <p:nvPr/>
          </p:nvSpPr>
          <p:spPr bwMode="auto">
            <a:xfrm>
              <a:off x="8182637" y="4725226"/>
              <a:ext cx="3475656" cy="66777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noAutofit/>
            </a:bodyPr>
            <a:lstStyle/>
            <a:p>
              <a:pPr marL="3387" algn="ctr" defTabSz="1219140">
                <a:buClr>
                  <a:srgbClr val="000000"/>
                </a:buClr>
                <a:buSzPts val="1400"/>
                <a:defRPr/>
              </a:pPr>
              <a:r>
                <a:rPr lang="en" sz="1600">
                  <a:latin typeface="+mj-lt"/>
                  <a:ea typeface="Source Sans Pro" panose="020B0503030403020204" pitchFamily="34" charset="0"/>
                  <a:sym typeface="Arial"/>
                </a:rPr>
                <a:t>Evaluates performance under different loads and operating conditions</a:t>
              </a:r>
              <a:endParaRPr sz="1600">
                <a:latin typeface="+mj-lt"/>
                <a:ea typeface="Source Sans Pro" panose="020B0503030403020204" pitchFamily="34" charset="0"/>
                <a:sym typeface="Arial"/>
              </a:endParaRPr>
            </a:p>
          </p:txBody>
        </p:sp>
        <p:sp>
          <p:nvSpPr>
            <p:cNvPr id="83" name="Google Shape;1868;p37">
              <a:extLst>
                <a:ext uri="{FF2B5EF4-FFF2-40B4-BE49-F238E27FC236}">
                  <a16:creationId xmlns:a16="http://schemas.microsoft.com/office/drawing/2014/main" id="{5AB216EF-C839-72C5-A5CC-C17F7A6B974D}"/>
                </a:ext>
              </a:extLst>
            </p:cNvPr>
            <p:cNvSpPr txBox="1"/>
            <p:nvPr/>
          </p:nvSpPr>
          <p:spPr bwMode="auto">
            <a:xfrm>
              <a:off x="8760033" y="4477968"/>
              <a:ext cx="2320865" cy="3966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 defTabSz="1219140">
                <a:buClr>
                  <a:srgbClr val="000000"/>
                </a:buClr>
                <a:defRPr/>
              </a:pPr>
              <a:r>
                <a:rPr lang="en" b="1" kern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Arial"/>
                </a:rPr>
                <a:t>Polarization curve (PC)</a:t>
              </a:r>
              <a:endParaRPr b="1" kern="0">
                <a:solidFill>
                  <a:srgbClr val="000000"/>
                </a:solidFill>
                <a:latin typeface="Fira Sans Extra Condensed"/>
                <a:ea typeface="Fira Sans Extra Condensed"/>
                <a:cs typeface="Fira Sans Extra Condensed"/>
                <a:sym typeface="Arial"/>
              </a:endParaRPr>
            </a:p>
          </p:txBody>
        </p:sp>
      </p:grpSp>
      <p:sp>
        <p:nvSpPr>
          <p:cNvPr id="84" name="Google Shape;1869;p37">
            <a:extLst>
              <a:ext uri="{FF2B5EF4-FFF2-40B4-BE49-F238E27FC236}">
                <a16:creationId xmlns:a16="http://schemas.microsoft.com/office/drawing/2014/main" id="{875A3201-068B-6E11-7819-F54451120C48}"/>
              </a:ext>
            </a:extLst>
          </p:cNvPr>
          <p:cNvSpPr txBox="1"/>
          <p:nvPr/>
        </p:nvSpPr>
        <p:spPr bwMode="auto">
          <a:xfrm>
            <a:off x="558350" y="2639493"/>
            <a:ext cx="1371656" cy="5778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3387" defTabSz="1219140">
              <a:lnSpc>
                <a:spcPct val="70000"/>
              </a:lnSpc>
              <a:buClr>
                <a:srgbClr val="000000"/>
              </a:buClr>
              <a:buSzPts val="1400"/>
              <a:defRPr/>
            </a:pPr>
            <a:r>
              <a:rPr lang="es-MX" sz="1600" b="1" kern="0">
                <a:solidFill>
                  <a:srgbClr val="000000"/>
                </a:solidFill>
                <a:latin typeface="+mj-lt"/>
                <a:ea typeface="Roboto"/>
                <a:cs typeface="Roboto"/>
                <a:sym typeface="Arial"/>
              </a:rPr>
              <a:t>Sensitivity analysis</a:t>
            </a:r>
            <a:endParaRPr sz="1600" b="1" kern="0">
              <a:solidFill>
                <a:srgbClr val="000000"/>
              </a:solidFill>
              <a:latin typeface="+mj-lt"/>
              <a:ea typeface="Roboto"/>
              <a:cs typeface="Roboto"/>
              <a:sym typeface="Arial"/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6892B67B-5B54-F152-43DB-F16BC0CC847F}"/>
              </a:ext>
            </a:extLst>
          </p:cNvPr>
          <p:cNvSpPr txBox="1"/>
          <p:nvPr/>
        </p:nvSpPr>
        <p:spPr>
          <a:xfrm>
            <a:off x="1253941" y="5569518"/>
            <a:ext cx="5909932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450" b="1">
                <a:latin typeface="+mj-lt"/>
                <a:ea typeface="Source Sans Pro" panose="020B0503030403020204" pitchFamily="34" charset="0"/>
              </a:rPr>
              <a:t>Figure 2: </a:t>
            </a:r>
            <a:r>
              <a:rPr lang="en-US" sz="1450" err="1">
                <a:latin typeface="+mj-lt"/>
              </a:rPr>
              <a:t>AlphaPEM</a:t>
            </a:r>
            <a:r>
              <a:rPr lang="en-US" sz="1450">
                <a:latin typeface="+mj-lt"/>
              </a:rPr>
              <a:t> is a “black-box” simulator that maps a given </a:t>
            </a:r>
            <a:r>
              <a:rPr lang="en-US" sz="1450" b="1">
                <a:solidFill>
                  <a:srgbClr val="008B2E"/>
                </a:solidFill>
                <a:latin typeface="+mj-lt"/>
              </a:rPr>
              <a:t>configuration </a:t>
            </a:r>
            <a:r>
              <a:rPr lang="en-US" sz="1450">
                <a:latin typeface="+mj-lt"/>
              </a:rPr>
              <a:t>(a combination of physical parameters and operating conditions) to a </a:t>
            </a:r>
            <a:r>
              <a:rPr lang="en-US" sz="1450" b="1">
                <a:solidFill>
                  <a:srgbClr val="008B2E"/>
                </a:solidFill>
                <a:latin typeface="+mj-lt"/>
              </a:rPr>
              <a:t>polarization curve</a:t>
            </a:r>
            <a:r>
              <a:rPr lang="en-US" sz="1450">
                <a:latin typeface="+mj-lt"/>
              </a:rPr>
              <a:t>, characterizing fuel cell performance. </a:t>
            </a:r>
            <a:endParaRPr lang="en" sz="1450">
              <a:latin typeface="+mj-lt"/>
              <a:ea typeface="Source Sans Pro" panose="020B0503030403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A9D62BB-FF22-49BC-B41D-1E6C9E5406B7}"/>
              </a:ext>
            </a:extLst>
          </p:cNvPr>
          <p:cNvSpPr txBox="1"/>
          <p:nvPr/>
        </p:nvSpPr>
        <p:spPr>
          <a:xfrm>
            <a:off x="2716551" y="175686"/>
            <a:ext cx="761893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Rectángulo redondeado 6">
            <a:extLst>
              <a:ext uri="{FF2B5EF4-FFF2-40B4-BE49-F238E27FC236}">
                <a16:creationId xmlns:a16="http://schemas.microsoft.com/office/drawing/2014/main" id="{54557A6C-1E74-91E2-E057-E67CE0EFE1EC}"/>
              </a:ext>
            </a:extLst>
          </p:cNvPr>
          <p:cNvSpPr/>
          <p:nvPr/>
        </p:nvSpPr>
        <p:spPr>
          <a:xfrm>
            <a:off x="3484118" y="175685"/>
            <a:ext cx="1710240" cy="307777"/>
          </a:xfrm>
          <a:prstGeom prst="roundRect">
            <a:avLst>
              <a:gd name="adj" fmla="val 50000"/>
            </a:avLst>
          </a:prstGeom>
          <a:solidFill>
            <a:srgbClr val="8879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/>
              <a:t>1. </a:t>
            </a:r>
            <a:r>
              <a:rPr lang="es-ES_tradnl" err="1"/>
              <a:t>Motivation</a:t>
            </a:r>
            <a:endParaRPr lang="es-ES_tradnl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572D347A-2572-2757-B129-EDE6A9555885}"/>
              </a:ext>
            </a:extLst>
          </p:cNvPr>
          <p:cNvSpPr txBox="1">
            <a:spLocks/>
          </p:cNvSpPr>
          <p:nvPr/>
        </p:nvSpPr>
        <p:spPr>
          <a:xfrm>
            <a:off x="838200" y="682497"/>
            <a:ext cx="9778340" cy="659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Input-Output framework for </a:t>
            </a:r>
            <a:r>
              <a:rPr lang="en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endParaRPr lang="en" sz="32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AC3D95E-CBA7-5BE8-AAA4-9B429FC467AD}"/>
              </a:ext>
            </a:extLst>
          </p:cNvPr>
          <p:cNvSpPr txBox="1"/>
          <p:nvPr/>
        </p:nvSpPr>
        <p:spPr>
          <a:xfrm>
            <a:off x="8182637" y="4036663"/>
            <a:ext cx="3274924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>
                <a:solidFill>
                  <a:schemeClr val="bg1">
                    <a:lumMod val="50000"/>
                  </a:schemeClr>
                </a:solidFill>
              </a:rPr>
              <a:t>Source: Adapted from Gharbi et al. 2017. See </a:t>
            </a:r>
            <a:r>
              <a:rPr lang="en-US" sz="1100" i="1">
                <a:solidFill>
                  <a:schemeClr val="bg1">
                    <a:lumMod val="50000"/>
                  </a:schemeClr>
                </a:solidFill>
                <a:hlinkClick r:id="rId3"/>
              </a:rPr>
              <a:t>Research Gate</a:t>
            </a:r>
            <a:r>
              <a:rPr lang="en-US" sz="1100" i="1">
                <a:solidFill>
                  <a:schemeClr val="bg1">
                    <a:lumMod val="50000"/>
                  </a:schemeClr>
                </a:solidFill>
              </a:rPr>
              <a:t>. </a:t>
            </a:r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3B71E9B6-21B3-45B5-31F0-90D54AE1B9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0200" y="2024779"/>
            <a:ext cx="3371417" cy="1960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070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691EAF7C-DEB8-8ED8-A804-BAF33CE67949}"/>
              </a:ext>
            </a:extLst>
          </p:cNvPr>
          <p:cNvSpPr txBox="1"/>
          <p:nvPr/>
        </p:nvSpPr>
        <p:spPr>
          <a:xfrm>
            <a:off x="2394857" y="1919236"/>
            <a:ext cx="7402286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8000" b="1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2. </a:t>
            </a:r>
            <a:r>
              <a:rPr kumimoji="0" lang="es-ES_tradnl" sz="8000" b="1" i="1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Model</a:t>
            </a:r>
            <a:r>
              <a:rPr kumimoji="0" lang="es-ES_tradnl" sz="8000" b="1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kumimoji="0" lang="es-ES_tradnl" sz="8000" b="1" i="1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</a:rPr>
              <a:t>Validity</a:t>
            </a:r>
            <a:endParaRPr kumimoji="0" lang="es-ES_tradnl" sz="8000" b="1" i="1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  <a:p>
            <a:pPr algn="ctr">
              <a:defRPr/>
            </a:pP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Parameter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ranges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b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</a:b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in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which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the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model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is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valid</a:t>
            </a:r>
            <a:endParaRPr lang="es-ES_tradnl" sz="4400" i="1">
              <a:solidFill>
                <a:schemeClr val="bg1"/>
              </a:solidFill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8000" b="1" i="1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62951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E13F12-E9AE-4D03-B4EF-7FAF3787D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26319E-2AFD-7CEC-A68C-FEF376EC2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>
                <a:solidFill>
                  <a:schemeClr val="bg1"/>
                </a:solidFill>
              </a:rPr>
              <a:t>8</a:t>
            </a:fld>
            <a:endParaRPr lang="es-ES_tradnl" b="1">
              <a:solidFill>
                <a:schemeClr val="bg1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2DA17ADA-8AAB-F3E5-C861-AD0D2BF1131B}"/>
              </a:ext>
            </a:extLst>
          </p:cNvPr>
          <p:cNvSpPr txBox="1"/>
          <p:nvPr/>
        </p:nvSpPr>
        <p:spPr>
          <a:xfrm>
            <a:off x="3279485" y="158606"/>
            <a:ext cx="1089573" cy="31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DAEE855-5A63-8B9B-C4E7-12D4022385B2}"/>
              </a:ext>
            </a:extLst>
          </p:cNvPr>
          <p:cNvGrpSpPr/>
          <p:nvPr/>
        </p:nvGrpSpPr>
        <p:grpSpPr>
          <a:xfrm>
            <a:off x="1521531" y="1341913"/>
            <a:ext cx="4313212" cy="2235201"/>
            <a:chOff x="1521531" y="1540946"/>
            <a:chExt cx="3752192" cy="2235201"/>
          </a:xfrm>
        </p:grpSpPr>
        <p:sp>
          <p:nvSpPr>
            <p:cNvPr id="70" name="Rectángulo: esquinas redondeadas 69">
              <a:extLst>
                <a:ext uri="{FF2B5EF4-FFF2-40B4-BE49-F238E27FC236}">
                  <a16:creationId xmlns:a16="http://schemas.microsoft.com/office/drawing/2014/main" id="{11CA4F8C-485F-76B4-E151-A3E219DFB076}"/>
                </a:ext>
              </a:extLst>
            </p:cNvPr>
            <p:cNvSpPr/>
            <p:nvPr/>
          </p:nvSpPr>
          <p:spPr>
            <a:xfrm>
              <a:off x="1521531" y="1540946"/>
              <a:ext cx="3752192" cy="2235201"/>
            </a:xfrm>
            <a:prstGeom prst="roundRect">
              <a:avLst>
                <a:gd name="adj" fmla="val 9518"/>
              </a:avLst>
            </a:prstGeom>
            <a:noFill/>
            <a:ln w="19050">
              <a:solidFill>
                <a:srgbClr val="B477E6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981765707">
                    <a:custGeom>
                      <a:avLst/>
                      <a:gdLst>
                        <a:gd name="connsiteX0" fmla="*/ 0 w 4114800"/>
                        <a:gd name="connsiteY0" fmla="*/ 552038 h 3312160"/>
                        <a:gd name="connsiteX1" fmla="*/ 552038 w 4114800"/>
                        <a:gd name="connsiteY1" fmla="*/ 0 h 3312160"/>
                        <a:gd name="connsiteX2" fmla="*/ 3562762 w 4114800"/>
                        <a:gd name="connsiteY2" fmla="*/ 0 h 3312160"/>
                        <a:gd name="connsiteX3" fmla="*/ 4114800 w 4114800"/>
                        <a:gd name="connsiteY3" fmla="*/ 552038 h 3312160"/>
                        <a:gd name="connsiteX4" fmla="*/ 4114800 w 4114800"/>
                        <a:gd name="connsiteY4" fmla="*/ 2760122 h 3312160"/>
                        <a:gd name="connsiteX5" fmla="*/ 3562762 w 4114800"/>
                        <a:gd name="connsiteY5" fmla="*/ 3312160 h 3312160"/>
                        <a:gd name="connsiteX6" fmla="*/ 552038 w 4114800"/>
                        <a:gd name="connsiteY6" fmla="*/ 3312160 h 3312160"/>
                        <a:gd name="connsiteX7" fmla="*/ 0 w 4114800"/>
                        <a:gd name="connsiteY7" fmla="*/ 2760122 h 3312160"/>
                        <a:gd name="connsiteX8" fmla="*/ 0 w 4114800"/>
                        <a:gd name="connsiteY8" fmla="*/ 552038 h 33121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114800" h="3312160" extrusionOk="0">
                          <a:moveTo>
                            <a:pt x="0" y="552038"/>
                          </a:moveTo>
                          <a:cubicBezTo>
                            <a:pt x="-8847" y="262678"/>
                            <a:pt x="203147" y="-18173"/>
                            <a:pt x="552038" y="0"/>
                          </a:cubicBezTo>
                          <a:cubicBezTo>
                            <a:pt x="1533647" y="-60713"/>
                            <a:pt x="2997123" y="61072"/>
                            <a:pt x="3562762" y="0"/>
                          </a:cubicBezTo>
                          <a:cubicBezTo>
                            <a:pt x="3862055" y="1868"/>
                            <a:pt x="4104772" y="259014"/>
                            <a:pt x="4114800" y="552038"/>
                          </a:cubicBezTo>
                          <a:cubicBezTo>
                            <a:pt x="4139252" y="1222177"/>
                            <a:pt x="4182463" y="1809593"/>
                            <a:pt x="4114800" y="2760122"/>
                          </a:cubicBezTo>
                          <a:cubicBezTo>
                            <a:pt x="4147380" y="3034038"/>
                            <a:pt x="3902132" y="3314436"/>
                            <a:pt x="3562762" y="3312160"/>
                          </a:cubicBezTo>
                          <a:cubicBezTo>
                            <a:pt x="3107680" y="3238389"/>
                            <a:pt x="1072949" y="3156277"/>
                            <a:pt x="552038" y="3312160"/>
                          </a:cubicBezTo>
                          <a:cubicBezTo>
                            <a:pt x="302072" y="3320124"/>
                            <a:pt x="-50891" y="3041779"/>
                            <a:pt x="0" y="2760122"/>
                          </a:cubicBezTo>
                          <a:cubicBezTo>
                            <a:pt x="152408" y="2473528"/>
                            <a:pt x="73868" y="1409017"/>
                            <a:pt x="0" y="55203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9321AA05-B979-083A-6B0F-1AA71AFECB64}"/>
                </a:ext>
              </a:extLst>
            </p:cNvPr>
            <p:cNvSpPr txBox="1"/>
            <p:nvPr/>
          </p:nvSpPr>
          <p:spPr>
            <a:xfrm>
              <a:off x="1794798" y="2240588"/>
              <a:ext cx="3216007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/>
                <a:t>Finding the region of the input hyperspace where </a:t>
              </a:r>
              <a:r>
                <a:rPr lang="en-US" sz="1700" err="1"/>
                <a:t>AlphaPEM</a:t>
              </a:r>
              <a:r>
                <a:rPr lang="en-US" sz="1700"/>
                <a:t> leads to a physically meaningful, simulation-successful polarization curve.</a:t>
              </a:r>
              <a:endParaRPr lang="en" sz="1700"/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E24B5C43-DC32-192C-00AA-4BA9EF4516F1}"/>
                </a:ext>
              </a:extLst>
            </p:cNvPr>
            <p:cNvSpPr txBox="1"/>
            <p:nvPr/>
          </p:nvSpPr>
          <p:spPr>
            <a:xfrm>
              <a:off x="1753075" y="1730339"/>
              <a:ext cx="337350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What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</a:t>
              </a:r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is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</a:t>
              </a:r>
              <a:r>
                <a:rPr lang="es-ES_tradnl" sz="2400" b="1" i="1" err="1">
                  <a:solidFill>
                    <a:srgbClr val="B278E6"/>
                  </a:solidFill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model</a:t>
              </a:r>
              <a:r>
                <a:rPr lang="es-ES_tradnl" sz="2400" b="1" i="1">
                  <a:solidFill>
                    <a:srgbClr val="B278E6"/>
                  </a:solidFill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</a:t>
              </a:r>
              <a:r>
                <a:rPr lang="es-ES_tradnl" sz="2400" b="1" i="1" err="1">
                  <a:solidFill>
                    <a:srgbClr val="B278E6"/>
                  </a:solidFill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validity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?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7BDBA6BB-5414-C16B-30CA-C56B74A3089B}"/>
              </a:ext>
            </a:extLst>
          </p:cNvPr>
          <p:cNvSpPr txBox="1"/>
          <p:nvPr/>
        </p:nvSpPr>
        <p:spPr>
          <a:xfrm>
            <a:off x="6283186" y="175686"/>
            <a:ext cx="405230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Rectángulo redondeado 6">
            <a:extLst>
              <a:ext uri="{FF2B5EF4-FFF2-40B4-BE49-F238E27FC236}">
                <a16:creationId xmlns:a16="http://schemas.microsoft.com/office/drawing/2014/main" id="{64901947-4EAC-8D45-4702-6E9B361BCDF9}"/>
              </a:ext>
            </a:extLst>
          </p:cNvPr>
          <p:cNvSpPr/>
          <p:nvPr/>
        </p:nvSpPr>
        <p:spPr>
          <a:xfrm>
            <a:off x="4369058" y="175685"/>
            <a:ext cx="1914128" cy="307777"/>
          </a:xfrm>
          <a:prstGeom prst="roundRect">
            <a:avLst>
              <a:gd name="adj" fmla="val 50000"/>
            </a:avLst>
          </a:prstGeom>
          <a:solidFill>
            <a:srgbClr val="B47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2.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821169D-E84F-F7DF-97FB-CDFE940C611C}"/>
              </a:ext>
            </a:extLst>
          </p:cNvPr>
          <p:cNvSpPr txBox="1">
            <a:spLocks/>
          </p:cNvSpPr>
          <p:nvPr/>
        </p:nvSpPr>
        <p:spPr>
          <a:xfrm>
            <a:off x="838200" y="682497"/>
            <a:ext cx="9778340" cy="659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Asessing</a:t>
            </a:r>
            <a:r>
              <a:rPr lang="en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the Model Validity of </a:t>
            </a:r>
            <a:r>
              <a:rPr lang="en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endParaRPr lang="en" sz="32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975893D9-1EE8-BB05-FAD9-06659988C602}"/>
              </a:ext>
            </a:extLst>
          </p:cNvPr>
          <p:cNvGrpSpPr/>
          <p:nvPr/>
        </p:nvGrpSpPr>
        <p:grpSpPr>
          <a:xfrm>
            <a:off x="6096000" y="1366007"/>
            <a:ext cx="5349764" cy="4125986"/>
            <a:chOff x="5603822" y="1341913"/>
            <a:chExt cx="5349764" cy="4125986"/>
          </a:xfrm>
        </p:grpSpPr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04B7BF0A-A8A9-44A7-66CF-FC3B9E5E0DE9}"/>
                </a:ext>
              </a:extLst>
            </p:cNvPr>
            <p:cNvSpPr txBox="1"/>
            <p:nvPr/>
          </p:nvSpPr>
          <p:spPr>
            <a:xfrm>
              <a:off x="5923410" y="1510079"/>
              <a:ext cx="404220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Sampling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in </a:t>
              </a:r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high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</a:t>
              </a:r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dimensions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: </a:t>
              </a:r>
              <a:r>
                <a:rPr lang="es-ES_tradnl" sz="2400" i="1" err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Why</a:t>
              </a:r>
              <a:r>
                <a:rPr lang="es-ES_tradnl" sz="2400" i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 </a:t>
              </a:r>
              <a:r>
                <a:rPr lang="es-ES_tradnl" sz="2400" i="1" err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model</a:t>
              </a:r>
              <a:r>
                <a:rPr lang="es-ES_tradnl" sz="2400" i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 </a:t>
              </a:r>
              <a:r>
                <a:rPr lang="es-ES_tradnl" sz="2400" i="1" err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validity</a:t>
              </a:r>
              <a:r>
                <a:rPr lang="es-ES_tradnl" sz="2400" i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 </a:t>
              </a:r>
              <a:r>
                <a:rPr lang="es-ES_tradnl" sz="2400" i="1" err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matters</a:t>
              </a:r>
              <a:endParaRPr lang="es-ES_tradnl" sz="2400" i="1">
                <a:latin typeface="Source Sans Pro Light" panose="020B0403030403020204" pitchFamily="34" charset="0"/>
                <a:ea typeface="Source Sans Pro Light" panose="020B0403030403020204" pitchFamily="34" charset="0"/>
              </a:endParaRP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73CF5AFB-A21D-E080-EA7E-236957E413A2}"/>
                </a:ext>
              </a:extLst>
            </p:cNvPr>
            <p:cNvSpPr txBox="1"/>
            <p:nvPr/>
          </p:nvSpPr>
          <p:spPr>
            <a:xfrm>
              <a:off x="5923410" y="2404914"/>
              <a:ext cx="5030176" cy="2939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We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i="1">
                  <a:latin typeface="+mj-lt"/>
                  <a:ea typeface="Source Sans Pro" panose="020B0503030403020204" pitchFamily="34" charset="0"/>
                </a:rPr>
                <a:t>“</a:t>
              </a:r>
              <a:r>
                <a:rPr lang="es-CO" sz="1700" i="1" err="1">
                  <a:latin typeface="+mj-lt"/>
                  <a:ea typeface="Source Sans Pro" panose="020B0503030403020204" pitchFamily="34" charset="0"/>
                </a:rPr>
                <a:t>sample</a:t>
              </a:r>
              <a:r>
                <a:rPr lang="es-CO" sz="1700" i="1">
                  <a:latin typeface="+mj-lt"/>
                  <a:ea typeface="Source Sans Pro" panose="020B0503030403020204" pitchFamily="34" charset="0"/>
                </a:rPr>
                <a:t>”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AlphaPEM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by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b="1" err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varying</a:t>
              </a:r>
              <a:r>
                <a:rPr lang="es-CO" sz="1700" b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 19 input </a:t>
              </a:r>
              <a:r>
                <a:rPr lang="es-CO" sz="1700" b="1" err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parameters</a:t>
              </a:r>
              <a:r>
                <a:rPr lang="es-CO" sz="1700" b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b="1" u="sng" err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independently</a:t>
              </a:r>
              <a:endParaRPr lang="es-CO" sz="1700" b="1" u="sng">
                <a:solidFill>
                  <a:srgbClr val="008B2E"/>
                </a:solidFill>
                <a:latin typeface="+mj-lt"/>
                <a:ea typeface="Source Sans Pro" panose="020B0503030403020204" pitchFamily="34" charset="0"/>
              </a:endParaRP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CO" sz="1700">
                  <a:latin typeface="+mj-lt"/>
                  <a:ea typeface="Source Sans Pro" panose="020B0503030403020204" pitchFamily="34" charset="0"/>
                </a:rPr>
                <a:t>Project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partners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and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author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200">
                  <a:latin typeface="+mj-lt"/>
                  <a:ea typeface="Source Sans Pro" panose="020B0503030403020204" pitchFamily="34" charset="0"/>
                </a:rPr>
                <a:t>(</a:t>
              </a:r>
              <a:r>
                <a:rPr lang="es-CO" sz="1200" err="1">
                  <a:latin typeface="+mj-lt"/>
                  <a:ea typeface="Source Sans Pro" panose="020B0503030403020204" pitchFamily="34" charset="0"/>
                </a:rPr>
                <a:t>Gass</a:t>
              </a:r>
              <a:r>
                <a:rPr lang="es-CO" sz="1200">
                  <a:latin typeface="+mj-lt"/>
                  <a:ea typeface="Source Sans Pro" panose="020B0503030403020204" pitchFamily="34" charset="0"/>
                </a:rPr>
                <a:t>, 2025) </a:t>
              </a:r>
              <a:br>
                <a:rPr lang="es-CO" sz="1700">
                  <a:latin typeface="+mj-lt"/>
                  <a:ea typeface="Source Sans Pro" panose="020B0503030403020204" pitchFamily="34" charset="0"/>
                </a:rPr>
              </a:b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provided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wide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parameter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ranges</a:t>
              </a:r>
              <a:endParaRPr lang="es-CO" sz="1700">
                <a:latin typeface="+mj-lt"/>
                <a:ea typeface="Source Sans Pro" panose="020B0503030403020204" pitchFamily="34" charset="0"/>
              </a:endParaRPr>
            </a:p>
            <a:p>
              <a:endParaRPr lang="es-CO" sz="1700">
                <a:latin typeface="+mj-lt"/>
                <a:ea typeface="Source Sans Pro" panose="020B0503030403020204" pitchFamily="34" charset="0"/>
              </a:endParaRPr>
            </a:p>
            <a:p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However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:</a:t>
              </a:r>
            </a:p>
            <a:p>
              <a:pPr marL="311150" indent="-311150">
                <a:spcBef>
                  <a:spcPts val="600"/>
                </a:spcBef>
              </a:pPr>
              <a:r>
                <a:rPr lang="es-CO" sz="1700" b="1">
                  <a:latin typeface="+mj-lt"/>
                  <a:ea typeface="Source Sans Pro" panose="020B0503030403020204" pitchFamily="34" charset="0"/>
                </a:rPr>
                <a:t>        (!)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Many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configurations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yield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b="1" err="1">
                  <a:solidFill>
                    <a:srgbClr val="B278E6"/>
                  </a:solidFill>
                  <a:latin typeface="+mj-lt"/>
                  <a:ea typeface="Source Sans Pro" panose="020B0503030403020204" pitchFamily="34" charset="0"/>
                </a:rPr>
                <a:t>invalid</a:t>
              </a:r>
              <a:r>
                <a:rPr lang="es-CO" sz="1700" b="1">
                  <a:solidFill>
                    <a:srgbClr val="B278E6"/>
                  </a:solidFill>
                  <a:latin typeface="+mj-lt"/>
                  <a:ea typeface="Source Sans Pro" panose="020B0503030403020204" pitchFamily="34" charset="0"/>
                </a:rPr>
                <a:t> outputs </a:t>
              </a:r>
              <a:br>
                <a:rPr lang="es-CO" sz="1700" b="1">
                  <a:solidFill>
                    <a:srgbClr val="B278E6"/>
                  </a:solidFill>
                  <a:latin typeface="+mj-lt"/>
                  <a:ea typeface="Source Sans Pro" panose="020B0503030403020204" pitchFamily="34" charset="0"/>
                </a:rPr>
              </a:br>
              <a:r>
                <a:rPr lang="es-CO" sz="1700">
                  <a:latin typeface="+mj-lt"/>
                  <a:ea typeface="Source Sans Pro" panose="020B0503030403020204" pitchFamily="34" charset="0"/>
                </a:rPr>
                <a:t>(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e.g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. negative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or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excessive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voltages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)</a:t>
              </a:r>
            </a:p>
            <a:p>
              <a:pPr marL="311150" indent="-311150">
                <a:spcBef>
                  <a:spcPts val="600"/>
                </a:spcBef>
              </a:pPr>
              <a:r>
                <a:rPr lang="es-CO" sz="1700">
                  <a:latin typeface="+mj-lt"/>
                  <a:ea typeface="Source Sans Pro" panose="020B0503030403020204" pitchFamily="34" charset="0"/>
                </a:rPr>
                <a:t>       </a:t>
              </a:r>
              <a:r>
                <a:rPr lang="es-CO" sz="1700" b="1">
                  <a:latin typeface="+mj-lt"/>
                  <a:ea typeface="Source Sans Pro" panose="020B0503030403020204" pitchFamily="34" charset="0"/>
                </a:rPr>
                <a:t> (!)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AlphaPEM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is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b="1" err="1">
                  <a:solidFill>
                    <a:srgbClr val="B278E6"/>
                  </a:solidFill>
                  <a:latin typeface="+mj-lt"/>
                  <a:ea typeface="Source Sans Pro" panose="020B0503030403020204" pitchFamily="34" charset="0"/>
                </a:rPr>
                <a:t>expensive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(≈1.5 min per run) →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computationally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wasteful</a:t>
              </a:r>
              <a:endParaRPr lang="en" sz="1700">
                <a:latin typeface="+mj-lt"/>
                <a:ea typeface="Source Sans Pro" panose="020B0503030403020204" pitchFamily="34" charset="0"/>
              </a:endParaRPr>
            </a:p>
          </p:txBody>
        </p:sp>
        <p:sp>
          <p:nvSpPr>
            <p:cNvPr id="6" name="Rectángulo: esquinas redondeadas 69">
              <a:extLst>
                <a:ext uri="{FF2B5EF4-FFF2-40B4-BE49-F238E27FC236}">
                  <a16:creationId xmlns:a16="http://schemas.microsoft.com/office/drawing/2014/main" id="{F3FC54D4-E31D-2B10-2D4C-2957617FDF24}"/>
                </a:ext>
              </a:extLst>
            </p:cNvPr>
            <p:cNvSpPr/>
            <p:nvPr/>
          </p:nvSpPr>
          <p:spPr>
            <a:xfrm>
              <a:off x="5603822" y="1341913"/>
              <a:ext cx="5244262" cy="4125986"/>
            </a:xfrm>
            <a:prstGeom prst="roundRect">
              <a:avLst>
                <a:gd name="adj" fmla="val 9518"/>
              </a:avLst>
            </a:prstGeom>
            <a:noFill/>
            <a:ln w="19050">
              <a:solidFill>
                <a:srgbClr val="B477E6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981765707">
                    <a:custGeom>
                      <a:avLst/>
                      <a:gdLst>
                        <a:gd name="connsiteX0" fmla="*/ 0 w 4114800"/>
                        <a:gd name="connsiteY0" fmla="*/ 552038 h 3312160"/>
                        <a:gd name="connsiteX1" fmla="*/ 552038 w 4114800"/>
                        <a:gd name="connsiteY1" fmla="*/ 0 h 3312160"/>
                        <a:gd name="connsiteX2" fmla="*/ 3562762 w 4114800"/>
                        <a:gd name="connsiteY2" fmla="*/ 0 h 3312160"/>
                        <a:gd name="connsiteX3" fmla="*/ 4114800 w 4114800"/>
                        <a:gd name="connsiteY3" fmla="*/ 552038 h 3312160"/>
                        <a:gd name="connsiteX4" fmla="*/ 4114800 w 4114800"/>
                        <a:gd name="connsiteY4" fmla="*/ 2760122 h 3312160"/>
                        <a:gd name="connsiteX5" fmla="*/ 3562762 w 4114800"/>
                        <a:gd name="connsiteY5" fmla="*/ 3312160 h 3312160"/>
                        <a:gd name="connsiteX6" fmla="*/ 552038 w 4114800"/>
                        <a:gd name="connsiteY6" fmla="*/ 3312160 h 3312160"/>
                        <a:gd name="connsiteX7" fmla="*/ 0 w 4114800"/>
                        <a:gd name="connsiteY7" fmla="*/ 2760122 h 3312160"/>
                        <a:gd name="connsiteX8" fmla="*/ 0 w 4114800"/>
                        <a:gd name="connsiteY8" fmla="*/ 552038 h 33121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114800" h="3312160" extrusionOk="0">
                          <a:moveTo>
                            <a:pt x="0" y="552038"/>
                          </a:moveTo>
                          <a:cubicBezTo>
                            <a:pt x="-8847" y="262678"/>
                            <a:pt x="203147" y="-18173"/>
                            <a:pt x="552038" y="0"/>
                          </a:cubicBezTo>
                          <a:cubicBezTo>
                            <a:pt x="1533647" y="-60713"/>
                            <a:pt x="2997123" y="61072"/>
                            <a:pt x="3562762" y="0"/>
                          </a:cubicBezTo>
                          <a:cubicBezTo>
                            <a:pt x="3862055" y="1868"/>
                            <a:pt x="4104772" y="259014"/>
                            <a:pt x="4114800" y="552038"/>
                          </a:cubicBezTo>
                          <a:cubicBezTo>
                            <a:pt x="4139252" y="1222177"/>
                            <a:pt x="4182463" y="1809593"/>
                            <a:pt x="4114800" y="2760122"/>
                          </a:cubicBezTo>
                          <a:cubicBezTo>
                            <a:pt x="4147380" y="3034038"/>
                            <a:pt x="3902132" y="3314436"/>
                            <a:pt x="3562762" y="3312160"/>
                          </a:cubicBezTo>
                          <a:cubicBezTo>
                            <a:pt x="3107680" y="3238389"/>
                            <a:pt x="1072949" y="3156277"/>
                            <a:pt x="552038" y="3312160"/>
                          </a:cubicBezTo>
                          <a:cubicBezTo>
                            <a:pt x="302072" y="3320124"/>
                            <a:pt x="-50891" y="3041779"/>
                            <a:pt x="0" y="2760122"/>
                          </a:cubicBezTo>
                          <a:cubicBezTo>
                            <a:pt x="152408" y="2473528"/>
                            <a:pt x="73868" y="1409017"/>
                            <a:pt x="0" y="55203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506FC8C5-7069-242A-6F54-D35664782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514" y="3765739"/>
            <a:ext cx="4014000" cy="2916576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399BFD67-1736-0B93-9633-B351168683EE}"/>
              </a:ext>
            </a:extLst>
          </p:cNvPr>
          <p:cNvSpPr txBox="1"/>
          <p:nvPr/>
        </p:nvSpPr>
        <p:spPr>
          <a:xfrm>
            <a:off x="5561705" y="5760844"/>
            <a:ext cx="58840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Figure 3: </a:t>
            </a:r>
            <a:r>
              <a:rPr lang="en-US" sz="1400"/>
              <a:t>Illustration of model validity in a 2D input space. Each point is a tested configuration: red crosses are invalid, green dots are valid.</a:t>
            </a:r>
          </a:p>
        </p:txBody>
      </p:sp>
    </p:spTree>
    <p:extLst>
      <p:ext uri="{BB962C8B-B14F-4D97-AF65-F5344CB8AC3E}">
        <p14:creationId xmlns:p14="http://schemas.microsoft.com/office/powerpoint/2010/main" val="2038545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8D87C-B765-E9DB-6B70-8EAA1405A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C9BCA35-F747-8504-D652-EF59A4181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>
                <a:solidFill>
                  <a:schemeClr val="bg1"/>
                </a:solidFill>
              </a:rPr>
              <a:t>9</a:t>
            </a:fld>
            <a:endParaRPr lang="es-ES_tradnl" b="1">
              <a:solidFill>
                <a:schemeClr val="bg1"/>
              </a:solidFill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12409482-F2E8-E387-EF24-77CF4B9BA1A1}"/>
              </a:ext>
            </a:extLst>
          </p:cNvPr>
          <p:cNvSpPr txBox="1"/>
          <p:nvPr/>
        </p:nvSpPr>
        <p:spPr>
          <a:xfrm>
            <a:off x="3279485" y="158606"/>
            <a:ext cx="1089573" cy="31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E2F08873-1487-14EE-6F7D-E60BE7F92BAA}"/>
              </a:ext>
            </a:extLst>
          </p:cNvPr>
          <p:cNvGrpSpPr/>
          <p:nvPr/>
        </p:nvGrpSpPr>
        <p:grpSpPr>
          <a:xfrm>
            <a:off x="1521531" y="1341913"/>
            <a:ext cx="4313212" cy="2235201"/>
            <a:chOff x="1521531" y="1540946"/>
            <a:chExt cx="3752192" cy="2235201"/>
          </a:xfrm>
        </p:grpSpPr>
        <p:sp>
          <p:nvSpPr>
            <p:cNvPr id="70" name="Rectángulo: esquinas redondeadas 69">
              <a:extLst>
                <a:ext uri="{FF2B5EF4-FFF2-40B4-BE49-F238E27FC236}">
                  <a16:creationId xmlns:a16="http://schemas.microsoft.com/office/drawing/2014/main" id="{FD81A7B7-466B-A9ED-353F-A5537ADEC29D}"/>
                </a:ext>
              </a:extLst>
            </p:cNvPr>
            <p:cNvSpPr/>
            <p:nvPr/>
          </p:nvSpPr>
          <p:spPr>
            <a:xfrm>
              <a:off x="1521531" y="1540946"/>
              <a:ext cx="3752192" cy="2235201"/>
            </a:xfrm>
            <a:prstGeom prst="roundRect">
              <a:avLst>
                <a:gd name="adj" fmla="val 9518"/>
              </a:avLst>
            </a:prstGeom>
            <a:noFill/>
            <a:ln w="19050">
              <a:solidFill>
                <a:srgbClr val="B477E6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981765707">
                    <a:custGeom>
                      <a:avLst/>
                      <a:gdLst>
                        <a:gd name="connsiteX0" fmla="*/ 0 w 4114800"/>
                        <a:gd name="connsiteY0" fmla="*/ 552038 h 3312160"/>
                        <a:gd name="connsiteX1" fmla="*/ 552038 w 4114800"/>
                        <a:gd name="connsiteY1" fmla="*/ 0 h 3312160"/>
                        <a:gd name="connsiteX2" fmla="*/ 3562762 w 4114800"/>
                        <a:gd name="connsiteY2" fmla="*/ 0 h 3312160"/>
                        <a:gd name="connsiteX3" fmla="*/ 4114800 w 4114800"/>
                        <a:gd name="connsiteY3" fmla="*/ 552038 h 3312160"/>
                        <a:gd name="connsiteX4" fmla="*/ 4114800 w 4114800"/>
                        <a:gd name="connsiteY4" fmla="*/ 2760122 h 3312160"/>
                        <a:gd name="connsiteX5" fmla="*/ 3562762 w 4114800"/>
                        <a:gd name="connsiteY5" fmla="*/ 3312160 h 3312160"/>
                        <a:gd name="connsiteX6" fmla="*/ 552038 w 4114800"/>
                        <a:gd name="connsiteY6" fmla="*/ 3312160 h 3312160"/>
                        <a:gd name="connsiteX7" fmla="*/ 0 w 4114800"/>
                        <a:gd name="connsiteY7" fmla="*/ 2760122 h 3312160"/>
                        <a:gd name="connsiteX8" fmla="*/ 0 w 4114800"/>
                        <a:gd name="connsiteY8" fmla="*/ 552038 h 33121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114800" h="3312160" extrusionOk="0">
                          <a:moveTo>
                            <a:pt x="0" y="552038"/>
                          </a:moveTo>
                          <a:cubicBezTo>
                            <a:pt x="-8847" y="262678"/>
                            <a:pt x="203147" y="-18173"/>
                            <a:pt x="552038" y="0"/>
                          </a:cubicBezTo>
                          <a:cubicBezTo>
                            <a:pt x="1533647" y="-60713"/>
                            <a:pt x="2997123" y="61072"/>
                            <a:pt x="3562762" y="0"/>
                          </a:cubicBezTo>
                          <a:cubicBezTo>
                            <a:pt x="3862055" y="1868"/>
                            <a:pt x="4104772" y="259014"/>
                            <a:pt x="4114800" y="552038"/>
                          </a:cubicBezTo>
                          <a:cubicBezTo>
                            <a:pt x="4139252" y="1222177"/>
                            <a:pt x="4182463" y="1809593"/>
                            <a:pt x="4114800" y="2760122"/>
                          </a:cubicBezTo>
                          <a:cubicBezTo>
                            <a:pt x="4147380" y="3034038"/>
                            <a:pt x="3902132" y="3314436"/>
                            <a:pt x="3562762" y="3312160"/>
                          </a:cubicBezTo>
                          <a:cubicBezTo>
                            <a:pt x="3107680" y="3238389"/>
                            <a:pt x="1072949" y="3156277"/>
                            <a:pt x="552038" y="3312160"/>
                          </a:cubicBezTo>
                          <a:cubicBezTo>
                            <a:pt x="302072" y="3320124"/>
                            <a:pt x="-50891" y="3041779"/>
                            <a:pt x="0" y="2760122"/>
                          </a:cubicBezTo>
                          <a:cubicBezTo>
                            <a:pt x="152408" y="2473528"/>
                            <a:pt x="73868" y="1409017"/>
                            <a:pt x="0" y="55203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71" name="CuadroTexto 70">
              <a:extLst>
                <a:ext uri="{FF2B5EF4-FFF2-40B4-BE49-F238E27FC236}">
                  <a16:creationId xmlns:a16="http://schemas.microsoft.com/office/drawing/2014/main" id="{E51335BA-D1F7-F664-A357-BF1AB251F6B1}"/>
                </a:ext>
              </a:extLst>
            </p:cNvPr>
            <p:cNvSpPr txBox="1"/>
            <p:nvPr/>
          </p:nvSpPr>
          <p:spPr>
            <a:xfrm>
              <a:off x="1794798" y="2240588"/>
              <a:ext cx="3216007" cy="1400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700"/>
                <a:t>Finding the region of the input hyperspace where </a:t>
              </a:r>
              <a:r>
                <a:rPr lang="en-US" sz="1700" err="1"/>
                <a:t>AlphaPEM</a:t>
              </a:r>
              <a:r>
                <a:rPr lang="en-US" sz="1700"/>
                <a:t> leads to a physically meaningful, simulation-successful polarization curve.</a:t>
              </a:r>
              <a:endParaRPr lang="en" sz="1700"/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462A6133-88D8-CB82-3DB4-06E40EDD2CAB}"/>
                </a:ext>
              </a:extLst>
            </p:cNvPr>
            <p:cNvSpPr txBox="1"/>
            <p:nvPr/>
          </p:nvSpPr>
          <p:spPr>
            <a:xfrm>
              <a:off x="1753075" y="1730339"/>
              <a:ext cx="337350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What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</a:t>
              </a:r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is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</a:t>
              </a:r>
              <a:r>
                <a:rPr lang="es-ES_tradnl" sz="2400" b="1" i="1" err="1">
                  <a:solidFill>
                    <a:srgbClr val="B278E6"/>
                  </a:solidFill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model</a:t>
              </a:r>
              <a:r>
                <a:rPr lang="es-ES_tradnl" sz="2400" b="1" i="1">
                  <a:solidFill>
                    <a:srgbClr val="B278E6"/>
                  </a:solidFill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</a:t>
              </a:r>
              <a:r>
                <a:rPr lang="es-ES_tradnl" sz="2400" b="1" i="1" err="1">
                  <a:solidFill>
                    <a:srgbClr val="B278E6"/>
                  </a:solidFill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validity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?</a:t>
              </a:r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12C419EF-71CA-2C45-BFDC-881FEC0B90E3}"/>
              </a:ext>
            </a:extLst>
          </p:cNvPr>
          <p:cNvSpPr txBox="1"/>
          <p:nvPr/>
        </p:nvSpPr>
        <p:spPr>
          <a:xfrm>
            <a:off x="6283186" y="175686"/>
            <a:ext cx="405230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Rectángulo redondeado 6">
            <a:extLst>
              <a:ext uri="{FF2B5EF4-FFF2-40B4-BE49-F238E27FC236}">
                <a16:creationId xmlns:a16="http://schemas.microsoft.com/office/drawing/2014/main" id="{F0CC216C-7890-9571-1D2C-D6DAE412306E}"/>
              </a:ext>
            </a:extLst>
          </p:cNvPr>
          <p:cNvSpPr/>
          <p:nvPr/>
        </p:nvSpPr>
        <p:spPr>
          <a:xfrm>
            <a:off x="4369058" y="175685"/>
            <a:ext cx="1914128" cy="307777"/>
          </a:xfrm>
          <a:prstGeom prst="roundRect">
            <a:avLst>
              <a:gd name="adj" fmla="val 50000"/>
            </a:avLst>
          </a:prstGeom>
          <a:solidFill>
            <a:srgbClr val="B47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2.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81D223D-7849-561C-380C-25BF4265BA96}"/>
              </a:ext>
            </a:extLst>
          </p:cNvPr>
          <p:cNvSpPr txBox="1">
            <a:spLocks/>
          </p:cNvSpPr>
          <p:nvPr/>
        </p:nvSpPr>
        <p:spPr>
          <a:xfrm>
            <a:off x="838200" y="682497"/>
            <a:ext cx="9778340" cy="659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Asessing</a:t>
            </a:r>
            <a:r>
              <a:rPr lang="en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the Model Validity of </a:t>
            </a:r>
            <a:r>
              <a:rPr lang="en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endParaRPr lang="en" sz="32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C6FCF0C9-46EA-C340-5E96-7DE071C48B23}"/>
              </a:ext>
            </a:extLst>
          </p:cNvPr>
          <p:cNvGrpSpPr/>
          <p:nvPr/>
        </p:nvGrpSpPr>
        <p:grpSpPr>
          <a:xfrm>
            <a:off x="6096000" y="1366007"/>
            <a:ext cx="5349764" cy="4125986"/>
            <a:chOff x="5603822" y="1341913"/>
            <a:chExt cx="5349764" cy="4125986"/>
          </a:xfrm>
        </p:grpSpPr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A104F954-4ABD-D7D6-49AE-2C12B96F3419}"/>
                </a:ext>
              </a:extLst>
            </p:cNvPr>
            <p:cNvSpPr txBox="1"/>
            <p:nvPr/>
          </p:nvSpPr>
          <p:spPr>
            <a:xfrm>
              <a:off x="5923410" y="1510079"/>
              <a:ext cx="404220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Sampling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in </a:t>
              </a:r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high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 </a:t>
              </a:r>
              <a:r>
                <a:rPr lang="es-ES_tradnl" sz="2400" b="1" err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dimensions</a:t>
              </a:r>
              <a:r>
                <a:rPr lang="es-ES_tradnl" sz="2400" b="1">
                  <a:latin typeface="Source Sans Pro SemiBold" panose="020B0503030403020204" pitchFamily="34" charset="0"/>
                  <a:ea typeface="Source Sans Pro SemiBold" panose="020B0503030403020204" pitchFamily="34" charset="0"/>
                </a:rPr>
                <a:t>: </a:t>
              </a:r>
              <a:r>
                <a:rPr lang="es-ES_tradnl" sz="2400" i="1" err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Why</a:t>
              </a:r>
              <a:r>
                <a:rPr lang="es-ES_tradnl" sz="2400" i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 </a:t>
              </a:r>
              <a:r>
                <a:rPr lang="es-ES_tradnl" sz="2400" i="1" err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model</a:t>
              </a:r>
              <a:r>
                <a:rPr lang="es-ES_tradnl" sz="2400" i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 </a:t>
              </a:r>
              <a:r>
                <a:rPr lang="es-ES_tradnl" sz="2400" i="1" err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validity</a:t>
              </a:r>
              <a:r>
                <a:rPr lang="es-ES_tradnl" sz="2400" i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 </a:t>
              </a:r>
              <a:r>
                <a:rPr lang="es-ES_tradnl" sz="2400" i="1" err="1">
                  <a:latin typeface="Source Sans Pro Light" panose="020B0403030403020204" pitchFamily="34" charset="0"/>
                  <a:ea typeface="Source Sans Pro Light" panose="020B0403030403020204" pitchFamily="34" charset="0"/>
                </a:rPr>
                <a:t>matters</a:t>
              </a:r>
              <a:endParaRPr lang="es-ES_tradnl" sz="2400" i="1">
                <a:latin typeface="Source Sans Pro Light" panose="020B0403030403020204" pitchFamily="34" charset="0"/>
                <a:ea typeface="Source Sans Pro Light" panose="020B0403030403020204" pitchFamily="34" charset="0"/>
              </a:endParaRPr>
            </a:p>
          </p:txBody>
        </p:sp>
        <p:sp>
          <p:nvSpPr>
            <p:cNvPr id="75" name="CuadroTexto 74">
              <a:extLst>
                <a:ext uri="{FF2B5EF4-FFF2-40B4-BE49-F238E27FC236}">
                  <a16:creationId xmlns:a16="http://schemas.microsoft.com/office/drawing/2014/main" id="{3A81596B-3CA5-6EDA-C886-229E083F8EE9}"/>
                </a:ext>
              </a:extLst>
            </p:cNvPr>
            <p:cNvSpPr txBox="1"/>
            <p:nvPr/>
          </p:nvSpPr>
          <p:spPr>
            <a:xfrm>
              <a:off x="5923410" y="2404914"/>
              <a:ext cx="5030176" cy="29392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We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i="1">
                  <a:latin typeface="+mj-lt"/>
                  <a:ea typeface="Source Sans Pro" panose="020B0503030403020204" pitchFamily="34" charset="0"/>
                </a:rPr>
                <a:t>“</a:t>
              </a:r>
              <a:r>
                <a:rPr lang="es-CO" sz="1700" i="1" err="1">
                  <a:latin typeface="+mj-lt"/>
                  <a:ea typeface="Source Sans Pro" panose="020B0503030403020204" pitchFamily="34" charset="0"/>
                </a:rPr>
                <a:t>sample</a:t>
              </a:r>
              <a:r>
                <a:rPr lang="es-CO" sz="1700" i="1">
                  <a:latin typeface="+mj-lt"/>
                  <a:ea typeface="Source Sans Pro" panose="020B0503030403020204" pitchFamily="34" charset="0"/>
                </a:rPr>
                <a:t>”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AlphaPEM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by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b="1" err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varying</a:t>
              </a:r>
              <a:r>
                <a:rPr lang="es-CO" sz="1700" b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 19 input </a:t>
              </a:r>
              <a:r>
                <a:rPr lang="es-CO" sz="1700" b="1" err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parameters</a:t>
              </a:r>
              <a:r>
                <a:rPr lang="es-CO" sz="1700" b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b="1" u="sng" err="1">
                  <a:solidFill>
                    <a:srgbClr val="008B2E"/>
                  </a:solidFill>
                  <a:latin typeface="+mj-lt"/>
                  <a:ea typeface="Source Sans Pro" panose="020B0503030403020204" pitchFamily="34" charset="0"/>
                </a:rPr>
                <a:t>independently</a:t>
              </a:r>
              <a:endParaRPr lang="es-CO" sz="1700" b="1" u="sng">
                <a:solidFill>
                  <a:srgbClr val="008B2E"/>
                </a:solidFill>
                <a:latin typeface="+mj-lt"/>
                <a:ea typeface="Source Sans Pro" panose="020B0503030403020204" pitchFamily="34" charset="0"/>
              </a:endParaRPr>
            </a:p>
            <a:p>
              <a:pPr marL="285750" indent="-285750"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s-CO" sz="1700">
                  <a:latin typeface="+mj-lt"/>
                  <a:ea typeface="Source Sans Pro" panose="020B0503030403020204" pitchFamily="34" charset="0"/>
                </a:rPr>
                <a:t>Project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partners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and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author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200">
                  <a:latin typeface="+mj-lt"/>
                  <a:ea typeface="Source Sans Pro" panose="020B0503030403020204" pitchFamily="34" charset="0"/>
                </a:rPr>
                <a:t>(</a:t>
              </a:r>
              <a:r>
                <a:rPr lang="es-CO" sz="1200" err="1">
                  <a:latin typeface="+mj-lt"/>
                  <a:ea typeface="Source Sans Pro" panose="020B0503030403020204" pitchFamily="34" charset="0"/>
                </a:rPr>
                <a:t>Gass</a:t>
              </a:r>
              <a:r>
                <a:rPr lang="es-CO" sz="1200">
                  <a:latin typeface="+mj-lt"/>
                  <a:ea typeface="Source Sans Pro" panose="020B0503030403020204" pitchFamily="34" charset="0"/>
                </a:rPr>
                <a:t>, 2025) </a:t>
              </a:r>
              <a:br>
                <a:rPr lang="es-CO" sz="1700">
                  <a:latin typeface="+mj-lt"/>
                  <a:ea typeface="Source Sans Pro" panose="020B0503030403020204" pitchFamily="34" charset="0"/>
                </a:rPr>
              </a:b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provided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wide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parameter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ranges</a:t>
              </a:r>
              <a:endParaRPr lang="es-CO" sz="1700">
                <a:latin typeface="+mj-lt"/>
                <a:ea typeface="Source Sans Pro" panose="020B0503030403020204" pitchFamily="34" charset="0"/>
              </a:endParaRPr>
            </a:p>
            <a:p>
              <a:endParaRPr lang="es-CO" sz="1700">
                <a:latin typeface="+mj-lt"/>
                <a:ea typeface="Source Sans Pro" panose="020B0503030403020204" pitchFamily="34" charset="0"/>
              </a:endParaRPr>
            </a:p>
            <a:p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However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:</a:t>
              </a:r>
            </a:p>
            <a:p>
              <a:pPr marL="311150" indent="-311150">
                <a:spcBef>
                  <a:spcPts val="600"/>
                </a:spcBef>
              </a:pPr>
              <a:r>
                <a:rPr lang="es-CO" sz="1700" b="1">
                  <a:latin typeface="+mj-lt"/>
                  <a:ea typeface="Source Sans Pro" panose="020B0503030403020204" pitchFamily="34" charset="0"/>
                </a:rPr>
                <a:t>        (!)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Many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configurations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yield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b="1" err="1">
                  <a:solidFill>
                    <a:srgbClr val="B278E6"/>
                  </a:solidFill>
                  <a:latin typeface="+mj-lt"/>
                  <a:ea typeface="Source Sans Pro" panose="020B0503030403020204" pitchFamily="34" charset="0"/>
                </a:rPr>
                <a:t>invalid</a:t>
              </a:r>
              <a:r>
                <a:rPr lang="es-CO" sz="1700" b="1">
                  <a:solidFill>
                    <a:srgbClr val="B278E6"/>
                  </a:solidFill>
                  <a:latin typeface="+mj-lt"/>
                  <a:ea typeface="Source Sans Pro" panose="020B0503030403020204" pitchFamily="34" charset="0"/>
                </a:rPr>
                <a:t> outputs </a:t>
              </a:r>
              <a:br>
                <a:rPr lang="es-CO" sz="1700" b="1">
                  <a:solidFill>
                    <a:srgbClr val="B278E6"/>
                  </a:solidFill>
                  <a:latin typeface="+mj-lt"/>
                  <a:ea typeface="Source Sans Pro" panose="020B0503030403020204" pitchFamily="34" charset="0"/>
                </a:rPr>
              </a:br>
              <a:r>
                <a:rPr lang="es-CO" sz="1700">
                  <a:latin typeface="+mj-lt"/>
                  <a:ea typeface="Source Sans Pro" panose="020B0503030403020204" pitchFamily="34" charset="0"/>
                </a:rPr>
                <a:t>(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e.g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. negative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or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excessive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voltages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)</a:t>
              </a:r>
            </a:p>
            <a:p>
              <a:pPr marL="311150" indent="-311150">
                <a:spcBef>
                  <a:spcPts val="600"/>
                </a:spcBef>
              </a:pPr>
              <a:r>
                <a:rPr lang="es-CO" sz="1700">
                  <a:latin typeface="+mj-lt"/>
                  <a:ea typeface="Source Sans Pro" panose="020B0503030403020204" pitchFamily="34" charset="0"/>
                </a:rPr>
                <a:t>       </a:t>
              </a:r>
              <a:r>
                <a:rPr lang="es-CO" sz="1700" b="1">
                  <a:latin typeface="+mj-lt"/>
                  <a:ea typeface="Source Sans Pro" panose="020B0503030403020204" pitchFamily="34" charset="0"/>
                </a:rPr>
                <a:t> (!)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AlphaPEM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is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b="1" err="1">
                  <a:solidFill>
                    <a:srgbClr val="B278E6"/>
                  </a:solidFill>
                  <a:latin typeface="+mj-lt"/>
                  <a:ea typeface="Source Sans Pro" panose="020B0503030403020204" pitchFamily="34" charset="0"/>
                </a:rPr>
                <a:t>expensive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(≈1.5 min per run) →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computationally</a:t>
              </a:r>
              <a:r>
                <a:rPr lang="es-CO" sz="1700">
                  <a:latin typeface="+mj-lt"/>
                  <a:ea typeface="Source Sans Pro" panose="020B0503030403020204" pitchFamily="34" charset="0"/>
                </a:rPr>
                <a:t> </a:t>
              </a:r>
              <a:r>
                <a:rPr lang="es-CO" sz="1700" err="1">
                  <a:latin typeface="+mj-lt"/>
                  <a:ea typeface="Source Sans Pro" panose="020B0503030403020204" pitchFamily="34" charset="0"/>
                </a:rPr>
                <a:t>wasteful</a:t>
              </a:r>
              <a:endParaRPr lang="en" sz="1700">
                <a:latin typeface="+mj-lt"/>
                <a:ea typeface="Source Sans Pro" panose="020B0503030403020204" pitchFamily="34" charset="0"/>
              </a:endParaRPr>
            </a:p>
          </p:txBody>
        </p:sp>
        <p:sp>
          <p:nvSpPr>
            <p:cNvPr id="6" name="Rectángulo: esquinas redondeadas 69">
              <a:extLst>
                <a:ext uri="{FF2B5EF4-FFF2-40B4-BE49-F238E27FC236}">
                  <a16:creationId xmlns:a16="http://schemas.microsoft.com/office/drawing/2014/main" id="{608137D3-9644-9EC0-2D32-281DF3D5A27F}"/>
                </a:ext>
              </a:extLst>
            </p:cNvPr>
            <p:cNvSpPr/>
            <p:nvPr/>
          </p:nvSpPr>
          <p:spPr>
            <a:xfrm>
              <a:off x="5603822" y="1341913"/>
              <a:ext cx="5244262" cy="4125986"/>
            </a:xfrm>
            <a:prstGeom prst="roundRect">
              <a:avLst>
                <a:gd name="adj" fmla="val 9518"/>
              </a:avLst>
            </a:prstGeom>
            <a:noFill/>
            <a:ln w="19050">
              <a:solidFill>
                <a:srgbClr val="B477E6"/>
              </a:solidFill>
              <a:prstDash val="solid"/>
              <a:extLst>
                <a:ext uri="{C807C97D-BFC1-408E-A445-0C87EB9F89A2}">
                  <ask:lineSketchStyleProps xmlns:ask="http://schemas.microsoft.com/office/drawing/2018/sketchyshapes" sd="981765707">
                    <a:custGeom>
                      <a:avLst/>
                      <a:gdLst>
                        <a:gd name="connsiteX0" fmla="*/ 0 w 4114800"/>
                        <a:gd name="connsiteY0" fmla="*/ 552038 h 3312160"/>
                        <a:gd name="connsiteX1" fmla="*/ 552038 w 4114800"/>
                        <a:gd name="connsiteY1" fmla="*/ 0 h 3312160"/>
                        <a:gd name="connsiteX2" fmla="*/ 3562762 w 4114800"/>
                        <a:gd name="connsiteY2" fmla="*/ 0 h 3312160"/>
                        <a:gd name="connsiteX3" fmla="*/ 4114800 w 4114800"/>
                        <a:gd name="connsiteY3" fmla="*/ 552038 h 3312160"/>
                        <a:gd name="connsiteX4" fmla="*/ 4114800 w 4114800"/>
                        <a:gd name="connsiteY4" fmla="*/ 2760122 h 3312160"/>
                        <a:gd name="connsiteX5" fmla="*/ 3562762 w 4114800"/>
                        <a:gd name="connsiteY5" fmla="*/ 3312160 h 3312160"/>
                        <a:gd name="connsiteX6" fmla="*/ 552038 w 4114800"/>
                        <a:gd name="connsiteY6" fmla="*/ 3312160 h 3312160"/>
                        <a:gd name="connsiteX7" fmla="*/ 0 w 4114800"/>
                        <a:gd name="connsiteY7" fmla="*/ 2760122 h 3312160"/>
                        <a:gd name="connsiteX8" fmla="*/ 0 w 4114800"/>
                        <a:gd name="connsiteY8" fmla="*/ 552038 h 33121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</a:cxnLst>
                      <a:rect l="l" t="t" r="r" b="b"/>
                      <a:pathLst>
                        <a:path w="4114800" h="3312160" extrusionOk="0">
                          <a:moveTo>
                            <a:pt x="0" y="552038"/>
                          </a:moveTo>
                          <a:cubicBezTo>
                            <a:pt x="-8847" y="262678"/>
                            <a:pt x="203147" y="-18173"/>
                            <a:pt x="552038" y="0"/>
                          </a:cubicBezTo>
                          <a:cubicBezTo>
                            <a:pt x="1533647" y="-60713"/>
                            <a:pt x="2997123" y="61072"/>
                            <a:pt x="3562762" y="0"/>
                          </a:cubicBezTo>
                          <a:cubicBezTo>
                            <a:pt x="3862055" y="1868"/>
                            <a:pt x="4104772" y="259014"/>
                            <a:pt x="4114800" y="552038"/>
                          </a:cubicBezTo>
                          <a:cubicBezTo>
                            <a:pt x="4139252" y="1222177"/>
                            <a:pt x="4182463" y="1809593"/>
                            <a:pt x="4114800" y="2760122"/>
                          </a:cubicBezTo>
                          <a:cubicBezTo>
                            <a:pt x="4147380" y="3034038"/>
                            <a:pt x="3902132" y="3314436"/>
                            <a:pt x="3562762" y="3312160"/>
                          </a:cubicBezTo>
                          <a:cubicBezTo>
                            <a:pt x="3107680" y="3238389"/>
                            <a:pt x="1072949" y="3156277"/>
                            <a:pt x="552038" y="3312160"/>
                          </a:cubicBezTo>
                          <a:cubicBezTo>
                            <a:pt x="302072" y="3320124"/>
                            <a:pt x="-50891" y="3041779"/>
                            <a:pt x="0" y="2760122"/>
                          </a:cubicBezTo>
                          <a:cubicBezTo>
                            <a:pt x="152408" y="2473528"/>
                            <a:pt x="73868" y="1409017"/>
                            <a:pt x="0" y="552038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</p:grpSp>
      <p:pic>
        <p:nvPicPr>
          <p:cNvPr id="15" name="Imagen 14">
            <a:extLst>
              <a:ext uri="{FF2B5EF4-FFF2-40B4-BE49-F238E27FC236}">
                <a16:creationId xmlns:a16="http://schemas.microsoft.com/office/drawing/2014/main" id="{EAFBCCFF-EAA8-66CB-922C-EA7BF9BED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9571" y="3766507"/>
            <a:ext cx="4012943" cy="2915808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124C0D57-D013-B587-C6FF-3E731E470394}"/>
              </a:ext>
            </a:extLst>
          </p:cNvPr>
          <p:cNvSpPr txBox="1"/>
          <p:nvPr/>
        </p:nvSpPr>
        <p:spPr>
          <a:xfrm>
            <a:off x="5561705" y="5760844"/>
            <a:ext cx="5884059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/>
              <a:t>Figure 4: </a:t>
            </a:r>
            <a:r>
              <a:rPr lang="en-US" sz="1400" dirty="0"/>
              <a:t>Illustration of model validity in a 2D input space. Each point is a tested configuration: red crosses are invalid, green dots are valid. “Safe zone” for sampling was added.</a:t>
            </a:r>
          </a:p>
        </p:txBody>
      </p:sp>
    </p:spTree>
    <p:extLst>
      <p:ext uri="{BB962C8B-B14F-4D97-AF65-F5344CB8AC3E}">
        <p14:creationId xmlns:p14="http://schemas.microsoft.com/office/powerpoint/2010/main" val="975886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FA176-B999-C858-EA6C-ADAC77EB9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13D9DAA-65EC-B187-032A-BA12AE1A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>
                <a:solidFill>
                  <a:schemeClr val="bg1"/>
                </a:solidFill>
              </a:rPr>
              <a:t>10</a:t>
            </a:fld>
            <a:endParaRPr lang="es-ES_tradnl" b="1">
              <a:solidFill>
                <a:schemeClr val="bg1"/>
              </a:solidFill>
            </a:endParaRPr>
          </a:p>
        </p:txBody>
      </p:sp>
      <p:sp>
        <p:nvSpPr>
          <p:cNvPr id="3" name="Google Shape;1857;p37">
            <a:extLst>
              <a:ext uri="{FF2B5EF4-FFF2-40B4-BE49-F238E27FC236}">
                <a16:creationId xmlns:a16="http://schemas.microsoft.com/office/drawing/2014/main" id="{7B43459C-78C4-9FC8-E074-85895B5B518E}"/>
              </a:ext>
            </a:extLst>
          </p:cNvPr>
          <p:cNvSpPr/>
          <p:nvPr/>
        </p:nvSpPr>
        <p:spPr>
          <a:xfrm flipV="1">
            <a:off x="1669011" y="3002562"/>
            <a:ext cx="4410344" cy="2651456"/>
          </a:xfrm>
          <a:prstGeom prst="round2SameRect">
            <a:avLst/>
          </a:prstGeom>
          <a:noFill/>
          <a:ln w="19050">
            <a:solidFill>
              <a:srgbClr val="068B2E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5" name="Google Shape;1859;p37">
            <a:extLst>
              <a:ext uri="{FF2B5EF4-FFF2-40B4-BE49-F238E27FC236}">
                <a16:creationId xmlns:a16="http://schemas.microsoft.com/office/drawing/2014/main" id="{B7505F8C-86FC-EF1B-37DD-5EC1295FBE67}"/>
              </a:ext>
            </a:extLst>
          </p:cNvPr>
          <p:cNvSpPr/>
          <p:nvPr/>
        </p:nvSpPr>
        <p:spPr>
          <a:xfrm>
            <a:off x="1657200" y="2645742"/>
            <a:ext cx="4438800" cy="575889"/>
          </a:xfrm>
          <a:prstGeom prst="round2SameRect">
            <a:avLst>
              <a:gd name="adj1" fmla="val 37986"/>
              <a:gd name="adj2" fmla="val 0"/>
            </a:avLst>
          </a:prstGeom>
          <a:solidFill>
            <a:srgbClr val="008B2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MX" b="1">
                <a:solidFill>
                  <a:schemeClr val="lt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Fira Sans Extra Condensed"/>
                <a:sym typeface="Fira Sans Extra Condensed"/>
              </a:rPr>
              <a:t>What’s a valid polarization curve?</a:t>
            </a:r>
          </a:p>
        </p:txBody>
      </p:sp>
      <p:sp>
        <p:nvSpPr>
          <p:cNvPr id="9" name="Google Shape;1869;p37">
            <a:extLst>
              <a:ext uri="{FF2B5EF4-FFF2-40B4-BE49-F238E27FC236}">
                <a16:creationId xmlns:a16="http://schemas.microsoft.com/office/drawing/2014/main" id="{71E28EC4-4D5D-0BBD-BCCA-2266157BA981}"/>
              </a:ext>
            </a:extLst>
          </p:cNvPr>
          <p:cNvSpPr txBox="1"/>
          <p:nvPr/>
        </p:nvSpPr>
        <p:spPr>
          <a:xfrm>
            <a:off x="1841336" y="3456161"/>
            <a:ext cx="4065693" cy="19633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ES_tradnl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It</a:t>
            </a:r>
            <a:r>
              <a:rPr lang="es-CO" altLang="es-CO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starts</a:t>
            </a:r>
            <a:r>
              <a:rPr lang="es-CO" altLang="es-CO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within</a:t>
            </a:r>
            <a:r>
              <a:rPr lang="es-CO" altLang="es-CO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the</a:t>
            </a:r>
            <a:r>
              <a:rPr lang="es-CO" altLang="es-CO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expected</a:t>
            </a:r>
            <a:r>
              <a:rPr lang="es-CO" altLang="es-CO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voltage</a:t>
            </a:r>
            <a:r>
              <a:rPr lang="es-CO" altLang="es-CO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range</a:t>
            </a:r>
            <a:r>
              <a:rPr lang="es-CO" altLang="es-CO">
                <a:latin typeface="+mj-lt"/>
              </a:rPr>
              <a:t> (0.0–1.23 V)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0000"/>
                </a:solidFill>
                <a:latin typeface="+mj-lt"/>
              </a:rPr>
              <a:t>Decreases monotonically (within a 5 mV tolerance) with current density</a:t>
            </a:r>
            <a:r>
              <a:rPr lang="es-ES_tradnl">
                <a:latin typeface="+mj-lt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s-CO" altLang="es-CO" err="1">
                <a:latin typeface="+mj-lt"/>
              </a:rPr>
              <a:t>It</a:t>
            </a:r>
            <a:r>
              <a:rPr lang="es-CO" altLang="es-CO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maintains</a:t>
            </a:r>
            <a:r>
              <a:rPr lang="es-CO" altLang="es-CO">
                <a:latin typeface="+mj-lt"/>
              </a:rPr>
              <a:t> positive </a:t>
            </a:r>
            <a:r>
              <a:rPr lang="es-CO" altLang="es-CO" err="1">
                <a:latin typeface="+mj-lt"/>
              </a:rPr>
              <a:t>voltage</a:t>
            </a:r>
            <a:r>
              <a:rPr lang="es-CO" altLang="es-CO">
                <a:latin typeface="+mj-lt"/>
              </a:rPr>
              <a:t> at </a:t>
            </a:r>
            <a:r>
              <a:rPr lang="es-CO" altLang="es-CO" err="1">
                <a:latin typeface="+mj-lt"/>
              </a:rPr>
              <a:t>low</a:t>
            </a:r>
            <a:r>
              <a:rPr lang="es-CO" altLang="es-CO">
                <a:latin typeface="+mj-lt"/>
              </a:rPr>
              <a:t> and </a:t>
            </a:r>
            <a:r>
              <a:rPr lang="es-CO" altLang="es-CO" err="1">
                <a:latin typeface="+mj-lt"/>
              </a:rPr>
              <a:t>mid</a:t>
            </a:r>
            <a:r>
              <a:rPr lang="es-CO" altLang="es-CO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current</a:t>
            </a:r>
            <a:r>
              <a:rPr lang="es-CO" altLang="es-CO">
                <a:latin typeface="+mj-lt"/>
              </a:rPr>
              <a:t> </a:t>
            </a:r>
            <a:r>
              <a:rPr lang="es-CO" altLang="es-CO" err="1">
                <a:latin typeface="+mj-lt"/>
              </a:rPr>
              <a:t>densities</a:t>
            </a:r>
            <a:r>
              <a:rPr lang="es-CO" altLang="es-CO">
                <a:latin typeface="+mj-lt"/>
              </a:rPr>
              <a:t> (</a:t>
            </a:r>
            <a:r>
              <a:rPr lang="es-CO" altLang="es-CO" err="1">
                <a:latin typeface="+mj-lt"/>
              </a:rPr>
              <a:t>until</a:t>
            </a:r>
            <a:r>
              <a:rPr lang="es-CO" altLang="es-CO">
                <a:latin typeface="+mj-lt"/>
              </a:rPr>
              <a:t> 2.0 A/cm²)</a:t>
            </a:r>
            <a:endParaRPr lang="en-US">
              <a:latin typeface="+mj-lt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1C82784-0C5B-5396-FC1B-3833B38538D8}"/>
              </a:ext>
            </a:extLst>
          </p:cNvPr>
          <p:cNvSpPr txBox="1"/>
          <p:nvPr/>
        </p:nvSpPr>
        <p:spPr>
          <a:xfrm>
            <a:off x="2427890" y="1341914"/>
            <a:ext cx="73572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Find a region (</a:t>
            </a:r>
            <a:r>
              <a:rPr lang="en-US" err="1"/>
              <a:t>hyperbox</a:t>
            </a:r>
            <a:r>
              <a:rPr lang="en-US"/>
              <a:t>) where sampled configurations are </a:t>
            </a:r>
            <a:r>
              <a:rPr lang="en-US" b="1">
                <a:solidFill>
                  <a:srgbClr val="008B2E"/>
                </a:solidFill>
              </a:rPr>
              <a:t>consistently valid</a:t>
            </a:r>
            <a:r>
              <a:rPr lang="en-US"/>
              <a:t>. That is, where the probability of finding a valid polarization curve is very high (&gt;0.9)</a:t>
            </a:r>
            <a:endParaRPr lang="en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50D80A1-4117-EBD1-7923-4CD65007A772}"/>
              </a:ext>
            </a:extLst>
          </p:cNvPr>
          <p:cNvSpPr txBox="1"/>
          <p:nvPr/>
        </p:nvSpPr>
        <p:spPr>
          <a:xfrm>
            <a:off x="6639951" y="5529172"/>
            <a:ext cx="42062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200" b="1" dirty="0"/>
              <a:t>Figure 5:  </a:t>
            </a:r>
            <a:r>
              <a:rPr lang="en-US" sz="1200" dirty="0"/>
              <a:t>Valid polarization curve: within 0–1.23 V, monotonic, and positive up to 2.0 A/cm².</a:t>
            </a:r>
            <a:br>
              <a:rPr lang="en-US" sz="1200" dirty="0"/>
            </a:b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Source: Replica of figure 3.2 from 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</a:rPr>
              <a:t>Gass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’ thesis 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</a:t>
            </a:r>
            <a:r>
              <a:rPr lang="en-US" sz="1200" i="1" dirty="0" err="1">
                <a:solidFill>
                  <a:schemeClr val="bg1">
                    <a:lumMod val="6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Gass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2024)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.</a:t>
            </a:r>
            <a:endParaRPr lang="en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90CD9B06-9329-BA4C-7EBC-D4A6E70ADC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413" y="2107767"/>
            <a:ext cx="4342789" cy="3421405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908CA67F-92F4-3A73-A126-02F70CAE6E10}"/>
              </a:ext>
            </a:extLst>
          </p:cNvPr>
          <p:cNvSpPr txBox="1"/>
          <p:nvPr/>
        </p:nvSpPr>
        <p:spPr>
          <a:xfrm>
            <a:off x="3279485" y="158606"/>
            <a:ext cx="1089573" cy="31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44BCC5E-8F71-ACA9-B1F4-3D7CAC7F774D}"/>
              </a:ext>
            </a:extLst>
          </p:cNvPr>
          <p:cNvSpPr txBox="1"/>
          <p:nvPr/>
        </p:nvSpPr>
        <p:spPr>
          <a:xfrm>
            <a:off x="6283186" y="175686"/>
            <a:ext cx="405230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3" name="Rectángulo redondeado 6">
            <a:extLst>
              <a:ext uri="{FF2B5EF4-FFF2-40B4-BE49-F238E27FC236}">
                <a16:creationId xmlns:a16="http://schemas.microsoft.com/office/drawing/2014/main" id="{3EE6BF07-8E64-0ECD-85AC-BDA730F31493}"/>
              </a:ext>
            </a:extLst>
          </p:cNvPr>
          <p:cNvSpPr/>
          <p:nvPr/>
        </p:nvSpPr>
        <p:spPr>
          <a:xfrm>
            <a:off x="4369058" y="175685"/>
            <a:ext cx="1914128" cy="307777"/>
          </a:xfrm>
          <a:prstGeom prst="roundRect">
            <a:avLst>
              <a:gd name="adj" fmla="val 50000"/>
            </a:avLst>
          </a:prstGeom>
          <a:solidFill>
            <a:srgbClr val="B47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2.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15" name="Título 1">
            <a:extLst>
              <a:ext uri="{FF2B5EF4-FFF2-40B4-BE49-F238E27FC236}">
                <a16:creationId xmlns:a16="http://schemas.microsoft.com/office/drawing/2014/main" id="{61EDE2ED-7CFF-2FD4-BCBF-EC8B2E327BDA}"/>
              </a:ext>
            </a:extLst>
          </p:cNvPr>
          <p:cNvSpPr txBox="1">
            <a:spLocks/>
          </p:cNvSpPr>
          <p:nvPr/>
        </p:nvSpPr>
        <p:spPr>
          <a:xfrm>
            <a:off x="838200" y="682497"/>
            <a:ext cx="9778340" cy="659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Goal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: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Finding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a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valid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hyperbox</a:t>
            </a:r>
            <a:endParaRPr lang="en" sz="32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0993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F9424-E158-FD74-C601-E3DA07A2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CC46AF-05CF-B86C-284F-213DF627D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>
                <a:solidFill>
                  <a:schemeClr val="bg1"/>
                </a:solidFill>
              </a:rPr>
              <a:t>11</a:t>
            </a:fld>
            <a:endParaRPr lang="es-ES_tradnl" b="1">
              <a:solidFill>
                <a:schemeClr val="bg1"/>
              </a:solidFill>
            </a:endParaRPr>
          </a:p>
        </p:txBody>
      </p:sp>
      <p:grpSp>
        <p:nvGrpSpPr>
          <p:cNvPr id="148" name="Google Shape;2026;p39">
            <a:extLst>
              <a:ext uri="{FF2B5EF4-FFF2-40B4-BE49-F238E27FC236}">
                <a16:creationId xmlns:a16="http://schemas.microsoft.com/office/drawing/2014/main" id="{2F0DC7DB-E0A4-AD9B-1E82-FF1F2925A221}"/>
              </a:ext>
            </a:extLst>
          </p:cNvPr>
          <p:cNvGrpSpPr/>
          <p:nvPr/>
        </p:nvGrpSpPr>
        <p:grpSpPr>
          <a:xfrm>
            <a:off x="8929806" y="3733374"/>
            <a:ext cx="2384297" cy="2131551"/>
            <a:chOff x="6565220" y="3042675"/>
            <a:chExt cx="2384297" cy="2131551"/>
          </a:xfrm>
        </p:grpSpPr>
        <p:sp>
          <p:nvSpPr>
            <p:cNvPr id="149" name="Google Shape;2027;p39">
              <a:extLst>
                <a:ext uri="{FF2B5EF4-FFF2-40B4-BE49-F238E27FC236}">
                  <a16:creationId xmlns:a16="http://schemas.microsoft.com/office/drawing/2014/main" id="{6EE84C04-4DBE-D52B-5E70-121CEFF5393E}"/>
                </a:ext>
              </a:extLst>
            </p:cNvPr>
            <p:cNvSpPr/>
            <p:nvPr/>
          </p:nvSpPr>
          <p:spPr>
            <a:xfrm>
              <a:off x="7514630" y="3042675"/>
              <a:ext cx="604500" cy="604500"/>
            </a:xfrm>
            <a:prstGeom prst="ellipse">
              <a:avLst/>
            </a:prstGeom>
            <a:solidFill>
              <a:srgbClr val="B278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800" b="1" i="0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04</a:t>
              </a:r>
              <a:endParaRPr kumimoji="0" sz="1800" b="1" i="0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0" name="Google Shape;2028;p39">
              <a:extLst>
                <a:ext uri="{FF2B5EF4-FFF2-40B4-BE49-F238E27FC236}">
                  <a16:creationId xmlns:a16="http://schemas.microsoft.com/office/drawing/2014/main" id="{6C6B4040-3498-5474-5511-931BA6B0CE1D}"/>
                </a:ext>
              </a:extLst>
            </p:cNvPr>
            <p:cNvSpPr txBox="1"/>
            <p:nvPr/>
          </p:nvSpPr>
          <p:spPr>
            <a:xfrm>
              <a:off x="6846374" y="379140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b="1" kern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Valid hyperbox</a:t>
              </a:r>
              <a:endParaRPr kumimoji="0" sz="1800" b="1" i="0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1" name="Google Shape;2029;p39">
              <a:extLst>
                <a:ext uri="{FF2B5EF4-FFF2-40B4-BE49-F238E27FC236}">
                  <a16:creationId xmlns:a16="http://schemas.microsoft.com/office/drawing/2014/main" id="{EA302AF1-FD7F-DC3A-0692-B901F2C3E234}"/>
                </a:ext>
              </a:extLst>
            </p:cNvPr>
            <p:cNvSpPr txBox="1"/>
            <p:nvPr/>
          </p:nvSpPr>
          <p:spPr>
            <a:xfrm>
              <a:off x="6565220" y="4124002"/>
              <a:ext cx="2384297" cy="10502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>
                <a:buClr>
                  <a:srgbClr val="000000"/>
                </a:buClr>
              </a:pPr>
              <a:r>
                <a:rPr lang="en-US" sz="1400"/>
                <a:t>A box-constrained region where </a:t>
              </a:r>
              <a:r>
                <a:rPr lang="en-US" sz="1400" err="1"/>
                <a:t>AlphaPEM</a:t>
              </a:r>
              <a:r>
                <a:rPr lang="en-US" sz="1400"/>
                <a:t> simulations are </a:t>
              </a:r>
              <a:r>
                <a:rPr lang="en-US" sz="1400" b="1">
                  <a:solidFill>
                    <a:srgbClr val="B477E6"/>
                  </a:solidFill>
                </a:rPr>
                <a:t>likely valid</a:t>
              </a:r>
            </a:p>
            <a:p>
              <a:pPr algn="ctr">
                <a:buClr>
                  <a:srgbClr val="000000"/>
                </a:buClr>
              </a:pPr>
              <a:r>
                <a:rPr lang="en-US" sz="1400"/>
                <a:t>→ Post-processed: Impurity = 0.00, distance = 0.087</a:t>
              </a:r>
            </a:p>
          </p:txBody>
        </p:sp>
      </p:grpSp>
      <p:grpSp>
        <p:nvGrpSpPr>
          <p:cNvPr id="152" name="Google Shape;2030;p39">
            <a:extLst>
              <a:ext uri="{FF2B5EF4-FFF2-40B4-BE49-F238E27FC236}">
                <a16:creationId xmlns:a16="http://schemas.microsoft.com/office/drawing/2014/main" id="{1662F6B9-642F-0373-90D4-EC47CE1E8E1D}"/>
              </a:ext>
            </a:extLst>
          </p:cNvPr>
          <p:cNvGrpSpPr/>
          <p:nvPr/>
        </p:nvGrpSpPr>
        <p:grpSpPr>
          <a:xfrm>
            <a:off x="3696050" y="3733374"/>
            <a:ext cx="2434266" cy="2372275"/>
            <a:chOff x="2429227" y="2990360"/>
            <a:chExt cx="2434266" cy="2372275"/>
          </a:xfrm>
        </p:grpSpPr>
        <p:sp>
          <p:nvSpPr>
            <p:cNvPr id="153" name="Google Shape;2031;p39">
              <a:extLst>
                <a:ext uri="{FF2B5EF4-FFF2-40B4-BE49-F238E27FC236}">
                  <a16:creationId xmlns:a16="http://schemas.microsoft.com/office/drawing/2014/main" id="{5836AC66-09CE-2E4F-17FA-AAD90BDB68A6}"/>
                </a:ext>
              </a:extLst>
            </p:cNvPr>
            <p:cNvSpPr/>
            <p:nvPr/>
          </p:nvSpPr>
          <p:spPr>
            <a:xfrm>
              <a:off x="3204055" y="2990360"/>
              <a:ext cx="604500" cy="604500"/>
            </a:xfrm>
            <a:prstGeom prst="ellipse">
              <a:avLst/>
            </a:prstGeom>
            <a:solidFill>
              <a:srgbClr val="008B2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02</a:t>
              </a: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4" name="Google Shape;2032;p39">
              <a:extLst>
                <a:ext uri="{FF2B5EF4-FFF2-40B4-BE49-F238E27FC236}">
                  <a16:creationId xmlns:a16="http://schemas.microsoft.com/office/drawing/2014/main" id="{3219642F-F112-F841-5349-0EDD99321F47}"/>
                </a:ext>
              </a:extLst>
            </p:cNvPr>
            <p:cNvSpPr txBox="1"/>
            <p:nvPr/>
          </p:nvSpPr>
          <p:spPr>
            <a:xfrm>
              <a:off x="2512375" y="3799048"/>
              <a:ext cx="2119657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b="1" kern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Training a classifier</a:t>
              </a: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5" name="Google Shape;2033;p39">
              <a:extLst>
                <a:ext uri="{FF2B5EF4-FFF2-40B4-BE49-F238E27FC236}">
                  <a16:creationId xmlns:a16="http://schemas.microsoft.com/office/drawing/2014/main" id="{09EB7797-3399-AF3D-3509-A4C6639030EE}"/>
                </a:ext>
              </a:extLst>
            </p:cNvPr>
            <p:cNvSpPr txBox="1"/>
            <p:nvPr/>
          </p:nvSpPr>
          <p:spPr>
            <a:xfrm>
              <a:off x="2429227" y="4378431"/>
              <a:ext cx="2434266" cy="98420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rgbClr val="000000"/>
                </a:buClr>
              </a:pPr>
              <a:r>
                <a:rPr lang="en-US" sz="1400" b="1"/>
                <a:t>Model: </a:t>
              </a:r>
              <a:r>
                <a:rPr lang="en-US" sz="1400"/>
                <a:t>Random Forest</a:t>
              </a:r>
            </a:p>
            <a:p>
              <a:pPr lvl="0">
                <a:buClr>
                  <a:srgbClr val="000000"/>
                </a:buClr>
              </a:pPr>
              <a:r>
                <a:rPr lang="en-US" sz="1400"/>
                <a:t>→ Predicts the </a:t>
              </a:r>
              <a:r>
                <a:rPr lang="en-US" sz="1400" b="1">
                  <a:solidFill>
                    <a:srgbClr val="B278E6"/>
                  </a:solidFill>
                </a:rPr>
                <a:t>prob. </a:t>
              </a:r>
              <a:r>
                <a:rPr lang="en-US" sz="1400"/>
                <a:t>a config will yield a </a:t>
              </a:r>
              <a:r>
                <a:rPr lang="en-US" sz="1400" b="1">
                  <a:solidFill>
                    <a:srgbClr val="B278E6"/>
                  </a:solidFill>
                </a:rPr>
                <a:t>valid output</a:t>
              </a:r>
            </a:p>
            <a:p>
              <a:pPr lvl="0">
                <a:buClr>
                  <a:srgbClr val="000000"/>
                </a:buClr>
              </a:pPr>
              <a:r>
                <a:rPr lang="en-US" sz="1400"/>
                <a:t>→ Metrics (test set): Accuracy = 0.964, F1-score = 0.966</a:t>
              </a:r>
            </a:p>
            <a:p>
              <a:pPr lvl="0" algn="ctr">
                <a:buClr>
                  <a:srgbClr val="000000"/>
                </a:buClr>
              </a:pPr>
              <a:endParaRPr lang="en-US" sz="1400"/>
            </a:p>
            <a:p>
              <a:pPr lvl="0" algn="ctr">
                <a:buClr>
                  <a:srgbClr val="000000"/>
                </a:buClr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56" name="Google Shape;2034;p39">
            <a:extLst>
              <a:ext uri="{FF2B5EF4-FFF2-40B4-BE49-F238E27FC236}">
                <a16:creationId xmlns:a16="http://schemas.microsoft.com/office/drawing/2014/main" id="{AA3EE53D-36A0-50F9-EDB8-EF8575AC3C36}"/>
              </a:ext>
            </a:extLst>
          </p:cNvPr>
          <p:cNvGrpSpPr/>
          <p:nvPr/>
        </p:nvGrpSpPr>
        <p:grpSpPr>
          <a:xfrm>
            <a:off x="875077" y="3733374"/>
            <a:ext cx="2564203" cy="2007501"/>
            <a:chOff x="349574" y="3148560"/>
            <a:chExt cx="2564203" cy="2007501"/>
          </a:xfrm>
        </p:grpSpPr>
        <p:sp>
          <p:nvSpPr>
            <p:cNvPr id="157" name="Google Shape;2035;p39">
              <a:extLst>
                <a:ext uri="{FF2B5EF4-FFF2-40B4-BE49-F238E27FC236}">
                  <a16:creationId xmlns:a16="http://schemas.microsoft.com/office/drawing/2014/main" id="{043B30FD-6218-4F6B-794F-B351F4835B33}"/>
                </a:ext>
              </a:extLst>
            </p:cNvPr>
            <p:cNvSpPr/>
            <p:nvPr/>
          </p:nvSpPr>
          <p:spPr>
            <a:xfrm>
              <a:off x="1125453" y="3148560"/>
              <a:ext cx="604500" cy="604500"/>
            </a:xfrm>
            <a:prstGeom prst="ellipse">
              <a:avLst/>
            </a:prstGeom>
            <a:solidFill>
              <a:srgbClr val="6350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01</a:t>
              </a: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8" name="Google Shape;2036;p39">
              <a:extLst>
                <a:ext uri="{FF2B5EF4-FFF2-40B4-BE49-F238E27FC236}">
                  <a16:creationId xmlns:a16="http://schemas.microsoft.com/office/drawing/2014/main" id="{B3B5D1C8-F990-8FD4-EC05-DC22FBCAC351}"/>
                </a:ext>
              </a:extLst>
            </p:cNvPr>
            <p:cNvSpPr txBox="1"/>
            <p:nvPr/>
          </p:nvSpPr>
          <p:spPr>
            <a:xfrm>
              <a:off x="457200" y="393175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MX" sz="18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Labeled configs</a:t>
              </a: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59" name="Google Shape;2037;p39">
              <a:extLst>
                <a:ext uri="{FF2B5EF4-FFF2-40B4-BE49-F238E27FC236}">
                  <a16:creationId xmlns:a16="http://schemas.microsoft.com/office/drawing/2014/main" id="{CAE82938-E0F7-2FD0-5E51-0DC12EDD9F7B}"/>
                </a:ext>
              </a:extLst>
            </p:cNvPr>
            <p:cNvSpPr txBox="1"/>
            <p:nvPr/>
          </p:nvSpPr>
          <p:spPr>
            <a:xfrm>
              <a:off x="349574" y="4265562"/>
              <a:ext cx="2564203" cy="8904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>
                <a:buClr>
                  <a:srgbClr val="000000"/>
                </a:buClr>
                <a:defRPr/>
              </a:pPr>
              <a:r>
                <a:rPr lang="en-US" sz="1400" b="1"/>
                <a:t>Input: </a:t>
              </a:r>
              <a:r>
                <a:rPr lang="en-US" sz="1400"/>
                <a:t>2000+ configs labeled as </a:t>
              </a:r>
              <a:r>
                <a:rPr lang="en-US" sz="1400" b="1">
                  <a:solidFill>
                    <a:srgbClr val="8778F5"/>
                  </a:solidFill>
                </a:rPr>
                <a:t>valid</a:t>
              </a:r>
              <a:r>
                <a:rPr lang="en-US" sz="1400"/>
                <a:t> or </a:t>
              </a:r>
              <a:r>
                <a:rPr lang="en-US" sz="1400" b="1">
                  <a:solidFill>
                    <a:srgbClr val="8778F5"/>
                  </a:solidFill>
                </a:rPr>
                <a:t>invalid</a:t>
              </a:r>
              <a:r>
                <a:rPr lang="en-US" sz="1400">
                  <a:solidFill>
                    <a:srgbClr val="8778F5"/>
                  </a:solidFill>
                </a:rPr>
                <a:t> </a:t>
              </a:r>
              <a:r>
                <a:rPr lang="en-US" sz="1400"/>
                <a:t>based on resulting PCs </a:t>
              </a:r>
            </a:p>
            <a:p>
              <a:pPr marL="285750" lvl="0" indent="-285750">
                <a:buClr>
                  <a:srgbClr val="000000"/>
                </a:buClr>
                <a:buFont typeface="Aptos" panose="020B0004020202020204" pitchFamily="34" charset="0"/>
                <a:buChar char="→"/>
                <a:defRPr/>
              </a:pPr>
              <a:r>
                <a:rPr lang="en-US" sz="1400" b="1"/>
                <a:t>Roughly balanced </a:t>
              </a:r>
              <a:r>
                <a:rPr lang="en-US" sz="1400"/>
                <a:t>dataset</a:t>
              </a: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60" name="Google Shape;2038;p39">
            <a:extLst>
              <a:ext uri="{FF2B5EF4-FFF2-40B4-BE49-F238E27FC236}">
                <a16:creationId xmlns:a16="http://schemas.microsoft.com/office/drawing/2014/main" id="{E80683CB-C281-A520-ED1A-FD217DD8BA28}"/>
              </a:ext>
            </a:extLst>
          </p:cNvPr>
          <p:cNvGrpSpPr/>
          <p:nvPr/>
        </p:nvGrpSpPr>
        <p:grpSpPr>
          <a:xfrm>
            <a:off x="6238771" y="3833279"/>
            <a:ext cx="2564203" cy="2197974"/>
            <a:chOff x="5032336" y="3123648"/>
            <a:chExt cx="2045581" cy="2197974"/>
          </a:xfrm>
        </p:grpSpPr>
        <p:sp>
          <p:nvSpPr>
            <p:cNvPr id="161" name="Google Shape;2039;p39">
              <a:extLst>
                <a:ext uri="{FF2B5EF4-FFF2-40B4-BE49-F238E27FC236}">
                  <a16:creationId xmlns:a16="http://schemas.microsoft.com/office/drawing/2014/main" id="{1E0E1584-8A3A-E943-2D0E-512EEA748206}"/>
                </a:ext>
              </a:extLst>
            </p:cNvPr>
            <p:cNvSpPr/>
            <p:nvPr/>
          </p:nvSpPr>
          <p:spPr>
            <a:xfrm>
              <a:off x="5850500" y="3123648"/>
              <a:ext cx="482237" cy="604500"/>
            </a:xfrm>
            <a:prstGeom prst="ellipse">
              <a:avLst/>
            </a:prstGeom>
            <a:solidFill>
              <a:srgbClr val="FFB90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n" sz="1800" b="1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03</a:t>
              </a: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62" name="Google Shape;2040;p39">
              <a:extLst>
                <a:ext uri="{FF2B5EF4-FFF2-40B4-BE49-F238E27FC236}">
                  <a16:creationId xmlns:a16="http://schemas.microsoft.com/office/drawing/2014/main" id="{837F82A6-E696-4B27-FCAF-706FD10A536F}"/>
                </a:ext>
              </a:extLst>
            </p:cNvPr>
            <p:cNvSpPr txBox="1"/>
            <p:nvPr/>
          </p:nvSpPr>
          <p:spPr>
            <a:xfrm>
              <a:off x="5111775" y="3791400"/>
              <a:ext cx="1941000" cy="33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n" b="1" kern="0">
                  <a:solidFill>
                    <a:srgbClr val="000000"/>
                  </a:solidFill>
                  <a:latin typeface="Fira Sans Extra Condensed"/>
                  <a:ea typeface="Fira Sans Extra Condensed"/>
                  <a:cs typeface="Fira Sans Extra Condensed"/>
                  <a:sym typeface="Fira Sans Extra Condensed"/>
                </a:rPr>
                <a:t>Find valid region</a:t>
              </a:r>
              <a:endParaRPr kumimoji="0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"/>
                <a:ea typeface="Fira Sans Extra Condensed"/>
                <a:cs typeface="Fira Sans Extra Condensed"/>
                <a:sym typeface="Fira Sans Extra Condensed"/>
              </a:endParaRPr>
            </a:p>
          </p:txBody>
        </p:sp>
        <p:sp>
          <p:nvSpPr>
            <p:cNvPr id="163" name="Google Shape;2041;p39">
              <a:extLst>
                <a:ext uri="{FF2B5EF4-FFF2-40B4-BE49-F238E27FC236}">
                  <a16:creationId xmlns:a16="http://schemas.microsoft.com/office/drawing/2014/main" id="{62C5AF06-BB3B-B142-62A7-9F6BF83E3F14}"/>
                </a:ext>
              </a:extLst>
            </p:cNvPr>
            <p:cNvSpPr txBox="1"/>
            <p:nvPr/>
          </p:nvSpPr>
          <p:spPr>
            <a:xfrm>
              <a:off x="5032336" y="4108774"/>
              <a:ext cx="2045581" cy="12128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es-MX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ea typeface="Roboto"/>
                  <a:cs typeface="Roboto"/>
                  <a:sym typeface="Roboto"/>
                </a:rPr>
                <a:t>Method: PRIM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lang="es-MX" sz="1400" kern="0">
                  <a:solidFill>
                    <a:srgbClr val="000000"/>
                  </a:solidFill>
                  <a:ea typeface="Roboto"/>
                  <a:cs typeface="Roboto"/>
                  <a:sym typeface="Roboto"/>
                </a:rPr>
                <a:t>(peeling &amp; pasting)</a:t>
              </a:r>
            </a:p>
            <a:p>
              <a:pPr lvl="0" algn="ctr">
                <a:buClr>
                  <a:srgbClr val="000000"/>
                </a:buClr>
              </a:pPr>
              <a:r>
                <a:rPr lang="en-US" sz="1400"/>
                <a:t>Goal: find </a:t>
              </a:r>
              <a:r>
                <a:rPr lang="en-US" sz="1400" b="1">
                  <a:solidFill>
                    <a:srgbClr val="AD7D0B"/>
                  </a:solidFill>
                </a:rPr>
                <a:t>largest </a:t>
              </a:r>
              <a:r>
                <a:rPr lang="en-US" sz="1400" b="1" err="1">
                  <a:solidFill>
                    <a:srgbClr val="AD7D0B"/>
                  </a:solidFill>
                </a:rPr>
                <a:t>hyperbox</a:t>
              </a:r>
              <a:r>
                <a:rPr lang="en-US" sz="1400" b="1">
                  <a:solidFill>
                    <a:srgbClr val="AD7D0B"/>
                  </a:solidFill>
                </a:rPr>
                <a:t> </a:t>
              </a:r>
              <a:r>
                <a:rPr lang="en-US" sz="1400"/>
                <a:t>around a reference valid config with </a:t>
              </a:r>
              <a:r>
                <a:rPr lang="en-US" sz="1400" b="1">
                  <a:solidFill>
                    <a:srgbClr val="AD7D0B"/>
                  </a:solidFill>
                </a:rPr>
                <a:t>≥90% validity rate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AD7D0B"/>
                </a:solidFill>
                <a:effectLst/>
                <a:uLnTx/>
                <a:uFillTx/>
                <a:ea typeface="Roboto"/>
                <a:cs typeface="Roboto"/>
                <a:sym typeface="Roboto"/>
              </a:endParaRPr>
            </a:p>
          </p:txBody>
        </p:sp>
      </p:grpSp>
      <p:sp>
        <p:nvSpPr>
          <p:cNvPr id="216" name="CuadroTexto 215">
            <a:extLst>
              <a:ext uri="{FF2B5EF4-FFF2-40B4-BE49-F238E27FC236}">
                <a16:creationId xmlns:a16="http://schemas.microsoft.com/office/drawing/2014/main" id="{F19C622D-2963-9BED-AD27-C80F322C5B80}"/>
              </a:ext>
            </a:extLst>
          </p:cNvPr>
          <p:cNvSpPr txBox="1"/>
          <p:nvPr/>
        </p:nvSpPr>
        <p:spPr>
          <a:xfrm>
            <a:off x="1502715" y="2062970"/>
            <a:ext cx="3201067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" sz="1700"/>
              <a:t>IRDs are interpretable </a:t>
            </a:r>
            <a:r>
              <a:rPr lang="en" sz="1700" err="1"/>
              <a:t>hyperboxes</a:t>
            </a:r>
            <a:r>
              <a:rPr lang="en" sz="1700"/>
              <a:t> in input space where a model’s prediction remains stable</a:t>
            </a:r>
          </a:p>
        </p:txBody>
      </p:sp>
      <p:sp>
        <p:nvSpPr>
          <p:cNvPr id="218" name="CuadroTexto 217">
            <a:extLst>
              <a:ext uri="{FF2B5EF4-FFF2-40B4-BE49-F238E27FC236}">
                <a16:creationId xmlns:a16="http://schemas.microsoft.com/office/drawing/2014/main" id="{5B62A879-0C30-57FF-DA71-9FEE852912A0}"/>
              </a:ext>
            </a:extLst>
          </p:cNvPr>
          <p:cNvSpPr txBox="1"/>
          <p:nvPr/>
        </p:nvSpPr>
        <p:spPr>
          <a:xfrm>
            <a:off x="4471570" y="2095403"/>
            <a:ext cx="2794985" cy="877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" sz="1700"/>
              <a:t>Here applied to find regions yielding valid simulation outputs</a:t>
            </a:r>
          </a:p>
        </p:txBody>
      </p:sp>
      <p:sp>
        <p:nvSpPr>
          <p:cNvPr id="220" name="CuadroTexto 219">
            <a:extLst>
              <a:ext uri="{FF2B5EF4-FFF2-40B4-BE49-F238E27FC236}">
                <a16:creationId xmlns:a16="http://schemas.microsoft.com/office/drawing/2014/main" id="{A4E0504D-B896-2812-058F-852AAFC6FF79}"/>
              </a:ext>
            </a:extLst>
          </p:cNvPr>
          <p:cNvSpPr txBox="1"/>
          <p:nvPr/>
        </p:nvSpPr>
        <p:spPr>
          <a:xfrm>
            <a:off x="7369088" y="2064178"/>
            <a:ext cx="2676732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0975" indent="-180975">
              <a:buFont typeface="Arial" panose="020B0604020202020204" pitchFamily="34" charset="0"/>
              <a:buChar char="•"/>
            </a:pPr>
            <a:r>
              <a:rPr lang="en" sz="1700"/>
              <a:t>We used the PRIM method, adapted to return a hyperbox with high validity precision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913EDEE-5E31-B06E-AAE6-ADDFEC3B7F5F}"/>
              </a:ext>
            </a:extLst>
          </p:cNvPr>
          <p:cNvSpPr txBox="1"/>
          <p:nvPr/>
        </p:nvSpPr>
        <p:spPr>
          <a:xfrm>
            <a:off x="3279485" y="158606"/>
            <a:ext cx="1089573" cy="31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DF9E0D6-898F-B27F-99C8-8417CA2FC52D}"/>
              </a:ext>
            </a:extLst>
          </p:cNvPr>
          <p:cNvSpPr txBox="1"/>
          <p:nvPr/>
        </p:nvSpPr>
        <p:spPr>
          <a:xfrm>
            <a:off x="6283186" y="175686"/>
            <a:ext cx="405230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6">
            <a:extLst>
              <a:ext uri="{FF2B5EF4-FFF2-40B4-BE49-F238E27FC236}">
                <a16:creationId xmlns:a16="http://schemas.microsoft.com/office/drawing/2014/main" id="{A735E999-8677-AC89-7FCC-CF1903E61ED3}"/>
              </a:ext>
            </a:extLst>
          </p:cNvPr>
          <p:cNvSpPr/>
          <p:nvPr/>
        </p:nvSpPr>
        <p:spPr>
          <a:xfrm>
            <a:off x="4369058" y="175685"/>
            <a:ext cx="1914128" cy="307777"/>
          </a:xfrm>
          <a:prstGeom prst="roundRect">
            <a:avLst>
              <a:gd name="adj" fmla="val 50000"/>
            </a:avLst>
          </a:prstGeom>
          <a:solidFill>
            <a:srgbClr val="B47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2.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BCA385-31CA-2915-9BD1-6AD1B38C498C}"/>
              </a:ext>
            </a:extLst>
          </p:cNvPr>
          <p:cNvSpPr txBox="1"/>
          <p:nvPr/>
        </p:nvSpPr>
        <p:spPr>
          <a:xfrm>
            <a:off x="1502715" y="1157270"/>
            <a:ext cx="592359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_tradnl" sz="2400" b="1">
                <a:latin typeface="Source Sans Pro SemiBold" panose="020B0503030403020204" pitchFamily="34" charset="0"/>
                <a:ea typeface="Source Sans Pro SemiBold" panose="020B0503030403020204" pitchFamily="34" charset="0"/>
              </a:rPr>
              <a:t>Interpretable Regional </a:t>
            </a:r>
            <a:r>
              <a:rPr lang="es-ES_tradnl" sz="2400" b="1" err="1">
                <a:latin typeface="Source Sans Pro SemiBold" panose="020B0503030403020204" pitchFamily="34" charset="0"/>
                <a:ea typeface="Source Sans Pro SemiBold" panose="020B0503030403020204" pitchFamily="34" charset="0"/>
              </a:rPr>
              <a:t>Descriptors</a:t>
            </a:r>
            <a:r>
              <a:rPr lang="es-ES_tradnl" sz="2400" b="1">
                <a:latin typeface="Source Sans Pro SemiBold" panose="020B0503030403020204" pitchFamily="34" charset="0"/>
                <a:ea typeface="Source Sans Pro SemiBold" panose="020B0503030403020204" pitchFamily="34" charset="0"/>
              </a:rPr>
              <a:t> (IRD)</a:t>
            </a:r>
          </a:p>
          <a:p>
            <a:r>
              <a:rPr lang="es-ES_tradnl" sz="2400" i="1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Hyperbox-based</a:t>
            </a:r>
            <a:r>
              <a:rPr lang="es-ES_tradnl" sz="2400" i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local </a:t>
            </a:r>
            <a:r>
              <a:rPr lang="es-ES_tradnl" sz="2400" i="1" err="1">
                <a:latin typeface="Source Sans Pro Light" panose="020B0403030403020204" pitchFamily="34" charset="0"/>
                <a:ea typeface="Source Sans Pro Light" panose="020B0403030403020204" pitchFamily="34" charset="0"/>
              </a:rPr>
              <a:t>explanations</a:t>
            </a:r>
            <a:endParaRPr lang="es-ES_tradnl" sz="2400" i="1">
              <a:latin typeface="Source Sans Pro Light" panose="020B0403030403020204" pitchFamily="34" charset="0"/>
              <a:ea typeface="Source Sans Pro Light" panose="020B0403030403020204" pitchFamily="34" charset="0"/>
            </a:endParaRPr>
          </a:p>
        </p:txBody>
      </p:sp>
      <p:sp>
        <p:nvSpPr>
          <p:cNvPr id="7" name="Google Shape;1860;p37">
            <a:extLst>
              <a:ext uri="{FF2B5EF4-FFF2-40B4-BE49-F238E27FC236}">
                <a16:creationId xmlns:a16="http://schemas.microsoft.com/office/drawing/2014/main" id="{B802417D-4DCF-E9D8-DB2A-6527B82FB4AB}"/>
              </a:ext>
            </a:extLst>
          </p:cNvPr>
          <p:cNvSpPr/>
          <p:nvPr/>
        </p:nvSpPr>
        <p:spPr bwMode="auto">
          <a:xfrm>
            <a:off x="6501726" y="1619850"/>
            <a:ext cx="1525279" cy="299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>
              <a:buClr>
                <a:srgbClr val="000000"/>
              </a:buClr>
              <a:defRPr/>
            </a:pPr>
            <a:r>
              <a:rPr lang="es-MX" sz="1100" kern="0" err="1">
                <a:solidFill>
                  <a:schemeClr val="bg1">
                    <a:lumMod val="65000"/>
                  </a:schemeClr>
                </a:solidFill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Dandl</a:t>
            </a:r>
            <a:r>
              <a:rPr lang="es-MX" sz="1100" kern="0">
                <a:solidFill>
                  <a:schemeClr val="bg1">
                    <a:lumMod val="65000"/>
                  </a:schemeClr>
                </a:solidFill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et al. (2022)</a:t>
            </a:r>
            <a:endParaRPr lang="es-MX" sz="1100" kern="0">
              <a:solidFill>
                <a:schemeClr val="bg1">
                  <a:lumMod val="65000"/>
                </a:schemeClr>
              </a:solidFill>
              <a:cs typeface="Arial"/>
              <a:sym typeface="Arial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E188798F-922D-5D1F-BFF1-D37006CEFD1F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406545" y="1737196"/>
            <a:ext cx="124210" cy="124210"/>
          </a:xfrm>
          <a:prstGeom prst="rect">
            <a:avLst/>
          </a:prstGeom>
        </p:spPr>
      </p:pic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31A016F5-4867-3084-D952-4CDC8D78F074}"/>
              </a:ext>
            </a:extLst>
          </p:cNvPr>
          <p:cNvSpPr/>
          <p:nvPr/>
        </p:nvSpPr>
        <p:spPr>
          <a:xfrm>
            <a:off x="1313847" y="1004566"/>
            <a:ext cx="8887901" cy="2424434"/>
          </a:xfrm>
          <a:prstGeom prst="roundRect">
            <a:avLst/>
          </a:prstGeom>
          <a:noFill/>
          <a:ln w="28575">
            <a:solidFill>
              <a:srgbClr val="B477E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37CFE66-DC30-C90D-4953-E54624BBF904}"/>
              </a:ext>
            </a:extLst>
          </p:cNvPr>
          <p:cNvCxnSpPr/>
          <p:nvPr/>
        </p:nvCxnSpPr>
        <p:spPr>
          <a:xfrm>
            <a:off x="4400232" y="2100658"/>
            <a:ext cx="0" cy="1138773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DC9D2828-CAAF-3DD7-117A-9D1DEFC5C270}"/>
              </a:ext>
            </a:extLst>
          </p:cNvPr>
          <p:cNvCxnSpPr/>
          <p:nvPr/>
        </p:nvCxnSpPr>
        <p:spPr>
          <a:xfrm>
            <a:off x="7231935" y="2095403"/>
            <a:ext cx="0" cy="1138773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6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F4F47-E11C-F572-3647-7A4F461D0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73745A-7909-1558-0D87-C9DB64AD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>
                <a:solidFill>
                  <a:schemeClr val="bg1"/>
                </a:solidFill>
              </a:rPr>
              <a:t>12</a:t>
            </a:fld>
            <a:endParaRPr lang="es-ES_tradnl" b="1">
              <a:solidFill>
                <a:schemeClr val="bg1"/>
              </a:solidFill>
            </a:endParaRP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8E32C1E5-F559-7696-2C1D-0B6A649004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7861333"/>
              </p:ext>
            </p:extLst>
          </p:nvPr>
        </p:nvGraphicFramePr>
        <p:xfrm>
          <a:off x="791267" y="1341913"/>
          <a:ext cx="7633918" cy="4547661"/>
        </p:xfrm>
        <a:graphic>
          <a:graphicData uri="http://schemas.openxmlformats.org/drawingml/2006/table">
            <a:tbl>
              <a:tblPr bandRow="1">
                <a:tableStyleId>{46F890A9-2807-4EBB-B81D-B2AA78EC7F39}</a:tableStyleId>
              </a:tblPr>
              <a:tblGrid>
                <a:gridCol w="1073253">
                  <a:extLst>
                    <a:ext uri="{9D8B030D-6E8A-4147-A177-3AD203B41FA5}">
                      <a16:colId xmlns:a16="http://schemas.microsoft.com/office/drawing/2014/main" val="2628369485"/>
                    </a:ext>
                  </a:extLst>
                </a:gridCol>
                <a:gridCol w="900332">
                  <a:extLst>
                    <a:ext uri="{9D8B030D-6E8A-4147-A177-3AD203B41FA5}">
                      <a16:colId xmlns:a16="http://schemas.microsoft.com/office/drawing/2014/main" val="285976851"/>
                    </a:ext>
                  </a:extLst>
                </a:gridCol>
                <a:gridCol w="1067313">
                  <a:extLst>
                    <a:ext uri="{9D8B030D-6E8A-4147-A177-3AD203B41FA5}">
                      <a16:colId xmlns:a16="http://schemas.microsoft.com/office/drawing/2014/main" val="1704646176"/>
                    </a:ext>
                  </a:extLst>
                </a:gridCol>
                <a:gridCol w="886928">
                  <a:extLst>
                    <a:ext uri="{9D8B030D-6E8A-4147-A177-3AD203B41FA5}">
                      <a16:colId xmlns:a16="http://schemas.microsoft.com/office/drawing/2014/main" val="1024389949"/>
                    </a:ext>
                  </a:extLst>
                </a:gridCol>
                <a:gridCol w="886928">
                  <a:extLst>
                    <a:ext uri="{9D8B030D-6E8A-4147-A177-3AD203B41FA5}">
                      <a16:colId xmlns:a16="http://schemas.microsoft.com/office/drawing/2014/main" val="2756437490"/>
                    </a:ext>
                  </a:extLst>
                </a:gridCol>
                <a:gridCol w="886928">
                  <a:extLst>
                    <a:ext uri="{9D8B030D-6E8A-4147-A177-3AD203B41FA5}">
                      <a16:colId xmlns:a16="http://schemas.microsoft.com/office/drawing/2014/main" val="139106321"/>
                    </a:ext>
                  </a:extLst>
                </a:gridCol>
                <a:gridCol w="886928">
                  <a:extLst>
                    <a:ext uri="{9D8B030D-6E8A-4147-A177-3AD203B41FA5}">
                      <a16:colId xmlns:a16="http://schemas.microsoft.com/office/drawing/2014/main" val="1161415831"/>
                    </a:ext>
                  </a:extLst>
                </a:gridCol>
                <a:gridCol w="1045308">
                  <a:extLst>
                    <a:ext uri="{9D8B030D-6E8A-4147-A177-3AD203B41FA5}">
                      <a16:colId xmlns:a16="http://schemas.microsoft.com/office/drawing/2014/main" val="2736985868"/>
                    </a:ext>
                  </a:extLst>
                </a:gridCol>
              </a:tblGrid>
              <a:tr h="201545"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8778F5"/>
                          </a:solidFill>
                          <a:effectLst/>
                        </a:rPr>
                        <a:t>Original range</a:t>
                      </a:r>
                      <a:endParaRPr lang="en-US" sz="1200" b="1" i="0" u="none" strike="noStrike">
                        <a:solidFill>
                          <a:srgbClr val="8778F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rgbClr val="8778F5"/>
                          </a:solidFill>
                          <a:effectLst/>
                        </a:rPr>
                        <a:t>Regional descriptor</a:t>
                      </a:r>
                      <a:endParaRPr lang="en-US" sz="1200" b="1" i="0" u="none" strike="noStrike">
                        <a:solidFill>
                          <a:srgbClr val="8778F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71901"/>
                  </a:ext>
                </a:extLst>
              </a:tr>
              <a:tr h="526361">
                <a:tc>
                  <a:txBody>
                    <a:bodyPr/>
                    <a:lstStyle/>
                    <a:p>
                      <a:pPr algn="ctr" fontAlgn="ctr"/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Feature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Reference configuration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Lower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Upper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Lower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Upper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Range </a:t>
                      </a:r>
                      <a:b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</a:br>
                      <a:r>
                        <a:rPr lang="en-US" sz="1200" b="1" u="none" strike="noStrike">
                          <a:solidFill>
                            <a:srgbClr val="FFFFFF"/>
                          </a:solidFill>
                          <a:effectLst/>
                        </a:rPr>
                        <a:t>reduction (%)</a:t>
                      </a:r>
                      <a:endParaRPr lang="en-US" sz="12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8738473"/>
                  </a:ext>
                </a:extLst>
              </a:tr>
              <a:tr h="201545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8778F5"/>
                          </a:solidFill>
                          <a:effectLst/>
                        </a:rPr>
                        <a:t>Operational Condition</a:t>
                      </a:r>
                      <a:endParaRPr lang="en-US" sz="1200" b="1" i="0" u="none" strike="noStrike">
                        <a:solidFill>
                          <a:srgbClr val="8778F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Tfc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347.15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333.02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362.97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339.01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357.17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39%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382573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Pa_des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200000.00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2527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130040.00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2527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299920.00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2527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138530.00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2527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282930.00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25275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15%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25275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1013032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Pc_des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200000.00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110040.00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297510.00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119410.00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269390.00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4480426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Sa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1.30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1.30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1.30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1.30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1.30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467210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Sc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2.00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1.10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3.00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1.15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3.00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226540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Phi_a_des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0.50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282794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Phi_c_des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0.60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0.70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0.27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0.66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35%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227839"/>
                  </a:ext>
                </a:extLst>
              </a:tr>
              <a:tr h="201545">
                <a:tc rowSpan="12">
                  <a:txBody>
                    <a:bodyPr/>
                    <a:lstStyle/>
                    <a:p>
                      <a:pPr algn="ctr" fontAlgn="ctr"/>
                      <a:r>
                        <a:rPr lang="en-US" sz="1200" b="1" u="none" strike="noStrike">
                          <a:solidFill>
                            <a:srgbClr val="8778F5"/>
                          </a:solidFill>
                          <a:effectLst/>
                        </a:rPr>
                        <a:t>Undetermined Physical Parameter</a:t>
                      </a:r>
                      <a:endParaRPr lang="en-US" sz="1200" b="1" i="0" u="none" strike="noStrike">
                        <a:solidFill>
                          <a:srgbClr val="8778F5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epsilon_gdl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0.70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0.55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0.80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0.59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0.76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33%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B477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596224"/>
                  </a:ext>
                </a:extLst>
              </a:tr>
              <a:tr h="116098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tau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1.02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1.00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4.00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1.00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3.57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14%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6243113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epsilon_mc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0.40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0.15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0.40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0.16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0.40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506245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epsilon_c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0.27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0.15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0.30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0.17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0.29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14%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9377961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e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5869823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Re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5.70E-07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5.1E-07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5.0E-06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5.1E-07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4.8E-06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3585844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>
                          <a:solidFill>
                            <a:schemeClr val="bg1"/>
                          </a:solidFill>
                          <a:effectLst/>
                        </a:rPr>
                        <a:t>i0_c_ref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2.79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499.5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82.3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68B2E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84%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877457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kappa_co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27.20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40.0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17.9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40.0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68B2E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45%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74452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kappa_c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1.61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100.0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2.2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>
                          <a:solidFill>
                            <a:srgbClr val="068B2E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98%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8854495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a_slim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0.06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8%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59294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b_slim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0.11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880214"/>
                  </a:ext>
                </a:extLst>
              </a:tr>
              <a:tr h="201545">
                <a:tc v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u="none" strike="noStrike" err="1">
                          <a:solidFill>
                            <a:schemeClr val="bg1"/>
                          </a:solidFill>
                          <a:effectLst/>
                        </a:rPr>
                        <a:t>a_switch</a:t>
                      </a:r>
                      <a:endParaRPr lang="en-US" sz="1200" b="1" i="0" u="none" strike="noStrike">
                        <a:solidFill>
                          <a:schemeClr val="bg1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0.64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1.0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0.1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0.9</a:t>
                      </a:r>
                    </a:p>
                  </a:txBody>
                  <a:tcPr marL="9065" marR="9065" marT="9065" marB="0" anchor="ctr"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77E6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20%</a:t>
                      </a:r>
                    </a:p>
                  </a:txBody>
                  <a:tcPr marL="9065" marR="9065" marT="9065" marB="0" anchor="ctr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B477E6">
                        <a:alpha val="5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4779307"/>
                  </a:ext>
                </a:extLst>
              </a:tr>
            </a:tbl>
          </a:graphicData>
        </a:graphic>
      </p:graphicFrame>
      <p:sp>
        <p:nvSpPr>
          <p:cNvPr id="12" name="CuadroTexto 11">
            <a:extLst>
              <a:ext uri="{FF2B5EF4-FFF2-40B4-BE49-F238E27FC236}">
                <a16:creationId xmlns:a16="http://schemas.microsoft.com/office/drawing/2014/main" id="{A1BCB85C-088F-F50C-FA37-92B57BE06D8F}"/>
              </a:ext>
            </a:extLst>
          </p:cNvPr>
          <p:cNvSpPr txBox="1"/>
          <p:nvPr/>
        </p:nvSpPr>
        <p:spPr>
          <a:xfrm>
            <a:off x="791267" y="5930996"/>
            <a:ext cx="71316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Table 1:</a:t>
            </a:r>
            <a:r>
              <a:rPr lang="en-US" sz="1200"/>
              <a:t> Comparison of the original parameter ranges and the validated input region (IRD-derived </a:t>
            </a:r>
            <a:r>
              <a:rPr lang="en-US" sz="1200" err="1"/>
              <a:t>hyperbox</a:t>
            </a:r>
            <a:r>
              <a:rPr lang="en-US" sz="1200"/>
              <a:t>) identified using the PRIM method. The "IRD range" corresponds to the largest subregion where ≥90% of sampled configurations lead to valid, physically meaningful outputs from </a:t>
            </a:r>
            <a:r>
              <a:rPr lang="en-US" sz="1200" err="1"/>
              <a:t>AlphaPEM</a:t>
            </a:r>
            <a:r>
              <a:rPr lang="en-US" sz="1200"/>
              <a:t>. </a:t>
            </a:r>
            <a:r>
              <a:rPr lang="en" sz="1200"/>
              <a:t> </a:t>
            </a:r>
            <a:endParaRPr lang="en-US" sz="1200"/>
          </a:p>
        </p:txBody>
      </p:sp>
      <p:sp>
        <p:nvSpPr>
          <p:cNvPr id="13" name="Cerrar llave 12">
            <a:extLst>
              <a:ext uri="{FF2B5EF4-FFF2-40B4-BE49-F238E27FC236}">
                <a16:creationId xmlns:a16="http://schemas.microsoft.com/office/drawing/2014/main" id="{0618A046-EA9B-C872-7968-95EE0404ECC2}"/>
              </a:ext>
            </a:extLst>
          </p:cNvPr>
          <p:cNvSpPr/>
          <p:nvPr/>
        </p:nvSpPr>
        <p:spPr>
          <a:xfrm>
            <a:off x="8633062" y="4718048"/>
            <a:ext cx="217716" cy="580572"/>
          </a:xfrm>
          <a:prstGeom prst="rightBrace">
            <a:avLst/>
          </a:prstGeom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7F27E117-C0B8-B010-3433-F64F6FBD1F41}"/>
              </a:ext>
            </a:extLst>
          </p:cNvPr>
          <p:cNvSpPr txBox="1"/>
          <p:nvPr/>
        </p:nvSpPr>
        <p:spPr>
          <a:xfrm>
            <a:off x="8924546" y="4346614"/>
            <a:ext cx="299070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>
                <a:latin typeface="Source Sans Pro" panose="020B0503030403020204" pitchFamily="34" charset="0"/>
                <a:ea typeface="Source Sans Pro" panose="020B0503030403020204" pitchFamily="34" charset="0"/>
              </a:rPr>
              <a:t>Large range reductions for i0_c_ref, </a:t>
            </a:r>
            <a:r>
              <a:rPr lang="en" sz="1600" err="1">
                <a:latin typeface="Source Sans Pro" panose="020B0503030403020204" pitchFamily="34" charset="0"/>
                <a:ea typeface="Source Sans Pro" panose="020B0503030403020204" pitchFamily="34" charset="0"/>
              </a:rPr>
              <a:t>kappa_co</a:t>
            </a:r>
            <a:r>
              <a:rPr lang="en" sz="1600">
                <a:latin typeface="Source Sans Pro" panose="020B0503030403020204" pitchFamily="34" charset="0"/>
                <a:ea typeface="Source Sans Pro" panose="020B0503030403020204" pitchFamily="34" charset="0"/>
              </a:rPr>
              <a:t>, and </a:t>
            </a:r>
            <a:r>
              <a:rPr lang="en" sz="1600" err="1">
                <a:latin typeface="Source Sans Pro" panose="020B0503030403020204" pitchFamily="34" charset="0"/>
                <a:ea typeface="Source Sans Pro" panose="020B0503030403020204" pitchFamily="34" charset="0"/>
              </a:rPr>
              <a:t>kappa_c</a:t>
            </a:r>
            <a:r>
              <a:rPr lang="en" sz="1600">
                <a:latin typeface="Source Sans Pro" panose="020B0503030403020204" pitchFamily="34" charset="0"/>
                <a:ea typeface="Source Sans Pro" panose="020B0503030403020204" pitchFamily="34" charset="0"/>
              </a:rPr>
              <a:t> indicate these parameters must be </a:t>
            </a:r>
            <a:r>
              <a:rPr lang="en" sz="1600">
                <a:solidFill>
                  <a:srgbClr val="008B2E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tightly constrained </a:t>
            </a:r>
            <a:r>
              <a:rPr lang="en" sz="1600">
                <a:latin typeface="Source Sans Pro" panose="020B0503030403020204" pitchFamily="34" charset="0"/>
                <a:ea typeface="Source Sans Pro" panose="020B0503030403020204" pitchFamily="34" charset="0"/>
              </a:rPr>
              <a:t>to ensure valid polarization curves</a:t>
            </a:r>
          </a:p>
        </p:txBody>
      </p:sp>
      <p:cxnSp>
        <p:nvCxnSpPr>
          <p:cNvPr id="25" name="Google Shape;2044;p39">
            <a:extLst>
              <a:ext uri="{FF2B5EF4-FFF2-40B4-BE49-F238E27FC236}">
                <a16:creationId xmlns:a16="http://schemas.microsoft.com/office/drawing/2014/main" id="{8D35090F-FB15-5EAB-AB9A-55E8664D9AE3}"/>
              </a:ext>
            </a:extLst>
          </p:cNvPr>
          <p:cNvCxnSpPr>
            <a:cxnSpLocks/>
          </p:cNvCxnSpPr>
          <p:nvPr/>
        </p:nvCxnSpPr>
        <p:spPr>
          <a:xfrm flipH="1" flipV="1">
            <a:off x="8494195" y="2786970"/>
            <a:ext cx="430130" cy="96493"/>
          </a:xfrm>
          <a:prstGeom prst="straightConnector1">
            <a:avLst/>
          </a:prstGeom>
          <a:ln>
            <a:solidFill>
              <a:srgbClr val="B278E6"/>
            </a:solidFill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28" name="Google Shape;2044;p39">
            <a:extLst>
              <a:ext uri="{FF2B5EF4-FFF2-40B4-BE49-F238E27FC236}">
                <a16:creationId xmlns:a16="http://schemas.microsoft.com/office/drawing/2014/main" id="{EE146526-DC20-C720-4342-F05D94471C6F}"/>
              </a:ext>
            </a:extLst>
          </p:cNvPr>
          <p:cNvCxnSpPr>
            <a:cxnSpLocks/>
          </p:cNvCxnSpPr>
          <p:nvPr/>
        </p:nvCxnSpPr>
        <p:spPr>
          <a:xfrm flipH="1">
            <a:off x="8522949" y="2897840"/>
            <a:ext cx="415753" cy="240436"/>
          </a:xfrm>
          <a:prstGeom prst="straightConnector1">
            <a:avLst/>
          </a:prstGeom>
          <a:ln>
            <a:solidFill>
              <a:srgbClr val="B278E6"/>
            </a:solidFill>
            <a:headEnd type="none" w="med" len="med"/>
            <a:tailEnd type="triangle" w="med" len="med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1" name="CuadroTexto 30">
            <a:extLst>
              <a:ext uri="{FF2B5EF4-FFF2-40B4-BE49-F238E27FC236}">
                <a16:creationId xmlns:a16="http://schemas.microsoft.com/office/drawing/2014/main" id="{61C3D004-1971-6ADC-0E8D-50F86457DF1D}"/>
              </a:ext>
            </a:extLst>
          </p:cNvPr>
          <p:cNvSpPr txBox="1"/>
          <p:nvPr/>
        </p:nvSpPr>
        <p:spPr>
          <a:xfrm>
            <a:off x="8938702" y="2634207"/>
            <a:ext cx="24561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600" b="1">
                <a:solidFill>
                  <a:srgbClr val="B477E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Immutable features: </a:t>
            </a:r>
            <a:r>
              <a:rPr lang="en" sz="1600">
                <a:latin typeface="Source Sans Pro" panose="020B0503030403020204" pitchFamily="34" charset="0"/>
                <a:ea typeface="Source Sans Pro" panose="020B0503030403020204" pitchFamily="34" charset="0"/>
              </a:rPr>
              <a:t>fixed to reference value</a:t>
            </a:r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F7DB9F5C-0B57-8495-0EA9-3A5FE8F45847}"/>
              </a:ext>
            </a:extLst>
          </p:cNvPr>
          <p:cNvSpPr/>
          <p:nvPr/>
        </p:nvSpPr>
        <p:spPr>
          <a:xfrm>
            <a:off x="8489375" y="2674849"/>
            <a:ext cx="67148" cy="9774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F2178E8F-AADE-8600-9952-A564CF61E042}"/>
              </a:ext>
            </a:extLst>
          </p:cNvPr>
          <p:cNvSpPr txBox="1"/>
          <p:nvPr/>
        </p:nvSpPr>
        <p:spPr>
          <a:xfrm>
            <a:off x="3279485" y="158606"/>
            <a:ext cx="1089573" cy="31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2B9BAA3-249B-8246-35F7-C54700E6FC9A}"/>
              </a:ext>
            </a:extLst>
          </p:cNvPr>
          <p:cNvSpPr txBox="1"/>
          <p:nvPr/>
        </p:nvSpPr>
        <p:spPr>
          <a:xfrm>
            <a:off x="6283186" y="175686"/>
            <a:ext cx="405230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6">
            <a:extLst>
              <a:ext uri="{FF2B5EF4-FFF2-40B4-BE49-F238E27FC236}">
                <a16:creationId xmlns:a16="http://schemas.microsoft.com/office/drawing/2014/main" id="{12192F4F-AFDA-9F80-2317-01F98282BF58}"/>
              </a:ext>
            </a:extLst>
          </p:cNvPr>
          <p:cNvSpPr/>
          <p:nvPr/>
        </p:nvSpPr>
        <p:spPr>
          <a:xfrm>
            <a:off x="4369058" y="175685"/>
            <a:ext cx="1914128" cy="307777"/>
          </a:xfrm>
          <a:prstGeom prst="roundRect">
            <a:avLst>
              <a:gd name="adj" fmla="val 50000"/>
            </a:avLst>
          </a:prstGeom>
          <a:solidFill>
            <a:srgbClr val="B47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2.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86EE7B1D-75A8-1DDA-F753-16A1E5F73746}"/>
              </a:ext>
            </a:extLst>
          </p:cNvPr>
          <p:cNvSpPr txBox="1">
            <a:spLocks/>
          </p:cNvSpPr>
          <p:nvPr/>
        </p:nvSpPr>
        <p:spPr>
          <a:xfrm>
            <a:off x="838200" y="682497"/>
            <a:ext cx="9778340" cy="659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Resulting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hyperbox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from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IRD</a:t>
            </a:r>
            <a:endParaRPr lang="en" sz="32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E3E76BA-C39C-17D3-0229-AE822B0C4E3E}"/>
              </a:ext>
            </a:extLst>
          </p:cNvPr>
          <p:cNvSpPr/>
          <p:nvPr/>
        </p:nvSpPr>
        <p:spPr>
          <a:xfrm>
            <a:off x="1814285" y="4639202"/>
            <a:ext cx="6675090" cy="659417"/>
          </a:xfrm>
          <a:prstGeom prst="rect">
            <a:avLst/>
          </a:prstGeom>
          <a:noFill/>
          <a:ln w="38100">
            <a:solidFill>
              <a:srgbClr val="068B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636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C7016-D32F-564B-F15C-ED5FD1CA3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D49E669-0B02-2837-F112-3E7388063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>
                <a:solidFill>
                  <a:schemeClr val="bg1"/>
                </a:solidFill>
              </a:rPr>
              <a:t>13</a:t>
            </a:fld>
            <a:endParaRPr lang="es-ES_tradnl" b="1">
              <a:solidFill>
                <a:schemeClr val="bg1"/>
              </a:solidFill>
            </a:endParaRPr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6C21B11C-2547-F5D5-E6B0-B7A1B72D5A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673890"/>
              </p:ext>
            </p:extLst>
          </p:nvPr>
        </p:nvGraphicFramePr>
        <p:xfrm>
          <a:off x="855366" y="1765800"/>
          <a:ext cx="7736052" cy="3326400"/>
        </p:xfrm>
        <a:graphic>
          <a:graphicData uri="http://schemas.openxmlformats.org/drawingml/2006/table">
            <a:tbl>
              <a:tblPr/>
              <a:tblGrid>
                <a:gridCol w="467518">
                  <a:extLst>
                    <a:ext uri="{9D8B030D-6E8A-4147-A177-3AD203B41FA5}">
                      <a16:colId xmlns:a16="http://schemas.microsoft.com/office/drawing/2014/main" val="1532098"/>
                    </a:ext>
                  </a:extLst>
                </a:gridCol>
                <a:gridCol w="1130048">
                  <a:extLst>
                    <a:ext uri="{9D8B030D-6E8A-4147-A177-3AD203B41FA5}">
                      <a16:colId xmlns:a16="http://schemas.microsoft.com/office/drawing/2014/main" val="2553486490"/>
                    </a:ext>
                  </a:extLst>
                </a:gridCol>
                <a:gridCol w="4632597">
                  <a:extLst>
                    <a:ext uri="{9D8B030D-6E8A-4147-A177-3AD203B41FA5}">
                      <a16:colId xmlns:a16="http://schemas.microsoft.com/office/drawing/2014/main" val="3273686214"/>
                    </a:ext>
                  </a:extLst>
                </a:gridCol>
                <a:gridCol w="1505889">
                  <a:extLst>
                    <a:ext uri="{9D8B030D-6E8A-4147-A177-3AD203B41FA5}">
                      <a16:colId xmlns:a16="http://schemas.microsoft.com/office/drawing/2014/main" val="1983710068"/>
                    </a:ext>
                  </a:extLst>
                </a:gridCol>
              </a:tblGrid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#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Parameter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Description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Range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860137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Tfc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Desired fuel cell temperature (K)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[333, 363]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663555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Pa_des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Desired anode pressure (Pa)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[130000, 300000]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557485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Sc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Stoichiometric ratio of oxygen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[1.1, 3.0]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003018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Phi_c_des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Desired cathode relative humidity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[0.1, 0.7]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7596716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epsilon_gdl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GDL porosity (dimensionless)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[0.55, 0.8]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35884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tau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Pore structure coefficient (dimensionless)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[1.0, 4.0]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3754063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epsilon_mc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Volume fraction of ionomer in catalyst layer (dimensionless)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[0.15, 0.4]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0349736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epsilon_c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Compression ratio of GDL (dimensionless)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[0.15, 0.3]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110497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Capillary exponent (integer)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{3, 4, 5}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10064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Re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Electron conduction resistance (</a:t>
                      </a:r>
                      <a:r>
                        <a:rPr lang="el-GR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Ω·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m²)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[5.0e-7, 5.0e-6]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9373911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i0_c_ref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Cathode exchange current density (A/m²)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[0.001, 80]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7107602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kappa_co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Crossover correction coefficient (mol/(</a:t>
                      </a:r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m·s·Pa</a:t>
                      </a: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))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[15, 40]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8611149"/>
                  </a:ext>
                </a:extLst>
              </a:tr>
              <a:tr h="2376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err="1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kappa_c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Overpotential correction exponent (dimensionless)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[0, 2.5]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B278E6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7950070"/>
                  </a:ext>
                </a:extLst>
              </a:tr>
            </a:tbl>
          </a:graphicData>
        </a:graphic>
      </p:graphicFrame>
      <p:sp>
        <p:nvSpPr>
          <p:cNvPr id="9" name="CuadroTexto 8">
            <a:extLst>
              <a:ext uri="{FF2B5EF4-FFF2-40B4-BE49-F238E27FC236}">
                <a16:creationId xmlns:a16="http://schemas.microsoft.com/office/drawing/2014/main" id="{68DD7EE7-7EF2-DD6E-7F56-6FA8A48C6ED2}"/>
              </a:ext>
            </a:extLst>
          </p:cNvPr>
          <p:cNvSpPr txBox="1"/>
          <p:nvPr/>
        </p:nvSpPr>
        <p:spPr>
          <a:xfrm>
            <a:off x="855366" y="5259642"/>
            <a:ext cx="5024929" cy="104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Table 2:</a:t>
            </a:r>
            <a:r>
              <a:rPr lang="en-US" sz="1200"/>
              <a:t> Final </a:t>
            </a:r>
            <a:r>
              <a:rPr lang="en-US" sz="1200" b="1">
                <a:solidFill>
                  <a:srgbClr val="008B2E"/>
                </a:solidFill>
              </a:rPr>
              <a:t>13 input parameters </a:t>
            </a:r>
            <a:r>
              <a:rPr lang="en-US" sz="1200"/>
              <a:t>for valid </a:t>
            </a:r>
            <a:r>
              <a:rPr lang="en-US" sz="1200" err="1"/>
              <a:t>AlphaPEM</a:t>
            </a:r>
            <a:r>
              <a:rPr lang="en-US" sz="1200"/>
              <a:t> simulations, selected in collaboration with project partners and </a:t>
            </a:r>
            <a:r>
              <a:rPr lang="en-US" sz="1200" err="1"/>
              <a:t>AlphaPEM’s</a:t>
            </a:r>
            <a:r>
              <a:rPr lang="en-US" sz="1200"/>
              <a:t> author Raphael Gass. Operating conditions were intentionally left </a:t>
            </a:r>
            <a:r>
              <a:rPr lang="en-US" sz="1200" b="1">
                <a:solidFill>
                  <a:srgbClr val="B278E6"/>
                </a:solidFill>
              </a:rPr>
              <a:t>unrestricted</a:t>
            </a:r>
            <a:r>
              <a:rPr lang="en-US" sz="1200"/>
              <a:t>; undetermined physical parameters were</a:t>
            </a:r>
            <a:r>
              <a:rPr lang="en-US" sz="1200" b="1"/>
              <a:t> </a:t>
            </a:r>
            <a:r>
              <a:rPr lang="en-US" sz="1200" b="1">
                <a:solidFill>
                  <a:srgbClr val="B278E6"/>
                </a:solidFill>
              </a:rPr>
              <a:t>fixed</a:t>
            </a:r>
            <a:r>
              <a:rPr lang="en-US" sz="1200" b="1"/>
              <a:t> </a:t>
            </a:r>
            <a:r>
              <a:rPr lang="en-US" sz="1200"/>
              <a:t>or constrained based on </a:t>
            </a:r>
            <a:r>
              <a:rPr lang="en-US" sz="1200" b="1">
                <a:solidFill>
                  <a:srgbClr val="B278E6"/>
                </a:solidFill>
              </a:rPr>
              <a:t>IRD-guided</a:t>
            </a:r>
            <a:r>
              <a:rPr lang="en-US" sz="1200"/>
              <a:t> model validity analysis.</a:t>
            </a:r>
            <a:endParaRPr lang="en" sz="120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C2B6ED62-5EAF-AB14-4526-91463449E6F8}"/>
              </a:ext>
            </a:extLst>
          </p:cNvPr>
          <p:cNvSpPr/>
          <p:nvPr/>
        </p:nvSpPr>
        <p:spPr>
          <a:xfrm>
            <a:off x="8761128" y="1988800"/>
            <a:ext cx="300208" cy="2376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C17BA819-D8D0-F7B9-5273-6B72A2293B6F}"/>
              </a:ext>
            </a:extLst>
          </p:cNvPr>
          <p:cNvSpPr/>
          <p:nvPr/>
        </p:nvSpPr>
        <p:spPr>
          <a:xfrm>
            <a:off x="8761128" y="2226400"/>
            <a:ext cx="300208" cy="237600"/>
          </a:xfrm>
          <a:prstGeom prst="rect">
            <a:avLst/>
          </a:prstGeom>
          <a:solidFill>
            <a:srgbClr val="FF7F0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F3DBF5E-910C-C5D5-A03C-92427BDE66E2}"/>
              </a:ext>
            </a:extLst>
          </p:cNvPr>
          <p:cNvSpPr/>
          <p:nvPr/>
        </p:nvSpPr>
        <p:spPr>
          <a:xfrm>
            <a:off x="8761128" y="2464000"/>
            <a:ext cx="300208" cy="237600"/>
          </a:xfrm>
          <a:prstGeom prst="rect">
            <a:avLst/>
          </a:prstGeom>
          <a:solidFill>
            <a:srgbClr val="2CA02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0B2299D-9C7A-381A-B021-9B05D2824FC8}"/>
              </a:ext>
            </a:extLst>
          </p:cNvPr>
          <p:cNvSpPr/>
          <p:nvPr/>
        </p:nvSpPr>
        <p:spPr>
          <a:xfrm>
            <a:off x="8761128" y="2701600"/>
            <a:ext cx="300208" cy="237600"/>
          </a:xfrm>
          <a:prstGeom prst="rect">
            <a:avLst/>
          </a:prstGeom>
          <a:solidFill>
            <a:srgbClr val="D627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6B539AAC-6A3E-E552-74F5-EB9CBF7CF323}"/>
              </a:ext>
            </a:extLst>
          </p:cNvPr>
          <p:cNvSpPr/>
          <p:nvPr/>
        </p:nvSpPr>
        <p:spPr>
          <a:xfrm>
            <a:off x="8761128" y="2939200"/>
            <a:ext cx="300208" cy="237600"/>
          </a:xfrm>
          <a:prstGeom prst="rect">
            <a:avLst/>
          </a:prstGeom>
          <a:solidFill>
            <a:srgbClr val="9467B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A5DD2148-8B4E-8699-E83A-1D3082E2B741}"/>
              </a:ext>
            </a:extLst>
          </p:cNvPr>
          <p:cNvSpPr/>
          <p:nvPr/>
        </p:nvSpPr>
        <p:spPr>
          <a:xfrm>
            <a:off x="8761128" y="3176800"/>
            <a:ext cx="300208" cy="237600"/>
          </a:xfrm>
          <a:prstGeom prst="rect">
            <a:avLst/>
          </a:prstGeom>
          <a:solidFill>
            <a:srgbClr val="612B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94A2C68-8433-94A1-DB0A-B4E04EBAA8BA}"/>
              </a:ext>
            </a:extLst>
          </p:cNvPr>
          <p:cNvSpPr/>
          <p:nvPr/>
        </p:nvSpPr>
        <p:spPr>
          <a:xfrm>
            <a:off x="8761128" y="3414400"/>
            <a:ext cx="300208" cy="237600"/>
          </a:xfrm>
          <a:prstGeom prst="rect">
            <a:avLst/>
          </a:prstGeom>
          <a:solidFill>
            <a:srgbClr val="E377C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C7DD859-EC6C-5E0C-0755-49B0AEBA7677}"/>
              </a:ext>
            </a:extLst>
          </p:cNvPr>
          <p:cNvSpPr/>
          <p:nvPr/>
        </p:nvSpPr>
        <p:spPr>
          <a:xfrm>
            <a:off x="8761128" y="3652000"/>
            <a:ext cx="300208" cy="2376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3DD4ECB2-7013-3F1A-F66B-40169B5078E5}"/>
              </a:ext>
            </a:extLst>
          </p:cNvPr>
          <p:cNvSpPr/>
          <p:nvPr/>
        </p:nvSpPr>
        <p:spPr>
          <a:xfrm>
            <a:off x="8761128" y="3889600"/>
            <a:ext cx="300208" cy="237600"/>
          </a:xfrm>
          <a:prstGeom prst="rect">
            <a:avLst/>
          </a:prstGeom>
          <a:solidFill>
            <a:srgbClr val="BCBD2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142B4758-6F3E-78BB-723A-3A57DE6EFB07}"/>
              </a:ext>
            </a:extLst>
          </p:cNvPr>
          <p:cNvSpPr/>
          <p:nvPr/>
        </p:nvSpPr>
        <p:spPr>
          <a:xfrm>
            <a:off x="8761128" y="4127200"/>
            <a:ext cx="300208" cy="237600"/>
          </a:xfrm>
          <a:prstGeom prst="rect">
            <a:avLst/>
          </a:prstGeom>
          <a:solidFill>
            <a:srgbClr val="17BEC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591172B9-A4B9-538A-77EB-8A82E62A8FBA}"/>
              </a:ext>
            </a:extLst>
          </p:cNvPr>
          <p:cNvSpPr/>
          <p:nvPr/>
        </p:nvSpPr>
        <p:spPr>
          <a:xfrm>
            <a:off x="8761128" y="4364800"/>
            <a:ext cx="300208" cy="237600"/>
          </a:xfrm>
          <a:prstGeom prst="rect">
            <a:avLst/>
          </a:prstGeom>
          <a:solidFill>
            <a:srgbClr val="A6761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0DE23D1-6D5F-7DC3-9E90-B37EE123B264}"/>
              </a:ext>
            </a:extLst>
          </p:cNvPr>
          <p:cNvSpPr/>
          <p:nvPr/>
        </p:nvSpPr>
        <p:spPr>
          <a:xfrm>
            <a:off x="8761128" y="4602400"/>
            <a:ext cx="300208" cy="237600"/>
          </a:xfrm>
          <a:prstGeom prst="rect">
            <a:avLst/>
          </a:prstGeom>
          <a:solidFill>
            <a:srgbClr val="FFBB7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70EC3FE6-32CB-9091-303D-BB326E726F91}"/>
              </a:ext>
            </a:extLst>
          </p:cNvPr>
          <p:cNvSpPr/>
          <p:nvPr/>
        </p:nvSpPr>
        <p:spPr>
          <a:xfrm>
            <a:off x="8761128" y="4840000"/>
            <a:ext cx="300208" cy="237600"/>
          </a:xfrm>
          <a:prstGeom prst="rect">
            <a:avLst/>
          </a:prstGeom>
          <a:solidFill>
            <a:srgbClr val="98DF8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882E20A1-A2C4-3499-549C-F22C93519D66}"/>
              </a:ext>
            </a:extLst>
          </p:cNvPr>
          <p:cNvSpPr txBox="1"/>
          <p:nvPr/>
        </p:nvSpPr>
        <p:spPr>
          <a:xfrm>
            <a:off x="9083454" y="1910395"/>
            <a:ext cx="14765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1400"/>
              <a:t>← Color palette for visualizations</a:t>
            </a:r>
          </a:p>
        </p:txBody>
      </p:sp>
      <p:sp>
        <p:nvSpPr>
          <p:cNvPr id="41" name="Google Shape;1857;p37">
            <a:extLst>
              <a:ext uri="{FF2B5EF4-FFF2-40B4-BE49-F238E27FC236}">
                <a16:creationId xmlns:a16="http://schemas.microsoft.com/office/drawing/2014/main" id="{A7DCB7AB-7D95-1E5B-1E47-E5462A92FA35}"/>
              </a:ext>
            </a:extLst>
          </p:cNvPr>
          <p:cNvSpPr/>
          <p:nvPr/>
        </p:nvSpPr>
        <p:spPr bwMode="auto">
          <a:xfrm>
            <a:off x="9371153" y="2849771"/>
            <a:ext cx="2377642" cy="3153266"/>
          </a:xfrm>
          <a:prstGeom prst="round2SameRect">
            <a:avLst>
              <a:gd name="adj1" fmla="val 0"/>
              <a:gd name="adj2" fmla="val 14055"/>
            </a:avLst>
          </a:prstGeom>
          <a:noFill/>
          <a:ln w="28575">
            <a:solidFill>
              <a:srgbClr val="068B2E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800"/>
          </a:p>
          <a:p>
            <a:endParaRPr lang="en-US" sz="1200"/>
          </a:p>
          <a:p>
            <a:r>
              <a:rPr lang="en-US" sz="1300"/>
              <a:t>The following parameters were fixed to simplify the model: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/>
              <a:t>Sa</a:t>
            </a:r>
            <a:r>
              <a:rPr lang="en-US" sz="1300"/>
              <a:t> = 1.3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 err="1"/>
              <a:t>Phi_a_des</a:t>
            </a:r>
            <a:r>
              <a:rPr lang="en-US" sz="1300"/>
              <a:t> = 0.5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/>
              <a:t> </a:t>
            </a:r>
            <a:r>
              <a:rPr lang="en-US" sz="1300" i="1" err="1"/>
              <a:t>a_slim</a:t>
            </a:r>
            <a:r>
              <a:rPr lang="en-US" sz="1300" i="1"/>
              <a:t> </a:t>
            </a:r>
            <a:r>
              <a:rPr lang="en-US" sz="1300"/>
              <a:t>= 0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/>
              <a:t> </a:t>
            </a:r>
            <a:r>
              <a:rPr lang="en-US" sz="1300" i="1" err="1"/>
              <a:t>b_slim</a:t>
            </a:r>
            <a:r>
              <a:rPr lang="en-US" sz="1300" i="1"/>
              <a:t> </a:t>
            </a:r>
            <a:r>
              <a:rPr lang="en-US" sz="1300"/>
              <a:t>= 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err="1"/>
              <a:t>a_switch</a:t>
            </a:r>
            <a:r>
              <a:rPr lang="en-US" sz="1300"/>
              <a:t> = 0.99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30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i="1"/>
              <a:t>    </a:t>
            </a:r>
            <a:r>
              <a:rPr lang="en-US" sz="1300" i="1" err="1"/>
              <a:t>Pc_des</a:t>
            </a:r>
            <a:r>
              <a:rPr lang="en-US" sz="1300" i="1"/>
              <a:t> </a:t>
            </a:r>
            <a:r>
              <a:rPr lang="en-US" sz="1300"/>
              <a:t>is derived from </a:t>
            </a:r>
            <a:r>
              <a:rPr lang="en-US" sz="1300" i="1" err="1"/>
              <a:t>Pa_des</a:t>
            </a:r>
            <a:r>
              <a:rPr lang="en-US" sz="1300" i="1"/>
              <a:t> </a:t>
            </a:r>
            <a:r>
              <a:rPr lang="en-US" sz="1300"/>
              <a:t>− 20000 Pa</a:t>
            </a:r>
            <a:endParaRPr sz="1300" kern="0">
              <a:solidFill>
                <a:srgbClr val="000000"/>
              </a:solidFill>
              <a:cs typeface="Arial"/>
              <a:sym typeface="Arial"/>
            </a:endParaRPr>
          </a:p>
        </p:txBody>
      </p:sp>
      <p:sp>
        <p:nvSpPr>
          <p:cNvPr id="42" name="Google Shape;1859;p37">
            <a:extLst>
              <a:ext uri="{FF2B5EF4-FFF2-40B4-BE49-F238E27FC236}">
                <a16:creationId xmlns:a16="http://schemas.microsoft.com/office/drawing/2014/main" id="{C90E7DCB-D298-F8B4-CE05-F2C6385D4913}"/>
              </a:ext>
            </a:extLst>
          </p:cNvPr>
          <p:cNvSpPr/>
          <p:nvPr/>
        </p:nvSpPr>
        <p:spPr bwMode="auto">
          <a:xfrm>
            <a:off x="9356521" y="2493371"/>
            <a:ext cx="2412000" cy="536846"/>
          </a:xfrm>
          <a:prstGeom prst="round2SameRect">
            <a:avLst>
              <a:gd name="adj1" fmla="val 37630"/>
              <a:gd name="adj2" fmla="val 0"/>
            </a:avLst>
          </a:prstGeom>
          <a:solidFill>
            <a:srgbClr val="008B2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ctr" defTabSz="1219140">
              <a:buClr>
                <a:srgbClr val="000000"/>
              </a:buClr>
              <a:defRPr/>
            </a:pPr>
            <a:r>
              <a:rPr lang="es-MX" sz="1400" b="1" kern="0">
                <a:solidFill>
                  <a:schemeClr val="bg1"/>
                </a:solidFill>
                <a:latin typeface="+mj-lt"/>
                <a:cs typeface="Arial"/>
                <a:sym typeface="Arial"/>
              </a:rPr>
              <a:t>Fixed parameters</a:t>
            </a:r>
            <a:endParaRPr sz="1400" b="1" kern="0">
              <a:solidFill>
                <a:schemeClr val="bg1"/>
              </a:solidFill>
              <a:latin typeface="+mj-lt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F2B9118-B630-B882-860D-7664C5FBCD68}"/>
              </a:ext>
            </a:extLst>
          </p:cNvPr>
          <p:cNvSpPr txBox="1"/>
          <p:nvPr/>
        </p:nvSpPr>
        <p:spPr>
          <a:xfrm>
            <a:off x="3279485" y="158606"/>
            <a:ext cx="1089573" cy="31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620D0CE-2D7A-EB66-38E2-194CFE0E1D59}"/>
              </a:ext>
            </a:extLst>
          </p:cNvPr>
          <p:cNvSpPr txBox="1"/>
          <p:nvPr/>
        </p:nvSpPr>
        <p:spPr>
          <a:xfrm>
            <a:off x="6283186" y="175686"/>
            <a:ext cx="405230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ángulo redondeado 6">
            <a:extLst>
              <a:ext uri="{FF2B5EF4-FFF2-40B4-BE49-F238E27FC236}">
                <a16:creationId xmlns:a16="http://schemas.microsoft.com/office/drawing/2014/main" id="{A09CFCBE-1F89-B49D-2C5B-B816EFDB85A2}"/>
              </a:ext>
            </a:extLst>
          </p:cNvPr>
          <p:cNvSpPr/>
          <p:nvPr/>
        </p:nvSpPr>
        <p:spPr>
          <a:xfrm>
            <a:off x="4369058" y="175685"/>
            <a:ext cx="1914128" cy="307777"/>
          </a:xfrm>
          <a:prstGeom prst="roundRect">
            <a:avLst>
              <a:gd name="adj" fmla="val 50000"/>
            </a:avLst>
          </a:prstGeom>
          <a:solidFill>
            <a:srgbClr val="B47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2.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BC97D4DB-B109-EA9D-81D1-481109B79DF0}"/>
              </a:ext>
            </a:extLst>
          </p:cNvPr>
          <p:cNvSpPr txBox="1">
            <a:spLocks/>
          </p:cNvSpPr>
          <p:nvPr/>
        </p:nvSpPr>
        <p:spPr>
          <a:xfrm>
            <a:off x="484742" y="682497"/>
            <a:ext cx="10075231" cy="659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Final set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of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input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parameters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algn="ctr"/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for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sampling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of</a:t>
            </a:r>
            <a:r>
              <a:rPr lang="es-CO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3200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endParaRPr lang="en" sz="32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866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1268644-AB8B-1468-26EB-95205BE58489}"/>
              </a:ext>
            </a:extLst>
          </p:cNvPr>
          <p:cNvSpPr txBox="1"/>
          <p:nvPr/>
        </p:nvSpPr>
        <p:spPr>
          <a:xfrm>
            <a:off x="684550" y="2090172"/>
            <a:ext cx="108228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8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 Light" panose="020B0503030403020204" pitchFamily="34" charset="0"/>
                <a:ea typeface="Source Sans Pro Light" panose="020B0503030403020204" pitchFamily="34" charset="0"/>
                <a:cs typeface="+mn-cs"/>
              </a:rPr>
              <a:t>3. </a:t>
            </a:r>
            <a:r>
              <a:rPr kumimoji="0" lang="es-CO" sz="8000" b="0" i="1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 Light" panose="020B0503030403020204" pitchFamily="34" charset="0"/>
                <a:ea typeface="Source Sans Pro Light" panose="020B0503030403020204" pitchFamily="34" charset="0"/>
                <a:cs typeface="+mn-cs"/>
              </a:rPr>
              <a:t>Sensitivity</a:t>
            </a:r>
            <a:r>
              <a:rPr kumimoji="0" lang="es-CO" sz="8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 Light" panose="020B0503030403020204" pitchFamily="34" charset="0"/>
                <a:ea typeface="Source Sans Pro Light" panose="020B0503030403020204" pitchFamily="34" charset="0"/>
                <a:cs typeface="+mn-cs"/>
              </a:rPr>
              <a:t> </a:t>
            </a:r>
            <a:r>
              <a:rPr lang="es-CO" sz="8000" i="1" err="1">
                <a:solidFill>
                  <a:prstClr val="white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Analysis</a:t>
            </a:r>
            <a:r>
              <a:rPr kumimoji="0" lang="es-CO" sz="80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 Light" panose="020B0503030403020204" pitchFamily="34" charset="0"/>
                <a:ea typeface="Source Sans Pro Light" panose="020B0503030403020204" pitchFamily="34" charset="0"/>
                <a:cs typeface="+mn-cs"/>
              </a:rPr>
              <a:t> (SA)</a:t>
            </a:r>
          </a:p>
          <a:p>
            <a:pPr algn="ctr">
              <a:defRPr/>
            </a:pP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What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features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influence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the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</a:p>
          <a:p>
            <a:pPr algn="ctr">
              <a:defRPr/>
            </a:pP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output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the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most</a:t>
            </a:r>
            <a:r>
              <a:rPr lang="es-ES_tradnl" sz="4400" i="1">
                <a:solidFill>
                  <a:schemeClr val="bg1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16928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1AD154A4-30C1-488E-A32E-9C2D606D8264}"/>
              </a:ext>
            </a:extLst>
          </p:cNvPr>
          <p:cNvSpPr/>
          <p:nvPr/>
        </p:nvSpPr>
        <p:spPr>
          <a:xfrm>
            <a:off x="6389227" y="2600121"/>
            <a:ext cx="4742706" cy="3448663"/>
          </a:xfrm>
          <a:prstGeom prst="roundRect">
            <a:avLst>
              <a:gd name="adj" fmla="val 15376"/>
            </a:avLst>
          </a:prstGeom>
          <a:noFill/>
          <a:ln w="28575">
            <a:solidFill>
              <a:srgbClr val="068B2E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8" name="Rectángulo redondeado 9">
            <a:extLst>
              <a:ext uri="{FF2B5EF4-FFF2-40B4-BE49-F238E27FC236}">
                <a16:creationId xmlns:a16="http://schemas.microsoft.com/office/drawing/2014/main" id="{940D3709-083B-49E3-A7CF-FEAE8E4D6EFA}"/>
              </a:ext>
            </a:extLst>
          </p:cNvPr>
          <p:cNvSpPr/>
          <p:nvPr/>
        </p:nvSpPr>
        <p:spPr>
          <a:xfrm>
            <a:off x="1487711" y="995423"/>
            <a:ext cx="4608289" cy="5053361"/>
          </a:xfrm>
          <a:prstGeom prst="roundRect">
            <a:avLst>
              <a:gd name="adj" fmla="val 12235"/>
            </a:avLst>
          </a:prstGeom>
          <a:noFill/>
          <a:ln w="28575">
            <a:solidFill>
              <a:srgbClr val="068B2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b"/>
          <a:lstStyle/>
          <a:p>
            <a:pPr marL="182563" lvl="0">
              <a:defRPr/>
            </a:pPr>
            <a:r>
              <a:rPr lang="es-CO" sz="3200" err="1">
                <a:solidFill>
                  <a:schemeClr val="tx1"/>
                </a:solidFill>
                <a:latin typeface="Source Sans Pro"/>
                <a:ea typeface="Source Sans Pro"/>
              </a:rPr>
              <a:t>What</a:t>
            </a:r>
            <a:r>
              <a:rPr lang="es-CO" sz="3200">
                <a:solidFill>
                  <a:schemeClr val="tx1"/>
                </a:solidFill>
                <a:latin typeface="Source Sans Pro"/>
                <a:ea typeface="Source Sans Pro"/>
              </a:rPr>
              <a:t> </a:t>
            </a:r>
            <a:r>
              <a:rPr lang="es-CO" sz="3200" err="1">
                <a:solidFill>
                  <a:schemeClr val="tx1"/>
                </a:solidFill>
                <a:latin typeface="Source Sans Pro"/>
                <a:ea typeface="Source Sans Pro"/>
              </a:rPr>
              <a:t>is</a:t>
            </a:r>
            <a:r>
              <a:rPr lang="es-CO" sz="3200">
                <a:solidFill>
                  <a:schemeClr val="tx1"/>
                </a:solidFill>
                <a:latin typeface="Source Sans Pro"/>
                <a:ea typeface="Source Sans Pro"/>
              </a:rPr>
              <a:t> </a:t>
            </a:r>
            <a:r>
              <a:rPr lang="es-CO" sz="3200" b="1">
                <a:solidFill>
                  <a:srgbClr val="068B2E"/>
                </a:solidFill>
                <a:latin typeface="Source Sans Pro"/>
                <a:ea typeface="Source Sans Pro"/>
              </a:rPr>
              <a:t>a </a:t>
            </a:r>
            <a:r>
              <a:rPr lang="es-CO" sz="3200" b="1" err="1">
                <a:solidFill>
                  <a:srgbClr val="068B2E"/>
                </a:solidFill>
                <a:latin typeface="Source Sans Pro"/>
                <a:ea typeface="Source Sans Pro"/>
              </a:rPr>
              <a:t>sensitivity</a:t>
            </a:r>
            <a:r>
              <a:rPr lang="es-CO" sz="3200" b="1">
                <a:solidFill>
                  <a:srgbClr val="068B2E"/>
                </a:solidFill>
                <a:latin typeface="Source Sans Pro"/>
                <a:ea typeface="Source Sans Pro"/>
              </a:rPr>
              <a:t> </a:t>
            </a:r>
            <a:r>
              <a:rPr lang="es-CO" sz="3200" b="1" err="1">
                <a:solidFill>
                  <a:srgbClr val="068B2E"/>
                </a:solidFill>
                <a:latin typeface="Source Sans Pro"/>
                <a:ea typeface="Source Sans Pro"/>
              </a:rPr>
              <a:t>analysis</a:t>
            </a:r>
            <a:r>
              <a:rPr lang="es-CO" sz="3200">
                <a:solidFill>
                  <a:srgbClr val="068B2E"/>
                </a:solidFill>
                <a:latin typeface="Source Sans Pro"/>
                <a:ea typeface="Source Sans Pro"/>
              </a:rPr>
              <a:t>?</a:t>
            </a:r>
          </a:p>
          <a:p>
            <a:pPr marL="182245">
              <a:defRPr/>
            </a:pPr>
            <a:r>
              <a:rPr lang="en-US" sz="2000">
                <a:solidFill>
                  <a:prstClr val="black"/>
                </a:solidFill>
              </a:rPr>
              <a:t>It a collection of techniques used to evaluate feature effects</a:t>
            </a:r>
            <a:br>
              <a:rPr lang="en-US" sz="2000"/>
            </a:br>
            <a:r>
              <a:rPr lang="en-US" sz="2000">
                <a:solidFill>
                  <a:prstClr val="black"/>
                </a:solidFill>
              </a:rPr>
              <a:t> It helps assess:</a:t>
            </a:r>
          </a:p>
          <a:p>
            <a:pPr marL="365125" lvl="0" indent="-182563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>
                <a:solidFill>
                  <a:prstClr val="black"/>
                </a:solidFill>
              </a:rPr>
              <a:t>How changes in input variables influence the output of a model.</a:t>
            </a:r>
          </a:p>
          <a:p>
            <a:pPr marL="365125" indent="-182563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n-US" sz="2000">
                <a:solidFill>
                  <a:prstClr val="black"/>
                </a:solidFill>
              </a:rPr>
              <a:t>The robustness of the model to variations or uncertainty in those input features.</a:t>
            </a:r>
          </a:p>
          <a:p>
            <a:pPr marL="358775" marR="0" lvl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sz="2000" b="0" i="0" u="none" strike="noStrike" kern="1200" cap="none" spc="0" normalizeH="0" baseline="0" noProof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Aptos" panose="02110004020202020204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E2ECB358-5101-4C2F-8C6E-7846F62B60DB}"/>
              </a:ext>
            </a:extLst>
          </p:cNvPr>
          <p:cNvSpPr txBox="1"/>
          <p:nvPr/>
        </p:nvSpPr>
        <p:spPr>
          <a:xfrm>
            <a:off x="6655445" y="3132973"/>
            <a:ext cx="4386803" cy="24006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What is the </a:t>
            </a:r>
            <a:r>
              <a:rPr lang="en-US" sz="2400" b="1">
                <a:solidFill>
                  <a:prstClr val="black"/>
                </a:solidFill>
                <a:latin typeface="Source Sans Pro"/>
                <a:ea typeface="Source Sans Pro"/>
              </a:rPr>
              <a:t>g</a:t>
            </a: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/>
                <a:ea typeface="Source Sans Pro"/>
              </a:rPr>
              <a:t>oal?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/>
              <a:ea typeface="Source Sans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68B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Quantify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influence of each input on the output.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68B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Prioritize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the most impactful variables.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68B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Guide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model </a:t>
            </a:r>
            <a:r>
              <a:rPr lang="en-US">
                <a:solidFill>
                  <a:prstClr val="black"/>
                </a:solidFill>
                <a:latin typeface="Aptos" panose="02110004020202020204"/>
              </a:rPr>
              <a:t>simplification</a:t>
            </a:r>
          </a:p>
          <a:p>
            <a:pPr marL="285750" marR="0" lvl="0" indent="-28575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>
                <a:solidFill>
                  <a:srgbClr val="068B2E"/>
                </a:solidFill>
                <a:latin typeface="Aptos" panose="02110004020202020204"/>
              </a:rPr>
              <a:t>I</a:t>
            </a:r>
            <a:r>
              <a:rPr lang="en-US" b="1">
                <a:solidFill>
                  <a:srgbClr val="068B2E"/>
                </a:solidFill>
                <a:latin typeface="Aptos" panose="02110004020202020204"/>
              </a:rPr>
              <a:t>ncrease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68B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understanding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68B2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the system's behavior under different conditions.</a:t>
            </a:r>
            <a:endParaRPr lang="en-US">
              <a:solidFill>
                <a:prstClr val="black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D3A6B08-09AB-3A9D-ADA3-5D777D26BC28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F81978B-2123-B0C5-1721-46E8B68099CF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8" name="Rectángulo redondeado 6">
            <a:extLst>
              <a:ext uri="{FF2B5EF4-FFF2-40B4-BE49-F238E27FC236}">
                <a16:creationId xmlns:a16="http://schemas.microsoft.com/office/drawing/2014/main" id="{8B51CFF6-9103-E800-4C51-ACA9C94B3A1F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36771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redondeado 7">
            <a:extLst>
              <a:ext uri="{FF2B5EF4-FFF2-40B4-BE49-F238E27FC236}">
                <a16:creationId xmlns:a16="http://schemas.microsoft.com/office/drawing/2014/main" id="{032753A6-A2B2-7956-4A2E-987674B3CD1A}"/>
              </a:ext>
            </a:extLst>
          </p:cNvPr>
          <p:cNvSpPr/>
          <p:nvPr/>
        </p:nvSpPr>
        <p:spPr>
          <a:xfrm>
            <a:off x="5546141" y="933291"/>
            <a:ext cx="7342545" cy="4796682"/>
          </a:xfrm>
          <a:prstGeom prst="roundRect">
            <a:avLst>
              <a:gd name="adj" fmla="val 9795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39209AF1-033D-181A-C2F7-44B85E4AC790}"/>
              </a:ext>
            </a:extLst>
          </p:cNvPr>
          <p:cNvSpPr/>
          <p:nvPr/>
        </p:nvSpPr>
        <p:spPr>
          <a:xfrm>
            <a:off x="2295317" y="2901515"/>
            <a:ext cx="2297788" cy="959766"/>
          </a:xfrm>
          <a:prstGeom prst="roundRect">
            <a:avLst/>
          </a:prstGeom>
          <a:noFill/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6BB857B1-2824-41B2-AB75-E6B569D424C9}"/>
              </a:ext>
            </a:extLst>
          </p:cNvPr>
          <p:cNvSpPr/>
          <p:nvPr/>
        </p:nvSpPr>
        <p:spPr>
          <a:xfrm>
            <a:off x="6596971" y="3220273"/>
            <a:ext cx="4425700" cy="646331"/>
          </a:xfrm>
          <a:prstGeom prst="roundRect">
            <a:avLst/>
          </a:prstGeom>
          <a:solidFill>
            <a:srgbClr val="BBE5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2B02E93-4B11-4DC7-97E3-028294B238C6}"/>
              </a:ext>
            </a:extLst>
          </p:cNvPr>
          <p:cNvSpPr txBox="1"/>
          <p:nvPr/>
        </p:nvSpPr>
        <p:spPr>
          <a:xfrm>
            <a:off x="6943387" y="1322054"/>
            <a:ext cx="4467364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is accurate, but simulations are </a:t>
            </a:r>
            <a:r>
              <a:rPr kumimoji="0" lang="en-US" b="0" i="1" u="none" strike="noStrike" kern="1200" cap="none" spc="0" normalizeH="0" baseline="0" noProof="0">
                <a:ln>
                  <a:noFill/>
                </a:ln>
                <a:solidFill>
                  <a:srgbClr val="B278E6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computationally expensive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Sensitivity analysis (especially Sobol) needs thousands of evaluations.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Not feasible to run </a:t>
            </a: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AlphaPEM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directly at that scale. 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19426EF-CB8D-4D4C-826E-3684BCB24F87}"/>
              </a:ext>
            </a:extLst>
          </p:cNvPr>
          <p:cNvSpPr txBox="1"/>
          <p:nvPr/>
        </p:nvSpPr>
        <p:spPr>
          <a:xfrm>
            <a:off x="5797490" y="4119278"/>
            <a:ext cx="301233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Surrogate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Fira Sans Extra Condensed" panose="020B0503050000020004" pitchFamily="34" charset="0"/>
                <a:ea typeface="+mn-ea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model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5B6B972-8676-4B86-A88F-2D190FF27E44}"/>
              </a:ext>
            </a:extLst>
          </p:cNvPr>
          <p:cNvSpPr txBox="1"/>
          <p:nvPr/>
        </p:nvSpPr>
        <p:spPr>
          <a:xfrm>
            <a:off x="6915976" y="3220273"/>
            <a:ext cx="378769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Idea: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We train fast, accurate models to approximate </a:t>
            </a:r>
            <a:r>
              <a:rPr kumimoji="0" lang="en-US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AlphaPEM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21" name="Google Shape;1869;p37">
            <a:extLst>
              <a:ext uri="{FF2B5EF4-FFF2-40B4-BE49-F238E27FC236}">
                <a16:creationId xmlns:a16="http://schemas.microsoft.com/office/drawing/2014/main" id="{E2911D10-FA5E-4E5F-97B3-87ADD2651639}"/>
              </a:ext>
            </a:extLst>
          </p:cNvPr>
          <p:cNvSpPr txBox="1"/>
          <p:nvPr/>
        </p:nvSpPr>
        <p:spPr>
          <a:xfrm>
            <a:off x="8538018" y="4119278"/>
            <a:ext cx="4110917" cy="144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Compute SHAP values (model explainability).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Run Sobol analysis (variance decomposition).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Explore inputs cheaply and flexibly.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FEB3B5B3-A2A9-40EB-A4FA-9919BE2BC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6034" y="1128027"/>
            <a:ext cx="930090" cy="772592"/>
          </a:xfrm>
          <a:prstGeom prst="rect">
            <a:avLst/>
          </a:prstGeom>
        </p:spPr>
      </p:pic>
      <p:sp>
        <p:nvSpPr>
          <p:cNvPr id="34" name="Google Shape;2258;p44">
            <a:extLst>
              <a:ext uri="{FF2B5EF4-FFF2-40B4-BE49-F238E27FC236}">
                <a16:creationId xmlns:a16="http://schemas.microsoft.com/office/drawing/2014/main" id="{F252C06C-29DB-4D94-A327-6C0D53B90529}"/>
              </a:ext>
            </a:extLst>
          </p:cNvPr>
          <p:cNvSpPr txBox="1">
            <a:spLocks/>
          </p:cNvSpPr>
          <p:nvPr/>
        </p:nvSpPr>
        <p:spPr>
          <a:xfrm>
            <a:off x="812991" y="758983"/>
            <a:ext cx="3934405" cy="4952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j-cs"/>
              </a:rPr>
              <a:t>Region-based SA</a:t>
            </a:r>
          </a:p>
        </p:txBody>
      </p:sp>
      <p:sp>
        <p:nvSpPr>
          <p:cNvPr id="37" name="Forma libre 19">
            <a:extLst>
              <a:ext uri="{FF2B5EF4-FFF2-40B4-BE49-F238E27FC236}">
                <a16:creationId xmlns:a16="http://schemas.microsoft.com/office/drawing/2014/main" id="{BDD3B788-DD74-4388-96E5-903B609C8AF3}"/>
              </a:ext>
            </a:extLst>
          </p:cNvPr>
          <p:cNvSpPr>
            <a:spLocks noChangeAspect="1"/>
          </p:cNvSpPr>
          <p:nvPr/>
        </p:nvSpPr>
        <p:spPr>
          <a:xfrm>
            <a:off x="911108" y="3085342"/>
            <a:ext cx="1645158" cy="633096"/>
          </a:xfrm>
          <a:custGeom>
            <a:avLst/>
            <a:gdLst>
              <a:gd name="connsiteX0" fmla="*/ 263917 w 4114799"/>
              <a:gd name="connsiteY0" fmla="*/ 0 h 1583473"/>
              <a:gd name="connsiteX1" fmla="*/ 3850882 w 4114799"/>
              <a:gd name="connsiteY1" fmla="*/ 0 h 1583473"/>
              <a:gd name="connsiteX2" fmla="*/ 4114799 w 4114799"/>
              <a:gd name="connsiteY2" fmla="*/ 263917 h 1583473"/>
              <a:gd name="connsiteX3" fmla="*/ 4114799 w 4114799"/>
              <a:gd name="connsiteY3" fmla="*/ 900635 h 1583473"/>
              <a:gd name="connsiteX4" fmla="*/ 4075871 w 4114799"/>
              <a:gd name="connsiteY4" fmla="*/ 888551 h 1583473"/>
              <a:gd name="connsiteX5" fmla="*/ 3996550 w 4114799"/>
              <a:gd name="connsiteY5" fmla="*/ 880555 h 1583473"/>
              <a:gd name="connsiteX6" fmla="*/ 3602966 w 4114799"/>
              <a:gd name="connsiteY6" fmla="*/ 1274139 h 1583473"/>
              <a:gd name="connsiteX7" fmla="*/ 3718244 w 4114799"/>
              <a:gd name="connsiteY7" fmla="*/ 1552445 h 1583473"/>
              <a:gd name="connsiteX8" fmla="*/ 3755851 w 4114799"/>
              <a:gd name="connsiteY8" fmla="*/ 1583473 h 1583473"/>
              <a:gd name="connsiteX9" fmla="*/ 263917 w 4114799"/>
              <a:gd name="connsiteY9" fmla="*/ 1583473 h 1583473"/>
              <a:gd name="connsiteX10" fmla="*/ 0 w 4114799"/>
              <a:gd name="connsiteY10" fmla="*/ 1319556 h 1583473"/>
              <a:gd name="connsiteX11" fmla="*/ 0 w 4114799"/>
              <a:gd name="connsiteY11" fmla="*/ 263917 h 1583473"/>
              <a:gd name="connsiteX12" fmla="*/ 263917 w 4114799"/>
              <a:gd name="connsiteY12" fmla="*/ 0 h 1583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4114799" h="1583473">
                <a:moveTo>
                  <a:pt x="263917" y="0"/>
                </a:moveTo>
                <a:lnTo>
                  <a:pt x="3850882" y="0"/>
                </a:lnTo>
                <a:cubicBezTo>
                  <a:pt x="3996639" y="0"/>
                  <a:pt x="4114799" y="118160"/>
                  <a:pt x="4114799" y="263917"/>
                </a:cubicBezTo>
                <a:lnTo>
                  <a:pt x="4114799" y="900635"/>
                </a:lnTo>
                <a:lnTo>
                  <a:pt x="4075871" y="888551"/>
                </a:lnTo>
                <a:cubicBezTo>
                  <a:pt x="4050249" y="883308"/>
                  <a:pt x="4023721" y="880555"/>
                  <a:pt x="3996550" y="880555"/>
                </a:cubicBezTo>
                <a:cubicBezTo>
                  <a:pt x="3779180" y="880555"/>
                  <a:pt x="3602966" y="1056769"/>
                  <a:pt x="3602966" y="1274139"/>
                </a:cubicBezTo>
                <a:cubicBezTo>
                  <a:pt x="3602966" y="1382824"/>
                  <a:pt x="3647019" y="1481220"/>
                  <a:pt x="3718244" y="1552445"/>
                </a:cubicBezTo>
                <a:lnTo>
                  <a:pt x="3755851" y="1583473"/>
                </a:lnTo>
                <a:lnTo>
                  <a:pt x="263917" y="1583473"/>
                </a:lnTo>
                <a:cubicBezTo>
                  <a:pt x="118160" y="1583473"/>
                  <a:pt x="0" y="1465313"/>
                  <a:pt x="0" y="1319556"/>
                </a:cubicBezTo>
                <a:lnTo>
                  <a:pt x="0" y="263917"/>
                </a:lnTo>
                <a:cubicBezTo>
                  <a:pt x="0" y="118160"/>
                  <a:pt x="118160" y="0"/>
                  <a:pt x="263917" y="0"/>
                </a:cubicBezTo>
                <a:close/>
              </a:path>
            </a:pathLst>
          </a:cu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srgbClr val="FFB903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F44D55C5-47BA-42CC-BFC2-5E3B48FA5219}"/>
              </a:ext>
            </a:extLst>
          </p:cNvPr>
          <p:cNvSpPr txBox="1"/>
          <p:nvPr/>
        </p:nvSpPr>
        <p:spPr>
          <a:xfrm>
            <a:off x="1086218" y="3056861"/>
            <a:ext cx="2238118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2000" b="1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Regions</a:t>
            </a:r>
            <a:r>
              <a:rPr kumimoji="0" lang="es-ES_tradnl" sz="20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18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definition</a:t>
            </a:r>
            <a:endParaRPr kumimoji="0" lang="es-ES_tradnl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pic>
        <p:nvPicPr>
          <p:cNvPr id="39" name="Imagen 38">
            <a:extLst>
              <a:ext uri="{FF2B5EF4-FFF2-40B4-BE49-F238E27FC236}">
                <a16:creationId xmlns:a16="http://schemas.microsoft.com/office/drawing/2014/main" id="{CEE9A6F0-F1DC-49C9-B3BF-DA0D0D316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460" y="3473898"/>
            <a:ext cx="254073" cy="254073"/>
          </a:xfrm>
          <a:prstGeom prst="rect">
            <a:avLst/>
          </a:prstGeom>
        </p:spPr>
      </p:pic>
      <p:sp>
        <p:nvSpPr>
          <p:cNvPr id="40" name="CuadroTexto 39">
            <a:extLst>
              <a:ext uri="{FF2B5EF4-FFF2-40B4-BE49-F238E27FC236}">
                <a16:creationId xmlns:a16="http://schemas.microsoft.com/office/drawing/2014/main" id="{A194CD5B-6C31-48F9-B1E1-B92BFB9C8BFD}"/>
              </a:ext>
            </a:extLst>
          </p:cNvPr>
          <p:cNvSpPr txBox="1"/>
          <p:nvPr/>
        </p:nvSpPr>
        <p:spPr>
          <a:xfrm>
            <a:off x="2711431" y="3070072"/>
            <a:ext cx="1822004" cy="6483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Activation</a:t>
            </a:r>
            <a:r>
              <a: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 [0;0.4)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Ohmic</a:t>
            </a:r>
            <a:r>
              <a: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 [0.4; 1.6)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Mass</a:t>
            </a:r>
            <a:r>
              <a:rPr kumimoji="0" lang="es-CO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 </a:t>
            </a:r>
            <a:r>
              <a:rPr kumimoji="0" lang="es-CO" sz="1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transport</a:t>
            </a:r>
            <a:r>
              <a: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 [1.6; </a:t>
            </a:r>
            <a:r>
              <a:rPr kumimoji="0" lang="es-CO" sz="1200" b="0" i="0" u="none" strike="noStrike" kern="1200" cap="none" spc="0" normalizeH="0" baseline="0" noProof="0" err="1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Inf</a:t>
            </a:r>
            <a:r>
              <a: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)</a:t>
            </a:r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41" name="Picture 3" descr="Novel Trends in Proton Exchange Membrane Fuel Cells">
            <a:extLst>
              <a:ext uri="{FF2B5EF4-FFF2-40B4-BE49-F238E27FC236}">
                <a16:creationId xmlns:a16="http://schemas.microsoft.com/office/drawing/2014/main" id="{BCACC8D3-20CB-459D-86ED-3E09B3F95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0795" y="3903534"/>
            <a:ext cx="4351840" cy="2703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2" name="CuadroTexto 41">
            <a:extLst>
              <a:ext uri="{FF2B5EF4-FFF2-40B4-BE49-F238E27FC236}">
                <a16:creationId xmlns:a16="http://schemas.microsoft.com/office/drawing/2014/main" id="{8EA8B759-A4EB-4928-96A0-5000796E3DA6}"/>
              </a:ext>
            </a:extLst>
          </p:cNvPr>
          <p:cNvSpPr txBox="1"/>
          <p:nvPr/>
        </p:nvSpPr>
        <p:spPr>
          <a:xfrm>
            <a:off x="895369" y="1252846"/>
            <a:ext cx="42626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Roboto"/>
              </a:rPr>
              <a:t>Advantages: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sym typeface="Roboto"/>
              </a:rPr>
              <a:t>Localized insights about most important features per region.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F7F22E5A-CC06-4739-91FA-EB11F8A33E1B}"/>
              </a:ext>
            </a:extLst>
          </p:cNvPr>
          <p:cNvSpPr txBox="1"/>
          <p:nvPr/>
        </p:nvSpPr>
        <p:spPr>
          <a:xfrm>
            <a:off x="5879099" y="4642498"/>
            <a:ext cx="2401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i="0" u="none" strike="noStrike" kern="1200" cap="none" spc="0" normalizeH="0" baseline="0" noProof="0" err="1">
                <a:ln>
                  <a:noFill/>
                </a:ln>
                <a:solidFill>
                  <a:srgbClr val="008B2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i="0" u="none" strike="noStrike" kern="1200" cap="none" spc="0" normalizeH="0" baseline="0" noProof="0">
              <a:ln>
                <a:noFill/>
              </a:ln>
              <a:solidFill>
                <a:srgbClr val="008B2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  <a:p>
            <a:pPr marL="342900" indent="-342900">
              <a:buFont typeface="+mj-lt"/>
              <a:buAutoNum type="arabicPeriod"/>
              <a:defRPr/>
            </a:pP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srgbClr val="008B2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Random Forest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87B11CEC-27E0-443F-9E01-84BF4D0B0D9E}"/>
              </a:ext>
            </a:extLst>
          </p:cNvPr>
          <p:cNvSpPr txBox="1"/>
          <p:nvPr/>
        </p:nvSpPr>
        <p:spPr>
          <a:xfrm>
            <a:off x="5824610" y="5961065"/>
            <a:ext cx="39344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/>
              <a:t>Figure 6: </a:t>
            </a:r>
            <a:r>
              <a:rPr lang="en" sz="1200"/>
              <a:t>Current density regions in a polarization curve.</a:t>
            </a:r>
            <a:br>
              <a:rPr lang="en-US" sz="1200" dirty="0"/>
            </a:br>
            <a:r>
              <a:rPr lang="en-US" sz="1200" i="1" dirty="0">
                <a:solidFill>
                  <a:schemeClr val="bg1">
                    <a:lumMod val="65000"/>
                  </a:schemeClr>
                </a:solidFill>
              </a:rPr>
              <a:t>Source: </a:t>
            </a:r>
            <a:r>
              <a:rPr lang="en-US" sz="1200" i="1" dirty="0">
                <a:solidFill>
                  <a:schemeClr val="bg1">
                    <a:lumMod val="65000"/>
                  </a:schemeClr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ResearchGate</a:t>
            </a:r>
            <a:endParaRPr lang="en" sz="12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DD83FA2-905D-9A58-DBF2-3C663C952C1C}"/>
              </a:ext>
            </a:extLst>
          </p:cNvPr>
          <p:cNvSpPr txBox="1"/>
          <p:nvPr/>
        </p:nvSpPr>
        <p:spPr>
          <a:xfrm>
            <a:off x="911108" y="1851848"/>
            <a:ext cx="4908120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defTabSz="1219170">
              <a:defRPr/>
            </a:pPr>
            <a:r>
              <a:rPr lang="en-US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  <a:sym typeface="Roboto"/>
              </a:rPr>
              <a:t>Output for SA</a:t>
            </a:r>
            <a:r>
              <a:rPr kumimoji="0" lang="en-US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  <a:sym typeface="Roboto"/>
              </a:rPr>
              <a:t>: </a:t>
            </a:r>
            <a:r>
              <a:rPr lang="en-US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  <a:sym typeface="Roboto"/>
              </a:rPr>
              <a:t>We use the </a:t>
            </a:r>
            <a:r>
              <a:rPr lang="en-US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  <a:sym typeface="Roboto"/>
              </a:rPr>
              <a:t>AUC</a:t>
            </a:r>
            <a:r>
              <a:rPr lang="en-US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  <a:sym typeface="Roboto"/>
              </a:rPr>
              <a:t> of the polarization curve, computed </a:t>
            </a:r>
            <a:r>
              <a:rPr lang="en-US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  <a:sym typeface="Roboto"/>
              </a:rPr>
              <a:t>within each 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  <a:sym typeface="Roboto"/>
              </a:rPr>
              <a:t>region</a:t>
            </a:r>
            <a:r>
              <a:rPr lang="en-US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  <a:sym typeface="Roboto"/>
              </a:rPr>
              <a:t>, as the target metric for Sobol analysis</a:t>
            </a:r>
            <a:endParaRPr lang="es-ES" sz="2000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5E298F1D-9ABB-22AC-5A18-CEDE9843A8A8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59512D2-4B16-F784-8360-F890EF2C4ACA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ángulo redondeado 6">
            <a:extLst>
              <a:ext uri="{FF2B5EF4-FFF2-40B4-BE49-F238E27FC236}">
                <a16:creationId xmlns:a16="http://schemas.microsoft.com/office/drawing/2014/main" id="{9E83348D-8D79-86E3-60AB-D0B6F028BB09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8839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13E62BC2-A941-481B-961B-4FE692896232}"/>
              </a:ext>
            </a:extLst>
          </p:cNvPr>
          <p:cNvGrpSpPr/>
          <p:nvPr/>
        </p:nvGrpSpPr>
        <p:grpSpPr>
          <a:xfrm>
            <a:off x="5804634" y="1611218"/>
            <a:ext cx="5840362" cy="1034930"/>
            <a:chOff x="1199535" y="1601675"/>
            <a:chExt cx="5840362" cy="1034930"/>
          </a:xfrm>
        </p:grpSpPr>
        <p:sp>
          <p:nvSpPr>
            <p:cNvPr id="42" name="Rectángulo: esquinas redondeadas 41">
              <a:extLst>
                <a:ext uri="{FF2B5EF4-FFF2-40B4-BE49-F238E27FC236}">
                  <a16:creationId xmlns:a16="http://schemas.microsoft.com/office/drawing/2014/main" id="{88250583-D5E0-4857-B86A-41276877F822}"/>
                </a:ext>
              </a:extLst>
            </p:cNvPr>
            <p:cNvSpPr/>
            <p:nvPr/>
          </p:nvSpPr>
          <p:spPr>
            <a:xfrm>
              <a:off x="1199535" y="1601675"/>
              <a:ext cx="5840362" cy="1034930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3D88EC61-2473-4BB9-B29B-14009C09B2D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12" y="1959205"/>
              <a:ext cx="435280" cy="36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1</a:t>
              </a:r>
              <a:endPara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7AB1E4D5-6595-4B00-8F60-35B37FDC635D}"/>
                </a:ext>
              </a:extLst>
            </p:cNvPr>
            <p:cNvSpPr txBox="1"/>
            <p:nvPr/>
          </p:nvSpPr>
          <p:spPr>
            <a:xfrm>
              <a:off x="2381806" y="1908373"/>
              <a:ext cx="15661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AlphaPEM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grpSp>
          <p:nvGrpSpPr>
            <p:cNvPr id="30" name="Grupo 29">
              <a:extLst>
                <a:ext uri="{FF2B5EF4-FFF2-40B4-BE49-F238E27FC236}">
                  <a16:creationId xmlns:a16="http://schemas.microsoft.com/office/drawing/2014/main" id="{62EB1E69-3C26-4F56-A0D5-D20EFB665614}"/>
                </a:ext>
              </a:extLst>
            </p:cNvPr>
            <p:cNvGrpSpPr/>
            <p:nvPr/>
          </p:nvGrpSpPr>
          <p:grpSpPr>
            <a:xfrm>
              <a:off x="4918206" y="1862357"/>
              <a:ext cx="1853634" cy="553696"/>
              <a:chOff x="1271050" y="1744316"/>
              <a:chExt cx="2161584" cy="553696"/>
            </a:xfrm>
          </p:grpSpPr>
          <p:sp>
            <p:nvSpPr>
              <p:cNvPr id="31" name="Rectángulo: esquinas redondeadas 30">
                <a:extLst>
                  <a:ext uri="{FF2B5EF4-FFF2-40B4-BE49-F238E27FC236}">
                    <a16:creationId xmlns:a16="http://schemas.microsoft.com/office/drawing/2014/main" id="{536DEDD6-9FA1-4E9F-A97A-D1DE6E2CF34E}"/>
                  </a:ext>
                </a:extLst>
              </p:cNvPr>
              <p:cNvSpPr/>
              <p:nvPr/>
            </p:nvSpPr>
            <p:spPr>
              <a:xfrm>
                <a:off x="1271050" y="1744316"/>
                <a:ext cx="2161584" cy="553696"/>
              </a:xfrm>
              <a:prstGeom prst="roundRect">
                <a:avLst/>
              </a:prstGeom>
              <a:solidFill>
                <a:srgbClr val="BBE5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BDFA7BEF-81C3-4E8A-B711-01A1F2EC7389}"/>
                  </a:ext>
                </a:extLst>
              </p:cNvPr>
              <p:cNvSpPr txBox="1"/>
              <p:nvPr/>
            </p:nvSpPr>
            <p:spPr>
              <a:xfrm>
                <a:off x="1411606" y="1833404"/>
                <a:ext cx="18804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rPr>
                  <a:t>Sobol</a:t>
                </a:r>
                <a:r>
                  <a:rPr kumimoji="0" lang="es-ES_tradnl" sz="20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 </a:t>
                </a:r>
                <a:r>
                  <a:rPr kumimoji="0" lang="es-ES" sz="20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Indices</a:t>
                </a:r>
                <a:endParaRPr kumimoji="0" lang="es-ES_tradnl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endParaRPr>
              </a:p>
            </p:txBody>
          </p:sp>
        </p:grpSp>
      </p:grpSp>
      <p:grpSp>
        <p:nvGrpSpPr>
          <p:cNvPr id="53" name="Grupo 52">
            <a:extLst>
              <a:ext uri="{FF2B5EF4-FFF2-40B4-BE49-F238E27FC236}">
                <a16:creationId xmlns:a16="http://schemas.microsoft.com/office/drawing/2014/main" id="{01E69173-44BC-45DA-BF1E-A5F21CF3EF53}"/>
              </a:ext>
            </a:extLst>
          </p:cNvPr>
          <p:cNvGrpSpPr/>
          <p:nvPr/>
        </p:nvGrpSpPr>
        <p:grpSpPr>
          <a:xfrm>
            <a:off x="5793590" y="3255123"/>
            <a:ext cx="5840362" cy="1712247"/>
            <a:chOff x="1199535" y="3544077"/>
            <a:chExt cx="5840362" cy="1712247"/>
          </a:xfrm>
        </p:grpSpPr>
        <p:sp>
          <p:nvSpPr>
            <p:cNvPr id="43" name="Rectángulo: esquinas redondeadas 42">
              <a:extLst>
                <a:ext uri="{FF2B5EF4-FFF2-40B4-BE49-F238E27FC236}">
                  <a16:creationId xmlns:a16="http://schemas.microsoft.com/office/drawing/2014/main" id="{7556B96D-4092-4708-B806-D38C4E743435}"/>
                </a:ext>
              </a:extLst>
            </p:cNvPr>
            <p:cNvSpPr/>
            <p:nvPr/>
          </p:nvSpPr>
          <p:spPr>
            <a:xfrm>
              <a:off x="1199535" y="3544077"/>
              <a:ext cx="5840362" cy="1712247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C9A5096-B5BA-4CCA-9BB8-E2204F163DBF}"/>
                </a:ext>
              </a:extLst>
            </p:cNvPr>
            <p:cNvSpPr txBox="1"/>
            <p:nvPr/>
          </p:nvSpPr>
          <p:spPr>
            <a:xfrm>
              <a:off x="2099633" y="4202890"/>
              <a:ext cx="275575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242121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High accuracy, efficient with large datasets, handles complex interactions well</a:t>
              </a:r>
              <a:r>
                <a: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srgbClr val="242121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.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76FD8D3-48B6-45A9-9470-47C03B4019C3}"/>
                </a:ext>
              </a:extLst>
            </p:cNvPr>
            <p:cNvSpPr txBox="1"/>
            <p:nvPr/>
          </p:nvSpPr>
          <p:spPr>
            <a:xfrm>
              <a:off x="2099633" y="3757848"/>
              <a:ext cx="15661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XGBoost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grpSp>
          <p:nvGrpSpPr>
            <p:cNvPr id="33" name="Grupo 32">
              <a:extLst>
                <a:ext uri="{FF2B5EF4-FFF2-40B4-BE49-F238E27FC236}">
                  <a16:creationId xmlns:a16="http://schemas.microsoft.com/office/drawing/2014/main" id="{880668FE-114A-444C-8E1E-82EDD20E02D2}"/>
                </a:ext>
              </a:extLst>
            </p:cNvPr>
            <p:cNvGrpSpPr/>
            <p:nvPr/>
          </p:nvGrpSpPr>
          <p:grpSpPr>
            <a:xfrm>
              <a:off x="5020725" y="4480191"/>
              <a:ext cx="1854000" cy="553696"/>
              <a:chOff x="1279206" y="1851687"/>
              <a:chExt cx="2161584" cy="553696"/>
            </a:xfrm>
          </p:grpSpPr>
          <p:sp>
            <p:nvSpPr>
              <p:cNvPr id="34" name="Rectángulo: esquinas redondeadas 33">
                <a:extLst>
                  <a:ext uri="{FF2B5EF4-FFF2-40B4-BE49-F238E27FC236}">
                    <a16:creationId xmlns:a16="http://schemas.microsoft.com/office/drawing/2014/main" id="{77BDBE77-4DCF-42E9-8A7A-FBC24A7F105A}"/>
                  </a:ext>
                </a:extLst>
              </p:cNvPr>
              <p:cNvSpPr/>
              <p:nvPr/>
            </p:nvSpPr>
            <p:spPr>
              <a:xfrm>
                <a:off x="1279206" y="1851687"/>
                <a:ext cx="2161584" cy="553696"/>
              </a:xfrm>
              <a:prstGeom prst="roundRect">
                <a:avLst/>
              </a:prstGeom>
              <a:solidFill>
                <a:srgbClr val="8879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5" name="CuadroTexto 34">
                <a:extLst>
                  <a:ext uri="{FF2B5EF4-FFF2-40B4-BE49-F238E27FC236}">
                    <a16:creationId xmlns:a16="http://schemas.microsoft.com/office/drawing/2014/main" id="{AC77D981-E0F0-49B3-8664-2E3244F026FC}"/>
                  </a:ext>
                </a:extLst>
              </p:cNvPr>
              <p:cNvSpPr txBox="1"/>
              <p:nvPr/>
            </p:nvSpPr>
            <p:spPr>
              <a:xfrm>
                <a:off x="1411606" y="1898720"/>
                <a:ext cx="188047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rPr>
                  <a:t>SHAP </a:t>
                </a:r>
                <a:r>
                  <a:rPr kumimoji="0" lang="es-ES" sz="20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Values</a:t>
                </a:r>
                <a:endParaRPr kumimoji="0" lang="es-ES_tradnl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endParaRPr>
              </a:p>
            </p:txBody>
          </p:sp>
        </p:grpSp>
        <p:grpSp>
          <p:nvGrpSpPr>
            <p:cNvPr id="36" name="Grupo 35">
              <a:extLst>
                <a:ext uri="{FF2B5EF4-FFF2-40B4-BE49-F238E27FC236}">
                  <a16:creationId xmlns:a16="http://schemas.microsoft.com/office/drawing/2014/main" id="{9CC61286-E721-48F1-9C6C-6D9A5B2E8CFC}"/>
                </a:ext>
              </a:extLst>
            </p:cNvPr>
            <p:cNvGrpSpPr/>
            <p:nvPr/>
          </p:nvGrpSpPr>
          <p:grpSpPr>
            <a:xfrm>
              <a:off x="4995134" y="3808407"/>
              <a:ext cx="1853634" cy="553696"/>
              <a:chOff x="1271050" y="1809632"/>
              <a:chExt cx="2161584" cy="553696"/>
            </a:xfrm>
          </p:grpSpPr>
          <p:sp>
            <p:nvSpPr>
              <p:cNvPr id="37" name="Rectángulo: esquinas redondeadas 36">
                <a:extLst>
                  <a:ext uri="{FF2B5EF4-FFF2-40B4-BE49-F238E27FC236}">
                    <a16:creationId xmlns:a16="http://schemas.microsoft.com/office/drawing/2014/main" id="{80C2960D-97F0-4A5C-A4A0-4F0817DC0374}"/>
                  </a:ext>
                </a:extLst>
              </p:cNvPr>
              <p:cNvSpPr/>
              <p:nvPr/>
            </p:nvSpPr>
            <p:spPr>
              <a:xfrm>
                <a:off x="1271050" y="1809632"/>
                <a:ext cx="2161584" cy="553696"/>
              </a:xfrm>
              <a:prstGeom prst="roundRect">
                <a:avLst/>
              </a:prstGeom>
              <a:solidFill>
                <a:srgbClr val="BBE5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8" name="CuadroTexto 37">
                <a:extLst>
                  <a:ext uri="{FF2B5EF4-FFF2-40B4-BE49-F238E27FC236}">
                    <a16:creationId xmlns:a16="http://schemas.microsoft.com/office/drawing/2014/main" id="{5E1AE46D-4FC2-4EA6-88FF-1F92E3BD2287}"/>
                  </a:ext>
                </a:extLst>
              </p:cNvPr>
              <p:cNvSpPr txBox="1"/>
              <p:nvPr/>
            </p:nvSpPr>
            <p:spPr>
              <a:xfrm>
                <a:off x="1411606" y="1898720"/>
                <a:ext cx="188047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rPr>
                  <a:t>Sobol</a:t>
                </a:r>
                <a:r>
                  <a:rPr kumimoji="0" lang="es-ES_tradnl" sz="20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 </a:t>
                </a:r>
                <a:r>
                  <a:rPr kumimoji="0" lang="es-ES" sz="20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Indices</a:t>
                </a:r>
                <a:endParaRPr kumimoji="0" lang="es-ES_tradnl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endParaRPr>
              </a:p>
            </p:txBody>
          </p:sp>
        </p:grpSp>
        <p:sp>
          <p:nvSpPr>
            <p:cNvPr id="39" name="Rectángulo 38">
              <a:extLst>
                <a:ext uri="{FF2B5EF4-FFF2-40B4-BE49-F238E27FC236}">
                  <a16:creationId xmlns:a16="http://schemas.microsoft.com/office/drawing/2014/main" id="{A1534DF8-39AD-4411-9E6F-4E18B9F68CBC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12" y="4202890"/>
              <a:ext cx="435280" cy="35294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2</a:t>
              </a:r>
              <a:endPara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sp>
        <p:nvSpPr>
          <p:cNvPr id="59" name="Rectángulo: esquinas redondeadas 58">
            <a:extLst>
              <a:ext uri="{FF2B5EF4-FFF2-40B4-BE49-F238E27FC236}">
                <a16:creationId xmlns:a16="http://schemas.microsoft.com/office/drawing/2014/main" id="{0D807676-328C-40E1-8C6C-E9C23D489652}"/>
              </a:ext>
            </a:extLst>
          </p:cNvPr>
          <p:cNvSpPr/>
          <p:nvPr/>
        </p:nvSpPr>
        <p:spPr>
          <a:xfrm>
            <a:off x="1126159" y="910043"/>
            <a:ext cx="4253235" cy="37209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54521BE-4F91-432E-9F27-F05255C38FF1}"/>
              </a:ext>
            </a:extLst>
          </p:cNvPr>
          <p:cNvSpPr txBox="1"/>
          <p:nvPr/>
        </p:nvSpPr>
        <p:spPr>
          <a:xfrm>
            <a:off x="1443703" y="1639352"/>
            <a:ext cx="3831471" cy="892552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b="1">
                <a:solidFill>
                  <a:prstClr val="black"/>
                </a:solidFill>
                <a:highlight>
                  <a:srgbClr val="BBE555"/>
                </a:highlight>
                <a:latin typeface="Source Sans Pro"/>
                <a:ea typeface="Source Sans Pro"/>
              </a:rPr>
              <a:t> 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"/>
                <a:ea typeface="Source Sans Pro"/>
              </a:rPr>
              <a:t> </a:t>
            </a:r>
            <a:r>
              <a:rPr kumimoji="0" lang="es-ES_tradnl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"/>
                <a:ea typeface="Source Sans Pro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Sobol</a:t>
            </a:r>
            <a:r>
              <a:rPr kumimoji="0" lang="es-ES_tradnl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 Light"/>
                <a:ea typeface="Source Sans Pro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s-ES" sz="1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 Light"/>
                <a:ea typeface="Source Sans Pro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Indices</a:t>
            </a:r>
            <a:r>
              <a:rPr kumimoji="0" lang="es-ES_tradnl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 Light"/>
                <a:ea typeface="Source Sans Pro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quantify how much of the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 variance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due to</a:t>
            </a:r>
            <a:r>
              <a:rPr lang="en-US" sz="1600">
                <a:solidFill>
                  <a:prstClr val="black"/>
                </a:solidFill>
                <a:latin typeface="Aptos" panose="02110004020202020204"/>
              </a:rPr>
              <a:t> 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input (individually and via interactions).</a:t>
            </a:r>
            <a:endParaRPr lang="es-ES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98A1EA4D-AAEF-4E94-9082-F2581B1A9090}"/>
              </a:ext>
            </a:extLst>
          </p:cNvPr>
          <p:cNvSpPr txBox="1"/>
          <p:nvPr/>
        </p:nvSpPr>
        <p:spPr>
          <a:xfrm>
            <a:off x="1448249" y="3540062"/>
            <a:ext cx="3605759" cy="830997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>
            <a:spAutoFit/>
          </a:bodyPr>
          <a:lstStyle>
            <a:defPPr>
              <a:defRPr lang="es-CO"/>
            </a:defPPr>
            <a:lvl1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 b="1">
                <a:solidFill>
                  <a:srgbClr val="8879F5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879F5"/>
                </a:highlight>
                <a:uLnTx/>
                <a:uFillTx/>
                <a:latin typeface="Aptos" panose="0211000402020202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SHAP values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explain how much each feature contributes to a model’s prediction.</a:t>
            </a: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BBCD89F-5F4C-428D-B004-95D7E8F819D4}"/>
              </a:ext>
            </a:extLst>
          </p:cNvPr>
          <p:cNvSpPr txBox="1"/>
          <p:nvPr/>
        </p:nvSpPr>
        <p:spPr>
          <a:xfrm>
            <a:off x="2113730" y="1035516"/>
            <a:ext cx="2518663" cy="61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SA </a:t>
            </a:r>
            <a:r>
              <a:rPr kumimoji="0" lang="es-E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methods</a:t>
            </a:r>
            <a:endParaRPr kumimoji="0" lang="es-CO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65" name="Grupo 64">
            <a:extLst>
              <a:ext uri="{FF2B5EF4-FFF2-40B4-BE49-F238E27FC236}">
                <a16:creationId xmlns:a16="http://schemas.microsoft.com/office/drawing/2014/main" id="{FA5C51A4-5C57-48B4-94FC-D7D2B3F1E942}"/>
              </a:ext>
            </a:extLst>
          </p:cNvPr>
          <p:cNvGrpSpPr/>
          <p:nvPr/>
        </p:nvGrpSpPr>
        <p:grpSpPr>
          <a:xfrm>
            <a:off x="1140073" y="4770361"/>
            <a:ext cx="4239322" cy="1583473"/>
            <a:chOff x="1074675" y="4468549"/>
            <a:chExt cx="4239322" cy="1583473"/>
          </a:xfrm>
        </p:grpSpPr>
        <p:sp>
          <p:nvSpPr>
            <p:cNvPr id="61" name="Forma libre 19">
              <a:extLst>
                <a:ext uri="{FF2B5EF4-FFF2-40B4-BE49-F238E27FC236}">
                  <a16:creationId xmlns:a16="http://schemas.microsoft.com/office/drawing/2014/main" id="{57C7ABDB-7429-4EF3-83B2-26BE5A7A2AA2}"/>
                </a:ext>
              </a:extLst>
            </p:cNvPr>
            <p:cNvSpPr/>
            <p:nvPr/>
          </p:nvSpPr>
          <p:spPr>
            <a:xfrm>
              <a:off x="1074675" y="4468549"/>
              <a:ext cx="4114799" cy="1583473"/>
            </a:xfrm>
            <a:custGeom>
              <a:avLst/>
              <a:gdLst>
                <a:gd name="connsiteX0" fmla="*/ 263917 w 4114799"/>
                <a:gd name="connsiteY0" fmla="*/ 0 h 1583473"/>
                <a:gd name="connsiteX1" fmla="*/ 3850882 w 4114799"/>
                <a:gd name="connsiteY1" fmla="*/ 0 h 1583473"/>
                <a:gd name="connsiteX2" fmla="*/ 4114799 w 4114799"/>
                <a:gd name="connsiteY2" fmla="*/ 263917 h 1583473"/>
                <a:gd name="connsiteX3" fmla="*/ 4114799 w 4114799"/>
                <a:gd name="connsiteY3" fmla="*/ 900635 h 1583473"/>
                <a:gd name="connsiteX4" fmla="*/ 4075871 w 4114799"/>
                <a:gd name="connsiteY4" fmla="*/ 888551 h 1583473"/>
                <a:gd name="connsiteX5" fmla="*/ 3996550 w 4114799"/>
                <a:gd name="connsiteY5" fmla="*/ 880555 h 1583473"/>
                <a:gd name="connsiteX6" fmla="*/ 3602966 w 4114799"/>
                <a:gd name="connsiteY6" fmla="*/ 1274139 h 1583473"/>
                <a:gd name="connsiteX7" fmla="*/ 3718244 w 4114799"/>
                <a:gd name="connsiteY7" fmla="*/ 1552445 h 1583473"/>
                <a:gd name="connsiteX8" fmla="*/ 3755851 w 4114799"/>
                <a:gd name="connsiteY8" fmla="*/ 1583473 h 1583473"/>
                <a:gd name="connsiteX9" fmla="*/ 263917 w 4114799"/>
                <a:gd name="connsiteY9" fmla="*/ 1583473 h 1583473"/>
                <a:gd name="connsiteX10" fmla="*/ 0 w 4114799"/>
                <a:gd name="connsiteY10" fmla="*/ 1319556 h 1583473"/>
                <a:gd name="connsiteX11" fmla="*/ 0 w 4114799"/>
                <a:gd name="connsiteY11" fmla="*/ 263917 h 1583473"/>
                <a:gd name="connsiteX12" fmla="*/ 263917 w 4114799"/>
                <a:gd name="connsiteY12" fmla="*/ 0 h 158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14799" h="1583473">
                  <a:moveTo>
                    <a:pt x="263917" y="0"/>
                  </a:moveTo>
                  <a:lnTo>
                    <a:pt x="3850882" y="0"/>
                  </a:lnTo>
                  <a:cubicBezTo>
                    <a:pt x="3996639" y="0"/>
                    <a:pt x="4114799" y="118160"/>
                    <a:pt x="4114799" y="263917"/>
                  </a:cubicBezTo>
                  <a:lnTo>
                    <a:pt x="4114799" y="900635"/>
                  </a:lnTo>
                  <a:lnTo>
                    <a:pt x="4075871" y="888551"/>
                  </a:lnTo>
                  <a:cubicBezTo>
                    <a:pt x="4050249" y="883308"/>
                    <a:pt x="4023721" y="880555"/>
                    <a:pt x="3996550" y="880555"/>
                  </a:cubicBezTo>
                  <a:cubicBezTo>
                    <a:pt x="3779180" y="880555"/>
                    <a:pt x="3602966" y="1056769"/>
                    <a:pt x="3602966" y="1274139"/>
                  </a:cubicBezTo>
                  <a:cubicBezTo>
                    <a:pt x="3602966" y="1382824"/>
                    <a:pt x="3647019" y="1481220"/>
                    <a:pt x="3718244" y="1552445"/>
                  </a:cubicBezTo>
                  <a:lnTo>
                    <a:pt x="3755851" y="1583473"/>
                  </a:lnTo>
                  <a:lnTo>
                    <a:pt x="263917" y="1583473"/>
                  </a:lnTo>
                  <a:cubicBezTo>
                    <a:pt x="118160" y="1583473"/>
                    <a:pt x="0" y="1465313"/>
                    <a:pt x="0" y="1319556"/>
                  </a:cubicBezTo>
                  <a:lnTo>
                    <a:pt x="0" y="263917"/>
                  </a:lnTo>
                  <a:cubicBezTo>
                    <a:pt x="0" y="118160"/>
                    <a:pt x="118160" y="0"/>
                    <a:pt x="263917" y="0"/>
                  </a:cubicBezTo>
                  <a:close/>
                </a:path>
              </a:pathLst>
            </a:custGeom>
            <a:solidFill>
              <a:srgbClr val="FFB9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6" name="CuadroTexto 55">
              <a:extLst>
                <a:ext uri="{FF2B5EF4-FFF2-40B4-BE49-F238E27FC236}">
                  <a16:creationId xmlns:a16="http://schemas.microsoft.com/office/drawing/2014/main" id="{54F419BB-3E79-42AF-AAF8-844A573FCAA4}"/>
                </a:ext>
              </a:extLst>
            </p:cNvPr>
            <p:cNvSpPr txBox="1"/>
            <p:nvPr/>
          </p:nvSpPr>
          <p:spPr>
            <a:xfrm>
              <a:off x="1364937" y="4965295"/>
              <a:ext cx="332085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It generates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quasi-random sequences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that are uniformly distributed sample points in high-dimensional spaces.</a:t>
              </a:r>
              <a:endPara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2" name="CuadroTexto 61">
              <a:extLst>
                <a:ext uri="{FF2B5EF4-FFF2-40B4-BE49-F238E27FC236}">
                  <a16:creationId xmlns:a16="http://schemas.microsoft.com/office/drawing/2014/main" id="{3337A2E1-4D77-437A-BCBA-70EE9F72F2E4}"/>
                </a:ext>
              </a:extLst>
            </p:cNvPr>
            <p:cNvSpPr txBox="1"/>
            <p:nvPr/>
          </p:nvSpPr>
          <p:spPr>
            <a:xfrm>
              <a:off x="1364937" y="4595963"/>
              <a:ext cx="3924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rPr>
                <a:t>Sample strategy </a:t>
              </a: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Sobol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sequences</a:t>
              </a:r>
              <a:endPara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pic>
          <p:nvPicPr>
            <p:cNvPr id="63" name="Imagen 62">
              <a:extLst>
                <a:ext uri="{FF2B5EF4-FFF2-40B4-BE49-F238E27FC236}">
                  <a16:creationId xmlns:a16="http://schemas.microsoft.com/office/drawing/2014/main" id="{AECB53FC-8F95-4B4E-86FF-7E6D2DE0A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06152" y="5473906"/>
              <a:ext cx="507845" cy="507845"/>
            </a:xfrm>
            <a:prstGeom prst="rect">
              <a:avLst/>
            </a:prstGeom>
          </p:spPr>
        </p:pic>
      </p:grpSp>
      <p:sp>
        <p:nvSpPr>
          <p:cNvPr id="40" name="CuadroTexto 39">
            <a:extLst>
              <a:ext uri="{FF2B5EF4-FFF2-40B4-BE49-F238E27FC236}">
                <a16:creationId xmlns:a16="http://schemas.microsoft.com/office/drawing/2014/main" id="{AD401434-7B1B-406F-9CFC-F95926290169}"/>
              </a:ext>
            </a:extLst>
          </p:cNvPr>
          <p:cNvSpPr txBox="1"/>
          <p:nvPr/>
        </p:nvSpPr>
        <p:spPr>
          <a:xfrm>
            <a:off x="1443703" y="2471593"/>
            <a:ext cx="37479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In the implementation we consider first order indices (S1) and second order interaction indices (S2)</a:t>
            </a:r>
            <a:endParaRPr lang="es-CO" sz="1600" dirty="0">
              <a:solidFill>
                <a:prstClr val="black"/>
              </a:solidFill>
              <a:latin typeface="Aptos" panose="0211000402020202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C78ABB-9363-4805-8BD6-51960C971E70}"/>
                  </a:ext>
                </a:extLst>
              </p:cNvPr>
              <p:cNvSpPr txBox="1"/>
              <p:nvPr/>
            </p:nvSpPr>
            <p:spPr>
              <a:xfrm>
                <a:off x="2727823" y="3222673"/>
                <a:ext cx="126323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2 ∈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58C78ABB-9363-4805-8BD6-51960C971E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823" y="3222673"/>
                <a:ext cx="1263230" cy="246221"/>
              </a:xfrm>
              <a:prstGeom prst="rect">
                <a:avLst/>
              </a:prstGeom>
              <a:blipFill>
                <a:blip r:embed="rId7"/>
                <a:stretch>
                  <a:fillRect l="-3365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uadroTexto 40">
            <a:extLst>
              <a:ext uri="{FF2B5EF4-FFF2-40B4-BE49-F238E27FC236}">
                <a16:creationId xmlns:a16="http://schemas.microsoft.com/office/drawing/2014/main" id="{45440568-FF39-4C6F-BFCA-FAFCCF6D9EE1}"/>
              </a:ext>
            </a:extLst>
          </p:cNvPr>
          <p:cNvSpPr txBox="1"/>
          <p:nvPr/>
        </p:nvSpPr>
        <p:spPr>
          <a:xfrm>
            <a:off x="7559607" y="682631"/>
            <a:ext cx="2518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Approaches</a:t>
            </a:r>
            <a:endParaRPr kumimoji="0" lang="es-CO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48" name="Grupo 47">
            <a:extLst>
              <a:ext uri="{FF2B5EF4-FFF2-40B4-BE49-F238E27FC236}">
                <a16:creationId xmlns:a16="http://schemas.microsoft.com/office/drawing/2014/main" id="{7AFFF907-45EB-4064-821B-F71C185C30AB}"/>
              </a:ext>
            </a:extLst>
          </p:cNvPr>
          <p:cNvGrpSpPr/>
          <p:nvPr/>
        </p:nvGrpSpPr>
        <p:grpSpPr>
          <a:xfrm>
            <a:off x="5793590" y="5112311"/>
            <a:ext cx="5840362" cy="1259600"/>
            <a:chOff x="1199535" y="3544077"/>
            <a:chExt cx="5840362" cy="1259600"/>
          </a:xfrm>
        </p:grpSpPr>
        <p:sp>
          <p:nvSpPr>
            <p:cNvPr id="49" name="Rectángulo: esquinas redondeadas 48">
              <a:extLst>
                <a:ext uri="{FF2B5EF4-FFF2-40B4-BE49-F238E27FC236}">
                  <a16:creationId xmlns:a16="http://schemas.microsoft.com/office/drawing/2014/main" id="{2ABE370B-4518-4A71-A045-EB6275B66B4E}"/>
                </a:ext>
              </a:extLst>
            </p:cNvPr>
            <p:cNvSpPr/>
            <p:nvPr/>
          </p:nvSpPr>
          <p:spPr>
            <a:xfrm>
              <a:off x="1199535" y="3544077"/>
              <a:ext cx="5840362" cy="1259600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51" name="CuadroTexto 50">
              <a:extLst>
                <a:ext uri="{FF2B5EF4-FFF2-40B4-BE49-F238E27FC236}">
                  <a16:creationId xmlns:a16="http://schemas.microsoft.com/office/drawing/2014/main" id="{47B726C7-F0AB-4298-BF43-920C0E8A7992}"/>
                </a:ext>
              </a:extLst>
            </p:cNvPr>
            <p:cNvSpPr txBox="1"/>
            <p:nvPr/>
          </p:nvSpPr>
          <p:spPr>
            <a:xfrm>
              <a:off x="2162340" y="3685995"/>
              <a:ext cx="156615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Random Forest</a:t>
              </a:r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8D197AED-1B8B-47A8-8EA3-D8EB5DFD971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12" y="3871685"/>
              <a:ext cx="435280" cy="35294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3</a:t>
              </a:r>
              <a:endPara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sp>
        <p:nvSpPr>
          <p:cNvPr id="70" name="CuadroTexto 69">
            <a:extLst>
              <a:ext uri="{FF2B5EF4-FFF2-40B4-BE49-F238E27FC236}">
                <a16:creationId xmlns:a16="http://schemas.microsoft.com/office/drawing/2014/main" id="{3FA87053-840A-419C-BAF5-E6D2BE065FA5}"/>
              </a:ext>
            </a:extLst>
          </p:cNvPr>
          <p:cNvSpPr txBox="1"/>
          <p:nvPr/>
        </p:nvSpPr>
        <p:spPr>
          <a:xfrm>
            <a:off x="8259841" y="5205323"/>
            <a:ext cx="34563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>
                <a:solidFill>
                  <a:srgbClr val="242121"/>
                </a:solidFill>
                <a:latin typeface="Source Sans Pro" panose="020B0503030403020204" pitchFamily="34" charset="0"/>
                <a:sym typeface="Roboto"/>
              </a:rPr>
              <a:t>Robust to noise, less sensitive to hyperparameters, offers rough uncertainty estimates via tree variance.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AC66ABD6-A672-4BBA-8F3C-94FA2EFBE708}"/>
              </a:ext>
            </a:extLst>
          </p:cNvPr>
          <p:cNvSpPr txBox="1"/>
          <p:nvPr/>
        </p:nvSpPr>
        <p:spPr>
          <a:xfrm>
            <a:off x="5787897" y="2831656"/>
            <a:ext cx="30089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lang="en-US" sz="2000" b="1">
                <a:solidFill>
                  <a:srgbClr val="B278E6"/>
                </a:solidFill>
                <a:latin typeface="Source Sans Pro"/>
                <a:ea typeface="Source Sans Pro"/>
              </a:rPr>
              <a:t>Surrogates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1B3CFDB6-FA6A-4B4B-921B-C57713D37A27}"/>
              </a:ext>
            </a:extLst>
          </p:cNvPr>
          <p:cNvSpPr txBox="1"/>
          <p:nvPr/>
        </p:nvSpPr>
        <p:spPr>
          <a:xfrm>
            <a:off x="5871026" y="1217997"/>
            <a:ext cx="30089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lang="en-US" sz="2000" b="1">
                <a:solidFill>
                  <a:srgbClr val="B278E6"/>
                </a:solidFill>
                <a:latin typeface="Source Sans Pro"/>
                <a:ea typeface="Source Sans Pro"/>
              </a:rPr>
              <a:t>Model based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55C148-91F6-C7C0-7A00-2EE9544C1DBF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6E0A3D3-4845-0ACF-5B70-9FB30ED070EE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6">
            <a:extLst>
              <a:ext uri="{FF2B5EF4-FFF2-40B4-BE49-F238E27FC236}">
                <a16:creationId xmlns:a16="http://schemas.microsoft.com/office/drawing/2014/main" id="{08AFF2A6-E2E8-E10F-6B75-55FA2EDA5825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65009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ángulo: esquinas redondeadas 1">
            <a:extLst>
              <a:ext uri="{FF2B5EF4-FFF2-40B4-BE49-F238E27FC236}">
                <a16:creationId xmlns:a16="http://schemas.microsoft.com/office/drawing/2014/main" id="{E594AD02-C611-5909-BD24-B2F1D93586B2}"/>
              </a:ext>
            </a:extLst>
          </p:cNvPr>
          <p:cNvSpPr/>
          <p:nvPr/>
        </p:nvSpPr>
        <p:spPr>
          <a:xfrm>
            <a:off x="5694218" y="1204781"/>
            <a:ext cx="6042772" cy="1561307"/>
          </a:xfrm>
          <a:prstGeom prst="roundRect">
            <a:avLst>
              <a:gd name="adj" fmla="val 16667"/>
            </a:avLst>
          </a:prstGeom>
          <a:solidFill>
            <a:srgbClr val="B278E6">
              <a:alpha val="15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C644DE9-F951-EC84-8405-EEC276C95C58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CF02F1B-1395-C0C5-4E45-0D5F1C585212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ángulo redondeado 6">
            <a:extLst>
              <a:ext uri="{FF2B5EF4-FFF2-40B4-BE49-F238E27FC236}">
                <a16:creationId xmlns:a16="http://schemas.microsoft.com/office/drawing/2014/main" id="{37720DB9-97FF-3A8A-2702-A022B2F6D3FE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1A10221-B65B-247D-B4F6-3165BE6BADEC}"/>
              </a:ext>
            </a:extLst>
          </p:cNvPr>
          <p:cNvGrpSpPr/>
          <p:nvPr/>
        </p:nvGrpSpPr>
        <p:grpSpPr>
          <a:xfrm>
            <a:off x="5804634" y="1611218"/>
            <a:ext cx="5840362" cy="1034930"/>
            <a:chOff x="1199535" y="1601675"/>
            <a:chExt cx="5840362" cy="1034930"/>
          </a:xfrm>
        </p:grpSpPr>
        <p:sp>
          <p:nvSpPr>
            <p:cNvPr id="14" name="Rectángulo: esquinas redondeadas 41">
              <a:extLst>
                <a:ext uri="{FF2B5EF4-FFF2-40B4-BE49-F238E27FC236}">
                  <a16:creationId xmlns:a16="http://schemas.microsoft.com/office/drawing/2014/main" id="{22B49965-0119-14D0-4634-71AA5009CDFD}"/>
                </a:ext>
              </a:extLst>
            </p:cNvPr>
            <p:cNvSpPr/>
            <p:nvPr/>
          </p:nvSpPr>
          <p:spPr>
            <a:xfrm>
              <a:off x="1199535" y="1601675"/>
              <a:ext cx="5840362" cy="1034930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459C2D8-E149-067C-D4E5-FD60E4CEEABA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12" y="1959205"/>
              <a:ext cx="435280" cy="36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1</a:t>
              </a:r>
              <a:endPara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01D1B573-136D-06B1-5B13-1BD6CB493981}"/>
                </a:ext>
              </a:extLst>
            </p:cNvPr>
            <p:cNvSpPr txBox="1"/>
            <p:nvPr/>
          </p:nvSpPr>
          <p:spPr>
            <a:xfrm>
              <a:off x="2381806" y="1908373"/>
              <a:ext cx="15661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AlphaPEM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DADEC5D1-02AF-7227-087C-BF84AB3CF6EA}"/>
                </a:ext>
              </a:extLst>
            </p:cNvPr>
            <p:cNvGrpSpPr/>
            <p:nvPr/>
          </p:nvGrpSpPr>
          <p:grpSpPr>
            <a:xfrm>
              <a:off x="4918206" y="1862357"/>
              <a:ext cx="1853634" cy="553696"/>
              <a:chOff x="1271050" y="1744316"/>
              <a:chExt cx="2161584" cy="553696"/>
            </a:xfrm>
          </p:grpSpPr>
          <p:sp>
            <p:nvSpPr>
              <p:cNvPr id="18" name="Rectángulo: esquinas redondeadas 30">
                <a:extLst>
                  <a:ext uri="{FF2B5EF4-FFF2-40B4-BE49-F238E27FC236}">
                    <a16:creationId xmlns:a16="http://schemas.microsoft.com/office/drawing/2014/main" id="{48B83E6C-71A7-35EC-6A5E-53DFF728B95B}"/>
                  </a:ext>
                </a:extLst>
              </p:cNvPr>
              <p:cNvSpPr/>
              <p:nvPr/>
            </p:nvSpPr>
            <p:spPr>
              <a:xfrm>
                <a:off x="1271050" y="1744316"/>
                <a:ext cx="2161584" cy="553696"/>
              </a:xfrm>
              <a:prstGeom prst="roundRect">
                <a:avLst/>
              </a:prstGeom>
              <a:solidFill>
                <a:srgbClr val="BBE5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D7A11E9E-15E3-2EE2-6293-2056B516A9F5}"/>
                  </a:ext>
                </a:extLst>
              </p:cNvPr>
              <p:cNvSpPr txBox="1"/>
              <p:nvPr/>
            </p:nvSpPr>
            <p:spPr>
              <a:xfrm>
                <a:off x="1411606" y="1833404"/>
                <a:ext cx="18804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rPr>
                  <a:t>Sobol</a:t>
                </a:r>
                <a:r>
                  <a:rPr kumimoji="0" lang="es-ES_tradnl" sz="20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 </a:t>
                </a:r>
                <a:r>
                  <a:rPr kumimoji="0" lang="es-ES" sz="20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Indices</a:t>
                </a:r>
                <a:endParaRPr kumimoji="0" lang="es-ES_tradnl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endParaRPr>
              </a:p>
            </p:txBody>
          </p:sp>
        </p:grpSp>
      </p:grpSp>
      <p:sp>
        <p:nvSpPr>
          <p:cNvPr id="60" name="Rectángulo: esquinas redondeadas 58">
            <a:extLst>
              <a:ext uri="{FF2B5EF4-FFF2-40B4-BE49-F238E27FC236}">
                <a16:creationId xmlns:a16="http://schemas.microsoft.com/office/drawing/2014/main" id="{21A99469-8637-16A0-10FE-28BF5952B478}"/>
              </a:ext>
            </a:extLst>
          </p:cNvPr>
          <p:cNvSpPr/>
          <p:nvPr/>
        </p:nvSpPr>
        <p:spPr>
          <a:xfrm>
            <a:off x="1126159" y="910043"/>
            <a:ext cx="4253235" cy="37209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244F8982-C296-E516-2B64-8FE9E419487D}"/>
              </a:ext>
            </a:extLst>
          </p:cNvPr>
          <p:cNvSpPr txBox="1"/>
          <p:nvPr/>
        </p:nvSpPr>
        <p:spPr>
          <a:xfrm>
            <a:off x="1443703" y="1639352"/>
            <a:ext cx="3831471" cy="892552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b="1">
                <a:solidFill>
                  <a:prstClr val="black"/>
                </a:solidFill>
                <a:highlight>
                  <a:srgbClr val="BBE555"/>
                </a:highlight>
                <a:latin typeface="Source Sans Pro"/>
                <a:ea typeface="Source Sans Pro"/>
              </a:rPr>
              <a:t> 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"/>
                <a:ea typeface="Source Sans Pro"/>
              </a:rPr>
              <a:t> </a:t>
            </a:r>
            <a:r>
              <a:rPr kumimoji="0" lang="es-ES_tradnl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"/>
                <a:ea typeface="Source Sans Pro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Sobol</a:t>
            </a:r>
            <a:r>
              <a:rPr kumimoji="0" lang="es-ES_tradnl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 Light"/>
                <a:ea typeface="Source Sans Pro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s-ES" sz="1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 Light"/>
                <a:ea typeface="Source Sans Pro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Indices</a:t>
            </a:r>
            <a:r>
              <a:rPr kumimoji="0" lang="es-ES_tradnl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 Light"/>
                <a:ea typeface="Source Sans Pro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quantify how much of the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 variance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due to</a:t>
            </a:r>
            <a:r>
              <a:rPr lang="en-US" sz="1600">
                <a:solidFill>
                  <a:prstClr val="black"/>
                </a:solidFill>
                <a:latin typeface="Aptos" panose="02110004020202020204"/>
              </a:rPr>
              <a:t> 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input (individually and via interactions).</a:t>
            </a:r>
            <a:endParaRPr lang="es-ES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67" name="CuadroTexto 66">
            <a:extLst>
              <a:ext uri="{FF2B5EF4-FFF2-40B4-BE49-F238E27FC236}">
                <a16:creationId xmlns:a16="http://schemas.microsoft.com/office/drawing/2014/main" id="{47BAB937-71C4-F159-427D-B2E1FC04C129}"/>
              </a:ext>
            </a:extLst>
          </p:cNvPr>
          <p:cNvSpPr txBox="1"/>
          <p:nvPr/>
        </p:nvSpPr>
        <p:spPr>
          <a:xfrm>
            <a:off x="1448249" y="3540062"/>
            <a:ext cx="3605759" cy="830997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>
            <a:spAutoFit/>
          </a:bodyPr>
          <a:lstStyle>
            <a:defPPr>
              <a:defRPr lang="es-CO"/>
            </a:defPPr>
            <a:lvl1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 b="1">
                <a:solidFill>
                  <a:srgbClr val="8879F5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879F5"/>
                </a:highlight>
                <a:uLnTx/>
                <a:uFillTx/>
                <a:latin typeface="Aptos" panose="0211000402020202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SHAP values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explain how much each feature contributes to a model’s prediction.</a:t>
            </a:r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CE24853F-20F9-DB45-934B-F54F8D1C07F9}"/>
              </a:ext>
            </a:extLst>
          </p:cNvPr>
          <p:cNvSpPr txBox="1"/>
          <p:nvPr/>
        </p:nvSpPr>
        <p:spPr>
          <a:xfrm>
            <a:off x="2113730" y="1035516"/>
            <a:ext cx="2518663" cy="61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SA </a:t>
            </a:r>
            <a:r>
              <a:rPr kumimoji="0" lang="es-E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methods</a:t>
            </a:r>
            <a:endParaRPr kumimoji="0" lang="es-CO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01DDA1E7-25F6-E8BB-8F1F-5A8AE43AED83}"/>
              </a:ext>
            </a:extLst>
          </p:cNvPr>
          <p:cNvGrpSpPr/>
          <p:nvPr/>
        </p:nvGrpSpPr>
        <p:grpSpPr>
          <a:xfrm>
            <a:off x="1140073" y="4770361"/>
            <a:ext cx="4239322" cy="1583473"/>
            <a:chOff x="1074675" y="4468549"/>
            <a:chExt cx="4239322" cy="1583473"/>
          </a:xfrm>
        </p:grpSpPr>
        <p:sp>
          <p:nvSpPr>
            <p:cNvPr id="71" name="Forma libre 19">
              <a:extLst>
                <a:ext uri="{FF2B5EF4-FFF2-40B4-BE49-F238E27FC236}">
                  <a16:creationId xmlns:a16="http://schemas.microsoft.com/office/drawing/2014/main" id="{BFE7A54A-F0A6-62DD-8773-733399EB397A}"/>
                </a:ext>
              </a:extLst>
            </p:cNvPr>
            <p:cNvSpPr/>
            <p:nvPr/>
          </p:nvSpPr>
          <p:spPr>
            <a:xfrm>
              <a:off x="1074675" y="4468549"/>
              <a:ext cx="4114799" cy="1583473"/>
            </a:xfrm>
            <a:custGeom>
              <a:avLst/>
              <a:gdLst>
                <a:gd name="connsiteX0" fmla="*/ 263917 w 4114799"/>
                <a:gd name="connsiteY0" fmla="*/ 0 h 1583473"/>
                <a:gd name="connsiteX1" fmla="*/ 3850882 w 4114799"/>
                <a:gd name="connsiteY1" fmla="*/ 0 h 1583473"/>
                <a:gd name="connsiteX2" fmla="*/ 4114799 w 4114799"/>
                <a:gd name="connsiteY2" fmla="*/ 263917 h 1583473"/>
                <a:gd name="connsiteX3" fmla="*/ 4114799 w 4114799"/>
                <a:gd name="connsiteY3" fmla="*/ 900635 h 1583473"/>
                <a:gd name="connsiteX4" fmla="*/ 4075871 w 4114799"/>
                <a:gd name="connsiteY4" fmla="*/ 888551 h 1583473"/>
                <a:gd name="connsiteX5" fmla="*/ 3996550 w 4114799"/>
                <a:gd name="connsiteY5" fmla="*/ 880555 h 1583473"/>
                <a:gd name="connsiteX6" fmla="*/ 3602966 w 4114799"/>
                <a:gd name="connsiteY6" fmla="*/ 1274139 h 1583473"/>
                <a:gd name="connsiteX7" fmla="*/ 3718244 w 4114799"/>
                <a:gd name="connsiteY7" fmla="*/ 1552445 h 1583473"/>
                <a:gd name="connsiteX8" fmla="*/ 3755851 w 4114799"/>
                <a:gd name="connsiteY8" fmla="*/ 1583473 h 1583473"/>
                <a:gd name="connsiteX9" fmla="*/ 263917 w 4114799"/>
                <a:gd name="connsiteY9" fmla="*/ 1583473 h 1583473"/>
                <a:gd name="connsiteX10" fmla="*/ 0 w 4114799"/>
                <a:gd name="connsiteY10" fmla="*/ 1319556 h 1583473"/>
                <a:gd name="connsiteX11" fmla="*/ 0 w 4114799"/>
                <a:gd name="connsiteY11" fmla="*/ 263917 h 1583473"/>
                <a:gd name="connsiteX12" fmla="*/ 263917 w 4114799"/>
                <a:gd name="connsiteY12" fmla="*/ 0 h 158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14799" h="1583473">
                  <a:moveTo>
                    <a:pt x="263917" y="0"/>
                  </a:moveTo>
                  <a:lnTo>
                    <a:pt x="3850882" y="0"/>
                  </a:lnTo>
                  <a:cubicBezTo>
                    <a:pt x="3996639" y="0"/>
                    <a:pt x="4114799" y="118160"/>
                    <a:pt x="4114799" y="263917"/>
                  </a:cubicBezTo>
                  <a:lnTo>
                    <a:pt x="4114799" y="900635"/>
                  </a:lnTo>
                  <a:lnTo>
                    <a:pt x="4075871" y="888551"/>
                  </a:lnTo>
                  <a:cubicBezTo>
                    <a:pt x="4050249" y="883308"/>
                    <a:pt x="4023721" y="880555"/>
                    <a:pt x="3996550" y="880555"/>
                  </a:cubicBezTo>
                  <a:cubicBezTo>
                    <a:pt x="3779180" y="880555"/>
                    <a:pt x="3602966" y="1056769"/>
                    <a:pt x="3602966" y="1274139"/>
                  </a:cubicBezTo>
                  <a:cubicBezTo>
                    <a:pt x="3602966" y="1382824"/>
                    <a:pt x="3647019" y="1481220"/>
                    <a:pt x="3718244" y="1552445"/>
                  </a:cubicBezTo>
                  <a:lnTo>
                    <a:pt x="3755851" y="1583473"/>
                  </a:lnTo>
                  <a:lnTo>
                    <a:pt x="263917" y="1583473"/>
                  </a:lnTo>
                  <a:cubicBezTo>
                    <a:pt x="118160" y="1583473"/>
                    <a:pt x="0" y="1465313"/>
                    <a:pt x="0" y="1319556"/>
                  </a:cubicBezTo>
                  <a:lnTo>
                    <a:pt x="0" y="263917"/>
                  </a:lnTo>
                  <a:cubicBezTo>
                    <a:pt x="0" y="118160"/>
                    <a:pt x="118160" y="0"/>
                    <a:pt x="263917" y="0"/>
                  </a:cubicBezTo>
                  <a:close/>
                </a:path>
              </a:pathLst>
            </a:custGeom>
            <a:solidFill>
              <a:srgbClr val="FFB9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2" name="CuadroTexto 71">
              <a:extLst>
                <a:ext uri="{FF2B5EF4-FFF2-40B4-BE49-F238E27FC236}">
                  <a16:creationId xmlns:a16="http://schemas.microsoft.com/office/drawing/2014/main" id="{C15F0A16-2585-D34D-2635-910F727F07EA}"/>
                </a:ext>
              </a:extLst>
            </p:cNvPr>
            <p:cNvSpPr txBox="1"/>
            <p:nvPr/>
          </p:nvSpPr>
          <p:spPr>
            <a:xfrm>
              <a:off x="1364937" y="4965295"/>
              <a:ext cx="332085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It generates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quasi-random sequences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that are uniformly distributed sample points in high-dimensional spaces.</a:t>
              </a:r>
              <a:endPara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3" name="CuadroTexto 72">
              <a:extLst>
                <a:ext uri="{FF2B5EF4-FFF2-40B4-BE49-F238E27FC236}">
                  <a16:creationId xmlns:a16="http://schemas.microsoft.com/office/drawing/2014/main" id="{4BDF5621-A120-7414-A291-D6D6F057DDF6}"/>
                </a:ext>
              </a:extLst>
            </p:cNvPr>
            <p:cNvSpPr txBox="1"/>
            <p:nvPr/>
          </p:nvSpPr>
          <p:spPr>
            <a:xfrm>
              <a:off x="1364937" y="4595963"/>
              <a:ext cx="3924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rPr>
                <a:t>Sample strategy </a:t>
              </a: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Sobol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sequences</a:t>
              </a:r>
              <a:endPara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pic>
          <p:nvPicPr>
            <p:cNvPr id="74" name="Imagen 73">
              <a:extLst>
                <a:ext uri="{FF2B5EF4-FFF2-40B4-BE49-F238E27FC236}">
                  <a16:creationId xmlns:a16="http://schemas.microsoft.com/office/drawing/2014/main" id="{6F0EC0B6-17D7-548E-297C-8042FBC2F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06152" y="5473906"/>
              <a:ext cx="507845" cy="507845"/>
            </a:xfrm>
            <a:prstGeom prst="rect">
              <a:avLst/>
            </a:prstGeom>
          </p:spPr>
        </p:pic>
      </p:grpSp>
      <p:sp>
        <p:nvSpPr>
          <p:cNvPr id="77" name="CuadroTexto 76">
            <a:extLst>
              <a:ext uri="{FF2B5EF4-FFF2-40B4-BE49-F238E27FC236}">
                <a16:creationId xmlns:a16="http://schemas.microsoft.com/office/drawing/2014/main" id="{C7946E4F-5805-2B62-DA29-9DB71A92B2A1}"/>
              </a:ext>
            </a:extLst>
          </p:cNvPr>
          <p:cNvSpPr txBox="1"/>
          <p:nvPr/>
        </p:nvSpPr>
        <p:spPr>
          <a:xfrm>
            <a:off x="7559607" y="682631"/>
            <a:ext cx="2518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Approaches</a:t>
            </a:r>
            <a:endParaRPr kumimoji="0" lang="es-CO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20" name="Grupo 19">
            <a:extLst>
              <a:ext uri="{FF2B5EF4-FFF2-40B4-BE49-F238E27FC236}">
                <a16:creationId xmlns:a16="http://schemas.microsoft.com/office/drawing/2014/main" id="{BC567587-1F7C-B9FD-C15F-D5A20283BD41}"/>
              </a:ext>
            </a:extLst>
          </p:cNvPr>
          <p:cNvGrpSpPr/>
          <p:nvPr/>
        </p:nvGrpSpPr>
        <p:grpSpPr>
          <a:xfrm>
            <a:off x="5793590" y="3255123"/>
            <a:ext cx="5840362" cy="1712247"/>
            <a:chOff x="1199535" y="3544077"/>
            <a:chExt cx="5840362" cy="1712247"/>
          </a:xfrm>
        </p:grpSpPr>
        <p:sp>
          <p:nvSpPr>
            <p:cNvPr id="21" name="Rectángulo: esquinas redondeadas 42">
              <a:extLst>
                <a:ext uri="{FF2B5EF4-FFF2-40B4-BE49-F238E27FC236}">
                  <a16:creationId xmlns:a16="http://schemas.microsoft.com/office/drawing/2014/main" id="{33FEC832-20A9-9EBC-F954-BE0237B2F7F1}"/>
                </a:ext>
              </a:extLst>
            </p:cNvPr>
            <p:cNvSpPr/>
            <p:nvPr/>
          </p:nvSpPr>
          <p:spPr>
            <a:xfrm>
              <a:off x="1199535" y="3544077"/>
              <a:ext cx="5840362" cy="1712247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4838447C-0B3E-DFF9-3EC1-C6AE5D7A86AC}"/>
                </a:ext>
              </a:extLst>
            </p:cNvPr>
            <p:cNvSpPr txBox="1"/>
            <p:nvPr/>
          </p:nvSpPr>
          <p:spPr>
            <a:xfrm>
              <a:off x="2099633" y="4202890"/>
              <a:ext cx="275575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242121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High accuracy, efficient with large datasets, handles complex interactions well</a:t>
              </a:r>
              <a:r>
                <a: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srgbClr val="242121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.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1D3C5A0A-F10B-EDE8-96EE-52A1F5CEEACA}"/>
                </a:ext>
              </a:extLst>
            </p:cNvPr>
            <p:cNvSpPr txBox="1"/>
            <p:nvPr/>
          </p:nvSpPr>
          <p:spPr>
            <a:xfrm>
              <a:off x="2099633" y="3757848"/>
              <a:ext cx="15661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XGBoost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grpSp>
          <p:nvGrpSpPr>
            <p:cNvPr id="24" name="Grupo 23">
              <a:extLst>
                <a:ext uri="{FF2B5EF4-FFF2-40B4-BE49-F238E27FC236}">
                  <a16:creationId xmlns:a16="http://schemas.microsoft.com/office/drawing/2014/main" id="{18B9B3F0-19B1-62FA-F18E-320FA9849A4F}"/>
                </a:ext>
              </a:extLst>
            </p:cNvPr>
            <p:cNvGrpSpPr/>
            <p:nvPr/>
          </p:nvGrpSpPr>
          <p:grpSpPr>
            <a:xfrm>
              <a:off x="5020725" y="4480191"/>
              <a:ext cx="1854000" cy="553696"/>
              <a:chOff x="1279206" y="1851687"/>
              <a:chExt cx="2161584" cy="553696"/>
            </a:xfrm>
          </p:grpSpPr>
          <p:sp>
            <p:nvSpPr>
              <p:cNvPr id="29" name="Rectángulo: esquinas redondeadas 33">
                <a:extLst>
                  <a:ext uri="{FF2B5EF4-FFF2-40B4-BE49-F238E27FC236}">
                    <a16:creationId xmlns:a16="http://schemas.microsoft.com/office/drawing/2014/main" id="{BEA46633-AC78-7725-335E-66CB8D2F9BEE}"/>
                  </a:ext>
                </a:extLst>
              </p:cNvPr>
              <p:cNvSpPr/>
              <p:nvPr/>
            </p:nvSpPr>
            <p:spPr>
              <a:xfrm>
                <a:off x="1279206" y="1851687"/>
                <a:ext cx="2161584" cy="553696"/>
              </a:xfrm>
              <a:prstGeom prst="roundRect">
                <a:avLst/>
              </a:prstGeom>
              <a:solidFill>
                <a:srgbClr val="8879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1DDA1289-B07F-910C-C70B-5A7A11B7BAE5}"/>
                  </a:ext>
                </a:extLst>
              </p:cNvPr>
              <p:cNvSpPr txBox="1"/>
              <p:nvPr/>
            </p:nvSpPr>
            <p:spPr>
              <a:xfrm>
                <a:off x="1411606" y="1898720"/>
                <a:ext cx="188047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rPr>
                  <a:t>SHAP </a:t>
                </a:r>
                <a:r>
                  <a:rPr kumimoji="0" lang="es-ES" sz="20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Values</a:t>
                </a:r>
                <a:endParaRPr kumimoji="0" lang="es-ES_tradnl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endParaRPr>
              </a:p>
            </p:txBody>
          </p:sp>
        </p:grpSp>
        <p:grpSp>
          <p:nvGrpSpPr>
            <p:cNvPr id="25" name="Grupo 24">
              <a:extLst>
                <a:ext uri="{FF2B5EF4-FFF2-40B4-BE49-F238E27FC236}">
                  <a16:creationId xmlns:a16="http://schemas.microsoft.com/office/drawing/2014/main" id="{4162EEA0-48BE-64BD-7B4E-C361AD8FC024}"/>
                </a:ext>
              </a:extLst>
            </p:cNvPr>
            <p:cNvGrpSpPr/>
            <p:nvPr/>
          </p:nvGrpSpPr>
          <p:grpSpPr>
            <a:xfrm>
              <a:off x="4995134" y="3808407"/>
              <a:ext cx="1853634" cy="553696"/>
              <a:chOff x="1271050" y="1809632"/>
              <a:chExt cx="2161584" cy="553696"/>
            </a:xfrm>
          </p:grpSpPr>
          <p:sp>
            <p:nvSpPr>
              <p:cNvPr id="27" name="Rectángulo: esquinas redondeadas 36">
                <a:extLst>
                  <a:ext uri="{FF2B5EF4-FFF2-40B4-BE49-F238E27FC236}">
                    <a16:creationId xmlns:a16="http://schemas.microsoft.com/office/drawing/2014/main" id="{DA727F0C-9982-8F3A-A53D-F1E9D0942DC5}"/>
                  </a:ext>
                </a:extLst>
              </p:cNvPr>
              <p:cNvSpPr/>
              <p:nvPr/>
            </p:nvSpPr>
            <p:spPr>
              <a:xfrm>
                <a:off x="1271050" y="1809632"/>
                <a:ext cx="2161584" cy="553696"/>
              </a:xfrm>
              <a:prstGeom prst="roundRect">
                <a:avLst/>
              </a:prstGeom>
              <a:solidFill>
                <a:srgbClr val="BBE5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D4826A55-E7F6-2118-DD71-6105381A6E14}"/>
                  </a:ext>
                </a:extLst>
              </p:cNvPr>
              <p:cNvSpPr txBox="1"/>
              <p:nvPr/>
            </p:nvSpPr>
            <p:spPr>
              <a:xfrm>
                <a:off x="1411606" y="1898720"/>
                <a:ext cx="188047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rPr>
                  <a:t>Sobol</a:t>
                </a:r>
                <a:r>
                  <a:rPr kumimoji="0" lang="es-ES_tradnl" sz="20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 </a:t>
                </a:r>
                <a:r>
                  <a:rPr kumimoji="0" lang="es-ES" sz="20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Indices</a:t>
                </a:r>
                <a:endParaRPr kumimoji="0" lang="es-ES_tradnl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endParaRPr>
              </a:p>
            </p:txBody>
          </p:sp>
        </p:grpSp>
        <p:sp>
          <p:nvSpPr>
            <p:cNvPr id="26" name="Rectángulo 25">
              <a:extLst>
                <a:ext uri="{FF2B5EF4-FFF2-40B4-BE49-F238E27FC236}">
                  <a16:creationId xmlns:a16="http://schemas.microsoft.com/office/drawing/2014/main" id="{A245DA30-0677-1A9B-086B-63B3FD8C173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12" y="4202890"/>
              <a:ext cx="435280" cy="35294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2</a:t>
              </a:r>
              <a:endPara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901CE096-43E9-C842-1E46-384414625BD8}"/>
              </a:ext>
            </a:extLst>
          </p:cNvPr>
          <p:cNvGrpSpPr/>
          <p:nvPr/>
        </p:nvGrpSpPr>
        <p:grpSpPr>
          <a:xfrm>
            <a:off x="5793590" y="5112311"/>
            <a:ext cx="5840362" cy="1259600"/>
            <a:chOff x="1199535" y="3544077"/>
            <a:chExt cx="5840362" cy="1259600"/>
          </a:xfrm>
        </p:grpSpPr>
        <p:sp>
          <p:nvSpPr>
            <p:cNvPr id="79" name="Rectángulo: esquinas redondeadas 48">
              <a:extLst>
                <a:ext uri="{FF2B5EF4-FFF2-40B4-BE49-F238E27FC236}">
                  <a16:creationId xmlns:a16="http://schemas.microsoft.com/office/drawing/2014/main" id="{26CEF1B1-CE56-EE95-4DF2-520FA7208D52}"/>
                </a:ext>
              </a:extLst>
            </p:cNvPr>
            <p:cNvSpPr/>
            <p:nvPr/>
          </p:nvSpPr>
          <p:spPr>
            <a:xfrm>
              <a:off x="1199535" y="3544077"/>
              <a:ext cx="5840362" cy="1259600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7EF9E1B0-8818-27F9-DEB7-F9CF1A7705AB}"/>
                </a:ext>
              </a:extLst>
            </p:cNvPr>
            <p:cNvSpPr txBox="1"/>
            <p:nvPr/>
          </p:nvSpPr>
          <p:spPr>
            <a:xfrm>
              <a:off x="2162340" y="3685995"/>
              <a:ext cx="156615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Random Forest</a:t>
              </a:r>
            </a:p>
          </p:txBody>
        </p:sp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9343123C-7407-4013-1A33-ECED274706B8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12" y="3871685"/>
              <a:ext cx="435280" cy="35294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3</a:t>
              </a:r>
              <a:endPara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sp>
        <p:nvSpPr>
          <p:cNvPr id="82" name="CuadroTexto 81">
            <a:extLst>
              <a:ext uri="{FF2B5EF4-FFF2-40B4-BE49-F238E27FC236}">
                <a16:creationId xmlns:a16="http://schemas.microsoft.com/office/drawing/2014/main" id="{E1E0E14C-1DD7-D1CA-1114-D0F59048D02B}"/>
              </a:ext>
            </a:extLst>
          </p:cNvPr>
          <p:cNvSpPr txBox="1"/>
          <p:nvPr/>
        </p:nvSpPr>
        <p:spPr>
          <a:xfrm>
            <a:off x="8259841" y="5205323"/>
            <a:ext cx="34563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>
                <a:solidFill>
                  <a:srgbClr val="242121"/>
                </a:solidFill>
                <a:latin typeface="Source Sans Pro" panose="020B0503030403020204" pitchFamily="34" charset="0"/>
                <a:sym typeface="Roboto"/>
              </a:rPr>
              <a:t>Robust to noise, less sensitive to hyperparameters, offers rough uncertainty estimates via tree variance.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0944554D-060F-DA93-D4C3-9E7AE345B3EB}"/>
              </a:ext>
            </a:extLst>
          </p:cNvPr>
          <p:cNvSpPr txBox="1"/>
          <p:nvPr/>
        </p:nvSpPr>
        <p:spPr>
          <a:xfrm>
            <a:off x="5787897" y="2831656"/>
            <a:ext cx="30089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lang="en-US" sz="2000" b="1">
                <a:solidFill>
                  <a:srgbClr val="B278E6"/>
                </a:solidFill>
                <a:latin typeface="Source Sans Pro"/>
                <a:ea typeface="Source Sans Pro"/>
              </a:rPr>
              <a:t>Surrogates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A0C82142-5FD8-7627-72A7-DD8B13FED540}"/>
              </a:ext>
            </a:extLst>
          </p:cNvPr>
          <p:cNvSpPr txBox="1"/>
          <p:nvPr/>
        </p:nvSpPr>
        <p:spPr>
          <a:xfrm>
            <a:off x="5871026" y="1217997"/>
            <a:ext cx="30089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lang="en-US" sz="2000" b="1">
                <a:solidFill>
                  <a:srgbClr val="B278E6"/>
                </a:solidFill>
                <a:latin typeface="Source Sans Pro"/>
                <a:ea typeface="Source Sans Pro"/>
              </a:rPr>
              <a:t>Model based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DCB9168A-7BCA-4F9E-A8DF-173CA0CAFDE0}"/>
              </a:ext>
            </a:extLst>
          </p:cNvPr>
          <p:cNvSpPr txBox="1"/>
          <p:nvPr/>
        </p:nvSpPr>
        <p:spPr>
          <a:xfrm>
            <a:off x="1443703" y="2471593"/>
            <a:ext cx="37479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prstClr val="black"/>
                </a:solidFill>
                <a:latin typeface="Aptos" panose="02110004020202020204"/>
              </a:rPr>
              <a:t>In the implementation we consider first order indices (S1) and second order interaction indices (S2)</a:t>
            </a:r>
            <a:endParaRPr lang="es-CO" sz="1600" dirty="0">
              <a:solidFill>
                <a:prstClr val="black"/>
              </a:solidFill>
              <a:latin typeface="Aptos" panose="0211000402020202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5CD73F71-2510-4560-AA80-609283375785}"/>
                  </a:ext>
                </a:extLst>
              </p:cNvPr>
              <p:cNvSpPr txBox="1"/>
              <p:nvPr/>
            </p:nvSpPr>
            <p:spPr>
              <a:xfrm>
                <a:off x="2727823" y="3222673"/>
                <a:ext cx="126323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2 ∈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s-CO" sz="1600" dirty="0"/>
              </a:p>
            </p:txBody>
          </p:sp>
        </mc:Choice>
        <mc:Fallback xmlns="">
          <p:sp>
            <p:nvSpPr>
              <p:cNvPr id="45" name="CuadroTexto 44">
                <a:extLst>
                  <a:ext uri="{FF2B5EF4-FFF2-40B4-BE49-F238E27FC236}">
                    <a16:creationId xmlns:a16="http://schemas.microsoft.com/office/drawing/2014/main" id="{5CD73F71-2510-4560-AA80-6092833757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823" y="3222673"/>
                <a:ext cx="1263230" cy="246221"/>
              </a:xfrm>
              <a:prstGeom prst="rect">
                <a:avLst/>
              </a:prstGeom>
              <a:blipFill>
                <a:blip r:embed="rId7"/>
                <a:stretch>
                  <a:fillRect l="-3365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582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BF73D-9CEB-E328-B4C3-49AA09EC15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A079B4-784F-DF9C-ACFE-757772E1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5628442-2D3C-5553-30B2-F778EFAD10F9}"/>
              </a:ext>
            </a:extLst>
          </p:cNvPr>
          <p:cNvSpPr txBox="1"/>
          <p:nvPr/>
        </p:nvSpPr>
        <p:spPr>
          <a:xfrm>
            <a:off x="1491069" y="752758"/>
            <a:ext cx="58668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Sobol</a:t>
            </a:r>
          </a:p>
          <a:p>
            <a:pPr>
              <a:defRPr/>
            </a:pPr>
            <a:r>
              <a:rPr lang="en-US" sz="32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S1-based Feature Ranking</a:t>
            </a:r>
            <a:endParaRPr lang="es-CO" sz="3200"/>
          </a:p>
        </p:txBody>
      </p:sp>
      <p:sp>
        <p:nvSpPr>
          <p:cNvPr id="35" name="Google Shape;453;g36edeb4292e_1_43">
            <a:extLst>
              <a:ext uri="{FF2B5EF4-FFF2-40B4-BE49-F238E27FC236}">
                <a16:creationId xmlns:a16="http://schemas.microsoft.com/office/drawing/2014/main" id="{DEED38A3-546E-26F5-91CA-2FA0A08D400F}"/>
              </a:ext>
            </a:extLst>
          </p:cNvPr>
          <p:cNvSpPr/>
          <p:nvPr/>
        </p:nvSpPr>
        <p:spPr>
          <a:xfrm>
            <a:off x="2192877" y="2182784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BE5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Activation</a:t>
            </a:r>
            <a:endParaRPr sz="16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36" name="Google Shape;453;g36edeb4292e_1_43">
            <a:extLst>
              <a:ext uri="{FF2B5EF4-FFF2-40B4-BE49-F238E27FC236}">
                <a16:creationId xmlns:a16="http://schemas.microsoft.com/office/drawing/2014/main" id="{8276D40C-5FC2-7B57-C391-AD9FB545CCE8}"/>
              </a:ext>
            </a:extLst>
          </p:cNvPr>
          <p:cNvSpPr/>
          <p:nvPr/>
        </p:nvSpPr>
        <p:spPr>
          <a:xfrm>
            <a:off x="5809023" y="2182784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27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Ohmic</a:t>
            </a:r>
            <a:endParaRPr sz="1600" b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37" name="Google Shape;453;g36edeb4292e_1_43">
            <a:extLst>
              <a:ext uri="{FF2B5EF4-FFF2-40B4-BE49-F238E27FC236}">
                <a16:creationId xmlns:a16="http://schemas.microsoft.com/office/drawing/2014/main" id="{31B109B6-A1CD-5B4C-4360-9CC3534DDC10}"/>
              </a:ext>
            </a:extLst>
          </p:cNvPr>
          <p:cNvSpPr/>
          <p:nvPr/>
        </p:nvSpPr>
        <p:spPr>
          <a:xfrm>
            <a:off x="9208174" y="2200452"/>
            <a:ext cx="1865870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Mass Transport</a:t>
            </a:r>
            <a:endParaRPr sz="1600" b="1"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29FD836-F55B-4398-C8BE-A78762BCE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53" y="2526313"/>
            <a:ext cx="3600000" cy="23796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6F112FB-1A6F-0D5E-9600-89072BBC89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498" y="2526312"/>
            <a:ext cx="3600000" cy="23796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B33D551-F668-B6C9-5AFF-26ED946F98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2043" y="2555343"/>
            <a:ext cx="3600000" cy="2383701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87423A5D-4CB9-AD2E-6121-4FE1A95AB3CD}"/>
              </a:ext>
            </a:extLst>
          </p:cNvPr>
          <p:cNvSpPr txBox="1"/>
          <p:nvPr/>
        </p:nvSpPr>
        <p:spPr>
          <a:xfrm>
            <a:off x="1139253" y="4939044"/>
            <a:ext cx="401960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a typeface="Source Sans Pro" panose="020B0503030403020204" pitchFamily="34" charset="0"/>
              </a:rPr>
              <a:t>Figure 7:</a:t>
            </a:r>
            <a:r>
              <a:rPr lang="en-US" sz="1200" dirty="0">
                <a:ea typeface="Source Sans Pro" panose="020B0503030403020204" pitchFamily="34" charset="0"/>
              </a:rPr>
              <a:t> First-order </a:t>
            </a:r>
            <a:r>
              <a:rPr lang="en-US" sz="1200" dirty="0" err="1">
                <a:ea typeface="Source Sans Pro" panose="020B0503030403020204" pitchFamily="34" charset="0"/>
              </a:rPr>
              <a:t>Sobol</a:t>
            </a:r>
            <a:r>
              <a:rPr lang="en-US" sz="1200" dirty="0">
                <a:ea typeface="Source Sans Pro" panose="020B0503030403020204" pitchFamily="34" charset="0"/>
              </a:rPr>
              <a:t> (S1) sensitivity indices for the </a:t>
            </a:r>
            <a:r>
              <a:rPr lang="en-US" sz="1200" dirty="0" err="1">
                <a:ea typeface="Source Sans Pro" panose="020B0503030403020204" pitchFamily="34" charset="0"/>
              </a:rPr>
              <a:t>AlphaPEM</a:t>
            </a:r>
            <a:r>
              <a:rPr lang="en-US" sz="1200" dirty="0">
                <a:ea typeface="Source Sans Pro" panose="020B0503030403020204" pitchFamily="34" charset="0"/>
              </a:rPr>
              <a:t> model, grouped by current density region. Bars show the S1 value for each parameter, with black error bars indicating 95% confidence intervals. Rankings reflect the relative influence of each parameter.</a:t>
            </a:r>
            <a:endParaRPr lang="en" sz="1200" dirty="0">
              <a:ea typeface="Source Sans Pro" panose="020B0503030403020204" pitchFamily="34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71C0461-F5A6-C17F-CB43-A5E5D44AFF19}"/>
              </a:ext>
            </a:extLst>
          </p:cNvPr>
          <p:cNvGrpSpPr/>
          <p:nvPr/>
        </p:nvGrpSpPr>
        <p:grpSpPr>
          <a:xfrm>
            <a:off x="8112043" y="1017715"/>
            <a:ext cx="4239456" cy="584774"/>
            <a:chOff x="8161511" y="1082238"/>
            <a:chExt cx="4239456" cy="584774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7F88FE36-D39B-0D76-CBA0-D48831B989A5}"/>
                </a:ext>
              </a:extLst>
            </p:cNvPr>
            <p:cNvSpPr/>
            <p:nvPr/>
          </p:nvSpPr>
          <p:spPr>
            <a:xfrm>
              <a:off x="8161511" y="1082238"/>
              <a:ext cx="4137999" cy="584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7154B80D-A7CF-B711-A029-771EDADB6CF8}"/>
                </a:ext>
              </a:extLst>
            </p:cNvPr>
            <p:cNvSpPr txBox="1"/>
            <p:nvPr/>
          </p:nvSpPr>
          <p:spPr>
            <a:xfrm>
              <a:off x="8262969" y="1113015"/>
              <a:ext cx="413799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For the </a:t>
              </a: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Sobol’s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 implementation: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 = </a:t>
              </a:r>
              <a:r>
                <a:rPr lang="es-CO" sz="1400" b="1">
                  <a:solidFill>
                    <a:prstClr val="black"/>
                  </a:solidFill>
                  <a:latin typeface="Aptos" panose="02110004020202020204"/>
                </a:rPr>
                <a:t>1024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(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sample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size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) → </a:t>
              </a:r>
              <a:r>
                <a:rPr lang="es-CO" sz="1400" b="1">
                  <a:solidFill>
                    <a:prstClr val="black"/>
                  </a:solidFill>
                  <a:latin typeface="Aptos" panose="02110004020202020204"/>
                </a:rPr>
                <a:t>28644</a:t>
              </a:r>
              <a:r>
                <a:rPr kumimoji="0" lang="es-CO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configurations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1" name="Google Shape;429;g36edeb4292e_0_25">
            <a:extLst>
              <a:ext uri="{FF2B5EF4-FFF2-40B4-BE49-F238E27FC236}">
                <a16:creationId xmlns:a16="http://schemas.microsoft.com/office/drawing/2014/main" id="{B8D6B482-A188-1340-A9D9-9CCC4126F92D}"/>
              </a:ext>
            </a:extLst>
          </p:cNvPr>
          <p:cNvSpPr/>
          <p:nvPr/>
        </p:nvSpPr>
        <p:spPr>
          <a:xfrm>
            <a:off x="8128155" y="1724516"/>
            <a:ext cx="4137999" cy="301773"/>
          </a:xfrm>
          <a:prstGeom prst="roundRect">
            <a:avLst>
              <a:gd name="adj" fmla="val 0"/>
            </a:avLst>
          </a:prstGeom>
          <a:solidFill>
            <a:srgbClr val="BCE654">
              <a:alpha val="390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" sz="12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*Confidence </a:t>
            </a: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 is based on </a:t>
            </a:r>
            <a:r>
              <a:rPr lang="en" sz="1200">
                <a:solidFill>
                  <a:srgbClr val="0E2841"/>
                </a:solidFill>
                <a:latin typeface="Nunito"/>
                <a:ea typeface="Nunito"/>
                <a:cs typeface="Nunito"/>
                <a:sym typeface="Nunito"/>
              </a:rPr>
              <a:t>bootstrapping</a:t>
            </a: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 resampling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graphicFrame>
        <p:nvGraphicFramePr>
          <p:cNvPr id="26" name="Tabla 25">
            <a:extLst>
              <a:ext uri="{FF2B5EF4-FFF2-40B4-BE49-F238E27FC236}">
                <a16:creationId xmlns:a16="http://schemas.microsoft.com/office/drawing/2014/main" id="{BE2EED50-670C-DB85-6760-320AF354AD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4260581"/>
              </p:ext>
            </p:extLst>
          </p:nvPr>
        </p:nvGraphicFramePr>
        <p:xfrm>
          <a:off x="6714250" y="5225348"/>
          <a:ext cx="4922255" cy="729359"/>
        </p:xfrm>
        <a:graphic>
          <a:graphicData uri="http://schemas.openxmlformats.org/drawingml/2006/table">
            <a:tbl>
              <a:tblPr/>
              <a:tblGrid>
                <a:gridCol w="1869308">
                  <a:extLst>
                    <a:ext uri="{9D8B030D-6E8A-4147-A177-3AD203B41FA5}">
                      <a16:colId xmlns:a16="http://schemas.microsoft.com/office/drawing/2014/main" val="2920986877"/>
                    </a:ext>
                  </a:extLst>
                </a:gridCol>
                <a:gridCol w="980620">
                  <a:extLst>
                    <a:ext uri="{9D8B030D-6E8A-4147-A177-3AD203B41FA5}">
                      <a16:colId xmlns:a16="http://schemas.microsoft.com/office/drawing/2014/main" val="1192067750"/>
                    </a:ext>
                  </a:extLst>
                </a:gridCol>
                <a:gridCol w="723974">
                  <a:extLst>
                    <a:ext uri="{9D8B030D-6E8A-4147-A177-3AD203B41FA5}">
                      <a16:colId xmlns:a16="http://schemas.microsoft.com/office/drawing/2014/main" val="938558123"/>
                    </a:ext>
                  </a:extLst>
                </a:gridCol>
                <a:gridCol w="1348353">
                  <a:extLst>
                    <a:ext uri="{9D8B030D-6E8A-4147-A177-3AD203B41FA5}">
                      <a16:colId xmlns:a16="http://schemas.microsoft.com/office/drawing/2014/main" val="851715588"/>
                    </a:ext>
                  </a:extLst>
                </a:gridCol>
              </a:tblGrid>
              <a:tr h="25543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Metric</a:t>
                      </a:r>
                    </a:p>
                  </a:txBody>
                  <a:tcPr marL="9525" marR="9525" marT="952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Activation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Ohmic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Mass Transport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021140"/>
                  </a:ext>
                </a:extLst>
              </a:tr>
              <a:tr h="20465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S1 (only significant)</a:t>
                      </a:r>
                    </a:p>
                  </a:txBody>
                  <a:tcPr marL="9525" marR="9525" marT="952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0.970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>
                        <a:alpha val="3012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0.932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>
                        <a:alpha val="3012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0.879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>
                        <a:alpha val="3012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376706"/>
                  </a:ext>
                </a:extLst>
              </a:tr>
              <a:tr h="2510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S2  (only significant)</a:t>
                      </a:r>
                    </a:p>
                  </a:txBody>
                  <a:tcPr marL="9525" marR="9525" marT="9525" marB="0" anchor="ctr">
                    <a:lnL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0.000</a:t>
                      </a:r>
                    </a:p>
                  </a:txBody>
                  <a:tcPr marL="9525" marR="9525" marT="9525" marB="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8B2E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57304"/>
                  </a:ext>
                </a:extLst>
              </a:tr>
            </a:tbl>
          </a:graphicData>
        </a:graphic>
      </p:graphicFrame>
      <p:sp>
        <p:nvSpPr>
          <p:cNvPr id="28" name="CuadroTexto 27">
            <a:extLst>
              <a:ext uri="{FF2B5EF4-FFF2-40B4-BE49-F238E27FC236}">
                <a16:creationId xmlns:a16="http://schemas.microsoft.com/office/drawing/2014/main" id="{3EC626E2-A973-B367-A01F-BDDB08C23D6F}"/>
              </a:ext>
            </a:extLst>
          </p:cNvPr>
          <p:cNvSpPr txBox="1"/>
          <p:nvPr/>
        </p:nvSpPr>
        <p:spPr>
          <a:xfrm>
            <a:off x="6594460" y="5987778"/>
            <a:ext cx="52437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Table 3: </a:t>
            </a:r>
            <a:r>
              <a:rPr lang="en-US" sz="1200"/>
              <a:t>Sum of significant (CI does not contain 0) Sobol indices per region. Main effects account for nearly all the explained variance.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C745204-E8C5-92E9-A9B6-3C717955F02F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458434-116D-5F9F-7AB4-0113C924DE55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6">
            <a:extLst>
              <a:ext uri="{FF2B5EF4-FFF2-40B4-BE49-F238E27FC236}">
                <a16:creationId xmlns:a16="http://schemas.microsoft.com/office/drawing/2014/main" id="{D13DDB65-A29D-F015-8780-B75D674DA2C6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2751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60406B-F7A3-4D66-061A-9E5E733BE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4F83862-4314-DF04-3685-4F4683689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1C802C3-27D3-3E78-4083-A6D6864B14D8}"/>
              </a:ext>
            </a:extLst>
          </p:cNvPr>
          <p:cNvSpPr txBox="1"/>
          <p:nvPr/>
        </p:nvSpPr>
        <p:spPr>
          <a:xfrm>
            <a:off x="893442" y="5714339"/>
            <a:ext cx="50296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a typeface="Source Sans Pro" panose="020B0503030403020204" pitchFamily="34" charset="0"/>
              </a:rPr>
              <a:t>Figure 8:</a:t>
            </a:r>
            <a:r>
              <a:rPr lang="en-US" sz="1200" dirty="0">
                <a:ea typeface="Source Sans Pro" panose="020B0503030403020204" pitchFamily="34" charset="0"/>
              </a:rPr>
              <a:t> Rankings of the top 13 input parameters by total </a:t>
            </a:r>
            <a:r>
              <a:rPr lang="en-US" sz="1200" dirty="0" err="1">
                <a:ea typeface="Source Sans Pro" panose="020B0503030403020204" pitchFamily="34" charset="0"/>
              </a:rPr>
              <a:t>Sobol</a:t>
            </a:r>
            <a:r>
              <a:rPr lang="en-US" sz="1200" dirty="0">
                <a:ea typeface="Source Sans Pro" panose="020B0503030403020204" pitchFamily="34" charset="0"/>
              </a:rPr>
              <a:t> indices (ST) across current density regions. Rank 1 = most important. Lines show how parameter influence shifts between regions, highlighting stable drivers (e.g. i0_c_ref) and region-specific effects (e.g. Re).</a:t>
            </a:r>
            <a:endParaRPr lang="en" sz="1200" dirty="0">
              <a:ea typeface="Source Sans Pro" panose="020B0503030403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6C34B0D-507E-971A-2FC5-C96D6B48B766}"/>
              </a:ext>
            </a:extLst>
          </p:cNvPr>
          <p:cNvSpPr txBox="1"/>
          <p:nvPr/>
        </p:nvSpPr>
        <p:spPr>
          <a:xfrm>
            <a:off x="7544542" y="4621732"/>
            <a:ext cx="424380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/>
              <a:t>Table 4.</a:t>
            </a:r>
            <a:r>
              <a:rPr lang="en-US" sz="1200"/>
              <a:t> Rankings of features selected in each region based on first-order Sobol indices (S1). Features were included if their main effects cumulatively explained at least 85% of the variance in a region. Each entry shows the feature's ranking using S1 (1 = most important).</a:t>
            </a:r>
            <a:endParaRPr lang="en" sz="1200"/>
          </a:p>
        </p:txBody>
      </p:sp>
      <p:graphicFrame>
        <p:nvGraphicFramePr>
          <p:cNvPr id="24" name="Tabla 23">
            <a:extLst>
              <a:ext uri="{FF2B5EF4-FFF2-40B4-BE49-F238E27FC236}">
                <a16:creationId xmlns:a16="http://schemas.microsoft.com/office/drawing/2014/main" id="{CED1176D-C873-B097-603A-DC9CA4D13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3818436"/>
              </p:ext>
            </p:extLst>
          </p:nvPr>
        </p:nvGraphicFramePr>
        <p:xfrm>
          <a:off x="7544542" y="2130478"/>
          <a:ext cx="4243803" cy="2471667"/>
        </p:xfrm>
        <a:graphic>
          <a:graphicData uri="http://schemas.openxmlformats.org/drawingml/2006/table">
            <a:tbl>
              <a:tblPr/>
              <a:tblGrid>
                <a:gridCol w="1415616">
                  <a:extLst>
                    <a:ext uri="{9D8B030D-6E8A-4147-A177-3AD203B41FA5}">
                      <a16:colId xmlns:a16="http://schemas.microsoft.com/office/drawing/2014/main" val="2485832478"/>
                    </a:ext>
                  </a:extLst>
                </a:gridCol>
                <a:gridCol w="937655">
                  <a:extLst>
                    <a:ext uri="{9D8B030D-6E8A-4147-A177-3AD203B41FA5}">
                      <a16:colId xmlns:a16="http://schemas.microsoft.com/office/drawing/2014/main" val="2478417120"/>
                    </a:ext>
                  </a:extLst>
                </a:gridCol>
                <a:gridCol w="831103">
                  <a:extLst>
                    <a:ext uri="{9D8B030D-6E8A-4147-A177-3AD203B41FA5}">
                      <a16:colId xmlns:a16="http://schemas.microsoft.com/office/drawing/2014/main" val="3643692214"/>
                    </a:ext>
                  </a:extLst>
                </a:gridCol>
                <a:gridCol w="1059429">
                  <a:extLst>
                    <a:ext uri="{9D8B030D-6E8A-4147-A177-3AD203B41FA5}">
                      <a16:colId xmlns:a16="http://schemas.microsoft.com/office/drawing/2014/main" val="498230700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Feature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Activation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55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Ohmic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Mass transport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3437471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i0_c_ref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1013006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kappa_c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054893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Tfc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4622957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Pa_des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3609309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808790"/>
                  </a:ext>
                </a:extLst>
              </a:tr>
              <a:tr h="24765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tau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8505597"/>
                  </a:ext>
                </a:extLst>
              </a:tr>
              <a:tr h="2381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epsilon_mc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3399673"/>
                  </a:ext>
                </a:extLst>
              </a:tr>
              <a:tr h="261867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Accumulated S1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0.864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0.854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0.875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907200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994AA24A-541B-389F-9C93-FC2AD29E172A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131D9D5-83D7-8BFD-7644-0C1F87CF77FD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6">
            <a:extLst>
              <a:ext uri="{FF2B5EF4-FFF2-40B4-BE49-F238E27FC236}">
                <a16:creationId xmlns:a16="http://schemas.microsoft.com/office/drawing/2014/main" id="{1A9A8E15-690F-F8B4-0A94-E9C06E59B07B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4F1874-791C-D05F-B083-25603FF6A2A6}"/>
              </a:ext>
            </a:extLst>
          </p:cNvPr>
          <p:cNvSpPr txBox="1"/>
          <p:nvPr/>
        </p:nvSpPr>
        <p:spPr>
          <a:xfrm>
            <a:off x="1491069" y="752758"/>
            <a:ext cx="909959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Sobol</a:t>
            </a:r>
          </a:p>
          <a:p>
            <a:pPr>
              <a:defRPr/>
            </a:pPr>
            <a:r>
              <a:rPr lang="en-US" sz="32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Total Sobol (S1) Index–based Feature Importance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4696C1C-7E97-49A6-9953-AE955AAF4D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9600" y="1987200"/>
            <a:ext cx="6239178" cy="37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6734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FF782-1910-4D83-239F-23AA271F2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6D4596D-5A37-664D-F8F6-890DC26D8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9" name="Google Shape;453;g36edeb4292e_1_43">
            <a:extLst>
              <a:ext uri="{FF2B5EF4-FFF2-40B4-BE49-F238E27FC236}">
                <a16:creationId xmlns:a16="http://schemas.microsoft.com/office/drawing/2014/main" id="{574953B1-4E7E-ABB4-91C4-D33AA67F0CBD}"/>
              </a:ext>
            </a:extLst>
          </p:cNvPr>
          <p:cNvSpPr/>
          <p:nvPr/>
        </p:nvSpPr>
        <p:spPr>
          <a:xfrm>
            <a:off x="8871331" y="1168601"/>
            <a:ext cx="1818635" cy="307777"/>
          </a:xfrm>
          <a:prstGeom prst="roundRect">
            <a:avLst>
              <a:gd name="adj" fmla="val 50000"/>
            </a:avLst>
          </a:prstGeom>
          <a:solidFill>
            <a:srgbClr val="BBE5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Activation</a:t>
            </a:r>
            <a:endParaRPr sz="20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D11F28A-0739-9140-10AA-66196DFC442D}"/>
              </a:ext>
            </a:extLst>
          </p:cNvPr>
          <p:cNvSpPr txBox="1"/>
          <p:nvPr/>
        </p:nvSpPr>
        <p:spPr>
          <a:xfrm>
            <a:off x="1491069" y="752758"/>
            <a:ext cx="460493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Sobol</a:t>
            </a:r>
          </a:p>
          <a:p>
            <a:pPr>
              <a:defRPr/>
            </a:pPr>
            <a:r>
              <a:rPr lang="en-US" sz="32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ST Index convergence (1)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D69670B-F3A5-3B1C-CF25-1A13A8F5E2A6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1702837-4280-AFCA-657F-51350CDB6E99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9913D72C-1F66-625D-B587-30AE0E97E55B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016F223D-7209-4DB8-84DB-322CFF6DBE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148400" y="1954800"/>
            <a:ext cx="7401258" cy="440640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2EE42B26-9C64-E0B5-9DD2-B53E2939582F}"/>
              </a:ext>
            </a:extLst>
          </p:cNvPr>
          <p:cNvSpPr txBox="1"/>
          <p:nvPr/>
        </p:nvSpPr>
        <p:spPr>
          <a:xfrm>
            <a:off x="7699960" y="4899575"/>
            <a:ext cx="4161376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ea typeface="Source Sans Pro" panose="020B0503030403020204" pitchFamily="34" charset="0"/>
              </a:rPr>
              <a:t>Figure 9:</a:t>
            </a:r>
            <a:r>
              <a:rPr lang="en-US" sz="1400">
                <a:ea typeface="Source Sans Pro" panose="020B0503030403020204" pitchFamily="34" charset="0"/>
              </a:rPr>
              <a:t> Total Sobol indices (ST) for the </a:t>
            </a:r>
            <a:r>
              <a:rPr lang="en-US" sz="1400" b="1">
                <a:solidFill>
                  <a:srgbClr val="B278E6"/>
                </a:solidFill>
                <a:ea typeface="Source Sans Pro" panose="020B0503030403020204" pitchFamily="34" charset="0"/>
              </a:rPr>
              <a:t>Activation </a:t>
            </a:r>
            <a:r>
              <a:rPr lang="en-US" sz="1400">
                <a:ea typeface="Source Sans Pro" panose="020B0503030403020204" pitchFamily="34" charset="0"/>
              </a:rPr>
              <a:t>region as a function of Sobol base sample size N. Each curve shows how the ST estimate stabilizes as more configurations are used (up to N=1024, corresponding to 28,644 total evaluations). </a:t>
            </a:r>
            <a:endParaRPr lang="en" sz="1400"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9623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3" name="Rectángulo: esquinas redondeadas 1">
            <a:extLst>
              <a:ext uri="{FF2B5EF4-FFF2-40B4-BE49-F238E27FC236}">
                <a16:creationId xmlns:a16="http://schemas.microsoft.com/office/drawing/2014/main" id="{D7EBB4FD-4687-9B70-5352-373E0DACF4D2}"/>
              </a:ext>
            </a:extLst>
          </p:cNvPr>
          <p:cNvSpPr/>
          <p:nvPr/>
        </p:nvSpPr>
        <p:spPr>
          <a:xfrm>
            <a:off x="5694218" y="2745861"/>
            <a:ext cx="6042772" cy="3720909"/>
          </a:xfrm>
          <a:prstGeom prst="roundRect">
            <a:avLst>
              <a:gd name="adj" fmla="val 9698"/>
            </a:avLst>
          </a:prstGeom>
          <a:solidFill>
            <a:srgbClr val="B278E6">
              <a:alpha val="15000"/>
            </a:srgb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9F70894-1584-E506-243B-D3BE1536C32A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EBFE35D-4865-9524-131E-F558028356C9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1C87B06D-0E1A-06E3-84FD-B04326629D85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  <p:grpSp>
        <p:nvGrpSpPr>
          <p:cNvPr id="13" name="Grupo 12">
            <a:extLst>
              <a:ext uri="{FF2B5EF4-FFF2-40B4-BE49-F238E27FC236}">
                <a16:creationId xmlns:a16="http://schemas.microsoft.com/office/drawing/2014/main" id="{744FBD3E-8324-7FAD-4222-39CCB28145F4}"/>
              </a:ext>
            </a:extLst>
          </p:cNvPr>
          <p:cNvGrpSpPr/>
          <p:nvPr/>
        </p:nvGrpSpPr>
        <p:grpSpPr>
          <a:xfrm>
            <a:off x="5804634" y="1611218"/>
            <a:ext cx="5840362" cy="1034930"/>
            <a:chOff x="1199535" y="1601675"/>
            <a:chExt cx="5840362" cy="1034930"/>
          </a:xfrm>
        </p:grpSpPr>
        <p:sp>
          <p:nvSpPr>
            <p:cNvPr id="14" name="Rectángulo: esquinas redondeadas 41">
              <a:extLst>
                <a:ext uri="{FF2B5EF4-FFF2-40B4-BE49-F238E27FC236}">
                  <a16:creationId xmlns:a16="http://schemas.microsoft.com/office/drawing/2014/main" id="{A9AFC766-FC7F-3366-724D-BBBF974ABB21}"/>
                </a:ext>
              </a:extLst>
            </p:cNvPr>
            <p:cNvSpPr/>
            <p:nvPr/>
          </p:nvSpPr>
          <p:spPr>
            <a:xfrm>
              <a:off x="1199535" y="1601675"/>
              <a:ext cx="5840362" cy="1034930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D67BCA09-6139-9D7E-0717-BB55DEEE1F62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12" y="1959205"/>
              <a:ext cx="435280" cy="36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1</a:t>
              </a:r>
              <a:endPara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71D0CD09-94AF-E5BB-7218-3DC795FB0A28}"/>
                </a:ext>
              </a:extLst>
            </p:cNvPr>
            <p:cNvSpPr txBox="1"/>
            <p:nvPr/>
          </p:nvSpPr>
          <p:spPr>
            <a:xfrm>
              <a:off x="2381806" y="1908373"/>
              <a:ext cx="15661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AlphaPEM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grpSp>
          <p:nvGrpSpPr>
            <p:cNvPr id="17" name="Grupo 16">
              <a:extLst>
                <a:ext uri="{FF2B5EF4-FFF2-40B4-BE49-F238E27FC236}">
                  <a16:creationId xmlns:a16="http://schemas.microsoft.com/office/drawing/2014/main" id="{7541CBCC-8CFD-CC50-C854-9CE09F9C9A2C}"/>
                </a:ext>
              </a:extLst>
            </p:cNvPr>
            <p:cNvGrpSpPr/>
            <p:nvPr/>
          </p:nvGrpSpPr>
          <p:grpSpPr>
            <a:xfrm>
              <a:off x="4918206" y="1862357"/>
              <a:ext cx="1853634" cy="553696"/>
              <a:chOff x="1271050" y="1744316"/>
              <a:chExt cx="2161584" cy="553696"/>
            </a:xfrm>
          </p:grpSpPr>
          <p:sp>
            <p:nvSpPr>
              <p:cNvPr id="18" name="Rectángulo: esquinas redondeadas 30">
                <a:extLst>
                  <a:ext uri="{FF2B5EF4-FFF2-40B4-BE49-F238E27FC236}">
                    <a16:creationId xmlns:a16="http://schemas.microsoft.com/office/drawing/2014/main" id="{4BEDB7F5-676D-F65E-74FC-A2EBD126690E}"/>
                  </a:ext>
                </a:extLst>
              </p:cNvPr>
              <p:cNvSpPr/>
              <p:nvPr/>
            </p:nvSpPr>
            <p:spPr>
              <a:xfrm>
                <a:off x="1271050" y="1744316"/>
                <a:ext cx="2161584" cy="553696"/>
              </a:xfrm>
              <a:prstGeom prst="roundRect">
                <a:avLst/>
              </a:prstGeom>
              <a:solidFill>
                <a:srgbClr val="BBE5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9" name="CuadroTexto 18">
                <a:extLst>
                  <a:ext uri="{FF2B5EF4-FFF2-40B4-BE49-F238E27FC236}">
                    <a16:creationId xmlns:a16="http://schemas.microsoft.com/office/drawing/2014/main" id="{1675E3BC-171A-BD54-C8C9-66B5464914C8}"/>
                  </a:ext>
                </a:extLst>
              </p:cNvPr>
              <p:cNvSpPr txBox="1"/>
              <p:nvPr/>
            </p:nvSpPr>
            <p:spPr>
              <a:xfrm>
                <a:off x="1411606" y="1833404"/>
                <a:ext cx="18804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rPr>
                  <a:t>Sobol</a:t>
                </a:r>
                <a:r>
                  <a:rPr kumimoji="0" lang="es-ES_tradnl" sz="20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 </a:t>
                </a:r>
                <a:r>
                  <a:rPr kumimoji="0" lang="es-ES" sz="20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Indices</a:t>
                </a:r>
                <a:endParaRPr kumimoji="0" lang="es-ES_tradnl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endParaRPr>
              </a:p>
            </p:txBody>
          </p:sp>
        </p:grpSp>
      </p:grpSp>
      <p:sp>
        <p:nvSpPr>
          <p:cNvPr id="20" name="Rectángulo: esquinas redondeadas 58">
            <a:extLst>
              <a:ext uri="{FF2B5EF4-FFF2-40B4-BE49-F238E27FC236}">
                <a16:creationId xmlns:a16="http://schemas.microsoft.com/office/drawing/2014/main" id="{E3233644-19FA-D648-B467-D130F3F57DFB}"/>
              </a:ext>
            </a:extLst>
          </p:cNvPr>
          <p:cNvSpPr/>
          <p:nvPr/>
        </p:nvSpPr>
        <p:spPr>
          <a:xfrm>
            <a:off x="1126159" y="910043"/>
            <a:ext cx="4253235" cy="3720909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97C5A6DC-1835-7F16-D35D-E81DB3E1E004}"/>
              </a:ext>
            </a:extLst>
          </p:cNvPr>
          <p:cNvSpPr txBox="1"/>
          <p:nvPr/>
        </p:nvSpPr>
        <p:spPr>
          <a:xfrm>
            <a:off x="1443703" y="1639352"/>
            <a:ext cx="3831471" cy="892552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 lIns="91440" tIns="45720" rIns="91440" bIns="45720" anchor="t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_tradnl" b="1">
                <a:solidFill>
                  <a:prstClr val="black"/>
                </a:solidFill>
                <a:highlight>
                  <a:srgbClr val="BBE555"/>
                </a:highlight>
                <a:latin typeface="Source Sans Pro"/>
                <a:ea typeface="Source Sans Pro"/>
              </a:rPr>
              <a:t> </a:t>
            </a:r>
            <a:r>
              <a: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"/>
                <a:ea typeface="Source Sans Pro"/>
              </a:rPr>
              <a:t> </a:t>
            </a:r>
            <a:r>
              <a:rPr kumimoji="0" lang="es-ES_tradnl" sz="1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"/>
                <a:ea typeface="Source Sans Pro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Sobol</a:t>
            </a:r>
            <a:r>
              <a:rPr kumimoji="0" lang="es-ES_tradnl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 Light"/>
                <a:ea typeface="Source Sans Pro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s-ES" sz="1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 Light"/>
                <a:ea typeface="Source Sans Pro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Indices</a:t>
            </a:r>
            <a:r>
              <a:rPr kumimoji="0" lang="es-ES_tradnl" sz="2000" b="1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BBE555"/>
                </a:highlight>
                <a:uLnTx/>
                <a:uFillTx/>
                <a:latin typeface="Source Sans Pro Light"/>
                <a:ea typeface="Source Sans Pro Light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hlinkClick r:id="" action="ppaction://noac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quantify how much of the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output variance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due to</a:t>
            </a:r>
            <a:r>
              <a:rPr lang="en-US" sz="1600">
                <a:solidFill>
                  <a:prstClr val="black"/>
                </a:solidFill>
                <a:latin typeface="Aptos" panose="02110004020202020204"/>
              </a:rPr>
              <a:t> 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each input (individually and via interactions).</a:t>
            </a:r>
            <a:endParaRPr lang="es-ES">
              <a:solidFill>
                <a:prstClr val="black"/>
              </a:solidFill>
              <a:ea typeface="+mn-ea"/>
              <a:cs typeface="+mn-cs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F5AF69D2-A90D-0B35-B7B2-0DA970AC7F22}"/>
              </a:ext>
            </a:extLst>
          </p:cNvPr>
          <p:cNvSpPr txBox="1"/>
          <p:nvPr/>
        </p:nvSpPr>
        <p:spPr>
          <a:xfrm>
            <a:off x="1448249" y="3540062"/>
            <a:ext cx="3605759" cy="830997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>
            <a:spAutoFit/>
          </a:bodyPr>
          <a:lstStyle>
            <a:defPPr>
              <a:defRPr lang="es-CO"/>
            </a:defPPr>
            <a:lvl1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ü"/>
              <a:defRPr sz="2000" b="1">
                <a:solidFill>
                  <a:srgbClr val="8879F5"/>
                </a:solidFill>
              </a:defRPr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highlight>
                  <a:srgbClr val="8879F5"/>
                </a:highlight>
                <a:uLnTx/>
                <a:uFillTx/>
                <a:latin typeface="Aptos" panose="0211000402020202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SHAP values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4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explain how much each feature contributes to a model’s prediction.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93C2304-0610-8A16-0D20-692D8F7F3268}"/>
              </a:ext>
            </a:extLst>
          </p:cNvPr>
          <p:cNvSpPr txBox="1"/>
          <p:nvPr/>
        </p:nvSpPr>
        <p:spPr>
          <a:xfrm>
            <a:off x="2113730" y="1035516"/>
            <a:ext cx="2518663" cy="619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SA </a:t>
            </a:r>
            <a:r>
              <a:rPr kumimoji="0" lang="es-E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methods</a:t>
            </a:r>
            <a:endParaRPr kumimoji="0" lang="es-CO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AE6DBACD-FD4A-4498-7806-A8066756E152}"/>
              </a:ext>
            </a:extLst>
          </p:cNvPr>
          <p:cNvGrpSpPr/>
          <p:nvPr/>
        </p:nvGrpSpPr>
        <p:grpSpPr>
          <a:xfrm>
            <a:off x="1140073" y="4770361"/>
            <a:ext cx="4239322" cy="1583473"/>
            <a:chOff x="1074675" y="4468549"/>
            <a:chExt cx="4239322" cy="1583473"/>
          </a:xfrm>
        </p:grpSpPr>
        <p:sp>
          <p:nvSpPr>
            <p:cNvPr id="25" name="Forma libre 19">
              <a:extLst>
                <a:ext uri="{FF2B5EF4-FFF2-40B4-BE49-F238E27FC236}">
                  <a16:creationId xmlns:a16="http://schemas.microsoft.com/office/drawing/2014/main" id="{D1F28225-4F11-C1D0-AF5F-F45986AEE636}"/>
                </a:ext>
              </a:extLst>
            </p:cNvPr>
            <p:cNvSpPr/>
            <p:nvPr/>
          </p:nvSpPr>
          <p:spPr>
            <a:xfrm>
              <a:off x="1074675" y="4468549"/>
              <a:ext cx="4114799" cy="1583473"/>
            </a:xfrm>
            <a:custGeom>
              <a:avLst/>
              <a:gdLst>
                <a:gd name="connsiteX0" fmla="*/ 263917 w 4114799"/>
                <a:gd name="connsiteY0" fmla="*/ 0 h 1583473"/>
                <a:gd name="connsiteX1" fmla="*/ 3850882 w 4114799"/>
                <a:gd name="connsiteY1" fmla="*/ 0 h 1583473"/>
                <a:gd name="connsiteX2" fmla="*/ 4114799 w 4114799"/>
                <a:gd name="connsiteY2" fmla="*/ 263917 h 1583473"/>
                <a:gd name="connsiteX3" fmla="*/ 4114799 w 4114799"/>
                <a:gd name="connsiteY3" fmla="*/ 900635 h 1583473"/>
                <a:gd name="connsiteX4" fmla="*/ 4075871 w 4114799"/>
                <a:gd name="connsiteY4" fmla="*/ 888551 h 1583473"/>
                <a:gd name="connsiteX5" fmla="*/ 3996550 w 4114799"/>
                <a:gd name="connsiteY5" fmla="*/ 880555 h 1583473"/>
                <a:gd name="connsiteX6" fmla="*/ 3602966 w 4114799"/>
                <a:gd name="connsiteY6" fmla="*/ 1274139 h 1583473"/>
                <a:gd name="connsiteX7" fmla="*/ 3718244 w 4114799"/>
                <a:gd name="connsiteY7" fmla="*/ 1552445 h 1583473"/>
                <a:gd name="connsiteX8" fmla="*/ 3755851 w 4114799"/>
                <a:gd name="connsiteY8" fmla="*/ 1583473 h 1583473"/>
                <a:gd name="connsiteX9" fmla="*/ 263917 w 4114799"/>
                <a:gd name="connsiteY9" fmla="*/ 1583473 h 1583473"/>
                <a:gd name="connsiteX10" fmla="*/ 0 w 4114799"/>
                <a:gd name="connsiteY10" fmla="*/ 1319556 h 1583473"/>
                <a:gd name="connsiteX11" fmla="*/ 0 w 4114799"/>
                <a:gd name="connsiteY11" fmla="*/ 263917 h 1583473"/>
                <a:gd name="connsiteX12" fmla="*/ 263917 w 4114799"/>
                <a:gd name="connsiteY12" fmla="*/ 0 h 158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14799" h="1583473">
                  <a:moveTo>
                    <a:pt x="263917" y="0"/>
                  </a:moveTo>
                  <a:lnTo>
                    <a:pt x="3850882" y="0"/>
                  </a:lnTo>
                  <a:cubicBezTo>
                    <a:pt x="3996639" y="0"/>
                    <a:pt x="4114799" y="118160"/>
                    <a:pt x="4114799" y="263917"/>
                  </a:cubicBezTo>
                  <a:lnTo>
                    <a:pt x="4114799" y="900635"/>
                  </a:lnTo>
                  <a:lnTo>
                    <a:pt x="4075871" y="888551"/>
                  </a:lnTo>
                  <a:cubicBezTo>
                    <a:pt x="4050249" y="883308"/>
                    <a:pt x="4023721" y="880555"/>
                    <a:pt x="3996550" y="880555"/>
                  </a:cubicBezTo>
                  <a:cubicBezTo>
                    <a:pt x="3779180" y="880555"/>
                    <a:pt x="3602966" y="1056769"/>
                    <a:pt x="3602966" y="1274139"/>
                  </a:cubicBezTo>
                  <a:cubicBezTo>
                    <a:pt x="3602966" y="1382824"/>
                    <a:pt x="3647019" y="1481220"/>
                    <a:pt x="3718244" y="1552445"/>
                  </a:cubicBezTo>
                  <a:lnTo>
                    <a:pt x="3755851" y="1583473"/>
                  </a:lnTo>
                  <a:lnTo>
                    <a:pt x="263917" y="1583473"/>
                  </a:lnTo>
                  <a:cubicBezTo>
                    <a:pt x="118160" y="1583473"/>
                    <a:pt x="0" y="1465313"/>
                    <a:pt x="0" y="1319556"/>
                  </a:cubicBezTo>
                  <a:lnTo>
                    <a:pt x="0" y="263917"/>
                  </a:lnTo>
                  <a:cubicBezTo>
                    <a:pt x="0" y="118160"/>
                    <a:pt x="118160" y="0"/>
                    <a:pt x="263917" y="0"/>
                  </a:cubicBezTo>
                  <a:close/>
                </a:path>
              </a:pathLst>
            </a:custGeom>
            <a:solidFill>
              <a:srgbClr val="FFB90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E0EBE987-2DAF-8FE9-EA83-77F3D72EFEF3}"/>
                </a:ext>
              </a:extLst>
            </p:cNvPr>
            <p:cNvSpPr txBox="1"/>
            <p:nvPr/>
          </p:nvSpPr>
          <p:spPr>
            <a:xfrm>
              <a:off x="1364937" y="4965295"/>
              <a:ext cx="332085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It generates </a:t>
              </a: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quasi-random sequences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that are uniformly distributed sample points in high-dimensional spaces.</a:t>
              </a:r>
              <a:endPara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507F80D9-C101-8F41-E3B6-D7A26A672B82}"/>
                </a:ext>
              </a:extLst>
            </p:cNvPr>
            <p:cNvSpPr txBox="1"/>
            <p:nvPr/>
          </p:nvSpPr>
          <p:spPr>
            <a:xfrm>
              <a:off x="1364937" y="4595963"/>
              <a:ext cx="3924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rPr>
                <a:t>Sample strategy </a:t>
              </a:r>
              <a:r>
                <a:rPr kumimoji="0" lang="en-US" sz="18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Sobol</a:t>
              </a:r>
              <a:r>
                <a: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  <a:hlinkClick r:id="rId5" action="ppaction://hlinksldjump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 sequences</a:t>
              </a:r>
              <a:endParaRPr kumimoji="0" lang="es-ES_tradnl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9EEAACAF-D82B-7E24-C689-7CF3343A27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06152" y="5473906"/>
              <a:ext cx="507845" cy="507845"/>
            </a:xfrm>
            <a:prstGeom prst="rect">
              <a:avLst/>
            </a:prstGeom>
          </p:spPr>
        </p:pic>
      </p:grpSp>
      <p:sp>
        <p:nvSpPr>
          <p:cNvPr id="29" name="CuadroTexto 28">
            <a:extLst>
              <a:ext uri="{FF2B5EF4-FFF2-40B4-BE49-F238E27FC236}">
                <a16:creationId xmlns:a16="http://schemas.microsoft.com/office/drawing/2014/main" id="{4DD3DD7D-E5A2-0691-6145-4A6A95A9D265}"/>
              </a:ext>
            </a:extLst>
          </p:cNvPr>
          <p:cNvSpPr txBox="1"/>
          <p:nvPr/>
        </p:nvSpPr>
        <p:spPr>
          <a:xfrm>
            <a:off x="1443703" y="2471593"/>
            <a:ext cx="37479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>
                <a:solidFill>
                  <a:prstClr val="black"/>
                </a:solidFill>
                <a:latin typeface="Aptos" panose="02110004020202020204"/>
              </a:rPr>
              <a:t>In the implementation we consider first order indices (S1) and interaction indices (S2)</a:t>
            </a:r>
            <a:endParaRPr lang="es-CO" sz="1600">
              <a:solidFill>
                <a:prstClr val="black"/>
              </a:solidFill>
              <a:latin typeface="Aptos" panose="02110004020202020204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EB363B3B-CDA9-DBE2-0287-6FF76498A675}"/>
                  </a:ext>
                </a:extLst>
              </p:cNvPr>
              <p:cNvSpPr txBox="1"/>
              <p:nvPr/>
            </p:nvSpPr>
            <p:spPr>
              <a:xfrm>
                <a:off x="2717671" y="3101026"/>
                <a:ext cx="1263230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1, 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s-ES" sz="1600" b="0" i="1" smtClean="0">
                          <a:latin typeface="Cambria Math" panose="02040503050406030204" pitchFamily="18" charset="0"/>
                        </a:rPr>
                        <m:t>2 ∈</m:t>
                      </m:r>
                      <m:d>
                        <m:dPr>
                          <m:begChr m:val="["/>
                          <m:endChr m:val="]"/>
                          <m:ctrlP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0,1</m:t>
                          </m:r>
                        </m:e>
                      </m:d>
                    </m:oMath>
                  </m:oMathPara>
                </a14:m>
                <a:endParaRPr lang="es-CO" sz="1600"/>
              </a:p>
            </p:txBody>
          </p:sp>
        </mc:Choice>
        <mc:Fallback xmlns="">
          <p:sp>
            <p:nvSpPr>
              <p:cNvPr id="57" name="CuadroTexto 56">
                <a:extLst>
                  <a:ext uri="{FF2B5EF4-FFF2-40B4-BE49-F238E27FC236}">
                    <a16:creationId xmlns:a16="http://schemas.microsoft.com/office/drawing/2014/main" id="{EB363B3B-CDA9-DBE2-0287-6FF76498A6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7671" y="3101026"/>
                <a:ext cx="1263230" cy="246221"/>
              </a:xfrm>
              <a:prstGeom prst="rect">
                <a:avLst/>
              </a:prstGeom>
              <a:blipFill>
                <a:blip r:embed="rId7"/>
                <a:stretch>
                  <a:fillRect l="-3865" b="-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CuadroTexto 59">
            <a:extLst>
              <a:ext uri="{FF2B5EF4-FFF2-40B4-BE49-F238E27FC236}">
                <a16:creationId xmlns:a16="http://schemas.microsoft.com/office/drawing/2014/main" id="{1DC2BD26-443E-05AD-609D-F0D3B58903A5}"/>
              </a:ext>
            </a:extLst>
          </p:cNvPr>
          <p:cNvSpPr txBox="1"/>
          <p:nvPr/>
        </p:nvSpPr>
        <p:spPr>
          <a:xfrm>
            <a:off x="7559607" y="682631"/>
            <a:ext cx="25186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Approaches</a:t>
            </a:r>
            <a:endParaRPr kumimoji="0" lang="es-CO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66" name="Grupo 65">
            <a:extLst>
              <a:ext uri="{FF2B5EF4-FFF2-40B4-BE49-F238E27FC236}">
                <a16:creationId xmlns:a16="http://schemas.microsoft.com/office/drawing/2014/main" id="{3459DFB9-9A3C-6D80-3B77-7C9B5DB74F29}"/>
              </a:ext>
            </a:extLst>
          </p:cNvPr>
          <p:cNvGrpSpPr/>
          <p:nvPr/>
        </p:nvGrpSpPr>
        <p:grpSpPr>
          <a:xfrm>
            <a:off x="5793590" y="3255123"/>
            <a:ext cx="5840362" cy="1712247"/>
            <a:chOff x="1199535" y="3544077"/>
            <a:chExt cx="5840362" cy="1712247"/>
          </a:xfrm>
        </p:grpSpPr>
        <p:sp>
          <p:nvSpPr>
            <p:cNvPr id="67" name="Rectángulo: esquinas redondeadas 42">
              <a:extLst>
                <a:ext uri="{FF2B5EF4-FFF2-40B4-BE49-F238E27FC236}">
                  <a16:creationId xmlns:a16="http://schemas.microsoft.com/office/drawing/2014/main" id="{37593E25-B9AD-12FE-40EB-F79076AE7FE8}"/>
                </a:ext>
              </a:extLst>
            </p:cNvPr>
            <p:cNvSpPr/>
            <p:nvPr/>
          </p:nvSpPr>
          <p:spPr>
            <a:xfrm>
              <a:off x="1199535" y="3544077"/>
              <a:ext cx="5840362" cy="1712247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68" name="CuadroTexto 67">
              <a:extLst>
                <a:ext uri="{FF2B5EF4-FFF2-40B4-BE49-F238E27FC236}">
                  <a16:creationId xmlns:a16="http://schemas.microsoft.com/office/drawing/2014/main" id="{F98CE28A-5007-9D46-106B-A1979FAE9F46}"/>
                </a:ext>
              </a:extLst>
            </p:cNvPr>
            <p:cNvSpPr txBox="1"/>
            <p:nvPr/>
          </p:nvSpPr>
          <p:spPr>
            <a:xfrm>
              <a:off x="2099633" y="4202890"/>
              <a:ext cx="2755759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242121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High accuracy, efficient with large datasets, handles complex interactions well</a:t>
              </a:r>
              <a:r>
                <a: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srgbClr val="242121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.</a:t>
              </a: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CuadroTexto 68">
              <a:extLst>
                <a:ext uri="{FF2B5EF4-FFF2-40B4-BE49-F238E27FC236}">
                  <a16:creationId xmlns:a16="http://schemas.microsoft.com/office/drawing/2014/main" id="{6898B7A2-58A2-A5DF-92F0-5C16DF697161}"/>
                </a:ext>
              </a:extLst>
            </p:cNvPr>
            <p:cNvSpPr txBox="1"/>
            <p:nvPr/>
          </p:nvSpPr>
          <p:spPr>
            <a:xfrm>
              <a:off x="2099633" y="3757848"/>
              <a:ext cx="156615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XGBoost</a:t>
              </a:r>
              <a:endPara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grpSp>
          <p:nvGrpSpPr>
            <p:cNvPr id="71" name="Grupo 70">
              <a:extLst>
                <a:ext uri="{FF2B5EF4-FFF2-40B4-BE49-F238E27FC236}">
                  <a16:creationId xmlns:a16="http://schemas.microsoft.com/office/drawing/2014/main" id="{3DE077C9-0DAC-7E66-03C5-0DF624E49C4F}"/>
                </a:ext>
              </a:extLst>
            </p:cNvPr>
            <p:cNvGrpSpPr/>
            <p:nvPr/>
          </p:nvGrpSpPr>
          <p:grpSpPr>
            <a:xfrm>
              <a:off x="5020725" y="4480191"/>
              <a:ext cx="1854000" cy="553696"/>
              <a:chOff x="1279206" y="1851687"/>
              <a:chExt cx="2161584" cy="553696"/>
            </a:xfrm>
          </p:grpSpPr>
          <p:sp>
            <p:nvSpPr>
              <p:cNvPr id="76" name="Rectángulo: esquinas redondeadas 33">
                <a:extLst>
                  <a:ext uri="{FF2B5EF4-FFF2-40B4-BE49-F238E27FC236}">
                    <a16:creationId xmlns:a16="http://schemas.microsoft.com/office/drawing/2014/main" id="{59CD9A55-979C-3653-8108-00674A960E5F}"/>
                  </a:ext>
                </a:extLst>
              </p:cNvPr>
              <p:cNvSpPr/>
              <p:nvPr/>
            </p:nvSpPr>
            <p:spPr>
              <a:xfrm>
                <a:off x="1279206" y="1851687"/>
                <a:ext cx="2161584" cy="553696"/>
              </a:xfrm>
              <a:prstGeom prst="roundRect">
                <a:avLst/>
              </a:prstGeom>
              <a:solidFill>
                <a:srgbClr val="8879F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7" name="CuadroTexto 76">
                <a:extLst>
                  <a:ext uri="{FF2B5EF4-FFF2-40B4-BE49-F238E27FC236}">
                    <a16:creationId xmlns:a16="http://schemas.microsoft.com/office/drawing/2014/main" id="{27D23356-89F5-F845-DEC1-475471B60455}"/>
                  </a:ext>
                </a:extLst>
              </p:cNvPr>
              <p:cNvSpPr txBox="1"/>
              <p:nvPr/>
            </p:nvSpPr>
            <p:spPr>
              <a:xfrm>
                <a:off x="1411606" y="1898720"/>
                <a:ext cx="188047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rPr>
                  <a:t>SHAP </a:t>
                </a:r>
                <a:r>
                  <a:rPr kumimoji="0" lang="es-ES" sz="20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Values</a:t>
                </a:r>
                <a:endParaRPr kumimoji="0" lang="es-ES_tradnl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endParaRPr>
              </a:p>
            </p:txBody>
          </p:sp>
        </p:grpSp>
        <p:grpSp>
          <p:nvGrpSpPr>
            <p:cNvPr id="72" name="Grupo 71">
              <a:extLst>
                <a:ext uri="{FF2B5EF4-FFF2-40B4-BE49-F238E27FC236}">
                  <a16:creationId xmlns:a16="http://schemas.microsoft.com/office/drawing/2014/main" id="{5ABE34B6-4CA5-F90A-835A-BC111E398EB4}"/>
                </a:ext>
              </a:extLst>
            </p:cNvPr>
            <p:cNvGrpSpPr/>
            <p:nvPr/>
          </p:nvGrpSpPr>
          <p:grpSpPr>
            <a:xfrm>
              <a:off x="4995134" y="3808407"/>
              <a:ext cx="1853634" cy="553696"/>
              <a:chOff x="1271050" y="1809632"/>
              <a:chExt cx="2161584" cy="553696"/>
            </a:xfrm>
          </p:grpSpPr>
          <p:sp>
            <p:nvSpPr>
              <p:cNvPr id="74" name="Rectángulo: esquinas redondeadas 36">
                <a:extLst>
                  <a:ext uri="{FF2B5EF4-FFF2-40B4-BE49-F238E27FC236}">
                    <a16:creationId xmlns:a16="http://schemas.microsoft.com/office/drawing/2014/main" id="{FD7D49EF-3979-2E3E-7C97-ADCFBBA9A193}"/>
                  </a:ext>
                </a:extLst>
              </p:cNvPr>
              <p:cNvSpPr/>
              <p:nvPr/>
            </p:nvSpPr>
            <p:spPr>
              <a:xfrm>
                <a:off x="1271050" y="1809632"/>
                <a:ext cx="2161584" cy="553696"/>
              </a:xfrm>
              <a:prstGeom prst="roundRect">
                <a:avLst/>
              </a:prstGeom>
              <a:solidFill>
                <a:srgbClr val="BBE55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75" name="CuadroTexto 74">
                <a:extLst>
                  <a:ext uri="{FF2B5EF4-FFF2-40B4-BE49-F238E27FC236}">
                    <a16:creationId xmlns:a16="http://schemas.microsoft.com/office/drawing/2014/main" id="{6F00448D-7506-BC12-6F54-4020AB8784D9}"/>
                  </a:ext>
                </a:extLst>
              </p:cNvPr>
              <p:cNvSpPr txBox="1"/>
              <p:nvPr/>
            </p:nvSpPr>
            <p:spPr>
              <a:xfrm>
                <a:off x="1411606" y="1898720"/>
                <a:ext cx="188047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s-ES_tradnl" sz="2000" b="1" i="0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" panose="020B0503030403020204" pitchFamily="34" charset="0"/>
                    <a:ea typeface="Source Sans Pro" panose="020B0503030403020204" pitchFamily="34" charset="0"/>
                    <a:cs typeface="+mn-cs"/>
                  </a:rPr>
                  <a:t>Sobol</a:t>
                </a:r>
                <a:r>
                  <a:rPr kumimoji="0" lang="es-ES_tradnl" sz="20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 </a:t>
                </a:r>
                <a:r>
                  <a:rPr kumimoji="0" lang="es-ES" sz="2000" b="0" i="1" u="none" strike="noStrike" kern="1200" cap="none" spc="0" normalizeH="0" baseline="0" noProof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ource Sans Pro Light" panose="020B0403030403020204" pitchFamily="34" charset="0"/>
                    <a:ea typeface="Source Sans Pro Light" panose="020B0403030403020204" pitchFamily="34" charset="0"/>
                    <a:cs typeface="+mn-cs"/>
                  </a:rPr>
                  <a:t>Indices</a:t>
                </a:r>
                <a:endParaRPr kumimoji="0" lang="es-ES_tradnl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endParaRPr>
              </a:p>
            </p:txBody>
          </p:sp>
        </p:grpSp>
        <p:sp>
          <p:nvSpPr>
            <p:cNvPr id="73" name="Rectángulo 72">
              <a:extLst>
                <a:ext uri="{FF2B5EF4-FFF2-40B4-BE49-F238E27FC236}">
                  <a16:creationId xmlns:a16="http://schemas.microsoft.com/office/drawing/2014/main" id="{68A99248-5F4C-E774-0248-8F36D289EBE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12" y="4202890"/>
              <a:ext cx="435280" cy="35294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2</a:t>
              </a:r>
              <a:endPara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grpSp>
        <p:nvGrpSpPr>
          <p:cNvPr id="78" name="Grupo 77">
            <a:extLst>
              <a:ext uri="{FF2B5EF4-FFF2-40B4-BE49-F238E27FC236}">
                <a16:creationId xmlns:a16="http://schemas.microsoft.com/office/drawing/2014/main" id="{28D75D06-57D2-6944-E25D-98A2499391B3}"/>
              </a:ext>
            </a:extLst>
          </p:cNvPr>
          <p:cNvGrpSpPr/>
          <p:nvPr/>
        </p:nvGrpSpPr>
        <p:grpSpPr>
          <a:xfrm>
            <a:off x="5793590" y="5112311"/>
            <a:ext cx="5840362" cy="1259600"/>
            <a:chOff x="1199535" y="3544077"/>
            <a:chExt cx="5840362" cy="1259600"/>
          </a:xfrm>
        </p:grpSpPr>
        <p:sp>
          <p:nvSpPr>
            <p:cNvPr id="79" name="Rectángulo: esquinas redondeadas 48">
              <a:extLst>
                <a:ext uri="{FF2B5EF4-FFF2-40B4-BE49-F238E27FC236}">
                  <a16:creationId xmlns:a16="http://schemas.microsoft.com/office/drawing/2014/main" id="{BA6C8817-468B-1E6C-A033-2C2E1D58F85A}"/>
                </a:ext>
              </a:extLst>
            </p:cNvPr>
            <p:cNvSpPr/>
            <p:nvPr/>
          </p:nvSpPr>
          <p:spPr>
            <a:xfrm>
              <a:off x="1199535" y="3544077"/>
              <a:ext cx="5840362" cy="1259600"/>
            </a:xfrm>
            <a:prstGeom prst="roundRect">
              <a:avLst/>
            </a:prstGeom>
            <a:noFill/>
            <a:ln w="1905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42306D86-FD7C-B540-3046-F23A29D97D4C}"/>
                </a:ext>
              </a:extLst>
            </p:cNvPr>
            <p:cNvSpPr txBox="1"/>
            <p:nvPr/>
          </p:nvSpPr>
          <p:spPr>
            <a:xfrm>
              <a:off x="2162340" y="3685995"/>
              <a:ext cx="1566153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Random Forest</a:t>
              </a:r>
            </a:p>
          </p:txBody>
        </p:sp>
        <p:sp>
          <p:nvSpPr>
            <p:cNvPr id="81" name="Rectángulo 80">
              <a:extLst>
                <a:ext uri="{FF2B5EF4-FFF2-40B4-BE49-F238E27FC236}">
                  <a16:creationId xmlns:a16="http://schemas.microsoft.com/office/drawing/2014/main" id="{7CFB86A1-9F43-64D2-6C5C-04D87A47D0C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396112" y="3871685"/>
              <a:ext cx="435280" cy="35294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" sz="20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3</a:t>
              </a:r>
              <a:endParaRPr kumimoji="0" lang="es-CO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sp>
        <p:nvSpPr>
          <p:cNvPr id="82" name="CuadroTexto 81">
            <a:extLst>
              <a:ext uri="{FF2B5EF4-FFF2-40B4-BE49-F238E27FC236}">
                <a16:creationId xmlns:a16="http://schemas.microsoft.com/office/drawing/2014/main" id="{44E7615A-EE53-E4AE-C4C4-2E90FDBEF838}"/>
              </a:ext>
            </a:extLst>
          </p:cNvPr>
          <p:cNvSpPr txBox="1"/>
          <p:nvPr/>
        </p:nvSpPr>
        <p:spPr>
          <a:xfrm>
            <a:off x="8259841" y="5205323"/>
            <a:ext cx="345636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600">
                <a:solidFill>
                  <a:srgbClr val="242121"/>
                </a:solidFill>
                <a:latin typeface="Source Sans Pro" panose="020B0503030403020204" pitchFamily="34" charset="0"/>
                <a:sym typeface="Roboto"/>
              </a:rPr>
              <a:t>Robust to noise, less sensitive to hyperparameters, offers rough uncertainty estimates via tree variance.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E7CABC62-B557-BB11-7609-318A12B0D3F5}"/>
              </a:ext>
            </a:extLst>
          </p:cNvPr>
          <p:cNvSpPr txBox="1"/>
          <p:nvPr/>
        </p:nvSpPr>
        <p:spPr>
          <a:xfrm>
            <a:off x="5787897" y="2831656"/>
            <a:ext cx="30089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lang="en-US" sz="2000" b="1">
                <a:solidFill>
                  <a:srgbClr val="B278E6"/>
                </a:solidFill>
                <a:latin typeface="Source Sans Pro"/>
                <a:ea typeface="Source Sans Pro"/>
              </a:rPr>
              <a:t>Surrogates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F54EFA1F-55D8-88A0-6835-9AA2A155255E}"/>
              </a:ext>
            </a:extLst>
          </p:cNvPr>
          <p:cNvSpPr txBox="1"/>
          <p:nvPr/>
        </p:nvSpPr>
        <p:spPr>
          <a:xfrm>
            <a:off x="5871026" y="1217997"/>
            <a:ext cx="30089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lang="en-US" sz="2000" b="1">
                <a:solidFill>
                  <a:srgbClr val="B278E6"/>
                </a:solidFill>
                <a:latin typeface="Source Sans Pro"/>
                <a:ea typeface="Source Sans Pro"/>
              </a:rPr>
              <a:t>Model based</a:t>
            </a:r>
          </a:p>
        </p:txBody>
      </p:sp>
    </p:spTree>
    <p:extLst>
      <p:ext uri="{BB962C8B-B14F-4D97-AF65-F5344CB8AC3E}">
        <p14:creationId xmlns:p14="http://schemas.microsoft.com/office/powerpoint/2010/main" val="1037668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5749B4-D4A2-4CCC-8A2B-3BF8838A9AEA}"/>
              </a:ext>
            </a:extLst>
          </p:cNvPr>
          <p:cNvSpPr txBox="1"/>
          <p:nvPr/>
        </p:nvSpPr>
        <p:spPr>
          <a:xfrm>
            <a:off x="1283300" y="803764"/>
            <a:ext cx="43941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Performance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23A767F-4D9A-46A5-9995-3E2926EAB6D3}"/>
              </a:ext>
            </a:extLst>
          </p:cNvPr>
          <p:cNvSpPr txBox="1"/>
          <p:nvPr/>
        </p:nvSpPr>
        <p:spPr>
          <a:xfrm>
            <a:off x="1372688" y="1655120"/>
            <a:ext cx="2660834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Data preparation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We are fitting the voltage as a function of the 13 features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&amp; the current density.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Only valid polarization curves (~54k configurations)</a:t>
            </a:r>
            <a:r>
              <a:rPr lang="en-US" sz="1600" dirty="0">
                <a:solidFill>
                  <a:srgbClr val="242121"/>
                </a:solidFill>
                <a:latin typeface="Source Sans Pro" panose="020B0503030403020204" pitchFamily="34" charset="0"/>
              </a:rPr>
              <a:t> and no negative voltages</a:t>
            </a:r>
            <a:endParaRPr kumimoji="0" lang="es-CO" sz="1600" b="0" i="0" u="none" strike="noStrike" kern="1200" cap="none" spc="0" normalizeH="0" baseline="0" noProof="0" dirty="0">
              <a:ln>
                <a:noFill/>
              </a:ln>
              <a:solidFill>
                <a:srgbClr val="24212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BFB17B8-F205-4FEE-9C5F-A240216ADA9D}"/>
              </a:ext>
            </a:extLst>
          </p:cNvPr>
          <p:cNvSpPr txBox="1"/>
          <p:nvPr/>
        </p:nvSpPr>
        <p:spPr>
          <a:xfrm>
            <a:off x="1372688" y="3983804"/>
            <a:ext cx="248085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defRPr/>
            </a:pPr>
            <a:r>
              <a:rPr lang="en-US" sz="1600" b="1" dirty="0">
                <a:solidFill>
                  <a:srgbClr val="242121"/>
                </a:solidFill>
                <a:latin typeface="Source Sans Pro" panose="020B0503030403020204" pitchFamily="34" charset="0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Train the model</a:t>
            </a:r>
            <a:endParaRPr lang="en-US" sz="1600" b="1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XGBoost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with nested CV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s-CO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Inner</a:t>
            </a:r>
            <a:r>
              <a:rPr kumimoji="0" lang="es-CO" sz="1600" b="1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3-fold CV: </a:t>
            </a:r>
            <a:r>
              <a:rPr kumimoji="0" lang="es-C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for</a:t>
            </a: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</a:t>
            </a:r>
            <a:r>
              <a:rPr kumimoji="0" lang="es-C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tuning</a:t>
            </a: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</a:t>
            </a:r>
            <a:r>
              <a:rPr kumimoji="0" lang="es-C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XGBoost</a:t>
            </a: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</a:t>
            </a:r>
            <a:r>
              <a:rPr kumimoji="0" lang="es-CO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hyperparameters</a:t>
            </a: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4212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Outer 5-fold CV: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to assess generalization performance</a:t>
            </a:r>
            <a:r>
              <a:rPr kumimoji="0" lang="es-CO" sz="1600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.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24212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graphicFrame>
        <p:nvGraphicFramePr>
          <p:cNvPr id="15" name="Tabla 14">
            <a:extLst>
              <a:ext uri="{FF2B5EF4-FFF2-40B4-BE49-F238E27FC236}">
                <a16:creationId xmlns:a16="http://schemas.microsoft.com/office/drawing/2014/main" id="{0929C397-858E-40DC-94F9-7B0325A4CE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827625"/>
              </p:ext>
            </p:extLst>
          </p:nvPr>
        </p:nvGraphicFramePr>
        <p:xfrm>
          <a:off x="4235500" y="1723384"/>
          <a:ext cx="7452856" cy="2377440"/>
        </p:xfrm>
        <a:graphic>
          <a:graphicData uri="http://schemas.openxmlformats.org/drawingml/2006/table">
            <a:tbl>
              <a:tblPr/>
              <a:tblGrid>
                <a:gridCol w="1585105">
                  <a:extLst>
                    <a:ext uri="{9D8B030D-6E8A-4147-A177-3AD203B41FA5}">
                      <a16:colId xmlns:a16="http://schemas.microsoft.com/office/drawing/2014/main" val="2083718658"/>
                    </a:ext>
                  </a:extLst>
                </a:gridCol>
                <a:gridCol w="1437531">
                  <a:extLst>
                    <a:ext uri="{9D8B030D-6E8A-4147-A177-3AD203B41FA5}">
                      <a16:colId xmlns:a16="http://schemas.microsoft.com/office/drawing/2014/main" val="792733749"/>
                    </a:ext>
                  </a:extLst>
                </a:gridCol>
                <a:gridCol w="1370863">
                  <a:extLst>
                    <a:ext uri="{9D8B030D-6E8A-4147-A177-3AD203B41FA5}">
                      <a16:colId xmlns:a16="http://schemas.microsoft.com/office/drawing/2014/main" val="467634460"/>
                    </a:ext>
                  </a:extLst>
                </a:gridCol>
                <a:gridCol w="1651095">
                  <a:extLst>
                    <a:ext uri="{9D8B030D-6E8A-4147-A177-3AD203B41FA5}">
                      <a16:colId xmlns:a16="http://schemas.microsoft.com/office/drawing/2014/main" val="2106801228"/>
                    </a:ext>
                  </a:extLst>
                </a:gridCol>
                <a:gridCol w="1408262">
                  <a:extLst>
                    <a:ext uri="{9D8B030D-6E8A-4147-A177-3AD203B41FA5}">
                      <a16:colId xmlns:a16="http://schemas.microsoft.com/office/drawing/2014/main" val="2480728851"/>
                    </a:ext>
                  </a:extLst>
                </a:gridCol>
              </a:tblGrid>
              <a:tr h="373689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i="0" u="none" strike="noStrike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Metric</a:t>
                      </a:r>
                      <a:endParaRPr lang="es-CO" sz="1600" b="1" i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600" b="1" i="0" u="none" strike="noStrike" dirty="0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General</a:t>
                      </a:r>
                      <a:endParaRPr lang="es-CO" sz="1600" b="1" i="0" dirty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b="1" i="0" u="none" strike="noStrike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Activation</a:t>
                      </a:r>
                      <a:endParaRPr lang="es-CO" sz="1600" b="1" i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b="1" i="0" u="none" strike="noStrike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Ohmic</a:t>
                      </a:r>
                      <a:endParaRPr lang="es-CO" sz="1600" b="1" i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b="1" i="0" u="none" strike="noStrike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Mass transport</a:t>
                      </a:r>
                      <a:endParaRPr lang="es-CO" sz="1600" b="1" i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575185"/>
                  </a:ext>
                </a:extLst>
              </a:tr>
              <a:tr h="37368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b="1" i="0" u="none" strike="noStrike" dirty="0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MAE* </a:t>
                      </a:r>
                      <a:endParaRPr lang="es-CO" sz="1600" b="1" i="0" dirty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0.0150 ± 0.0002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0.0096 ± 0.0001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0.0129 ± 0.0002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O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0.0181 ± 0.0003 ​</a:t>
                      </a: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0100613"/>
                  </a:ext>
                </a:extLst>
              </a:tr>
              <a:tr h="37368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b="1" i="0" u="none" strike="noStrike" dirty="0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RMSE*</a:t>
                      </a:r>
                      <a:endParaRPr lang="es-CO" sz="1600" b="1" i="0" dirty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0.0013 ± 0.0000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0.0003 ± 0.0000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0.0010 ± 0.0000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0.0019 ± 0.0001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4811186"/>
                  </a:ext>
                </a:extLst>
              </a:tr>
              <a:tr h="37368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b="1" i="0" u="none" strike="noStrike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R-squared</a:t>
                      </a:r>
                      <a:endParaRPr lang="es-CO" sz="1600" b="1" i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0.9549 ± 0.0015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0.9650 ± 0.0007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0.9229 ± 0.0033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600" dirty="0"/>
                        <a:t>0.8906 ± 0.0038</a:t>
                      </a:r>
                      <a:endParaRPr lang="es-CO" sz="1600" dirty="0">
                        <a:effectLst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462761"/>
                  </a:ext>
                </a:extLst>
              </a:tr>
            </a:tbl>
          </a:graphicData>
        </a:graphic>
      </p:graphicFrame>
      <p:sp>
        <p:nvSpPr>
          <p:cNvPr id="16" name="Rectangle 1">
            <a:extLst>
              <a:ext uri="{FF2B5EF4-FFF2-40B4-BE49-F238E27FC236}">
                <a16:creationId xmlns:a16="http://schemas.microsoft.com/office/drawing/2014/main" id="{C926CF45-A159-41F0-AF20-19F37B90C1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67006" y="4144507"/>
            <a:ext cx="186460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sz="1200" u="none" strike="noStrike" kern="1200" cap="none" spc="0" normalizeH="0" baseline="0" noProof="0" dirty="0">
                <a:ln>
                  <a:noFill/>
                </a:ln>
                <a:solidFill>
                  <a:srgbClr val="6350F2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kumimoji="0" lang="es-CO" altLang="es-CO" sz="1200" u="none" strike="noStrike" kern="1200" cap="none" spc="0" normalizeH="0" baseline="0" noProof="0" dirty="0" err="1">
                <a:ln>
                  <a:noFill/>
                </a:ln>
                <a:solidFill>
                  <a:srgbClr val="6350F2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Unit</a:t>
            </a:r>
            <a:r>
              <a:rPr kumimoji="0" lang="es-CO" altLang="es-CO" sz="1200" u="none" strike="noStrike" kern="1200" cap="none" spc="0" normalizeH="0" baseline="0" noProof="0" dirty="0">
                <a:ln>
                  <a:noFill/>
                </a:ln>
                <a:solidFill>
                  <a:srgbClr val="6350F2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: Watts/cm²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8C30076-5B9A-FCDE-9789-E0B188C8B85C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1413E4-4082-9C8B-B9E7-907DD644AB89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BA0065F4-14BC-82E4-0AFE-E96F5529598C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1A111FD-305F-4CE8-87A8-2235E8DF3C51}"/>
              </a:ext>
            </a:extLst>
          </p:cNvPr>
          <p:cNvSpPr txBox="1"/>
          <p:nvPr/>
        </p:nvSpPr>
        <p:spPr>
          <a:xfrm>
            <a:off x="4162201" y="4109968"/>
            <a:ext cx="64809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>
                <a:ea typeface="Source Sans Pro" panose="020B0503030403020204" pitchFamily="34" charset="0"/>
              </a:rPr>
              <a:t>Table 5: </a:t>
            </a:r>
            <a:r>
              <a:rPr lang="en-US" sz="1200" dirty="0">
                <a:ea typeface="Source Sans Pro" panose="020B0503030403020204" pitchFamily="34" charset="0"/>
              </a:rPr>
              <a:t>Generalization performance of the </a:t>
            </a:r>
            <a:r>
              <a:rPr lang="en-US" sz="1200" dirty="0" err="1">
                <a:ea typeface="Source Sans Pro" panose="020B0503030403020204" pitchFamily="34" charset="0"/>
              </a:rPr>
              <a:t>XGBoost</a:t>
            </a:r>
            <a:r>
              <a:rPr lang="en-US" sz="1200" dirty="0">
                <a:ea typeface="Source Sans Pro" panose="020B0503030403020204" pitchFamily="34" charset="0"/>
              </a:rPr>
              <a:t> model (nested CV, 5k valid samples).</a:t>
            </a:r>
          </a:p>
        </p:txBody>
      </p:sp>
    </p:spTree>
    <p:extLst>
      <p:ext uri="{BB962C8B-B14F-4D97-AF65-F5344CB8AC3E}">
        <p14:creationId xmlns:p14="http://schemas.microsoft.com/office/powerpoint/2010/main" val="266716405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A5749B4-D4A2-4CCC-8A2B-3BF8838A9AEA}"/>
              </a:ext>
            </a:extLst>
          </p:cNvPr>
          <p:cNvSpPr txBox="1"/>
          <p:nvPr/>
        </p:nvSpPr>
        <p:spPr>
          <a:xfrm>
            <a:off x="1283300" y="803764"/>
            <a:ext cx="439416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r>
              <a:rPr lang="en-US" sz="3200" b="1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Performance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8C30076-5B9A-FCDE-9789-E0B188C8B85C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31413E4-4082-9C8B-B9E7-907DD644AB89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BA0065F4-14BC-82E4-0AFE-E96F5529598C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0EEE1EEE-A01D-4488-8648-F8F8530B3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7079" y="3493292"/>
            <a:ext cx="6198091" cy="3070345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A11DE0A8-C012-40D7-8043-B64828B1D0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33" y="1521757"/>
            <a:ext cx="4382036" cy="2614156"/>
          </a:xfrm>
          <a:prstGeom prst="rect">
            <a:avLst/>
          </a:prstGeom>
        </p:spPr>
      </p:pic>
      <p:sp>
        <p:nvSpPr>
          <p:cNvPr id="18" name="CuadroTexto 17">
            <a:extLst>
              <a:ext uri="{FF2B5EF4-FFF2-40B4-BE49-F238E27FC236}">
                <a16:creationId xmlns:a16="http://schemas.microsoft.com/office/drawing/2014/main" id="{74571FB2-951D-4FE8-94DD-1CBD887F5FD5}"/>
              </a:ext>
            </a:extLst>
          </p:cNvPr>
          <p:cNvSpPr txBox="1"/>
          <p:nvPr/>
        </p:nvSpPr>
        <p:spPr>
          <a:xfrm>
            <a:off x="5677469" y="1708839"/>
            <a:ext cx="128399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>
                <a:ea typeface="Source Sans Pro" panose="020B0503030403020204" pitchFamily="34" charset="0"/>
              </a:rPr>
              <a:t>Figure 10: </a:t>
            </a:r>
            <a:r>
              <a:rPr lang="en-US" sz="1100" dirty="0">
                <a:ea typeface="Source Sans Pro" panose="020B0503030403020204" pitchFamily="34" charset="0"/>
              </a:rPr>
              <a:t>Histogram of residuals from the </a:t>
            </a:r>
            <a:r>
              <a:rPr lang="en-US" sz="1100" dirty="0" err="1">
                <a:ea typeface="Source Sans Pro" panose="020B0503030403020204" pitchFamily="34" charset="0"/>
              </a:rPr>
              <a:t>XGBoost</a:t>
            </a:r>
            <a:r>
              <a:rPr lang="en-US" sz="1100" dirty="0">
                <a:ea typeface="Source Sans Pro" panose="020B0503030403020204" pitchFamily="34" charset="0"/>
              </a:rPr>
              <a:t> surrogate model for one outer fold. Zero-centered but shows some skew.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2420EFB-508E-40A9-AB0B-BC335D9EDE26}"/>
              </a:ext>
            </a:extLst>
          </p:cNvPr>
          <p:cNvSpPr txBox="1"/>
          <p:nvPr/>
        </p:nvSpPr>
        <p:spPr>
          <a:xfrm>
            <a:off x="4235500" y="4778533"/>
            <a:ext cx="16314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b="1" dirty="0">
                <a:ea typeface="Source Sans Pro" panose="020B0503030403020204" pitchFamily="34" charset="0"/>
              </a:rPr>
              <a:t>Figure 11: </a:t>
            </a:r>
            <a:r>
              <a:rPr lang="en-US" sz="1100" dirty="0">
                <a:ea typeface="Source Sans Pro" panose="020B0503030403020204" pitchFamily="34" charset="0"/>
              </a:rPr>
              <a:t>Boxplot of residuals from the </a:t>
            </a:r>
            <a:r>
              <a:rPr lang="en-US" sz="1100" dirty="0" err="1">
                <a:ea typeface="Source Sans Pro" panose="020B0503030403020204" pitchFamily="34" charset="0"/>
              </a:rPr>
              <a:t>XGBoost</a:t>
            </a:r>
            <a:r>
              <a:rPr lang="en-US" sz="1100" dirty="0">
                <a:ea typeface="Source Sans Pro" panose="020B0503030403020204" pitchFamily="34" charset="0"/>
              </a:rPr>
              <a:t> surrogate model across current density indices. Each box summarizes the prediction error distribution for a given point along the polarization curves.</a:t>
            </a:r>
          </a:p>
        </p:txBody>
      </p:sp>
    </p:spTree>
    <p:extLst>
      <p:ext uri="{BB962C8B-B14F-4D97-AF65-F5344CB8AC3E}">
        <p14:creationId xmlns:p14="http://schemas.microsoft.com/office/powerpoint/2010/main" val="37296104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FE04AE1-D3A7-4788-BA36-9748556F408E}"/>
              </a:ext>
            </a:extLst>
          </p:cNvPr>
          <p:cNvSpPr txBox="1"/>
          <p:nvPr/>
        </p:nvSpPr>
        <p:spPr>
          <a:xfrm>
            <a:off x="1372685" y="1583797"/>
            <a:ext cx="4173456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Data preparation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We are fitting the voltage as a function of the 13 features &amp; the current density.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Only valid polarization curves (</a:t>
            </a: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only 5k configurations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) and no negative voltages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B6C0992-A7CB-4F5F-818D-8F6B9D95AF56}"/>
              </a:ext>
            </a:extLst>
          </p:cNvPr>
          <p:cNvSpPr txBox="1"/>
          <p:nvPr/>
        </p:nvSpPr>
        <p:spPr>
          <a:xfrm>
            <a:off x="1372685" y="3376580"/>
            <a:ext cx="3672480" cy="18466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Train the model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RF with nested CV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s-CO" b="1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Inner</a:t>
            </a:r>
            <a:r>
              <a:rPr kumimoji="0" lang="es-CO" b="1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3-fold CV: </a:t>
            </a:r>
            <a:r>
              <a:rPr kumimoji="0" lang="es-CO" b="0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for</a:t>
            </a:r>
            <a:r>
              <a:rPr kumimoji="0" lang="es-CO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</a:t>
            </a:r>
            <a:r>
              <a:rPr kumimoji="0" lang="es-CO" b="0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tuning</a:t>
            </a:r>
            <a:r>
              <a:rPr kumimoji="0" lang="es-CO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RF </a:t>
            </a:r>
            <a:r>
              <a:rPr kumimoji="0" lang="es-CO" b="0" i="0" u="none" strike="noStrike" kern="1200" cap="none" spc="0" normalizeH="0" baseline="0" noProof="0" dirty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hyperparameters</a:t>
            </a:r>
            <a:r>
              <a:rPr kumimoji="0" lang="es-CO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4212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Outer 5-fold CV: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to assess generalization performance</a:t>
            </a:r>
            <a:r>
              <a:rPr kumimoji="0" lang="es-CO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rgbClr val="24212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8D4B01-D75B-1367-9EC8-C93A3DA15435}"/>
              </a:ext>
            </a:extLst>
          </p:cNvPr>
          <p:cNvSpPr txBox="1"/>
          <p:nvPr/>
        </p:nvSpPr>
        <p:spPr>
          <a:xfrm>
            <a:off x="5953106" y="4492746"/>
            <a:ext cx="413432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ea typeface="Source Sans Pro" panose="020B0503030403020204" pitchFamily="34" charset="0"/>
              </a:rPr>
              <a:t>Table 6: </a:t>
            </a:r>
            <a:r>
              <a:rPr lang="en-US" sz="1400">
                <a:ea typeface="Source Sans Pro" panose="020B0503030403020204" pitchFamily="34" charset="0"/>
              </a:rPr>
              <a:t>Generalization performance of the Random Forest model (nested CV, 5k valid samples).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8AD8A852-C45D-17E7-9F73-45C59BEC9F4E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151A95-4B0F-29DE-0638-2AB14D256C35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1F6AEC43-1122-D13B-6852-58CF0EE3FF51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BB2FC5E-10F1-0EA9-6E06-529A0DB4FC1B}"/>
              </a:ext>
            </a:extLst>
          </p:cNvPr>
          <p:cNvSpPr txBox="1"/>
          <p:nvPr/>
        </p:nvSpPr>
        <p:spPr>
          <a:xfrm>
            <a:off x="1283300" y="803764"/>
            <a:ext cx="65990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RandomForest</a:t>
            </a:r>
            <a:endParaRPr lang="en-US" sz="32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ECE7821D-E3FC-27B4-B51E-5D2647C65C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5497179"/>
              </p:ext>
            </p:extLst>
          </p:nvPr>
        </p:nvGraphicFramePr>
        <p:xfrm>
          <a:off x="6148317" y="1851146"/>
          <a:ext cx="3126312" cy="2313791"/>
        </p:xfrm>
        <a:graphic>
          <a:graphicData uri="http://schemas.openxmlformats.org/drawingml/2006/table">
            <a:tbl>
              <a:tblPr/>
              <a:tblGrid>
                <a:gridCol w="1187131">
                  <a:extLst>
                    <a:ext uri="{9D8B030D-6E8A-4147-A177-3AD203B41FA5}">
                      <a16:colId xmlns:a16="http://schemas.microsoft.com/office/drawing/2014/main" val="1394759123"/>
                    </a:ext>
                  </a:extLst>
                </a:gridCol>
                <a:gridCol w="1939181">
                  <a:extLst>
                    <a:ext uri="{9D8B030D-6E8A-4147-A177-3AD203B41FA5}">
                      <a16:colId xmlns:a16="http://schemas.microsoft.com/office/drawing/2014/main" val="2230852925"/>
                    </a:ext>
                  </a:extLst>
                </a:gridCol>
              </a:tblGrid>
              <a:tr h="63239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i="0" u="none" strike="noStrike" err="1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Metric</a:t>
                      </a:r>
                      <a:endParaRPr lang="es-CO" b="1" i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CO" sz="1800" b="1" i="0" u="none" strike="noStrike" dirty="0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General</a:t>
                      </a:r>
                      <a:endParaRPr lang="es-CO" b="1" i="0" dirty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643344"/>
                  </a:ext>
                </a:extLst>
              </a:tr>
              <a:tr h="51303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800" b="1" i="0" u="none" strike="noStrike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MAE*</a:t>
                      </a:r>
                      <a:endParaRPr lang="es-CO" b="1" i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0.0300 ± 0.0019</a:t>
                      </a:r>
                    </a:p>
                  </a:txBody>
                  <a:tcPr marL="9525" marR="9525" marT="9525" marB="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870287"/>
                  </a:ext>
                </a:extLst>
              </a:tr>
              <a:tr h="51303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800" b="1" i="0" u="none" strike="noStrike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RMSE*</a:t>
                      </a:r>
                      <a:endParaRPr lang="es-CO" b="1" i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0.0592 ± 0.0064</a:t>
                      </a:r>
                    </a:p>
                  </a:txBody>
                  <a:tcPr marL="9525" marR="9525" marT="9525" marB="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2337798"/>
                  </a:ext>
                </a:extLst>
              </a:tr>
              <a:tr h="630305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CO" sz="1800" b="1" i="0" u="none" strike="noStrike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R-</a:t>
                      </a:r>
                      <a:r>
                        <a:rPr lang="es-CO" sz="1800" b="1" i="0" u="none" strike="noStrike" err="1">
                          <a:solidFill>
                            <a:srgbClr val="8778F5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squared</a:t>
                      </a:r>
                      <a:endParaRPr lang="es-CO" b="1" i="0">
                        <a:solidFill>
                          <a:srgbClr val="8778F5"/>
                        </a:solidFill>
                        <a:effectLst/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76200" marR="76200" marT="53340" marB="5334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0.8846 ± 0.0220</a:t>
                      </a:r>
                    </a:p>
                  </a:txBody>
                  <a:tcPr marL="9525" marR="9525" marT="9525" marB="0" anchor="ctr">
                    <a:lnL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304B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778F5">
                        <a:alpha val="20093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8589965"/>
                  </a:ext>
                </a:extLst>
              </a:tr>
            </a:tbl>
          </a:graphicData>
        </a:graphic>
      </p:graphicFrame>
      <p:sp>
        <p:nvSpPr>
          <p:cNvPr id="12" name="Rectangle 1">
            <a:extLst>
              <a:ext uri="{FF2B5EF4-FFF2-40B4-BE49-F238E27FC236}">
                <a16:creationId xmlns:a16="http://schemas.microsoft.com/office/drawing/2014/main" id="{738AD4A8-C17A-AB57-2844-D9E4DDD748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39348" y="3795605"/>
            <a:ext cx="1864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altLang="es-CO" u="none" strike="noStrike" kern="1200" cap="none" spc="0" normalizeH="0" baseline="0" noProof="0" dirty="0">
                <a:ln>
                  <a:noFill/>
                </a:ln>
                <a:solidFill>
                  <a:srgbClr val="6350F2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*</a:t>
            </a:r>
            <a:r>
              <a:rPr kumimoji="0" lang="es-CO" altLang="es-CO" u="none" strike="noStrike" kern="1200" cap="none" spc="0" normalizeH="0" baseline="0" noProof="0" dirty="0" err="1">
                <a:ln>
                  <a:noFill/>
                </a:ln>
                <a:solidFill>
                  <a:srgbClr val="6350F2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Unit</a:t>
            </a:r>
            <a:r>
              <a:rPr kumimoji="0" lang="es-CO" altLang="es-CO" u="none" strike="noStrike" kern="1200" cap="none" spc="0" normalizeH="0" baseline="0" noProof="0" dirty="0">
                <a:ln>
                  <a:noFill/>
                </a:ln>
                <a:solidFill>
                  <a:srgbClr val="6350F2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: Watts/cm²</a:t>
            </a:r>
          </a:p>
        </p:txBody>
      </p:sp>
    </p:spTree>
    <p:extLst>
      <p:ext uri="{BB962C8B-B14F-4D97-AF65-F5344CB8AC3E}">
        <p14:creationId xmlns:p14="http://schemas.microsoft.com/office/powerpoint/2010/main" val="37705907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Rectángulo: esquinas redondeadas 95">
            <a:extLst>
              <a:ext uri="{FF2B5EF4-FFF2-40B4-BE49-F238E27FC236}">
                <a16:creationId xmlns:a16="http://schemas.microsoft.com/office/drawing/2014/main" id="{0A22B916-488B-4D04-99DC-1F2FDEF2CFCA}"/>
              </a:ext>
            </a:extLst>
          </p:cNvPr>
          <p:cNvSpPr/>
          <p:nvPr/>
        </p:nvSpPr>
        <p:spPr>
          <a:xfrm>
            <a:off x="812544" y="3024658"/>
            <a:ext cx="2579283" cy="2338912"/>
          </a:xfrm>
          <a:prstGeom prst="roundRect">
            <a:avLst>
              <a:gd name="adj" fmla="val 9131"/>
            </a:avLst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55BCE0C-44F4-414E-9018-BDE0FAE80B44}"/>
              </a:ext>
            </a:extLst>
          </p:cNvPr>
          <p:cNvSpPr txBox="1"/>
          <p:nvPr/>
        </p:nvSpPr>
        <p:spPr>
          <a:xfrm>
            <a:off x="3902423" y="5929822"/>
            <a:ext cx="60331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/>
              <a:t>Figure 12:  </a:t>
            </a:r>
            <a:r>
              <a:rPr lang="en-US" sz="1200" dirty="0"/>
              <a:t>Comparison of parameter rankings across current density regions based on SHAP values. Lines track changes in feature importance from activation to ohmic to mass transport regions, where a lower rank indicates higher influence on model output.</a:t>
            </a:r>
            <a:endParaRPr lang="es-CO" sz="1200" dirty="0"/>
          </a:p>
        </p:txBody>
      </p:sp>
      <p:sp>
        <p:nvSpPr>
          <p:cNvPr id="94" name="CuadroTexto 93">
            <a:extLst>
              <a:ext uri="{FF2B5EF4-FFF2-40B4-BE49-F238E27FC236}">
                <a16:creationId xmlns:a16="http://schemas.microsoft.com/office/drawing/2014/main" id="{9756B309-B3AC-40A3-BAF9-18E6F1EA4ADE}"/>
              </a:ext>
            </a:extLst>
          </p:cNvPr>
          <p:cNvSpPr txBox="1"/>
          <p:nvPr/>
        </p:nvSpPr>
        <p:spPr>
          <a:xfrm>
            <a:off x="954648" y="3147689"/>
            <a:ext cx="2047322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Union of all selected features across regions</a:t>
            </a:r>
          </a:p>
          <a:p>
            <a:r>
              <a:rPr lang="en-US" sz="1400"/>
              <a:t>The top 5 features in each region</a:t>
            </a:r>
            <a:r>
              <a:rPr lang="en-US" sz="1400">
                <a:solidFill>
                  <a:srgbClr val="242121"/>
                </a:solidFill>
                <a:latin typeface="Source Sans Pro" panose="020B0503030403020204" pitchFamily="34" charset="0"/>
              </a:rPr>
              <a:t> – </a:t>
            </a:r>
            <a:br>
              <a:rPr lang="en-US" sz="1400">
                <a:solidFill>
                  <a:srgbClr val="242121"/>
                </a:solidFill>
                <a:latin typeface="Source Sans Pro" panose="020B0503030403020204" pitchFamily="34" charset="0"/>
              </a:rPr>
            </a:br>
            <a:r>
              <a:rPr lang="en-US" sz="1400" b="1">
                <a:solidFill>
                  <a:srgbClr val="242121"/>
                </a:solidFill>
                <a:latin typeface="Source Sans Pro" panose="020B0503030403020204" pitchFamily="34" charset="0"/>
              </a:rPr>
              <a:t>6 features</a:t>
            </a:r>
            <a:endParaRPr lang="es-CO" sz="1400" b="1">
              <a:solidFill>
                <a:srgbClr val="242121"/>
              </a:solidFill>
              <a:latin typeface="Source Sans Pro" panose="020B0503030403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946A2A8-51B9-4A4C-8F84-DD571E16BAA9}"/>
              </a:ext>
            </a:extLst>
          </p:cNvPr>
          <p:cNvSpPr txBox="1"/>
          <p:nvPr/>
        </p:nvSpPr>
        <p:spPr>
          <a:xfrm>
            <a:off x="899750" y="4440271"/>
            <a:ext cx="2398423" cy="646331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Tx/>
              <a:buChar char="→"/>
            </a:pPr>
            <a:r>
              <a:rPr lang="sv-SE" sz="1200">
                <a:ea typeface="Source Sans Pro" panose="020B0503030403020204" pitchFamily="34" charset="0"/>
              </a:rPr>
              <a:t>Pa_des</a:t>
            </a:r>
          </a:p>
          <a:p>
            <a:pPr marL="285750" indent="-285750">
              <a:buFontTx/>
              <a:buChar char="→"/>
            </a:pPr>
            <a:r>
              <a:rPr lang="sv-SE" sz="1200">
                <a:ea typeface="Source Sans Pro" panose="020B0503030403020204" pitchFamily="34" charset="0"/>
              </a:rPr>
              <a:t>Re</a:t>
            </a:r>
          </a:p>
          <a:p>
            <a:pPr marL="285750" indent="-285750">
              <a:buFontTx/>
              <a:buChar char="→"/>
            </a:pPr>
            <a:r>
              <a:rPr lang="sv-SE" sz="1200">
                <a:ea typeface="Source Sans Pro" panose="020B0503030403020204" pitchFamily="34" charset="0"/>
              </a:rPr>
              <a:t>Tfc</a:t>
            </a:r>
          </a:p>
          <a:p>
            <a:pPr marL="285750" indent="-285750">
              <a:buFontTx/>
              <a:buChar char="→"/>
            </a:pPr>
            <a:r>
              <a:rPr lang="sv-SE" sz="1200">
                <a:ea typeface="Source Sans Pro" panose="020B0503030403020204" pitchFamily="34" charset="0"/>
              </a:rPr>
              <a:t>i0_c_ref</a:t>
            </a:r>
          </a:p>
          <a:p>
            <a:pPr marL="285750" indent="-285750">
              <a:buFontTx/>
              <a:buChar char="→"/>
            </a:pPr>
            <a:r>
              <a:rPr lang="sv-SE" sz="1200">
                <a:ea typeface="Source Sans Pro" panose="020B0503030403020204" pitchFamily="34" charset="0"/>
              </a:rPr>
              <a:t>ifc</a:t>
            </a:r>
          </a:p>
          <a:p>
            <a:pPr marL="285750" indent="-285750">
              <a:buFontTx/>
              <a:buChar char="→"/>
            </a:pPr>
            <a:r>
              <a:rPr lang="sv-SE" sz="1200">
                <a:ea typeface="Source Sans Pro" panose="020B0503030403020204" pitchFamily="34" charset="0"/>
              </a:rPr>
              <a:t>kappa_c</a:t>
            </a:r>
            <a:endParaRPr lang="es-CO" sz="1200">
              <a:ea typeface="Source Sans Pro" panose="020B0503030403020204" pitchFamily="34" charset="0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DD8F9661-3F0A-426D-B628-C222405ADE55}"/>
              </a:ext>
            </a:extLst>
          </p:cNvPr>
          <p:cNvPicPr preferRelativeResize="0"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3391827" y="943200"/>
            <a:ext cx="8608742" cy="498662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1CDA1947-19B3-2971-5C24-5698B8B0974A}"/>
              </a:ext>
            </a:extLst>
          </p:cNvPr>
          <p:cNvSpPr txBox="1"/>
          <p:nvPr/>
        </p:nvSpPr>
        <p:spPr>
          <a:xfrm>
            <a:off x="899750" y="803764"/>
            <a:ext cx="239842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XGBoost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3200" b="1">
                <a:solidFill>
                  <a:srgbClr val="B477E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SHAP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lvl="0">
              <a:defRPr/>
            </a:pPr>
            <a:r>
              <a:rPr lang="en-US" sz="32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Rankings per </a:t>
            </a:r>
          </a:p>
          <a:p>
            <a:pPr lvl="0">
              <a:defRPr/>
            </a:pPr>
            <a:r>
              <a:rPr lang="en-US" sz="32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Region</a:t>
            </a:r>
          </a:p>
          <a:p>
            <a:pPr lvl="0">
              <a:defRPr/>
            </a:pPr>
            <a:endParaRPr lang="en-US" sz="32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F65B6AB-62CF-889B-62DB-ED89C686B342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C2989F9-35C9-69EB-FFC9-D12810D592BE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4D9018CB-FA5A-BA1B-2FD9-B7EDF4FDAC2F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654161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ángulo: esquinas redondeadas 44">
            <a:extLst>
              <a:ext uri="{FF2B5EF4-FFF2-40B4-BE49-F238E27FC236}">
                <a16:creationId xmlns:a16="http://schemas.microsoft.com/office/drawing/2014/main" id="{6B2CB575-6494-4DBB-B869-CA824957E006}"/>
              </a:ext>
            </a:extLst>
          </p:cNvPr>
          <p:cNvSpPr/>
          <p:nvPr/>
        </p:nvSpPr>
        <p:spPr>
          <a:xfrm>
            <a:off x="812545" y="3024658"/>
            <a:ext cx="2218328" cy="3205429"/>
          </a:xfrm>
          <a:prstGeom prst="roundRect">
            <a:avLst>
              <a:gd name="adj" fmla="val 11745"/>
            </a:avLst>
          </a:prstGeom>
          <a:solidFill>
            <a:schemeClr val="bg1">
              <a:lumMod val="7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55BCE0C-44F4-414E-9018-BDE0FAE80B44}"/>
              </a:ext>
            </a:extLst>
          </p:cNvPr>
          <p:cNvSpPr txBox="1"/>
          <p:nvPr/>
        </p:nvSpPr>
        <p:spPr>
          <a:xfrm>
            <a:off x="3902423" y="5929822"/>
            <a:ext cx="61832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 dirty="0"/>
              <a:t>Figure 13:  </a:t>
            </a:r>
            <a:r>
              <a:rPr lang="en-US" sz="1200" dirty="0"/>
              <a:t>Comparison of parameter rankings across current density regions based on </a:t>
            </a:r>
            <a:r>
              <a:rPr lang="en-US" sz="1200" dirty="0" err="1"/>
              <a:t>Sobol</a:t>
            </a:r>
            <a:r>
              <a:rPr lang="en-US" sz="1200" dirty="0"/>
              <a:t> values. Lines track changes in feature importance from activation to ohmic to mass transport regions, where a lower rank indicates higher influence on model output.</a:t>
            </a:r>
            <a:endParaRPr lang="es-CO" sz="1200" dirty="0"/>
          </a:p>
          <a:p>
            <a:endParaRPr lang="es-CO" sz="1200" dirty="0"/>
          </a:p>
        </p:txBody>
      </p:sp>
      <p:sp>
        <p:nvSpPr>
          <p:cNvPr id="55" name="CuadroTexto 54">
            <a:extLst>
              <a:ext uri="{FF2B5EF4-FFF2-40B4-BE49-F238E27FC236}">
                <a16:creationId xmlns:a16="http://schemas.microsoft.com/office/drawing/2014/main" id="{2918958D-6509-47E6-BA83-2BF940354F4C}"/>
              </a:ext>
            </a:extLst>
          </p:cNvPr>
          <p:cNvSpPr txBox="1"/>
          <p:nvPr/>
        </p:nvSpPr>
        <p:spPr>
          <a:xfrm>
            <a:off x="938872" y="3183099"/>
            <a:ext cx="19268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prstClr val="black"/>
                </a:solidFill>
                <a:ea typeface="Source Sans Pro" panose="020B0503030403020204" pitchFamily="34" charset="0"/>
              </a:rPr>
              <a:t>Union of all selected features across regions</a:t>
            </a:r>
            <a:endParaRPr lang="es-CO" sz="1400" b="1" dirty="0">
              <a:solidFill>
                <a:prstClr val="black"/>
              </a:solidFill>
              <a:ea typeface="Source Sans Pro" panose="020B0503030403020204" pitchFamily="34" charset="0"/>
            </a:endParaRPr>
          </a:p>
          <a:p>
            <a:r>
              <a:rPr lang="en-US" sz="1400" dirty="0"/>
              <a:t>Features selected based on S1 indices from </a:t>
            </a:r>
            <a:r>
              <a:rPr lang="en-US" sz="1400" dirty="0" err="1"/>
              <a:t>Sobol</a:t>
            </a:r>
            <a:r>
              <a:rPr lang="en-US" sz="1400" dirty="0"/>
              <a:t> analysis, explaining over 90% of total variance </a:t>
            </a:r>
            <a:r>
              <a:rPr lang="en-US" sz="1400" dirty="0">
                <a:solidFill>
                  <a:srgbClr val="242121"/>
                </a:solidFill>
              </a:rPr>
              <a:t> - </a:t>
            </a:r>
            <a:br>
              <a:rPr lang="en-US" sz="1400" dirty="0">
                <a:solidFill>
                  <a:srgbClr val="242121"/>
                </a:solidFill>
              </a:rPr>
            </a:br>
            <a:r>
              <a:rPr lang="en-US" sz="1400" b="1" dirty="0">
                <a:solidFill>
                  <a:srgbClr val="242121"/>
                </a:solidFill>
              </a:rPr>
              <a:t>8 features</a:t>
            </a:r>
            <a:endParaRPr lang="es-CO" sz="1400" b="1" dirty="0">
              <a:solidFill>
                <a:srgbClr val="242121"/>
              </a:solidFill>
            </a:endParaRPr>
          </a:p>
        </p:txBody>
      </p:sp>
      <p:sp>
        <p:nvSpPr>
          <p:cNvPr id="47" name="CuadroTexto 46">
            <a:extLst>
              <a:ext uri="{FF2B5EF4-FFF2-40B4-BE49-F238E27FC236}">
                <a16:creationId xmlns:a16="http://schemas.microsoft.com/office/drawing/2014/main" id="{92FF3777-731E-4498-ABE3-939B97ABDE73}"/>
              </a:ext>
            </a:extLst>
          </p:cNvPr>
          <p:cNvSpPr txBox="1"/>
          <p:nvPr/>
        </p:nvSpPr>
        <p:spPr>
          <a:xfrm>
            <a:off x="893443" y="5214424"/>
            <a:ext cx="2472755" cy="1015663"/>
          </a:xfrm>
          <a:prstGeom prst="rect">
            <a:avLst/>
          </a:prstGeom>
          <a:noFill/>
        </p:spPr>
        <p:txBody>
          <a:bodyPr wrap="square" numCol="2" rtlCol="0">
            <a:spAutoFit/>
          </a:bodyPr>
          <a:lstStyle/>
          <a:p>
            <a:pPr marL="285750" indent="-285750">
              <a:buFontTx/>
              <a:buChar char="→"/>
            </a:pPr>
            <a:r>
              <a:rPr lang="sv-SE" sz="1200">
                <a:latin typeface="+mj-lt"/>
                <a:ea typeface="Source Sans Pro" panose="020B0503030403020204" pitchFamily="34" charset="0"/>
              </a:rPr>
              <a:t>Pa_des</a:t>
            </a:r>
          </a:p>
          <a:p>
            <a:pPr marL="285750" indent="-285750">
              <a:buFontTx/>
              <a:buChar char="→"/>
            </a:pPr>
            <a:r>
              <a:rPr lang="sv-SE" sz="1200">
                <a:latin typeface="+mj-lt"/>
                <a:ea typeface="Source Sans Pro" panose="020B0503030403020204" pitchFamily="34" charset="0"/>
              </a:rPr>
              <a:t>Re</a:t>
            </a:r>
          </a:p>
          <a:p>
            <a:pPr marL="285750" indent="-285750">
              <a:buFontTx/>
              <a:buChar char="→"/>
            </a:pPr>
            <a:r>
              <a:rPr lang="sv-SE" sz="1200">
                <a:latin typeface="+mj-lt"/>
                <a:ea typeface="Source Sans Pro" panose="020B0503030403020204" pitchFamily="34" charset="0"/>
              </a:rPr>
              <a:t>Tfc</a:t>
            </a:r>
          </a:p>
          <a:p>
            <a:pPr marL="285750" indent="-285750">
              <a:buFontTx/>
              <a:buChar char="→"/>
            </a:pPr>
            <a:r>
              <a:rPr lang="es-CO" sz="1200" err="1">
                <a:latin typeface="+mj-lt"/>
                <a:ea typeface="Source Sans Pro" panose="020B0503030403020204" pitchFamily="34" charset="0"/>
              </a:rPr>
              <a:t>epsilon_mc</a:t>
            </a:r>
            <a:endParaRPr lang="sv-SE" sz="1200">
              <a:latin typeface="+mj-lt"/>
              <a:ea typeface="Source Sans Pro" panose="020B0503030403020204" pitchFamily="34" charset="0"/>
            </a:endParaRPr>
          </a:p>
          <a:p>
            <a:endParaRPr lang="sv-SE" sz="1200">
              <a:latin typeface="+mj-lt"/>
              <a:ea typeface="Source Sans Pro" panose="020B0503030403020204" pitchFamily="34" charset="0"/>
            </a:endParaRPr>
          </a:p>
          <a:p>
            <a:pPr marL="285750" indent="-285750">
              <a:buFontTx/>
              <a:buChar char="→"/>
            </a:pPr>
            <a:r>
              <a:rPr lang="sv-SE" sz="1200">
                <a:latin typeface="+mj-lt"/>
                <a:ea typeface="Source Sans Pro" panose="020B0503030403020204" pitchFamily="34" charset="0"/>
              </a:rPr>
              <a:t>i0_c_ref</a:t>
            </a:r>
          </a:p>
          <a:p>
            <a:pPr marL="285750" indent="-285750">
              <a:buFontTx/>
              <a:buChar char="→"/>
            </a:pPr>
            <a:r>
              <a:rPr lang="sv-SE" sz="1200">
                <a:latin typeface="+mj-lt"/>
                <a:ea typeface="Source Sans Pro" panose="020B0503030403020204" pitchFamily="34" charset="0"/>
              </a:rPr>
              <a:t>ifc</a:t>
            </a:r>
          </a:p>
          <a:p>
            <a:pPr marL="285750" indent="-285750">
              <a:buFontTx/>
              <a:buChar char="→"/>
            </a:pPr>
            <a:r>
              <a:rPr lang="sv-SE" sz="1200">
                <a:latin typeface="+mj-lt"/>
                <a:ea typeface="Source Sans Pro" panose="020B0503030403020204" pitchFamily="34" charset="0"/>
              </a:rPr>
              <a:t>kappa_c</a:t>
            </a:r>
          </a:p>
          <a:p>
            <a:pPr marL="285750" indent="-285750">
              <a:buFontTx/>
              <a:buChar char="→"/>
            </a:pPr>
            <a:r>
              <a:rPr lang="sv-SE" sz="1200">
                <a:latin typeface="+mj-lt"/>
                <a:ea typeface="Source Sans Pro" panose="020B0503030403020204" pitchFamily="34" charset="0"/>
              </a:rPr>
              <a:t>Tau</a:t>
            </a:r>
            <a:endParaRPr lang="es-CO" sz="1200">
              <a:latin typeface="+mj-lt"/>
              <a:ea typeface="Source Sans Pro" panose="020B0503030403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2DB1BE9-0346-4034-9683-6AF0F7CB5A46}"/>
              </a:ext>
            </a:extLst>
          </p:cNvPr>
          <p:cNvPicPr preferRelativeResize="0"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343602" y="955329"/>
            <a:ext cx="8607600" cy="4986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381D8140-D1C7-6C0A-D86F-5188BCF07B94}"/>
              </a:ext>
            </a:extLst>
          </p:cNvPr>
          <p:cNvSpPr txBox="1"/>
          <p:nvPr/>
        </p:nvSpPr>
        <p:spPr>
          <a:xfrm>
            <a:off x="899750" y="803764"/>
            <a:ext cx="2398423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XGBoost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3200" b="1">
                <a:solidFill>
                  <a:srgbClr val="FFB903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lang="en-US" sz="3200" b="1">
                <a:solidFill>
                  <a:srgbClr val="B477E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lvl="0">
              <a:defRPr/>
            </a:pPr>
            <a:r>
              <a:rPr lang="en-US" sz="32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Rankings per </a:t>
            </a:r>
          </a:p>
          <a:p>
            <a:pPr lvl="0">
              <a:defRPr/>
            </a:pPr>
            <a:r>
              <a:rPr lang="en-US" sz="32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Region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CE72215-073E-E380-2566-41967F092896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5C53910-C784-50D4-9C11-8C47E937AA51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5ABBA556-235E-7225-57B8-D7172C1705B8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34227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C47E022-82BD-4AFE-8340-EC14CAD0C1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5950413"/>
              </p:ext>
            </p:extLst>
          </p:nvPr>
        </p:nvGraphicFramePr>
        <p:xfrm>
          <a:off x="7536260" y="1659481"/>
          <a:ext cx="4278663" cy="2913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78882">
                  <a:extLst>
                    <a:ext uri="{9D8B030D-6E8A-4147-A177-3AD203B41FA5}">
                      <a16:colId xmlns:a16="http://schemas.microsoft.com/office/drawing/2014/main" val="1387526258"/>
                    </a:ext>
                  </a:extLst>
                </a:gridCol>
                <a:gridCol w="978882">
                  <a:extLst>
                    <a:ext uri="{9D8B030D-6E8A-4147-A177-3AD203B41FA5}">
                      <a16:colId xmlns:a16="http://schemas.microsoft.com/office/drawing/2014/main" val="1495067489"/>
                    </a:ext>
                  </a:extLst>
                </a:gridCol>
                <a:gridCol w="978882">
                  <a:extLst>
                    <a:ext uri="{9D8B030D-6E8A-4147-A177-3AD203B41FA5}">
                      <a16:colId xmlns:a16="http://schemas.microsoft.com/office/drawing/2014/main" val="3270977024"/>
                    </a:ext>
                  </a:extLst>
                </a:gridCol>
                <a:gridCol w="1342017">
                  <a:extLst>
                    <a:ext uri="{9D8B030D-6E8A-4147-A177-3AD203B41FA5}">
                      <a16:colId xmlns:a16="http://schemas.microsoft.com/office/drawing/2014/main" val="2852300432"/>
                    </a:ext>
                  </a:extLst>
                </a:gridCol>
              </a:tblGrid>
              <a:tr h="371152"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Feature</a:t>
                      </a:r>
                      <a:endParaRPr lang="es-CO" sz="1400" b="1" kern="120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7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Activation</a:t>
                      </a:r>
                      <a:endParaRPr lang="es-CO" sz="1400" b="1" kern="120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7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Ohmic</a:t>
                      </a:r>
                      <a:endParaRPr lang="es-CO" sz="1400" b="1" kern="120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7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Mass</a:t>
                      </a:r>
                      <a:r>
                        <a:rPr lang="es-CO" sz="1400" b="1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 </a:t>
                      </a:r>
                      <a:r>
                        <a:rPr lang="es-CO" sz="1400" b="1" kern="120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transport</a:t>
                      </a:r>
                      <a:endParaRPr lang="es-CO" sz="1400" b="1" kern="120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87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5631120"/>
                  </a:ext>
                </a:extLst>
              </a:tr>
              <a:tr h="241116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i0_c_ref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1590850"/>
                  </a:ext>
                </a:extLst>
              </a:tr>
              <a:tr h="241116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ifc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67669"/>
                  </a:ext>
                </a:extLst>
              </a:tr>
              <a:tr h="241116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kappa_c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 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7303973"/>
                  </a:ext>
                </a:extLst>
              </a:tr>
              <a:tr h="241116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Tfc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907922"/>
                  </a:ext>
                </a:extLst>
              </a:tr>
              <a:tr h="241116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Pa_des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 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9205503"/>
                  </a:ext>
                </a:extLst>
              </a:tr>
              <a:tr h="241116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406486"/>
                  </a:ext>
                </a:extLst>
              </a:tr>
              <a:tr h="241116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tau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 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1512276"/>
                  </a:ext>
                </a:extLst>
              </a:tr>
              <a:tr h="241116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Epsilon_mc</a:t>
                      </a:r>
                      <a:endParaRPr lang="es-CO" sz="1400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400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s-CO" sz="1400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8</a:t>
                      </a:r>
                      <a:endParaRPr lang="es-CO" sz="1400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083100"/>
                  </a:ext>
                </a:extLst>
              </a:tr>
              <a:tr h="241116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kern="1200" err="1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Accumulated</a:t>
                      </a:r>
                      <a:r>
                        <a:rPr lang="es-ES" sz="1200" b="1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  S1</a:t>
                      </a:r>
                      <a:endParaRPr lang="es-CO" sz="1200" b="1" kern="120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7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0,928</a:t>
                      </a:r>
                      <a:endParaRPr lang="es-CO" sz="1400" b="1" kern="120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7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0,908</a:t>
                      </a:r>
                      <a:endParaRPr lang="es-CO" sz="1400" b="1" kern="120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7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400" b="1" kern="1200">
                          <a:solidFill>
                            <a:schemeClr val="bg1">
                              <a:lumMod val="95000"/>
                            </a:schemeClr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0,904</a:t>
                      </a:r>
                      <a:endParaRPr lang="es-CO" sz="1400" b="1" kern="1200">
                        <a:solidFill>
                          <a:schemeClr val="bg1">
                            <a:lumMod val="95000"/>
                          </a:schemeClr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887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3771165"/>
                  </a:ext>
                </a:extLst>
              </a:tr>
            </a:tbl>
          </a:graphicData>
        </a:graphic>
      </p:graphicFrame>
      <p:sp>
        <p:nvSpPr>
          <p:cNvPr id="47" name="CuadroTexto 46">
            <a:extLst>
              <a:ext uri="{FF2B5EF4-FFF2-40B4-BE49-F238E27FC236}">
                <a16:creationId xmlns:a16="http://schemas.microsoft.com/office/drawing/2014/main" id="{AAA301A7-D694-4431-BC02-14AC7A780918}"/>
              </a:ext>
            </a:extLst>
          </p:cNvPr>
          <p:cNvSpPr txBox="1"/>
          <p:nvPr/>
        </p:nvSpPr>
        <p:spPr>
          <a:xfrm>
            <a:off x="8676097" y="1154964"/>
            <a:ext cx="19989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40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Sobol</a:t>
            </a:r>
            <a:r>
              <a:rPr kumimoji="0" lang="en-US" sz="24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(S1)</a:t>
            </a:r>
            <a:endParaRPr lang="es-CO" sz="2400"/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71F95B08-BCC2-4E79-B7A8-2D7F46C0BF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9813960"/>
              </p:ext>
            </p:extLst>
          </p:nvPr>
        </p:nvGraphicFramePr>
        <p:xfrm>
          <a:off x="3421584" y="1659481"/>
          <a:ext cx="4003679" cy="198346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5971">
                  <a:extLst>
                    <a:ext uri="{9D8B030D-6E8A-4147-A177-3AD203B41FA5}">
                      <a16:colId xmlns:a16="http://schemas.microsoft.com/office/drawing/2014/main" val="2601359947"/>
                    </a:ext>
                  </a:extLst>
                </a:gridCol>
                <a:gridCol w="915971">
                  <a:extLst>
                    <a:ext uri="{9D8B030D-6E8A-4147-A177-3AD203B41FA5}">
                      <a16:colId xmlns:a16="http://schemas.microsoft.com/office/drawing/2014/main" val="1735578645"/>
                    </a:ext>
                  </a:extLst>
                </a:gridCol>
                <a:gridCol w="915971">
                  <a:extLst>
                    <a:ext uri="{9D8B030D-6E8A-4147-A177-3AD203B41FA5}">
                      <a16:colId xmlns:a16="http://schemas.microsoft.com/office/drawing/2014/main" val="2955413578"/>
                    </a:ext>
                  </a:extLst>
                </a:gridCol>
                <a:gridCol w="1255766">
                  <a:extLst>
                    <a:ext uri="{9D8B030D-6E8A-4147-A177-3AD203B41FA5}">
                      <a16:colId xmlns:a16="http://schemas.microsoft.com/office/drawing/2014/main" val="807929448"/>
                    </a:ext>
                  </a:extLst>
                </a:gridCol>
              </a:tblGrid>
              <a:tr h="373738"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Feature</a:t>
                      </a:r>
                      <a:endParaRPr lang="es-CO" sz="1400" b="1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Activation</a:t>
                      </a:r>
                      <a:endParaRPr lang="es-CO" sz="1400" b="1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Ohmic</a:t>
                      </a:r>
                      <a:endParaRPr lang="es-CO" sz="1400" b="1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Mass</a:t>
                      </a: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 </a:t>
                      </a:r>
                      <a:r>
                        <a:rPr lang="es-CO" sz="1400" b="1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transport</a:t>
                      </a:r>
                      <a:endParaRPr lang="es-CO" sz="1400" b="1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8239711"/>
                  </a:ext>
                </a:extLst>
              </a:tr>
              <a:tr h="244449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ifc</a:t>
                      </a:r>
                      <a:endParaRPr lang="es-CO" sz="1400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25859"/>
                  </a:ext>
                </a:extLst>
              </a:tr>
              <a:tr h="244449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i0_c_ref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8014786"/>
                  </a:ext>
                </a:extLst>
              </a:tr>
              <a:tr h="244449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kappa_c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874256"/>
                  </a:ext>
                </a:extLst>
              </a:tr>
              <a:tr h="244449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Tfc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225907"/>
                  </a:ext>
                </a:extLst>
              </a:tr>
              <a:tr h="244449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Pa_des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5866221"/>
                  </a:ext>
                </a:extLst>
              </a:tr>
              <a:tr h="244449"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Re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 dirty="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108794"/>
                  </a:ext>
                </a:extLst>
              </a:tr>
            </a:tbl>
          </a:graphicData>
        </a:graphic>
      </p:graphicFrame>
      <p:sp>
        <p:nvSpPr>
          <p:cNvPr id="49" name="CuadroTexto 48">
            <a:extLst>
              <a:ext uri="{FF2B5EF4-FFF2-40B4-BE49-F238E27FC236}">
                <a16:creationId xmlns:a16="http://schemas.microsoft.com/office/drawing/2014/main" id="{39B2D7E5-9D13-4BE1-9F89-4DF5B053C211}"/>
              </a:ext>
            </a:extLst>
          </p:cNvPr>
          <p:cNvSpPr txBox="1"/>
          <p:nvPr/>
        </p:nvSpPr>
        <p:spPr>
          <a:xfrm>
            <a:off x="4098055" y="1167476"/>
            <a:ext cx="26507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40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Mean |SHAP| </a:t>
            </a:r>
            <a:endParaRPr lang="es-CO" sz="2400"/>
          </a:p>
        </p:txBody>
      </p:sp>
      <p:sp>
        <p:nvSpPr>
          <p:cNvPr id="96" name="Google Shape;1091;p66">
            <a:extLst>
              <a:ext uri="{FF2B5EF4-FFF2-40B4-BE49-F238E27FC236}">
                <a16:creationId xmlns:a16="http://schemas.microsoft.com/office/drawing/2014/main" id="{3CDE2EB4-97B2-4897-B2E1-15DC0AA30BC5}"/>
              </a:ext>
            </a:extLst>
          </p:cNvPr>
          <p:cNvSpPr txBox="1"/>
          <p:nvPr/>
        </p:nvSpPr>
        <p:spPr>
          <a:xfrm>
            <a:off x="7536259" y="4615394"/>
            <a:ext cx="4278663" cy="943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400" b="1">
                <a:ea typeface="Source Sans Pro" panose="020B0503030403020204" pitchFamily="34" charset="0"/>
              </a:rPr>
              <a:t>Table 8</a:t>
            </a:r>
            <a:r>
              <a:rPr lang="en-US" sz="1400" b="1"/>
              <a:t>: </a:t>
            </a:r>
            <a:r>
              <a:rPr lang="en-US" sz="1400">
                <a:sym typeface="Roboto"/>
              </a:rPr>
              <a:t>Ranking position of selected features based on total Sobol index across polarization regions. Features are selected so that the accumulated S1 equals a threshold (0.9).</a:t>
            </a:r>
          </a:p>
        </p:txBody>
      </p:sp>
      <p:sp>
        <p:nvSpPr>
          <p:cNvPr id="99" name="Google Shape;1091;p66">
            <a:extLst>
              <a:ext uri="{FF2B5EF4-FFF2-40B4-BE49-F238E27FC236}">
                <a16:creationId xmlns:a16="http://schemas.microsoft.com/office/drawing/2014/main" id="{42A6DC8B-BF55-4EA5-B024-65A2054BEE32}"/>
              </a:ext>
            </a:extLst>
          </p:cNvPr>
          <p:cNvSpPr txBox="1"/>
          <p:nvPr/>
        </p:nvSpPr>
        <p:spPr>
          <a:xfrm>
            <a:off x="3421584" y="3788073"/>
            <a:ext cx="4003678" cy="7844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400" b="1">
                <a:ea typeface="Source Sans Pro" panose="020B0503030403020204" pitchFamily="34" charset="0"/>
              </a:rPr>
              <a:t>Table 7</a:t>
            </a:r>
            <a:r>
              <a:rPr lang="en-US" sz="1400" b="1"/>
              <a:t>: </a:t>
            </a:r>
            <a:r>
              <a:rPr lang="en-US" sz="1400"/>
              <a:t>Ranking positions of selected features based on SHAP values across polarization regions. The top 5 features in each region are displayed.</a:t>
            </a:r>
            <a:endParaRPr lang="en-US" sz="1400">
              <a:sym typeface="Roboto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F38B204A-A881-49EB-A769-1316AC4CBE35}"/>
              </a:ext>
            </a:extLst>
          </p:cNvPr>
          <p:cNvGrpSpPr/>
          <p:nvPr/>
        </p:nvGrpSpPr>
        <p:grpSpPr>
          <a:xfrm>
            <a:off x="974845" y="4683718"/>
            <a:ext cx="4448578" cy="1282101"/>
            <a:chOff x="893443" y="4292922"/>
            <a:chExt cx="4135656" cy="1282101"/>
          </a:xfrm>
        </p:grpSpPr>
        <p:sp>
          <p:nvSpPr>
            <p:cNvPr id="8" name="Rectángulo: esquinas redondeadas 7">
              <a:extLst>
                <a:ext uri="{FF2B5EF4-FFF2-40B4-BE49-F238E27FC236}">
                  <a16:creationId xmlns:a16="http://schemas.microsoft.com/office/drawing/2014/main" id="{BEBF245C-579C-4AF6-94C1-3EB6142DF58C}"/>
                </a:ext>
              </a:extLst>
            </p:cNvPr>
            <p:cNvSpPr/>
            <p:nvPr/>
          </p:nvSpPr>
          <p:spPr>
            <a:xfrm>
              <a:off x="893443" y="4438213"/>
              <a:ext cx="3956693" cy="1000388"/>
            </a:xfrm>
            <a:prstGeom prst="roundRect">
              <a:avLst/>
            </a:prstGeom>
            <a:solidFill>
              <a:srgbClr val="BBE55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41" name="Google Shape;1164;p66">
              <a:extLst>
                <a:ext uri="{FF2B5EF4-FFF2-40B4-BE49-F238E27FC236}">
                  <a16:creationId xmlns:a16="http://schemas.microsoft.com/office/drawing/2014/main" id="{F04264F4-8C5F-424D-8CA0-2AF63C07C8D3}"/>
                </a:ext>
              </a:extLst>
            </p:cNvPr>
            <p:cNvSpPr/>
            <p:nvPr/>
          </p:nvSpPr>
          <p:spPr>
            <a:xfrm>
              <a:off x="893443" y="4292922"/>
              <a:ext cx="4135656" cy="1282101"/>
            </a:xfrm>
            <a:prstGeom prst="roundRect">
              <a:avLst>
                <a:gd name="adj" fmla="val 50000"/>
              </a:avLst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r>
                <a:rPr lang="en" sz="1600" b="1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Fira Sans Extra Condensed"/>
                </a:rPr>
                <a:t>Common features (intersection): </a:t>
              </a:r>
            </a:p>
            <a:p>
              <a:r>
                <a:rPr lang="en" sz="1600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Fira Sans Extra Condensed"/>
                </a:rPr>
                <a:t>Pa_des, Re, Tfc, i0_c_ref, ifc , kappa_c</a:t>
              </a:r>
              <a:endParaRPr lang="es-CO" sz="160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  <a:p>
              <a:r>
                <a:rPr lang="es-CO" sz="1600" b="1" err="1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Fira Sans Extra Condensed"/>
                </a:rPr>
                <a:t>Adittional</a:t>
              </a:r>
              <a:r>
                <a:rPr lang="es-CO" sz="1600" b="1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Fira Sans Extra Condensed"/>
                </a:rPr>
                <a:t> </a:t>
              </a:r>
              <a:r>
                <a:rPr lang="es-CO" sz="1600" b="1" err="1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Fira Sans Extra Condensed"/>
                </a:rPr>
                <a:t>features</a:t>
              </a:r>
              <a:r>
                <a:rPr lang="es-CO" sz="1600" b="1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Fira Sans Extra Condensed"/>
                </a:rPr>
                <a:t>: </a:t>
              </a:r>
              <a:r>
                <a:rPr lang="es-CO" sz="1600" err="1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epsilon_mc</a:t>
              </a:r>
              <a:r>
                <a:rPr lang="es-CO" sz="1600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</a:rPr>
                <a:t>, </a:t>
              </a:r>
              <a:r>
                <a:rPr lang="es-CO" sz="1600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Fira Sans Extra Condensed"/>
                </a:rPr>
                <a:t>tau (</a:t>
              </a:r>
              <a:r>
                <a:rPr lang="es-CO" sz="1600" err="1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Fira Sans Extra Condensed"/>
                </a:rPr>
                <a:t>Sobol</a:t>
              </a:r>
              <a:r>
                <a:rPr lang="es-CO" sz="1600">
                  <a:solidFill>
                    <a:prstClr val="black"/>
                  </a:solidFill>
                  <a:latin typeface="Source Sans Pro" panose="020B0503030403020204" pitchFamily="34" charset="0"/>
                  <a:ea typeface="Source Sans Pro" panose="020B0503030403020204" pitchFamily="34" charset="0"/>
                  <a:sym typeface="Fira Sans Extra Condensed"/>
                </a:rPr>
                <a:t>)</a:t>
              </a:r>
            </a:p>
          </p:txBody>
        </p:sp>
      </p:grpSp>
      <p:sp>
        <p:nvSpPr>
          <p:cNvPr id="3" name="CuadroTexto 2">
            <a:extLst>
              <a:ext uri="{FF2B5EF4-FFF2-40B4-BE49-F238E27FC236}">
                <a16:creationId xmlns:a16="http://schemas.microsoft.com/office/drawing/2014/main" id="{17352F61-A11E-8180-2A90-808127F88FF8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BF95A63-BD04-9EED-B25F-DB6D5B2EDE5E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ángulo redondeado 5">
            <a:extLst>
              <a:ext uri="{FF2B5EF4-FFF2-40B4-BE49-F238E27FC236}">
                <a16:creationId xmlns:a16="http://schemas.microsoft.com/office/drawing/2014/main" id="{1F5F9899-CA12-94A0-F626-DB0A948D6C1C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C0A80E7-BDCE-1C46-DA86-1AE61FF82F47}"/>
              </a:ext>
            </a:extLst>
          </p:cNvPr>
          <p:cNvSpPr txBox="1"/>
          <p:nvPr/>
        </p:nvSpPr>
        <p:spPr>
          <a:xfrm>
            <a:off x="899750" y="803764"/>
            <a:ext cx="2410837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XGBoost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n-US" sz="3200" b="1">
                <a:solidFill>
                  <a:srgbClr val="BBE555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Comparing</a:t>
            </a:r>
            <a:r>
              <a:rPr lang="en-US" sz="3600" i="1">
                <a:solidFill>
                  <a:srgbClr val="BBE555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  <a:p>
            <a:pPr lvl="0">
              <a:defRPr/>
            </a:pPr>
            <a:r>
              <a:rPr lang="en-US" sz="32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Rankings per </a:t>
            </a:r>
          </a:p>
          <a:p>
            <a:pPr lvl="0">
              <a:defRPr/>
            </a:pPr>
            <a:r>
              <a:rPr lang="en-US" sz="32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Region</a:t>
            </a:r>
          </a:p>
        </p:txBody>
      </p:sp>
    </p:spTree>
    <p:extLst>
      <p:ext uri="{BB962C8B-B14F-4D97-AF65-F5344CB8AC3E}">
        <p14:creationId xmlns:p14="http://schemas.microsoft.com/office/powerpoint/2010/main" val="3402439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DECDB7-B92A-C7F9-93A5-F3025D96BDFA}"/>
              </a:ext>
            </a:extLst>
          </p:cNvPr>
          <p:cNvSpPr txBox="1"/>
          <p:nvPr/>
        </p:nvSpPr>
        <p:spPr>
          <a:xfrm>
            <a:off x="1388107" y="2412158"/>
            <a:ext cx="94157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80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4. </a:t>
            </a:r>
            <a:r>
              <a:rPr lang="es-CO" sz="80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Surrogate</a:t>
            </a:r>
            <a:r>
              <a:rPr lang="es-CO" sz="80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 </a:t>
            </a:r>
            <a:r>
              <a:rPr lang="es-CO" sz="80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Model</a:t>
            </a:r>
            <a:endParaRPr lang="es-CO" sz="8000" i="1">
              <a:solidFill>
                <a:schemeClr val="bg1"/>
              </a:solidFill>
              <a:latin typeface="Source Sans Pro Light" panose="020B0503030403020204" pitchFamily="34" charset="0"/>
              <a:ea typeface="Source Sans Pro Light" panose="020B0503030403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_tradnl" sz="4400" i="1" err="1">
                <a:solidFill>
                  <a:prstClr val="white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Building</a:t>
            </a:r>
            <a:r>
              <a:rPr lang="es-ES_tradnl" sz="4400" i="1">
                <a:solidFill>
                  <a:prstClr val="white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a more </a:t>
            </a:r>
            <a:r>
              <a:rPr lang="es-ES_tradnl" sz="4400" i="1" err="1">
                <a:solidFill>
                  <a:prstClr val="white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efficient</a:t>
            </a:r>
            <a:r>
              <a:rPr lang="es-ES_tradnl" sz="4400" i="1">
                <a:solidFill>
                  <a:prstClr val="white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, </a:t>
            </a:r>
            <a:r>
              <a:rPr lang="es-ES_tradnl" sz="4400" i="1" err="1">
                <a:solidFill>
                  <a:prstClr val="white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faithful</a:t>
            </a:r>
            <a:r>
              <a:rPr lang="es-ES_tradnl" sz="4400" i="1">
                <a:solidFill>
                  <a:prstClr val="white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and </a:t>
            </a:r>
            <a:r>
              <a:rPr lang="es-ES_tradnl" sz="4400" i="1" err="1">
                <a:solidFill>
                  <a:prstClr val="white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closed-form</a:t>
            </a:r>
            <a:r>
              <a:rPr lang="es-ES_tradnl" sz="4400" i="1">
                <a:solidFill>
                  <a:prstClr val="white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s-ES_tradnl" sz="4400" i="1" err="1">
                <a:solidFill>
                  <a:prstClr val="white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surrogate</a:t>
            </a:r>
            <a:endParaRPr kumimoji="0" lang="es-ES_tradnl" sz="4400" b="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15968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60AA4-A975-A430-DCCB-F63AC73B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39F4E13-3544-4A6F-5638-A6C4AD85E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30</a:t>
            </a:fld>
            <a:endParaRPr lang="es-ES_tradnl" b="1"/>
          </a:p>
        </p:txBody>
      </p:sp>
      <p:sp>
        <p:nvSpPr>
          <p:cNvPr id="8" name="CuadroTexto 25">
            <a:extLst>
              <a:ext uri="{FF2B5EF4-FFF2-40B4-BE49-F238E27FC236}">
                <a16:creationId xmlns:a16="http://schemas.microsoft.com/office/drawing/2014/main" id="{B83A4979-3AD8-0732-09B4-B3961E6DD012}"/>
              </a:ext>
            </a:extLst>
          </p:cNvPr>
          <p:cNvSpPr txBox="1"/>
          <p:nvPr/>
        </p:nvSpPr>
        <p:spPr>
          <a:xfrm>
            <a:off x="1477412" y="979888"/>
            <a:ext cx="4618588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3600" i="1" err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PySR</a:t>
            </a:r>
            <a:r>
              <a:rPr lang="en-US" sz="36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: 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Symbolic Regression in Python</a:t>
            </a:r>
          </a:p>
        </p:txBody>
      </p:sp>
      <p:sp>
        <p:nvSpPr>
          <p:cNvPr id="10" name="CuadroTexto 25">
            <a:extLst>
              <a:ext uri="{FF2B5EF4-FFF2-40B4-BE49-F238E27FC236}">
                <a16:creationId xmlns:a16="http://schemas.microsoft.com/office/drawing/2014/main" id="{DFC1148E-3029-88F3-4718-639847077B80}"/>
              </a:ext>
            </a:extLst>
          </p:cNvPr>
          <p:cNvSpPr txBox="1"/>
          <p:nvPr/>
        </p:nvSpPr>
        <p:spPr>
          <a:xfrm>
            <a:off x="1477412" y="2287238"/>
            <a:ext cx="4618588" cy="2791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>
              <a:defRPr lang="es-CO"/>
            </a:defPPr>
            <a:lvl1pPr marL="285750" indent="-285750">
              <a:buFontTx/>
              <a:buChar char="→"/>
              <a:defRPr sz="1600">
                <a:latin typeface="+mj-lt"/>
                <a:ea typeface="Source Sans Pro" panose="020B0503030403020204" pitchFamily="34" charset="0"/>
              </a:defRPr>
            </a:lvl1pPr>
          </a:lstStyle>
          <a:p>
            <a:pPr>
              <a:spcBef>
                <a:spcPts val="600"/>
              </a:spcBef>
            </a:pPr>
            <a:r>
              <a:rPr lang="en-US" sz="1800">
                <a:latin typeface="Source Sans Pro"/>
                <a:ea typeface="Source Sans Pro"/>
              </a:rPr>
              <a:t>Goal: find a mathematical expression that best fits the data</a:t>
            </a:r>
          </a:p>
          <a:p>
            <a:pPr>
              <a:spcBef>
                <a:spcPts val="600"/>
              </a:spcBef>
            </a:pPr>
            <a:r>
              <a:rPr lang="en-US" sz="1800">
                <a:latin typeface="Source Sans Pro"/>
                <a:ea typeface="Source Sans Pro"/>
              </a:rPr>
              <a:t>Discovers both the form and the parameters of the model</a:t>
            </a:r>
          </a:p>
          <a:p>
            <a:pPr>
              <a:spcBef>
                <a:spcPts val="600"/>
              </a:spcBef>
            </a:pPr>
            <a:r>
              <a:rPr lang="en-US" sz="1800">
                <a:latin typeface="Source Sans Pro"/>
                <a:ea typeface="Source Sans Pro"/>
              </a:rPr>
              <a:t>Expressions are represented as trees</a:t>
            </a:r>
          </a:p>
          <a:p>
            <a:pPr>
              <a:spcBef>
                <a:spcPts val="600"/>
              </a:spcBef>
            </a:pPr>
            <a:r>
              <a:rPr lang="en-US" sz="1800">
                <a:latin typeface="Source Sans Pro"/>
                <a:ea typeface="Source Sans Pro"/>
              </a:rPr>
              <a:t>Assumptions on the functional form can be included.</a:t>
            </a:r>
          </a:p>
          <a:p>
            <a:pPr>
              <a:spcBef>
                <a:spcPts val="600"/>
              </a:spcBef>
            </a:pPr>
            <a:r>
              <a:rPr lang="en-US" sz="1800">
                <a:latin typeface="Source Sans Pro"/>
                <a:ea typeface="Source Sans Pro"/>
              </a:rPr>
              <a:t>Uses evolutionary algorithms</a:t>
            </a:r>
          </a:p>
          <a:p>
            <a:pPr marL="0" indent="0">
              <a:spcBef>
                <a:spcPts val="600"/>
              </a:spcBef>
              <a:buNone/>
            </a:pPr>
            <a:endParaRPr lang="en-US" sz="1800">
              <a:latin typeface="Source Sans Pro" panose="020B0503030403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6939EA-7759-B216-B420-58F729D144E2}"/>
              </a:ext>
            </a:extLst>
          </p:cNvPr>
          <p:cNvSpPr txBox="1"/>
          <p:nvPr/>
        </p:nvSpPr>
        <p:spPr>
          <a:xfrm>
            <a:off x="1476888" y="5080384"/>
            <a:ext cx="3352381" cy="473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Source: Interpretable Machine Learning for Science with </a:t>
            </a:r>
            <a:r>
              <a:rPr lang="en-US" sz="1200" err="1">
                <a:solidFill>
                  <a:schemeClr val="bg1">
                    <a:lumMod val="65000"/>
                  </a:schemeClr>
                </a:solidFill>
              </a:rPr>
              <a:t>PySR</a:t>
            </a:r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 and </a:t>
            </a:r>
            <a:r>
              <a:rPr lang="en-US" sz="1200" err="1">
                <a:solidFill>
                  <a:schemeClr val="bg1">
                    <a:lumMod val="65000"/>
                  </a:schemeClr>
                </a:solidFill>
              </a:rPr>
              <a:t>SymbolicRegression.jl</a:t>
            </a:r>
            <a:endParaRPr lang="es-ES_tradnl" sz="12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5BC65F-4069-77CF-76BB-0C2FA14C25D1}"/>
              </a:ext>
            </a:extLst>
          </p:cNvPr>
          <p:cNvSpPr txBox="1"/>
          <p:nvPr/>
        </p:nvSpPr>
        <p:spPr>
          <a:xfrm>
            <a:off x="7135335" y="4920727"/>
            <a:ext cx="30103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/>
              <a:t>Figure 14: </a:t>
            </a:r>
            <a:r>
              <a:rPr lang="en-US" sz="1200" dirty="0"/>
              <a:t>Example of how an expression is represented as a tree.</a:t>
            </a:r>
            <a:r>
              <a:rPr lang="en-US" sz="1200"/>
              <a:t> </a:t>
            </a:r>
            <a:r>
              <a:rPr lang="en-US" sz="1200" i="1"/>
              <a:t>Source: </a:t>
            </a:r>
            <a:r>
              <a:rPr lang="en-US" sz="1200" i="1">
                <a:hlinkClick r:id="rId2"/>
              </a:rPr>
              <a:t>Wikimedia</a:t>
            </a:r>
            <a:endParaRPr lang="en-DE" sz="1200" i="1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F9BE10E-7BBC-4310-8EF6-60EDA9A913AD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7B12A7B5-8A72-797D-1328-65F79054B727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4" name="Rectángulo redondeado 13">
            <a:extLst>
              <a:ext uri="{FF2B5EF4-FFF2-40B4-BE49-F238E27FC236}">
                <a16:creationId xmlns:a16="http://schemas.microsoft.com/office/drawing/2014/main" id="{3E14A777-92CB-589B-851F-2646EC69861C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C5C2244-973C-CB6D-A831-8B4B7DC8A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1302" y="1754868"/>
            <a:ext cx="2838450" cy="3028950"/>
          </a:xfrm>
          <a:prstGeom prst="rect">
            <a:avLst/>
          </a:prstGeom>
        </p:spPr>
      </p:pic>
      <p:sp>
        <p:nvSpPr>
          <p:cNvPr id="9" name="Google Shape;1860;p37">
            <a:extLst>
              <a:ext uri="{FF2B5EF4-FFF2-40B4-BE49-F238E27FC236}">
                <a16:creationId xmlns:a16="http://schemas.microsoft.com/office/drawing/2014/main" id="{63B6A06B-DBCD-9DB4-4F3C-BF9110A83ABB}"/>
              </a:ext>
            </a:extLst>
          </p:cNvPr>
          <p:cNvSpPr/>
          <p:nvPr/>
        </p:nvSpPr>
        <p:spPr bwMode="auto">
          <a:xfrm>
            <a:off x="6372695" y="1176557"/>
            <a:ext cx="1525279" cy="2990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40">
              <a:buClr>
                <a:srgbClr val="000000"/>
              </a:buClr>
              <a:defRPr/>
            </a:pPr>
            <a:r>
              <a:rPr lang="es-MX" sz="1400" kern="0">
                <a:solidFill>
                  <a:schemeClr val="bg1">
                    <a:lumMod val="65000"/>
                  </a:schemeClr>
                </a:solidFill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Cranmer (2023) </a:t>
            </a:r>
            <a:endParaRPr lang="es-MX" sz="1400" kern="0">
              <a:solidFill>
                <a:schemeClr val="bg1">
                  <a:lumMod val="65000"/>
                </a:schemeClr>
              </a:solidFill>
              <a:cs typeface="Arial"/>
              <a:sym typeface="Arial"/>
            </a:endParaRP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7C7E5853-51F3-4378-5CBD-59A1EC68EC98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90428" y="1272736"/>
            <a:ext cx="124210" cy="12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782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872C-659E-F07E-FA26-9CC4A647F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Elipse 40">
            <a:extLst>
              <a:ext uri="{FF2B5EF4-FFF2-40B4-BE49-F238E27FC236}">
                <a16:creationId xmlns:a16="http://schemas.microsoft.com/office/drawing/2014/main" id="{5F2B5973-BBA1-4AB0-8A08-C832F9A91629}"/>
              </a:ext>
            </a:extLst>
          </p:cNvPr>
          <p:cNvSpPr/>
          <p:nvPr/>
        </p:nvSpPr>
        <p:spPr>
          <a:xfrm>
            <a:off x="4511461" y="5923256"/>
            <a:ext cx="250853" cy="234669"/>
          </a:xfrm>
          <a:prstGeom prst="ellipse">
            <a:avLst/>
          </a:prstGeom>
          <a:solidFill>
            <a:srgbClr val="A97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40" name="Elipse 39">
            <a:extLst>
              <a:ext uri="{FF2B5EF4-FFF2-40B4-BE49-F238E27FC236}">
                <a16:creationId xmlns:a16="http://schemas.microsoft.com/office/drawing/2014/main" id="{CC62D782-6BCB-4D44-8D26-194C690812DC}"/>
              </a:ext>
            </a:extLst>
          </p:cNvPr>
          <p:cNvSpPr/>
          <p:nvPr/>
        </p:nvSpPr>
        <p:spPr>
          <a:xfrm>
            <a:off x="2217314" y="5859855"/>
            <a:ext cx="250853" cy="234669"/>
          </a:xfrm>
          <a:prstGeom prst="ellipse">
            <a:avLst/>
          </a:prstGeom>
          <a:solidFill>
            <a:srgbClr val="A974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s-CO" sz="1050">
              <a:solidFill>
                <a:schemeClr val="tx1"/>
              </a:solidFill>
            </a:endParaRPr>
          </a:p>
        </p:txBody>
      </p:sp>
      <p:sp>
        <p:nvSpPr>
          <p:cNvPr id="18" name="Rectángulo redondeado 17">
            <a:extLst>
              <a:ext uri="{FF2B5EF4-FFF2-40B4-BE49-F238E27FC236}">
                <a16:creationId xmlns:a16="http://schemas.microsoft.com/office/drawing/2014/main" id="{1B558599-5DA4-83A0-3738-33A1975FABDA}"/>
              </a:ext>
            </a:extLst>
          </p:cNvPr>
          <p:cNvSpPr/>
          <p:nvPr/>
        </p:nvSpPr>
        <p:spPr>
          <a:xfrm>
            <a:off x="6717325" y="1378370"/>
            <a:ext cx="4513385" cy="4202418"/>
          </a:xfrm>
          <a:prstGeom prst="roundRect">
            <a:avLst>
              <a:gd name="adj" fmla="val 11272"/>
            </a:avLst>
          </a:prstGeom>
          <a:noFill/>
          <a:ln>
            <a:solidFill>
              <a:srgbClr val="FFB9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B1343497-8AB4-0874-4E30-BCE0B7CB724B}"/>
              </a:ext>
            </a:extLst>
          </p:cNvPr>
          <p:cNvSpPr/>
          <p:nvPr/>
        </p:nvSpPr>
        <p:spPr>
          <a:xfrm>
            <a:off x="8222924" y="1136954"/>
            <a:ext cx="1502187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D9F76C19-0C44-8299-2621-D631FDFA81FA}"/>
              </a:ext>
            </a:extLst>
          </p:cNvPr>
          <p:cNvSpPr/>
          <p:nvPr/>
        </p:nvSpPr>
        <p:spPr>
          <a:xfrm>
            <a:off x="949569" y="1367788"/>
            <a:ext cx="5380893" cy="2435469"/>
          </a:xfrm>
          <a:prstGeom prst="roundRect">
            <a:avLst>
              <a:gd name="adj" fmla="val 11272"/>
            </a:avLst>
          </a:prstGeom>
          <a:noFill/>
          <a:ln>
            <a:solidFill>
              <a:srgbClr val="FFB9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8C37E064-C635-E32C-B064-836E744F743A}"/>
              </a:ext>
            </a:extLst>
          </p:cNvPr>
          <p:cNvSpPr/>
          <p:nvPr/>
        </p:nvSpPr>
        <p:spPr>
          <a:xfrm>
            <a:off x="2954215" y="1136955"/>
            <a:ext cx="1383323" cy="46166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D70F0D4-DCD1-7B4C-901B-C905A7489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31</a:t>
            </a:fld>
            <a:endParaRPr lang="es-ES_tradnl" b="1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B8FF50-C17A-23C8-83C6-CDC320403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858" y="1657565"/>
            <a:ext cx="3264148" cy="177143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9D710B-6292-E190-AFA4-B17654191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7323" y="1759027"/>
            <a:ext cx="3333388" cy="3622955"/>
          </a:xfrm>
          <a:prstGeom prst="rect">
            <a:avLst/>
          </a:prstGeom>
        </p:spPr>
      </p:pic>
      <p:sp>
        <p:nvSpPr>
          <p:cNvPr id="11" name="CuadroTexto 25">
            <a:extLst>
              <a:ext uri="{FF2B5EF4-FFF2-40B4-BE49-F238E27FC236}">
                <a16:creationId xmlns:a16="http://schemas.microsoft.com/office/drawing/2014/main" id="{CD77B3C7-7D81-590B-80A3-14DCB6A66E99}"/>
              </a:ext>
            </a:extLst>
          </p:cNvPr>
          <p:cNvSpPr txBox="1"/>
          <p:nvPr/>
        </p:nvSpPr>
        <p:spPr>
          <a:xfrm>
            <a:off x="2948353" y="1148495"/>
            <a:ext cx="1383323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Source Sans Pro SemiBold" panose="020B0503030403020204" pitchFamily="34" charset="0"/>
                <a:ea typeface="Source Sans Pro SemiBold" panose="020B0503030403020204" pitchFamily="34" charset="0"/>
              </a:rPr>
              <a:t>Mutation</a:t>
            </a:r>
            <a:endParaRPr lang="en-US" b="1" u="none" strike="noStrike" dirty="0">
              <a:solidFill>
                <a:srgbClr val="000000"/>
              </a:solidFill>
              <a:effectLst/>
              <a:latin typeface="Source Sans Pro SemiBold" panose="020B0503030403020204" pitchFamily="34" charset="0"/>
              <a:ea typeface="Source Sans Pro SemiBold" panose="020B0503030403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43B98C-F1C9-8976-CF39-2BD394CB7AB1}"/>
              </a:ext>
            </a:extLst>
          </p:cNvPr>
          <p:cNvSpPr txBox="1"/>
          <p:nvPr/>
        </p:nvSpPr>
        <p:spPr>
          <a:xfrm>
            <a:off x="8222924" y="1136955"/>
            <a:ext cx="150218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>
                <a:latin typeface="Source Sans Pro SemiBold" panose="020B0503030403020204" pitchFamily="34" charset="0"/>
                <a:ea typeface="Source Sans Pro SemiBold" panose="020B0503030403020204" pitchFamily="34" charset="0"/>
              </a:rPr>
              <a:t>Crossover</a:t>
            </a:r>
            <a:endParaRPr lang="en-DE" sz="2400" b="1">
              <a:latin typeface="Source Sans Pro SemiBold" panose="020B0503030403020204" pitchFamily="34" charset="0"/>
              <a:ea typeface="Source Sans Pro SemiBold" panose="020B0503030403020204" pitchFamily="34" charset="0"/>
            </a:endParaRPr>
          </a:p>
        </p:txBody>
      </p:sp>
      <p:sp>
        <p:nvSpPr>
          <p:cNvPr id="14" name="CuadroTexto 4">
            <a:extLst>
              <a:ext uri="{FF2B5EF4-FFF2-40B4-BE49-F238E27FC236}">
                <a16:creationId xmlns:a16="http://schemas.microsoft.com/office/drawing/2014/main" id="{C1AD2714-DB70-265D-3AFD-53A2E1221467}"/>
              </a:ext>
            </a:extLst>
          </p:cNvPr>
          <p:cNvSpPr txBox="1"/>
          <p:nvPr/>
        </p:nvSpPr>
        <p:spPr>
          <a:xfrm>
            <a:off x="1004655" y="3803257"/>
            <a:ext cx="57906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dirty="0"/>
              <a:t>Figure 15: </a:t>
            </a:r>
            <a:r>
              <a:rPr lang="en-US" sz="1100" dirty="0"/>
              <a:t>Example of symbolic expression mutation in </a:t>
            </a:r>
            <a:r>
              <a:rPr lang="en-US" sz="1100" dirty="0" err="1"/>
              <a:t>PySR</a:t>
            </a:r>
            <a:r>
              <a:rPr lang="en-US" sz="1100" dirty="0"/>
              <a:t>.</a:t>
            </a:r>
            <a:endParaRPr lang="es-ES_tradnl" sz="110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F2A1344-572D-42E5-922D-DB6CE70EB967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6E65012-B1A2-1AD3-BC2A-A2F7D84AC3A1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A3187EB2-F2D1-6585-02A4-1C5C27992A1F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17" name="Rectángulo redondeado 9">
            <a:extLst>
              <a:ext uri="{FF2B5EF4-FFF2-40B4-BE49-F238E27FC236}">
                <a16:creationId xmlns:a16="http://schemas.microsoft.com/office/drawing/2014/main" id="{35FCFE74-34E7-4F49-8F42-4B90F6F03699}"/>
              </a:ext>
            </a:extLst>
          </p:cNvPr>
          <p:cNvSpPr/>
          <p:nvPr/>
        </p:nvSpPr>
        <p:spPr>
          <a:xfrm>
            <a:off x="1004655" y="4273772"/>
            <a:ext cx="5380893" cy="2100766"/>
          </a:xfrm>
          <a:prstGeom prst="roundRect">
            <a:avLst>
              <a:gd name="adj" fmla="val 11272"/>
            </a:avLst>
          </a:prstGeom>
          <a:noFill/>
          <a:ln>
            <a:solidFill>
              <a:srgbClr val="FFB90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CuadroTexto 25">
            <a:extLst>
              <a:ext uri="{FF2B5EF4-FFF2-40B4-BE49-F238E27FC236}">
                <a16:creationId xmlns:a16="http://schemas.microsoft.com/office/drawing/2014/main" id="{C3C574F9-554C-4ED7-89E5-47D532BA1BF3}"/>
              </a:ext>
            </a:extLst>
          </p:cNvPr>
          <p:cNvSpPr txBox="1"/>
          <p:nvPr/>
        </p:nvSpPr>
        <p:spPr>
          <a:xfrm>
            <a:off x="2642697" y="4054479"/>
            <a:ext cx="2104808" cy="46166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 rtl="0" fontAlgn="base">
              <a:spcBef>
                <a:spcPts val="0"/>
              </a:spcBef>
              <a:spcAft>
                <a:spcPts val="0"/>
              </a:spcAft>
            </a:pPr>
            <a:r>
              <a:rPr lang="en-US" sz="2400" b="1" dirty="0">
                <a:latin typeface="Source Sans Pro SemiBold" panose="020B0503030403020204" pitchFamily="34" charset="0"/>
                <a:ea typeface="Source Sans Pro SemiBold" panose="020B0503030403020204" pitchFamily="34" charset="0"/>
              </a:rPr>
              <a:t>Simplification</a:t>
            </a:r>
            <a:endParaRPr lang="en-US" b="1" u="none" strike="noStrike" dirty="0">
              <a:solidFill>
                <a:srgbClr val="000000"/>
              </a:solidFill>
              <a:effectLst/>
              <a:latin typeface="Source Sans Pro SemiBold" panose="020B0503030403020204" pitchFamily="34" charset="0"/>
              <a:ea typeface="Source Sans Pro SemiBold" panose="020B0503030403020204" pitchFamily="34" charset="0"/>
            </a:endParaRPr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7C5A583F-0700-4C33-9FC7-7950220A9F8A}"/>
              </a:ext>
            </a:extLst>
          </p:cNvPr>
          <p:cNvSpPr/>
          <p:nvPr/>
        </p:nvSpPr>
        <p:spPr>
          <a:xfrm>
            <a:off x="2247547" y="4840758"/>
            <a:ext cx="250853" cy="234669"/>
          </a:xfrm>
          <a:prstGeom prst="ellipse">
            <a:avLst/>
          </a:prstGeom>
          <a:solidFill>
            <a:srgbClr val="3FA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212B70E2-1F72-4267-9407-6C6BA1520F14}"/>
              </a:ext>
            </a:extLst>
          </p:cNvPr>
          <p:cNvSpPr/>
          <p:nvPr/>
        </p:nvSpPr>
        <p:spPr>
          <a:xfrm>
            <a:off x="1886431" y="5464360"/>
            <a:ext cx="250853" cy="234669"/>
          </a:xfrm>
          <a:prstGeom prst="ellipse">
            <a:avLst/>
          </a:prstGeom>
          <a:solidFill>
            <a:srgbClr val="3FA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solidFill>
                  <a:schemeClr val="tx1"/>
                </a:solidFill>
              </a:rPr>
              <a:t>Y</a:t>
            </a:r>
            <a:endParaRPr lang="en-US"/>
          </a:p>
        </p:txBody>
      </p: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D639186-6244-4859-8788-D91B35CEA62C}"/>
              </a:ext>
            </a:extLst>
          </p:cNvPr>
          <p:cNvCxnSpPr>
            <a:cxnSpLocks/>
            <a:stCxn id="15" idx="7"/>
            <a:endCxn id="21" idx="7"/>
          </p:cNvCxnSpPr>
          <p:nvPr/>
        </p:nvCxnSpPr>
        <p:spPr>
          <a:xfrm flipH="1">
            <a:off x="2100547" y="4875124"/>
            <a:ext cx="361116" cy="623602"/>
          </a:xfrm>
          <a:prstGeom prst="straightConnector1">
            <a:avLst/>
          </a:prstGeom>
          <a:ln>
            <a:solidFill>
              <a:srgbClr val="3FA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E29B58F7-226B-4213-B83F-43C1F8383808}"/>
              </a:ext>
            </a:extLst>
          </p:cNvPr>
          <p:cNvCxnSpPr>
            <a:cxnSpLocks/>
            <a:stCxn id="15" idx="1"/>
          </p:cNvCxnSpPr>
          <p:nvPr/>
        </p:nvCxnSpPr>
        <p:spPr>
          <a:xfrm>
            <a:off x="2284284" y="4875124"/>
            <a:ext cx="354308" cy="623602"/>
          </a:xfrm>
          <a:prstGeom prst="straightConnector1">
            <a:avLst/>
          </a:prstGeom>
          <a:ln>
            <a:solidFill>
              <a:srgbClr val="3FA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D0FBDF0-C277-4C78-A007-F75E6AAA4579}"/>
              </a:ext>
            </a:extLst>
          </p:cNvPr>
          <p:cNvSpPr txBox="1"/>
          <p:nvPr/>
        </p:nvSpPr>
        <p:spPr>
          <a:xfrm>
            <a:off x="2247547" y="4782326"/>
            <a:ext cx="230087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ES" sz="1400"/>
              <a:t>+</a:t>
            </a:r>
          </a:p>
        </p:txBody>
      </p:sp>
      <p:sp>
        <p:nvSpPr>
          <p:cNvPr id="31" name="Elipse 30">
            <a:extLst>
              <a:ext uri="{FF2B5EF4-FFF2-40B4-BE49-F238E27FC236}">
                <a16:creationId xmlns:a16="http://schemas.microsoft.com/office/drawing/2014/main" id="{F7ECF459-3319-4D25-AA8D-8A4F309E078D}"/>
              </a:ext>
            </a:extLst>
          </p:cNvPr>
          <p:cNvSpPr/>
          <p:nvPr/>
        </p:nvSpPr>
        <p:spPr>
          <a:xfrm>
            <a:off x="2602252" y="5464359"/>
            <a:ext cx="250853" cy="234669"/>
          </a:xfrm>
          <a:prstGeom prst="ellipse">
            <a:avLst/>
          </a:prstGeom>
          <a:solidFill>
            <a:srgbClr val="3FA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200">
                <a:solidFill>
                  <a:schemeClr val="tx1"/>
                </a:solidFill>
              </a:rPr>
              <a:t>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4C5D274D-7687-42F6-AF45-551958ADF802}"/>
                  </a:ext>
                </a:extLst>
              </p:cNvPr>
              <p:cNvSpPr txBox="1"/>
              <p:nvPr/>
            </p:nvSpPr>
            <p:spPr>
              <a:xfrm>
                <a:off x="2263647" y="5906618"/>
                <a:ext cx="192360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  <m:sup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s-CO" sz="1200" dirty="0"/>
              </a:p>
            </p:txBody>
          </p:sp>
        </mc:Choice>
        <mc:Fallback>
          <p:sp>
            <p:nvSpPr>
              <p:cNvPr id="32" name="CuadroTexto 31">
                <a:extLst>
                  <a:ext uri="{FF2B5EF4-FFF2-40B4-BE49-F238E27FC236}">
                    <a16:creationId xmlns:a16="http://schemas.microsoft.com/office/drawing/2014/main" id="{4C5D274D-7687-42F6-AF45-551958ADF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3647" y="5906618"/>
                <a:ext cx="192360" cy="184666"/>
              </a:xfrm>
              <a:prstGeom prst="rect">
                <a:avLst/>
              </a:prstGeom>
              <a:blipFill>
                <a:blip r:embed="rId5"/>
                <a:stretch>
                  <a:fillRect l="-18750" r="-3125" b="-10000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Elipse 32">
            <a:extLst>
              <a:ext uri="{FF2B5EF4-FFF2-40B4-BE49-F238E27FC236}">
                <a16:creationId xmlns:a16="http://schemas.microsoft.com/office/drawing/2014/main" id="{5A0E32EE-44B7-4F39-83C1-0075E8D94133}"/>
              </a:ext>
            </a:extLst>
          </p:cNvPr>
          <p:cNvSpPr/>
          <p:nvPr/>
        </p:nvSpPr>
        <p:spPr>
          <a:xfrm>
            <a:off x="4496222" y="4899190"/>
            <a:ext cx="250853" cy="234669"/>
          </a:xfrm>
          <a:prstGeom prst="ellipse">
            <a:avLst/>
          </a:prstGeom>
          <a:solidFill>
            <a:srgbClr val="3FA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028409BF-3F0B-472C-A207-69D112C35C48}"/>
              </a:ext>
            </a:extLst>
          </p:cNvPr>
          <p:cNvSpPr/>
          <p:nvPr/>
        </p:nvSpPr>
        <p:spPr>
          <a:xfrm>
            <a:off x="4135106" y="5522792"/>
            <a:ext cx="250853" cy="234669"/>
          </a:xfrm>
          <a:prstGeom prst="ellipse">
            <a:avLst/>
          </a:prstGeom>
          <a:solidFill>
            <a:srgbClr val="3FA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3</a:t>
            </a:r>
            <a:endParaRPr lang="es-CO" dirty="0">
              <a:solidFill>
                <a:schemeClr val="tx1"/>
              </a:solidFill>
            </a:endParaRPr>
          </a:p>
        </p:txBody>
      </p: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F4EABCFC-3A20-4A7F-A546-4AFAD05C29C5}"/>
              </a:ext>
            </a:extLst>
          </p:cNvPr>
          <p:cNvCxnSpPr>
            <a:cxnSpLocks/>
            <a:stCxn id="33" idx="7"/>
            <a:endCxn id="34" idx="7"/>
          </p:cNvCxnSpPr>
          <p:nvPr/>
        </p:nvCxnSpPr>
        <p:spPr>
          <a:xfrm flipH="1">
            <a:off x="4349222" y="4933556"/>
            <a:ext cx="361116" cy="623602"/>
          </a:xfrm>
          <a:prstGeom prst="straightConnector1">
            <a:avLst/>
          </a:prstGeom>
          <a:ln>
            <a:solidFill>
              <a:srgbClr val="3FA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206B516F-784F-487C-AA1C-7631014C3680}"/>
              </a:ext>
            </a:extLst>
          </p:cNvPr>
          <p:cNvCxnSpPr>
            <a:cxnSpLocks/>
            <a:stCxn id="33" idx="1"/>
          </p:cNvCxnSpPr>
          <p:nvPr/>
        </p:nvCxnSpPr>
        <p:spPr>
          <a:xfrm>
            <a:off x="4532959" y="4933556"/>
            <a:ext cx="354308" cy="623602"/>
          </a:xfrm>
          <a:prstGeom prst="straightConnector1">
            <a:avLst/>
          </a:prstGeom>
          <a:ln>
            <a:solidFill>
              <a:srgbClr val="3FA9F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42B8B33-3A97-4403-90A9-3E73240919E9}"/>
              </a:ext>
            </a:extLst>
          </p:cNvPr>
          <p:cNvSpPr txBox="1"/>
          <p:nvPr/>
        </p:nvSpPr>
        <p:spPr>
          <a:xfrm>
            <a:off x="4496222" y="4840758"/>
            <a:ext cx="2300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+</a:t>
            </a:r>
            <a:endParaRPr lang="es-CO" sz="1400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073C9E7C-5C78-4D78-A00F-AB2BB5BE29C5}"/>
              </a:ext>
            </a:extLst>
          </p:cNvPr>
          <p:cNvSpPr/>
          <p:nvPr/>
        </p:nvSpPr>
        <p:spPr>
          <a:xfrm>
            <a:off x="4850927" y="5522791"/>
            <a:ext cx="250853" cy="234669"/>
          </a:xfrm>
          <a:prstGeom prst="ellipse">
            <a:avLst/>
          </a:prstGeom>
          <a:solidFill>
            <a:srgbClr val="3FA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dirty="0">
                <a:solidFill>
                  <a:schemeClr val="tx1"/>
                </a:solidFill>
              </a:rPr>
              <a:t>5</a:t>
            </a:r>
            <a:endParaRPr lang="es-CO" dirty="0">
              <a:solidFill>
                <a:schemeClr val="tx1"/>
              </a:solidFill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E99A66C7-59C0-4987-BF1B-A9A9C4F34294}"/>
              </a:ext>
            </a:extLst>
          </p:cNvPr>
          <p:cNvSpPr txBox="1"/>
          <p:nvPr/>
        </p:nvSpPr>
        <p:spPr>
          <a:xfrm>
            <a:off x="4599329" y="5932869"/>
            <a:ext cx="91372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ES" sz="1400" dirty="0"/>
              <a:t>8</a:t>
            </a:r>
            <a:endParaRPr lang="es-CO" sz="1400" dirty="0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EF7248D-BED8-4D59-BEAD-27915B43B6DB}"/>
              </a:ext>
            </a:extLst>
          </p:cNvPr>
          <p:cNvSpPr txBox="1"/>
          <p:nvPr/>
        </p:nvSpPr>
        <p:spPr>
          <a:xfrm>
            <a:off x="1008719" y="6355355"/>
            <a:ext cx="57906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Figure 16: </a:t>
            </a:r>
            <a:r>
              <a:rPr lang="en-US" sz="1200" dirty="0"/>
              <a:t>Example of symbolic expression simplification in </a:t>
            </a:r>
            <a:r>
              <a:rPr lang="en-US" sz="1200" dirty="0" err="1"/>
              <a:t>PySR</a:t>
            </a:r>
            <a:r>
              <a:rPr lang="en-US" sz="1200" dirty="0"/>
              <a:t>.  </a:t>
            </a:r>
            <a:r>
              <a:rPr lang="en-US" sz="1200" dirty="0" err="1"/>
              <a:t>PySR</a:t>
            </a:r>
            <a:r>
              <a:rPr lang="en-US" sz="1200" dirty="0"/>
              <a:t> applies such simplifications to produce more compact and interpretable symbolic models.</a:t>
            </a:r>
            <a:endParaRPr lang="es-CO" sz="1200" dirty="0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82D226BA-8514-4C8E-8274-213284D55B3C}"/>
              </a:ext>
            </a:extLst>
          </p:cNvPr>
          <p:cNvSpPr txBox="1"/>
          <p:nvPr/>
        </p:nvSpPr>
        <p:spPr>
          <a:xfrm>
            <a:off x="6795472" y="5738491"/>
            <a:ext cx="4509321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Figure 17: </a:t>
            </a:r>
            <a:r>
              <a:rPr lang="en-US" sz="1200" dirty="0"/>
              <a:t>Example of symbolic expression crossover in </a:t>
            </a:r>
            <a:r>
              <a:rPr lang="en-US" sz="1200" dirty="0" err="1"/>
              <a:t>PySR</a:t>
            </a:r>
            <a:endParaRPr lang="en-US" sz="1200" dirty="0"/>
          </a:p>
          <a:p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Source: Interpretable Machine Learning for Science with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PySR</a:t>
            </a:r>
            <a:r>
              <a:rPr lang="en-US" sz="900" dirty="0">
                <a:solidFill>
                  <a:schemeClr val="bg1">
                    <a:lumMod val="65000"/>
                  </a:schemeClr>
                </a:solidFill>
              </a:rPr>
              <a:t> and </a:t>
            </a:r>
            <a:r>
              <a:rPr lang="en-US" sz="900" dirty="0" err="1">
                <a:solidFill>
                  <a:schemeClr val="bg1">
                    <a:lumMod val="65000"/>
                  </a:schemeClr>
                </a:solidFill>
              </a:rPr>
              <a:t>SymbolicRegression.jl</a:t>
            </a:r>
            <a:endParaRPr lang="es-ES_tradnl" sz="90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s-CO" sz="1200" dirty="0"/>
          </a:p>
        </p:txBody>
      </p:sp>
      <p:sp>
        <p:nvSpPr>
          <p:cNvPr id="22" name="CuadroTexto 25">
            <a:extLst>
              <a:ext uri="{FF2B5EF4-FFF2-40B4-BE49-F238E27FC236}">
                <a16:creationId xmlns:a16="http://schemas.microsoft.com/office/drawing/2014/main" id="{2890F6D3-34FD-FE7A-2E02-3357D61D48FE}"/>
              </a:ext>
            </a:extLst>
          </p:cNvPr>
          <p:cNvSpPr txBox="1"/>
          <p:nvPr/>
        </p:nvSpPr>
        <p:spPr>
          <a:xfrm>
            <a:off x="4377245" y="503639"/>
            <a:ext cx="5624005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US" sz="3600" i="1" err="1">
                <a:solidFill>
                  <a:prstClr val="black"/>
                </a:solidFill>
                <a:latin typeface="Source Sans Pro Light"/>
                <a:ea typeface="Source Sans Pro Light"/>
              </a:rPr>
              <a:t>PySR</a:t>
            </a:r>
            <a:r>
              <a:rPr lang="en-US" sz="3600" i="1">
                <a:solidFill>
                  <a:prstClr val="black"/>
                </a:solidFill>
                <a:latin typeface="Source Sans Pro Light"/>
                <a:ea typeface="Source Sans Pro Light"/>
              </a:rPr>
              <a:t> </a:t>
            </a:r>
            <a:r>
              <a:rPr lang="en-US" sz="3200" b="1">
                <a:solidFill>
                  <a:prstClr val="black"/>
                </a:solidFill>
                <a:latin typeface="Source Sans Pro"/>
                <a:ea typeface="Source Sans Pro"/>
              </a:rPr>
              <a:t>Operations</a:t>
            </a:r>
            <a:endParaRPr lang="en-US" sz="32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995CE4E-613A-F366-D2D3-36F5196EDEBC}"/>
              </a:ext>
            </a:extLst>
          </p:cNvPr>
          <p:cNvSpPr txBox="1"/>
          <p:nvPr/>
        </p:nvSpPr>
        <p:spPr>
          <a:xfrm>
            <a:off x="2159000" y="5863166"/>
            <a:ext cx="67733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/>
              <a:t>2Y</a:t>
            </a:r>
          </a:p>
        </p:txBody>
      </p:sp>
    </p:spTree>
    <p:extLst>
      <p:ext uri="{BB962C8B-B14F-4D97-AF65-F5344CB8AC3E}">
        <p14:creationId xmlns:p14="http://schemas.microsoft.com/office/powerpoint/2010/main" val="127094555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FBB90E-F0E9-4ED4-2D8F-A5EB8AC39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D2F7C19D-F81A-0DBB-36A6-C2ECCF74A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32</a:t>
            </a:fld>
            <a:endParaRPr lang="es-ES_tradnl" b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34AA41-23F1-18BF-B737-8BE3382E15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143" y="1589391"/>
            <a:ext cx="7886700" cy="4020111"/>
          </a:xfrm>
          <a:prstGeom prst="rect">
            <a:avLst/>
          </a:prstGeom>
        </p:spPr>
      </p:pic>
      <p:sp>
        <p:nvSpPr>
          <p:cNvPr id="8" name="Rectángulo: esquinas redondeadas 220">
            <a:extLst>
              <a:ext uri="{FF2B5EF4-FFF2-40B4-BE49-F238E27FC236}">
                <a16:creationId xmlns:a16="http://schemas.microsoft.com/office/drawing/2014/main" id="{54DEB432-AAAA-F87F-34E0-4057FF198D5F}"/>
              </a:ext>
            </a:extLst>
          </p:cNvPr>
          <p:cNvSpPr/>
          <p:nvPr/>
        </p:nvSpPr>
        <p:spPr>
          <a:xfrm>
            <a:off x="1024658" y="1668012"/>
            <a:ext cx="3180159" cy="3372911"/>
          </a:xfrm>
          <a:prstGeom prst="roundRect">
            <a:avLst>
              <a:gd name="adj" fmla="val 9663"/>
            </a:avLst>
          </a:prstGeom>
          <a:noFill/>
          <a:ln w="28575">
            <a:solidFill>
              <a:srgbClr val="FFB903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4114800"/>
                      <a:gd name="connsiteY0" fmla="*/ 552038 h 3312160"/>
                      <a:gd name="connsiteX1" fmla="*/ 552038 w 4114800"/>
                      <a:gd name="connsiteY1" fmla="*/ 0 h 3312160"/>
                      <a:gd name="connsiteX2" fmla="*/ 3562762 w 4114800"/>
                      <a:gd name="connsiteY2" fmla="*/ 0 h 3312160"/>
                      <a:gd name="connsiteX3" fmla="*/ 4114800 w 4114800"/>
                      <a:gd name="connsiteY3" fmla="*/ 552038 h 3312160"/>
                      <a:gd name="connsiteX4" fmla="*/ 4114800 w 4114800"/>
                      <a:gd name="connsiteY4" fmla="*/ 2760122 h 3312160"/>
                      <a:gd name="connsiteX5" fmla="*/ 3562762 w 4114800"/>
                      <a:gd name="connsiteY5" fmla="*/ 3312160 h 3312160"/>
                      <a:gd name="connsiteX6" fmla="*/ 552038 w 4114800"/>
                      <a:gd name="connsiteY6" fmla="*/ 3312160 h 3312160"/>
                      <a:gd name="connsiteX7" fmla="*/ 0 w 4114800"/>
                      <a:gd name="connsiteY7" fmla="*/ 2760122 h 3312160"/>
                      <a:gd name="connsiteX8" fmla="*/ 0 w 4114800"/>
                      <a:gd name="connsiteY8" fmla="*/ 552038 h 3312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114800" h="3312160" extrusionOk="0">
                        <a:moveTo>
                          <a:pt x="0" y="552038"/>
                        </a:moveTo>
                        <a:cubicBezTo>
                          <a:pt x="-8847" y="262678"/>
                          <a:pt x="203147" y="-18173"/>
                          <a:pt x="552038" y="0"/>
                        </a:cubicBezTo>
                        <a:cubicBezTo>
                          <a:pt x="1533647" y="-60713"/>
                          <a:pt x="2997123" y="61072"/>
                          <a:pt x="3562762" y="0"/>
                        </a:cubicBezTo>
                        <a:cubicBezTo>
                          <a:pt x="3862055" y="1868"/>
                          <a:pt x="4104772" y="259014"/>
                          <a:pt x="4114800" y="552038"/>
                        </a:cubicBezTo>
                        <a:cubicBezTo>
                          <a:pt x="4139252" y="1222177"/>
                          <a:pt x="4182463" y="1809593"/>
                          <a:pt x="4114800" y="2760122"/>
                        </a:cubicBezTo>
                        <a:cubicBezTo>
                          <a:pt x="4147380" y="3034038"/>
                          <a:pt x="3902132" y="3314436"/>
                          <a:pt x="3562762" y="3312160"/>
                        </a:cubicBezTo>
                        <a:cubicBezTo>
                          <a:pt x="3107680" y="3238389"/>
                          <a:pt x="1072949" y="3156277"/>
                          <a:pt x="552038" y="3312160"/>
                        </a:cubicBezTo>
                        <a:cubicBezTo>
                          <a:pt x="302072" y="3320124"/>
                          <a:pt x="-50891" y="3041779"/>
                          <a:pt x="0" y="2760122"/>
                        </a:cubicBezTo>
                        <a:cubicBezTo>
                          <a:pt x="152408" y="2473528"/>
                          <a:pt x="73868" y="1409017"/>
                          <a:pt x="0" y="5520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FD1C21-9D72-5D08-4401-72E1FCE4586D}"/>
              </a:ext>
            </a:extLst>
          </p:cNvPr>
          <p:cNvSpPr txBox="1"/>
          <p:nvPr/>
        </p:nvSpPr>
        <p:spPr>
          <a:xfrm>
            <a:off x="1256991" y="1950769"/>
            <a:ext cx="2728855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85420" indent="-185420">
              <a:buFont typeface="Arial" panose="020B0604020202020204" pitchFamily="34" charset="0"/>
              <a:buChar char="•"/>
            </a:pPr>
            <a:r>
              <a:rPr lang="en-US">
                <a:latin typeface="Source Sans Pro"/>
                <a:ea typeface="Source Sans Pro"/>
              </a:rPr>
              <a:t>Population of expressions is randomly sampled</a:t>
            </a:r>
          </a:p>
          <a:p>
            <a:pPr marL="185420" indent="-185420">
              <a:buFont typeface="Arial" panose="020B0604020202020204" pitchFamily="34" charset="0"/>
              <a:buChar char="•"/>
            </a:pPr>
            <a:r>
              <a:rPr lang="en-US">
                <a:latin typeface="Source Sans Pro"/>
                <a:ea typeface="Source Sans Pro"/>
              </a:rPr>
              <a:t>Select best expressions</a:t>
            </a:r>
          </a:p>
          <a:p>
            <a:pPr marL="185420" indent="-185420">
              <a:buFont typeface="Arial" panose="020B0604020202020204" pitchFamily="34" charset="0"/>
              <a:buChar char="•"/>
            </a:pPr>
            <a:r>
              <a:rPr lang="en-US">
                <a:latin typeface="Source Sans Pro"/>
                <a:ea typeface="Source Sans Pro"/>
              </a:rPr>
              <a:t>Winner is selected for breeding</a:t>
            </a:r>
          </a:p>
          <a:p>
            <a:pPr marL="742950" lvl="2" indent="-285750">
              <a:buFontTx/>
              <a:buChar char="→"/>
            </a:pPr>
            <a:r>
              <a:rPr lang="en-US">
                <a:latin typeface="Source Sans Pro"/>
                <a:ea typeface="Source Sans Pro"/>
              </a:rPr>
              <a:t>Mutation</a:t>
            </a:r>
          </a:p>
          <a:p>
            <a:pPr marL="742950" lvl="2" indent="-285750">
              <a:buFontTx/>
              <a:buChar char="→"/>
            </a:pPr>
            <a:r>
              <a:rPr lang="en-US">
                <a:latin typeface="Source Sans Pro"/>
                <a:ea typeface="Source Sans Pro"/>
              </a:rPr>
              <a:t>Crossover</a:t>
            </a:r>
          </a:p>
          <a:p>
            <a:pPr marL="742950" lvl="2" indent="-285750">
              <a:buFontTx/>
              <a:buChar char="→"/>
            </a:pPr>
            <a:r>
              <a:rPr lang="en-US">
                <a:latin typeface="Source Sans Pro"/>
                <a:ea typeface="Source Sans Pro"/>
              </a:rPr>
              <a:t>Simplification</a:t>
            </a:r>
          </a:p>
          <a:p>
            <a:pPr marL="742950" lvl="2" indent="-285750">
              <a:buFontTx/>
              <a:buChar char="→"/>
            </a:pPr>
            <a:r>
              <a:rPr lang="en-US">
                <a:latin typeface="Source Sans Pro"/>
                <a:ea typeface="Source Sans Pro"/>
              </a:rPr>
              <a:t>Constant optimization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3C3DA8B-DFEE-709F-50BE-993587C1AB2B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67A4A8-F555-832B-78BD-66B141AB3C2F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91CD7F3-1E34-C285-FAEC-3266E9495785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14" name="CuadroTexto 25">
            <a:extLst>
              <a:ext uri="{FF2B5EF4-FFF2-40B4-BE49-F238E27FC236}">
                <a16:creationId xmlns:a16="http://schemas.microsoft.com/office/drawing/2014/main" id="{2620E661-C96B-BC68-F2FE-D2FFBDD52385}"/>
              </a:ext>
            </a:extLst>
          </p:cNvPr>
          <p:cNvSpPr txBox="1"/>
          <p:nvPr/>
        </p:nvSpPr>
        <p:spPr>
          <a:xfrm>
            <a:off x="1477412" y="979888"/>
            <a:ext cx="78867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3600" i="1" err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PySR</a:t>
            </a:r>
            <a:r>
              <a:rPr lang="en-US" sz="36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 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Inner Loop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3362D5CC-A550-40C3-ACCB-4E23796780F7}"/>
              </a:ext>
            </a:extLst>
          </p:cNvPr>
          <p:cNvSpPr txBox="1"/>
          <p:nvPr/>
        </p:nvSpPr>
        <p:spPr>
          <a:xfrm>
            <a:off x="4880674" y="5609502"/>
            <a:ext cx="5454815" cy="4385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b="1" dirty="0"/>
              <a:t>Figure 18: </a:t>
            </a:r>
            <a:r>
              <a:rPr lang="en-US" sz="1200"/>
              <a:t> </a:t>
            </a:r>
            <a:r>
              <a:rPr lang="en-US" sz="1200" err="1"/>
              <a:t>Vizualization</a:t>
            </a:r>
            <a:r>
              <a:rPr lang="en-US" sz="1200"/>
              <a:t> </a:t>
            </a:r>
            <a:r>
              <a:rPr lang="en-US" sz="1200" dirty="0"/>
              <a:t>of </a:t>
            </a:r>
            <a:r>
              <a:rPr lang="en-US" sz="1200"/>
              <a:t>the </a:t>
            </a:r>
            <a:r>
              <a:rPr lang="en-US" sz="1200" dirty="0" err="1"/>
              <a:t>PySR</a:t>
            </a:r>
            <a:r>
              <a:rPr lang="en-US" sz="1200"/>
              <a:t> inner loop.</a:t>
            </a:r>
            <a:endParaRPr lang="en-US" sz="1200" dirty="0"/>
          </a:p>
          <a:p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Source: Interpretable Machine Learning for Science with </a:t>
            </a:r>
            <a:r>
              <a:rPr lang="en-US" sz="1050" dirty="0" err="1">
                <a:solidFill>
                  <a:schemeClr val="bg1">
                    <a:lumMod val="65000"/>
                  </a:schemeClr>
                </a:solidFill>
              </a:rPr>
              <a:t>PySR</a:t>
            </a:r>
            <a:r>
              <a:rPr lang="en-US" sz="1050" dirty="0">
                <a:solidFill>
                  <a:schemeClr val="bg1">
                    <a:lumMod val="65000"/>
                  </a:schemeClr>
                </a:solidFill>
              </a:rPr>
              <a:t> and </a:t>
            </a:r>
            <a:r>
              <a:rPr lang="en-US" sz="1050" dirty="0" err="1">
                <a:solidFill>
                  <a:schemeClr val="bg1">
                    <a:lumMod val="65000"/>
                  </a:schemeClr>
                </a:solidFill>
              </a:rPr>
              <a:t>SymbolicRegression.jl</a:t>
            </a:r>
            <a:endParaRPr lang="es-ES_tradnl" sz="1050" dirty="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38049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AA083-5805-8333-98AD-21D362C69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09C01FFF-6F91-4A66-762E-EAB8B9F9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33</a:t>
            </a:fld>
            <a:endParaRPr lang="es-ES_tradnl" b="1"/>
          </a:p>
        </p:txBody>
      </p:sp>
      <p:sp>
        <p:nvSpPr>
          <p:cNvPr id="8" name="Rectángulo: esquinas redondeadas 220">
            <a:extLst>
              <a:ext uri="{FF2B5EF4-FFF2-40B4-BE49-F238E27FC236}">
                <a16:creationId xmlns:a16="http://schemas.microsoft.com/office/drawing/2014/main" id="{0C08160D-F278-2761-7D29-11B87C8C7AFD}"/>
              </a:ext>
            </a:extLst>
          </p:cNvPr>
          <p:cNvSpPr/>
          <p:nvPr/>
        </p:nvSpPr>
        <p:spPr>
          <a:xfrm>
            <a:off x="1024658" y="1668012"/>
            <a:ext cx="3180159" cy="3372911"/>
          </a:xfrm>
          <a:prstGeom prst="roundRect">
            <a:avLst>
              <a:gd name="adj" fmla="val 9663"/>
            </a:avLst>
          </a:prstGeom>
          <a:noFill/>
          <a:ln w="28575">
            <a:solidFill>
              <a:srgbClr val="FFB903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4114800"/>
                      <a:gd name="connsiteY0" fmla="*/ 552038 h 3312160"/>
                      <a:gd name="connsiteX1" fmla="*/ 552038 w 4114800"/>
                      <a:gd name="connsiteY1" fmla="*/ 0 h 3312160"/>
                      <a:gd name="connsiteX2" fmla="*/ 3562762 w 4114800"/>
                      <a:gd name="connsiteY2" fmla="*/ 0 h 3312160"/>
                      <a:gd name="connsiteX3" fmla="*/ 4114800 w 4114800"/>
                      <a:gd name="connsiteY3" fmla="*/ 552038 h 3312160"/>
                      <a:gd name="connsiteX4" fmla="*/ 4114800 w 4114800"/>
                      <a:gd name="connsiteY4" fmla="*/ 2760122 h 3312160"/>
                      <a:gd name="connsiteX5" fmla="*/ 3562762 w 4114800"/>
                      <a:gd name="connsiteY5" fmla="*/ 3312160 h 3312160"/>
                      <a:gd name="connsiteX6" fmla="*/ 552038 w 4114800"/>
                      <a:gd name="connsiteY6" fmla="*/ 3312160 h 3312160"/>
                      <a:gd name="connsiteX7" fmla="*/ 0 w 4114800"/>
                      <a:gd name="connsiteY7" fmla="*/ 2760122 h 3312160"/>
                      <a:gd name="connsiteX8" fmla="*/ 0 w 4114800"/>
                      <a:gd name="connsiteY8" fmla="*/ 552038 h 3312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114800" h="3312160" extrusionOk="0">
                        <a:moveTo>
                          <a:pt x="0" y="552038"/>
                        </a:moveTo>
                        <a:cubicBezTo>
                          <a:pt x="-8847" y="262678"/>
                          <a:pt x="203147" y="-18173"/>
                          <a:pt x="552038" y="0"/>
                        </a:cubicBezTo>
                        <a:cubicBezTo>
                          <a:pt x="1533647" y="-60713"/>
                          <a:pt x="2997123" y="61072"/>
                          <a:pt x="3562762" y="0"/>
                        </a:cubicBezTo>
                        <a:cubicBezTo>
                          <a:pt x="3862055" y="1868"/>
                          <a:pt x="4104772" y="259014"/>
                          <a:pt x="4114800" y="552038"/>
                        </a:cubicBezTo>
                        <a:cubicBezTo>
                          <a:pt x="4139252" y="1222177"/>
                          <a:pt x="4182463" y="1809593"/>
                          <a:pt x="4114800" y="2760122"/>
                        </a:cubicBezTo>
                        <a:cubicBezTo>
                          <a:pt x="4147380" y="3034038"/>
                          <a:pt x="3902132" y="3314436"/>
                          <a:pt x="3562762" y="3312160"/>
                        </a:cubicBezTo>
                        <a:cubicBezTo>
                          <a:pt x="3107680" y="3238389"/>
                          <a:pt x="1072949" y="3156277"/>
                          <a:pt x="552038" y="3312160"/>
                        </a:cubicBezTo>
                        <a:cubicBezTo>
                          <a:pt x="302072" y="3320124"/>
                          <a:pt x="-50891" y="3041779"/>
                          <a:pt x="0" y="2760122"/>
                        </a:cubicBezTo>
                        <a:cubicBezTo>
                          <a:pt x="152408" y="2473528"/>
                          <a:pt x="73868" y="1409017"/>
                          <a:pt x="0" y="5520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A8534-B94B-D147-9336-84AD61304517}"/>
              </a:ext>
            </a:extLst>
          </p:cNvPr>
          <p:cNvSpPr txBox="1"/>
          <p:nvPr/>
        </p:nvSpPr>
        <p:spPr>
          <a:xfrm>
            <a:off x="1256991" y="1950769"/>
            <a:ext cx="2728855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185420" indent="-185420">
              <a:buFont typeface="Arial" panose="020B0604020202020204" pitchFamily="34" charset="0"/>
              <a:buChar char="•"/>
            </a:pPr>
            <a:r>
              <a:rPr lang="en-US">
                <a:latin typeface="Source Sans Pro"/>
                <a:ea typeface="Source Sans Pro"/>
              </a:rPr>
              <a:t>Multiple populations evolve independently</a:t>
            </a:r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marL="185420" indent="-185420">
              <a:buFont typeface="Arial" panose="020B0604020202020204" pitchFamily="34" charset="0"/>
              <a:buChar char="•"/>
            </a:pPr>
            <a:endParaRPr lang="en-US">
              <a:latin typeface="Source Sans Pro"/>
              <a:ea typeface="Source Sans Pro"/>
            </a:endParaRPr>
          </a:p>
          <a:p>
            <a:pPr marL="185420" indent="-185420">
              <a:buFont typeface="Arial" panose="020B0604020202020204" pitchFamily="34" charset="0"/>
              <a:buChar char="•"/>
            </a:pPr>
            <a:r>
              <a:rPr lang="en-US">
                <a:latin typeface="Source Sans Pro"/>
                <a:ea typeface="Source Sans Pro"/>
              </a:rPr>
              <a:t>At the end of a specified number of evolution iterations migration between islands is performed.</a:t>
            </a:r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4659BFD-243E-CFD7-E23F-E58770448E23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33C2904-392D-FA02-EED1-E93278B8BFFE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6D16252C-E515-28C2-B819-752DCB59EDA5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14" name="CuadroTexto 25">
            <a:extLst>
              <a:ext uri="{FF2B5EF4-FFF2-40B4-BE49-F238E27FC236}">
                <a16:creationId xmlns:a16="http://schemas.microsoft.com/office/drawing/2014/main" id="{26D2055D-14F5-E66B-2764-26AA6098C822}"/>
              </a:ext>
            </a:extLst>
          </p:cNvPr>
          <p:cNvSpPr txBox="1"/>
          <p:nvPr/>
        </p:nvSpPr>
        <p:spPr>
          <a:xfrm>
            <a:off x="1477412" y="979888"/>
            <a:ext cx="7886700" cy="64633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/>
            <a:r>
              <a:rPr lang="en-US" sz="3600" i="1" err="1">
                <a:solidFill>
                  <a:prstClr val="black"/>
                </a:solidFill>
                <a:latin typeface="Source Sans Pro Light"/>
                <a:ea typeface="Source Sans Pro Light"/>
              </a:rPr>
              <a:t>PySR</a:t>
            </a:r>
            <a:r>
              <a:rPr lang="en-US" sz="3600" i="1">
                <a:solidFill>
                  <a:prstClr val="black"/>
                </a:solidFill>
                <a:latin typeface="Source Sans Pro Light"/>
                <a:ea typeface="Source Sans Pro Light"/>
              </a:rPr>
              <a:t> </a:t>
            </a:r>
            <a:r>
              <a:rPr lang="en-US" sz="3200" b="1">
                <a:solidFill>
                  <a:prstClr val="black"/>
                </a:solidFill>
                <a:latin typeface="Source Sans Pro"/>
                <a:ea typeface="Source Sans Pro"/>
              </a:rPr>
              <a:t>Outer Loop</a:t>
            </a:r>
            <a:endParaRPr lang="en-US" sz="32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C70372E-1977-CE12-084B-DB917D5C958C}"/>
              </a:ext>
            </a:extLst>
          </p:cNvPr>
          <p:cNvSpPr txBox="1"/>
          <p:nvPr/>
        </p:nvSpPr>
        <p:spPr>
          <a:xfrm>
            <a:off x="4880674" y="5609502"/>
            <a:ext cx="5454815" cy="4385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 b="1"/>
              <a:t>Figure 19: </a:t>
            </a:r>
            <a:r>
              <a:rPr lang="en-US" sz="1200" err="1"/>
              <a:t>Vizualization</a:t>
            </a:r>
            <a:r>
              <a:rPr lang="en-US" sz="1200"/>
              <a:t> of the </a:t>
            </a:r>
            <a:r>
              <a:rPr lang="en-US" sz="1200" err="1"/>
              <a:t>PySR</a:t>
            </a:r>
            <a:r>
              <a:rPr lang="en-US" sz="1200"/>
              <a:t> outer loop.</a:t>
            </a:r>
          </a:p>
          <a:p>
            <a:r>
              <a:rPr lang="en-US" sz="1050">
                <a:solidFill>
                  <a:schemeClr val="bg1">
                    <a:lumMod val="65000"/>
                  </a:schemeClr>
                </a:solidFill>
              </a:rPr>
              <a:t>Source: Interpretable Machine Learning for Science with </a:t>
            </a:r>
            <a:r>
              <a:rPr lang="en-US" sz="1050" err="1">
                <a:solidFill>
                  <a:schemeClr val="bg1">
                    <a:lumMod val="65000"/>
                  </a:schemeClr>
                </a:solidFill>
              </a:rPr>
              <a:t>PySR</a:t>
            </a:r>
            <a:r>
              <a:rPr lang="en-US" sz="1050">
                <a:solidFill>
                  <a:schemeClr val="bg1">
                    <a:lumMod val="65000"/>
                  </a:schemeClr>
                </a:solidFill>
              </a:rPr>
              <a:t> and </a:t>
            </a:r>
            <a:r>
              <a:rPr lang="en-US" sz="1050" err="1">
                <a:solidFill>
                  <a:schemeClr val="bg1">
                    <a:lumMod val="65000"/>
                  </a:schemeClr>
                </a:solidFill>
              </a:rPr>
              <a:t>SymbolicRegression.jl</a:t>
            </a:r>
            <a:endParaRPr lang="es-ES_tradnl" sz="105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6" name="Picture 5" descr="A diagram of different colored shapes&#10;&#10;AI-generated content may be incorrect.">
            <a:extLst>
              <a:ext uri="{FF2B5EF4-FFF2-40B4-BE49-F238E27FC236}">
                <a16:creationId xmlns:a16="http://schemas.microsoft.com/office/drawing/2014/main" id="{76710FC9-2023-1513-582D-B51F083DB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2337" y="1121834"/>
            <a:ext cx="5764742" cy="4243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0784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541A2-A660-859D-5D31-E17DB5677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ángulo: esquinas redondeadas 220">
            <a:extLst>
              <a:ext uri="{FF2B5EF4-FFF2-40B4-BE49-F238E27FC236}">
                <a16:creationId xmlns:a16="http://schemas.microsoft.com/office/drawing/2014/main" id="{D76FD5C5-92BB-CBDD-3951-61EAC1CD84C5}"/>
              </a:ext>
            </a:extLst>
          </p:cNvPr>
          <p:cNvSpPr/>
          <p:nvPr/>
        </p:nvSpPr>
        <p:spPr>
          <a:xfrm>
            <a:off x="1320145" y="4136510"/>
            <a:ext cx="9529200" cy="2386953"/>
          </a:xfrm>
          <a:prstGeom prst="roundRect">
            <a:avLst/>
          </a:prstGeom>
          <a:noFill/>
          <a:ln>
            <a:solidFill>
              <a:schemeClr val="bg1">
                <a:lumMod val="75000"/>
              </a:schemeClr>
            </a:solidFill>
            <a:prstDash val="sysDot"/>
            <a:extLst>
              <a:ext uri="{C807C97D-BFC1-408E-A445-0C87EB9F89A2}">
                <ask:lineSketchStyleProps xmlns:ask="http://schemas.microsoft.com/office/drawing/2018/sketchyshapes" sd="981765707">
                  <a:custGeom>
                    <a:avLst/>
                    <a:gdLst>
                      <a:gd name="connsiteX0" fmla="*/ 0 w 4114800"/>
                      <a:gd name="connsiteY0" fmla="*/ 552038 h 3312160"/>
                      <a:gd name="connsiteX1" fmla="*/ 552038 w 4114800"/>
                      <a:gd name="connsiteY1" fmla="*/ 0 h 3312160"/>
                      <a:gd name="connsiteX2" fmla="*/ 3562762 w 4114800"/>
                      <a:gd name="connsiteY2" fmla="*/ 0 h 3312160"/>
                      <a:gd name="connsiteX3" fmla="*/ 4114800 w 4114800"/>
                      <a:gd name="connsiteY3" fmla="*/ 552038 h 3312160"/>
                      <a:gd name="connsiteX4" fmla="*/ 4114800 w 4114800"/>
                      <a:gd name="connsiteY4" fmla="*/ 2760122 h 3312160"/>
                      <a:gd name="connsiteX5" fmla="*/ 3562762 w 4114800"/>
                      <a:gd name="connsiteY5" fmla="*/ 3312160 h 3312160"/>
                      <a:gd name="connsiteX6" fmla="*/ 552038 w 4114800"/>
                      <a:gd name="connsiteY6" fmla="*/ 3312160 h 3312160"/>
                      <a:gd name="connsiteX7" fmla="*/ 0 w 4114800"/>
                      <a:gd name="connsiteY7" fmla="*/ 2760122 h 3312160"/>
                      <a:gd name="connsiteX8" fmla="*/ 0 w 4114800"/>
                      <a:gd name="connsiteY8" fmla="*/ 552038 h 331216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4114800" h="3312160" extrusionOk="0">
                        <a:moveTo>
                          <a:pt x="0" y="552038"/>
                        </a:moveTo>
                        <a:cubicBezTo>
                          <a:pt x="-8847" y="262678"/>
                          <a:pt x="203147" y="-18173"/>
                          <a:pt x="552038" y="0"/>
                        </a:cubicBezTo>
                        <a:cubicBezTo>
                          <a:pt x="1533647" y="-60713"/>
                          <a:pt x="2997123" y="61072"/>
                          <a:pt x="3562762" y="0"/>
                        </a:cubicBezTo>
                        <a:cubicBezTo>
                          <a:pt x="3862055" y="1868"/>
                          <a:pt x="4104772" y="259014"/>
                          <a:pt x="4114800" y="552038"/>
                        </a:cubicBezTo>
                        <a:cubicBezTo>
                          <a:pt x="4139252" y="1222177"/>
                          <a:pt x="4182463" y="1809593"/>
                          <a:pt x="4114800" y="2760122"/>
                        </a:cubicBezTo>
                        <a:cubicBezTo>
                          <a:pt x="4147380" y="3034038"/>
                          <a:pt x="3902132" y="3314436"/>
                          <a:pt x="3562762" y="3312160"/>
                        </a:cubicBezTo>
                        <a:cubicBezTo>
                          <a:pt x="3107680" y="3238389"/>
                          <a:pt x="1072949" y="3156277"/>
                          <a:pt x="552038" y="3312160"/>
                        </a:cubicBezTo>
                        <a:cubicBezTo>
                          <a:pt x="302072" y="3320124"/>
                          <a:pt x="-50891" y="3041779"/>
                          <a:pt x="0" y="2760122"/>
                        </a:cubicBezTo>
                        <a:cubicBezTo>
                          <a:pt x="152408" y="2473528"/>
                          <a:pt x="73868" y="1409017"/>
                          <a:pt x="0" y="552038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4" name="Google Shape;1859;p37">
            <a:extLst>
              <a:ext uri="{FF2B5EF4-FFF2-40B4-BE49-F238E27FC236}">
                <a16:creationId xmlns:a16="http://schemas.microsoft.com/office/drawing/2014/main" id="{39C9F360-1450-3E3F-8004-BAC6D23BFA21}"/>
              </a:ext>
            </a:extLst>
          </p:cNvPr>
          <p:cNvSpPr/>
          <p:nvPr/>
        </p:nvSpPr>
        <p:spPr>
          <a:xfrm>
            <a:off x="3714371" y="3923247"/>
            <a:ext cx="4626318" cy="485158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232668B-B3B5-C926-2D60-2EFB43D6D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34</a:t>
            </a:fld>
            <a:endParaRPr lang="es-ES_tradnl" b="1"/>
          </a:p>
        </p:txBody>
      </p:sp>
      <p:sp>
        <p:nvSpPr>
          <p:cNvPr id="7" name="Google Shape;1857;p37">
            <a:extLst>
              <a:ext uri="{FF2B5EF4-FFF2-40B4-BE49-F238E27FC236}">
                <a16:creationId xmlns:a16="http://schemas.microsoft.com/office/drawing/2014/main" id="{E9298FC3-6D59-1FC9-BAC2-D1882B566909}"/>
              </a:ext>
            </a:extLst>
          </p:cNvPr>
          <p:cNvSpPr/>
          <p:nvPr/>
        </p:nvSpPr>
        <p:spPr>
          <a:xfrm>
            <a:off x="1320145" y="1212798"/>
            <a:ext cx="9529200" cy="2307447"/>
          </a:xfrm>
          <a:prstGeom prst="round2SameRect">
            <a:avLst>
              <a:gd name="adj1" fmla="val 0"/>
              <a:gd name="adj2" fmla="val 15242"/>
            </a:avLst>
          </a:prstGeom>
          <a:solidFill>
            <a:schemeClr val="bg1">
              <a:lumMod val="95000"/>
              <a:alpha val="9000"/>
            </a:schemeClr>
          </a:solidFill>
          <a:ln w="28575">
            <a:solidFill>
              <a:srgbClr val="FFB903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+mj-lt"/>
            </a:endParaRPr>
          </a:p>
        </p:txBody>
      </p:sp>
      <p:sp>
        <p:nvSpPr>
          <p:cNvPr id="8" name="Google Shape;1859;p37">
            <a:extLst>
              <a:ext uri="{FF2B5EF4-FFF2-40B4-BE49-F238E27FC236}">
                <a16:creationId xmlns:a16="http://schemas.microsoft.com/office/drawing/2014/main" id="{BC84A2CF-3476-A82D-724D-EF14C4FDC6BB}"/>
              </a:ext>
            </a:extLst>
          </p:cNvPr>
          <p:cNvSpPr/>
          <p:nvPr/>
        </p:nvSpPr>
        <p:spPr>
          <a:xfrm>
            <a:off x="1320145" y="877456"/>
            <a:ext cx="9551710" cy="496887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s-MX" sz="2000" b="1"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  <a:sym typeface="Fira Sans Extra Condensed"/>
              </a:rPr>
              <a:t>Experimental Setup for Symbolic Regression</a:t>
            </a:r>
            <a:endParaRPr lang="en-US" sz="2000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1" name="Google Shape;1866;p37">
            <a:extLst>
              <a:ext uri="{FF2B5EF4-FFF2-40B4-BE49-F238E27FC236}">
                <a16:creationId xmlns:a16="http://schemas.microsoft.com/office/drawing/2014/main" id="{6E48C69E-CE6A-2089-9FA1-8589E24171CB}"/>
              </a:ext>
            </a:extLst>
          </p:cNvPr>
          <p:cNvSpPr txBox="1"/>
          <p:nvPr/>
        </p:nvSpPr>
        <p:spPr>
          <a:xfrm>
            <a:off x="1750728" y="2198147"/>
            <a:ext cx="8418575" cy="1401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004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</a:pPr>
            <a:endParaRPr>
              <a:latin typeface="+mj-lt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869;p37">
            <a:extLst>
              <a:ext uri="{FF2B5EF4-FFF2-40B4-BE49-F238E27FC236}">
                <a16:creationId xmlns:a16="http://schemas.microsoft.com/office/drawing/2014/main" id="{06D2AAE3-376A-6717-C5BA-84050B2C6582}"/>
              </a:ext>
            </a:extLst>
          </p:cNvPr>
          <p:cNvSpPr txBox="1"/>
          <p:nvPr/>
        </p:nvSpPr>
        <p:spPr>
          <a:xfrm>
            <a:off x="1750729" y="1561599"/>
            <a:ext cx="8849158" cy="18230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Data: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 Filtered only polarization curves that have only positive voltage (</a:t>
            </a:r>
            <a:r>
              <a:rPr lang="en-US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lt"/>
              </a:rPr>
              <a:t>≈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 53 000 curves)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80-20 train test split with grouping (each curve in either train or test 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Binary operators: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 +, -, *, /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Unary operators: 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exp, log, square, cube, inv, neg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Loss:</a:t>
            </a: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 L2 Distance Loss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Training with batches</a:t>
            </a:r>
          </a:p>
        </p:txBody>
      </p:sp>
      <p:sp>
        <p:nvSpPr>
          <p:cNvPr id="40" name="Google Shape;1869;p37">
            <a:extLst>
              <a:ext uri="{FF2B5EF4-FFF2-40B4-BE49-F238E27FC236}">
                <a16:creationId xmlns:a16="http://schemas.microsoft.com/office/drawing/2014/main" id="{9BBCFADC-6FB6-C0E9-E822-597787583951}"/>
              </a:ext>
            </a:extLst>
          </p:cNvPr>
          <p:cNvSpPr txBox="1"/>
          <p:nvPr/>
        </p:nvSpPr>
        <p:spPr>
          <a:xfrm>
            <a:off x="1709426" y="4621668"/>
            <a:ext cx="3057545" cy="15000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Unconstrained search space</a:t>
            </a:r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No restriction in the form of the learned equation</a:t>
            </a:r>
          </a:p>
        </p:txBody>
      </p:sp>
      <p:sp>
        <p:nvSpPr>
          <p:cNvPr id="41" name="Google Shape;1869;p37">
            <a:extLst>
              <a:ext uri="{FF2B5EF4-FFF2-40B4-BE49-F238E27FC236}">
                <a16:creationId xmlns:a16="http://schemas.microsoft.com/office/drawing/2014/main" id="{2F509972-AB21-B309-F695-12065253F90A}"/>
              </a:ext>
            </a:extLst>
          </p:cNvPr>
          <p:cNvSpPr txBox="1"/>
          <p:nvPr/>
        </p:nvSpPr>
        <p:spPr>
          <a:xfrm>
            <a:off x="5156252" y="4565310"/>
            <a:ext cx="5553495" cy="1707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Constrained search space (Physics-informed)</a:t>
            </a:r>
          </a:p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Equations are constrained to look like:</a:t>
            </a:r>
          </a:p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r>
              <a:rPr lang="en-US">
                <a:latin typeface="Source Sans Pro" panose="020B0503030403020204" pitchFamily="34" charset="0"/>
                <a:ea typeface="Source Sans Pro" panose="020B0503030403020204" pitchFamily="34" charset="0"/>
              </a:rPr>
              <a:t>Where a, b, c, d, e are equations to be learned by </a:t>
            </a:r>
            <a:r>
              <a:rPr lang="en-US" err="1">
                <a:latin typeface="Source Sans Pro" panose="020B0503030403020204" pitchFamily="34" charset="0"/>
                <a:ea typeface="Source Sans Pro" panose="020B0503030403020204" pitchFamily="34" charset="0"/>
              </a:rPr>
              <a:t>PySR</a:t>
            </a:r>
            <a:endParaRPr lang="en-US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BDA17F-AA93-23BC-FE76-B4DAB998ACF7}"/>
                  </a:ext>
                </a:extLst>
              </p:cNvPr>
              <p:cNvSpPr txBox="1"/>
              <p:nvPr/>
            </p:nvSpPr>
            <p:spPr>
              <a:xfrm>
                <a:off x="5268076" y="5167679"/>
                <a:ext cx="5067413" cy="5245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𝑐𝑒𝑙𝑙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𝑓𝑐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𝑓𝑐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(1−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𝑓𝑐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DE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B1BDA17F-AA93-23BC-FE76-B4DAB998AC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8076" y="5167679"/>
                <a:ext cx="5067413" cy="52456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E650BF20-D408-C811-68EA-B48D23AD6E3B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D053A3A-22EF-5E4C-D1CA-4952B6384E39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290B5D99-476A-9820-0248-D32B3BD1D60C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cxnSp>
        <p:nvCxnSpPr>
          <p:cNvPr id="16" name="Conector recto 15">
            <a:extLst>
              <a:ext uri="{FF2B5EF4-FFF2-40B4-BE49-F238E27FC236}">
                <a16:creationId xmlns:a16="http://schemas.microsoft.com/office/drawing/2014/main" id="{0671C39C-6D4A-64E2-54B5-B401E2DAAEF1}"/>
              </a:ext>
            </a:extLst>
          </p:cNvPr>
          <p:cNvCxnSpPr/>
          <p:nvPr/>
        </p:nvCxnSpPr>
        <p:spPr>
          <a:xfrm>
            <a:off x="4911969" y="4621668"/>
            <a:ext cx="0" cy="140399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Google Shape;1869;p37">
            <a:extLst>
              <a:ext uri="{FF2B5EF4-FFF2-40B4-BE49-F238E27FC236}">
                <a16:creationId xmlns:a16="http://schemas.microsoft.com/office/drawing/2014/main" id="{611E2AC3-AAC3-8000-1EBD-C04669642966}"/>
              </a:ext>
            </a:extLst>
          </p:cNvPr>
          <p:cNvSpPr txBox="1"/>
          <p:nvPr/>
        </p:nvSpPr>
        <p:spPr>
          <a:xfrm>
            <a:off x="3602746" y="3922004"/>
            <a:ext cx="4738634" cy="59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2000" b="1">
                <a:latin typeface="Source Sans Pro" panose="020B0503030403020204" pitchFamily="34" charset="0"/>
                <a:ea typeface="Source Sans Pro" panose="020B0503030403020204" pitchFamily="34" charset="0"/>
              </a:rPr>
              <a:t>Approaches for symbolic regression</a:t>
            </a:r>
            <a:endParaRPr lang="en-US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026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D31D2-6A52-466B-197F-14EFDB8C8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E0C7063-CBF9-6BF1-722D-AACB80661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35</a:t>
            </a:fld>
            <a:endParaRPr lang="es-ES_tradnl" b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52FE5D-AD5E-CA48-8999-5AE735A42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531" y="2253123"/>
            <a:ext cx="5699309" cy="334156"/>
          </a:xfrm>
          <a:prstGeom prst="rect">
            <a:avLst/>
          </a:prstGeom>
        </p:spPr>
      </p:pic>
      <p:pic>
        <p:nvPicPr>
          <p:cNvPr id="3" name="Picture 2" descr="A blue bar graph with black text&#10;&#10;AI-generated content may be incorrect.">
            <a:extLst>
              <a:ext uri="{FF2B5EF4-FFF2-40B4-BE49-F238E27FC236}">
                <a16:creationId xmlns:a16="http://schemas.microsoft.com/office/drawing/2014/main" id="{A3625A8C-C70C-61D3-ABD8-685C86E7D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487" y="2805567"/>
            <a:ext cx="5366093" cy="3149889"/>
          </a:xfrm>
          <a:prstGeom prst="rect">
            <a:avLst/>
          </a:prstGeom>
        </p:spPr>
      </p:pic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2BB3BAA8-09D8-8B9A-F923-B4C773A4BA69}"/>
              </a:ext>
            </a:extLst>
          </p:cNvPr>
          <p:cNvSpPr/>
          <p:nvPr/>
        </p:nvSpPr>
        <p:spPr>
          <a:xfrm>
            <a:off x="1166148" y="857886"/>
            <a:ext cx="10020328" cy="527651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Source Sans Pro"/>
                <a:ea typeface="Source Sans Pro"/>
              </a:rPr>
              <a:t>SHAP for the best-performing equations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E4F83B1-A0EF-DD4E-1A36-AE12DB063057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A42E6D9-9A54-4EC8-AFF8-3F88095E7D5F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D34B863A-18BB-59B7-4EEB-C35513440423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11" name="TextBox 14">
            <a:extLst>
              <a:ext uri="{FF2B5EF4-FFF2-40B4-BE49-F238E27FC236}">
                <a16:creationId xmlns:a16="http://schemas.microsoft.com/office/drawing/2014/main" id="{9478EAAB-111C-4D60-9139-4A32FF9BF518}"/>
              </a:ext>
            </a:extLst>
          </p:cNvPr>
          <p:cNvSpPr txBox="1"/>
          <p:nvPr/>
        </p:nvSpPr>
        <p:spPr>
          <a:xfrm>
            <a:off x="927075" y="5988227"/>
            <a:ext cx="10869083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>
                <a:latin typeface="Source Sans Pro"/>
                <a:ea typeface="Source Sans Pro"/>
              </a:rPr>
              <a:t>Figure 20:  </a:t>
            </a:r>
            <a:r>
              <a:rPr lang="en-US" sz="1400">
                <a:ea typeface="+mn-lt"/>
                <a:cs typeface="+mn-lt"/>
              </a:rPr>
              <a:t>Mean absolute SHAP values for each feature, indicating their average contribution to the model's output. </a:t>
            </a:r>
            <a:endParaRPr lang="en-US" sz="1400">
              <a:latin typeface="Source Sans Pro"/>
              <a:ea typeface="Source Sans Pro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6528F8D-12C9-B61B-1FD1-6843BD046F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4392" y="2084387"/>
            <a:ext cx="4675717" cy="657225"/>
          </a:xfrm>
          <a:prstGeom prst="rect">
            <a:avLst/>
          </a:prstGeom>
        </p:spPr>
      </p:pic>
      <p:pic>
        <p:nvPicPr>
          <p:cNvPr id="15" name="Picture 14" descr="A graph with blue bars&#10;&#10;AI-generated content may be incorrect.">
            <a:extLst>
              <a:ext uri="{FF2B5EF4-FFF2-40B4-BE49-F238E27FC236}">
                <a16:creationId xmlns:a16="http://schemas.microsoft.com/office/drawing/2014/main" id="{BF26FCB0-912E-9348-7C15-CE9D79C47F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4138" y="2830514"/>
            <a:ext cx="5366809" cy="3144309"/>
          </a:xfrm>
          <a:prstGeom prst="rect">
            <a:avLst/>
          </a:prstGeom>
        </p:spPr>
      </p:pic>
      <p:sp>
        <p:nvSpPr>
          <p:cNvPr id="16" name="Rectángulo redondeado 3">
            <a:extLst>
              <a:ext uri="{FF2B5EF4-FFF2-40B4-BE49-F238E27FC236}">
                <a16:creationId xmlns:a16="http://schemas.microsoft.com/office/drawing/2014/main" id="{8C1013A4-5857-9569-6B1A-1FB8C7506306}"/>
              </a:ext>
            </a:extLst>
          </p:cNvPr>
          <p:cNvSpPr/>
          <p:nvPr/>
        </p:nvSpPr>
        <p:spPr>
          <a:xfrm>
            <a:off x="2616064" y="1514052"/>
            <a:ext cx="2125162" cy="411235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Source Sans Pro"/>
                <a:ea typeface="Source Sans Pro"/>
              </a:rPr>
              <a:t>Unconstrained</a:t>
            </a:r>
            <a:endParaRPr lang="en-US"/>
          </a:p>
        </p:txBody>
      </p:sp>
      <p:sp>
        <p:nvSpPr>
          <p:cNvPr id="17" name="Rectángulo redondeado 3">
            <a:extLst>
              <a:ext uri="{FF2B5EF4-FFF2-40B4-BE49-F238E27FC236}">
                <a16:creationId xmlns:a16="http://schemas.microsoft.com/office/drawing/2014/main" id="{D9BF8CC9-4AD7-D1A6-A972-7AFFDECE32AE}"/>
              </a:ext>
            </a:extLst>
          </p:cNvPr>
          <p:cNvSpPr/>
          <p:nvPr/>
        </p:nvSpPr>
        <p:spPr>
          <a:xfrm>
            <a:off x="7897146" y="1503468"/>
            <a:ext cx="2125162" cy="411235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Source Sans Pro"/>
                <a:ea typeface="Source Sans Pro"/>
              </a:rPr>
              <a:t>Physics-informed</a:t>
            </a:r>
            <a:endParaRPr lang="en-US"/>
          </a:p>
        </p:txBody>
      </p:sp>
      <p:sp>
        <p:nvSpPr>
          <p:cNvPr id="19" name="Rectángulo: esquinas redondeadas 58">
            <a:extLst>
              <a:ext uri="{FF2B5EF4-FFF2-40B4-BE49-F238E27FC236}">
                <a16:creationId xmlns:a16="http://schemas.microsoft.com/office/drawing/2014/main" id="{178EDED0-2AF8-ADDD-E885-5E3A33AA377E}"/>
              </a:ext>
            </a:extLst>
          </p:cNvPr>
          <p:cNvSpPr/>
          <p:nvPr/>
        </p:nvSpPr>
        <p:spPr>
          <a:xfrm>
            <a:off x="554659" y="1513293"/>
            <a:ext cx="1586235" cy="5988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800" b="1" baseline="0">
                <a:solidFill>
                  <a:schemeClr val="tx1"/>
                </a:solidFill>
                <a:latin typeface="Source Sans Pro"/>
              </a:rPr>
              <a:t>R²</a:t>
            </a:r>
            <a:r>
              <a:rPr lang="en-US" b="1">
                <a:solidFill>
                  <a:schemeClr val="tx1"/>
                </a:solidFill>
                <a:latin typeface="Source Sans Pro"/>
              </a:rPr>
              <a:t> = </a:t>
            </a:r>
            <a:r>
              <a:rPr lang="en-US">
                <a:solidFill>
                  <a:schemeClr val="tx1"/>
                </a:solidFill>
                <a:latin typeface="Source Sans Pro"/>
              </a:rPr>
              <a:t>0.854</a:t>
            </a:r>
            <a:r>
              <a:rPr lang="en-US" b="1">
                <a:solidFill>
                  <a:schemeClr val="tx1"/>
                </a:solidFill>
                <a:latin typeface="Source Sans Pro"/>
              </a:rPr>
              <a:t> </a:t>
            </a:r>
            <a:endParaRPr lang="es-CO">
              <a:solidFill>
                <a:schemeClr val="tx1"/>
              </a:solidFill>
              <a:latin typeface="Aptos" panose="02110004020202020204"/>
            </a:endParaRPr>
          </a:p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Source Sans Pro"/>
                <a:ea typeface="Source Sans Pro"/>
              </a:rPr>
              <a:t>MSE = </a:t>
            </a:r>
            <a:r>
              <a:rPr lang="en-US">
                <a:solidFill>
                  <a:schemeClr val="tx1"/>
                </a:solidFill>
                <a:latin typeface="Source Sans Pro"/>
                <a:ea typeface="Source Sans Pro"/>
              </a:rPr>
              <a:t>0.0042</a:t>
            </a:r>
          </a:p>
        </p:txBody>
      </p:sp>
      <p:sp>
        <p:nvSpPr>
          <p:cNvPr id="20" name="Rectángulo: esquinas redondeadas 58">
            <a:extLst>
              <a:ext uri="{FF2B5EF4-FFF2-40B4-BE49-F238E27FC236}">
                <a16:creationId xmlns:a16="http://schemas.microsoft.com/office/drawing/2014/main" id="{DD7A356E-3FD1-ACCC-0410-563EB05F3B1F}"/>
              </a:ext>
            </a:extLst>
          </p:cNvPr>
          <p:cNvSpPr/>
          <p:nvPr/>
        </p:nvSpPr>
        <p:spPr>
          <a:xfrm>
            <a:off x="10397158" y="1407459"/>
            <a:ext cx="1586235" cy="59882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US" sz="1800" b="1" baseline="0">
                <a:solidFill>
                  <a:schemeClr val="tx1"/>
                </a:solidFill>
                <a:latin typeface="Source Sans Pro"/>
              </a:rPr>
              <a:t>R²</a:t>
            </a:r>
            <a:r>
              <a:rPr lang="en-US" b="1">
                <a:solidFill>
                  <a:schemeClr val="tx1"/>
                </a:solidFill>
                <a:latin typeface="Source Sans Pro"/>
              </a:rPr>
              <a:t> = </a:t>
            </a:r>
            <a:r>
              <a:rPr lang="en-US">
                <a:solidFill>
                  <a:schemeClr val="tx1"/>
                </a:solidFill>
                <a:latin typeface="Source Sans Pro"/>
              </a:rPr>
              <a:t>0.884</a:t>
            </a:r>
            <a:r>
              <a:rPr lang="en-US" b="1">
                <a:solidFill>
                  <a:schemeClr val="tx1"/>
                </a:solidFill>
                <a:latin typeface="Source Sans Pro"/>
              </a:rPr>
              <a:t> </a:t>
            </a:r>
            <a:endParaRPr lang="es-CO">
              <a:solidFill>
                <a:schemeClr val="tx1"/>
              </a:solidFill>
              <a:latin typeface="Aptos" panose="02110004020202020204"/>
            </a:endParaRPr>
          </a:p>
          <a:p>
            <a:pPr algn="ctr">
              <a:defRPr/>
            </a:pPr>
            <a:r>
              <a:rPr lang="en-US" b="1">
                <a:solidFill>
                  <a:schemeClr val="tx1"/>
                </a:solidFill>
                <a:latin typeface="Source Sans Pro"/>
                <a:ea typeface="Source Sans Pro"/>
              </a:rPr>
              <a:t>MSE = </a:t>
            </a:r>
            <a:r>
              <a:rPr lang="en-US">
                <a:solidFill>
                  <a:schemeClr val="tx1"/>
                </a:solidFill>
                <a:latin typeface="Source Sans Pro"/>
                <a:ea typeface="Source Sans Pro"/>
              </a:rPr>
              <a:t>0.0032</a:t>
            </a:r>
          </a:p>
        </p:txBody>
      </p:sp>
    </p:spTree>
    <p:extLst>
      <p:ext uri="{BB962C8B-B14F-4D97-AF65-F5344CB8AC3E}">
        <p14:creationId xmlns:p14="http://schemas.microsoft.com/office/powerpoint/2010/main" val="29936318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F9FDA99-DD21-4731-8CE3-BED24DF2EAF5}"/>
              </a:ext>
            </a:extLst>
          </p:cNvPr>
          <p:cNvSpPr txBox="1"/>
          <p:nvPr/>
        </p:nvSpPr>
        <p:spPr>
          <a:xfrm>
            <a:off x="2464955" y="2644170"/>
            <a:ext cx="726209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9600" b="0" i="1" u="none" strike="noStrike" kern="1200" cap="none" spc="0" normalizeH="0" baseline="0" noProof="0">
                <a:ln>
                  <a:noFill/>
                </a:ln>
                <a:solidFill>
                  <a:srgbClr val="008B2E"/>
                </a:solidFill>
                <a:effectLst/>
                <a:uLnTx/>
                <a:uFillTx/>
                <a:latin typeface="Source Sans Pro Light" panose="020B0503030403020204" pitchFamily="34" charset="0"/>
                <a:ea typeface="Source Sans Pro Light" panose="020B0503030403020204" pitchFamily="34" charset="0"/>
                <a:cs typeface="+mn-cs"/>
              </a:rPr>
              <a:t>5. Future </a:t>
            </a:r>
            <a:r>
              <a:rPr kumimoji="0" lang="es-ES_tradnl" sz="9600" b="0" i="1" u="none" strike="noStrike" kern="1200" cap="none" spc="0" normalizeH="0" baseline="0" noProof="0" err="1">
                <a:ln>
                  <a:noFill/>
                </a:ln>
                <a:solidFill>
                  <a:srgbClr val="008B2E"/>
                </a:solidFill>
                <a:effectLst/>
                <a:uLnTx/>
                <a:uFillTx/>
                <a:latin typeface="Source Sans Pro Light" panose="020B0503030403020204" pitchFamily="34" charset="0"/>
                <a:ea typeface="Source Sans Pro Light" panose="020B0503030403020204" pitchFamily="34" charset="0"/>
                <a:cs typeface="+mn-cs"/>
              </a:rPr>
              <a:t>Work</a:t>
            </a:r>
            <a:endParaRPr kumimoji="0" lang="es-ES_tradnl" sz="9600" b="0" i="1" u="none" strike="noStrike" kern="1200" cap="none" spc="0" normalizeH="0" baseline="0" noProof="0">
              <a:ln>
                <a:noFill/>
              </a:ln>
              <a:solidFill>
                <a:srgbClr val="008B2E"/>
              </a:solidFill>
              <a:effectLst/>
              <a:uLnTx/>
              <a:uFillTx/>
              <a:latin typeface="Source Sans Pro Light" panose="020B0503030403020204" pitchFamily="34" charset="0"/>
              <a:ea typeface="Source Sans Pro Light" panose="020B0503030403020204" pitchFamily="34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43712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Marcador de número de diapositiva 14">
            <a:extLst>
              <a:ext uri="{FF2B5EF4-FFF2-40B4-BE49-F238E27FC236}">
                <a16:creationId xmlns:a16="http://schemas.microsoft.com/office/drawing/2014/main" id="{F5DE518E-7552-0DCA-DEFB-E57544564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7" y="2368627"/>
            <a:ext cx="445265" cy="440673"/>
          </a:xfrm>
        </p:spPr>
        <p:txBody>
          <a:bodyPr/>
          <a:lstStyle/>
          <a:p>
            <a:fld id="{B75BC28E-972B-EC47-BE79-29D89D46B9CA}" type="slidenum">
              <a:rPr lang="es-ES_tradnl" sz="1600" b="1" smtClean="0"/>
              <a:t>37</a:t>
            </a:fld>
            <a:endParaRPr lang="es-ES_tradnl" sz="1600" b="1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4B33637F-D188-4DDE-9063-0244AA51929D}"/>
              </a:ext>
            </a:extLst>
          </p:cNvPr>
          <p:cNvSpPr/>
          <p:nvPr/>
        </p:nvSpPr>
        <p:spPr>
          <a:xfrm>
            <a:off x="5727374" y="1793525"/>
            <a:ext cx="6018001" cy="3883794"/>
          </a:xfrm>
          <a:prstGeom prst="roundRect">
            <a:avLst/>
          </a:prstGeom>
          <a:noFill/>
          <a:ln>
            <a:solidFill>
              <a:srgbClr val="8879F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7" name="Rectángulo: esquinas redondeadas 16">
            <a:extLst>
              <a:ext uri="{FF2B5EF4-FFF2-40B4-BE49-F238E27FC236}">
                <a16:creationId xmlns:a16="http://schemas.microsoft.com/office/drawing/2014/main" id="{04D0F13B-DFFC-408C-A00F-4195F8A271CF}"/>
              </a:ext>
            </a:extLst>
          </p:cNvPr>
          <p:cNvSpPr/>
          <p:nvPr/>
        </p:nvSpPr>
        <p:spPr>
          <a:xfrm>
            <a:off x="7496994" y="1484693"/>
            <a:ext cx="2478761" cy="598965"/>
          </a:xfrm>
          <a:prstGeom prst="roundRect">
            <a:avLst>
              <a:gd name="adj" fmla="val 50000"/>
            </a:avLst>
          </a:prstGeom>
          <a:solidFill>
            <a:srgbClr val="8879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" sz="20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  <a:r>
              <a:rPr lang="es-ES" sz="2000" b="1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endParaRPr lang="es-CO" sz="2000" b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58027DB2-D784-4777-8516-13DD465D9280}"/>
              </a:ext>
            </a:extLst>
          </p:cNvPr>
          <p:cNvSpPr/>
          <p:nvPr/>
        </p:nvSpPr>
        <p:spPr>
          <a:xfrm>
            <a:off x="900790" y="1794599"/>
            <a:ext cx="4555537" cy="3882719"/>
          </a:xfrm>
          <a:prstGeom prst="roundRect">
            <a:avLst/>
          </a:prstGeom>
          <a:noFill/>
          <a:ln>
            <a:solidFill>
              <a:srgbClr val="B278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5CBD4B9-5A6D-429B-8414-9F172A7D72B2}"/>
              </a:ext>
            </a:extLst>
          </p:cNvPr>
          <p:cNvSpPr txBox="1"/>
          <p:nvPr/>
        </p:nvSpPr>
        <p:spPr>
          <a:xfrm>
            <a:off x="6096000" y="2368627"/>
            <a:ext cx="5489750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Try out additional physics informed methods:</a:t>
            </a:r>
          </a:p>
          <a:p>
            <a:pPr marL="457200" lvl="2" indent="-285750" fontAlgn="base">
              <a:buFontTx/>
              <a:buChar char="→"/>
              <a:defRPr/>
            </a:pP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Deep Symbolic Regression. </a:t>
            </a:r>
          </a:p>
          <a:p>
            <a:pPr marL="457200" lvl="2" indent="-285750" fontAlgn="base">
              <a:buFontTx/>
              <a:buChar char="→"/>
              <a:defRPr/>
            </a:pP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End-to-end symbolic regression with transformers.</a:t>
            </a:r>
          </a:p>
          <a:p>
            <a:pPr marL="457200" lvl="2" indent="-285750" fontAlgn="base">
              <a:buFontTx/>
              <a:buChar char="→"/>
              <a:defRPr/>
            </a:pPr>
            <a:endParaRPr lang="en-US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Increase the training time for the Symbolic Regression.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Include physical constraints in </a:t>
            </a:r>
            <a:r>
              <a:rPr lang="en-US" err="1">
                <a:solidFill>
                  <a:srgbClr val="242121"/>
                </a:solidFill>
                <a:latin typeface="Source Sans Pro"/>
                <a:ea typeface="Source Sans Pro"/>
              </a:rPr>
              <a:t>PySR</a:t>
            </a: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.</a:t>
            </a:r>
          </a:p>
          <a:p>
            <a:pPr marL="285750" indent="-285750">
              <a:buFont typeface="Arial,Sans-Serif"/>
              <a:buChar char="•"/>
            </a:pP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Perform hyperparameter tunning in </a:t>
            </a:r>
            <a:r>
              <a:rPr lang="en-US" err="1">
                <a:solidFill>
                  <a:srgbClr val="242121"/>
                </a:solidFill>
                <a:latin typeface="Source Sans Pro"/>
                <a:ea typeface="Source Sans Pro"/>
              </a:rPr>
              <a:t>PySR</a:t>
            </a: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.</a:t>
            </a:r>
          </a:p>
          <a:p>
            <a:pPr marL="285750" indent="-285750">
              <a:buFont typeface="Arial,Sans-Serif"/>
              <a:buChar char="•"/>
            </a:pPr>
            <a:endParaRPr lang="en-US" dirty="0">
              <a:solidFill>
                <a:srgbClr val="242121"/>
              </a:solidFill>
              <a:latin typeface="Source Sans Pro" panose="020B0503030403020204" pitchFamily="34" charset="0"/>
            </a:endParaRPr>
          </a:p>
        </p:txBody>
      </p:sp>
      <p:sp>
        <p:nvSpPr>
          <p:cNvPr id="20" name="Rectángulo: esquinas redondeadas 5">
            <a:extLst>
              <a:ext uri="{FF2B5EF4-FFF2-40B4-BE49-F238E27FC236}">
                <a16:creationId xmlns:a16="http://schemas.microsoft.com/office/drawing/2014/main" id="{FC16A5A1-EDFA-42E5-8654-6C699EDC4C89}"/>
              </a:ext>
            </a:extLst>
          </p:cNvPr>
          <p:cNvSpPr/>
          <p:nvPr/>
        </p:nvSpPr>
        <p:spPr>
          <a:xfrm>
            <a:off x="9231533" y="2722246"/>
            <a:ext cx="1648630" cy="217182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Source Sans Pro"/>
                <a:ea typeface="Source Sans Pro"/>
                <a:hlinkClick r:id="rId2"/>
              </a:rPr>
              <a:t>(Petersen et al.)</a:t>
            </a:r>
            <a:endParaRPr lang="en-US" sz="1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Rectángulo: esquinas redondeadas 5">
            <a:extLst>
              <a:ext uri="{FF2B5EF4-FFF2-40B4-BE49-F238E27FC236}">
                <a16:creationId xmlns:a16="http://schemas.microsoft.com/office/drawing/2014/main" id="{2894A1A2-1EBF-42D5-8583-8156BEFDA401}"/>
              </a:ext>
            </a:extLst>
          </p:cNvPr>
          <p:cNvSpPr/>
          <p:nvPr/>
        </p:nvSpPr>
        <p:spPr>
          <a:xfrm>
            <a:off x="6571726" y="3213770"/>
            <a:ext cx="1743599" cy="215230"/>
          </a:xfrm>
          <a:prstGeom prst="roundRect">
            <a:avLst>
              <a:gd name="adj" fmla="val 5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>
                <a:solidFill>
                  <a:srgbClr val="000000"/>
                </a:solidFill>
                <a:latin typeface="Source Sans Pro"/>
                <a:ea typeface="Source Sans Pro"/>
                <a:hlinkClick r:id="rId3"/>
              </a:rPr>
              <a:t>(Kamienny et al.)</a:t>
            </a:r>
            <a:endParaRPr lang="en-US" sz="160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2BF92AAE-7C65-4204-953E-77E7E7430646}"/>
              </a:ext>
            </a:extLst>
          </p:cNvPr>
          <p:cNvSpPr txBox="1"/>
          <p:nvPr/>
        </p:nvSpPr>
        <p:spPr>
          <a:xfrm>
            <a:off x="1171837" y="2338948"/>
            <a:ext cx="4039170" cy="23083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1" indent="-285750" fontAlgn="base">
              <a:buFontTx/>
              <a:buChar char="→"/>
              <a:defRPr/>
            </a:pP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Run the Sensitivity Analysis with Sobol with a</a:t>
            </a:r>
            <a:r>
              <a:rPr lang="en-US" b="1">
                <a:solidFill>
                  <a:srgbClr val="242121"/>
                </a:solidFill>
                <a:latin typeface="Source Sans Pro"/>
                <a:ea typeface="Source Sans Pro"/>
              </a:rPr>
              <a:t> larger dataset</a:t>
            </a: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 to improve the confidence intervals of the Sobol indices.</a:t>
            </a:r>
          </a:p>
          <a:p>
            <a:pPr marL="0" lvl="1" indent="-285750" fontAlgn="base">
              <a:buFontTx/>
              <a:buChar char="→"/>
              <a:defRPr/>
            </a:pPr>
            <a:r>
              <a:rPr lang="en-US" b="1">
                <a:solidFill>
                  <a:srgbClr val="242121"/>
                </a:solidFill>
                <a:latin typeface="Source Sans Pro"/>
                <a:ea typeface="Source Sans Pro"/>
              </a:rPr>
              <a:t>Dynamic definition of the regions</a:t>
            </a:r>
            <a:r>
              <a:rPr lang="en-US">
                <a:solidFill>
                  <a:srgbClr val="242121"/>
                </a:solidFill>
                <a:latin typeface="Source Sans Pro"/>
                <a:ea typeface="Source Sans Pro"/>
              </a:rPr>
              <a:t>, based on the shape rather than in a fixed current.</a:t>
            </a:r>
          </a:p>
          <a:p>
            <a:pPr marL="0" lvl="1" indent="-285750" fontAlgn="base">
              <a:buFontTx/>
              <a:buChar char="→"/>
              <a:defRPr/>
            </a:pPr>
            <a:endParaRPr lang="en-US" b="1">
              <a:solidFill>
                <a:srgbClr val="242121"/>
              </a:solidFill>
              <a:latin typeface="Source Sans Pro" panose="020B0503030403020204" pitchFamily="34" charset="0"/>
              <a:ea typeface="Source Sans Pro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2A0D3CB-557A-1C62-6590-D5C9C87C6609}"/>
              </a:ext>
            </a:extLst>
          </p:cNvPr>
          <p:cNvSpPr txBox="1"/>
          <p:nvPr/>
        </p:nvSpPr>
        <p:spPr>
          <a:xfrm>
            <a:off x="3397166" y="175685"/>
            <a:ext cx="5085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 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BCDFBB84-E79B-D696-C043-8E86F3558ED8}"/>
              </a:ext>
            </a:extLst>
          </p:cNvPr>
          <p:cNvSpPr/>
          <p:nvPr/>
        </p:nvSpPr>
        <p:spPr>
          <a:xfrm>
            <a:off x="8522702" y="175687"/>
            <a:ext cx="1822928" cy="307775"/>
          </a:xfrm>
          <a:prstGeom prst="roundRect">
            <a:avLst>
              <a:gd name="adj" fmla="val 50000"/>
            </a:avLst>
          </a:prstGeom>
          <a:solidFill>
            <a:srgbClr val="BCE65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5. 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47C6B9C9-8FB4-59A5-F23E-5E84B71B5A83}"/>
              </a:ext>
            </a:extLst>
          </p:cNvPr>
          <p:cNvSpPr txBox="1">
            <a:spLocks/>
          </p:cNvSpPr>
          <p:nvPr/>
        </p:nvSpPr>
        <p:spPr>
          <a:xfrm>
            <a:off x="838200" y="682497"/>
            <a:ext cx="9778340" cy="6594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" sz="3200" b="1">
                <a:latin typeface="Source Sans Pro" panose="020B0503030403020204" pitchFamily="34" charset="0"/>
                <a:ea typeface="Source Sans Pro" panose="020B0503030403020204" pitchFamily="34" charset="0"/>
              </a:rPr>
              <a:t>Future work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8BF6975-5055-4D1E-BBA7-87BCCAE34B44}"/>
              </a:ext>
            </a:extLst>
          </p:cNvPr>
          <p:cNvSpPr/>
          <p:nvPr/>
        </p:nvSpPr>
        <p:spPr>
          <a:xfrm>
            <a:off x="1745140" y="1494042"/>
            <a:ext cx="2866835" cy="598965"/>
          </a:xfrm>
          <a:prstGeom prst="roundRect">
            <a:avLst>
              <a:gd name="adj" fmla="val 50000"/>
            </a:avLst>
          </a:prstGeom>
          <a:solidFill>
            <a:srgbClr val="B278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2000" b="1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" sz="20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" sz="2000" b="1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endParaRPr lang="es-CO" sz="2000" b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327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66C190D-B09B-140D-1FC8-7FA09F03E1D8}"/>
              </a:ext>
            </a:extLst>
          </p:cNvPr>
          <p:cNvSpPr txBox="1"/>
          <p:nvPr/>
        </p:nvSpPr>
        <p:spPr>
          <a:xfrm>
            <a:off x="2776213" y="2293096"/>
            <a:ext cx="6639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6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Bibliography</a:t>
            </a:r>
            <a:endParaRPr lang="es-ES_tradnl" sz="9600" i="1">
              <a:solidFill>
                <a:schemeClr val="bg1"/>
              </a:solidFill>
              <a:latin typeface="Source Sans Pro Light" panose="020B0503030403020204" pitchFamily="34" charset="0"/>
              <a:ea typeface="Source Sans Pro Light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60277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9FF288-4F08-B94B-A629-4B913F12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sz="1600" b="1" smtClean="0">
                <a:solidFill>
                  <a:schemeClr val="bg1"/>
                </a:solidFill>
              </a:rPr>
              <a:t>39</a:t>
            </a:fld>
            <a:endParaRPr lang="es-ES_tradnl" sz="1600" b="1">
              <a:solidFill>
                <a:schemeClr val="bg1"/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BF470F5-D6FA-4D2D-B8AB-F74181E5F487}"/>
              </a:ext>
            </a:extLst>
          </p:cNvPr>
          <p:cNvSpPr txBox="1"/>
          <p:nvPr/>
        </p:nvSpPr>
        <p:spPr>
          <a:xfrm>
            <a:off x="1477412" y="1032096"/>
            <a:ext cx="9649347" cy="520142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718820" indent="-718820">
              <a:spcBef>
                <a:spcPts val="1200"/>
              </a:spcBef>
            </a:pPr>
            <a:r>
              <a:rPr lang="es-CO" sz="1600" dirty="0" err="1">
                <a:latin typeface="Source Sans Pro"/>
                <a:ea typeface="Source Sans Pro"/>
              </a:rPr>
              <a:t>Dandl</a:t>
            </a:r>
            <a:r>
              <a:rPr lang="es-CO" sz="1600" dirty="0">
                <a:latin typeface="Source Sans Pro"/>
                <a:ea typeface="Source Sans Pro"/>
              </a:rPr>
              <a:t>, S., </a:t>
            </a:r>
            <a:r>
              <a:rPr lang="es-CO" sz="1600" dirty="0" err="1">
                <a:latin typeface="Source Sans Pro"/>
                <a:ea typeface="Source Sans Pro"/>
              </a:rPr>
              <a:t>Casalicchio</a:t>
            </a:r>
            <a:r>
              <a:rPr lang="es-CO" sz="1600" dirty="0">
                <a:latin typeface="Source Sans Pro"/>
                <a:ea typeface="Source Sans Pro"/>
              </a:rPr>
              <a:t>, G., </a:t>
            </a:r>
            <a:r>
              <a:rPr lang="es-CO" sz="1600" dirty="0" err="1">
                <a:latin typeface="Source Sans Pro"/>
                <a:ea typeface="Source Sans Pro"/>
              </a:rPr>
              <a:t>Bischl</a:t>
            </a:r>
            <a:r>
              <a:rPr lang="es-CO" sz="1600" dirty="0">
                <a:latin typeface="Source Sans Pro"/>
                <a:ea typeface="Source Sans Pro"/>
              </a:rPr>
              <a:t>, B., &amp; </a:t>
            </a:r>
            <a:r>
              <a:rPr lang="es-CO" sz="1600" dirty="0" err="1">
                <a:latin typeface="Source Sans Pro"/>
                <a:ea typeface="Source Sans Pro"/>
              </a:rPr>
              <a:t>Bothmann</a:t>
            </a:r>
            <a:r>
              <a:rPr lang="es-CO" sz="1600" dirty="0">
                <a:latin typeface="Source Sans Pro"/>
                <a:ea typeface="Source Sans Pro"/>
              </a:rPr>
              <a:t>, L. (2023). </a:t>
            </a:r>
            <a:r>
              <a:rPr lang="es-CO" sz="1600" i="1" dirty="0">
                <a:latin typeface="Source Sans Pro"/>
                <a:ea typeface="Source Sans Pro"/>
              </a:rPr>
              <a:t>Interpretable Regional </a:t>
            </a:r>
            <a:r>
              <a:rPr lang="es-CO" sz="1600" i="1" dirty="0" err="1">
                <a:latin typeface="Source Sans Pro"/>
                <a:ea typeface="Source Sans Pro"/>
              </a:rPr>
              <a:t>Descriptors</a:t>
            </a:r>
            <a:r>
              <a:rPr lang="es-CO" sz="1600" i="1" dirty="0">
                <a:latin typeface="Source Sans Pro"/>
                <a:ea typeface="Source Sans Pro"/>
              </a:rPr>
              <a:t>: </a:t>
            </a:r>
            <a:r>
              <a:rPr lang="es-CO" sz="1600" i="1" dirty="0" err="1">
                <a:latin typeface="Source Sans Pro"/>
                <a:ea typeface="Source Sans Pro"/>
              </a:rPr>
              <a:t>Hyperbox-Based</a:t>
            </a:r>
            <a:r>
              <a:rPr lang="es-CO" sz="1600" i="1" dirty="0">
                <a:latin typeface="Source Sans Pro"/>
                <a:ea typeface="Source Sans Pro"/>
              </a:rPr>
              <a:t> Local </a:t>
            </a:r>
            <a:r>
              <a:rPr lang="es-CO" sz="1600" i="1" dirty="0" err="1">
                <a:latin typeface="Source Sans Pro"/>
                <a:ea typeface="Source Sans Pro"/>
              </a:rPr>
              <a:t>Explanations</a:t>
            </a:r>
            <a:r>
              <a:rPr lang="es-CO" sz="1600" dirty="0">
                <a:latin typeface="Source Sans Pro"/>
                <a:ea typeface="Source Sans Pro"/>
              </a:rPr>
              <a:t> (arXiv:2305.02780) [</a:t>
            </a:r>
            <a:r>
              <a:rPr lang="es-CO" sz="1600" dirty="0" err="1">
                <a:latin typeface="Source Sans Pro"/>
                <a:ea typeface="Source Sans Pro"/>
              </a:rPr>
              <a:t>Preprint</a:t>
            </a:r>
            <a:r>
              <a:rPr lang="es-CO" sz="1600" dirty="0">
                <a:latin typeface="Source Sans Pro"/>
                <a:ea typeface="Source Sans Pro"/>
              </a:rPr>
              <a:t>]. </a:t>
            </a:r>
            <a:r>
              <a:rPr lang="es-CO" sz="1600" dirty="0" err="1">
                <a:latin typeface="Source Sans Pro"/>
                <a:ea typeface="Source Sans Pro"/>
              </a:rPr>
              <a:t>arXiv</a:t>
            </a:r>
            <a:r>
              <a:rPr lang="es-CO" sz="1600" dirty="0">
                <a:latin typeface="Source Sans Pro"/>
                <a:ea typeface="Source Sans Pro"/>
              </a:rPr>
              <a:t>. </a:t>
            </a:r>
            <a:r>
              <a:rPr lang="es-CO" sz="1600" dirty="0">
                <a:latin typeface="Source Sans Pro"/>
                <a:ea typeface="Source Sans Pro"/>
                <a:hlinkClick r:id="rId3"/>
              </a:rPr>
              <a:t>https://doi.org/10.48550/arXiv.2305.02780</a:t>
            </a:r>
            <a:endParaRPr lang="es-CO" sz="1600" dirty="0">
              <a:latin typeface="Source Sans Pro"/>
              <a:ea typeface="Source Sans Pro"/>
            </a:endParaRPr>
          </a:p>
          <a:p>
            <a:pPr marL="718820" indent="-718820">
              <a:spcBef>
                <a:spcPts val="1200"/>
              </a:spcBef>
            </a:pPr>
            <a:r>
              <a:rPr lang="es-CO" sz="1600" dirty="0" err="1">
                <a:latin typeface="Source Sans Pro"/>
                <a:ea typeface="Source Sans Pro"/>
              </a:rPr>
              <a:t>Gass</a:t>
            </a:r>
            <a:r>
              <a:rPr lang="es-CO" sz="1600" dirty="0">
                <a:latin typeface="Source Sans Pro"/>
                <a:ea typeface="Source Sans Pro"/>
              </a:rPr>
              <a:t>, R., Li, Z., </a:t>
            </a:r>
            <a:r>
              <a:rPr lang="es-CO" sz="1600" dirty="0" err="1">
                <a:latin typeface="Source Sans Pro"/>
                <a:ea typeface="Source Sans Pro"/>
              </a:rPr>
              <a:t>Outbib</a:t>
            </a:r>
            <a:r>
              <a:rPr lang="es-CO" sz="1600" dirty="0">
                <a:latin typeface="Source Sans Pro"/>
                <a:ea typeface="Source Sans Pro"/>
              </a:rPr>
              <a:t>, R., </a:t>
            </a:r>
            <a:r>
              <a:rPr lang="es-CO" sz="1600" dirty="0" err="1">
                <a:latin typeface="Source Sans Pro"/>
                <a:ea typeface="Source Sans Pro"/>
              </a:rPr>
              <a:t>Jemei</a:t>
            </a:r>
            <a:r>
              <a:rPr lang="es-CO" sz="1600" dirty="0">
                <a:latin typeface="Source Sans Pro"/>
                <a:ea typeface="Source Sans Pro"/>
              </a:rPr>
              <a:t>, S., &amp; </a:t>
            </a:r>
            <a:r>
              <a:rPr lang="es-CO" sz="1600" dirty="0" err="1">
                <a:latin typeface="Source Sans Pro"/>
                <a:ea typeface="Source Sans Pro"/>
              </a:rPr>
              <a:t>Hissel</a:t>
            </a:r>
            <a:r>
              <a:rPr lang="es-CO" sz="1600" dirty="0">
                <a:latin typeface="Source Sans Pro"/>
                <a:ea typeface="Source Sans Pro"/>
              </a:rPr>
              <a:t>, D. (2024). </a:t>
            </a:r>
            <a:r>
              <a:rPr lang="es-CO" sz="1600" i="1" dirty="0" err="1">
                <a:latin typeface="Source Sans Pro"/>
                <a:ea typeface="Source Sans Pro"/>
              </a:rPr>
              <a:t>AlphaPEM</a:t>
            </a:r>
            <a:r>
              <a:rPr lang="es-CO" sz="1600" i="1" dirty="0">
                <a:latin typeface="Source Sans Pro"/>
                <a:ea typeface="Source Sans Pro"/>
              </a:rPr>
              <a:t>: </a:t>
            </a:r>
            <a:r>
              <a:rPr lang="es-CO" sz="1600" i="1" dirty="0" err="1">
                <a:latin typeface="Source Sans Pro"/>
                <a:ea typeface="Source Sans Pro"/>
              </a:rPr>
              <a:t>An</a:t>
            </a:r>
            <a:r>
              <a:rPr lang="es-CO" sz="1600" i="1" dirty="0">
                <a:latin typeface="Source Sans Pro"/>
                <a:ea typeface="Source Sans Pro"/>
              </a:rPr>
              <a:t> open-</a:t>
            </a:r>
            <a:r>
              <a:rPr lang="es-CO" sz="1600" i="1" dirty="0" err="1">
                <a:latin typeface="Source Sans Pro"/>
                <a:ea typeface="Source Sans Pro"/>
              </a:rPr>
              <a:t>source</a:t>
            </a:r>
            <a:r>
              <a:rPr lang="es-CO" sz="1600" i="1" dirty="0">
                <a:latin typeface="Source Sans Pro"/>
                <a:ea typeface="Source Sans Pro"/>
              </a:rPr>
              <a:t> </a:t>
            </a:r>
            <a:r>
              <a:rPr lang="es-CO" sz="1600" i="1" dirty="0" err="1">
                <a:latin typeface="Source Sans Pro"/>
                <a:ea typeface="Source Sans Pro"/>
              </a:rPr>
              <a:t>dynamic</a:t>
            </a:r>
            <a:r>
              <a:rPr lang="es-CO" sz="1600" i="1" dirty="0">
                <a:latin typeface="Source Sans Pro"/>
                <a:ea typeface="Source Sans Pro"/>
              </a:rPr>
              <a:t> 1D </a:t>
            </a:r>
            <a:r>
              <a:rPr lang="es-CO" sz="1600" i="1" dirty="0" err="1">
                <a:latin typeface="Source Sans Pro"/>
                <a:ea typeface="Source Sans Pro"/>
              </a:rPr>
              <a:t>physics-based</a:t>
            </a:r>
            <a:r>
              <a:rPr lang="es-CO" sz="1600" i="1" dirty="0">
                <a:latin typeface="Source Sans Pro"/>
                <a:ea typeface="Source Sans Pro"/>
              </a:rPr>
              <a:t> PEM fuel </a:t>
            </a:r>
            <a:r>
              <a:rPr lang="es-CO" sz="1600" i="1" dirty="0" err="1">
                <a:latin typeface="Source Sans Pro"/>
                <a:ea typeface="Source Sans Pro"/>
              </a:rPr>
              <a:t>cell</a:t>
            </a:r>
            <a:r>
              <a:rPr lang="es-CO" sz="1600" i="1" dirty="0">
                <a:latin typeface="Source Sans Pro"/>
                <a:ea typeface="Source Sans Pro"/>
              </a:rPr>
              <a:t> </a:t>
            </a:r>
            <a:r>
              <a:rPr lang="es-CO" sz="1600" i="1" dirty="0" err="1">
                <a:latin typeface="Source Sans Pro"/>
                <a:ea typeface="Source Sans Pro"/>
              </a:rPr>
              <a:t>model</a:t>
            </a:r>
            <a:r>
              <a:rPr lang="es-CO" sz="1600" i="1" dirty="0">
                <a:latin typeface="Source Sans Pro"/>
                <a:ea typeface="Source Sans Pro"/>
              </a:rPr>
              <a:t> </a:t>
            </a:r>
            <a:r>
              <a:rPr lang="es-CO" sz="1600" i="1" dirty="0" err="1">
                <a:latin typeface="Source Sans Pro"/>
                <a:ea typeface="Source Sans Pro"/>
              </a:rPr>
              <a:t>for</a:t>
            </a:r>
            <a:r>
              <a:rPr lang="es-CO" sz="1600" i="1" dirty="0">
                <a:latin typeface="Source Sans Pro"/>
                <a:ea typeface="Source Sans Pro"/>
              </a:rPr>
              <a:t> </a:t>
            </a:r>
            <a:r>
              <a:rPr lang="es-CO" sz="1600" i="1" dirty="0" err="1">
                <a:latin typeface="Source Sans Pro"/>
                <a:ea typeface="Source Sans Pro"/>
              </a:rPr>
              <a:t>embedded</a:t>
            </a:r>
            <a:r>
              <a:rPr lang="es-CO" sz="1600" i="1" dirty="0">
                <a:latin typeface="Source Sans Pro"/>
                <a:ea typeface="Source Sans Pro"/>
              </a:rPr>
              <a:t> </a:t>
            </a:r>
            <a:r>
              <a:rPr lang="es-CO" sz="1600" i="1" dirty="0" err="1">
                <a:latin typeface="Source Sans Pro"/>
                <a:ea typeface="Source Sans Pro"/>
              </a:rPr>
              <a:t>applications</a:t>
            </a:r>
            <a:r>
              <a:rPr lang="es-CO" sz="1600" dirty="0">
                <a:latin typeface="Source Sans Pro"/>
                <a:ea typeface="Source Sans Pro"/>
              </a:rPr>
              <a:t> [</a:t>
            </a:r>
            <a:r>
              <a:rPr lang="es-CO" sz="1600" dirty="0" err="1">
                <a:latin typeface="Source Sans Pro"/>
                <a:ea typeface="Source Sans Pro"/>
              </a:rPr>
              <a:t>Preprint</a:t>
            </a:r>
            <a:r>
              <a:rPr lang="es-CO" sz="1600" dirty="0">
                <a:latin typeface="Source Sans Pro"/>
                <a:ea typeface="Source Sans Pro"/>
              </a:rPr>
              <a:t>]. </a:t>
            </a:r>
            <a:r>
              <a:rPr lang="es-CO" sz="1600" dirty="0" err="1">
                <a:latin typeface="Source Sans Pro"/>
                <a:ea typeface="Source Sans Pro"/>
              </a:rPr>
              <a:t>SoftwareX</a:t>
            </a:r>
            <a:r>
              <a:rPr lang="es-CO" sz="1600" dirty="0">
                <a:latin typeface="Source Sans Pro"/>
                <a:ea typeface="Source Sans Pro"/>
              </a:rPr>
              <a:t>. </a:t>
            </a:r>
            <a:r>
              <a:rPr lang="es-CO" sz="1600" dirty="0">
                <a:latin typeface="Source Sans Pro"/>
                <a:ea typeface="Source Sans Pro"/>
                <a:hlinkClick r:id="rId4"/>
              </a:rPr>
              <a:t>https://doi.org/10.48550/arXiv.2407.12373</a:t>
            </a:r>
            <a:endParaRPr lang="es-CO" sz="1600" dirty="0">
              <a:latin typeface="Source Sans Pro"/>
              <a:ea typeface="Source Sans Pro"/>
            </a:endParaRPr>
          </a:p>
          <a:p>
            <a:pPr marL="718820" indent="-718820">
              <a:spcBef>
                <a:spcPts val="1200"/>
              </a:spcBef>
            </a:pPr>
            <a:r>
              <a:rPr lang="en-US" sz="1600" dirty="0" err="1">
                <a:latin typeface="Source Sans Pro"/>
                <a:ea typeface="Source Sans Pro"/>
              </a:rPr>
              <a:t>Safjan</a:t>
            </a:r>
            <a:r>
              <a:rPr lang="en-US" sz="1600" dirty="0">
                <a:latin typeface="Source Sans Pro"/>
                <a:ea typeface="Source Sans Pro"/>
              </a:rPr>
              <a:t>, K. (2023). </a:t>
            </a:r>
            <a:r>
              <a:rPr lang="en-US" sz="1600" i="1" dirty="0" err="1">
                <a:latin typeface="Source Sans Pro"/>
                <a:ea typeface="Source Sans Pro"/>
              </a:rPr>
              <a:t>KernelShap</a:t>
            </a:r>
            <a:r>
              <a:rPr lang="en-US" sz="1600" i="1" dirty="0">
                <a:latin typeface="Source Sans Pro"/>
                <a:ea typeface="Source Sans Pro"/>
              </a:rPr>
              <a:t> and </a:t>
            </a:r>
            <a:r>
              <a:rPr lang="en-US" sz="1600" i="1" dirty="0" err="1">
                <a:latin typeface="Source Sans Pro"/>
                <a:ea typeface="Source Sans Pro"/>
              </a:rPr>
              <a:t>TreeShap</a:t>
            </a:r>
            <a:r>
              <a:rPr lang="en-US" sz="1600" i="1" dirty="0">
                <a:latin typeface="Source Sans Pro"/>
                <a:ea typeface="Source Sans Pro"/>
              </a:rPr>
              <a:t> – Two Most Popular Variations of the SHAP Method</a:t>
            </a:r>
            <a:r>
              <a:rPr lang="en-US" sz="1600" dirty="0">
                <a:latin typeface="Source Sans Pro"/>
                <a:ea typeface="Source Sans Pro"/>
              </a:rPr>
              <a:t>. </a:t>
            </a:r>
            <a:r>
              <a:rPr lang="en-US" sz="1600" dirty="0" err="1">
                <a:latin typeface="Source Sans Pro"/>
                <a:ea typeface="Source Sans Pro"/>
              </a:rPr>
              <a:t>Safjan</a:t>
            </a:r>
            <a:r>
              <a:rPr lang="en-US" sz="1600" dirty="0">
                <a:latin typeface="Source Sans Pro"/>
                <a:ea typeface="Source Sans Pro"/>
              </a:rPr>
              <a:t> Blog.  Retrieved from </a:t>
            </a:r>
            <a:r>
              <a:rPr lang="en-US" sz="1600" dirty="0">
                <a:latin typeface="Source Sans Pro"/>
                <a:ea typeface="Source Sans Pro"/>
                <a:hlinkClick r:id="rId5"/>
              </a:rPr>
              <a:t>https://safjan.com/kernelshap-treeshap-two-most-popular-variations-of-the-shap-method/</a:t>
            </a:r>
            <a:endParaRPr lang="en-US" sz="1600" dirty="0">
              <a:latin typeface="Source Sans Pro"/>
              <a:ea typeface="Source Sans Pro"/>
            </a:endParaRPr>
          </a:p>
          <a:p>
            <a:pPr marL="718820" indent="-718820">
              <a:spcBef>
                <a:spcPts val="1200"/>
              </a:spcBef>
            </a:pPr>
            <a:r>
              <a:rPr lang="en-US" sz="1600" dirty="0" err="1">
                <a:latin typeface="Source Sans Pro"/>
                <a:ea typeface="Source Sans Pro"/>
              </a:rPr>
              <a:t>Gass</a:t>
            </a:r>
            <a:r>
              <a:rPr lang="en-US" sz="1600" dirty="0">
                <a:latin typeface="Source Sans Pro"/>
                <a:ea typeface="Source Sans Pro"/>
              </a:rPr>
              <a:t>, R. (2024). Advanced physical modeling of PEM fuel cells to enhance their performances [Doctoral dissertation, Aix Marseille University (AMU)]. Computational Physics [</a:t>
            </a:r>
            <a:r>
              <a:rPr lang="en-US" sz="1600" dirty="0" err="1">
                <a:latin typeface="Source Sans Pro"/>
                <a:ea typeface="Source Sans Pro"/>
              </a:rPr>
              <a:t>physics.comp-ph</a:t>
            </a:r>
            <a:r>
              <a:rPr lang="en-US" sz="1600" dirty="0">
                <a:latin typeface="Source Sans Pro"/>
                <a:ea typeface="Source Sans Pro"/>
              </a:rPr>
              <a:t>]. </a:t>
            </a:r>
            <a:r>
              <a:rPr lang="en-US" sz="1600" dirty="0">
                <a:latin typeface="Source Sans Pro"/>
                <a:ea typeface="Source Sans Pro"/>
                <a:hlinkClick r:id="rId6"/>
              </a:rPr>
              <a:t>https://theses.hal.science/tel-04923016</a:t>
            </a:r>
            <a:endParaRPr lang="en-US" sz="1600" dirty="0">
              <a:latin typeface="Source Sans Pro"/>
              <a:ea typeface="Source Sans Pro"/>
            </a:endParaRPr>
          </a:p>
          <a:p>
            <a:pPr marL="718820" indent="-718820">
              <a:spcBef>
                <a:spcPts val="1200"/>
              </a:spcBef>
            </a:pPr>
            <a:r>
              <a:rPr lang="en-US" sz="1600" dirty="0">
                <a:latin typeface="Source Sans Pro"/>
                <a:ea typeface="Source Sans Pro"/>
              </a:rPr>
              <a:t>Cranmer, M (2023). Interpretable Machine Learning for Science with </a:t>
            </a:r>
            <a:r>
              <a:rPr lang="en-US" sz="1600" dirty="0" err="1">
                <a:latin typeface="Source Sans Pro"/>
                <a:ea typeface="Source Sans Pro"/>
              </a:rPr>
              <a:t>PySR</a:t>
            </a:r>
            <a:r>
              <a:rPr lang="en-US" sz="1600" dirty="0">
                <a:latin typeface="Source Sans Pro"/>
                <a:ea typeface="Source Sans Pro"/>
              </a:rPr>
              <a:t> and </a:t>
            </a:r>
            <a:r>
              <a:rPr lang="en-US" sz="1600" dirty="0" err="1">
                <a:latin typeface="Source Sans Pro"/>
                <a:ea typeface="Source Sans Pro"/>
              </a:rPr>
              <a:t>SymbolicRegression.jl</a:t>
            </a:r>
            <a:r>
              <a:rPr lang="en-US" sz="1600" dirty="0">
                <a:latin typeface="Source Sans Pro"/>
                <a:ea typeface="Source Sans Pro"/>
              </a:rPr>
              <a:t>,, </a:t>
            </a:r>
            <a:r>
              <a:rPr lang="en-US" sz="1600" dirty="0" err="1">
                <a:latin typeface="Source Sans Pro"/>
                <a:ea typeface="Source Sans Pro"/>
              </a:rPr>
              <a:t>arXiv</a:t>
            </a:r>
            <a:r>
              <a:rPr lang="en-US" sz="1600" dirty="0">
                <a:latin typeface="Source Sans Pro"/>
                <a:ea typeface="Source Sans Pro"/>
              </a:rPr>
              <a:t>: arXiv:2305.01582. Accessible: </a:t>
            </a:r>
            <a:r>
              <a:rPr lang="en-US" sz="1600" dirty="0">
                <a:latin typeface="Source Sans Pro"/>
                <a:ea typeface="Source Sans Pro"/>
                <a:hlinkClick r:id="rId7"/>
              </a:rPr>
              <a:t>http://arxiv.org/abs/2305.01582 </a:t>
            </a:r>
            <a:endParaRPr lang="en-US" sz="1600" dirty="0">
              <a:latin typeface="Source Sans Pro"/>
              <a:ea typeface="Source Sans Pro"/>
            </a:endParaRPr>
          </a:p>
          <a:p>
            <a:pPr marL="718820" indent="-718820">
              <a:spcBef>
                <a:spcPts val="1200"/>
              </a:spcBef>
            </a:pPr>
            <a:r>
              <a:rPr lang="en-US" sz="1600" dirty="0">
                <a:ea typeface="+mn-lt"/>
                <a:cs typeface="+mn-lt"/>
              </a:rPr>
              <a:t>Petersen, B. K. (2021)Deep symbolic regression: Recovering mathematical expressions from data via risk-seeking policy gradients. </a:t>
            </a:r>
            <a:r>
              <a:rPr lang="en-US" sz="1600" dirty="0">
                <a:ea typeface="+mn-lt"/>
                <a:cs typeface="+mn-lt"/>
                <a:hlinkClick r:id="rId8"/>
              </a:rPr>
              <a:t>https://arxiv.org/abs/1912.04871</a:t>
            </a:r>
            <a:endParaRPr lang="en-US" sz="1600" dirty="0"/>
          </a:p>
          <a:p>
            <a:pPr marL="718820" indent="-718820">
              <a:spcBef>
                <a:spcPts val="1200"/>
              </a:spcBef>
            </a:pPr>
            <a:r>
              <a:rPr lang="en-US" sz="1600" dirty="0" err="1"/>
              <a:t>Kammieny</a:t>
            </a:r>
            <a:r>
              <a:rPr lang="en-US" sz="1600" dirty="0"/>
              <a:t>, PA (2022) End-to-end symbolic regression with transformers </a:t>
            </a:r>
            <a:r>
              <a:rPr lang="en-US" sz="1600" dirty="0">
                <a:ea typeface="+mn-lt"/>
                <a:cs typeface="+mn-lt"/>
                <a:hlinkClick r:id="rId9"/>
              </a:rPr>
              <a:t>https://arxiv.org/pdf/2204.10532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sz="1600" dirty="0"/>
          </a:p>
        </p:txBody>
      </p:sp>
      <p:sp>
        <p:nvSpPr>
          <p:cNvPr id="2" name="CuadroTexto 25">
            <a:extLst>
              <a:ext uri="{FF2B5EF4-FFF2-40B4-BE49-F238E27FC236}">
                <a16:creationId xmlns:a16="http://schemas.microsoft.com/office/drawing/2014/main" id="{879DC2D6-BA20-2A2D-432D-97EECB486A90}"/>
              </a:ext>
            </a:extLst>
          </p:cNvPr>
          <p:cNvSpPr txBox="1"/>
          <p:nvPr/>
        </p:nvSpPr>
        <p:spPr>
          <a:xfrm>
            <a:off x="1477412" y="346756"/>
            <a:ext cx="7886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Bibliography</a:t>
            </a:r>
          </a:p>
        </p:txBody>
      </p:sp>
    </p:spTree>
    <p:extLst>
      <p:ext uri="{BB962C8B-B14F-4D97-AF65-F5344CB8AC3E}">
        <p14:creationId xmlns:p14="http://schemas.microsoft.com/office/powerpoint/2010/main" val="1850149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71268644-AB8B-1468-26EB-95205BE58489}"/>
              </a:ext>
            </a:extLst>
          </p:cNvPr>
          <p:cNvSpPr txBox="1"/>
          <p:nvPr/>
        </p:nvSpPr>
        <p:spPr>
          <a:xfrm>
            <a:off x="2367821" y="2274838"/>
            <a:ext cx="74563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6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Thanks</a:t>
            </a:r>
            <a:r>
              <a:rPr lang="es-ES_tradnl" sz="96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!</a:t>
            </a:r>
          </a:p>
          <a:p>
            <a:pPr algn="ctr"/>
            <a:r>
              <a:rPr lang="es-ES_tradnl" sz="36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We’re</a:t>
            </a:r>
            <a:r>
              <a:rPr lang="es-ES_tradnl" sz="36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 </a:t>
            </a:r>
            <a:r>
              <a:rPr lang="es-ES_tradnl" sz="36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happy</a:t>
            </a:r>
            <a:r>
              <a:rPr lang="es-ES_tradnl" sz="36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 </a:t>
            </a:r>
            <a:r>
              <a:rPr lang="es-ES_tradnl" sz="36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to</a:t>
            </a:r>
            <a:r>
              <a:rPr lang="es-ES_tradnl" sz="36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 </a:t>
            </a:r>
            <a:r>
              <a:rPr lang="es-ES_tradnl" sz="36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answer</a:t>
            </a:r>
            <a:r>
              <a:rPr lang="es-ES_tradnl" sz="36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 </a:t>
            </a:r>
            <a:r>
              <a:rPr lang="es-ES_tradnl" sz="36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your</a:t>
            </a:r>
            <a:r>
              <a:rPr lang="es-ES_tradnl" sz="36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 </a:t>
            </a:r>
            <a:r>
              <a:rPr lang="es-ES_tradnl" sz="36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questions</a:t>
            </a:r>
            <a:r>
              <a:rPr lang="es-ES_tradnl" sz="4800" i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458875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8A6F6D6-4D1A-8CDC-F196-DAB9A47C30C4}"/>
              </a:ext>
            </a:extLst>
          </p:cNvPr>
          <p:cNvSpPr txBox="1"/>
          <p:nvPr/>
        </p:nvSpPr>
        <p:spPr>
          <a:xfrm>
            <a:off x="2776213" y="2293096"/>
            <a:ext cx="66395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9600" i="1" err="1">
                <a:solidFill>
                  <a:schemeClr val="bg1"/>
                </a:solidFill>
                <a:latin typeface="Source Sans Pro Light" panose="020B0503030403020204" pitchFamily="34" charset="0"/>
                <a:ea typeface="Source Sans Pro Light" panose="020B0503030403020204" pitchFamily="34" charset="0"/>
              </a:rPr>
              <a:t>Appendix</a:t>
            </a:r>
            <a:endParaRPr lang="es-ES_tradnl" sz="9600" i="1">
              <a:solidFill>
                <a:schemeClr val="bg1"/>
              </a:solidFill>
              <a:latin typeface="Source Sans Pro Light" panose="020B0503030403020204" pitchFamily="34" charset="0"/>
              <a:ea typeface="Source Sans Pro Light" panose="020B05030304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54896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9FF288-4F08-B94B-A629-4B913F124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sz="1600" b="1" smtClean="0">
                <a:solidFill>
                  <a:schemeClr val="bg1"/>
                </a:solidFill>
              </a:rPr>
              <a:t>42</a:t>
            </a:fld>
            <a:endParaRPr lang="es-ES_tradnl" sz="1600" b="1">
              <a:solidFill>
                <a:schemeClr val="bg1"/>
              </a:solidFill>
            </a:endParaRPr>
          </a:p>
        </p:txBody>
      </p:sp>
      <p:sp>
        <p:nvSpPr>
          <p:cNvPr id="2" name="CuadroTexto 25">
            <a:extLst>
              <a:ext uri="{FF2B5EF4-FFF2-40B4-BE49-F238E27FC236}">
                <a16:creationId xmlns:a16="http://schemas.microsoft.com/office/drawing/2014/main" id="{879DC2D6-BA20-2A2D-432D-97EECB486A90}"/>
              </a:ext>
            </a:extLst>
          </p:cNvPr>
          <p:cNvSpPr txBox="1"/>
          <p:nvPr/>
        </p:nvSpPr>
        <p:spPr>
          <a:xfrm>
            <a:off x="1477412" y="694138"/>
            <a:ext cx="78867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Index of the appendix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BA1FCD0-9264-400F-8590-6420D1ED8E89}"/>
              </a:ext>
            </a:extLst>
          </p:cNvPr>
          <p:cNvSpPr txBox="1"/>
          <p:nvPr/>
        </p:nvSpPr>
        <p:spPr>
          <a:xfrm>
            <a:off x="1419871" y="1494605"/>
            <a:ext cx="7078759" cy="5047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47:  </a:t>
            </a:r>
            <a:r>
              <a:rPr lang="en-US" sz="1400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How PRIM finds </a:t>
            </a: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a valid input region in </a:t>
            </a:r>
            <a:r>
              <a:rPr lang="en-U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AlphaPEM</a:t>
            </a:r>
            <a:endParaRPr lang="es-ES_tradnl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48: 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Indices</a:t>
            </a:r>
            <a:endParaRPr lang="es-ES_tradnl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49: 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SHAP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values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50: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TreeSHAP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51: Pros vs.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Cons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vs SHAP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values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53: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sequences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54: </a:t>
            </a:r>
            <a:r>
              <a:rPr lang="en-U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AlphaPEM</a:t>
            </a: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detail </a:t>
            </a:r>
            <a:r>
              <a:rPr lang="en-US" sz="1400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S1</a:t>
            </a: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55: </a:t>
            </a:r>
            <a:r>
              <a:rPr lang="en-U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AlphaPEM</a:t>
            </a: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n-US" sz="1400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ranking ST</a:t>
            </a: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56: </a:t>
            </a:r>
            <a:r>
              <a:rPr lang="en-U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AlphaPEM</a:t>
            </a: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detail </a:t>
            </a:r>
            <a:r>
              <a:rPr lang="en-US" sz="1400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ST</a:t>
            </a: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57: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AlphaPEM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convergence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ST -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Ohmic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58: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AlphaPEM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convergence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ST -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Mass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Transport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59: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AlphaPEM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ranking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comparison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ST</a:t>
            </a: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60: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hyperparameter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tuning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61: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SHAP –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Activation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62: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S1–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Activation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63: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convergence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ST–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Activation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64: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SHAP –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Ohmic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65: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S1–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Ohmic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66: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convergence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ST– 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Ohmic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67: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SHAP –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Mass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Transport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68: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S1 –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Mass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Transport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indent="-285750" fontAlgn="base">
              <a:buFontTx/>
              <a:buChar char="→"/>
              <a:defRPr/>
            </a:pPr>
            <a:r>
              <a:rPr lang="en-U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Slide 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69: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XGBoost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Sobol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convergence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ST– 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Mass</a:t>
            </a:r>
            <a:r>
              <a:rPr lang="es-ES" sz="1400" dirty="0">
                <a:solidFill>
                  <a:srgbClr val="242121"/>
                </a:solidFill>
                <a:latin typeface="Source Sans Pro" panose="020B0503030403020204" pitchFamily="34" charset="0"/>
              </a:rPr>
              <a:t> </a:t>
            </a:r>
            <a:r>
              <a:rPr lang="es-ES" sz="1400" dirty="0" err="1">
                <a:solidFill>
                  <a:srgbClr val="242121"/>
                </a:solidFill>
                <a:latin typeface="Source Sans Pro" panose="020B0503030403020204" pitchFamily="34" charset="0"/>
              </a:rPr>
              <a:t>Transport</a:t>
            </a:r>
            <a:endParaRPr lang="es-ES" sz="1400" dirty="0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marL="0" lvl="1" fontAlgn="base">
              <a:defRPr/>
            </a:pPr>
            <a:endParaRPr lang="en-US" sz="1400" b="1" dirty="0">
              <a:solidFill>
                <a:srgbClr val="242121"/>
              </a:solidFill>
              <a:latin typeface="Source Sans Pro" panose="020B0503030403020204" pitchFamily="34" charset="0"/>
            </a:endParaRPr>
          </a:p>
        </p:txBody>
      </p:sp>
      <p:pic>
        <p:nvPicPr>
          <p:cNvPr id="6" name="Google Shape;2061;p40" title="Gráfico">
            <a:hlinkClick r:id="rId3"/>
            <a:extLst>
              <a:ext uri="{FF2B5EF4-FFF2-40B4-BE49-F238E27FC236}">
                <a16:creationId xmlns:a16="http://schemas.microsoft.com/office/drawing/2014/main" id="{C552515E-123A-8420-703B-C423D233A16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0491" y="2108919"/>
            <a:ext cx="5479301" cy="33875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" name="Google Shape;2063;p40">
            <a:extLst>
              <a:ext uri="{FF2B5EF4-FFF2-40B4-BE49-F238E27FC236}">
                <a16:creationId xmlns:a16="http://schemas.microsoft.com/office/drawing/2014/main" id="{F33A2096-BD1C-19D0-EE94-6794A425D65F}"/>
              </a:ext>
            </a:extLst>
          </p:cNvPr>
          <p:cNvGrpSpPr/>
          <p:nvPr/>
        </p:nvGrpSpPr>
        <p:grpSpPr>
          <a:xfrm>
            <a:off x="8045666" y="2883416"/>
            <a:ext cx="1857600" cy="2354490"/>
            <a:chOff x="3657525" y="1700085"/>
            <a:chExt cx="1857600" cy="2354490"/>
          </a:xfrm>
        </p:grpSpPr>
        <p:sp>
          <p:nvSpPr>
            <p:cNvPr id="8" name="Google Shape;2064;p40">
              <a:extLst>
                <a:ext uri="{FF2B5EF4-FFF2-40B4-BE49-F238E27FC236}">
                  <a16:creationId xmlns:a16="http://schemas.microsoft.com/office/drawing/2014/main" id="{F90DF512-7164-FE95-E76F-7EAEDCE885CB}"/>
                </a:ext>
              </a:extLst>
            </p:cNvPr>
            <p:cNvSpPr/>
            <p:nvPr/>
          </p:nvSpPr>
          <p:spPr>
            <a:xfrm>
              <a:off x="3657525" y="3876675"/>
              <a:ext cx="1857600" cy="177900"/>
            </a:xfrm>
            <a:prstGeom prst="ellipse">
              <a:avLst/>
            </a:prstGeom>
            <a:solidFill>
              <a:srgbClr val="666666">
                <a:alpha val="1254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" name="Google Shape;2065;p40">
              <a:extLst>
                <a:ext uri="{FF2B5EF4-FFF2-40B4-BE49-F238E27FC236}">
                  <a16:creationId xmlns:a16="http://schemas.microsoft.com/office/drawing/2014/main" id="{A85117AF-3535-457D-BBD0-225F4F9B067F}"/>
                </a:ext>
              </a:extLst>
            </p:cNvPr>
            <p:cNvGrpSpPr/>
            <p:nvPr/>
          </p:nvGrpSpPr>
          <p:grpSpPr>
            <a:xfrm>
              <a:off x="3914651" y="1700085"/>
              <a:ext cx="1314416" cy="2297554"/>
              <a:chOff x="5672100" y="1487825"/>
              <a:chExt cx="1557363" cy="2722223"/>
            </a:xfrm>
          </p:grpSpPr>
          <p:sp>
            <p:nvSpPr>
              <p:cNvPr id="10" name="Google Shape;2066;p40">
                <a:extLst>
                  <a:ext uri="{FF2B5EF4-FFF2-40B4-BE49-F238E27FC236}">
                    <a16:creationId xmlns:a16="http://schemas.microsoft.com/office/drawing/2014/main" id="{6CD77E68-D941-39F7-CAC2-C01845BFFE8D}"/>
                  </a:ext>
                </a:extLst>
              </p:cNvPr>
              <p:cNvSpPr/>
              <p:nvPr/>
            </p:nvSpPr>
            <p:spPr>
              <a:xfrm>
                <a:off x="6396824" y="1958728"/>
                <a:ext cx="129354" cy="452692"/>
              </a:xfrm>
              <a:custGeom>
                <a:avLst/>
                <a:gdLst/>
                <a:ahLst/>
                <a:cxnLst/>
                <a:rect l="l" t="t" r="r" b="b"/>
                <a:pathLst>
                  <a:path w="4099" h="14345" extrusionOk="0">
                    <a:moveTo>
                      <a:pt x="2050" y="0"/>
                    </a:moveTo>
                    <a:lnTo>
                      <a:pt x="0" y="14345"/>
                    </a:lnTo>
                    <a:lnTo>
                      <a:pt x="4099" y="14345"/>
                    </a:lnTo>
                    <a:lnTo>
                      <a:pt x="205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2067;p40">
                <a:extLst>
                  <a:ext uri="{FF2B5EF4-FFF2-40B4-BE49-F238E27FC236}">
                    <a16:creationId xmlns:a16="http://schemas.microsoft.com/office/drawing/2014/main" id="{1A894E62-397C-877C-537E-C6A7F206D8E7}"/>
                  </a:ext>
                </a:extLst>
              </p:cNvPr>
              <p:cNvSpPr/>
              <p:nvPr/>
            </p:nvSpPr>
            <p:spPr>
              <a:xfrm>
                <a:off x="6221394" y="2363297"/>
                <a:ext cx="480210" cy="55825"/>
              </a:xfrm>
              <a:custGeom>
                <a:avLst/>
                <a:gdLst/>
                <a:ahLst/>
                <a:cxnLst/>
                <a:rect l="l" t="t" r="r" b="b"/>
                <a:pathLst>
                  <a:path w="15217" h="1769" extrusionOk="0">
                    <a:moveTo>
                      <a:pt x="718" y="1"/>
                    </a:moveTo>
                    <a:lnTo>
                      <a:pt x="1" y="1768"/>
                    </a:lnTo>
                    <a:lnTo>
                      <a:pt x="15217" y="1768"/>
                    </a:lnTo>
                    <a:lnTo>
                      <a:pt x="1449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2068;p40">
                <a:extLst>
                  <a:ext uri="{FF2B5EF4-FFF2-40B4-BE49-F238E27FC236}">
                    <a16:creationId xmlns:a16="http://schemas.microsoft.com/office/drawing/2014/main" id="{C5B6B1FF-9BC9-E676-E52E-0C4F96098983}"/>
                  </a:ext>
                </a:extLst>
              </p:cNvPr>
              <p:cNvSpPr/>
              <p:nvPr/>
            </p:nvSpPr>
            <p:spPr>
              <a:xfrm>
                <a:off x="6345479" y="3269506"/>
                <a:ext cx="230023" cy="498766"/>
              </a:xfrm>
              <a:custGeom>
                <a:avLst/>
                <a:gdLst/>
                <a:ahLst/>
                <a:cxnLst/>
                <a:rect l="l" t="t" r="r" b="b"/>
                <a:pathLst>
                  <a:path w="7289" h="15805" extrusionOk="0">
                    <a:moveTo>
                      <a:pt x="1" y="0"/>
                    </a:moveTo>
                    <a:lnTo>
                      <a:pt x="1" y="15805"/>
                    </a:lnTo>
                    <a:lnTo>
                      <a:pt x="7289" y="15805"/>
                    </a:lnTo>
                    <a:lnTo>
                      <a:pt x="7289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2069;p40">
                <a:extLst>
                  <a:ext uri="{FF2B5EF4-FFF2-40B4-BE49-F238E27FC236}">
                    <a16:creationId xmlns:a16="http://schemas.microsoft.com/office/drawing/2014/main" id="{3C66DA24-BF30-3549-0913-F5FF50AC3FF9}"/>
                  </a:ext>
                </a:extLst>
              </p:cNvPr>
              <p:cNvSpPr/>
              <p:nvPr/>
            </p:nvSpPr>
            <p:spPr>
              <a:xfrm>
                <a:off x="6292147" y="3768243"/>
                <a:ext cx="336719" cy="90191"/>
              </a:xfrm>
              <a:custGeom>
                <a:avLst/>
                <a:gdLst/>
                <a:ahLst/>
                <a:cxnLst/>
                <a:rect l="l" t="t" r="r" b="b"/>
                <a:pathLst>
                  <a:path w="10670" h="2858" extrusionOk="0">
                    <a:moveTo>
                      <a:pt x="2049" y="1"/>
                    </a:moveTo>
                    <a:lnTo>
                      <a:pt x="1832" y="14"/>
                    </a:lnTo>
                    <a:lnTo>
                      <a:pt x="1640" y="39"/>
                    </a:lnTo>
                    <a:lnTo>
                      <a:pt x="1435" y="91"/>
                    </a:lnTo>
                    <a:lnTo>
                      <a:pt x="1255" y="155"/>
                    </a:lnTo>
                    <a:lnTo>
                      <a:pt x="1076" y="244"/>
                    </a:lnTo>
                    <a:lnTo>
                      <a:pt x="897" y="347"/>
                    </a:lnTo>
                    <a:lnTo>
                      <a:pt x="743" y="462"/>
                    </a:lnTo>
                    <a:lnTo>
                      <a:pt x="602" y="603"/>
                    </a:lnTo>
                    <a:lnTo>
                      <a:pt x="474" y="744"/>
                    </a:lnTo>
                    <a:lnTo>
                      <a:pt x="346" y="898"/>
                    </a:lnTo>
                    <a:lnTo>
                      <a:pt x="244" y="1064"/>
                    </a:lnTo>
                    <a:lnTo>
                      <a:pt x="167" y="1243"/>
                    </a:lnTo>
                    <a:lnTo>
                      <a:pt x="90" y="1435"/>
                    </a:lnTo>
                    <a:lnTo>
                      <a:pt x="39" y="1628"/>
                    </a:lnTo>
                    <a:lnTo>
                      <a:pt x="13" y="1833"/>
                    </a:lnTo>
                    <a:lnTo>
                      <a:pt x="0" y="2050"/>
                    </a:lnTo>
                    <a:lnTo>
                      <a:pt x="0" y="2857"/>
                    </a:lnTo>
                    <a:lnTo>
                      <a:pt x="10669" y="2857"/>
                    </a:lnTo>
                    <a:lnTo>
                      <a:pt x="10669" y="2050"/>
                    </a:lnTo>
                    <a:lnTo>
                      <a:pt x="10656" y="1833"/>
                    </a:lnTo>
                    <a:lnTo>
                      <a:pt x="10618" y="1628"/>
                    </a:lnTo>
                    <a:lnTo>
                      <a:pt x="10567" y="1435"/>
                    </a:lnTo>
                    <a:lnTo>
                      <a:pt x="10503" y="1243"/>
                    </a:lnTo>
                    <a:lnTo>
                      <a:pt x="10413" y="1064"/>
                    </a:lnTo>
                    <a:lnTo>
                      <a:pt x="10311" y="898"/>
                    </a:lnTo>
                    <a:lnTo>
                      <a:pt x="10195" y="744"/>
                    </a:lnTo>
                    <a:lnTo>
                      <a:pt x="10067" y="603"/>
                    </a:lnTo>
                    <a:lnTo>
                      <a:pt x="9913" y="462"/>
                    </a:lnTo>
                    <a:lnTo>
                      <a:pt x="9760" y="347"/>
                    </a:lnTo>
                    <a:lnTo>
                      <a:pt x="9593" y="244"/>
                    </a:lnTo>
                    <a:lnTo>
                      <a:pt x="9414" y="155"/>
                    </a:lnTo>
                    <a:lnTo>
                      <a:pt x="9222" y="91"/>
                    </a:lnTo>
                    <a:lnTo>
                      <a:pt x="9030" y="39"/>
                    </a:lnTo>
                    <a:lnTo>
                      <a:pt x="8825" y="14"/>
                    </a:lnTo>
                    <a:lnTo>
                      <a:pt x="862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2070;p40">
                <a:extLst>
                  <a:ext uri="{FF2B5EF4-FFF2-40B4-BE49-F238E27FC236}">
                    <a16:creationId xmlns:a16="http://schemas.microsoft.com/office/drawing/2014/main" id="{0BE1E552-50CB-6BF4-C6A4-35B43B436CD2}"/>
                  </a:ext>
                </a:extLst>
              </p:cNvPr>
              <p:cNvSpPr/>
              <p:nvPr/>
            </p:nvSpPr>
            <p:spPr>
              <a:xfrm>
                <a:off x="5809944" y="3820818"/>
                <a:ext cx="1300705" cy="389230"/>
              </a:xfrm>
              <a:custGeom>
                <a:avLst/>
                <a:gdLst/>
                <a:ahLst/>
                <a:cxnLst/>
                <a:rect l="l" t="t" r="r" b="b"/>
                <a:pathLst>
                  <a:path w="41217" h="12334" extrusionOk="0">
                    <a:moveTo>
                      <a:pt x="5162" y="0"/>
                    </a:moveTo>
                    <a:lnTo>
                      <a:pt x="5162" y="1204"/>
                    </a:lnTo>
                    <a:lnTo>
                      <a:pt x="2959" y="1947"/>
                    </a:lnTo>
                    <a:lnTo>
                      <a:pt x="1973" y="1255"/>
                    </a:lnTo>
                    <a:lnTo>
                      <a:pt x="0" y="4060"/>
                    </a:lnTo>
                    <a:lnTo>
                      <a:pt x="961" y="4739"/>
                    </a:lnTo>
                    <a:lnTo>
                      <a:pt x="871" y="5085"/>
                    </a:lnTo>
                    <a:lnTo>
                      <a:pt x="807" y="5431"/>
                    </a:lnTo>
                    <a:lnTo>
                      <a:pt x="769" y="5802"/>
                    </a:lnTo>
                    <a:lnTo>
                      <a:pt x="743" y="6173"/>
                    </a:lnTo>
                    <a:lnTo>
                      <a:pt x="769" y="6545"/>
                    </a:lnTo>
                    <a:lnTo>
                      <a:pt x="807" y="6903"/>
                    </a:lnTo>
                    <a:lnTo>
                      <a:pt x="871" y="7262"/>
                    </a:lnTo>
                    <a:lnTo>
                      <a:pt x="961" y="7608"/>
                    </a:lnTo>
                    <a:lnTo>
                      <a:pt x="0" y="8274"/>
                    </a:lnTo>
                    <a:lnTo>
                      <a:pt x="1973" y="11079"/>
                    </a:lnTo>
                    <a:lnTo>
                      <a:pt x="2959" y="10387"/>
                    </a:lnTo>
                    <a:lnTo>
                      <a:pt x="5098" y="11130"/>
                    </a:lnTo>
                    <a:lnTo>
                      <a:pt x="5098" y="12334"/>
                    </a:lnTo>
                    <a:lnTo>
                      <a:pt x="8530" y="12334"/>
                    </a:lnTo>
                    <a:lnTo>
                      <a:pt x="8530" y="11130"/>
                    </a:lnTo>
                    <a:lnTo>
                      <a:pt x="11950" y="11130"/>
                    </a:lnTo>
                    <a:lnTo>
                      <a:pt x="11950" y="12334"/>
                    </a:lnTo>
                    <a:lnTo>
                      <a:pt x="15383" y="12334"/>
                    </a:lnTo>
                    <a:lnTo>
                      <a:pt x="15383" y="11130"/>
                    </a:lnTo>
                    <a:lnTo>
                      <a:pt x="18930" y="11130"/>
                    </a:lnTo>
                    <a:lnTo>
                      <a:pt x="18930" y="12334"/>
                    </a:lnTo>
                    <a:lnTo>
                      <a:pt x="22350" y="12334"/>
                    </a:lnTo>
                    <a:lnTo>
                      <a:pt x="22350" y="11130"/>
                    </a:lnTo>
                    <a:lnTo>
                      <a:pt x="25783" y="11130"/>
                    </a:lnTo>
                    <a:lnTo>
                      <a:pt x="25783" y="12334"/>
                    </a:lnTo>
                    <a:lnTo>
                      <a:pt x="29215" y="12334"/>
                    </a:lnTo>
                    <a:lnTo>
                      <a:pt x="29215" y="11130"/>
                    </a:lnTo>
                    <a:lnTo>
                      <a:pt x="32635" y="11130"/>
                    </a:lnTo>
                    <a:lnTo>
                      <a:pt x="32635" y="12334"/>
                    </a:lnTo>
                    <a:lnTo>
                      <a:pt x="36067" y="12334"/>
                    </a:lnTo>
                    <a:lnTo>
                      <a:pt x="36067" y="11130"/>
                    </a:lnTo>
                    <a:lnTo>
                      <a:pt x="38270" y="10387"/>
                    </a:lnTo>
                    <a:lnTo>
                      <a:pt x="39257" y="11079"/>
                    </a:lnTo>
                    <a:lnTo>
                      <a:pt x="41216" y="8274"/>
                    </a:lnTo>
                    <a:lnTo>
                      <a:pt x="40268" y="7608"/>
                    </a:lnTo>
                    <a:lnTo>
                      <a:pt x="40358" y="7262"/>
                    </a:lnTo>
                    <a:lnTo>
                      <a:pt x="40422" y="6903"/>
                    </a:lnTo>
                    <a:lnTo>
                      <a:pt x="40460" y="6545"/>
                    </a:lnTo>
                    <a:lnTo>
                      <a:pt x="40473" y="6173"/>
                    </a:lnTo>
                    <a:lnTo>
                      <a:pt x="40460" y="5802"/>
                    </a:lnTo>
                    <a:lnTo>
                      <a:pt x="40422" y="5431"/>
                    </a:lnTo>
                    <a:lnTo>
                      <a:pt x="40358" y="5085"/>
                    </a:lnTo>
                    <a:lnTo>
                      <a:pt x="40268" y="4739"/>
                    </a:lnTo>
                    <a:lnTo>
                      <a:pt x="41216" y="4060"/>
                    </a:lnTo>
                    <a:lnTo>
                      <a:pt x="39257" y="1255"/>
                    </a:lnTo>
                    <a:lnTo>
                      <a:pt x="38270" y="1947"/>
                    </a:lnTo>
                    <a:lnTo>
                      <a:pt x="36131" y="1204"/>
                    </a:lnTo>
                    <a:lnTo>
                      <a:pt x="36131" y="0"/>
                    </a:lnTo>
                    <a:lnTo>
                      <a:pt x="32699" y="0"/>
                    </a:lnTo>
                    <a:lnTo>
                      <a:pt x="32699" y="1204"/>
                    </a:lnTo>
                    <a:lnTo>
                      <a:pt x="29266" y="1204"/>
                    </a:lnTo>
                    <a:lnTo>
                      <a:pt x="29266" y="0"/>
                    </a:lnTo>
                    <a:lnTo>
                      <a:pt x="25847" y="0"/>
                    </a:lnTo>
                    <a:lnTo>
                      <a:pt x="25847" y="1204"/>
                    </a:lnTo>
                    <a:lnTo>
                      <a:pt x="22414" y="1204"/>
                    </a:lnTo>
                    <a:lnTo>
                      <a:pt x="22414" y="0"/>
                    </a:lnTo>
                    <a:lnTo>
                      <a:pt x="18994" y="0"/>
                    </a:lnTo>
                    <a:lnTo>
                      <a:pt x="18994" y="1204"/>
                    </a:lnTo>
                    <a:lnTo>
                      <a:pt x="15434" y="1204"/>
                    </a:lnTo>
                    <a:lnTo>
                      <a:pt x="15434" y="0"/>
                    </a:lnTo>
                    <a:lnTo>
                      <a:pt x="12014" y="0"/>
                    </a:lnTo>
                    <a:lnTo>
                      <a:pt x="12014" y="1204"/>
                    </a:lnTo>
                    <a:lnTo>
                      <a:pt x="8582" y="1204"/>
                    </a:lnTo>
                    <a:lnTo>
                      <a:pt x="858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2071;p40">
                <a:extLst>
                  <a:ext uri="{FF2B5EF4-FFF2-40B4-BE49-F238E27FC236}">
                    <a16:creationId xmlns:a16="http://schemas.microsoft.com/office/drawing/2014/main" id="{CEB47B65-8A73-DD3A-A57B-E68FBC53D6CE}"/>
                  </a:ext>
                </a:extLst>
              </p:cNvPr>
              <p:cNvSpPr/>
              <p:nvPr/>
            </p:nvSpPr>
            <p:spPr>
              <a:xfrm>
                <a:off x="5864918" y="3889929"/>
                <a:ext cx="1191169" cy="251008"/>
              </a:xfrm>
              <a:custGeom>
                <a:avLst/>
                <a:gdLst/>
                <a:ahLst/>
                <a:cxnLst/>
                <a:rect l="l" t="t" r="r" b="b"/>
                <a:pathLst>
                  <a:path w="37746" h="7954" extrusionOk="0">
                    <a:moveTo>
                      <a:pt x="3971" y="0"/>
                    </a:moveTo>
                    <a:lnTo>
                      <a:pt x="3766" y="13"/>
                    </a:lnTo>
                    <a:lnTo>
                      <a:pt x="3561" y="26"/>
                    </a:lnTo>
                    <a:lnTo>
                      <a:pt x="3369" y="51"/>
                    </a:lnTo>
                    <a:lnTo>
                      <a:pt x="3177" y="90"/>
                    </a:lnTo>
                    <a:lnTo>
                      <a:pt x="2985" y="128"/>
                    </a:lnTo>
                    <a:lnTo>
                      <a:pt x="2792" y="179"/>
                    </a:lnTo>
                    <a:lnTo>
                      <a:pt x="2600" y="244"/>
                    </a:lnTo>
                    <a:lnTo>
                      <a:pt x="2421" y="320"/>
                    </a:lnTo>
                    <a:lnTo>
                      <a:pt x="2255" y="397"/>
                    </a:lnTo>
                    <a:lnTo>
                      <a:pt x="2075" y="487"/>
                    </a:lnTo>
                    <a:lnTo>
                      <a:pt x="1909" y="577"/>
                    </a:lnTo>
                    <a:lnTo>
                      <a:pt x="1755" y="679"/>
                    </a:lnTo>
                    <a:lnTo>
                      <a:pt x="1601" y="794"/>
                    </a:lnTo>
                    <a:lnTo>
                      <a:pt x="1448" y="910"/>
                    </a:lnTo>
                    <a:lnTo>
                      <a:pt x="1307" y="1038"/>
                    </a:lnTo>
                    <a:lnTo>
                      <a:pt x="1166" y="1166"/>
                    </a:lnTo>
                    <a:lnTo>
                      <a:pt x="1038" y="1307"/>
                    </a:lnTo>
                    <a:lnTo>
                      <a:pt x="910" y="1447"/>
                    </a:lnTo>
                    <a:lnTo>
                      <a:pt x="794" y="1601"/>
                    </a:lnTo>
                    <a:lnTo>
                      <a:pt x="679" y="1755"/>
                    </a:lnTo>
                    <a:lnTo>
                      <a:pt x="577" y="1921"/>
                    </a:lnTo>
                    <a:lnTo>
                      <a:pt x="474" y="2088"/>
                    </a:lnTo>
                    <a:lnTo>
                      <a:pt x="397" y="2254"/>
                    </a:lnTo>
                    <a:lnTo>
                      <a:pt x="308" y="2434"/>
                    </a:lnTo>
                    <a:lnTo>
                      <a:pt x="244" y="2613"/>
                    </a:lnTo>
                    <a:lnTo>
                      <a:pt x="180" y="2792"/>
                    </a:lnTo>
                    <a:lnTo>
                      <a:pt x="128" y="2984"/>
                    </a:lnTo>
                    <a:lnTo>
                      <a:pt x="77" y="3177"/>
                    </a:lnTo>
                    <a:lnTo>
                      <a:pt x="52" y="3369"/>
                    </a:lnTo>
                    <a:lnTo>
                      <a:pt x="26" y="3574"/>
                    </a:lnTo>
                    <a:lnTo>
                      <a:pt x="0" y="3778"/>
                    </a:lnTo>
                    <a:lnTo>
                      <a:pt x="0" y="3983"/>
                    </a:lnTo>
                    <a:lnTo>
                      <a:pt x="0" y="4188"/>
                    </a:lnTo>
                    <a:lnTo>
                      <a:pt x="26" y="4380"/>
                    </a:lnTo>
                    <a:lnTo>
                      <a:pt x="52" y="4585"/>
                    </a:lnTo>
                    <a:lnTo>
                      <a:pt x="77" y="4777"/>
                    </a:lnTo>
                    <a:lnTo>
                      <a:pt x="128" y="4970"/>
                    </a:lnTo>
                    <a:lnTo>
                      <a:pt x="180" y="5162"/>
                    </a:lnTo>
                    <a:lnTo>
                      <a:pt x="244" y="5341"/>
                    </a:lnTo>
                    <a:lnTo>
                      <a:pt x="308" y="5520"/>
                    </a:lnTo>
                    <a:lnTo>
                      <a:pt x="397" y="5700"/>
                    </a:lnTo>
                    <a:lnTo>
                      <a:pt x="474" y="5866"/>
                    </a:lnTo>
                    <a:lnTo>
                      <a:pt x="577" y="6033"/>
                    </a:lnTo>
                    <a:lnTo>
                      <a:pt x="679" y="6199"/>
                    </a:lnTo>
                    <a:lnTo>
                      <a:pt x="794" y="6353"/>
                    </a:lnTo>
                    <a:lnTo>
                      <a:pt x="910" y="6507"/>
                    </a:lnTo>
                    <a:lnTo>
                      <a:pt x="1038" y="6647"/>
                    </a:lnTo>
                    <a:lnTo>
                      <a:pt x="1166" y="6788"/>
                    </a:lnTo>
                    <a:lnTo>
                      <a:pt x="1307" y="6916"/>
                    </a:lnTo>
                    <a:lnTo>
                      <a:pt x="1448" y="7044"/>
                    </a:lnTo>
                    <a:lnTo>
                      <a:pt x="1601" y="7160"/>
                    </a:lnTo>
                    <a:lnTo>
                      <a:pt x="1755" y="7275"/>
                    </a:lnTo>
                    <a:lnTo>
                      <a:pt x="1909" y="7378"/>
                    </a:lnTo>
                    <a:lnTo>
                      <a:pt x="2075" y="7467"/>
                    </a:lnTo>
                    <a:lnTo>
                      <a:pt x="2255" y="7557"/>
                    </a:lnTo>
                    <a:lnTo>
                      <a:pt x="2421" y="7634"/>
                    </a:lnTo>
                    <a:lnTo>
                      <a:pt x="2600" y="7711"/>
                    </a:lnTo>
                    <a:lnTo>
                      <a:pt x="2792" y="7775"/>
                    </a:lnTo>
                    <a:lnTo>
                      <a:pt x="2985" y="7826"/>
                    </a:lnTo>
                    <a:lnTo>
                      <a:pt x="3177" y="7877"/>
                    </a:lnTo>
                    <a:lnTo>
                      <a:pt x="3369" y="7903"/>
                    </a:lnTo>
                    <a:lnTo>
                      <a:pt x="3561" y="7928"/>
                    </a:lnTo>
                    <a:lnTo>
                      <a:pt x="3766" y="7941"/>
                    </a:lnTo>
                    <a:lnTo>
                      <a:pt x="3971" y="7954"/>
                    </a:lnTo>
                    <a:lnTo>
                      <a:pt x="33762" y="7954"/>
                    </a:lnTo>
                    <a:lnTo>
                      <a:pt x="33967" y="7941"/>
                    </a:lnTo>
                    <a:lnTo>
                      <a:pt x="34172" y="7928"/>
                    </a:lnTo>
                    <a:lnTo>
                      <a:pt x="34377" y="7903"/>
                    </a:lnTo>
                    <a:lnTo>
                      <a:pt x="34569" y="7877"/>
                    </a:lnTo>
                    <a:lnTo>
                      <a:pt x="34761" y="7826"/>
                    </a:lnTo>
                    <a:lnTo>
                      <a:pt x="34953" y="7775"/>
                    </a:lnTo>
                    <a:lnTo>
                      <a:pt x="35132" y="7711"/>
                    </a:lnTo>
                    <a:lnTo>
                      <a:pt x="35312" y="7634"/>
                    </a:lnTo>
                    <a:lnTo>
                      <a:pt x="35491" y="7557"/>
                    </a:lnTo>
                    <a:lnTo>
                      <a:pt x="35657" y="7467"/>
                    </a:lnTo>
                    <a:lnTo>
                      <a:pt x="35824" y="7378"/>
                    </a:lnTo>
                    <a:lnTo>
                      <a:pt x="35990" y="7275"/>
                    </a:lnTo>
                    <a:lnTo>
                      <a:pt x="36144" y="7160"/>
                    </a:lnTo>
                    <a:lnTo>
                      <a:pt x="36298" y="7044"/>
                    </a:lnTo>
                    <a:lnTo>
                      <a:pt x="36439" y="6916"/>
                    </a:lnTo>
                    <a:lnTo>
                      <a:pt x="36580" y="6788"/>
                    </a:lnTo>
                    <a:lnTo>
                      <a:pt x="36708" y="6647"/>
                    </a:lnTo>
                    <a:lnTo>
                      <a:pt x="36836" y="6507"/>
                    </a:lnTo>
                    <a:lnTo>
                      <a:pt x="36951" y="6353"/>
                    </a:lnTo>
                    <a:lnTo>
                      <a:pt x="37066" y="6199"/>
                    </a:lnTo>
                    <a:lnTo>
                      <a:pt x="37169" y="6033"/>
                    </a:lnTo>
                    <a:lnTo>
                      <a:pt x="37258" y="5866"/>
                    </a:lnTo>
                    <a:lnTo>
                      <a:pt x="37348" y="5700"/>
                    </a:lnTo>
                    <a:lnTo>
                      <a:pt x="37425" y="5520"/>
                    </a:lnTo>
                    <a:lnTo>
                      <a:pt x="37502" y="5341"/>
                    </a:lnTo>
                    <a:lnTo>
                      <a:pt x="37566" y="5162"/>
                    </a:lnTo>
                    <a:lnTo>
                      <a:pt x="37617" y="4970"/>
                    </a:lnTo>
                    <a:lnTo>
                      <a:pt x="37655" y="4777"/>
                    </a:lnTo>
                    <a:lnTo>
                      <a:pt x="37694" y="4585"/>
                    </a:lnTo>
                    <a:lnTo>
                      <a:pt x="37719" y="4380"/>
                    </a:lnTo>
                    <a:lnTo>
                      <a:pt x="37732" y="4188"/>
                    </a:lnTo>
                    <a:lnTo>
                      <a:pt x="37745" y="3983"/>
                    </a:lnTo>
                    <a:lnTo>
                      <a:pt x="37732" y="3778"/>
                    </a:lnTo>
                    <a:lnTo>
                      <a:pt x="37719" y="3574"/>
                    </a:lnTo>
                    <a:lnTo>
                      <a:pt x="37694" y="3369"/>
                    </a:lnTo>
                    <a:lnTo>
                      <a:pt x="37655" y="3177"/>
                    </a:lnTo>
                    <a:lnTo>
                      <a:pt x="37617" y="2984"/>
                    </a:lnTo>
                    <a:lnTo>
                      <a:pt x="37566" y="2792"/>
                    </a:lnTo>
                    <a:lnTo>
                      <a:pt x="37502" y="2613"/>
                    </a:lnTo>
                    <a:lnTo>
                      <a:pt x="37425" y="2434"/>
                    </a:lnTo>
                    <a:lnTo>
                      <a:pt x="37348" y="2254"/>
                    </a:lnTo>
                    <a:lnTo>
                      <a:pt x="37258" y="2088"/>
                    </a:lnTo>
                    <a:lnTo>
                      <a:pt x="37169" y="1921"/>
                    </a:lnTo>
                    <a:lnTo>
                      <a:pt x="37066" y="1755"/>
                    </a:lnTo>
                    <a:lnTo>
                      <a:pt x="36951" y="1601"/>
                    </a:lnTo>
                    <a:lnTo>
                      <a:pt x="36836" y="1447"/>
                    </a:lnTo>
                    <a:lnTo>
                      <a:pt x="36708" y="1307"/>
                    </a:lnTo>
                    <a:lnTo>
                      <a:pt x="36580" y="1166"/>
                    </a:lnTo>
                    <a:lnTo>
                      <a:pt x="36439" y="1038"/>
                    </a:lnTo>
                    <a:lnTo>
                      <a:pt x="36298" y="910"/>
                    </a:lnTo>
                    <a:lnTo>
                      <a:pt x="36144" y="794"/>
                    </a:lnTo>
                    <a:lnTo>
                      <a:pt x="35990" y="679"/>
                    </a:lnTo>
                    <a:lnTo>
                      <a:pt x="35824" y="577"/>
                    </a:lnTo>
                    <a:lnTo>
                      <a:pt x="35657" y="487"/>
                    </a:lnTo>
                    <a:lnTo>
                      <a:pt x="35491" y="397"/>
                    </a:lnTo>
                    <a:lnTo>
                      <a:pt x="35312" y="320"/>
                    </a:lnTo>
                    <a:lnTo>
                      <a:pt x="35132" y="244"/>
                    </a:lnTo>
                    <a:lnTo>
                      <a:pt x="34953" y="179"/>
                    </a:lnTo>
                    <a:lnTo>
                      <a:pt x="34761" y="128"/>
                    </a:lnTo>
                    <a:lnTo>
                      <a:pt x="34569" y="90"/>
                    </a:lnTo>
                    <a:lnTo>
                      <a:pt x="34377" y="51"/>
                    </a:lnTo>
                    <a:lnTo>
                      <a:pt x="34172" y="26"/>
                    </a:lnTo>
                    <a:lnTo>
                      <a:pt x="33967" y="13"/>
                    </a:lnTo>
                    <a:lnTo>
                      <a:pt x="33762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2072;p40">
                <a:extLst>
                  <a:ext uri="{FF2B5EF4-FFF2-40B4-BE49-F238E27FC236}">
                    <a16:creationId xmlns:a16="http://schemas.microsoft.com/office/drawing/2014/main" id="{028C0EB0-1F9F-D3B6-2F40-32B41EFCEB9A}"/>
                  </a:ext>
                </a:extLst>
              </p:cNvPr>
              <p:cNvSpPr/>
              <p:nvPr/>
            </p:nvSpPr>
            <p:spPr>
              <a:xfrm>
                <a:off x="5896444" y="3921455"/>
                <a:ext cx="112811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35748" h="5956" extrusionOk="0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2917" y="5956"/>
                    </a:lnTo>
                    <a:lnTo>
                      <a:pt x="33070" y="5943"/>
                    </a:lnTo>
                    <a:lnTo>
                      <a:pt x="33365" y="5905"/>
                    </a:lnTo>
                    <a:lnTo>
                      <a:pt x="33659" y="5828"/>
                    </a:lnTo>
                    <a:lnTo>
                      <a:pt x="33928" y="5725"/>
                    </a:lnTo>
                    <a:lnTo>
                      <a:pt x="34184" y="5597"/>
                    </a:lnTo>
                    <a:lnTo>
                      <a:pt x="34428" y="5456"/>
                    </a:lnTo>
                    <a:lnTo>
                      <a:pt x="34658" y="5277"/>
                    </a:lnTo>
                    <a:lnTo>
                      <a:pt x="34876" y="5085"/>
                    </a:lnTo>
                    <a:lnTo>
                      <a:pt x="35068" y="4880"/>
                    </a:lnTo>
                    <a:lnTo>
                      <a:pt x="35235" y="4649"/>
                    </a:lnTo>
                    <a:lnTo>
                      <a:pt x="35388" y="4406"/>
                    </a:lnTo>
                    <a:lnTo>
                      <a:pt x="35517" y="4137"/>
                    </a:lnTo>
                    <a:lnTo>
                      <a:pt x="35619" y="3868"/>
                    </a:lnTo>
                    <a:lnTo>
                      <a:pt x="35683" y="3586"/>
                    </a:lnTo>
                    <a:lnTo>
                      <a:pt x="35734" y="3279"/>
                    </a:lnTo>
                    <a:lnTo>
                      <a:pt x="35747" y="3138"/>
                    </a:lnTo>
                    <a:lnTo>
                      <a:pt x="35747" y="2984"/>
                    </a:lnTo>
                    <a:lnTo>
                      <a:pt x="35747" y="2831"/>
                    </a:lnTo>
                    <a:lnTo>
                      <a:pt x="35734" y="2677"/>
                    </a:lnTo>
                    <a:lnTo>
                      <a:pt x="35683" y="2382"/>
                    </a:lnTo>
                    <a:lnTo>
                      <a:pt x="35619" y="2088"/>
                    </a:lnTo>
                    <a:lnTo>
                      <a:pt x="35517" y="1819"/>
                    </a:lnTo>
                    <a:lnTo>
                      <a:pt x="35388" y="1563"/>
                    </a:lnTo>
                    <a:lnTo>
                      <a:pt x="35235" y="1319"/>
                    </a:lnTo>
                    <a:lnTo>
                      <a:pt x="35068" y="1089"/>
                    </a:lnTo>
                    <a:lnTo>
                      <a:pt x="34876" y="871"/>
                    </a:lnTo>
                    <a:lnTo>
                      <a:pt x="34658" y="679"/>
                    </a:lnTo>
                    <a:lnTo>
                      <a:pt x="34428" y="512"/>
                    </a:lnTo>
                    <a:lnTo>
                      <a:pt x="34184" y="359"/>
                    </a:lnTo>
                    <a:lnTo>
                      <a:pt x="33928" y="231"/>
                    </a:lnTo>
                    <a:lnTo>
                      <a:pt x="33659" y="128"/>
                    </a:lnTo>
                    <a:lnTo>
                      <a:pt x="33365" y="64"/>
                    </a:lnTo>
                    <a:lnTo>
                      <a:pt x="33070" y="13"/>
                    </a:lnTo>
                    <a:lnTo>
                      <a:pt x="3291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2073;p40">
                <a:extLst>
                  <a:ext uri="{FF2B5EF4-FFF2-40B4-BE49-F238E27FC236}">
                    <a16:creationId xmlns:a16="http://schemas.microsoft.com/office/drawing/2014/main" id="{9F94DC45-96DE-707B-F7E2-7B6DEF210381}"/>
                  </a:ext>
                </a:extLst>
              </p:cNvPr>
              <p:cNvSpPr/>
              <p:nvPr/>
            </p:nvSpPr>
            <p:spPr>
              <a:xfrm>
                <a:off x="5693528" y="2429189"/>
                <a:ext cx="1535935" cy="1155194"/>
              </a:xfrm>
              <a:custGeom>
                <a:avLst/>
                <a:gdLst/>
                <a:ahLst/>
                <a:cxnLst/>
                <a:rect l="l" t="t" r="r" b="b"/>
                <a:pathLst>
                  <a:path w="48671" h="36606" extrusionOk="0">
                    <a:moveTo>
                      <a:pt x="18162" y="0"/>
                    </a:moveTo>
                    <a:lnTo>
                      <a:pt x="17881" y="13"/>
                    </a:lnTo>
                    <a:lnTo>
                      <a:pt x="17599" y="39"/>
                    </a:lnTo>
                    <a:lnTo>
                      <a:pt x="17330" y="77"/>
                    </a:lnTo>
                    <a:lnTo>
                      <a:pt x="17048" y="116"/>
                    </a:lnTo>
                    <a:lnTo>
                      <a:pt x="16779" y="167"/>
                    </a:lnTo>
                    <a:lnTo>
                      <a:pt x="16510" y="218"/>
                    </a:lnTo>
                    <a:lnTo>
                      <a:pt x="16241" y="282"/>
                    </a:lnTo>
                    <a:lnTo>
                      <a:pt x="15985" y="359"/>
                    </a:lnTo>
                    <a:lnTo>
                      <a:pt x="15729" y="449"/>
                    </a:lnTo>
                    <a:lnTo>
                      <a:pt x="15473" y="538"/>
                    </a:lnTo>
                    <a:lnTo>
                      <a:pt x="15217" y="628"/>
                    </a:lnTo>
                    <a:lnTo>
                      <a:pt x="14973" y="743"/>
                    </a:lnTo>
                    <a:lnTo>
                      <a:pt x="14730" y="846"/>
                    </a:lnTo>
                    <a:lnTo>
                      <a:pt x="14486" y="974"/>
                    </a:lnTo>
                    <a:lnTo>
                      <a:pt x="14256" y="1102"/>
                    </a:lnTo>
                    <a:lnTo>
                      <a:pt x="14025" y="1230"/>
                    </a:lnTo>
                    <a:lnTo>
                      <a:pt x="13795" y="1371"/>
                    </a:lnTo>
                    <a:lnTo>
                      <a:pt x="13577" y="1525"/>
                    </a:lnTo>
                    <a:lnTo>
                      <a:pt x="13359" y="1678"/>
                    </a:lnTo>
                    <a:lnTo>
                      <a:pt x="13154" y="1845"/>
                    </a:lnTo>
                    <a:lnTo>
                      <a:pt x="12950" y="2011"/>
                    </a:lnTo>
                    <a:lnTo>
                      <a:pt x="12745" y="2178"/>
                    </a:lnTo>
                    <a:lnTo>
                      <a:pt x="12552" y="2357"/>
                    </a:lnTo>
                    <a:lnTo>
                      <a:pt x="12360" y="2549"/>
                    </a:lnTo>
                    <a:lnTo>
                      <a:pt x="12181" y="2741"/>
                    </a:lnTo>
                    <a:lnTo>
                      <a:pt x="12002" y="2933"/>
                    </a:lnTo>
                    <a:lnTo>
                      <a:pt x="11835" y="3138"/>
                    </a:lnTo>
                    <a:lnTo>
                      <a:pt x="11669" y="3343"/>
                    </a:lnTo>
                    <a:lnTo>
                      <a:pt x="11502" y="3561"/>
                    </a:lnTo>
                    <a:lnTo>
                      <a:pt x="11361" y="3779"/>
                    </a:lnTo>
                    <a:lnTo>
                      <a:pt x="11208" y="3996"/>
                    </a:lnTo>
                    <a:lnTo>
                      <a:pt x="10990" y="3971"/>
                    </a:lnTo>
                    <a:lnTo>
                      <a:pt x="10772" y="3945"/>
                    </a:lnTo>
                    <a:lnTo>
                      <a:pt x="10542" y="3932"/>
                    </a:lnTo>
                    <a:lnTo>
                      <a:pt x="10311" y="3920"/>
                    </a:lnTo>
                    <a:lnTo>
                      <a:pt x="10017" y="3932"/>
                    </a:lnTo>
                    <a:lnTo>
                      <a:pt x="9722" y="3958"/>
                    </a:lnTo>
                    <a:lnTo>
                      <a:pt x="9427" y="3984"/>
                    </a:lnTo>
                    <a:lnTo>
                      <a:pt x="9146" y="4035"/>
                    </a:lnTo>
                    <a:lnTo>
                      <a:pt x="8864" y="4099"/>
                    </a:lnTo>
                    <a:lnTo>
                      <a:pt x="8582" y="4189"/>
                    </a:lnTo>
                    <a:lnTo>
                      <a:pt x="8313" y="4278"/>
                    </a:lnTo>
                    <a:lnTo>
                      <a:pt x="8057" y="4381"/>
                    </a:lnTo>
                    <a:lnTo>
                      <a:pt x="7801" y="4496"/>
                    </a:lnTo>
                    <a:lnTo>
                      <a:pt x="7545" y="4624"/>
                    </a:lnTo>
                    <a:lnTo>
                      <a:pt x="7301" y="4765"/>
                    </a:lnTo>
                    <a:lnTo>
                      <a:pt x="7071" y="4919"/>
                    </a:lnTo>
                    <a:lnTo>
                      <a:pt x="6840" y="5072"/>
                    </a:lnTo>
                    <a:lnTo>
                      <a:pt x="6622" y="5252"/>
                    </a:lnTo>
                    <a:lnTo>
                      <a:pt x="6405" y="5431"/>
                    </a:lnTo>
                    <a:lnTo>
                      <a:pt x="6213" y="5623"/>
                    </a:lnTo>
                    <a:lnTo>
                      <a:pt x="6008" y="5828"/>
                    </a:lnTo>
                    <a:lnTo>
                      <a:pt x="5828" y="6033"/>
                    </a:lnTo>
                    <a:lnTo>
                      <a:pt x="5662" y="6251"/>
                    </a:lnTo>
                    <a:lnTo>
                      <a:pt x="5495" y="6481"/>
                    </a:lnTo>
                    <a:lnTo>
                      <a:pt x="5342" y="6725"/>
                    </a:lnTo>
                    <a:lnTo>
                      <a:pt x="5201" y="6968"/>
                    </a:lnTo>
                    <a:lnTo>
                      <a:pt x="5073" y="7211"/>
                    </a:lnTo>
                    <a:lnTo>
                      <a:pt x="4957" y="7467"/>
                    </a:lnTo>
                    <a:lnTo>
                      <a:pt x="4855" y="7736"/>
                    </a:lnTo>
                    <a:lnTo>
                      <a:pt x="4765" y="8005"/>
                    </a:lnTo>
                    <a:lnTo>
                      <a:pt x="4688" y="8287"/>
                    </a:lnTo>
                    <a:lnTo>
                      <a:pt x="4624" y="8556"/>
                    </a:lnTo>
                    <a:lnTo>
                      <a:pt x="4573" y="8851"/>
                    </a:lnTo>
                    <a:lnTo>
                      <a:pt x="4535" y="9145"/>
                    </a:lnTo>
                    <a:lnTo>
                      <a:pt x="4509" y="9440"/>
                    </a:lnTo>
                    <a:lnTo>
                      <a:pt x="4509" y="9734"/>
                    </a:lnTo>
                    <a:lnTo>
                      <a:pt x="4509" y="9978"/>
                    </a:lnTo>
                    <a:lnTo>
                      <a:pt x="4535" y="10234"/>
                    </a:lnTo>
                    <a:lnTo>
                      <a:pt x="4560" y="10477"/>
                    </a:lnTo>
                    <a:lnTo>
                      <a:pt x="4599" y="10721"/>
                    </a:lnTo>
                    <a:lnTo>
                      <a:pt x="4343" y="10849"/>
                    </a:lnTo>
                    <a:lnTo>
                      <a:pt x="4086" y="11002"/>
                    </a:lnTo>
                    <a:lnTo>
                      <a:pt x="3856" y="11156"/>
                    </a:lnTo>
                    <a:lnTo>
                      <a:pt x="3613" y="11323"/>
                    </a:lnTo>
                    <a:lnTo>
                      <a:pt x="3382" y="11489"/>
                    </a:lnTo>
                    <a:lnTo>
                      <a:pt x="3152" y="11668"/>
                    </a:lnTo>
                    <a:lnTo>
                      <a:pt x="2934" y="11848"/>
                    </a:lnTo>
                    <a:lnTo>
                      <a:pt x="2729" y="12040"/>
                    </a:lnTo>
                    <a:lnTo>
                      <a:pt x="2524" y="12245"/>
                    </a:lnTo>
                    <a:lnTo>
                      <a:pt x="2319" y="12450"/>
                    </a:lnTo>
                    <a:lnTo>
                      <a:pt x="2127" y="12655"/>
                    </a:lnTo>
                    <a:lnTo>
                      <a:pt x="1935" y="12872"/>
                    </a:lnTo>
                    <a:lnTo>
                      <a:pt x="1768" y="13103"/>
                    </a:lnTo>
                    <a:lnTo>
                      <a:pt x="1589" y="13333"/>
                    </a:lnTo>
                    <a:lnTo>
                      <a:pt x="1422" y="13564"/>
                    </a:lnTo>
                    <a:lnTo>
                      <a:pt x="1269" y="13807"/>
                    </a:lnTo>
                    <a:lnTo>
                      <a:pt x="1128" y="14063"/>
                    </a:lnTo>
                    <a:lnTo>
                      <a:pt x="987" y="14307"/>
                    </a:lnTo>
                    <a:lnTo>
                      <a:pt x="859" y="14576"/>
                    </a:lnTo>
                    <a:lnTo>
                      <a:pt x="731" y="14832"/>
                    </a:lnTo>
                    <a:lnTo>
                      <a:pt x="616" y="15101"/>
                    </a:lnTo>
                    <a:lnTo>
                      <a:pt x="513" y="15370"/>
                    </a:lnTo>
                    <a:lnTo>
                      <a:pt x="423" y="15652"/>
                    </a:lnTo>
                    <a:lnTo>
                      <a:pt x="334" y="15933"/>
                    </a:lnTo>
                    <a:lnTo>
                      <a:pt x="257" y="16215"/>
                    </a:lnTo>
                    <a:lnTo>
                      <a:pt x="193" y="16497"/>
                    </a:lnTo>
                    <a:lnTo>
                      <a:pt x="129" y="16792"/>
                    </a:lnTo>
                    <a:lnTo>
                      <a:pt x="90" y="17086"/>
                    </a:lnTo>
                    <a:lnTo>
                      <a:pt x="52" y="17394"/>
                    </a:lnTo>
                    <a:lnTo>
                      <a:pt x="26" y="17688"/>
                    </a:lnTo>
                    <a:lnTo>
                      <a:pt x="1" y="17996"/>
                    </a:lnTo>
                    <a:lnTo>
                      <a:pt x="1" y="18303"/>
                    </a:lnTo>
                    <a:lnTo>
                      <a:pt x="1" y="18610"/>
                    </a:lnTo>
                    <a:lnTo>
                      <a:pt x="26" y="18918"/>
                    </a:lnTo>
                    <a:lnTo>
                      <a:pt x="52" y="19225"/>
                    </a:lnTo>
                    <a:lnTo>
                      <a:pt x="90" y="19520"/>
                    </a:lnTo>
                    <a:lnTo>
                      <a:pt x="129" y="19814"/>
                    </a:lnTo>
                    <a:lnTo>
                      <a:pt x="193" y="20109"/>
                    </a:lnTo>
                    <a:lnTo>
                      <a:pt x="257" y="20391"/>
                    </a:lnTo>
                    <a:lnTo>
                      <a:pt x="334" y="20685"/>
                    </a:lnTo>
                    <a:lnTo>
                      <a:pt x="423" y="20967"/>
                    </a:lnTo>
                    <a:lnTo>
                      <a:pt x="513" y="21236"/>
                    </a:lnTo>
                    <a:lnTo>
                      <a:pt x="616" y="21505"/>
                    </a:lnTo>
                    <a:lnTo>
                      <a:pt x="731" y="21774"/>
                    </a:lnTo>
                    <a:lnTo>
                      <a:pt x="859" y="22043"/>
                    </a:lnTo>
                    <a:lnTo>
                      <a:pt x="987" y="22299"/>
                    </a:lnTo>
                    <a:lnTo>
                      <a:pt x="1128" y="22555"/>
                    </a:lnTo>
                    <a:lnTo>
                      <a:pt x="1269" y="22798"/>
                    </a:lnTo>
                    <a:lnTo>
                      <a:pt x="1422" y="23042"/>
                    </a:lnTo>
                    <a:lnTo>
                      <a:pt x="1589" y="23272"/>
                    </a:lnTo>
                    <a:lnTo>
                      <a:pt x="1768" y="23503"/>
                    </a:lnTo>
                    <a:lnTo>
                      <a:pt x="1935" y="23733"/>
                    </a:lnTo>
                    <a:lnTo>
                      <a:pt x="2127" y="23951"/>
                    </a:lnTo>
                    <a:lnTo>
                      <a:pt x="2319" y="24156"/>
                    </a:lnTo>
                    <a:lnTo>
                      <a:pt x="2524" y="24374"/>
                    </a:lnTo>
                    <a:lnTo>
                      <a:pt x="2729" y="24566"/>
                    </a:lnTo>
                    <a:lnTo>
                      <a:pt x="2934" y="24758"/>
                    </a:lnTo>
                    <a:lnTo>
                      <a:pt x="3152" y="24937"/>
                    </a:lnTo>
                    <a:lnTo>
                      <a:pt x="3382" y="25117"/>
                    </a:lnTo>
                    <a:lnTo>
                      <a:pt x="3613" y="25296"/>
                    </a:lnTo>
                    <a:lnTo>
                      <a:pt x="3856" y="25450"/>
                    </a:lnTo>
                    <a:lnTo>
                      <a:pt x="4086" y="25603"/>
                    </a:lnTo>
                    <a:lnTo>
                      <a:pt x="4343" y="25757"/>
                    </a:lnTo>
                    <a:lnTo>
                      <a:pt x="4599" y="25898"/>
                    </a:lnTo>
                    <a:lnTo>
                      <a:pt x="4560" y="26141"/>
                    </a:lnTo>
                    <a:lnTo>
                      <a:pt x="4535" y="26385"/>
                    </a:lnTo>
                    <a:lnTo>
                      <a:pt x="4509" y="26628"/>
                    </a:lnTo>
                    <a:lnTo>
                      <a:pt x="4509" y="26871"/>
                    </a:lnTo>
                    <a:lnTo>
                      <a:pt x="4509" y="27179"/>
                    </a:lnTo>
                    <a:lnTo>
                      <a:pt x="4535" y="27473"/>
                    </a:lnTo>
                    <a:lnTo>
                      <a:pt x="4573" y="27768"/>
                    </a:lnTo>
                    <a:lnTo>
                      <a:pt x="4624" y="28050"/>
                    </a:lnTo>
                    <a:lnTo>
                      <a:pt x="4688" y="28331"/>
                    </a:lnTo>
                    <a:lnTo>
                      <a:pt x="4765" y="28600"/>
                    </a:lnTo>
                    <a:lnTo>
                      <a:pt x="4855" y="28869"/>
                    </a:lnTo>
                    <a:lnTo>
                      <a:pt x="4957" y="29138"/>
                    </a:lnTo>
                    <a:lnTo>
                      <a:pt x="5073" y="29395"/>
                    </a:lnTo>
                    <a:lnTo>
                      <a:pt x="5201" y="29651"/>
                    </a:lnTo>
                    <a:lnTo>
                      <a:pt x="5342" y="29894"/>
                    </a:lnTo>
                    <a:lnTo>
                      <a:pt x="5495" y="30125"/>
                    </a:lnTo>
                    <a:lnTo>
                      <a:pt x="5662" y="30355"/>
                    </a:lnTo>
                    <a:lnTo>
                      <a:pt x="5828" y="30573"/>
                    </a:lnTo>
                    <a:lnTo>
                      <a:pt x="6008" y="30791"/>
                    </a:lnTo>
                    <a:lnTo>
                      <a:pt x="6213" y="30983"/>
                    </a:lnTo>
                    <a:lnTo>
                      <a:pt x="6405" y="31175"/>
                    </a:lnTo>
                    <a:lnTo>
                      <a:pt x="6622" y="31367"/>
                    </a:lnTo>
                    <a:lnTo>
                      <a:pt x="6840" y="31533"/>
                    </a:lnTo>
                    <a:lnTo>
                      <a:pt x="7071" y="31700"/>
                    </a:lnTo>
                    <a:lnTo>
                      <a:pt x="7301" y="31841"/>
                    </a:lnTo>
                    <a:lnTo>
                      <a:pt x="7545" y="31982"/>
                    </a:lnTo>
                    <a:lnTo>
                      <a:pt x="7801" y="32110"/>
                    </a:lnTo>
                    <a:lnTo>
                      <a:pt x="8057" y="32238"/>
                    </a:lnTo>
                    <a:lnTo>
                      <a:pt x="8313" y="32340"/>
                    </a:lnTo>
                    <a:lnTo>
                      <a:pt x="8582" y="32430"/>
                    </a:lnTo>
                    <a:lnTo>
                      <a:pt x="8864" y="32507"/>
                    </a:lnTo>
                    <a:lnTo>
                      <a:pt x="9146" y="32571"/>
                    </a:lnTo>
                    <a:lnTo>
                      <a:pt x="9427" y="32622"/>
                    </a:lnTo>
                    <a:lnTo>
                      <a:pt x="9722" y="32661"/>
                    </a:lnTo>
                    <a:lnTo>
                      <a:pt x="10017" y="32686"/>
                    </a:lnTo>
                    <a:lnTo>
                      <a:pt x="10542" y="32686"/>
                    </a:lnTo>
                    <a:lnTo>
                      <a:pt x="10772" y="32673"/>
                    </a:lnTo>
                    <a:lnTo>
                      <a:pt x="10990" y="32648"/>
                    </a:lnTo>
                    <a:lnTo>
                      <a:pt x="11208" y="32609"/>
                    </a:lnTo>
                    <a:lnTo>
                      <a:pt x="11361" y="32840"/>
                    </a:lnTo>
                    <a:lnTo>
                      <a:pt x="11502" y="33058"/>
                    </a:lnTo>
                    <a:lnTo>
                      <a:pt x="11669" y="33263"/>
                    </a:lnTo>
                    <a:lnTo>
                      <a:pt x="11835" y="33467"/>
                    </a:lnTo>
                    <a:lnTo>
                      <a:pt x="12002" y="33672"/>
                    </a:lnTo>
                    <a:lnTo>
                      <a:pt x="12181" y="33877"/>
                    </a:lnTo>
                    <a:lnTo>
                      <a:pt x="12360" y="34069"/>
                    </a:lnTo>
                    <a:lnTo>
                      <a:pt x="12552" y="34249"/>
                    </a:lnTo>
                    <a:lnTo>
                      <a:pt x="12745" y="34428"/>
                    </a:lnTo>
                    <a:lnTo>
                      <a:pt x="12950" y="34607"/>
                    </a:lnTo>
                    <a:lnTo>
                      <a:pt x="13154" y="34774"/>
                    </a:lnTo>
                    <a:lnTo>
                      <a:pt x="13359" y="34928"/>
                    </a:lnTo>
                    <a:lnTo>
                      <a:pt x="13577" y="35081"/>
                    </a:lnTo>
                    <a:lnTo>
                      <a:pt x="13795" y="35235"/>
                    </a:lnTo>
                    <a:lnTo>
                      <a:pt x="14025" y="35376"/>
                    </a:lnTo>
                    <a:lnTo>
                      <a:pt x="14256" y="35517"/>
                    </a:lnTo>
                    <a:lnTo>
                      <a:pt x="14486" y="35645"/>
                    </a:lnTo>
                    <a:lnTo>
                      <a:pt x="14730" y="35760"/>
                    </a:lnTo>
                    <a:lnTo>
                      <a:pt x="14973" y="35875"/>
                    </a:lnTo>
                    <a:lnTo>
                      <a:pt x="15217" y="35978"/>
                    </a:lnTo>
                    <a:lnTo>
                      <a:pt x="15473" y="36080"/>
                    </a:lnTo>
                    <a:lnTo>
                      <a:pt x="15729" y="36170"/>
                    </a:lnTo>
                    <a:lnTo>
                      <a:pt x="15985" y="36247"/>
                    </a:lnTo>
                    <a:lnTo>
                      <a:pt x="16241" y="36324"/>
                    </a:lnTo>
                    <a:lnTo>
                      <a:pt x="16510" y="36388"/>
                    </a:lnTo>
                    <a:lnTo>
                      <a:pt x="16779" y="36452"/>
                    </a:lnTo>
                    <a:lnTo>
                      <a:pt x="17048" y="36503"/>
                    </a:lnTo>
                    <a:lnTo>
                      <a:pt x="17330" y="36541"/>
                    </a:lnTo>
                    <a:lnTo>
                      <a:pt x="17599" y="36567"/>
                    </a:lnTo>
                    <a:lnTo>
                      <a:pt x="17881" y="36593"/>
                    </a:lnTo>
                    <a:lnTo>
                      <a:pt x="18162" y="36605"/>
                    </a:lnTo>
                    <a:lnTo>
                      <a:pt x="18790" y="36605"/>
                    </a:lnTo>
                    <a:lnTo>
                      <a:pt x="19123" y="36580"/>
                    </a:lnTo>
                    <a:lnTo>
                      <a:pt x="19456" y="36554"/>
                    </a:lnTo>
                    <a:lnTo>
                      <a:pt x="19789" y="36503"/>
                    </a:lnTo>
                    <a:lnTo>
                      <a:pt x="20109" y="36452"/>
                    </a:lnTo>
                    <a:lnTo>
                      <a:pt x="20429" y="36375"/>
                    </a:lnTo>
                    <a:lnTo>
                      <a:pt x="20750" y="36298"/>
                    </a:lnTo>
                    <a:lnTo>
                      <a:pt x="21057" y="36208"/>
                    </a:lnTo>
                    <a:lnTo>
                      <a:pt x="21364" y="36106"/>
                    </a:lnTo>
                    <a:lnTo>
                      <a:pt x="21659" y="35991"/>
                    </a:lnTo>
                    <a:lnTo>
                      <a:pt x="21953" y="35863"/>
                    </a:lnTo>
                    <a:lnTo>
                      <a:pt x="22248" y="35722"/>
                    </a:lnTo>
                    <a:lnTo>
                      <a:pt x="22530" y="35581"/>
                    </a:lnTo>
                    <a:lnTo>
                      <a:pt x="22812" y="35427"/>
                    </a:lnTo>
                    <a:lnTo>
                      <a:pt x="23081" y="35248"/>
                    </a:lnTo>
                    <a:lnTo>
                      <a:pt x="23337" y="35081"/>
                    </a:lnTo>
                    <a:lnTo>
                      <a:pt x="23593" y="34889"/>
                    </a:lnTo>
                    <a:lnTo>
                      <a:pt x="23849" y="34697"/>
                    </a:lnTo>
                    <a:lnTo>
                      <a:pt x="24080" y="34492"/>
                    </a:lnTo>
                    <a:lnTo>
                      <a:pt x="24323" y="34274"/>
                    </a:lnTo>
                    <a:lnTo>
                      <a:pt x="24541" y="34057"/>
                    </a:lnTo>
                    <a:lnTo>
                      <a:pt x="24758" y="33826"/>
                    </a:lnTo>
                    <a:lnTo>
                      <a:pt x="24976" y="33596"/>
                    </a:lnTo>
                    <a:lnTo>
                      <a:pt x="25168" y="33352"/>
                    </a:lnTo>
                    <a:lnTo>
                      <a:pt x="25360" y="33096"/>
                    </a:lnTo>
                    <a:lnTo>
                      <a:pt x="25540" y="32840"/>
                    </a:lnTo>
                    <a:lnTo>
                      <a:pt x="25719" y="32571"/>
                    </a:lnTo>
                    <a:lnTo>
                      <a:pt x="25885" y="32302"/>
                    </a:lnTo>
                    <a:lnTo>
                      <a:pt x="26039" y="32020"/>
                    </a:lnTo>
                    <a:lnTo>
                      <a:pt x="26180" y="31738"/>
                    </a:lnTo>
                    <a:lnTo>
                      <a:pt x="26308" y="31444"/>
                    </a:lnTo>
                    <a:lnTo>
                      <a:pt x="26436" y="31149"/>
                    </a:lnTo>
                    <a:lnTo>
                      <a:pt x="26628" y="31316"/>
                    </a:lnTo>
                    <a:lnTo>
                      <a:pt x="26833" y="31482"/>
                    </a:lnTo>
                    <a:lnTo>
                      <a:pt x="27051" y="31649"/>
                    </a:lnTo>
                    <a:lnTo>
                      <a:pt x="27269" y="31790"/>
                    </a:lnTo>
                    <a:lnTo>
                      <a:pt x="27499" y="31931"/>
                    </a:lnTo>
                    <a:lnTo>
                      <a:pt x="27730" y="32059"/>
                    </a:lnTo>
                    <a:lnTo>
                      <a:pt x="27973" y="32174"/>
                    </a:lnTo>
                    <a:lnTo>
                      <a:pt x="28216" y="32276"/>
                    </a:lnTo>
                    <a:lnTo>
                      <a:pt x="28473" y="32366"/>
                    </a:lnTo>
                    <a:lnTo>
                      <a:pt x="28729" y="32456"/>
                    </a:lnTo>
                    <a:lnTo>
                      <a:pt x="28985" y="32520"/>
                    </a:lnTo>
                    <a:lnTo>
                      <a:pt x="29254" y="32584"/>
                    </a:lnTo>
                    <a:lnTo>
                      <a:pt x="29523" y="32622"/>
                    </a:lnTo>
                    <a:lnTo>
                      <a:pt x="29805" y="32661"/>
                    </a:lnTo>
                    <a:lnTo>
                      <a:pt x="30086" y="32686"/>
                    </a:lnTo>
                    <a:lnTo>
                      <a:pt x="30368" y="32686"/>
                    </a:lnTo>
                    <a:lnTo>
                      <a:pt x="30688" y="32673"/>
                    </a:lnTo>
                    <a:lnTo>
                      <a:pt x="31009" y="32648"/>
                    </a:lnTo>
                    <a:lnTo>
                      <a:pt x="31329" y="32609"/>
                    </a:lnTo>
                    <a:lnTo>
                      <a:pt x="31636" y="32545"/>
                    </a:lnTo>
                    <a:lnTo>
                      <a:pt x="31931" y="32468"/>
                    </a:lnTo>
                    <a:lnTo>
                      <a:pt x="32238" y="32379"/>
                    </a:lnTo>
                    <a:lnTo>
                      <a:pt x="32520" y="32276"/>
                    </a:lnTo>
                    <a:lnTo>
                      <a:pt x="32802" y="32148"/>
                    </a:lnTo>
                    <a:lnTo>
                      <a:pt x="33083" y="32020"/>
                    </a:lnTo>
                    <a:lnTo>
                      <a:pt x="33340" y="31866"/>
                    </a:lnTo>
                    <a:lnTo>
                      <a:pt x="33596" y="31700"/>
                    </a:lnTo>
                    <a:lnTo>
                      <a:pt x="33852" y="31521"/>
                    </a:lnTo>
                    <a:lnTo>
                      <a:pt x="34082" y="31341"/>
                    </a:lnTo>
                    <a:lnTo>
                      <a:pt x="34313" y="31136"/>
                    </a:lnTo>
                    <a:lnTo>
                      <a:pt x="34531" y="30919"/>
                    </a:lnTo>
                    <a:lnTo>
                      <a:pt x="34736" y="30701"/>
                    </a:lnTo>
                    <a:lnTo>
                      <a:pt x="34915" y="30867"/>
                    </a:lnTo>
                    <a:lnTo>
                      <a:pt x="35107" y="31021"/>
                    </a:lnTo>
                    <a:lnTo>
                      <a:pt x="35299" y="31162"/>
                    </a:lnTo>
                    <a:lnTo>
                      <a:pt x="35504" y="31303"/>
                    </a:lnTo>
                    <a:lnTo>
                      <a:pt x="35709" y="31431"/>
                    </a:lnTo>
                    <a:lnTo>
                      <a:pt x="35927" y="31546"/>
                    </a:lnTo>
                    <a:lnTo>
                      <a:pt x="36145" y="31662"/>
                    </a:lnTo>
                    <a:lnTo>
                      <a:pt x="36375" y="31764"/>
                    </a:lnTo>
                    <a:lnTo>
                      <a:pt x="36606" y="31854"/>
                    </a:lnTo>
                    <a:lnTo>
                      <a:pt x="36836" y="31931"/>
                    </a:lnTo>
                    <a:lnTo>
                      <a:pt x="37080" y="31995"/>
                    </a:lnTo>
                    <a:lnTo>
                      <a:pt x="37336" y="32046"/>
                    </a:lnTo>
                    <a:lnTo>
                      <a:pt x="37579" y="32097"/>
                    </a:lnTo>
                    <a:lnTo>
                      <a:pt x="37835" y="32123"/>
                    </a:lnTo>
                    <a:lnTo>
                      <a:pt x="38091" y="32135"/>
                    </a:lnTo>
                    <a:lnTo>
                      <a:pt x="38360" y="32148"/>
                    </a:lnTo>
                    <a:lnTo>
                      <a:pt x="38629" y="32135"/>
                    </a:lnTo>
                    <a:lnTo>
                      <a:pt x="38898" y="32123"/>
                    </a:lnTo>
                    <a:lnTo>
                      <a:pt x="39154" y="32084"/>
                    </a:lnTo>
                    <a:lnTo>
                      <a:pt x="39423" y="32046"/>
                    </a:lnTo>
                    <a:lnTo>
                      <a:pt x="39667" y="31982"/>
                    </a:lnTo>
                    <a:lnTo>
                      <a:pt x="39923" y="31905"/>
                    </a:lnTo>
                    <a:lnTo>
                      <a:pt x="40166" y="31828"/>
                    </a:lnTo>
                    <a:lnTo>
                      <a:pt x="40410" y="31738"/>
                    </a:lnTo>
                    <a:lnTo>
                      <a:pt x="40640" y="31623"/>
                    </a:lnTo>
                    <a:lnTo>
                      <a:pt x="40871" y="31508"/>
                    </a:lnTo>
                    <a:lnTo>
                      <a:pt x="41088" y="31380"/>
                    </a:lnTo>
                    <a:lnTo>
                      <a:pt x="41306" y="31252"/>
                    </a:lnTo>
                    <a:lnTo>
                      <a:pt x="41511" y="31098"/>
                    </a:lnTo>
                    <a:lnTo>
                      <a:pt x="41703" y="30944"/>
                    </a:lnTo>
                    <a:lnTo>
                      <a:pt x="41895" y="30778"/>
                    </a:lnTo>
                    <a:lnTo>
                      <a:pt x="42087" y="30598"/>
                    </a:lnTo>
                    <a:lnTo>
                      <a:pt x="42254" y="30419"/>
                    </a:lnTo>
                    <a:lnTo>
                      <a:pt x="42420" y="30227"/>
                    </a:lnTo>
                    <a:lnTo>
                      <a:pt x="42574" y="30035"/>
                    </a:lnTo>
                    <a:lnTo>
                      <a:pt x="42728" y="29830"/>
                    </a:lnTo>
                    <a:lnTo>
                      <a:pt x="42869" y="29612"/>
                    </a:lnTo>
                    <a:lnTo>
                      <a:pt x="42984" y="29395"/>
                    </a:lnTo>
                    <a:lnTo>
                      <a:pt x="43112" y="29164"/>
                    </a:lnTo>
                    <a:lnTo>
                      <a:pt x="43214" y="28933"/>
                    </a:lnTo>
                    <a:lnTo>
                      <a:pt x="43304" y="28690"/>
                    </a:lnTo>
                    <a:lnTo>
                      <a:pt x="43394" y="28447"/>
                    </a:lnTo>
                    <a:lnTo>
                      <a:pt x="43458" y="28191"/>
                    </a:lnTo>
                    <a:lnTo>
                      <a:pt x="43522" y="27934"/>
                    </a:lnTo>
                    <a:lnTo>
                      <a:pt x="43560" y="27678"/>
                    </a:lnTo>
                    <a:lnTo>
                      <a:pt x="43599" y="27422"/>
                    </a:lnTo>
                    <a:lnTo>
                      <a:pt x="43624" y="27153"/>
                    </a:lnTo>
                    <a:lnTo>
                      <a:pt x="43624" y="26871"/>
                    </a:lnTo>
                    <a:lnTo>
                      <a:pt x="43624" y="26692"/>
                    </a:lnTo>
                    <a:lnTo>
                      <a:pt x="43612" y="26500"/>
                    </a:lnTo>
                    <a:lnTo>
                      <a:pt x="43573" y="26141"/>
                    </a:lnTo>
                    <a:lnTo>
                      <a:pt x="43842" y="26013"/>
                    </a:lnTo>
                    <a:lnTo>
                      <a:pt x="44124" y="25872"/>
                    </a:lnTo>
                    <a:lnTo>
                      <a:pt x="44393" y="25719"/>
                    </a:lnTo>
                    <a:lnTo>
                      <a:pt x="44649" y="25565"/>
                    </a:lnTo>
                    <a:lnTo>
                      <a:pt x="44905" y="25398"/>
                    </a:lnTo>
                    <a:lnTo>
                      <a:pt x="45161" y="25219"/>
                    </a:lnTo>
                    <a:lnTo>
                      <a:pt x="45392" y="25040"/>
                    </a:lnTo>
                    <a:lnTo>
                      <a:pt x="45635" y="24848"/>
                    </a:lnTo>
                    <a:lnTo>
                      <a:pt x="45866" y="24643"/>
                    </a:lnTo>
                    <a:lnTo>
                      <a:pt x="46083" y="24438"/>
                    </a:lnTo>
                    <a:lnTo>
                      <a:pt x="46301" y="24220"/>
                    </a:lnTo>
                    <a:lnTo>
                      <a:pt x="46506" y="24002"/>
                    </a:lnTo>
                    <a:lnTo>
                      <a:pt x="46698" y="23772"/>
                    </a:lnTo>
                    <a:lnTo>
                      <a:pt x="46890" y="23529"/>
                    </a:lnTo>
                    <a:lnTo>
                      <a:pt x="47070" y="23285"/>
                    </a:lnTo>
                    <a:lnTo>
                      <a:pt x="47249" y="23029"/>
                    </a:lnTo>
                    <a:lnTo>
                      <a:pt x="47415" y="22773"/>
                    </a:lnTo>
                    <a:lnTo>
                      <a:pt x="47569" y="22517"/>
                    </a:lnTo>
                    <a:lnTo>
                      <a:pt x="47710" y="22248"/>
                    </a:lnTo>
                    <a:lnTo>
                      <a:pt x="47851" y="21966"/>
                    </a:lnTo>
                    <a:lnTo>
                      <a:pt x="47979" y="21684"/>
                    </a:lnTo>
                    <a:lnTo>
                      <a:pt x="48094" y="21402"/>
                    </a:lnTo>
                    <a:lnTo>
                      <a:pt x="48197" y="21108"/>
                    </a:lnTo>
                    <a:lnTo>
                      <a:pt x="48299" y="20813"/>
                    </a:lnTo>
                    <a:lnTo>
                      <a:pt x="48376" y="20519"/>
                    </a:lnTo>
                    <a:lnTo>
                      <a:pt x="48453" y="20211"/>
                    </a:lnTo>
                    <a:lnTo>
                      <a:pt x="48517" y="19904"/>
                    </a:lnTo>
                    <a:lnTo>
                      <a:pt x="48568" y="19596"/>
                    </a:lnTo>
                    <a:lnTo>
                      <a:pt x="48619" y="19276"/>
                    </a:lnTo>
                    <a:lnTo>
                      <a:pt x="48645" y="18956"/>
                    </a:lnTo>
                    <a:lnTo>
                      <a:pt x="48671" y="18636"/>
                    </a:lnTo>
                    <a:lnTo>
                      <a:pt x="48671" y="18303"/>
                    </a:lnTo>
                    <a:lnTo>
                      <a:pt x="48671" y="17996"/>
                    </a:lnTo>
                    <a:lnTo>
                      <a:pt x="48645" y="17688"/>
                    </a:lnTo>
                    <a:lnTo>
                      <a:pt x="48619" y="17394"/>
                    </a:lnTo>
                    <a:lnTo>
                      <a:pt x="48581" y="17086"/>
                    </a:lnTo>
                    <a:lnTo>
                      <a:pt x="48543" y="16792"/>
                    </a:lnTo>
                    <a:lnTo>
                      <a:pt x="48479" y="16497"/>
                    </a:lnTo>
                    <a:lnTo>
                      <a:pt x="48414" y="16215"/>
                    </a:lnTo>
                    <a:lnTo>
                      <a:pt x="48338" y="15933"/>
                    </a:lnTo>
                    <a:lnTo>
                      <a:pt x="48248" y="15652"/>
                    </a:lnTo>
                    <a:lnTo>
                      <a:pt x="48158" y="15370"/>
                    </a:lnTo>
                    <a:lnTo>
                      <a:pt x="48056" y="15101"/>
                    </a:lnTo>
                    <a:lnTo>
                      <a:pt x="47941" y="14832"/>
                    </a:lnTo>
                    <a:lnTo>
                      <a:pt x="47813" y="14576"/>
                    </a:lnTo>
                    <a:lnTo>
                      <a:pt x="47684" y="14307"/>
                    </a:lnTo>
                    <a:lnTo>
                      <a:pt x="47544" y="14063"/>
                    </a:lnTo>
                    <a:lnTo>
                      <a:pt x="47403" y="13807"/>
                    </a:lnTo>
                    <a:lnTo>
                      <a:pt x="47236" y="13564"/>
                    </a:lnTo>
                    <a:lnTo>
                      <a:pt x="47082" y="13333"/>
                    </a:lnTo>
                    <a:lnTo>
                      <a:pt x="46903" y="13103"/>
                    </a:lnTo>
                    <a:lnTo>
                      <a:pt x="46724" y="12872"/>
                    </a:lnTo>
                    <a:lnTo>
                      <a:pt x="46545" y="12655"/>
                    </a:lnTo>
                    <a:lnTo>
                      <a:pt x="46352" y="12450"/>
                    </a:lnTo>
                    <a:lnTo>
                      <a:pt x="46147" y="12245"/>
                    </a:lnTo>
                    <a:lnTo>
                      <a:pt x="45943" y="12040"/>
                    </a:lnTo>
                    <a:lnTo>
                      <a:pt x="45738" y="11848"/>
                    </a:lnTo>
                    <a:lnTo>
                      <a:pt x="45520" y="11668"/>
                    </a:lnTo>
                    <a:lnTo>
                      <a:pt x="45289" y="11489"/>
                    </a:lnTo>
                    <a:lnTo>
                      <a:pt x="45059" y="11323"/>
                    </a:lnTo>
                    <a:lnTo>
                      <a:pt x="44815" y="11156"/>
                    </a:lnTo>
                    <a:lnTo>
                      <a:pt x="44585" y="11002"/>
                    </a:lnTo>
                    <a:lnTo>
                      <a:pt x="44329" y="10849"/>
                    </a:lnTo>
                    <a:lnTo>
                      <a:pt x="44073" y="10721"/>
                    </a:lnTo>
                    <a:lnTo>
                      <a:pt x="44111" y="10477"/>
                    </a:lnTo>
                    <a:lnTo>
                      <a:pt x="44137" y="10234"/>
                    </a:lnTo>
                    <a:lnTo>
                      <a:pt x="44162" y="9978"/>
                    </a:lnTo>
                    <a:lnTo>
                      <a:pt x="44162" y="9734"/>
                    </a:lnTo>
                    <a:lnTo>
                      <a:pt x="44162" y="9440"/>
                    </a:lnTo>
                    <a:lnTo>
                      <a:pt x="44137" y="9145"/>
                    </a:lnTo>
                    <a:lnTo>
                      <a:pt x="44098" y="8851"/>
                    </a:lnTo>
                    <a:lnTo>
                      <a:pt x="44047" y="8556"/>
                    </a:lnTo>
                    <a:lnTo>
                      <a:pt x="43983" y="8287"/>
                    </a:lnTo>
                    <a:lnTo>
                      <a:pt x="43906" y="8005"/>
                    </a:lnTo>
                    <a:lnTo>
                      <a:pt x="43816" y="7736"/>
                    </a:lnTo>
                    <a:lnTo>
                      <a:pt x="43714" y="7467"/>
                    </a:lnTo>
                    <a:lnTo>
                      <a:pt x="43599" y="7211"/>
                    </a:lnTo>
                    <a:lnTo>
                      <a:pt x="43471" y="6968"/>
                    </a:lnTo>
                    <a:lnTo>
                      <a:pt x="43330" y="6725"/>
                    </a:lnTo>
                    <a:lnTo>
                      <a:pt x="43176" y="6481"/>
                    </a:lnTo>
                    <a:lnTo>
                      <a:pt x="43010" y="6251"/>
                    </a:lnTo>
                    <a:lnTo>
                      <a:pt x="42843" y="6033"/>
                    </a:lnTo>
                    <a:lnTo>
                      <a:pt x="42651" y="5828"/>
                    </a:lnTo>
                    <a:lnTo>
                      <a:pt x="42459" y="5623"/>
                    </a:lnTo>
                    <a:lnTo>
                      <a:pt x="42267" y="5431"/>
                    </a:lnTo>
                    <a:lnTo>
                      <a:pt x="42049" y="5252"/>
                    </a:lnTo>
                    <a:lnTo>
                      <a:pt x="41831" y="5072"/>
                    </a:lnTo>
                    <a:lnTo>
                      <a:pt x="41601" y="4919"/>
                    </a:lnTo>
                    <a:lnTo>
                      <a:pt x="41370" y="4765"/>
                    </a:lnTo>
                    <a:lnTo>
                      <a:pt x="41127" y="4624"/>
                    </a:lnTo>
                    <a:lnTo>
                      <a:pt x="40871" y="4496"/>
                    </a:lnTo>
                    <a:lnTo>
                      <a:pt x="40614" y="4381"/>
                    </a:lnTo>
                    <a:lnTo>
                      <a:pt x="40358" y="4278"/>
                    </a:lnTo>
                    <a:lnTo>
                      <a:pt x="40089" y="4189"/>
                    </a:lnTo>
                    <a:lnTo>
                      <a:pt x="39808" y="4099"/>
                    </a:lnTo>
                    <a:lnTo>
                      <a:pt x="39526" y="4035"/>
                    </a:lnTo>
                    <a:lnTo>
                      <a:pt x="39244" y="3984"/>
                    </a:lnTo>
                    <a:lnTo>
                      <a:pt x="38949" y="3958"/>
                    </a:lnTo>
                    <a:lnTo>
                      <a:pt x="38655" y="3932"/>
                    </a:lnTo>
                    <a:lnTo>
                      <a:pt x="38360" y="3920"/>
                    </a:lnTo>
                    <a:lnTo>
                      <a:pt x="38130" y="3932"/>
                    </a:lnTo>
                    <a:lnTo>
                      <a:pt x="37899" y="3945"/>
                    </a:lnTo>
                    <a:lnTo>
                      <a:pt x="37681" y="3971"/>
                    </a:lnTo>
                    <a:lnTo>
                      <a:pt x="37464" y="3996"/>
                    </a:lnTo>
                    <a:lnTo>
                      <a:pt x="37310" y="3779"/>
                    </a:lnTo>
                    <a:lnTo>
                      <a:pt x="37156" y="3561"/>
                    </a:lnTo>
                    <a:lnTo>
                      <a:pt x="37003" y="3343"/>
                    </a:lnTo>
                    <a:lnTo>
                      <a:pt x="36836" y="3138"/>
                    </a:lnTo>
                    <a:lnTo>
                      <a:pt x="36670" y="2933"/>
                    </a:lnTo>
                    <a:lnTo>
                      <a:pt x="36490" y="2741"/>
                    </a:lnTo>
                    <a:lnTo>
                      <a:pt x="36311" y="2549"/>
                    </a:lnTo>
                    <a:lnTo>
                      <a:pt x="36119" y="2357"/>
                    </a:lnTo>
                    <a:lnTo>
                      <a:pt x="35927" y="2178"/>
                    </a:lnTo>
                    <a:lnTo>
                      <a:pt x="35722" y="2011"/>
                    </a:lnTo>
                    <a:lnTo>
                      <a:pt x="35517" y="1845"/>
                    </a:lnTo>
                    <a:lnTo>
                      <a:pt x="35312" y="1678"/>
                    </a:lnTo>
                    <a:lnTo>
                      <a:pt x="35094" y="1525"/>
                    </a:lnTo>
                    <a:lnTo>
                      <a:pt x="34864" y="1371"/>
                    </a:lnTo>
                    <a:lnTo>
                      <a:pt x="34646" y="1230"/>
                    </a:lnTo>
                    <a:lnTo>
                      <a:pt x="34415" y="1102"/>
                    </a:lnTo>
                    <a:lnTo>
                      <a:pt x="34185" y="974"/>
                    </a:lnTo>
                    <a:lnTo>
                      <a:pt x="33942" y="846"/>
                    </a:lnTo>
                    <a:lnTo>
                      <a:pt x="33698" y="743"/>
                    </a:lnTo>
                    <a:lnTo>
                      <a:pt x="33455" y="628"/>
                    </a:lnTo>
                    <a:lnTo>
                      <a:pt x="33199" y="538"/>
                    </a:lnTo>
                    <a:lnTo>
                      <a:pt x="32943" y="449"/>
                    </a:lnTo>
                    <a:lnTo>
                      <a:pt x="32686" y="359"/>
                    </a:lnTo>
                    <a:lnTo>
                      <a:pt x="32430" y="282"/>
                    </a:lnTo>
                    <a:lnTo>
                      <a:pt x="32161" y="218"/>
                    </a:lnTo>
                    <a:lnTo>
                      <a:pt x="31892" y="167"/>
                    </a:lnTo>
                    <a:lnTo>
                      <a:pt x="31623" y="116"/>
                    </a:lnTo>
                    <a:lnTo>
                      <a:pt x="31342" y="77"/>
                    </a:lnTo>
                    <a:lnTo>
                      <a:pt x="31073" y="39"/>
                    </a:lnTo>
                    <a:lnTo>
                      <a:pt x="30791" y="13"/>
                    </a:lnTo>
                    <a:lnTo>
                      <a:pt x="30509" y="0"/>
                    </a:lnTo>
                    <a:lnTo>
                      <a:pt x="30215" y="0"/>
                    </a:lnTo>
                    <a:lnTo>
                      <a:pt x="29792" y="13"/>
                    </a:lnTo>
                    <a:lnTo>
                      <a:pt x="29369" y="39"/>
                    </a:lnTo>
                    <a:lnTo>
                      <a:pt x="28959" y="90"/>
                    </a:lnTo>
                    <a:lnTo>
                      <a:pt x="28549" y="167"/>
                    </a:lnTo>
                    <a:lnTo>
                      <a:pt x="28152" y="257"/>
                    </a:lnTo>
                    <a:lnTo>
                      <a:pt x="27755" y="359"/>
                    </a:lnTo>
                    <a:lnTo>
                      <a:pt x="27371" y="487"/>
                    </a:lnTo>
                    <a:lnTo>
                      <a:pt x="27000" y="628"/>
                    </a:lnTo>
                    <a:lnTo>
                      <a:pt x="26628" y="795"/>
                    </a:lnTo>
                    <a:lnTo>
                      <a:pt x="26270" y="961"/>
                    </a:lnTo>
                    <a:lnTo>
                      <a:pt x="25924" y="1166"/>
                    </a:lnTo>
                    <a:lnTo>
                      <a:pt x="25578" y="1371"/>
                    </a:lnTo>
                    <a:lnTo>
                      <a:pt x="25258" y="1589"/>
                    </a:lnTo>
                    <a:lnTo>
                      <a:pt x="24938" y="1832"/>
                    </a:lnTo>
                    <a:lnTo>
                      <a:pt x="24630" y="2088"/>
                    </a:lnTo>
                    <a:lnTo>
                      <a:pt x="24336" y="2344"/>
                    </a:lnTo>
                    <a:lnTo>
                      <a:pt x="24041" y="2088"/>
                    </a:lnTo>
                    <a:lnTo>
                      <a:pt x="23734" y="1832"/>
                    </a:lnTo>
                    <a:lnTo>
                      <a:pt x="23414" y="1589"/>
                    </a:lnTo>
                    <a:lnTo>
                      <a:pt x="23093" y="1371"/>
                    </a:lnTo>
                    <a:lnTo>
                      <a:pt x="22748" y="1166"/>
                    </a:lnTo>
                    <a:lnTo>
                      <a:pt x="22402" y="961"/>
                    </a:lnTo>
                    <a:lnTo>
                      <a:pt x="22043" y="795"/>
                    </a:lnTo>
                    <a:lnTo>
                      <a:pt x="21672" y="628"/>
                    </a:lnTo>
                    <a:lnTo>
                      <a:pt x="21300" y="487"/>
                    </a:lnTo>
                    <a:lnTo>
                      <a:pt x="20916" y="359"/>
                    </a:lnTo>
                    <a:lnTo>
                      <a:pt x="20519" y="257"/>
                    </a:lnTo>
                    <a:lnTo>
                      <a:pt x="20122" y="167"/>
                    </a:lnTo>
                    <a:lnTo>
                      <a:pt x="19712" y="90"/>
                    </a:lnTo>
                    <a:lnTo>
                      <a:pt x="19302" y="39"/>
                    </a:lnTo>
                    <a:lnTo>
                      <a:pt x="18880" y="13"/>
                    </a:lnTo>
                    <a:lnTo>
                      <a:pt x="1845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2074;p40">
                <a:extLst>
                  <a:ext uri="{FF2B5EF4-FFF2-40B4-BE49-F238E27FC236}">
                    <a16:creationId xmlns:a16="http://schemas.microsoft.com/office/drawing/2014/main" id="{732CD821-533B-6A8F-8EC2-5D9A5D207DE0}"/>
                  </a:ext>
                </a:extLst>
              </p:cNvPr>
              <p:cNvSpPr/>
              <p:nvPr/>
            </p:nvSpPr>
            <p:spPr>
              <a:xfrm>
                <a:off x="6390765" y="1919092"/>
                <a:ext cx="141504" cy="141914"/>
              </a:xfrm>
              <a:custGeom>
                <a:avLst/>
                <a:gdLst/>
                <a:ahLst/>
                <a:cxnLst/>
                <a:rect l="l" t="t" r="r" b="b"/>
                <a:pathLst>
                  <a:path w="4484" h="4497" extrusionOk="0">
                    <a:moveTo>
                      <a:pt x="2242" y="1"/>
                    </a:moveTo>
                    <a:lnTo>
                      <a:pt x="2011" y="14"/>
                    </a:lnTo>
                    <a:lnTo>
                      <a:pt x="1793" y="52"/>
                    </a:lnTo>
                    <a:lnTo>
                      <a:pt x="1576" y="103"/>
                    </a:lnTo>
                    <a:lnTo>
                      <a:pt x="1371" y="180"/>
                    </a:lnTo>
                    <a:lnTo>
                      <a:pt x="1166" y="283"/>
                    </a:lnTo>
                    <a:lnTo>
                      <a:pt x="987" y="385"/>
                    </a:lnTo>
                    <a:lnTo>
                      <a:pt x="807" y="526"/>
                    </a:lnTo>
                    <a:lnTo>
                      <a:pt x="654" y="667"/>
                    </a:lnTo>
                    <a:lnTo>
                      <a:pt x="513" y="821"/>
                    </a:lnTo>
                    <a:lnTo>
                      <a:pt x="385" y="1000"/>
                    </a:lnTo>
                    <a:lnTo>
                      <a:pt x="269" y="1179"/>
                    </a:lnTo>
                    <a:lnTo>
                      <a:pt x="167" y="1384"/>
                    </a:lnTo>
                    <a:lnTo>
                      <a:pt x="90" y="1589"/>
                    </a:lnTo>
                    <a:lnTo>
                      <a:pt x="39" y="1807"/>
                    </a:lnTo>
                    <a:lnTo>
                      <a:pt x="0" y="2024"/>
                    </a:lnTo>
                    <a:lnTo>
                      <a:pt x="0" y="2255"/>
                    </a:lnTo>
                    <a:lnTo>
                      <a:pt x="0" y="2486"/>
                    </a:lnTo>
                    <a:lnTo>
                      <a:pt x="39" y="2703"/>
                    </a:lnTo>
                    <a:lnTo>
                      <a:pt x="90" y="2921"/>
                    </a:lnTo>
                    <a:lnTo>
                      <a:pt x="167" y="3126"/>
                    </a:lnTo>
                    <a:lnTo>
                      <a:pt x="269" y="3331"/>
                    </a:lnTo>
                    <a:lnTo>
                      <a:pt x="385" y="3510"/>
                    </a:lnTo>
                    <a:lnTo>
                      <a:pt x="513" y="3677"/>
                    </a:lnTo>
                    <a:lnTo>
                      <a:pt x="654" y="3843"/>
                    </a:lnTo>
                    <a:lnTo>
                      <a:pt x="807" y="3984"/>
                    </a:lnTo>
                    <a:lnTo>
                      <a:pt x="987" y="4112"/>
                    </a:lnTo>
                    <a:lnTo>
                      <a:pt x="1166" y="4227"/>
                    </a:lnTo>
                    <a:lnTo>
                      <a:pt x="1371" y="4330"/>
                    </a:lnTo>
                    <a:lnTo>
                      <a:pt x="1576" y="4394"/>
                    </a:lnTo>
                    <a:lnTo>
                      <a:pt x="1793" y="4458"/>
                    </a:lnTo>
                    <a:lnTo>
                      <a:pt x="2011" y="4484"/>
                    </a:lnTo>
                    <a:lnTo>
                      <a:pt x="2242" y="4496"/>
                    </a:lnTo>
                    <a:lnTo>
                      <a:pt x="2472" y="4484"/>
                    </a:lnTo>
                    <a:lnTo>
                      <a:pt x="2690" y="4458"/>
                    </a:lnTo>
                    <a:lnTo>
                      <a:pt x="2908" y="4394"/>
                    </a:lnTo>
                    <a:lnTo>
                      <a:pt x="3113" y="4330"/>
                    </a:lnTo>
                    <a:lnTo>
                      <a:pt x="3318" y="4227"/>
                    </a:lnTo>
                    <a:lnTo>
                      <a:pt x="3497" y="4112"/>
                    </a:lnTo>
                    <a:lnTo>
                      <a:pt x="3676" y="3984"/>
                    </a:lnTo>
                    <a:lnTo>
                      <a:pt x="3830" y="3843"/>
                    </a:lnTo>
                    <a:lnTo>
                      <a:pt x="3971" y="3677"/>
                    </a:lnTo>
                    <a:lnTo>
                      <a:pt x="4099" y="3510"/>
                    </a:lnTo>
                    <a:lnTo>
                      <a:pt x="4214" y="3331"/>
                    </a:lnTo>
                    <a:lnTo>
                      <a:pt x="4317" y="3126"/>
                    </a:lnTo>
                    <a:lnTo>
                      <a:pt x="4393" y="2921"/>
                    </a:lnTo>
                    <a:lnTo>
                      <a:pt x="4445" y="2703"/>
                    </a:lnTo>
                    <a:lnTo>
                      <a:pt x="4470" y="2486"/>
                    </a:lnTo>
                    <a:lnTo>
                      <a:pt x="4483" y="2255"/>
                    </a:lnTo>
                    <a:lnTo>
                      <a:pt x="4470" y="2024"/>
                    </a:lnTo>
                    <a:lnTo>
                      <a:pt x="4445" y="1807"/>
                    </a:lnTo>
                    <a:lnTo>
                      <a:pt x="4393" y="1589"/>
                    </a:lnTo>
                    <a:lnTo>
                      <a:pt x="4317" y="1384"/>
                    </a:lnTo>
                    <a:lnTo>
                      <a:pt x="4214" y="1179"/>
                    </a:lnTo>
                    <a:lnTo>
                      <a:pt x="4099" y="1000"/>
                    </a:lnTo>
                    <a:lnTo>
                      <a:pt x="3971" y="821"/>
                    </a:lnTo>
                    <a:lnTo>
                      <a:pt x="3830" y="667"/>
                    </a:lnTo>
                    <a:lnTo>
                      <a:pt x="3676" y="526"/>
                    </a:lnTo>
                    <a:lnTo>
                      <a:pt x="3497" y="385"/>
                    </a:lnTo>
                    <a:lnTo>
                      <a:pt x="3318" y="283"/>
                    </a:lnTo>
                    <a:lnTo>
                      <a:pt x="3113" y="180"/>
                    </a:lnTo>
                    <a:lnTo>
                      <a:pt x="2908" y="103"/>
                    </a:lnTo>
                    <a:lnTo>
                      <a:pt x="2690" y="52"/>
                    </a:lnTo>
                    <a:lnTo>
                      <a:pt x="2472" y="14"/>
                    </a:lnTo>
                    <a:lnTo>
                      <a:pt x="224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2075;p40">
                <a:extLst>
                  <a:ext uri="{FF2B5EF4-FFF2-40B4-BE49-F238E27FC236}">
                    <a16:creationId xmlns:a16="http://schemas.microsoft.com/office/drawing/2014/main" id="{074AC876-AD2A-BF56-0D7C-89AFD95B750E}"/>
                  </a:ext>
                </a:extLst>
              </p:cNvPr>
              <p:cNvSpPr/>
              <p:nvPr/>
            </p:nvSpPr>
            <p:spPr>
              <a:xfrm>
                <a:off x="6244842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2076;p40">
                <a:extLst>
                  <a:ext uri="{FF2B5EF4-FFF2-40B4-BE49-F238E27FC236}">
                    <a16:creationId xmlns:a16="http://schemas.microsoft.com/office/drawing/2014/main" id="{F3685307-594C-8C8D-9AF9-6F0F25D428F8}"/>
                  </a:ext>
                </a:extLst>
              </p:cNvPr>
              <p:cNvSpPr/>
              <p:nvPr/>
            </p:nvSpPr>
            <p:spPr>
              <a:xfrm>
                <a:off x="6323673" y="2482932"/>
                <a:ext cx="3922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3652" extrusionOk="0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077;p40">
                <a:extLst>
                  <a:ext uri="{FF2B5EF4-FFF2-40B4-BE49-F238E27FC236}">
                    <a16:creationId xmlns:a16="http://schemas.microsoft.com/office/drawing/2014/main" id="{95D578C4-6CC9-2692-A8E3-42AD23C25B68}"/>
                  </a:ext>
                </a:extLst>
              </p:cNvPr>
              <p:cNvSpPr/>
              <p:nvPr/>
            </p:nvSpPr>
            <p:spPr>
              <a:xfrm>
                <a:off x="6402473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078;p40">
                <a:extLst>
                  <a:ext uri="{FF2B5EF4-FFF2-40B4-BE49-F238E27FC236}">
                    <a16:creationId xmlns:a16="http://schemas.microsoft.com/office/drawing/2014/main" id="{3E464F75-7735-3B79-E2F5-0A2D20D46B40}"/>
                  </a:ext>
                </a:extLst>
              </p:cNvPr>
              <p:cNvSpPr/>
              <p:nvPr/>
            </p:nvSpPr>
            <p:spPr>
              <a:xfrm>
                <a:off x="6481304" y="2482932"/>
                <a:ext cx="3922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3" h="3652" extrusionOk="0">
                    <a:moveTo>
                      <a:pt x="0" y="1"/>
                    </a:moveTo>
                    <a:lnTo>
                      <a:pt x="0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079;p40">
                <a:extLst>
                  <a:ext uri="{FF2B5EF4-FFF2-40B4-BE49-F238E27FC236}">
                    <a16:creationId xmlns:a16="http://schemas.microsoft.com/office/drawing/2014/main" id="{93999A17-9FE4-6DF5-A169-B59BE32540CD}"/>
                  </a:ext>
                </a:extLst>
              </p:cNvPr>
              <p:cNvSpPr/>
              <p:nvPr/>
            </p:nvSpPr>
            <p:spPr>
              <a:xfrm>
                <a:off x="6560104" y="2482932"/>
                <a:ext cx="39258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43" y="3651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080;p40">
                <a:extLst>
                  <a:ext uri="{FF2B5EF4-FFF2-40B4-BE49-F238E27FC236}">
                    <a16:creationId xmlns:a16="http://schemas.microsoft.com/office/drawing/2014/main" id="{078A1068-87E2-5035-7DA3-C08A91BD490D}"/>
                  </a:ext>
                </a:extLst>
              </p:cNvPr>
              <p:cNvSpPr/>
              <p:nvPr/>
            </p:nvSpPr>
            <p:spPr>
              <a:xfrm>
                <a:off x="6638525" y="2482932"/>
                <a:ext cx="39636" cy="115248"/>
              </a:xfrm>
              <a:custGeom>
                <a:avLst/>
                <a:gdLst/>
                <a:ahLst/>
                <a:cxnLst/>
                <a:rect l="l" t="t" r="r" b="b"/>
                <a:pathLst>
                  <a:path w="1256" h="3652" extrusionOk="0">
                    <a:moveTo>
                      <a:pt x="1" y="1"/>
                    </a:moveTo>
                    <a:lnTo>
                      <a:pt x="1" y="3651"/>
                    </a:lnTo>
                    <a:lnTo>
                      <a:pt x="1256" y="3651"/>
                    </a:lnTo>
                    <a:lnTo>
                      <a:pt x="1256" y="1"/>
                    </a:lnTo>
                    <a:close/>
                  </a:path>
                </a:pathLst>
              </a:custGeom>
              <a:solidFill>
                <a:srgbClr val="F9CDD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081;p40">
                <a:extLst>
                  <a:ext uri="{FF2B5EF4-FFF2-40B4-BE49-F238E27FC236}">
                    <a16:creationId xmlns:a16="http://schemas.microsoft.com/office/drawing/2014/main" id="{F4D62F76-FD95-4F5F-A0A4-D73416EA7946}"/>
                  </a:ext>
                </a:extLst>
              </p:cNvPr>
              <p:cNvSpPr/>
              <p:nvPr/>
            </p:nvSpPr>
            <p:spPr>
              <a:xfrm>
                <a:off x="6659542" y="1637787"/>
                <a:ext cx="263978" cy="391692"/>
              </a:xfrm>
              <a:custGeom>
                <a:avLst/>
                <a:gdLst/>
                <a:ahLst/>
                <a:cxnLst/>
                <a:rect l="l" t="t" r="r" b="b"/>
                <a:pathLst>
                  <a:path w="8365" h="12412" extrusionOk="0">
                    <a:moveTo>
                      <a:pt x="8364" y="1"/>
                    </a:moveTo>
                    <a:lnTo>
                      <a:pt x="1" y="6200"/>
                    </a:lnTo>
                    <a:lnTo>
                      <a:pt x="3062" y="6200"/>
                    </a:lnTo>
                    <a:lnTo>
                      <a:pt x="1" y="12411"/>
                    </a:lnTo>
                    <a:lnTo>
                      <a:pt x="8364" y="6200"/>
                    </a:lnTo>
                    <a:lnTo>
                      <a:pt x="5303" y="6200"/>
                    </a:lnTo>
                    <a:lnTo>
                      <a:pt x="836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082;p40">
                <a:extLst>
                  <a:ext uri="{FF2B5EF4-FFF2-40B4-BE49-F238E27FC236}">
                    <a16:creationId xmlns:a16="http://schemas.microsoft.com/office/drawing/2014/main" id="{540C653E-E2FE-9C17-77F8-430527D48EC2}"/>
                  </a:ext>
                </a:extLst>
              </p:cNvPr>
              <p:cNvSpPr/>
              <p:nvPr/>
            </p:nvSpPr>
            <p:spPr>
              <a:xfrm>
                <a:off x="6034667" y="1487825"/>
                <a:ext cx="264357" cy="392102"/>
              </a:xfrm>
              <a:custGeom>
                <a:avLst/>
                <a:gdLst/>
                <a:ahLst/>
                <a:cxnLst/>
                <a:rect l="l" t="t" r="r" b="b"/>
                <a:pathLst>
                  <a:path w="8377" h="12425" extrusionOk="0">
                    <a:moveTo>
                      <a:pt x="1" y="1"/>
                    </a:moveTo>
                    <a:lnTo>
                      <a:pt x="3075" y="6213"/>
                    </a:lnTo>
                    <a:lnTo>
                      <a:pt x="1" y="6213"/>
                    </a:lnTo>
                    <a:lnTo>
                      <a:pt x="8377" y="12424"/>
                    </a:lnTo>
                    <a:lnTo>
                      <a:pt x="5316" y="6213"/>
                    </a:lnTo>
                    <a:lnTo>
                      <a:pt x="8377" y="621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083;p40">
                <a:extLst>
                  <a:ext uri="{FF2B5EF4-FFF2-40B4-BE49-F238E27FC236}">
                    <a16:creationId xmlns:a16="http://schemas.microsoft.com/office/drawing/2014/main" id="{A76DF677-80D1-0DAD-6C4F-6DF8EF65C1DC}"/>
                  </a:ext>
                </a:extLst>
              </p:cNvPr>
              <p:cNvSpPr/>
              <p:nvPr/>
            </p:nvSpPr>
            <p:spPr>
              <a:xfrm>
                <a:off x="5816003" y="2744860"/>
                <a:ext cx="603474" cy="155231"/>
              </a:xfrm>
              <a:custGeom>
                <a:avLst/>
                <a:gdLst/>
                <a:ahLst/>
                <a:cxnLst/>
                <a:rect l="l" t="t" r="r" b="b"/>
                <a:pathLst>
                  <a:path w="19123" h="4919" extrusionOk="0">
                    <a:moveTo>
                      <a:pt x="718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16"/>
                    </a:lnTo>
                    <a:lnTo>
                      <a:pt x="205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3" y="564"/>
                    </a:lnTo>
                    <a:lnTo>
                      <a:pt x="1" y="718"/>
                    </a:lnTo>
                    <a:lnTo>
                      <a:pt x="13" y="859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5" y="1217"/>
                    </a:lnTo>
                    <a:lnTo>
                      <a:pt x="308" y="1307"/>
                    </a:lnTo>
                    <a:lnTo>
                      <a:pt x="436" y="1371"/>
                    </a:lnTo>
                    <a:lnTo>
                      <a:pt x="564" y="1409"/>
                    </a:lnTo>
                    <a:lnTo>
                      <a:pt x="718" y="1435"/>
                    </a:lnTo>
                    <a:lnTo>
                      <a:pt x="14550" y="1435"/>
                    </a:lnTo>
                    <a:lnTo>
                      <a:pt x="17906" y="4714"/>
                    </a:lnTo>
                    <a:lnTo>
                      <a:pt x="18021" y="4803"/>
                    </a:lnTo>
                    <a:lnTo>
                      <a:pt x="18136" y="4867"/>
                    </a:lnTo>
                    <a:lnTo>
                      <a:pt x="18277" y="4906"/>
                    </a:lnTo>
                    <a:lnTo>
                      <a:pt x="18405" y="4919"/>
                    </a:lnTo>
                    <a:lnTo>
                      <a:pt x="18546" y="4906"/>
                    </a:lnTo>
                    <a:lnTo>
                      <a:pt x="18674" y="4867"/>
                    </a:lnTo>
                    <a:lnTo>
                      <a:pt x="18802" y="4803"/>
                    </a:lnTo>
                    <a:lnTo>
                      <a:pt x="18918" y="4701"/>
                    </a:lnTo>
                    <a:lnTo>
                      <a:pt x="19007" y="4598"/>
                    </a:lnTo>
                    <a:lnTo>
                      <a:pt x="19071" y="4470"/>
                    </a:lnTo>
                    <a:lnTo>
                      <a:pt x="19110" y="4329"/>
                    </a:lnTo>
                    <a:lnTo>
                      <a:pt x="19123" y="4201"/>
                    </a:lnTo>
                    <a:lnTo>
                      <a:pt x="19110" y="4060"/>
                    </a:lnTo>
                    <a:lnTo>
                      <a:pt x="19071" y="3932"/>
                    </a:lnTo>
                    <a:lnTo>
                      <a:pt x="18995" y="3804"/>
                    </a:lnTo>
                    <a:lnTo>
                      <a:pt x="18905" y="3689"/>
                    </a:lnTo>
                    <a:lnTo>
                      <a:pt x="15344" y="205"/>
                    </a:lnTo>
                    <a:lnTo>
                      <a:pt x="15229" y="116"/>
                    </a:lnTo>
                    <a:lnTo>
                      <a:pt x="15114" y="52"/>
                    </a:lnTo>
                    <a:lnTo>
                      <a:pt x="14973" y="13"/>
                    </a:lnTo>
                    <a:lnTo>
                      <a:pt x="1484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2084;p40">
                <a:extLst>
                  <a:ext uri="{FF2B5EF4-FFF2-40B4-BE49-F238E27FC236}">
                    <a16:creationId xmlns:a16="http://schemas.microsoft.com/office/drawing/2014/main" id="{B15BDFBD-FF15-4E6F-478C-6425F70DA1B1}"/>
                  </a:ext>
                </a:extLst>
              </p:cNvPr>
              <p:cNvSpPr/>
              <p:nvPr/>
            </p:nvSpPr>
            <p:spPr>
              <a:xfrm>
                <a:off x="5672100" y="3007988"/>
                <a:ext cx="371495" cy="44875"/>
              </a:xfrm>
              <a:custGeom>
                <a:avLst/>
                <a:gdLst/>
                <a:ahLst/>
                <a:cxnLst/>
                <a:rect l="l" t="t" r="r" b="b"/>
                <a:pathLst>
                  <a:path w="11772" h="1422" extrusionOk="0">
                    <a:moveTo>
                      <a:pt x="718" y="0"/>
                    </a:moveTo>
                    <a:lnTo>
                      <a:pt x="577" y="13"/>
                    </a:lnTo>
                    <a:lnTo>
                      <a:pt x="436" y="52"/>
                    </a:lnTo>
                    <a:lnTo>
                      <a:pt x="321" y="116"/>
                    </a:lnTo>
                    <a:lnTo>
                      <a:pt x="206" y="205"/>
                    </a:lnTo>
                    <a:lnTo>
                      <a:pt x="116" y="308"/>
                    </a:lnTo>
                    <a:lnTo>
                      <a:pt x="52" y="436"/>
                    </a:lnTo>
                    <a:lnTo>
                      <a:pt x="14" y="564"/>
                    </a:lnTo>
                    <a:lnTo>
                      <a:pt x="1" y="718"/>
                    </a:lnTo>
                    <a:lnTo>
                      <a:pt x="14" y="858"/>
                    </a:lnTo>
                    <a:lnTo>
                      <a:pt x="52" y="987"/>
                    </a:lnTo>
                    <a:lnTo>
                      <a:pt x="116" y="1115"/>
                    </a:lnTo>
                    <a:lnTo>
                      <a:pt x="206" y="1217"/>
                    </a:lnTo>
                    <a:lnTo>
                      <a:pt x="321" y="1307"/>
                    </a:lnTo>
                    <a:lnTo>
                      <a:pt x="436" y="1371"/>
                    </a:lnTo>
                    <a:lnTo>
                      <a:pt x="577" y="1409"/>
                    </a:lnTo>
                    <a:lnTo>
                      <a:pt x="718" y="1422"/>
                    </a:lnTo>
                    <a:lnTo>
                      <a:pt x="11054" y="1422"/>
                    </a:lnTo>
                    <a:lnTo>
                      <a:pt x="11195" y="1409"/>
                    </a:lnTo>
                    <a:lnTo>
                      <a:pt x="11323" y="1371"/>
                    </a:lnTo>
                    <a:lnTo>
                      <a:pt x="11451" y="1307"/>
                    </a:lnTo>
                    <a:lnTo>
                      <a:pt x="11554" y="1217"/>
                    </a:lnTo>
                    <a:lnTo>
                      <a:pt x="11643" y="1115"/>
                    </a:lnTo>
                    <a:lnTo>
                      <a:pt x="11707" y="987"/>
                    </a:lnTo>
                    <a:lnTo>
                      <a:pt x="11746" y="858"/>
                    </a:lnTo>
                    <a:lnTo>
                      <a:pt x="11771" y="718"/>
                    </a:lnTo>
                    <a:lnTo>
                      <a:pt x="11746" y="564"/>
                    </a:lnTo>
                    <a:lnTo>
                      <a:pt x="11707" y="436"/>
                    </a:lnTo>
                    <a:lnTo>
                      <a:pt x="11643" y="308"/>
                    </a:lnTo>
                    <a:lnTo>
                      <a:pt x="11554" y="205"/>
                    </a:lnTo>
                    <a:lnTo>
                      <a:pt x="11451" y="116"/>
                    </a:lnTo>
                    <a:lnTo>
                      <a:pt x="11323" y="52"/>
                    </a:lnTo>
                    <a:lnTo>
                      <a:pt x="11195" y="13"/>
                    </a:lnTo>
                    <a:lnTo>
                      <a:pt x="11054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2085;p40">
                <a:extLst>
                  <a:ext uri="{FF2B5EF4-FFF2-40B4-BE49-F238E27FC236}">
                    <a16:creationId xmlns:a16="http://schemas.microsoft.com/office/drawing/2014/main" id="{CCA8F528-8DEF-86EE-ECC2-570FE09E1E0A}"/>
                  </a:ext>
                </a:extLst>
              </p:cNvPr>
              <p:cNvSpPr/>
              <p:nvPr/>
            </p:nvSpPr>
            <p:spPr>
              <a:xfrm>
                <a:off x="5816003" y="3109824"/>
                <a:ext cx="405419" cy="159302"/>
              </a:xfrm>
              <a:custGeom>
                <a:avLst/>
                <a:gdLst/>
                <a:ahLst/>
                <a:cxnLst/>
                <a:rect l="l" t="t" r="r" b="b"/>
                <a:pathLst>
                  <a:path w="12847" h="5048" extrusionOk="0">
                    <a:moveTo>
                      <a:pt x="12078" y="1"/>
                    </a:moveTo>
                    <a:lnTo>
                      <a:pt x="11937" y="14"/>
                    </a:lnTo>
                    <a:lnTo>
                      <a:pt x="11809" y="65"/>
                    </a:lnTo>
                    <a:lnTo>
                      <a:pt x="11694" y="155"/>
                    </a:lnTo>
                    <a:lnTo>
                      <a:pt x="7352" y="3613"/>
                    </a:lnTo>
                    <a:lnTo>
                      <a:pt x="718" y="3613"/>
                    </a:lnTo>
                    <a:lnTo>
                      <a:pt x="564" y="3626"/>
                    </a:lnTo>
                    <a:lnTo>
                      <a:pt x="436" y="3664"/>
                    </a:lnTo>
                    <a:lnTo>
                      <a:pt x="308" y="3728"/>
                    </a:lnTo>
                    <a:lnTo>
                      <a:pt x="205" y="3818"/>
                    </a:lnTo>
                    <a:lnTo>
                      <a:pt x="116" y="3920"/>
                    </a:lnTo>
                    <a:lnTo>
                      <a:pt x="52" y="4048"/>
                    </a:lnTo>
                    <a:lnTo>
                      <a:pt x="13" y="4176"/>
                    </a:lnTo>
                    <a:lnTo>
                      <a:pt x="1" y="4330"/>
                    </a:lnTo>
                    <a:lnTo>
                      <a:pt x="13" y="4471"/>
                    </a:lnTo>
                    <a:lnTo>
                      <a:pt x="52" y="4599"/>
                    </a:lnTo>
                    <a:lnTo>
                      <a:pt x="116" y="4727"/>
                    </a:lnTo>
                    <a:lnTo>
                      <a:pt x="205" y="4829"/>
                    </a:lnTo>
                    <a:lnTo>
                      <a:pt x="308" y="4919"/>
                    </a:lnTo>
                    <a:lnTo>
                      <a:pt x="436" y="4983"/>
                    </a:lnTo>
                    <a:lnTo>
                      <a:pt x="564" y="5022"/>
                    </a:lnTo>
                    <a:lnTo>
                      <a:pt x="718" y="5047"/>
                    </a:lnTo>
                    <a:lnTo>
                      <a:pt x="7608" y="5047"/>
                    </a:lnTo>
                    <a:lnTo>
                      <a:pt x="7724" y="5034"/>
                    </a:lnTo>
                    <a:lnTo>
                      <a:pt x="7839" y="4996"/>
                    </a:lnTo>
                    <a:lnTo>
                      <a:pt x="7954" y="4958"/>
                    </a:lnTo>
                    <a:lnTo>
                      <a:pt x="8057" y="4881"/>
                    </a:lnTo>
                    <a:lnTo>
                      <a:pt x="12578" y="1269"/>
                    </a:lnTo>
                    <a:lnTo>
                      <a:pt x="12693" y="1166"/>
                    </a:lnTo>
                    <a:lnTo>
                      <a:pt x="12770" y="1051"/>
                    </a:lnTo>
                    <a:lnTo>
                      <a:pt x="12821" y="923"/>
                    </a:lnTo>
                    <a:lnTo>
                      <a:pt x="12847" y="795"/>
                    </a:lnTo>
                    <a:lnTo>
                      <a:pt x="12847" y="654"/>
                    </a:lnTo>
                    <a:lnTo>
                      <a:pt x="12821" y="513"/>
                    </a:lnTo>
                    <a:lnTo>
                      <a:pt x="12770" y="385"/>
                    </a:lnTo>
                    <a:lnTo>
                      <a:pt x="12693" y="257"/>
                    </a:lnTo>
                    <a:lnTo>
                      <a:pt x="12591" y="155"/>
                    </a:lnTo>
                    <a:lnTo>
                      <a:pt x="12475" y="78"/>
                    </a:lnTo>
                    <a:lnTo>
                      <a:pt x="12347" y="27"/>
                    </a:lnTo>
                    <a:lnTo>
                      <a:pt x="12219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Google Shape;2086;p40">
                <a:extLst>
                  <a:ext uri="{FF2B5EF4-FFF2-40B4-BE49-F238E27FC236}">
                    <a16:creationId xmlns:a16="http://schemas.microsoft.com/office/drawing/2014/main" id="{DFD49557-4860-AB4D-9367-DAD5D126A18C}"/>
                  </a:ext>
                </a:extLst>
              </p:cNvPr>
              <p:cNvSpPr/>
              <p:nvPr/>
            </p:nvSpPr>
            <p:spPr>
              <a:xfrm>
                <a:off x="6701577" y="2532667"/>
                <a:ext cx="196856" cy="210615"/>
              </a:xfrm>
              <a:custGeom>
                <a:avLst/>
                <a:gdLst/>
                <a:ahLst/>
                <a:cxnLst/>
                <a:rect l="l" t="t" r="r" b="b"/>
                <a:pathLst>
                  <a:path w="6238" h="6674" extrusionOk="0">
                    <a:moveTo>
                      <a:pt x="5521" y="0"/>
                    </a:moveTo>
                    <a:lnTo>
                      <a:pt x="5367" y="13"/>
                    </a:lnTo>
                    <a:lnTo>
                      <a:pt x="5239" y="64"/>
                    </a:lnTo>
                    <a:lnTo>
                      <a:pt x="5124" y="128"/>
                    </a:lnTo>
                    <a:lnTo>
                      <a:pt x="5008" y="218"/>
                    </a:lnTo>
                    <a:lnTo>
                      <a:pt x="4919" y="320"/>
                    </a:lnTo>
                    <a:lnTo>
                      <a:pt x="4855" y="436"/>
                    </a:lnTo>
                    <a:lnTo>
                      <a:pt x="4816" y="577"/>
                    </a:lnTo>
                    <a:lnTo>
                      <a:pt x="4804" y="717"/>
                    </a:lnTo>
                    <a:lnTo>
                      <a:pt x="4804" y="5251"/>
                    </a:lnTo>
                    <a:lnTo>
                      <a:pt x="705" y="5251"/>
                    </a:lnTo>
                    <a:lnTo>
                      <a:pt x="564" y="5264"/>
                    </a:lnTo>
                    <a:lnTo>
                      <a:pt x="436" y="5303"/>
                    </a:lnTo>
                    <a:lnTo>
                      <a:pt x="308" y="5367"/>
                    </a:lnTo>
                    <a:lnTo>
                      <a:pt x="205" y="5456"/>
                    </a:lnTo>
                    <a:lnTo>
                      <a:pt x="116" y="5559"/>
                    </a:lnTo>
                    <a:lnTo>
                      <a:pt x="52" y="5687"/>
                    </a:lnTo>
                    <a:lnTo>
                      <a:pt x="13" y="5815"/>
                    </a:lnTo>
                    <a:lnTo>
                      <a:pt x="1" y="5969"/>
                    </a:lnTo>
                    <a:lnTo>
                      <a:pt x="13" y="6110"/>
                    </a:lnTo>
                    <a:lnTo>
                      <a:pt x="52" y="6238"/>
                    </a:lnTo>
                    <a:lnTo>
                      <a:pt x="116" y="6366"/>
                    </a:lnTo>
                    <a:lnTo>
                      <a:pt x="205" y="6468"/>
                    </a:lnTo>
                    <a:lnTo>
                      <a:pt x="308" y="6558"/>
                    </a:lnTo>
                    <a:lnTo>
                      <a:pt x="436" y="6622"/>
                    </a:lnTo>
                    <a:lnTo>
                      <a:pt x="564" y="6660"/>
                    </a:lnTo>
                    <a:lnTo>
                      <a:pt x="705" y="6673"/>
                    </a:lnTo>
                    <a:lnTo>
                      <a:pt x="5521" y="6673"/>
                    </a:lnTo>
                    <a:lnTo>
                      <a:pt x="5662" y="6660"/>
                    </a:lnTo>
                    <a:lnTo>
                      <a:pt x="5803" y="6622"/>
                    </a:lnTo>
                    <a:lnTo>
                      <a:pt x="5918" y="6558"/>
                    </a:lnTo>
                    <a:lnTo>
                      <a:pt x="6020" y="6468"/>
                    </a:lnTo>
                    <a:lnTo>
                      <a:pt x="6110" y="6366"/>
                    </a:lnTo>
                    <a:lnTo>
                      <a:pt x="6174" y="6238"/>
                    </a:lnTo>
                    <a:lnTo>
                      <a:pt x="6225" y="6110"/>
                    </a:lnTo>
                    <a:lnTo>
                      <a:pt x="6238" y="5969"/>
                    </a:lnTo>
                    <a:lnTo>
                      <a:pt x="6238" y="717"/>
                    </a:lnTo>
                    <a:lnTo>
                      <a:pt x="6225" y="577"/>
                    </a:lnTo>
                    <a:lnTo>
                      <a:pt x="6174" y="436"/>
                    </a:lnTo>
                    <a:lnTo>
                      <a:pt x="6110" y="320"/>
                    </a:lnTo>
                    <a:lnTo>
                      <a:pt x="6020" y="218"/>
                    </a:lnTo>
                    <a:lnTo>
                      <a:pt x="5918" y="128"/>
                    </a:lnTo>
                    <a:lnTo>
                      <a:pt x="5803" y="64"/>
                    </a:lnTo>
                    <a:lnTo>
                      <a:pt x="5662" y="13"/>
                    </a:lnTo>
                    <a:lnTo>
                      <a:pt x="552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Google Shape;2087;p40">
                <a:extLst>
                  <a:ext uri="{FF2B5EF4-FFF2-40B4-BE49-F238E27FC236}">
                    <a16:creationId xmlns:a16="http://schemas.microsoft.com/office/drawing/2014/main" id="{70F21A4C-11FD-3334-5436-9526331A7060}"/>
                  </a:ext>
                </a:extLst>
              </p:cNvPr>
              <p:cNvSpPr/>
              <p:nvPr/>
            </p:nvSpPr>
            <p:spPr>
              <a:xfrm>
                <a:off x="6636915" y="2872164"/>
                <a:ext cx="590535" cy="180698"/>
              </a:xfrm>
              <a:custGeom>
                <a:avLst/>
                <a:gdLst/>
                <a:ahLst/>
                <a:cxnLst/>
                <a:rect l="l" t="t" r="r" b="b"/>
                <a:pathLst>
                  <a:path w="18713" h="5726" extrusionOk="0">
                    <a:moveTo>
                      <a:pt x="9747" y="1"/>
                    </a:moveTo>
                    <a:lnTo>
                      <a:pt x="9657" y="14"/>
                    </a:lnTo>
                    <a:lnTo>
                      <a:pt x="9581" y="39"/>
                    </a:lnTo>
                    <a:lnTo>
                      <a:pt x="9504" y="78"/>
                    </a:lnTo>
                    <a:lnTo>
                      <a:pt x="9427" y="129"/>
                    </a:lnTo>
                    <a:lnTo>
                      <a:pt x="9363" y="180"/>
                    </a:lnTo>
                    <a:lnTo>
                      <a:pt x="9299" y="244"/>
                    </a:lnTo>
                    <a:lnTo>
                      <a:pt x="9248" y="308"/>
                    </a:lnTo>
                    <a:lnTo>
                      <a:pt x="6545" y="4304"/>
                    </a:lnTo>
                    <a:lnTo>
                      <a:pt x="718" y="4304"/>
                    </a:lnTo>
                    <a:lnTo>
                      <a:pt x="564" y="4317"/>
                    </a:lnTo>
                    <a:lnTo>
                      <a:pt x="436" y="4356"/>
                    </a:lnTo>
                    <a:lnTo>
                      <a:pt x="308" y="4420"/>
                    </a:lnTo>
                    <a:lnTo>
                      <a:pt x="205" y="4509"/>
                    </a:lnTo>
                    <a:lnTo>
                      <a:pt x="116" y="4612"/>
                    </a:lnTo>
                    <a:lnTo>
                      <a:pt x="52" y="4740"/>
                    </a:lnTo>
                    <a:lnTo>
                      <a:pt x="13" y="4868"/>
                    </a:lnTo>
                    <a:lnTo>
                      <a:pt x="0" y="5022"/>
                    </a:lnTo>
                    <a:lnTo>
                      <a:pt x="13" y="5162"/>
                    </a:lnTo>
                    <a:lnTo>
                      <a:pt x="52" y="5291"/>
                    </a:lnTo>
                    <a:lnTo>
                      <a:pt x="116" y="5419"/>
                    </a:lnTo>
                    <a:lnTo>
                      <a:pt x="205" y="5521"/>
                    </a:lnTo>
                    <a:lnTo>
                      <a:pt x="308" y="5611"/>
                    </a:lnTo>
                    <a:lnTo>
                      <a:pt x="436" y="5675"/>
                    </a:lnTo>
                    <a:lnTo>
                      <a:pt x="564" y="5713"/>
                    </a:lnTo>
                    <a:lnTo>
                      <a:pt x="718" y="5726"/>
                    </a:lnTo>
                    <a:lnTo>
                      <a:pt x="7006" y="5726"/>
                    </a:lnTo>
                    <a:lnTo>
                      <a:pt x="7096" y="5713"/>
                    </a:lnTo>
                    <a:lnTo>
                      <a:pt x="7173" y="5688"/>
                    </a:lnTo>
                    <a:lnTo>
                      <a:pt x="7250" y="5649"/>
                    </a:lnTo>
                    <a:lnTo>
                      <a:pt x="7326" y="5598"/>
                    </a:lnTo>
                    <a:lnTo>
                      <a:pt x="7390" y="5547"/>
                    </a:lnTo>
                    <a:lnTo>
                      <a:pt x="7454" y="5483"/>
                    </a:lnTo>
                    <a:lnTo>
                      <a:pt x="7506" y="5419"/>
                    </a:lnTo>
                    <a:lnTo>
                      <a:pt x="10221" y="1423"/>
                    </a:lnTo>
                    <a:lnTo>
                      <a:pt x="18008" y="1423"/>
                    </a:lnTo>
                    <a:lnTo>
                      <a:pt x="18149" y="1410"/>
                    </a:lnTo>
                    <a:lnTo>
                      <a:pt x="18277" y="1371"/>
                    </a:lnTo>
                    <a:lnTo>
                      <a:pt x="18405" y="1307"/>
                    </a:lnTo>
                    <a:lnTo>
                      <a:pt x="18508" y="1218"/>
                    </a:lnTo>
                    <a:lnTo>
                      <a:pt x="18597" y="1115"/>
                    </a:lnTo>
                    <a:lnTo>
                      <a:pt x="18661" y="987"/>
                    </a:lnTo>
                    <a:lnTo>
                      <a:pt x="18700" y="859"/>
                    </a:lnTo>
                    <a:lnTo>
                      <a:pt x="18713" y="718"/>
                    </a:lnTo>
                    <a:lnTo>
                      <a:pt x="18700" y="564"/>
                    </a:lnTo>
                    <a:lnTo>
                      <a:pt x="18661" y="436"/>
                    </a:lnTo>
                    <a:lnTo>
                      <a:pt x="18597" y="308"/>
                    </a:lnTo>
                    <a:lnTo>
                      <a:pt x="18508" y="206"/>
                    </a:lnTo>
                    <a:lnTo>
                      <a:pt x="18405" y="116"/>
                    </a:lnTo>
                    <a:lnTo>
                      <a:pt x="18277" y="52"/>
                    </a:lnTo>
                    <a:lnTo>
                      <a:pt x="18149" y="14"/>
                    </a:lnTo>
                    <a:lnTo>
                      <a:pt x="1800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2088;p40">
                <a:extLst>
                  <a:ext uri="{FF2B5EF4-FFF2-40B4-BE49-F238E27FC236}">
                    <a16:creationId xmlns:a16="http://schemas.microsoft.com/office/drawing/2014/main" id="{0FB7896B-B3DC-0C65-87A6-F17D5225BE17}"/>
                  </a:ext>
                </a:extLst>
              </p:cNvPr>
              <p:cNvSpPr/>
              <p:nvPr/>
            </p:nvSpPr>
            <p:spPr>
              <a:xfrm>
                <a:off x="6767059" y="3199574"/>
                <a:ext cx="154032" cy="221123"/>
              </a:xfrm>
              <a:custGeom>
                <a:avLst/>
                <a:gdLst/>
                <a:ahLst/>
                <a:cxnLst/>
                <a:rect l="l" t="t" r="r" b="b"/>
                <a:pathLst>
                  <a:path w="4881" h="7007" extrusionOk="0">
                    <a:moveTo>
                      <a:pt x="718" y="0"/>
                    </a:moveTo>
                    <a:lnTo>
                      <a:pt x="577" y="26"/>
                    </a:lnTo>
                    <a:lnTo>
                      <a:pt x="436" y="64"/>
                    </a:lnTo>
                    <a:lnTo>
                      <a:pt x="321" y="128"/>
                    </a:lnTo>
                    <a:lnTo>
                      <a:pt x="205" y="218"/>
                    </a:lnTo>
                    <a:lnTo>
                      <a:pt x="129" y="320"/>
                    </a:lnTo>
                    <a:lnTo>
                      <a:pt x="52" y="449"/>
                    </a:lnTo>
                    <a:lnTo>
                      <a:pt x="13" y="577"/>
                    </a:lnTo>
                    <a:lnTo>
                      <a:pt x="0" y="718"/>
                    </a:lnTo>
                    <a:lnTo>
                      <a:pt x="0" y="6289"/>
                    </a:lnTo>
                    <a:lnTo>
                      <a:pt x="13" y="6430"/>
                    </a:lnTo>
                    <a:lnTo>
                      <a:pt x="52" y="6571"/>
                    </a:lnTo>
                    <a:lnTo>
                      <a:pt x="129" y="6686"/>
                    </a:lnTo>
                    <a:lnTo>
                      <a:pt x="205" y="6788"/>
                    </a:lnTo>
                    <a:lnTo>
                      <a:pt x="321" y="6878"/>
                    </a:lnTo>
                    <a:lnTo>
                      <a:pt x="436" y="6942"/>
                    </a:lnTo>
                    <a:lnTo>
                      <a:pt x="577" y="6993"/>
                    </a:lnTo>
                    <a:lnTo>
                      <a:pt x="718" y="7006"/>
                    </a:lnTo>
                    <a:lnTo>
                      <a:pt x="859" y="6993"/>
                    </a:lnTo>
                    <a:lnTo>
                      <a:pt x="999" y="6942"/>
                    </a:lnTo>
                    <a:lnTo>
                      <a:pt x="1115" y="6878"/>
                    </a:lnTo>
                    <a:lnTo>
                      <a:pt x="1217" y="6788"/>
                    </a:lnTo>
                    <a:lnTo>
                      <a:pt x="1307" y="6686"/>
                    </a:lnTo>
                    <a:lnTo>
                      <a:pt x="1371" y="6571"/>
                    </a:lnTo>
                    <a:lnTo>
                      <a:pt x="1422" y="6430"/>
                    </a:lnTo>
                    <a:lnTo>
                      <a:pt x="1435" y="6289"/>
                    </a:lnTo>
                    <a:lnTo>
                      <a:pt x="1435" y="1435"/>
                    </a:lnTo>
                    <a:lnTo>
                      <a:pt x="4163" y="1435"/>
                    </a:lnTo>
                    <a:lnTo>
                      <a:pt x="4304" y="1422"/>
                    </a:lnTo>
                    <a:lnTo>
                      <a:pt x="4445" y="1384"/>
                    </a:lnTo>
                    <a:lnTo>
                      <a:pt x="4560" y="1319"/>
                    </a:lnTo>
                    <a:lnTo>
                      <a:pt x="4663" y="1230"/>
                    </a:lnTo>
                    <a:lnTo>
                      <a:pt x="4752" y="1127"/>
                    </a:lnTo>
                    <a:lnTo>
                      <a:pt x="4816" y="999"/>
                    </a:lnTo>
                    <a:lnTo>
                      <a:pt x="4867" y="871"/>
                    </a:lnTo>
                    <a:lnTo>
                      <a:pt x="4880" y="718"/>
                    </a:lnTo>
                    <a:lnTo>
                      <a:pt x="4867" y="577"/>
                    </a:lnTo>
                    <a:lnTo>
                      <a:pt x="4816" y="449"/>
                    </a:lnTo>
                    <a:lnTo>
                      <a:pt x="4752" y="320"/>
                    </a:lnTo>
                    <a:lnTo>
                      <a:pt x="4663" y="218"/>
                    </a:lnTo>
                    <a:lnTo>
                      <a:pt x="4560" y="128"/>
                    </a:lnTo>
                    <a:lnTo>
                      <a:pt x="4445" y="64"/>
                    </a:lnTo>
                    <a:lnTo>
                      <a:pt x="4304" y="26"/>
                    </a:lnTo>
                    <a:lnTo>
                      <a:pt x="416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2089;p40">
                <a:extLst>
                  <a:ext uri="{FF2B5EF4-FFF2-40B4-BE49-F238E27FC236}">
                    <a16:creationId xmlns:a16="http://schemas.microsoft.com/office/drawing/2014/main" id="{05582C57-6965-2304-4A4B-CD8678BF393C}"/>
                  </a:ext>
                </a:extLst>
              </p:cNvPr>
              <p:cNvSpPr/>
              <p:nvPr/>
            </p:nvSpPr>
            <p:spPr>
              <a:xfrm>
                <a:off x="6253331" y="3407318"/>
                <a:ext cx="44906" cy="199696"/>
              </a:xfrm>
              <a:custGeom>
                <a:avLst/>
                <a:gdLst/>
                <a:ahLst/>
                <a:cxnLst/>
                <a:rect l="l" t="t" r="r" b="b"/>
                <a:pathLst>
                  <a:path w="1423" h="6328" extrusionOk="0">
                    <a:moveTo>
                      <a:pt x="718" y="1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8" y="129"/>
                    </a:lnTo>
                    <a:lnTo>
                      <a:pt x="206" y="205"/>
                    </a:lnTo>
                    <a:lnTo>
                      <a:pt x="116" y="321"/>
                    </a:lnTo>
                    <a:lnTo>
                      <a:pt x="52" y="436"/>
                    </a:lnTo>
                    <a:lnTo>
                      <a:pt x="13" y="577"/>
                    </a:lnTo>
                    <a:lnTo>
                      <a:pt x="1" y="718"/>
                    </a:lnTo>
                    <a:lnTo>
                      <a:pt x="1" y="5610"/>
                    </a:lnTo>
                    <a:lnTo>
                      <a:pt x="13" y="5764"/>
                    </a:lnTo>
                    <a:lnTo>
                      <a:pt x="52" y="5892"/>
                    </a:lnTo>
                    <a:lnTo>
                      <a:pt x="116" y="6020"/>
                    </a:lnTo>
                    <a:lnTo>
                      <a:pt x="206" y="6123"/>
                    </a:lnTo>
                    <a:lnTo>
                      <a:pt x="308" y="6212"/>
                    </a:lnTo>
                    <a:lnTo>
                      <a:pt x="436" y="6276"/>
                    </a:lnTo>
                    <a:lnTo>
                      <a:pt x="564" y="6315"/>
                    </a:lnTo>
                    <a:lnTo>
                      <a:pt x="718" y="6328"/>
                    </a:lnTo>
                    <a:lnTo>
                      <a:pt x="859" y="6315"/>
                    </a:lnTo>
                    <a:lnTo>
                      <a:pt x="987" y="6276"/>
                    </a:lnTo>
                    <a:lnTo>
                      <a:pt x="1115" y="6212"/>
                    </a:lnTo>
                    <a:lnTo>
                      <a:pt x="1217" y="6123"/>
                    </a:lnTo>
                    <a:lnTo>
                      <a:pt x="1307" y="6020"/>
                    </a:lnTo>
                    <a:lnTo>
                      <a:pt x="1371" y="5892"/>
                    </a:lnTo>
                    <a:lnTo>
                      <a:pt x="1410" y="5764"/>
                    </a:lnTo>
                    <a:lnTo>
                      <a:pt x="1422" y="5610"/>
                    </a:lnTo>
                    <a:lnTo>
                      <a:pt x="1422" y="718"/>
                    </a:lnTo>
                    <a:lnTo>
                      <a:pt x="1410" y="577"/>
                    </a:lnTo>
                    <a:lnTo>
                      <a:pt x="1371" y="436"/>
                    </a:lnTo>
                    <a:lnTo>
                      <a:pt x="1307" y="321"/>
                    </a:lnTo>
                    <a:lnTo>
                      <a:pt x="1217" y="205"/>
                    </a:lnTo>
                    <a:lnTo>
                      <a:pt x="1115" y="129"/>
                    </a:lnTo>
                    <a:lnTo>
                      <a:pt x="987" y="52"/>
                    </a:lnTo>
                    <a:lnTo>
                      <a:pt x="859" y="13"/>
                    </a:lnTo>
                    <a:lnTo>
                      <a:pt x="71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2090;p40">
                <a:extLst>
                  <a:ext uri="{FF2B5EF4-FFF2-40B4-BE49-F238E27FC236}">
                    <a16:creationId xmlns:a16="http://schemas.microsoft.com/office/drawing/2014/main" id="{76C6F7F2-07CB-F16C-9B25-7A9C00162464}"/>
                  </a:ext>
                </a:extLst>
              </p:cNvPr>
              <p:cNvSpPr/>
              <p:nvPr/>
            </p:nvSpPr>
            <p:spPr>
              <a:xfrm>
                <a:off x="6399664" y="3287683"/>
                <a:ext cx="150782" cy="147153"/>
              </a:xfrm>
              <a:custGeom>
                <a:avLst/>
                <a:gdLst/>
                <a:ahLst/>
                <a:cxnLst/>
                <a:rect l="l" t="t" r="r" b="b"/>
                <a:pathLst>
                  <a:path w="4778" h="4663" extrusionOk="0">
                    <a:moveTo>
                      <a:pt x="705" y="0"/>
                    </a:moveTo>
                    <a:lnTo>
                      <a:pt x="564" y="13"/>
                    </a:lnTo>
                    <a:lnTo>
                      <a:pt x="436" y="52"/>
                    </a:lnTo>
                    <a:lnTo>
                      <a:pt x="307" y="116"/>
                    </a:lnTo>
                    <a:lnTo>
                      <a:pt x="205" y="218"/>
                    </a:lnTo>
                    <a:lnTo>
                      <a:pt x="115" y="333"/>
                    </a:lnTo>
                    <a:lnTo>
                      <a:pt x="51" y="449"/>
                    </a:lnTo>
                    <a:lnTo>
                      <a:pt x="13" y="590"/>
                    </a:lnTo>
                    <a:lnTo>
                      <a:pt x="0" y="730"/>
                    </a:lnTo>
                    <a:lnTo>
                      <a:pt x="13" y="859"/>
                    </a:lnTo>
                    <a:lnTo>
                      <a:pt x="64" y="987"/>
                    </a:lnTo>
                    <a:lnTo>
                      <a:pt x="128" y="1115"/>
                    </a:lnTo>
                    <a:lnTo>
                      <a:pt x="218" y="1230"/>
                    </a:lnTo>
                    <a:lnTo>
                      <a:pt x="3561" y="4458"/>
                    </a:lnTo>
                    <a:lnTo>
                      <a:pt x="3676" y="4547"/>
                    </a:lnTo>
                    <a:lnTo>
                      <a:pt x="3791" y="4611"/>
                    </a:lnTo>
                    <a:lnTo>
                      <a:pt x="3919" y="4650"/>
                    </a:lnTo>
                    <a:lnTo>
                      <a:pt x="4060" y="4662"/>
                    </a:lnTo>
                    <a:lnTo>
                      <a:pt x="4201" y="4650"/>
                    </a:lnTo>
                    <a:lnTo>
                      <a:pt x="4329" y="4598"/>
                    </a:lnTo>
                    <a:lnTo>
                      <a:pt x="4457" y="4534"/>
                    </a:lnTo>
                    <a:lnTo>
                      <a:pt x="4521" y="4496"/>
                    </a:lnTo>
                    <a:lnTo>
                      <a:pt x="4573" y="4445"/>
                    </a:lnTo>
                    <a:lnTo>
                      <a:pt x="4662" y="4329"/>
                    </a:lnTo>
                    <a:lnTo>
                      <a:pt x="4726" y="4201"/>
                    </a:lnTo>
                    <a:lnTo>
                      <a:pt x="4765" y="4073"/>
                    </a:lnTo>
                    <a:lnTo>
                      <a:pt x="4777" y="3932"/>
                    </a:lnTo>
                    <a:lnTo>
                      <a:pt x="4752" y="3792"/>
                    </a:lnTo>
                    <a:lnTo>
                      <a:pt x="4713" y="3663"/>
                    </a:lnTo>
                    <a:lnTo>
                      <a:pt x="4649" y="3535"/>
                    </a:lnTo>
                    <a:lnTo>
                      <a:pt x="4560" y="3433"/>
                    </a:lnTo>
                    <a:lnTo>
                      <a:pt x="1217" y="193"/>
                    </a:lnTo>
                    <a:lnTo>
                      <a:pt x="1102" y="103"/>
                    </a:lnTo>
                    <a:lnTo>
                      <a:pt x="974" y="39"/>
                    </a:lnTo>
                    <a:lnTo>
                      <a:pt x="845" y="13"/>
                    </a:lnTo>
                    <a:lnTo>
                      <a:pt x="70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2091;p40">
                <a:extLst>
                  <a:ext uri="{FF2B5EF4-FFF2-40B4-BE49-F238E27FC236}">
                    <a16:creationId xmlns:a16="http://schemas.microsoft.com/office/drawing/2014/main" id="{58C27F45-045D-960A-2A6F-126041CC5EE1}"/>
                  </a:ext>
                </a:extLst>
              </p:cNvPr>
              <p:cNvSpPr/>
              <p:nvPr/>
            </p:nvSpPr>
            <p:spPr>
              <a:xfrm>
                <a:off x="5973634" y="2985361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435" y="0"/>
                    </a:moveTo>
                    <a:lnTo>
                      <a:pt x="1281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5"/>
                    </a:lnTo>
                    <a:lnTo>
                      <a:pt x="743" y="179"/>
                    </a:lnTo>
                    <a:lnTo>
                      <a:pt x="628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1" y="1435"/>
                    </a:lnTo>
                    <a:lnTo>
                      <a:pt x="13" y="1575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3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1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2092;p40">
                <a:extLst>
                  <a:ext uri="{FF2B5EF4-FFF2-40B4-BE49-F238E27FC236}">
                    <a16:creationId xmlns:a16="http://schemas.microsoft.com/office/drawing/2014/main" id="{04C5FD68-8E58-E68C-98C7-4B105F0E9998}"/>
                  </a:ext>
                </a:extLst>
              </p:cNvPr>
              <p:cNvSpPr/>
              <p:nvPr/>
            </p:nvSpPr>
            <p:spPr>
              <a:xfrm>
                <a:off x="6351949" y="2832559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8" y="244"/>
                    </a:lnTo>
                    <a:lnTo>
                      <a:pt x="513" y="321"/>
                    </a:lnTo>
                    <a:lnTo>
                      <a:pt x="411" y="411"/>
                    </a:lnTo>
                    <a:lnTo>
                      <a:pt x="321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03" y="872"/>
                    </a:lnTo>
                    <a:lnTo>
                      <a:pt x="65" y="1000"/>
                    </a:lnTo>
                    <a:lnTo>
                      <a:pt x="26" y="1141"/>
                    </a:lnTo>
                    <a:lnTo>
                      <a:pt x="1" y="1281"/>
                    </a:lnTo>
                    <a:lnTo>
                      <a:pt x="1" y="1422"/>
                    </a:lnTo>
                    <a:lnTo>
                      <a:pt x="1" y="1576"/>
                    </a:lnTo>
                    <a:lnTo>
                      <a:pt x="26" y="1717"/>
                    </a:lnTo>
                    <a:lnTo>
                      <a:pt x="65" y="1845"/>
                    </a:lnTo>
                    <a:lnTo>
                      <a:pt x="103" y="1986"/>
                    </a:lnTo>
                    <a:lnTo>
                      <a:pt x="167" y="2101"/>
                    </a:lnTo>
                    <a:lnTo>
                      <a:pt x="244" y="2229"/>
                    </a:lnTo>
                    <a:lnTo>
                      <a:pt x="321" y="2332"/>
                    </a:lnTo>
                    <a:lnTo>
                      <a:pt x="411" y="2434"/>
                    </a:lnTo>
                    <a:lnTo>
                      <a:pt x="513" y="2524"/>
                    </a:lnTo>
                    <a:lnTo>
                      <a:pt x="628" y="2614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22" y="2857"/>
                    </a:lnTo>
                    <a:lnTo>
                      <a:pt x="1563" y="2844"/>
                    </a:lnTo>
                    <a:lnTo>
                      <a:pt x="1717" y="2831"/>
                    </a:lnTo>
                    <a:lnTo>
                      <a:pt x="1845" y="2793"/>
                    </a:lnTo>
                    <a:lnTo>
                      <a:pt x="1973" y="2742"/>
                    </a:lnTo>
                    <a:lnTo>
                      <a:pt x="2101" y="2678"/>
                    </a:lnTo>
                    <a:lnTo>
                      <a:pt x="2217" y="2614"/>
                    </a:lnTo>
                    <a:lnTo>
                      <a:pt x="2332" y="2524"/>
                    </a:lnTo>
                    <a:lnTo>
                      <a:pt x="2434" y="2434"/>
                    </a:lnTo>
                    <a:lnTo>
                      <a:pt x="2524" y="2332"/>
                    </a:lnTo>
                    <a:lnTo>
                      <a:pt x="2614" y="2229"/>
                    </a:lnTo>
                    <a:lnTo>
                      <a:pt x="2678" y="2101"/>
                    </a:lnTo>
                    <a:lnTo>
                      <a:pt x="2742" y="1986"/>
                    </a:lnTo>
                    <a:lnTo>
                      <a:pt x="2793" y="1845"/>
                    </a:lnTo>
                    <a:lnTo>
                      <a:pt x="2819" y="1717"/>
                    </a:lnTo>
                    <a:lnTo>
                      <a:pt x="2844" y="1576"/>
                    </a:lnTo>
                    <a:lnTo>
                      <a:pt x="2857" y="1422"/>
                    </a:lnTo>
                    <a:lnTo>
                      <a:pt x="2844" y="1281"/>
                    </a:lnTo>
                    <a:lnTo>
                      <a:pt x="2819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78" y="744"/>
                    </a:lnTo>
                    <a:lnTo>
                      <a:pt x="2614" y="628"/>
                    </a:lnTo>
                    <a:lnTo>
                      <a:pt x="2524" y="513"/>
                    </a:lnTo>
                    <a:lnTo>
                      <a:pt x="2434" y="411"/>
                    </a:lnTo>
                    <a:lnTo>
                      <a:pt x="2332" y="321"/>
                    </a:lnTo>
                    <a:lnTo>
                      <a:pt x="2217" y="244"/>
                    </a:lnTo>
                    <a:lnTo>
                      <a:pt x="2101" y="167"/>
                    </a:lnTo>
                    <a:lnTo>
                      <a:pt x="1973" y="116"/>
                    </a:lnTo>
                    <a:lnTo>
                      <a:pt x="1845" y="65"/>
                    </a:lnTo>
                    <a:lnTo>
                      <a:pt x="1717" y="26"/>
                    </a:lnTo>
                    <a:lnTo>
                      <a:pt x="156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2093;p40">
                <a:extLst>
                  <a:ext uri="{FF2B5EF4-FFF2-40B4-BE49-F238E27FC236}">
                    <a16:creationId xmlns:a16="http://schemas.microsoft.com/office/drawing/2014/main" id="{2B07B035-0DF3-1DD3-6750-9D5AB595F831}"/>
                  </a:ext>
                </a:extLst>
              </p:cNvPr>
              <p:cNvSpPr/>
              <p:nvPr/>
            </p:nvSpPr>
            <p:spPr>
              <a:xfrm>
                <a:off x="6619937" y="2985361"/>
                <a:ext cx="9057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70" h="2857" extrusionOk="0">
                    <a:moveTo>
                      <a:pt x="1435" y="0"/>
                    </a:moveTo>
                    <a:lnTo>
                      <a:pt x="1294" y="13"/>
                    </a:lnTo>
                    <a:lnTo>
                      <a:pt x="1153" y="26"/>
                    </a:lnTo>
                    <a:lnTo>
                      <a:pt x="1012" y="64"/>
                    </a:lnTo>
                    <a:lnTo>
                      <a:pt x="884" y="115"/>
                    </a:lnTo>
                    <a:lnTo>
                      <a:pt x="756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3" y="423"/>
                    </a:lnTo>
                    <a:lnTo>
                      <a:pt x="333" y="525"/>
                    </a:lnTo>
                    <a:lnTo>
                      <a:pt x="257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39" y="1140"/>
                    </a:lnTo>
                    <a:lnTo>
                      <a:pt x="13" y="1281"/>
                    </a:lnTo>
                    <a:lnTo>
                      <a:pt x="0" y="1435"/>
                    </a:lnTo>
                    <a:lnTo>
                      <a:pt x="13" y="1575"/>
                    </a:lnTo>
                    <a:lnTo>
                      <a:pt x="39" y="1716"/>
                    </a:lnTo>
                    <a:lnTo>
                      <a:pt x="64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57" y="2229"/>
                    </a:lnTo>
                    <a:lnTo>
                      <a:pt x="333" y="2344"/>
                    </a:lnTo>
                    <a:lnTo>
                      <a:pt x="423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6" y="2690"/>
                    </a:lnTo>
                    <a:lnTo>
                      <a:pt x="884" y="2741"/>
                    </a:lnTo>
                    <a:lnTo>
                      <a:pt x="1012" y="2792"/>
                    </a:lnTo>
                    <a:lnTo>
                      <a:pt x="1153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4" y="2536"/>
                    </a:lnTo>
                    <a:lnTo>
                      <a:pt x="2447" y="2434"/>
                    </a:lnTo>
                    <a:lnTo>
                      <a:pt x="2536" y="2344"/>
                    </a:lnTo>
                    <a:lnTo>
                      <a:pt x="2613" y="2229"/>
                    </a:lnTo>
                    <a:lnTo>
                      <a:pt x="2690" y="2113"/>
                    </a:lnTo>
                    <a:lnTo>
                      <a:pt x="2754" y="1985"/>
                    </a:lnTo>
                    <a:lnTo>
                      <a:pt x="2805" y="1857"/>
                    </a:lnTo>
                    <a:lnTo>
                      <a:pt x="2831" y="1716"/>
                    </a:lnTo>
                    <a:lnTo>
                      <a:pt x="2857" y="1575"/>
                    </a:lnTo>
                    <a:lnTo>
                      <a:pt x="2869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805" y="999"/>
                    </a:lnTo>
                    <a:lnTo>
                      <a:pt x="2754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25"/>
                    </a:lnTo>
                    <a:lnTo>
                      <a:pt x="2447" y="423"/>
                    </a:lnTo>
                    <a:lnTo>
                      <a:pt x="2344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2094;p40">
                <a:extLst>
                  <a:ext uri="{FF2B5EF4-FFF2-40B4-BE49-F238E27FC236}">
                    <a16:creationId xmlns:a16="http://schemas.microsoft.com/office/drawing/2014/main" id="{29E2D332-36DA-430D-E456-CDB8A0F943F1}"/>
                  </a:ext>
                </a:extLst>
              </p:cNvPr>
              <p:cNvSpPr/>
              <p:nvPr/>
            </p:nvSpPr>
            <p:spPr>
              <a:xfrm>
                <a:off x="6853149" y="3177326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1" y="1"/>
                    </a:moveTo>
                    <a:lnTo>
                      <a:pt x="1140" y="26"/>
                    </a:lnTo>
                    <a:lnTo>
                      <a:pt x="1012" y="65"/>
                    </a:lnTo>
                    <a:lnTo>
                      <a:pt x="871" y="103"/>
                    </a:lnTo>
                    <a:lnTo>
                      <a:pt x="756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80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39" y="1141"/>
                    </a:lnTo>
                    <a:lnTo>
                      <a:pt x="13" y="1282"/>
                    </a:lnTo>
                    <a:lnTo>
                      <a:pt x="1" y="1423"/>
                    </a:lnTo>
                    <a:lnTo>
                      <a:pt x="13" y="1576"/>
                    </a:lnTo>
                    <a:lnTo>
                      <a:pt x="39" y="1717"/>
                    </a:lnTo>
                    <a:lnTo>
                      <a:pt x="65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4"/>
                    </a:lnTo>
                    <a:lnTo>
                      <a:pt x="756" y="2678"/>
                    </a:lnTo>
                    <a:lnTo>
                      <a:pt x="871" y="2742"/>
                    </a:lnTo>
                    <a:lnTo>
                      <a:pt x="1012" y="2793"/>
                    </a:lnTo>
                    <a:lnTo>
                      <a:pt x="1140" y="2831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29" y="2614"/>
                    </a:lnTo>
                    <a:lnTo>
                      <a:pt x="2344" y="2524"/>
                    </a:lnTo>
                    <a:lnTo>
                      <a:pt x="2447" y="2434"/>
                    </a:lnTo>
                    <a:lnTo>
                      <a:pt x="2536" y="2332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54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3"/>
                    </a:lnTo>
                    <a:lnTo>
                      <a:pt x="2857" y="1282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54" y="872"/>
                    </a:lnTo>
                    <a:lnTo>
                      <a:pt x="2690" y="744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47" y="411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2095;p40">
                <a:extLst>
                  <a:ext uri="{FF2B5EF4-FFF2-40B4-BE49-F238E27FC236}">
                    <a16:creationId xmlns:a16="http://schemas.microsoft.com/office/drawing/2014/main" id="{BB1CAFB4-A788-4C0B-9917-932FB367BAC8}"/>
                  </a:ext>
                </a:extLst>
              </p:cNvPr>
              <p:cNvSpPr/>
              <p:nvPr/>
            </p:nvSpPr>
            <p:spPr>
              <a:xfrm>
                <a:off x="6665191" y="2675749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435" y="0"/>
                    </a:moveTo>
                    <a:lnTo>
                      <a:pt x="1282" y="13"/>
                    </a:lnTo>
                    <a:lnTo>
                      <a:pt x="1141" y="26"/>
                    </a:lnTo>
                    <a:lnTo>
                      <a:pt x="1000" y="64"/>
                    </a:lnTo>
                    <a:lnTo>
                      <a:pt x="872" y="116"/>
                    </a:lnTo>
                    <a:lnTo>
                      <a:pt x="744" y="180"/>
                    </a:lnTo>
                    <a:lnTo>
                      <a:pt x="628" y="244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21" y="525"/>
                    </a:lnTo>
                    <a:lnTo>
                      <a:pt x="244" y="628"/>
                    </a:lnTo>
                    <a:lnTo>
                      <a:pt x="167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26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26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21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28" y="2613"/>
                    </a:lnTo>
                    <a:lnTo>
                      <a:pt x="744" y="2690"/>
                    </a:lnTo>
                    <a:lnTo>
                      <a:pt x="872" y="2741"/>
                    </a:lnTo>
                    <a:lnTo>
                      <a:pt x="1000" y="2792"/>
                    </a:lnTo>
                    <a:lnTo>
                      <a:pt x="1141" y="2831"/>
                    </a:lnTo>
                    <a:lnTo>
                      <a:pt x="1282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32" y="2536"/>
                    </a:lnTo>
                    <a:lnTo>
                      <a:pt x="2434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2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34" y="423"/>
                    </a:lnTo>
                    <a:lnTo>
                      <a:pt x="2332" y="333"/>
                    </a:lnTo>
                    <a:lnTo>
                      <a:pt x="2229" y="244"/>
                    </a:lnTo>
                    <a:lnTo>
                      <a:pt x="2114" y="180"/>
                    </a:lnTo>
                    <a:lnTo>
                      <a:pt x="1986" y="116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2096;p40">
                <a:extLst>
                  <a:ext uri="{FF2B5EF4-FFF2-40B4-BE49-F238E27FC236}">
                    <a16:creationId xmlns:a16="http://schemas.microsoft.com/office/drawing/2014/main" id="{525E5FAF-1BB9-741C-9885-390768593075}"/>
                  </a:ext>
                </a:extLst>
              </p:cNvPr>
              <p:cNvSpPr/>
              <p:nvPr/>
            </p:nvSpPr>
            <p:spPr>
              <a:xfrm>
                <a:off x="6377005" y="3265057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435" y="0"/>
                    </a:moveTo>
                    <a:lnTo>
                      <a:pt x="1294" y="13"/>
                    </a:lnTo>
                    <a:lnTo>
                      <a:pt x="1141" y="26"/>
                    </a:lnTo>
                    <a:lnTo>
                      <a:pt x="1013" y="64"/>
                    </a:lnTo>
                    <a:lnTo>
                      <a:pt x="885" y="115"/>
                    </a:lnTo>
                    <a:lnTo>
                      <a:pt x="757" y="179"/>
                    </a:lnTo>
                    <a:lnTo>
                      <a:pt x="641" y="243"/>
                    </a:lnTo>
                    <a:lnTo>
                      <a:pt x="526" y="333"/>
                    </a:lnTo>
                    <a:lnTo>
                      <a:pt x="424" y="423"/>
                    </a:lnTo>
                    <a:lnTo>
                      <a:pt x="334" y="525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5" y="999"/>
                    </a:lnTo>
                    <a:lnTo>
                      <a:pt x="39" y="1140"/>
                    </a:lnTo>
                    <a:lnTo>
                      <a:pt x="14" y="1281"/>
                    </a:lnTo>
                    <a:lnTo>
                      <a:pt x="1" y="1435"/>
                    </a:lnTo>
                    <a:lnTo>
                      <a:pt x="14" y="1576"/>
                    </a:lnTo>
                    <a:lnTo>
                      <a:pt x="39" y="1716"/>
                    </a:lnTo>
                    <a:lnTo>
                      <a:pt x="65" y="1857"/>
                    </a:lnTo>
                    <a:lnTo>
                      <a:pt x="116" y="1985"/>
                    </a:lnTo>
                    <a:lnTo>
                      <a:pt x="180" y="2113"/>
                    </a:lnTo>
                    <a:lnTo>
                      <a:pt x="244" y="2229"/>
                    </a:lnTo>
                    <a:lnTo>
                      <a:pt x="334" y="2344"/>
                    </a:lnTo>
                    <a:lnTo>
                      <a:pt x="424" y="2434"/>
                    </a:lnTo>
                    <a:lnTo>
                      <a:pt x="526" y="2536"/>
                    </a:lnTo>
                    <a:lnTo>
                      <a:pt x="641" y="2613"/>
                    </a:lnTo>
                    <a:lnTo>
                      <a:pt x="757" y="2690"/>
                    </a:lnTo>
                    <a:lnTo>
                      <a:pt x="885" y="2741"/>
                    </a:lnTo>
                    <a:lnTo>
                      <a:pt x="1013" y="2792"/>
                    </a:lnTo>
                    <a:lnTo>
                      <a:pt x="1141" y="2831"/>
                    </a:lnTo>
                    <a:lnTo>
                      <a:pt x="1294" y="2856"/>
                    </a:lnTo>
                    <a:lnTo>
                      <a:pt x="1576" y="2856"/>
                    </a:lnTo>
                    <a:lnTo>
                      <a:pt x="1717" y="2831"/>
                    </a:lnTo>
                    <a:lnTo>
                      <a:pt x="1858" y="2792"/>
                    </a:lnTo>
                    <a:lnTo>
                      <a:pt x="1986" y="2741"/>
                    </a:lnTo>
                    <a:lnTo>
                      <a:pt x="2114" y="2690"/>
                    </a:lnTo>
                    <a:lnTo>
                      <a:pt x="2229" y="2613"/>
                    </a:lnTo>
                    <a:lnTo>
                      <a:pt x="2345" y="2536"/>
                    </a:lnTo>
                    <a:lnTo>
                      <a:pt x="2447" y="2434"/>
                    </a:lnTo>
                    <a:lnTo>
                      <a:pt x="2537" y="2344"/>
                    </a:lnTo>
                    <a:lnTo>
                      <a:pt x="2614" y="2229"/>
                    </a:lnTo>
                    <a:lnTo>
                      <a:pt x="2691" y="2113"/>
                    </a:lnTo>
                    <a:lnTo>
                      <a:pt x="2755" y="1985"/>
                    </a:lnTo>
                    <a:lnTo>
                      <a:pt x="2793" y="1857"/>
                    </a:lnTo>
                    <a:lnTo>
                      <a:pt x="2831" y="1716"/>
                    </a:lnTo>
                    <a:lnTo>
                      <a:pt x="2857" y="1576"/>
                    </a:lnTo>
                    <a:lnTo>
                      <a:pt x="2857" y="1435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55" y="871"/>
                    </a:lnTo>
                    <a:lnTo>
                      <a:pt x="2691" y="743"/>
                    </a:lnTo>
                    <a:lnTo>
                      <a:pt x="2614" y="628"/>
                    </a:lnTo>
                    <a:lnTo>
                      <a:pt x="2537" y="525"/>
                    </a:lnTo>
                    <a:lnTo>
                      <a:pt x="2447" y="423"/>
                    </a:lnTo>
                    <a:lnTo>
                      <a:pt x="2345" y="333"/>
                    </a:lnTo>
                    <a:lnTo>
                      <a:pt x="2229" y="243"/>
                    </a:lnTo>
                    <a:lnTo>
                      <a:pt x="2114" y="179"/>
                    </a:lnTo>
                    <a:lnTo>
                      <a:pt x="1986" y="115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13"/>
                    </a:lnTo>
                    <a:lnTo>
                      <a:pt x="143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2097;p40">
                <a:extLst>
                  <a:ext uri="{FF2B5EF4-FFF2-40B4-BE49-F238E27FC236}">
                    <a16:creationId xmlns:a16="http://schemas.microsoft.com/office/drawing/2014/main" id="{E00C05F6-1A41-EADB-67D5-097965EFF26A}"/>
                  </a:ext>
                </a:extLst>
              </p:cNvPr>
              <p:cNvSpPr/>
              <p:nvPr/>
            </p:nvSpPr>
            <p:spPr>
              <a:xfrm>
                <a:off x="6153892" y="3087198"/>
                <a:ext cx="90191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2857" extrusionOk="0">
                    <a:moveTo>
                      <a:pt x="1282" y="1"/>
                    </a:moveTo>
                    <a:lnTo>
                      <a:pt x="1141" y="26"/>
                    </a:lnTo>
                    <a:lnTo>
                      <a:pt x="1000" y="65"/>
                    </a:lnTo>
                    <a:lnTo>
                      <a:pt x="872" y="116"/>
                    </a:lnTo>
                    <a:lnTo>
                      <a:pt x="744" y="167"/>
                    </a:lnTo>
                    <a:lnTo>
                      <a:pt x="629" y="244"/>
                    </a:lnTo>
                    <a:lnTo>
                      <a:pt x="526" y="321"/>
                    </a:lnTo>
                    <a:lnTo>
                      <a:pt x="424" y="411"/>
                    </a:lnTo>
                    <a:lnTo>
                      <a:pt x="334" y="513"/>
                    </a:lnTo>
                    <a:lnTo>
                      <a:pt x="244" y="628"/>
                    </a:lnTo>
                    <a:lnTo>
                      <a:pt x="167" y="744"/>
                    </a:lnTo>
                    <a:lnTo>
                      <a:pt x="116" y="872"/>
                    </a:lnTo>
                    <a:lnTo>
                      <a:pt x="65" y="1000"/>
                    </a:lnTo>
                    <a:lnTo>
                      <a:pt x="27" y="1141"/>
                    </a:lnTo>
                    <a:lnTo>
                      <a:pt x="14" y="1281"/>
                    </a:lnTo>
                    <a:lnTo>
                      <a:pt x="1" y="1422"/>
                    </a:lnTo>
                    <a:lnTo>
                      <a:pt x="14" y="1576"/>
                    </a:lnTo>
                    <a:lnTo>
                      <a:pt x="27" y="1717"/>
                    </a:lnTo>
                    <a:lnTo>
                      <a:pt x="65" y="1858"/>
                    </a:lnTo>
                    <a:lnTo>
                      <a:pt x="116" y="1986"/>
                    </a:lnTo>
                    <a:lnTo>
                      <a:pt x="167" y="2114"/>
                    </a:lnTo>
                    <a:lnTo>
                      <a:pt x="244" y="2229"/>
                    </a:lnTo>
                    <a:lnTo>
                      <a:pt x="334" y="2332"/>
                    </a:lnTo>
                    <a:lnTo>
                      <a:pt x="424" y="2434"/>
                    </a:lnTo>
                    <a:lnTo>
                      <a:pt x="526" y="2524"/>
                    </a:lnTo>
                    <a:lnTo>
                      <a:pt x="629" y="2613"/>
                    </a:lnTo>
                    <a:lnTo>
                      <a:pt x="744" y="2678"/>
                    </a:lnTo>
                    <a:lnTo>
                      <a:pt x="872" y="2742"/>
                    </a:lnTo>
                    <a:lnTo>
                      <a:pt x="1000" y="2793"/>
                    </a:lnTo>
                    <a:lnTo>
                      <a:pt x="1141" y="2831"/>
                    </a:lnTo>
                    <a:lnTo>
                      <a:pt x="1282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31"/>
                    </a:lnTo>
                    <a:lnTo>
                      <a:pt x="1858" y="2793"/>
                    </a:lnTo>
                    <a:lnTo>
                      <a:pt x="1986" y="2742"/>
                    </a:lnTo>
                    <a:lnTo>
                      <a:pt x="2114" y="2678"/>
                    </a:lnTo>
                    <a:lnTo>
                      <a:pt x="2230" y="2613"/>
                    </a:lnTo>
                    <a:lnTo>
                      <a:pt x="2345" y="2524"/>
                    </a:lnTo>
                    <a:lnTo>
                      <a:pt x="2434" y="2434"/>
                    </a:lnTo>
                    <a:lnTo>
                      <a:pt x="2537" y="2332"/>
                    </a:lnTo>
                    <a:lnTo>
                      <a:pt x="2614" y="2229"/>
                    </a:lnTo>
                    <a:lnTo>
                      <a:pt x="2691" y="2114"/>
                    </a:lnTo>
                    <a:lnTo>
                      <a:pt x="2742" y="1986"/>
                    </a:lnTo>
                    <a:lnTo>
                      <a:pt x="2793" y="1858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1"/>
                    </a:lnTo>
                    <a:lnTo>
                      <a:pt x="2793" y="1000"/>
                    </a:lnTo>
                    <a:lnTo>
                      <a:pt x="2742" y="872"/>
                    </a:lnTo>
                    <a:lnTo>
                      <a:pt x="2691" y="744"/>
                    </a:lnTo>
                    <a:lnTo>
                      <a:pt x="2614" y="628"/>
                    </a:lnTo>
                    <a:lnTo>
                      <a:pt x="2537" y="513"/>
                    </a:lnTo>
                    <a:lnTo>
                      <a:pt x="2434" y="411"/>
                    </a:lnTo>
                    <a:lnTo>
                      <a:pt x="2345" y="321"/>
                    </a:lnTo>
                    <a:lnTo>
                      <a:pt x="2230" y="244"/>
                    </a:lnTo>
                    <a:lnTo>
                      <a:pt x="2114" y="167"/>
                    </a:lnTo>
                    <a:lnTo>
                      <a:pt x="1986" y="116"/>
                    </a:lnTo>
                    <a:lnTo>
                      <a:pt x="1858" y="65"/>
                    </a:lnTo>
                    <a:lnTo>
                      <a:pt x="1717" y="26"/>
                    </a:lnTo>
                    <a:lnTo>
                      <a:pt x="157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2098;p40">
                <a:extLst>
                  <a:ext uri="{FF2B5EF4-FFF2-40B4-BE49-F238E27FC236}">
                    <a16:creationId xmlns:a16="http://schemas.microsoft.com/office/drawing/2014/main" id="{2B84DF5F-B41B-847D-87EE-C1AF39FDBC76}"/>
                  </a:ext>
                </a:extLst>
              </p:cNvPr>
              <p:cNvSpPr/>
              <p:nvPr/>
            </p:nvSpPr>
            <p:spPr>
              <a:xfrm>
                <a:off x="6230704" y="3361244"/>
                <a:ext cx="90160" cy="90160"/>
              </a:xfrm>
              <a:custGeom>
                <a:avLst/>
                <a:gdLst/>
                <a:ahLst/>
                <a:cxnLst/>
                <a:rect l="l" t="t" r="r" b="b"/>
                <a:pathLst>
                  <a:path w="2857" h="2857" extrusionOk="0">
                    <a:moveTo>
                      <a:pt x="1281" y="0"/>
                    </a:moveTo>
                    <a:lnTo>
                      <a:pt x="1140" y="26"/>
                    </a:lnTo>
                    <a:lnTo>
                      <a:pt x="999" y="64"/>
                    </a:lnTo>
                    <a:lnTo>
                      <a:pt x="871" y="103"/>
                    </a:lnTo>
                    <a:lnTo>
                      <a:pt x="743" y="167"/>
                    </a:lnTo>
                    <a:lnTo>
                      <a:pt x="628" y="244"/>
                    </a:lnTo>
                    <a:lnTo>
                      <a:pt x="526" y="321"/>
                    </a:lnTo>
                    <a:lnTo>
                      <a:pt x="423" y="410"/>
                    </a:lnTo>
                    <a:lnTo>
                      <a:pt x="333" y="513"/>
                    </a:lnTo>
                    <a:lnTo>
                      <a:pt x="244" y="628"/>
                    </a:lnTo>
                    <a:lnTo>
                      <a:pt x="180" y="743"/>
                    </a:lnTo>
                    <a:lnTo>
                      <a:pt x="116" y="871"/>
                    </a:lnTo>
                    <a:lnTo>
                      <a:pt x="64" y="999"/>
                    </a:lnTo>
                    <a:lnTo>
                      <a:pt x="26" y="1140"/>
                    </a:lnTo>
                    <a:lnTo>
                      <a:pt x="13" y="1281"/>
                    </a:lnTo>
                    <a:lnTo>
                      <a:pt x="0" y="1422"/>
                    </a:lnTo>
                    <a:lnTo>
                      <a:pt x="13" y="1576"/>
                    </a:lnTo>
                    <a:lnTo>
                      <a:pt x="26" y="1717"/>
                    </a:lnTo>
                    <a:lnTo>
                      <a:pt x="64" y="1845"/>
                    </a:lnTo>
                    <a:lnTo>
                      <a:pt x="116" y="1986"/>
                    </a:lnTo>
                    <a:lnTo>
                      <a:pt x="180" y="2101"/>
                    </a:lnTo>
                    <a:lnTo>
                      <a:pt x="244" y="2229"/>
                    </a:lnTo>
                    <a:lnTo>
                      <a:pt x="333" y="2331"/>
                    </a:lnTo>
                    <a:lnTo>
                      <a:pt x="423" y="2434"/>
                    </a:lnTo>
                    <a:lnTo>
                      <a:pt x="526" y="2524"/>
                    </a:lnTo>
                    <a:lnTo>
                      <a:pt x="628" y="2613"/>
                    </a:lnTo>
                    <a:lnTo>
                      <a:pt x="743" y="2677"/>
                    </a:lnTo>
                    <a:lnTo>
                      <a:pt x="871" y="2741"/>
                    </a:lnTo>
                    <a:lnTo>
                      <a:pt x="999" y="2793"/>
                    </a:lnTo>
                    <a:lnTo>
                      <a:pt x="1140" y="2818"/>
                    </a:lnTo>
                    <a:lnTo>
                      <a:pt x="1281" y="2844"/>
                    </a:lnTo>
                    <a:lnTo>
                      <a:pt x="1435" y="2857"/>
                    </a:lnTo>
                    <a:lnTo>
                      <a:pt x="1576" y="2844"/>
                    </a:lnTo>
                    <a:lnTo>
                      <a:pt x="1717" y="2818"/>
                    </a:lnTo>
                    <a:lnTo>
                      <a:pt x="1858" y="2793"/>
                    </a:lnTo>
                    <a:lnTo>
                      <a:pt x="1986" y="2741"/>
                    </a:lnTo>
                    <a:lnTo>
                      <a:pt x="2114" y="2677"/>
                    </a:lnTo>
                    <a:lnTo>
                      <a:pt x="2229" y="2613"/>
                    </a:lnTo>
                    <a:lnTo>
                      <a:pt x="2344" y="2524"/>
                    </a:lnTo>
                    <a:lnTo>
                      <a:pt x="2434" y="2434"/>
                    </a:lnTo>
                    <a:lnTo>
                      <a:pt x="2536" y="2331"/>
                    </a:lnTo>
                    <a:lnTo>
                      <a:pt x="2613" y="2229"/>
                    </a:lnTo>
                    <a:lnTo>
                      <a:pt x="2690" y="2101"/>
                    </a:lnTo>
                    <a:lnTo>
                      <a:pt x="2741" y="1986"/>
                    </a:lnTo>
                    <a:lnTo>
                      <a:pt x="2793" y="1845"/>
                    </a:lnTo>
                    <a:lnTo>
                      <a:pt x="2831" y="1717"/>
                    </a:lnTo>
                    <a:lnTo>
                      <a:pt x="2857" y="1576"/>
                    </a:lnTo>
                    <a:lnTo>
                      <a:pt x="2857" y="1422"/>
                    </a:lnTo>
                    <a:lnTo>
                      <a:pt x="2857" y="1281"/>
                    </a:lnTo>
                    <a:lnTo>
                      <a:pt x="2831" y="1140"/>
                    </a:lnTo>
                    <a:lnTo>
                      <a:pt x="2793" y="999"/>
                    </a:lnTo>
                    <a:lnTo>
                      <a:pt x="2741" y="871"/>
                    </a:lnTo>
                    <a:lnTo>
                      <a:pt x="2690" y="743"/>
                    </a:lnTo>
                    <a:lnTo>
                      <a:pt x="2613" y="628"/>
                    </a:lnTo>
                    <a:lnTo>
                      <a:pt x="2536" y="513"/>
                    </a:lnTo>
                    <a:lnTo>
                      <a:pt x="2434" y="410"/>
                    </a:lnTo>
                    <a:lnTo>
                      <a:pt x="2344" y="321"/>
                    </a:lnTo>
                    <a:lnTo>
                      <a:pt x="2229" y="244"/>
                    </a:lnTo>
                    <a:lnTo>
                      <a:pt x="2114" y="167"/>
                    </a:lnTo>
                    <a:lnTo>
                      <a:pt x="1986" y="103"/>
                    </a:lnTo>
                    <a:lnTo>
                      <a:pt x="1858" y="64"/>
                    </a:lnTo>
                    <a:lnTo>
                      <a:pt x="1717" y="26"/>
                    </a:lnTo>
                    <a:lnTo>
                      <a:pt x="1576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2099;p40">
                <a:extLst>
                  <a:ext uri="{FF2B5EF4-FFF2-40B4-BE49-F238E27FC236}">
                    <a16:creationId xmlns:a16="http://schemas.microsoft.com/office/drawing/2014/main" id="{B35A419B-4A84-5A73-01A7-2CC93494F4C2}"/>
                  </a:ext>
                </a:extLst>
              </p:cNvPr>
              <p:cNvSpPr/>
              <p:nvPr/>
            </p:nvSpPr>
            <p:spPr>
              <a:xfrm>
                <a:off x="6199178" y="2411391"/>
                <a:ext cx="524643" cy="109568"/>
              </a:xfrm>
              <a:custGeom>
                <a:avLst/>
                <a:gdLst/>
                <a:ahLst/>
                <a:cxnLst/>
                <a:rect l="l" t="t" r="r" b="b"/>
                <a:pathLst>
                  <a:path w="16625" h="3472" extrusionOk="0">
                    <a:moveTo>
                      <a:pt x="0" y="1"/>
                    </a:moveTo>
                    <a:lnTo>
                      <a:pt x="0" y="3472"/>
                    </a:lnTo>
                    <a:lnTo>
                      <a:pt x="16625" y="3472"/>
                    </a:lnTo>
                    <a:lnTo>
                      <a:pt x="1662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2100;p40">
                <a:extLst>
                  <a:ext uri="{FF2B5EF4-FFF2-40B4-BE49-F238E27FC236}">
                    <a16:creationId xmlns:a16="http://schemas.microsoft.com/office/drawing/2014/main" id="{B7263EB6-795B-D7F4-13B8-0DC819CCF726}"/>
                  </a:ext>
                </a:extLst>
              </p:cNvPr>
              <p:cNvSpPr/>
              <p:nvPr/>
            </p:nvSpPr>
            <p:spPr>
              <a:xfrm>
                <a:off x="6530218" y="3921455"/>
                <a:ext cx="188367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69" h="5956" extrusionOk="0">
                    <a:moveTo>
                      <a:pt x="2831" y="0"/>
                    </a:moveTo>
                    <a:lnTo>
                      <a:pt x="2677" y="13"/>
                    </a:lnTo>
                    <a:lnTo>
                      <a:pt x="2382" y="64"/>
                    </a:lnTo>
                    <a:lnTo>
                      <a:pt x="2101" y="128"/>
                    </a:lnTo>
                    <a:lnTo>
                      <a:pt x="1832" y="231"/>
                    </a:lnTo>
                    <a:lnTo>
                      <a:pt x="1563" y="359"/>
                    </a:lnTo>
                    <a:lnTo>
                      <a:pt x="1319" y="512"/>
                    </a:lnTo>
                    <a:lnTo>
                      <a:pt x="1089" y="679"/>
                    </a:lnTo>
                    <a:lnTo>
                      <a:pt x="884" y="871"/>
                    </a:lnTo>
                    <a:lnTo>
                      <a:pt x="692" y="1089"/>
                    </a:lnTo>
                    <a:lnTo>
                      <a:pt x="512" y="1319"/>
                    </a:lnTo>
                    <a:lnTo>
                      <a:pt x="371" y="1563"/>
                    </a:lnTo>
                    <a:lnTo>
                      <a:pt x="243" y="1819"/>
                    </a:lnTo>
                    <a:lnTo>
                      <a:pt x="141" y="2088"/>
                    </a:lnTo>
                    <a:lnTo>
                      <a:pt x="64" y="2382"/>
                    </a:lnTo>
                    <a:lnTo>
                      <a:pt x="26" y="2677"/>
                    </a:lnTo>
                    <a:lnTo>
                      <a:pt x="13" y="2831"/>
                    </a:lnTo>
                    <a:lnTo>
                      <a:pt x="0" y="2984"/>
                    </a:lnTo>
                    <a:lnTo>
                      <a:pt x="13" y="3138"/>
                    </a:lnTo>
                    <a:lnTo>
                      <a:pt x="26" y="3279"/>
                    </a:lnTo>
                    <a:lnTo>
                      <a:pt x="64" y="3586"/>
                    </a:lnTo>
                    <a:lnTo>
                      <a:pt x="141" y="3868"/>
                    </a:lnTo>
                    <a:lnTo>
                      <a:pt x="243" y="4137"/>
                    </a:lnTo>
                    <a:lnTo>
                      <a:pt x="371" y="4406"/>
                    </a:lnTo>
                    <a:lnTo>
                      <a:pt x="512" y="4649"/>
                    </a:lnTo>
                    <a:lnTo>
                      <a:pt x="692" y="4880"/>
                    </a:lnTo>
                    <a:lnTo>
                      <a:pt x="884" y="5085"/>
                    </a:lnTo>
                    <a:lnTo>
                      <a:pt x="1089" y="5277"/>
                    </a:lnTo>
                    <a:lnTo>
                      <a:pt x="1319" y="5456"/>
                    </a:lnTo>
                    <a:lnTo>
                      <a:pt x="1563" y="5597"/>
                    </a:lnTo>
                    <a:lnTo>
                      <a:pt x="1832" y="5725"/>
                    </a:lnTo>
                    <a:lnTo>
                      <a:pt x="2101" y="5828"/>
                    </a:lnTo>
                    <a:lnTo>
                      <a:pt x="2382" y="5905"/>
                    </a:lnTo>
                    <a:lnTo>
                      <a:pt x="2677" y="5943"/>
                    </a:lnTo>
                    <a:lnTo>
                      <a:pt x="2831" y="5956"/>
                    </a:lnTo>
                    <a:lnTo>
                      <a:pt x="3138" y="5956"/>
                    </a:lnTo>
                    <a:lnTo>
                      <a:pt x="3292" y="5943"/>
                    </a:lnTo>
                    <a:lnTo>
                      <a:pt x="3586" y="5905"/>
                    </a:lnTo>
                    <a:lnTo>
                      <a:pt x="3868" y="5828"/>
                    </a:lnTo>
                    <a:lnTo>
                      <a:pt x="4150" y="5725"/>
                    </a:lnTo>
                    <a:lnTo>
                      <a:pt x="4406" y="5597"/>
                    </a:lnTo>
                    <a:lnTo>
                      <a:pt x="4649" y="5456"/>
                    </a:lnTo>
                    <a:lnTo>
                      <a:pt x="4880" y="5277"/>
                    </a:lnTo>
                    <a:lnTo>
                      <a:pt x="5098" y="5085"/>
                    </a:lnTo>
                    <a:lnTo>
                      <a:pt x="5290" y="4880"/>
                    </a:lnTo>
                    <a:lnTo>
                      <a:pt x="5456" y="4649"/>
                    </a:lnTo>
                    <a:lnTo>
                      <a:pt x="5610" y="4406"/>
                    </a:lnTo>
                    <a:lnTo>
                      <a:pt x="5725" y="4137"/>
                    </a:lnTo>
                    <a:lnTo>
                      <a:pt x="5828" y="3868"/>
                    </a:lnTo>
                    <a:lnTo>
                      <a:pt x="5904" y="3586"/>
                    </a:lnTo>
                    <a:lnTo>
                      <a:pt x="5956" y="3279"/>
                    </a:lnTo>
                    <a:lnTo>
                      <a:pt x="5956" y="3138"/>
                    </a:lnTo>
                    <a:lnTo>
                      <a:pt x="5969" y="2984"/>
                    </a:lnTo>
                    <a:lnTo>
                      <a:pt x="5956" y="2831"/>
                    </a:lnTo>
                    <a:lnTo>
                      <a:pt x="5956" y="2677"/>
                    </a:lnTo>
                    <a:lnTo>
                      <a:pt x="5904" y="2382"/>
                    </a:lnTo>
                    <a:lnTo>
                      <a:pt x="5828" y="2088"/>
                    </a:lnTo>
                    <a:lnTo>
                      <a:pt x="5725" y="1819"/>
                    </a:lnTo>
                    <a:lnTo>
                      <a:pt x="5610" y="1563"/>
                    </a:lnTo>
                    <a:lnTo>
                      <a:pt x="5456" y="1319"/>
                    </a:lnTo>
                    <a:lnTo>
                      <a:pt x="5290" y="1089"/>
                    </a:lnTo>
                    <a:lnTo>
                      <a:pt x="5098" y="871"/>
                    </a:lnTo>
                    <a:lnTo>
                      <a:pt x="4880" y="679"/>
                    </a:lnTo>
                    <a:lnTo>
                      <a:pt x="4649" y="512"/>
                    </a:lnTo>
                    <a:lnTo>
                      <a:pt x="4406" y="359"/>
                    </a:lnTo>
                    <a:lnTo>
                      <a:pt x="4150" y="231"/>
                    </a:lnTo>
                    <a:lnTo>
                      <a:pt x="3868" y="128"/>
                    </a:lnTo>
                    <a:lnTo>
                      <a:pt x="3586" y="64"/>
                    </a:lnTo>
                    <a:lnTo>
                      <a:pt x="3292" y="13"/>
                    </a:lnTo>
                    <a:lnTo>
                      <a:pt x="3138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2101;p40">
                <a:extLst>
                  <a:ext uri="{FF2B5EF4-FFF2-40B4-BE49-F238E27FC236}">
                    <a16:creationId xmlns:a16="http://schemas.microsoft.com/office/drawing/2014/main" id="{64740EBA-250E-F111-8AAC-93C195E3B0C1}"/>
                  </a:ext>
                </a:extLst>
              </p:cNvPr>
              <p:cNvSpPr/>
              <p:nvPr/>
            </p:nvSpPr>
            <p:spPr>
              <a:xfrm>
                <a:off x="6561745" y="3952981"/>
                <a:ext cx="12531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3971" extrusionOk="0">
                    <a:moveTo>
                      <a:pt x="1780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37" y="231"/>
                    </a:lnTo>
                    <a:lnTo>
                      <a:pt x="871" y="333"/>
                    </a:lnTo>
                    <a:lnTo>
                      <a:pt x="717" y="448"/>
                    </a:lnTo>
                    <a:lnTo>
                      <a:pt x="576" y="577"/>
                    </a:lnTo>
                    <a:lnTo>
                      <a:pt x="448" y="717"/>
                    </a:lnTo>
                    <a:lnTo>
                      <a:pt x="333" y="871"/>
                    </a:lnTo>
                    <a:lnTo>
                      <a:pt x="243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8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38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3" y="2933"/>
                    </a:lnTo>
                    <a:lnTo>
                      <a:pt x="333" y="3087"/>
                    </a:lnTo>
                    <a:lnTo>
                      <a:pt x="448" y="3241"/>
                    </a:lnTo>
                    <a:lnTo>
                      <a:pt x="576" y="3381"/>
                    </a:lnTo>
                    <a:lnTo>
                      <a:pt x="717" y="3510"/>
                    </a:lnTo>
                    <a:lnTo>
                      <a:pt x="871" y="3625"/>
                    </a:lnTo>
                    <a:lnTo>
                      <a:pt x="1037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80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82" y="3932"/>
                    </a:lnTo>
                    <a:lnTo>
                      <a:pt x="2574" y="3881"/>
                    </a:lnTo>
                    <a:lnTo>
                      <a:pt x="2754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7" y="3087"/>
                    </a:lnTo>
                    <a:lnTo>
                      <a:pt x="3727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2" y="2382"/>
                    </a:lnTo>
                    <a:lnTo>
                      <a:pt x="3958" y="2178"/>
                    </a:lnTo>
                    <a:lnTo>
                      <a:pt x="3970" y="1985"/>
                    </a:lnTo>
                    <a:lnTo>
                      <a:pt x="3958" y="1780"/>
                    </a:lnTo>
                    <a:lnTo>
                      <a:pt x="3932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27" y="1038"/>
                    </a:lnTo>
                    <a:lnTo>
                      <a:pt x="3637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54" y="154"/>
                    </a:lnTo>
                    <a:lnTo>
                      <a:pt x="2574" y="90"/>
                    </a:lnTo>
                    <a:lnTo>
                      <a:pt x="2382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2102;p40">
                <a:extLst>
                  <a:ext uri="{FF2B5EF4-FFF2-40B4-BE49-F238E27FC236}">
                    <a16:creationId xmlns:a16="http://schemas.microsoft.com/office/drawing/2014/main" id="{64C63058-34C9-0BE6-307B-686BF0CAD279}"/>
                  </a:ext>
                </a:extLst>
              </p:cNvPr>
              <p:cNvSpPr/>
              <p:nvPr/>
            </p:nvSpPr>
            <p:spPr>
              <a:xfrm>
                <a:off x="6597310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69" y="0"/>
                    </a:moveTo>
                    <a:lnTo>
                      <a:pt x="692" y="13"/>
                    </a:lnTo>
                    <a:lnTo>
                      <a:pt x="602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08" y="192"/>
                    </a:lnTo>
                    <a:lnTo>
                      <a:pt x="256" y="244"/>
                    </a:lnTo>
                    <a:lnTo>
                      <a:pt x="192" y="308"/>
                    </a:lnTo>
                    <a:lnTo>
                      <a:pt x="141" y="372"/>
                    </a:lnTo>
                    <a:lnTo>
                      <a:pt x="103" y="449"/>
                    </a:lnTo>
                    <a:lnTo>
                      <a:pt x="64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0" y="769"/>
                    </a:lnTo>
                    <a:lnTo>
                      <a:pt x="0" y="858"/>
                    </a:lnTo>
                    <a:lnTo>
                      <a:pt x="0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4" y="1191"/>
                    </a:lnTo>
                    <a:lnTo>
                      <a:pt x="103" y="1268"/>
                    </a:lnTo>
                    <a:lnTo>
                      <a:pt x="141" y="1332"/>
                    </a:lnTo>
                    <a:lnTo>
                      <a:pt x="192" y="1396"/>
                    </a:lnTo>
                    <a:lnTo>
                      <a:pt x="256" y="1460"/>
                    </a:lnTo>
                    <a:lnTo>
                      <a:pt x="308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02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191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16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191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2103;p40">
                <a:extLst>
                  <a:ext uri="{FF2B5EF4-FFF2-40B4-BE49-F238E27FC236}">
                    <a16:creationId xmlns:a16="http://schemas.microsoft.com/office/drawing/2014/main" id="{A7CAC9C9-FB4C-4D86-A668-A09FE20E0B08}"/>
                  </a:ext>
                </a:extLst>
              </p:cNvPr>
              <p:cNvSpPr/>
              <p:nvPr/>
            </p:nvSpPr>
            <p:spPr>
              <a:xfrm>
                <a:off x="6202396" y="3921455"/>
                <a:ext cx="18798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5956" extrusionOk="0">
                    <a:moveTo>
                      <a:pt x="2819" y="0"/>
                    </a:moveTo>
                    <a:lnTo>
                      <a:pt x="2678" y="13"/>
                    </a:lnTo>
                    <a:lnTo>
                      <a:pt x="2383" y="64"/>
                    </a:lnTo>
                    <a:lnTo>
                      <a:pt x="2089" y="128"/>
                    </a:lnTo>
                    <a:lnTo>
                      <a:pt x="1820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7" y="679"/>
                    </a:lnTo>
                    <a:lnTo>
                      <a:pt x="872" y="871"/>
                    </a:lnTo>
                    <a:lnTo>
                      <a:pt x="680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9" y="2088"/>
                    </a:lnTo>
                    <a:lnTo>
                      <a:pt x="65" y="2382"/>
                    </a:lnTo>
                    <a:lnTo>
                      <a:pt x="14" y="2677"/>
                    </a:lnTo>
                    <a:lnTo>
                      <a:pt x="1" y="2831"/>
                    </a:lnTo>
                    <a:lnTo>
                      <a:pt x="1" y="2984"/>
                    </a:lnTo>
                    <a:lnTo>
                      <a:pt x="1" y="3138"/>
                    </a:lnTo>
                    <a:lnTo>
                      <a:pt x="14" y="3279"/>
                    </a:lnTo>
                    <a:lnTo>
                      <a:pt x="65" y="3586"/>
                    </a:lnTo>
                    <a:lnTo>
                      <a:pt x="129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80" y="4880"/>
                    </a:lnTo>
                    <a:lnTo>
                      <a:pt x="872" y="5085"/>
                    </a:lnTo>
                    <a:lnTo>
                      <a:pt x="1077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20" y="5725"/>
                    </a:lnTo>
                    <a:lnTo>
                      <a:pt x="2089" y="5828"/>
                    </a:lnTo>
                    <a:lnTo>
                      <a:pt x="2383" y="5905"/>
                    </a:lnTo>
                    <a:lnTo>
                      <a:pt x="2678" y="5943"/>
                    </a:lnTo>
                    <a:lnTo>
                      <a:pt x="2819" y="5956"/>
                    </a:lnTo>
                    <a:lnTo>
                      <a:pt x="3126" y="5956"/>
                    </a:lnTo>
                    <a:lnTo>
                      <a:pt x="3280" y="5943"/>
                    </a:lnTo>
                    <a:lnTo>
                      <a:pt x="3574" y="5905"/>
                    </a:lnTo>
                    <a:lnTo>
                      <a:pt x="3869" y="5828"/>
                    </a:lnTo>
                    <a:lnTo>
                      <a:pt x="4138" y="5725"/>
                    </a:lnTo>
                    <a:lnTo>
                      <a:pt x="4394" y="5597"/>
                    </a:lnTo>
                    <a:lnTo>
                      <a:pt x="4650" y="5456"/>
                    </a:lnTo>
                    <a:lnTo>
                      <a:pt x="4868" y="5277"/>
                    </a:lnTo>
                    <a:lnTo>
                      <a:pt x="5086" y="5085"/>
                    </a:lnTo>
                    <a:lnTo>
                      <a:pt x="5278" y="4880"/>
                    </a:lnTo>
                    <a:lnTo>
                      <a:pt x="5444" y="4649"/>
                    </a:lnTo>
                    <a:lnTo>
                      <a:pt x="5598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4" y="3279"/>
                    </a:lnTo>
                    <a:lnTo>
                      <a:pt x="5957" y="3138"/>
                    </a:lnTo>
                    <a:lnTo>
                      <a:pt x="5957" y="2984"/>
                    </a:lnTo>
                    <a:lnTo>
                      <a:pt x="5957" y="2831"/>
                    </a:lnTo>
                    <a:lnTo>
                      <a:pt x="5944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8" y="1563"/>
                    </a:lnTo>
                    <a:lnTo>
                      <a:pt x="5444" y="1319"/>
                    </a:lnTo>
                    <a:lnTo>
                      <a:pt x="5278" y="1089"/>
                    </a:lnTo>
                    <a:lnTo>
                      <a:pt x="5086" y="871"/>
                    </a:lnTo>
                    <a:lnTo>
                      <a:pt x="4868" y="679"/>
                    </a:lnTo>
                    <a:lnTo>
                      <a:pt x="4650" y="512"/>
                    </a:lnTo>
                    <a:lnTo>
                      <a:pt x="4394" y="359"/>
                    </a:lnTo>
                    <a:lnTo>
                      <a:pt x="4138" y="231"/>
                    </a:lnTo>
                    <a:lnTo>
                      <a:pt x="3869" y="128"/>
                    </a:lnTo>
                    <a:lnTo>
                      <a:pt x="3574" y="64"/>
                    </a:lnTo>
                    <a:lnTo>
                      <a:pt x="3280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2104;p40">
                <a:extLst>
                  <a:ext uri="{FF2B5EF4-FFF2-40B4-BE49-F238E27FC236}">
                    <a16:creationId xmlns:a16="http://schemas.microsoft.com/office/drawing/2014/main" id="{FD891991-C4BD-21D8-C27F-498EC9E96E6D}"/>
                  </a:ext>
                </a:extLst>
              </p:cNvPr>
              <p:cNvSpPr/>
              <p:nvPr/>
            </p:nvSpPr>
            <p:spPr>
              <a:xfrm>
                <a:off x="6233544" y="3952981"/>
                <a:ext cx="12572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84" h="3971" extrusionOk="0">
                    <a:moveTo>
                      <a:pt x="1793" y="0"/>
                    </a:moveTo>
                    <a:lnTo>
                      <a:pt x="1588" y="39"/>
                    </a:lnTo>
                    <a:lnTo>
                      <a:pt x="1396" y="90"/>
                    </a:lnTo>
                    <a:lnTo>
                      <a:pt x="1217" y="154"/>
                    </a:lnTo>
                    <a:lnTo>
                      <a:pt x="1050" y="231"/>
                    </a:lnTo>
                    <a:lnTo>
                      <a:pt x="884" y="333"/>
                    </a:lnTo>
                    <a:lnTo>
                      <a:pt x="730" y="448"/>
                    </a:lnTo>
                    <a:lnTo>
                      <a:pt x="589" y="577"/>
                    </a:lnTo>
                    <a:lnTo>
                      <a:pt x="461" y="717"/>
                    </a:lnTo>
                    <a:lnTo>
                      <a:pt x="346" y="871"/>
                    </a:lnTo>
                    <a:lnTo>
                      <a:pt x="243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51" y="1576"/>
                    </a:lnTo>
                    <a:lnTo>
                      <a:pt x="13" y="1780"/>
                    </a:lnTo>
                    <a:lnTo>
                      <a:pt x="0" y="1985"/>
                    </a:lnTo>
                    <a:lnTo>
                      <a:pt x="13" y="2178"/>
                    </a:lnTo>
                    <a:lnTo>
                      <a:pt x="51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3" y="2933"/>
                    </a:lnTo>
                    <a:lnTo>
                      <a:pt x="346" y="3087"/>
                    </a:lnTo>
                    <a:lnTo>
                      <a:pt x="461" y="3241"/>
                    </a:lnTo>
                    <a:lnTo>
                      <a:pt x="589" y="3381"/>
                    </a:lnTo>
                    <a:lnTo>
                      <a:pt x="730" y="3510"/>
                    </a:lnTo>
                    <a:lnTo>
                      <a:pt x="884" y="3625"/>
                    </a:lnTo>
                    <a:lnTo>
                      <a:pt x="1050" y="3727"/>
                    </a:lnTo>
                    <a:lnTo>
                      <a:pt x="1217" y="3817"/>
                    </a:lnTo>
                    <a:lnTo>
                      <a:pt x="1396" y="3881"/>
                    </a:lnTo>
                    <a:lnTo>
                      <a:pt x="1588" y="3932"/>
                    </a:lnTo>
                    <a:lnTo>
                      <a:pt x="1793" y="3958"/>
                    </a:lnTo>
                    <a:lnTo>
                      <a:pt x="1985" y="3971"/>
                    </a:lnTo>
                    <a:lnTo>
                      <a:pt x="2190" y="3958"/>
                    </a:lnTo>
                    <a:lnTo>
                      <a:pt x="2395" y="3932"/>
                    </a:lnTo>
                    <a:lnTo>
                      <a:pt x="2587" y="3881"/>
                    </a:lnTo>
                    <a:lnTo>
                      <a:pt x="2767" y="3817"/>
                    </a:lnTo>
                    <a:lnTo>
                      <a:pt x="2933" y="3727"/>
                    </a:lnTo>
                    <a:lnTo>
                      <a:pt x="3100" y="3625"/>
                    </a:lnTo>
                    <a:lnTo>
                      <a:pt x="3253" y="3510"/>
                    </a:lnTo>
                    <a:lnTo>
                      <a:pt x="3394" y="3381"/>
                    </a:lnTo>
                    <a:lnTo>
                      <a:pt x="3522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2" y="2382"/>
                    </a:lnTo>
                    <a:lnTo>
                      <a:pt x="3971" y="2178"/>
                    </a:lnTo>
                    <a:lnTo>
                      <a:pt x="3983" y="1985"/>
                    </a:lnTo>
                    <a:lnTo>
                      <a:pt x="3971" y="1780"/>
                    </a:lnTo>
                    <a:lnTo>
                      <a:pt x="3932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2" y="717"/>
                    </a:lnTo>
                    <a:lnTo>
                      <a:pt x="3394" y="577"/>
                    </a:lnTo>
                    <a:lnTo>
                      <a:pt x="3253" y="448"/>
                    </a:lnTo>
                    <a:lnTo>
                      <a:pt x="3100" y="333"/>
                    </a:lnTo>
                    <a:lnTo>
                      <a:pt x="2933" y="231"/>
                    </a:lnTo>
                    <a:lnTo>
                      <a:pt x="2767" y="154"/>
                    </a:lnTo>
                    <a:lnTo>
                      <a:pt x="2587" y="90"/>
                    </a:lnTo>
                    <a:lnTo>
                      <a:pt x="2395" y="39"/>
                    </a:lnTo>
                    <a:lnTo>
                      <a:pt x="2190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Google Shape;2105;p40">
                <a:extLst>
                  <a:ext uri="{FF2B5EF4-FFF2-40B4-BE49-F238E27FC236}">
                    <a16:creationId xmlns:a16="http://schemas.microsoft.com/office/drawing/2014/main" id="{8DEF5175-05D9-DBBA-5E59-59F41B7D7078}"/>
                  </a:ext>
                </a:extLst>
              </p:cNvPr>
              <p:cNvSpPr/>
              <p:nvPr/>
            </p:nvSpPr>
            <p:spPr>
              <a:xfrm>
                <a:off x="6269110" y="3988547"/>
                <a:ext cx="5459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30" h="1717" extrusionOk="0">
                    <a:moveTo>
                      <a:pt x="781" y="0"/>
                    </a:moveTo>
                    <a:lnTo>
                      <a:pt x="692" y="13"/>
                    </a:lnTo>
                    <a:lnTo>
                      <a:pt x="615" y="39"/>
                    </a:lnTo>
                    <a:lnTo>
                      <a:pt x="525" y="64"/>
                    </a:lnTo>
                    <a:lnTo>
                      <a:pt x="448" y="103"/>
                    </a:lnTo>
                    <a:lnTo>
                      <a:pt x="384" y="141"/>
                    </a:lnTo>
                    <a:lnTo>
                      <a:pt x="320" y="192"/>
                    </a:lnTo>
                    <a:lnTo>
                      <a:pt x="256" y="244"/>
                    </a:lnTo>
                    <a:lnTo>
                      <a:pt x="205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7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3" y="769"/>
                    </a:lnTo>
                    <a:lnTo>
                      <a:pt x="0" y="858"/>
                    </a:lnTo>
                    <a:lnTo>
                      <a:pt x="13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7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5" y="1396"/>
                    </a:lnTo>
                    <a:lnTo>
                      <a:pt x="256" y="1460"/>
                    </a:lnTo>
                    <a:lnTo>
                      <a:pt x="320" y="1512"/>
                    </a:lnTo>
                    <a:lnTo>
                      <a:pt x="384" y="1563"/>
                    </a:lnTo>
                    <a:lnTo>
                      <a:pt x="448" y="1614"/>
                    </a:lnTo>
                    <a:lnTo>
                      <a:pt x="525" y="1640"/>
                    </a:lnTo>
                    <a:lnTo>
                      <a:pt x="615" y="1678"/>
                    </a:lnTo>
                    <a:lnTo>
                      <a:pt x="692" y="1691"/>
                    </a:lnTo>
                    <a:lnTo>
                      <a:pt x="781" y="1704"/>
                    </a:lnTo>
                    <a:lnTo>
                      <a:pt x="858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4" y="1678"/>
                    </a:lnTo>
                    <a:lnTo>
                      <a:pt x="1204" y="1640"/>
                    </a:lnTo>
                    <a:lnTo>
                      <a:pt x="1268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3" y="1460"/>
                    </a:lnTo>
                    <a:lnTo>
                      <a:pt x="1524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2" y="1191"/>
                    </a:lnTo>
                    <a:lnTo>
                      <a:pt x="1691" y="1115"/>
                    </a:lnTo>
                    <a:lnTo>
                      <a:pt x="1704" y="1025"/>
                    </a:lnTo>
                    <a:lnTo>
                      <a:pt x="1716" y="935"/>
                    </a:lnTo>
                    <a:lnTo>
                      <a:pt x="1729" y="858"/>
                    </a:lnTo>
                    <a:lnTo>
                      <a:pt x="1716" y="769"/>
                    </a:lnTo>
                    <a:lnTo>
                      <a:pt x="1704" y="679"/>
                    </a:lnTo>
                    <a:lnTo>
                      <a:pt x="1691" y="602"/>
                    </a:lnTo>
                    <a:lnTo>
                      <a:pt x="1652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4" y="308"/>
                    </a:lnTo>
                    <a:lnTo>
                      <a:pt x="1473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8" y="103"/>
                    </a:lnTo>
                    <a:lnTo>
                      <a:pt x="1204" y="64"/>
                    </a:lnTo>
                    <a:lnTo>
                      <a:pt x="1114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Google Shape;2106;p40">
                <a:extLst>
                  <a:ext uri="{FF2B5EF4-FFF2-40B4-BE49-F238E27FC236}">
                    <a16:creationId xmlns:a16="http://schemas.microsoft.com/office/drawing/2014/main" id="{9E904758-E699-A702-8A5E-79C47CA9682A}"/>
                  </a:ext>
                </a:extLst>
              </p:cNvPr>
              <p:cNvSpPr/>
              <p:nvPr/>
            </p:nvSpPr>
            <p:spPr>
              <a:xfrm>
                <a:off x="6836581" y="3921455"/>
                <a:ext cx="187988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7" h="5956" extrusionOk="0">
                    <a:moveTo>
                      <a:pt x="2818" y="0"/>
                    </a:moveTo>
                    <a:lnTo>
                      <a:pt x="2677" y="13"/>
                    </a:lnTo>
                    <a:lnTo>
                      <a:pt x="2383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63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13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64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64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13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63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83" y="5905"/>
                    </a:lnTo>
                    <a:lnTo>
                      <a:pt x="2677" y="5943"/>
                    </a:lnTo>
                    <a:lnTo>
                      <a:pt x="2818" y="5956"/>
                    </a:lnTo>
                    <a:lnTo>
                      <a:pt x="3126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68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26" y="4137"/>
                    </a:lnTo>
                    <a:lnTo>
                      <a:pt x="5828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56" y="3138"/>
                    </a:lnTo>
                    <a:lnTo>
                      <a:pt x="5956" y="2984"/>
                    </a:lnTo>
                    <a:lnTo>
                      <a:pt x="5956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28" y="2088"/>
                    </a:lnTo>
                    <a:lnTo>
                      <a:pt x="5726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68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6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Google Shape;2107;p40">
                <a:extLst>
                  <a:ext uri="{FF2B5EF4-FFF2-40B4-BE49-F238E27FC236}">
                    <a16:creationId xmlns:a16="http://schemas.microsoft.com/office/drawing/2014/main" id="{AEF5D1DE-1058-EFD4-9516-1A8A1D3E53F7}"/>
                  </a:ext>
                </a:extLst>
              </p:cNvPr>
              <p:cNvSpPr/>
              <p:nvPr/>
            </p:nvSpPr>
            <p:spPr>
              <a:xfrm>
                <a:off x="6867697" y="3952981"/>
                <a:ext cx="125346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2" h="3971" extrusionOk="0">
                    <a:moveTo>
                      <a:pt x="1794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84" y="333"/>
                    </a:lnTo>
                    <a:lnTo>
                      <a:pt x="731" y="448"/>
                    </a:lnTo>
                    <a:lnTo>
                      <a:pt x="590" y="577"/>
                    </a:lnTo>
                    <a:lnTo>
                      <a:pt x="462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67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67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62" y="3241"/>
                    </a:lnTo>
                    <a:lnTo>
                      <a:pt x="590" y="3381"/>
                    </a:lnTo>
                    <a:lnTo>
                      <a:pt x="731" y="3510"/>
                    </a:lnTo>
                    <a:lnTo>
                      <a:pt x="884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94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96" y="3932"/>
                    </a:lnTo>
                    <a:lnTo>
                      <a:pt x="2588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94" y="2575"/>
                    </a:lnTo>
                    <a:lnTo>
                      <a:pt x="3933" y="2382"/>
                    </a:lnTo>
                    <a:lnTo>
                      <a:pt x="3971" y="2178"/>
                    </a:lnTo>
                    <a:lnTo>
                      <a:pt x="3971" y="1985"/>
                    </a:lnTo>
                    <a:lnTo>
                      <a:pt x="3971" y="1780"/>
                    </a:lnTo>
                    <a:lnTo>
                      <a:pt x="3933" y="1576"/>
                    </a:lnTo>
                    <a:lnTo>
                      <a:pt x="3894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88" y="90"/>
                    </a:lnTo>
                    <a:lnTo>
                      <a:pt x="2396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Google Shape;2108;p40">
                <a:extLst>
                  <a:ext uri="{FF2B5EF4-FFF2-40B4-BE49-F238E27FC236}">
                    <a16:creationId xmlns:a16="http://schemas.microsoft.com/office/drawing/2014/main" id="{BBA1FC50-5EED-5A34-354A-EB6C4C2108AB}"/>
                  </a:ext>
                </a:extLst>
              </p:cNvPr>
              <p:cNvSpPr/>
              <p:nvPr/>
            </p:nvSpPr>
            <p:spPr>
              <a:xfrm>
                <a:off x="6903263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82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21" y="192"/>
                    </a:lnTo>
                    <a:lnTo>
                      <a:pt x="257" y="244"/>
                    </a:lnTo>
                    <a:lnTo>
                      <a:pt x="206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78" y="525"/>
                    </a:lnTo>
                    <a:lnTo>
                      <a:pt x="39" y="602"/>
                    </a:lnTo>
                    <a:lnTo>
                      <a:pt x="26" y="679"/>
                    </a:lnTo>
                    <a:lnTo>
                      <a:pt x="14" y="769"/>
                    </a:lnTo>
                    <a:lnTo>
                      <a:pt x="1" y="858"/>
                    </a:lnTo>
                    <a:lnTo>
                      <a:pt x="14" y="935"/>
                    </a:lnTo>
                    <a:lnTo>
                      <a:pt x="26" y="1025"/>
                    </a:lnTo>
                    <a:lnTo>
                      <a:pt x="39" y="1115"/>
                    </a:lnTo>
                    <a:lnTo>
                      <a:pt x="78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206" y="1396"/>
                    </a:lnTo>
                    <a:lnTo>
                      <a:pt x="257" y="1460"/>
                    </a:lnTo>
                    <a:lnTo>
                      <a:pt x="321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82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205" y="1640"/>
                    </a:lnTo>
                    <a:lnTo>
                      <a:pt x="1269" y="1614"/>
                    </a:lnTo>
                    <a:lnTo>
                      <a:pt x="1346" y="1563"/>
                    </a:lnTo>
                    <a:lnTo>
                      <a:pt x="1410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9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9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10" y="192"/>
                    </a:lnTo>
                    <a:lnTo>
                      <a:pt x="1346" y="141"/>
                    </a:lnTo>
                    <a:lnTo>
                      <a:pt x="1269" y="103"/>
                    </a:lnTo>
                    <a:lnTo>
                      <a:pt x="1205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2109;p40">
                <a:extLst>
                  <a:ext uri="{FF2B5EF4-FFF2-40B4-BE49-F238E27FC236}">
                    <a16:creationId xmlns:a16="http://schemas.microsoft.com/office/drawing/2014/main" id="{6333164D-0B2D-4FB9-D65B-B958F492684D}"/>
                  </a:ext>
                </a:extLst>
              </p:cNvPr>
              <p:cNvSpPr/>
              <p:nvPr/>
            </p:nvSpPr>
            <p:spPr>
              <a:xfrm>
                <a:off x="5896444" y="3921455"/>
                <a:ext cx="187956" cy="187956"/>
              </a:xfrm>
              <a:custGeom>
                <a:avLst/>
                <a:gdLst/>
                <a:ahLst/>
                <a:cxnLst/>
                <a:rect l="l" t="t" r="r" b="b"/>
                <a:pathLst>
                  <a:path w="5956" h="5956" extrusionOk="0">
                    <a:moveTo>
                      <a:pt x="2818" y="0"/>
                    </a:moveTo>
                    <a:lnTo>
                      <a:pt x="2664" y="13"/>
                    </a:lnTo>
                    <a:lnTo>
                      <a:pt x="2370" y="64"/>
                    </a:lnTo>
                    <a:lnTo>
                      <a:pt x="2088" y="128"/>
                    </a:lnTo>
                    <a:lnTo>
                      <a:pt x="1819" y="231"/>
                    </a:lnTo>
                    <a:lnTo>
                      <a:pt x="1550" y="359"/>
                    </a:lnTo>
                    <a:lnTo>
                      <a:pt x="1307" y="512"/>
                    </a:lnTo>
                    <a:lnTo>
                      <a:pt x="1076" y="679"/>
                    </a:lnTo>
                    <a:lnTo>
                      <a:pt x="871" y="871"/>
                    </a:lnTo>
                    <a:lnTo>
                      <a:pt x="679" y="1089"/>
                    </a:lnTo>
                    <a:lnTo>
                      <a:pt x="500" y="1319"/>
                    </a:lnTo>
                    <a:lnTo>
                      <a:pt x="359" y="1563"/>
                    </a:lnTo>
                    <a:lnTo>
                      <a:pt x="231" y="1819"/>
                    </a:lnTo>
                    <a:lnTo>
                      <a:pt x="128" y="2088"/>
                    </a:lnTo>
                    <a:lnTo>
                      <a:pt x="52" y="2382"/>
                    </a:lnTo>
                    <a:lnTo>
                      <a:pt x="13" y="2677"/>
                    </a:lnTo>
                    <a:lnTo>
                      <a:pt x="0" y="2831"/>
                    </a:lnTo>
                    <a:lnTo>
                      <a:pt x="0" y="2984"/>
                    </a:lnTo>
                    <a:lnTo>
                      <a:pt x="0" y="3138"/>
                    </a:lnTo>
                    <a:lnTo>
                      <a:pt x="13" y="3279"/>
                    </a:lnTo>
                    <a:lnTo>
                      <a:pt x="52" y="3586"/>
                    </a:lnTo>
                    <a:lnTo>
                      <a:pt x="128" y="3868"/>
                    </a:lnTo>
                    <a:lnTo>
                      <a:pt x="231" y="4137"/>
                    </a:lnTo>
                    <a:lnTo>
                      <a:pt x="359" y="4406"/>
                    </a:lnTo>
                    <a:lnTo>
                      <a:pt x="500" y="4649"/>
                    </a:lnTo>
                    <a:lnTo>
                      <a:pt x="679" y="4880"/>
                    </a:lnTo>
                    <a:lnTo>
                      <a:pt x="871" y="5085"/>
                    </a:lnTo>
                    <a:lnTo>
                      <a:pt x="1076" y="5277"/>
                    </a:lnTo>
                    <a:lnTo>
                      <a:pt x="1307" y="5456"/>
                    </a:lnTo>
                    <a:lnTo>
                      <a:pt x="1550" y="5597"/>
                    </a:lnTo>
                    <a:lnTo>
                      <a:pt x="1819" y="5725"/>
                    </a:lnTo>
                    <a:lnTo>
                      <a:pt x="2088" y="5828"/>
                    </a:lnTo>
                    <a:lnTo>
                      <a:pt x="2370" y="5905"/>
                    </a:lnTo>
                    <a:lnTo>
                      <a:pt x="2664" y="5943"/>
                    </a:lnTo>
                    <a:lnTo>
                      <a:pt x="2818" y="5956"/>
                    </a:lnTo>
                    <a:lnTo>
                      <a:pt x="3125" y="5956"/>
                    </a:lnTo>
                    <a:lnTo>
                      <a:pt x="3279" y="5943"/>
                    </a:lnTo>
                    <a:lnTo>
                      <a:pt x="3574" y="5905"/>
                    </a:lnTo>
                    <a:lnTo>
                      <a:pt x="3855" y="5828"/>
                    </a:lnTo>
                    <a:lnTo>
                      <a:pt x="4137" y="5725"/>
                    </a:lnTo>
                    <a:lnTo>
                      <a:pt x="4393" y="5597"/>
                    </a:lnTo>
                    <a:lnTo>
                      <a:pt x="4637" y="5456"/>
                    </a:lnTo>
                    <a:lnTo>
                      <a:pt x="4867" y="5277"/>
                    </a:lnTo>
                    <a:lnTo>
                      <a:pt x="5085" y="5085"/>
                    </a:lnTo>
                    <a:lnTo>
                      <a:pt x="5277" y="4880"/>
                    </a:lnTo>
                    <a:lnTo>
                      <a:pt x="5444" y="4649"/>
                    </a:lnTo>
                    <a:lnTo>
                      <a:pt x="5597" y="4406"/>
                    </a:lnTo>
                    <a:lnTo>
                      <a:pt x="5713" y="4137"/>
                    </a:lnTo>
                    <a:lnTo>
                      <a:pt x="5815" y="3868"/>
                    </a:lnTo>
                    <a:lnTo>
                      <a:pt x="5892" y="3586"/>
                    </a:lnTo>
                    <a:lnTo>
                      <a:pt x="5943" y="3279"/>
                    </a:lnTo>
                    <a:lnTo>
                      <a:pt x="5943" y="3138"/>
                    </a:lnTo>
                    <a:lnTo>
                      <a:pt x="5956" y="2984"/>
                    </a:lnTo>
                    <a:lnTo>
                      <a:pt x="5943" y="2831"/>
                    </a:lnTo>
                    <a:lnTo>
                      <a:pt x="5943" y="2677"/>
                    </a:lnTo>
                    <a:lnTo>
                      <a:pt x="5892" y="2382"/>
                    </a:lnTo>
                    <a:lnTo>
                      <a:pt x="5815" y="2088"/>
                    </a:lnTo>
                    <a:lnTo>
                      <a:pt x="5713" y="1819"/>
                    </a:lnTo>
                    <a:lnTo>
                      <a:pt x="5597" y="1563"/>
                    </a:lnTo>
                    <a:lnTo>
                      <a:pt x="5444" y="1319"/>
                    </a:lnTo>
                    <a:lnTo>
                      <a:pt x="5277" y="1089"/>
                    </a:lnTo>
                    <a:lnTo>
                      <a:pt x="5085" y="871"/>
                    </a:lnTo>
                    <a:lnTo>
                      <a:pt x="4867" y="679"/>
                    </a:lnTo>
                    <a:lnTo>
                      <a:pt x="4637" y="512"/>
                    </a:lnTo>
                    <a:lnTo>
                      <a:pt x="4393" y="359"/>
                    </a:lnTo>
                    <a:lnTo>
                      <a:pt x="4137" y="231"/>
                    </a:lnTo>
                    <a:lnTo>
                      <a:pt x="3855" y="128"/>
                    </a:lnTo>
                    <a:lnTo>
                      <a:pt x="3574" y="64"/>
                    </a:lnTo>
                    <a:lnTo>
                      <a:pt x="3279" y="13"/>
                    </a:lnTo>
                    <a:lnTo>
                      <a:pt x="3125" y="0"/>
                    </a:lnTo>
                    <a:close/>
                  </a:path>
                </a:pathLst>
              </a:custGeom>
              <a:solidFill>
                <a:srgbClr val="1FC5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Google Shape;2110;p40">
                <a:extLst>
                  <a:ext uri="{FF2B5EF4-FFF2-40B4-BE49-F238E27FC236}">
                    <a16:creationId xmlns:a16="http://schemas.microsoft.com/office/drawing/2014/main" id="{2193FB26-A65D-B8CD-E14E-2B7BAFB31460}"/>
                  </a:ext>
                </a:extLst>
              </p:cNvPr>
              <p:cNvSpPr/>
              <p:nvPr/>
            </p:nvSpPr>
            <p:spPr>
              <a:xfrm>
                <a:off x="5927560" y="3952981"/>
                <a:ext cx="125315" cy="125315"/>
              </a:xfrm>
              <a:custGeom>
                <a:avLst/>
                <a:gdLst/>
                <a:ahLst/>
                <a:cxnLst/>
                <a:rect l="l" t="t" r="r" b="b"/>
                <a:pathLst>
                  <a:path w="3971" h="3971" extrusionOk="0">
                    <a:moveTo>
                      <a:pt x="1781" y="0"/>
                    </a:moveTo>
                    <a:lnTo>
                      <a:pt x="1589" y="39"/>
                    </a:lnTo>
                    <a:lnTo>
                      <a:pt x="1397" y="90"/>
                    </a:lnTo>
                    <a:lnTo>
                      <a:pt x="1217" y="154"/>
                    </a:lnTo>
                    <a:lnTo>
                      <a:pt x="1038" y="231"/>
                    </a:lnTo>
                    <a:lnTo>
                      <a:pt x="871" y="333"/>
                    </a:lnTo>
                    <a:lnTo>
                      <a:pt x="718" y="448"/>
                    </a:lnTo>
                    <a:lnTo>
                      <a:pt x="577" y="577"/>
                    </a:lnTo>
                    <a:lnTo>
                      <a:pt x="449" y="717"/>
                    </a:lnTo>
                    <a:lnTo>
                      <a:pt x="346" y="871"/>
                    </a:lnTo>
                    <a:lnTo>
                      <a:pt x="244" y="1038"/>
                    </a:lnTo>
                    <a:lnTo>
                      <a:pt x="154" y="1204"/>
                    </a:lnTo>
                    <a:lnTo>
                      <a:pt x="90" y="1396"/>
                    </a:lnTo>
                    <a:lnTo>
                      <a:pt x="39" y="1576"/>
                    </a:lnTo>
                    <a:lnTo>
                      <a:pt x="13" y="1780"/>
                    </a:lnTo>
                    <a:lnTo>
                      <a:pt x="1" y="1985"/>
                    </a:lnTo>
                    <a:lnTo>
                      <a:pt x="13" y="2178"/>
                    </a:lnTo>
                    <a:lnTo>
                      <a:pt x="39" y="2382"/>
                    </a:lnTo>
                    <a:lnTo>
                      <a:pt x="90" y="2575"/>
                    </a:lnTo>
                    <a:lnTo>
                      <a:pt x="154" y="2754"/>
                    </a:lnTo>
                    <a:lnTo>
                      <a:pt x="244" y="2933"/>
                    </a:lnTo>
                    <a:lnTo>
                      <a:pt x="346" y="3087"/>
                    </a:lnTo>
                    <a:lnTo>
                      <a:pt x="449" y="3241"/>
                    </a:lnTo>
                    <a:lnTo>
                      <a:pt x="577" y="3381"/>
                    </a:lnTo>
                    <a:lnTo>
                      <a:pt x="718" y="3510"/>
                    </a:lnTo>
                    <a:lnTo>
                      <a:pt x="871" y="3625"/>
                    </a:lnTo>
                    <a:lnTo>
                      <a:pt x="1038" y="3727"/>
                    </a:lnTo>
                    <a:lnTo>
                      <a:pt x="1217" y="3817"/>
                    </a:lnTo>
                    <a:lnTo>
                      <a:pt x="1397" y="3881"/>
                    </a:lnTo>
                    <a:lnTo>
                      <a:pt x="1589" y="3932"/>
                    </a:lnTo>
                    <a:lnTo>
                      <a:pt x="1781" y="3958"/>
                    </a:lnTo>
                    <a:lnTo>
                      <a:pt x="1986" y="3971"/>
                    </a:lnTo>
                    <a:lnTo>
                      <a:pt x="2191" y="3958"/>
                    </a:lnTo>
                    <a:lnTo>
                      <a:pt x="2383" y="3932"/>
                    </a:lnTo>
                    <a:lnTo>
                      <a:pt x="2575" y="3881"/>
                    </a:lnTo>
                    <a:lnTo>
                      <a:pt x="2767" y="3817"/>
                    </a:lnTo>
                    <a:lnTo>
                      <a:pt x="2934" y="3727"/>
                    </a:lnTo>
                    <a:lnTo>
                      <a:pt x="3100" y="3625"/>
                    </a:lnTo>
                    <a:lnTo>
                      <a:pt x="3254" y="3510"/>
                    </a:lnTo>
                    <a:lnTo>
                      <a:pt x="3395" y="3381"/>
                    </a:lnTo>
                    <a:lnTo>
                      <a:pt x="3523" y="3241"/>
                    </a:lnTo>
                    <a:lnTo>
                      <a:pt x="3638" y="3087"/>
                    </a:lnTo>
                    <a:lnTo>
                      <a:pt x="3740" y="2933"/>
                    </a:lnTo>
                    <a:lnTo>
                      <a:pt x="3817" y="2754"/>
                    </a:lnTo>
                    <a:lnTo>
                      <a:pt x="3881" y="2575"/>
                    </a:lnTo>
                    <a:lnTo>
                      <a:pt x="3933" y="2382"/>
                    </a:lnTo>
                    <a:lnTo>
                      <a:pt x="3958" y="2178"/>
                    </a:lnTo>
                    <a:lnTo>
                      <a:pt x="3971" y="1985"/>
                    </a:lnTo>
                    <a:lnTo>
                      <a:pt x="3958" y="1780"/>
                    </a:lnTo>
                    <a:lnTo>
                      <a:pt x="3933" y="1576"/>
                    </a:lnTo>
                    <a:lnTo>
                      <a:pt x="3881" y="1396"/>
                    </a:lnTo>
                    <a:lnTo>
                      <a:pt x="3817" y="1204"/>
                    </a:lnTo>
                    <a:lnTo>
                      <a:pt x="3740" y="1038"/>
                    </a:lnTo>
                    <a:lnTo>
                      <a:pt x="3638" y="871"/>
                    </a:lnTo>
                    <a:lnTo>
                      <a:pt x="3523" y="717"/>
                    </a:lnTo>
                    <a:lnTo>
                      <a:pt x="3395" y="577"/>
                    </a:lnTo>
                    <a:lnTo>
                      <a:pt x="3254" y="448"/>
                    </a:lnTo>
                    <a:lnTo>
                      <a:pt x="3100" y="333"/>
                    </a:lnTo>
                    <a:lnTo>
                      <a:pt x="2934" y="231"/>
                    </a:lnTo>
                    <a:lnTo>
                      <a:pt x="2767" y="154"/>
                    </a:lnTo>
                    <a:lnTo>
                      <a:pt x="2575" y="90"/>
                    </a:lnTo>
                    <a:lnTo>
                      <a:pt x="2383" y="39"/>
                    </a:lnTo>
                    <a:lnTo>
                      <a:pt x="2191" y="0"/>
                    </a:lnTo>
                    <a:close/>
                  </a:path>
                </a:pathLst>
              </a:custGeom>
              <a:solidFill>
                <a:srgbClr val="05A8E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Google Shape;2111;p40">
                <a:extLst>
                  <a:ext uri="{FF2B5EF4-FFF2-40B4-BE49-F238E27FC236}">
                    <a16:creationId xmlns:a16="http://schemas.microsoft.com/office/drawing/2014/main" id="{A0B21A76-DE51-12F9-93C5-8F517B3F17DA}"/>
                  </a:ext>
                </a:extLst>
              </p:cNvPr>
              <p:cNvSpPr/>
              <p:nvPr/>
            </p:nvSpPr>
            <p:spPr>
              <a:xfrm>
                <a:off x="5963126" y="3988547"/>
                <a:ext cx="54184" cy="54184"/>
              </a:xfrm>
              <a:custGeom>
                <a:avLst/>
                <a:gdLst/>
                <a:ahLst/>
                <a:cxnLst/>
                <a:rect l="l" t="t" r="r" b="b"/>
                <a:pathLst>
                  <a:path w="1717" h="1717" extrusionOk="0">
                    <a:moveTo>
                      <a:pt x="769" y="0"/>
                    </a:moveTo>
                    <a:lnTo>
                      <a:pt x="692" y="13"/>
                    </a:lnTo>
                    <a:lnTo>
                      <a:pt x="603" y="39"/>
                    </a:lnTo>
                    <a:lnTo>
                      <a:pt x="526" y="64"/>
                    </a:lnTo>
                    <a:lnTo>
                      <a:pt x="449" y="103"/>
                    </a:lnTo>
                    <a:lnTo>
                      <a:pt x="385" y="141"/>
                    </a:lnTo>
                    <a:lnTo>
                      <a:pt x="308" y="192"/>
                    </a:lnTo>
                    <a:lnTo>
                      <a:pt x="257" y="244"/>
                    </a:lnTo>
                    <a:lnTo>
                      <a:pt x="193" y="308"/>
                    </a:lnTo>
                    <a:lnTo>
                      <a:pt x="154" y="372"/>
                    </a:lnTo>
                    <a:lnTo>
                      <a:pt x="103" y="449"/>
                    </a:lnTo>
                    <a:lnTo>
                      <a:pt x="65" y="525"/>
                    </a:lnTo>
                    <a:lnTo>
                      <a:pt x="39" y="602"/>
                    </a:lnTo>
                    <a:lnTo>
                      <a:pt x="13" y="679"/>
                    </a:lnTo>
                    <a:lnTo>
                      <a:pt x="1" y="769"/>
                    </a:lnTo>
                    <a:lnTo>
                      <a:pt x="1" y="858"/>
                    </a:lnTo>
                    <a:lnTo>
                      <a:pt x="1" y="935"/>
                    </a:lnTo>
                    <a:lnTo>
                      <a:pt x="13" y="1025"/>
                    </a:lnTo>
                    <a:lnTo>
                      <a:pt x="39" y="1115"/>
                    </a:lnTo>
                    <a:lnTo>
                      <a:pt x="65" y="1191"/>
                    </a:lnTo>
                    <a:lnTo>
                      <a:pt x="103" y="1268"/>
                    </a:lnTo>
                    <a:lnTo>
                      <a:pt x="154" y="1332"/>
                    </a:lnTo>
                    <a:lnTo>
                      <a:pt x="193" y="1396"/>
                    </a:lnTo>
                    <a:lnTo>
                      <a:pt x="257" y="1460"/>
                    </a:lnTo>
                    <a:lnTo>
                      <a:pt x="308" y="1512"/>
                    </a:lnTo>
                    <a:lnTo>
                      <a:pt x="385" y="1563"/>
                    </a:lnTo>
                    <a:lnTo>
                      <a:pt x="449" y="1614"/>
                    </a:lnTo>
                    <a:lnTo>
                      <a:pt x="526" y="1640"/>
                    </a:lnTo>
                    <a:lnTo>
                      <a:pt x="603" y="1678"/>
                    </a:lnTo>
                    <a:lnTo>
                      <a:pt x="692" y="1691"/>
                    </a:lnTo>
                    <a:lnTo>
                      <a:pt x="769" y="1704"/>
                    </a:lnTo>
                    <a:lnTo>
                      <a:pt x="859" y="1717"/>
                    </a:lnTo>
                    <a:lnTo>
                      <a:pt x="948" y="1704"/>
                    </a:lnTo>
                    <a:lnTo>
                      <a:pt x="1038" y="1691"/>
                    </a:lnTo>
                    <a:lnTo>
                      <a:pt x="1115" y="1678"/>
                    </a:lnTo>
                    <a:lnTo>
                      <a:pt x="1192" y="1640"/>
                    </a:lnTo>
                    <a:lnTo>
                      <a:pt x="1269" y="1614"/>
                    </a:lnTo>
                    <a:lnTo>
                      <a:pt x="1345" y="1563"/>
                    </a:lnTo>
                    <a:lnTo>
                      <a:pt x="1409" y="1512"/>
                    </a:lnTo>
                    <a:lnTo>
                      <a:pt x="1474" y="1460"/>
                    </a:lnTo>
                    <a:lnTo>
                      <a:pt x="1525" y="1396"/>
                    </a:lnTo>
                    <a:lnTo>
                      <a:pt x="1576" y="1332"/>
                    </a:lnTo>
                    <a:lnTo>
                      <a:pt x="1614" y="1268"/>
                    </a:lnTo>
                    <a:lnTo>
                      <a:pt x="1653" y="1191"/>
                    </a:lnTo>
                    <a:lnTo>
                      <a:pt x="1678" y="1115"/>
                    </a:lnTo>
                    <a:lnTo>
                      <a:pt x="1704" y="1025"/>
                    </a:lnTo>
                    <a:lnTo>
                      <a:pt x="1717" y="935"/>
                    </a:lnTo>
                    <a:lnTo>
                      <a:pt x="1717" y="858"/>
                    </a:lnTo>
                    <a:lnTo>
                      <a:pt x="1717" y="769"/>
                    </a:lnTo>
                    <a:lnTo>
                      <a:pt x="1704" y="679"/>
                    </a:lnTo>
                    <a:lnTo>
                      <a:pt x="1678" y="602"/>
                    </a:lnTo>
                    <a:lnTo>
                      <a:pt x="1653" y="525"/>
                    </a:lnTo>
                    <a:lnTo>
                      <a:pt x="1614" y="449"/>
                    </a:lnTo>
                    <a:lnTo>
                      <a:pt x="1576" y="372"/>
                    </a:lnTo>
                    <a:lnTo>
                      <a:pt x="1525" y="308"/>
                    </a:lnTo>
                    <a:lnTo>
                      <a:pt x="1474" y="244"/>
                    </a:lnTo>
                    <a:lnTo>
                      <a:pt x="1409" y="192"/>
                    </a:lnTo>
                    <a:lnTo>
                      <a:pt x="1345" y="141"/>
                    </a:lnTo>
                    <a:lnTo>
                      <a:pt x="1269" y="103"/>
                    </a:lnTo>
                    <a:lnTo>
                      <a:pt x="1192" y="64"/>
                    </a:lnTo>
                    <a:lnTo>
                      <a:pt x="1115" y="39"/>
                    </a:lnTo>
                    <a:lnTo>
                      <a:pt x="1038" y="13"/>
                    </a:lnTo>
                    <a:lnTo>
                      <a:pt x="948" y="0"/>
                    </a:lnTo>
                    <a:close/>
                  </a:path>
                </a:pathLst>
              </a:custGeom>
              <a:solidFill>
                <a:srgbClr val="4ADD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74436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F7893303-6754-608E-D8D8-B9EC0D566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6AD3FE-38D4-2BAC-2287-8F341E00E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>
                <a:solidFill>
                  <a:schemeClr val="bg1"/>
                </a:solidFill>
              </a:rPr>
              <a:t>43</a:t>
            </a:fld>
            <a:endParaRPr lang="es-ES_tradnl" b="1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B39BA26-8E8A-A1A6-41ED-0894542CAF6E}"/>
              </a:ext>
            </a:extLst>
          </p:cNvPr>
          <p:cNvSpPr txBox="1"/>
          <p:nvPr/>
        </p:nvSpPr>
        <p:spPr>
          <a:xfrm>
            <a:off x="3279485" y="158606"/>
            <a:ext cx="1089573" cy="313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14C868E-B87B-FCEA-6E85-03D574662505}"/>
              </a:ext>
            </a:extLst>
          </p:cNvPr>
          <p:cNvSpPr txBox="1"/>
          <p:nvPr/>
        </p:nvSpPr>
        <p:spPr>
          <a:xfrm>
            <a:off x="6283186" y="175686"/>
            <a:ext cx="4052304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Rectángulo redondeado 6">
            <a:extLst>
              <a:ext uri="{FF2B5EF4-FFF2-40B4-BE49-F238E27FC236}">
                <a16:creationId xmlns:a16="http://schemas.microsoft.com/office/drawing/2014/main" id="{B7859E5B-74C2-0FFB-B9D1-378F612F848E}"/>
              </a:ext>
            </a:extLst>
          </p:cNvPr>
          <p:cNvSpPr/>
          <p:nvPr/>
        </p:nvSpPr>
        <p:spPr>
          <a:xfrm>
            <a:off x="4369058" y="175685"/>
            <a:ext cx="1914128" cy="307777"/>
          </a:xfrm>
          <a:prstGeom prst="roundRect">
            <a:avLst>
              <a:gd name="adj" fmla="val 50000"/>
            </a:avLst>
          </a:prstGeom>
          <a:solidFill>
            <a:srgbClr val="B477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2.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>
              <a:solidFill>
                <a:schemeClr val="bg1"/>
              </a:solidFill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089F5F73-C399-EF13-C5B1-4CA239B0B1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460" y="1855634"/>
            <a:ext cx="4509614" cy="3252656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529273D7-8FD0-6547-C668-30435B539A16}"/>
              </a:ext>
            </a:extLst>
          </p:cNvPr>
          <p:cNvSpPr txBox="1"/>
          <p:nvPr/>
        </p:nvSpPr>
        <p:spPr>
          <a:xfrm>
            <a:off x="1178204" y="830166"/>
            <a:ext cx="95768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b="1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How PRIM finds a valid input region in </a:t>
            </a:r>
            <a:r>
              <a:rPr lang="en-US" sz="3200" b="1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endParaRPr kumimoji="0" lang="es-ES_tradnl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+mn-cs"/>
            </a:endParaRPr>
          </a:p>
        </p:txBody>
      </p:sp>
      <p:sp>
        <p:nvSpPr>
          <p:cNvPr id="23" name="Google Shape;1857;p37">
            <a:extLst>
              <a:ext uri="{FF2B5EF4-FFF2-40B4-BE49-F238E27FC236}">
                <a16:creationId xmlns:a16="http://schemas.microsoft.com/office/drawing/2014/main" id="{A26716C0-FE92-EBF2-E3AD-CF6BAE21C88F}"/>
              </a:ext>
            </a:extLst>
          </p:cNvPr>
          <p:cNvSpPr/>
          <p:nvPr/>
        </p:nvSpPr>
        <p:spPr bwMode="auto">
          <a:xfrm>
            <a:off x="1019931" y="2292666"/>
            <a:ext cx="5469340" cy="4144771"/>
          </a:xfrm>
          <a:prstGeom prst="round2SameRect">
            <a:avLst>
              <a:gd name="adj1" fmla="val 0"/>
              <a:gd name="adj2" fmla="val 14055"/>
            </a:avLst>
          </a:prstGeom>
          <a:noFill/>
          <a:ln w="28575">
            <a:solidFill>
              <a:srgbClr val="068B2E"/>
            </a:solidFill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lang="en-US" sz="800"/>
          </a:p>
          <a:p>
            <a:pPr>
              <a:buFont typeface="+mj-lt"/>
              <a:buAutoNum type="arabicPeriod"/>
            </a:pPr>
            <a:r>
              <a:rPr lang="en-US"/>
              <a:t> Start with all data (both valid and invalid points)</a:t>
            </a:r>
          </a:p>
          <a:p>
            <a:pPr>
              <a:buFont typeface="+mj-lt"/>
              <a:buAutoNum type="arabicPeriod"/>
            </a:pPr>
            <a:r>
              <a:rPr lang="en-US"/>
              <a:t> </a:t>
            </a:r>
            <a:r>
              <a:rPr lang="en-US" b="1">
                <a:solidFill>
                  <a:srgbClr val="068B2E"/>
                </a:solidFill>
              </a:rPr>
              <a:t>Peeling</a:t>
            </a:r>
            <a:r>
              <a:rPr lang="en-US"/>
              <a:t> phase: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/>
              <a:t>Gradually </a:t>
            </a:r>
            <a:r>
              <a:rPr lang="en-US" b="1" i="1">
                <a:solidFill>
                  <a:srgbClr val="B278E6"/>
                </a:solidFill>
              </a:rPr>
              <a:t>shrink the box</a:t>
            </a:r>
            <a:r>
              <a:rPr lang="en-US" i="1">
                <a:solidFill>
                  <a:srgbClr val="B278E6"/>
                </a:solidFill>
              </a:rPr>
              <a:t> </a:t>
            </a:r>
            <a:r>
              <a:rPr lang="en-US"/>
              <a:t>by removing slices (e.g., lowest 5% of temperature or highest 5% of pressure)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/>
              <a:t>Keep only slices that </a:t>
            </a:r>
            <a:r>
              <a:rPr lang="en-US" b="1" i="1">
                <a:solidFill>
                  <a:srgbClr val="B278E6"/>
                </a:solidFill>
              </a:rPr>
              <a:t>increase prediction precision</a:t>
            </a:r>
            <a:r>
              <a:rPr lang="en-US"/>
              <a:t> (proportion of valid configs)</a:t>
            </a:r>
          </a:p>
          <a:p>
            <a:pPr>
              <a:buFont typeface="+mj-lt"/>
              <a:buAutoNum type="arabicPeriod"/>
            </a:pPr>
            <a:r>
              <a:rPr lang="en-US"/>
              <a:t>Stop when precision = 1: when all predictions inside are valid)</a:t>
            </a:r>
          </a:p>
          <a:p>
            <a:pPr>
              <a:buFont typeface="+mj-lt"/>
              <a:buAutoNum type="arabicPeriod"/>
            </a:pPr>
            <a:r>
              <a:rPr lang="en-US"/>
              <a:t> </a:t>
            </a:r>
            <a:r>
              <a:rPr lang="en-US" b="1">
                <a:solidFill>
                  <a:srgbClr val="068B2E"/>
                </a:solidFill>
              </a:rPr>
              <a:t>Pasting phase</a:t>
            </a:r>
            <a:r>
              <a:rPr lang="en-US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/>
              <a:t>Try </a:t>
            </a:r>
            <a:r>
              <a:rPr lang="en-US" b="1" i="1">
                <a:solidFill>
                  <a:srgbClr val="B278E6"/>
                </a:solidFill>
              </a:rPr>
              <a:t>adding slices back</a:t>
            </a:r>
            <a:r>
              <a:rPr lang="en-US" i="1">
                <a:solidFill>
                  <a:srgbClr val="B278E6"/>
                </a:solidFill>
              </a:rPr>
              <a:t> </a:t>
            </a:r>
            <a:r>
              <a:rPr lang="en-US"/>
              <a:t>(if they don’t reduce precision)</a:t>
            </a:r>
          </a:p>
        </p:txBody>
      </p:sp>
      <p:sp>
        <p:nvSpPr>
          <p:cNvPr id="24" name="Google Shape;1859;p37">
            <a:extLst>
              <a:ext uri="{FF2B5EF4-FFF2-40B4-BE49-F238E27FC236}">
                <a16:creationId xmlns:a16="http://schemas.microsoft.com/office/drawing/2014/main" id="{C10B5823-841C-54AB-F76A-C16EB434A804}"/>
              </a:ext>
            </a:extLst>
          </p:cNvPr>
          <p:cNvSpPr/>
          <p:nvPr/>
        </p:nvSpPr>
        <p:spPr bwMode="auto">
          <a:xfrm>
            <a:off x="1019931" y="1761643"/>
            <a:ext cx="5469338" cy="536846"/>
          </a:xfrm>
          <a:prstGeom prst="round2SameRect">
            <a:avLst>
              <a:gd name="adj1" fmla="val 37630"/>
              <a:gd name="adj2" fmla="val 0"/>
            </a:avLst>
          </a:prstGeom>
          <a:solidFill>
            <a:srgbClr val="008B2E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2400" b="1" i="1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PRIM </a:t>
            </a:r>
            <a:r>
              <a:rPr kumimoji="0" lang="es-ES" sz="2400" b="1" i="1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Steps</a:t>
            </a: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251B8AF-5A8C-480B-54F8-CB02AE6EA20F}"/>
              </a:ext>
            </a:extLst>
          </p:cNvPr>
          <p:cNvSpPr txBox="1"/>
          <p:nvPr/>
        </p:nvSpPr>
        <p:spPr>
          <a:xfrm>
            <a:off x="6966404" y="5267886"/>
            <a:ext cx="50448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/>
              <a:t>Figure: </a:t>
            </a:r>
            <a:r>
              <a:rPr lang="en-US" sz="1400"/>
              <a:t>Valid input region (blue) found by PRIM around the reference point (★); only includes configurations with valid polarization curves.</a:t>
            </a:r>
          </a:p>
        </p:txBody>
      </p:sp>
    </p:spTree>
    <p:extLst>
      <p:ext uri="{BB962C8B-B14F-4D97-AF65-F5344CB8AC3E}">
        <p14:creationId xmlns:p14="http://schemas.microsoft.com/office/powerpoint/2010/main" val="11311515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upo 17">
            <a:extLst>
              <a:ext uri="{FF2B5EF4-FFF2-40B4-BE49-F238E27FC236}">
                <a16:creationId xmlns:a16="http://schemas.microsoft.com/office/drawing/2014/main" id="{F90A6806-4BD0-06DB-A3A0-DAB610194A25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65B7496F-EFC5-FE34-3D81-C2E27003074E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6" name="Rectángulo redondeado 15">
              <a:extLst>
                <a:ext uri="{FF2B5EF4-FFF2-40B4-BE49-F238E27FC236}">
                  <a16:creationId xmlns:a16="http://schemas.microsoft.com/office/drawing/2014/main" id="{EFF6BA26-3C59-85FA-66A3-B4EA77CCB36C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D714282F-E50C-AB26-7D9D-280FDE4788B7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1855" y="2396760"/>
            <a:ext cx="445265" cy="440673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E70CDB3F-DBEA-4544-8641-5AF3541ECD55}"/>
              </a:ext>
            </a:extLst>
          </p:cNvPr>
          <p:cNvSpPr/>
          <p:nvPr/>
        </p:nvSpPr>
        <p:spPr>
          <a:xfrm>
            <a:off x="8679860" y="1796150"/>
            <a:ext cx="3502971" cy="357962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4CB583F6-0C2C-406E-8F02-DCA342A345EB}"/>
              </a:ext>
            </a:extLst>
          </p:cNvPr>
          <p:cNvSpPr txBox="1"/>
          <p:nvPr/>
        </p:nvSpPr>
        <p:spPr>
          <a:xfrm>
            <a:off x="1279804" y="645718"/>
            <a:ext cx="34818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Sobol</a:t>
            </a:r>
            <a:r>
              <a:rPr kumimoji="0" lang="es-ES_tradnl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</a:t>
            </a:r>
            <a:r>
              <a:rPr kumimoji="0" lang="es-ES" sz="4400" b="0" i="1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Indices</a:t>
            </a:r>
            <a:endParaRPr kumimoji="0" lang="es-ES_tradnl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+mn-cs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B6FD8B24-8F4F-492E-8C52-1FD4631FE83E}"/>
              </a:ext>
            </a:extLst>
          </p:cNvPr>
          <p:cNvSpPr txBox="1"/>
          <p:nvPr/>
        </p:nvSpPr>
        <p:spPr>
          <a:xfrm>
            <a:off x="1279804" y="1182683"/>
            <a:ext cx="7110553" cy="423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Sobol analysis assumes the model can be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decomposed additively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5F3BCBC7-2C4B-4C36-AA84-5C34D9DDEE17}"/>
              </a:ext>
            </a:extLst>
          </p:cNvPr>
          <p:cNvSpPr txBox="1"/>
          <p:nvPr/>
        </p:nvSpPr>
        <p:spPr>
          <a:xfrm>
            <a:off x="8859558" y="1940376"/>
            <a:ext cx="32268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First-order (S1)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: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Individual effect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2E13048B-07B5-4596-BA77-5CF03212F160}"/>
              </a:ext>
            </a:extLst>
          </p:cNvPr>
          <p:cNvSpPr txBox="1"/>
          <p:nvPr/>
        </p:nvSpPr>
        <p:spPr>
          <a:xfrm>
            <a:off x="1261844" y="3484253"/>
            <a:ext cx="69692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Since the model is decomposed this way, the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 variance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of the output can be split into components.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A0CC44D-5D4D-4DCA-893C-C9D47C9271A5}"/>
              </a:ext>
            </a:extLst>
          </p:cNvPr>
          <p:cNvSpPr txBox="1"/>
          <p:nvPr/>
        </p:nvSpPr>
        <p:spPr>
          <a:xfrm>
            <a:off x="1261844" y="5644600"/>
            <a:ext cx="6096000" cy="584775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1" i="0" u="none" strike="noStrike" kern="1200" cap="none" spc="0" normalizeH="0" baseline="0" noProof="0" err="1">
                <a:ln>
                  <a:noFill/>
                </a:ln>
                <a:solidFill>
                  <a:srgbClr val="8879F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Sobol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8879F5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indices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quantify how much of the output variance is due to each input (individually and via interactions).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DD15D3B6-F128-4ABF-A1D4-BF3C5D758BD7}"/>
              </a:ext>
            </a:extLst>
          </p:cNvPr>
          <p:cNvSpPr txBox="1"/>
          <p:nvPr/>
        </p:nvSpPr>
        <p:spPr>
          <a:xfrm>
            <a:off x="8859558" y="3874959"/>
            <a:ext cx="295606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Total-order (ST):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Total effect including interactions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11A02C8-005F-4FFE-BCC2-93161CEE9E0C}"/>
                  </a:ext>
                </a:extLst>
              </p:cNvPr>
              <p:cNvSpPr txBox="1"/>
              <p:nvPr/>
            </p:nvSpPr>
            <p:spPr>
              <a:xfrm>
                <a:off x="9811543" y="2396760"/>
                <a:ext cx="1113382" cy="5046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s-CO" sz="16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s-CO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s-E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0" lang="es-ES" sz="16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𝑉𝑎𝑟</m:t>
                          </m:r>
                          <m: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kumimoji="0" lang="es-ES" sz="16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0" lang="es-CO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911A02C8-005F-4FFE-BCC2-93161CEE9E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11543" y="2396760"/>
                <a:ext cx="1113382" cy="5046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CuadroTexto 40">
            <a:extLst>
              <a:ext uri="{FF2B5EF4-FFF2-40B4-BE49-F238E27FC236}">
                <a16:creationId xmlns:a16="http://schemas.microsoft.com/office/drawing/2014/main" id="{28CF37AD-29B6-4D56-922F-551D13DF59A8}"/>
              </a:ext>
            </a:extLst>
          </p:cNvPr>
          <p:cNvSpPr txBox="1"/>
          <p:nvPr/>
        </p:nvSpPr>
        <p:spPr>
          <a:xfrm>
            <a:off x="8859558" y="3063312"/>
            <a:ext cx="28244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Second-order (S2):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pairwise interactions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0CA476DE-DF61-49CE-83A4-6A2A44C09193}"/>
                  </a:ext>
                </a:extLst>
              </p:cNvPr>
              <p:cNvSpPr txBox="1"/>
              <p:nvPr/>
            </p:nvSpPr>
            <p:spPr>
              <a:xfrm>
                <a:off x="8267723" y="4589314"/>
                <a:ext cx="4201022" cy="41992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𝑆</m:t>
                          </m:r>
                        </m:e>
                        <m:sub>
                          <m:sSub>
                            <m:sSubPr>
                              <m:ctrlP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𝑇</m:t>
                              </m:r>
                            </m:e>
                            <m:sub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kumimoji="0" lang="es-ES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f>
                        <m:fPr>
                          <m:ctrlP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𝑉</m:t>
                              </m:r>
                            </m:e>
                            <m:sub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+</m:t>
                          </m:r>
                          <m:r>
                            <m:rPr>
                              <m:nor/>
                            </m:rPr>
                            <a:rPr kumimoji="0" lang="es-CO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m:t>all</m:t>
                          </m:r>
                          <m:r>
                            <m:rPr>
                              <m:nor/>
                            </m:rPr>
                            <a:rPr kumimoji="0" lang="es-CO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m:t>interaction</m:t>
                          </m:r>
                          <m:r>
                            <m:rPr>
                              <m:nor/>
                            </m:rPr>
                            <a:rPr kumimoji="0" lang="es-CO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m:t>terms</m:t>
                          </m:r>
                          <m:r>
                            <m:rPr>
                              <m:nor/>
                            </m:rPr>
                            <a:rPr kumimoji="0" lang="es-CO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kumimoji="0" lang="es-CO" sz="12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Aptos" panose="02110004020202020204"/>
                              <a:ea typeface="+mn-ea"/>
                              <a:cs typeface="+mn-cs"/>
                            </a:rPr>
                            <m:t>involving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  <m:sSub>
                            <m:sSubPr>
                              <m:ctrlP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𝑥</m:t>
                              </m:r>
                            </m:e>
                            <m:sub>
                              <m:r>
                                <a:rPr kumimoji="0" lang="es-ES" sz="12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prstClr val="black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𝑖</m:t>
                              </m:r>
                            </m:sub>
                          </m:sSub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 </m:t>
                          </m:r>
                        </m:num>
                        <m:den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𝑉𝑎𝑟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(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𝑓</m:t>
                          </m:r>
                          <m:r>
                            <a:rPr kumimoji="0" lang="es-ES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kumimoji="0" lang="es-CO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0CA476DE-DF61-49CE-83A4-6A2A44C09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723" y="4589314"/>
                <a:ext cx="4201022" cy="419923"/>
              </a:xfrm>
              <a:prstGeom prst="rect">
                <a:avLst/>
              </a:prstGeom>
              <a:blipFill>
                <a:blip r:embed="rId4"/>
                <a:stretch>
                  <a:fillRect t="-2899" b="-8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uadroTexto 1">
            <a:extLst>
              <a:ext uri="{FF2B5EF4-FFF2-40B4-BE49-F238E27FC236}">
                <a16:creationId xmlns:a16="http://schemas.microsoft.com/office/drawing/2014/main" id="{F1DEBAEA-C27B-4489-8951-D1FA6466092E}"/>
              </a:ext>
            </a:extLst>
          </p:cNvPr>
          <p:cNvSpPr txBox="1"/>
          <p:nvPr/>
        </p:nvSpPr>
        <p:spPr>
          <a:xfrm>
            <a:off x="10960944" y="5829497"/>
            <a:ext cx="1231056" cy="369332"/>
          </a:xfrm>
          <a:prstGeom prst="rect">
            <a:avLst/>
          </a:prstGeom>
          <a:solidFill>
            <a:srgbClr val="008B2E"/>
          </a:solidFill>
          <a:ln>
            <a:solidFill>
              <a:srgbClr val="B278E6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</a:t>
            </a:r>
            <a:r>
              <a:rPr kumimoji="0" lang="es-ES" sz="18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SA</a:t>
            </a:r>
            <a:endParaRPr kumimoji="0" lang="es-CO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DC0BB1A1-286C-4ADA-8EC1-5E9E96892D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56844" y="1570949"/>
            <a:ext cx="4818302" cy="118124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4E971DC-87B8-42FD-8908-B95178EA59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6844" y="2893632"/>
            <a:ext cx="4818303" cy="49934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4B15FBE-2387-412C-89B9-AA162A43E0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43953" y="4083451"/>
            <a:ext cx="6256562" cy="74682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A57D02C5-6CE1-454A-B028-D358E05FF1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5557" y="4910486"/>
            <a:ext cx="5417881" cy="649872"/>
          </a:xfrm>
          <a:prstGeom prst="rect">
            <a:avLst/>
          </a:prstGeom>
        </p:spPr>
      </p:pic>
      <p:sp>
        <p:nvSpPr>
          <p:cNvPr id="29" name="CuadroTexto 28">
            <a:extLst>
              <a:ext uri="{FF2B5EF4-FFF2-40B4-BE49-F238E27FC236}">
                <a16:creationId xmlns:a16="http://schemas.microsoft.com/office/drawing/2014/main" id="{69F8AFDC-21E2-4A8D-B66D-3DB005B63706}"/>
              </a:ext>
            </a:extLst>
          </p:cNvPr>
          <p:cNvSpPr txBox="1"/>
          <p:nvPr/>
        </p:nvSpPr>
        <p:spPr>
          <a:xfrm>
            <a:off x="-5614" y="6236182"/>
            <a:ext cx="3791801" cy="278918"/>
          </a:xfrm>
          <a:prstGeom prst="rect">
            <a:avLst/>
          </a:prstGeom>
          <a:solidFill>
            <a:srgbClr val="BBE555"/>
          </a:solidFill>
        </p:spPr>
        <p:txBody>
          <a:bodyPr wrap="square">
            <a:spAutoFit/>
          </a:bodyPr>
          <a:lstStyle/>
          <a:p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Source: Advanced Machine Learning course material</a:t>
            </a:r>
            <a:endParaRPr lang="es-CO" sz="1200"/>
          </a:p>
        </p:txBody>
      </p:sp>
    </p:spTree>
    <p:extLst>
      <p:ext uri="{BB962C8B-B14F-4D97-AF65-F5344CB8AC3E}">
        <p14:creationId xmlns:p14="http://schemas.microsoft.com/office/powerpoint/2010/main" val="36004392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6BEDDA-4269-442C-A8F8-D6ABBC68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AAF7C981-3516-41A3-BFEF-521B0F6A27AD}"/>
              </a:ext>
            </a:extLst>
          </p:cNvPr>
          <p:cNvSpPr txBox="1"/>
          <p:nvPr/>
        </p:nvSpPr>
        <p:spPr>
          <a:xfrm>
            <a:off x="1051970" y="1043000"/>
            <a:ext cx="348184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_tradnl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SHAP</a:t>
            </a:r>
            <a:r>
              <a:rPr kumimoji="0" lang="es-ES_tradnl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</a:t>
            </a:r>
            <a:r>
              <a:rPr kumimoji="0" lang="es-ES" sz="44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Values</a:t>
            </a:r>
            <a:endParaRPr kumimoji="0" lang="es-ES_tradnl" sz="40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+mn-cs"/>
            </a:endParaRP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B0A81A87-CE16-4598-8142-1B9FB0073630}"/>
              </a:ext>
            </a:extLst>
          </p:cNvPr>
          <p:cNvSpPr txBox="1"/>
          <p:nvPr/>
        </p:nvSpPr>
        <p:spPr>
          <a:xfrm>
            <a:off x="1029830" y="2230625"/>
            <a:ext cx="381649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is a game theory-based framework that assigns each feature a value reflecting its contribution to a model’s prediction.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E01A67C7-C34B-48DB-A2F0-1F4857198ABF}"/>
              </a:ext>
            </a:extLst>
          </p:cNvPr>
          <p:cNvGrpSpPr/>
          <p:nvPr/>
        </p:nvGrpSpPr>
        <p:grpSpPr>
          <a:xfrm>
            <a:off x="5727329" y="1225268"/>
            <a:ext cx="4239322" cy="1583473"/>
            <a:chOff x="6256294" y="1202709"/>
            <a:chExt cx="4239322" cy="1583473"/>
          </a:xfrm>
        </p:grpSpPr>
        <p:sp>
          <p:nvSpPr>
            <p:cNvPr id="87" name="Forma libre 19">
              <a:extLst>
                <a:ext uri="{FF2B5EF4-FFF2-40B4-BE49-F238E27FC236}">
                  <a16:creationId xmlns:a16="http://schemas.microsoft.com/office/drawing/2014/main" id="{A842B189-63D4-425B-B135-34746B9C7E3E}"/>
                </a:ext>
              </a:extLst>
            </p:cNvPr>
            <p:cNvSpPr/>
            <p:nvPr/>
          </p:nvSpPr>
          <p:spPr>
            <a:xfrm>
              <a:off x="6256294" y="1202709"/>
              <a:ext cx="4114799" cy="1583473"/>
            </a:xfrm>
            <a:custGeom>
              <a:avLst/>
              <a:gdLst>
                <a:gd name="connsiteX0" fmla="*/ 263917 w 4114799"/>
                <a:gd name="connsiteY0" fmla="*/ 0 h 1583473"/>
                <a:gd name="connsiteX1" fmla="*/ 3850882 w 4114799"/>
                <a:gd name="connsiteY1" fmla="*/ 0 h 1583473"/>
                <a:gd name="connsiteX2" fmla="*/ 4114799 w 4114799"/>
                <a:gd name="connsiteY2" fmla="*/ 263917 h 1583473"/>
                <a:gd name="connsiteX3" fmla="*/ 4114799 w 4114799"/>
                <a:gd name="connsiteY3" fmla="*/ 900635 h 1583473"/>
                <a:gd name="connsiteX4" fmla="*/ 4075871 w 4114799"/>
                <a:gd name="connsiteY4" fmla="*/ 888551 h 1583473"/>
                <a:gd name="connsiteX5" fmla="*/ 3996550 w 4114799"/>
                <a:gd name="connsiteY5" fmla="*/ 880555 h 1583473"/>
                <a:gd name="connsiteX6" fmla="*/ 3602966 w 4114799"/>
                <a:gd name="connsiteY6" fmla="*/ 1274139 h 1583473"/>
                <a:gd name="connsiteX7" fmla="*/ 3718244 w 4114799"/>
                <a:gd name="connsiteY7" fmla="*/ 1552445 h 1583473"/>
                <a:gd name="connsiteX8" fmla="*/ 3755851 w 4114799"/>
                <a:gd name="connsiteY8" fmla="*/ 1583473 h 1583473"/>
                <a:gd name="connsiteX9" fmla="*/ 263917 w 4114799"/>
                <a:gd name="connsiteY9" fmla="*/ 1583473 h 1583473"/>
                <a:gd name="connsiteX10" fmla="*/ 0 w 4114799"/>
                <a:gd name="connsiteY10" fmla="*/ 1319556 h 1583473"/>
                <a:gd name="connsiteX11" fmla="*/ 0 w 4114799"/>
                <a:gd name="connsiteY11" fmla="*/ 263917 h 1583473"/>
                <a:gd name="connsiteX12" fmla="*/ 263917 w 4114799"/>
                <a:gd name="connsiteY12" fmla="*/ 0 h 158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14799" h="1583473">
                  <a:moveTo>
                    <a:pt x="263917" y="0"/>
                  </a:moveTo>
                  <a:lnTo>
                    <a:pt x="3850882" y="0"/>
                  </a:lnTo>
                  <a:cubicBezTo>
                    <a:pt x="3996639" y="0"/>
                    <a:pt x="4114799" y="118160"/>
                    <a:pt x="4114799" y="263917"/>
                  </a:cubicBezTo>
                  <a:lnTo>
                    <a:pt x="4114799" y="900635"/>
                  </a:lnTo>
                  <a:lnTo>
                    <a:pt x="4075871" y="888551"/>
                  </a:lnTo>
                  <a:cubicBezTo>
                    <a:pt x="4050249" y="883308"/>
                    <a:pt x="4023721" y="880555"/>
                    <a:pt x="3996550" y="880555"/>
                  </a:cubicBezTo>
                  <a:cubicBezTo>
                    <a:pt x="3779180" y="880555"/>
                    <a:pt x="3602966" y="1056769"/>
                    <a:pt x="3602966" y="1274139"/>
                  </a:cubicBezTo>
                  <a:cubicBezTo>
                    <a:pt x="3602966" y="1382824"/>
                    <a:pt x="3647019" y="1481220"/>
                    <a:pt x="3718244" y="1552445"/>
                  </a:cubicBezTo>
                  <a:lnTo>
                    <a:pt x="3755851" y="1583473"/>
                  </a:lnTo>
                  <a:lnTo>
                    <a:pt x="263917" y="1583473"/>
                  </a:lnTo>
                  <a:cubicBezTo>
                    <a:pt x="118160" y="1583473"/>
                    <a:pt x="0" y="1465313"/>
                    <a:pt x="0" y="1319556"/>
                  </a:cubicBezTo>
                  <a:lnTo>
                    <a:pt x="0" y="263917"/>
                  </a:lnTo>
                  <a:cubicBezTo>
                    <a:pt x="0" y="118160"/>
                    <a:pt x="118160" y="0"/>
                    <a:pt x="263917" y="0"/>
                  </a:cubicBezTo>
                  <a:close/>
                </a:path>
              </a:pathLst>
            </a:custGeom>
            <a:solidFill>
              <a:srgbClr val="BBE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88" name="CuadroTexto 87">
              <a:extLst>
                <a:ext uri="{FF2B5EF4-FFF2-40B4-BE49-F238E27FC236}">
                  <a16:creationId xmlns:a16="http://schemas.microsoft.com/office/drawing/2014/main" id="{32A47BDC-E348-469F-ACF1-17E3CEE8B33A}"/>
                </a:ext>
              </a:extLst>
            </p:cNvPr>
            <p:cNvSpPr txBox="1"/>
            <p:nvPr/>
          </p:nvSpPr>
          <p:spPr>
            <a:xfrm>
              <a:off x="6515990" y="1248849"/>
              <a:ext cx="36576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SHAP considers all possible subsets of features and computes the marginal contribution of a feature when added to each subset. </a:t>
              </a:r>
            </a:p>
          </p:txBody>
        </p:sp>
        <p:pic>
          <p:nvPicPr>
            <p:cNvPr id="89" name="Imagen 88">
              <a:extLst>
                <a:ext uri="{FF2B5EF4-FFF2-40B4-BE49-F238E27FC236}">
                  <a16:creationId xmlns:a16="http://schemas.microsoft.com/office/drawing/2014/main" id="{84EC3ABC-6A47-4AE3-A4CC-D41CD30442C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87771" y="2208066"/>
              <a:ext cx="507845" cy="507845"/>
            </a:xfrm>
            <a:prstGeom prst="rect">
              <a:avLst/>
            </a:prstGeom>
          </p:spPr>
        </p:pic>
      </p:grp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1820A80-30E1-4FA1-B108-864400E67C5F}"/>
              </a:ext>
            </a:extLst>
          </p:cNvPr>
          <p:cNvGrpSpPr/>
          <p:nvPr/>
        </p:nvGrpSpPr>
        <p:grpSpPr>
          <a:xfrm>
            <a:off x="7204708" y="3112714"/>
            <a:ext cx="4239323" cy="2466996"/>
            <a:chOff x="5789958" y="3156249"/>
            <a:chExt cx="4239323" cy="2466996"/>
          </a:xfrm>
        </p:grpSpPr>
        <p:sp>
          <p:nvSpPr>
            <p:cNvPr id="93" name="Forma libre 19">
              <a:extLst>
                <a:ext uri="{FF2B5EF4-FFF2-40B4-BE49-F238E27FC236}">
                  <a16:creationId xmlns:a16="http://schemas.microsoft.com/office/drawing/2014/main" id="{6BFFACEB-BBB4-42A4-9769-CE4B69D83EED}"/>
                </a:ext>
              </a:extLst>
            </p:cNvPr>
            <p:cNvSpPr/>
            <p:nvPr/>
          </p:nvSpPr>
          <p:spPr>
            <a:xfrm flipV="1">
              <a:off x="5789958" y="4039772"/>
              <a:ext cx="4114799" cy="1583473"/>
            </a:xfrm>
            <a:custGeom>
              <a:avLst/>
              <a:gdLst>
                <a:gd name="connsiteX0" fmla="*/ 263917 w 4114799"/>
                <a:gd name="connsiteY0" fmla="*/ 0 h 1583473"/>
                <a:gd name="connsiteX1" fmla="*/ 3850882 w 4114799"/>
                <a:gd name="connsiteY1" fmla="*/ 0 h 1583473"/>
                <a:gd name="connsiteX2" fmla="*/ 4114799 w 4114799"/>
                <a:gd name="connsiteY2" fmla="*/ 263917 h 1583473"/>
                <a:gd name="connsiteX3" fmla="*/ 4114799 w 4114799"/>
                <a:gd name="connsiteY3" fmla="*/ 900635 h 1583473"/>
                <a:gd name="connsiteX4" fmla="*/ 4075871 w 4114799"/>
                <a:gd name="connsiteY4" fmla="*/ 888551 h 1583473"/>
                <a:gd name="connsiteX5" fmla="*/ 3996550 w 4114799"/>
                <a:gd name="connsiteY5" fmla="*/ 880555 h 1583473"/>
                <a:gd name="connsiteX6" fmla="*/ 3602966 w 4114799"/>
                <a:gd name="connsiteY6" fmla="*/ 1274139 h 1583473"/>
                <a:gd name="connsiteX7" fmla="*/ 3718244 w 4114799"/>
                <a:gd name="connsiteY7" fmla="*/ 1552445 h 1583473"/>
                <a:gd name="connsiteX8" fmla="*/ 3755851 w 4114799"/>
                <a:gd name="connsiteY8" fmla="*/ 1583473 h 1583473"/>
                <a:gd name="connsiteX9" fmla="*/ 263917 w 4114799"/>
                <a:gd name="connsiteY9" fmla="*/ 1583473 h 1583473"/>
                <a:gd name="connsiteX10" fmla="*/ 0 w 4114799"/>
                <a:gd name="connsiteY10" fmla="*/ 1319556 h 1583473"/>
                <a:gd name="connsiteX11" fmla="*/ 0 w 4114799"/>
                <a:gd name="connsiteY11" fmla="*/ 263917 h 1583473"/>
                <a:gd name="connsiteX12" fmla="*/ 263917 w 4114799"/>
                <a:gd name="connsiteY12" fmla="*/ 0 h 158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14799" h="1583473">
                  <a:moveTo>
                    <a:pt x="263917" y="0"/>
                  </a:moveTo>
                  <a:lnTo>
                    <a:pt x="3850882" y="0"/>
                  </a:lnTo>
                  <a:cubicBezTo>
                    <a:pt x="3996639" y="0"/>
                    <a:pt x="4114799" y="118160"/>
                    <a:pt x="4114799" y="263917"/>
                  </a:cubicBezTo>
                  <a:lnTo>
                    <a:pt x="4114799" y="900635"/>
                  </a:lnTo>
                  <a:lnTo>
                    <a:pt x="4075871" y="888551"/>
                  </a:lnTo>
                  <a:cubicBezTo>
                    <a:pt x="4050249" y="883308"/>
                    <a:pt x="4023721" y="880555"/>
                    <a:pt x="3996550" y="880555"/>
                  </a:cubicBezTo>
                  <a:cubicBezTo>
                    <a:pt x="3779180" y="880555"/>
                    <a:pt x="3602966" y="1056769"/>
                    <a:pt x="3602966" y="1274139"/>
                  </a:cubicBezTo>
                  <a:cubicBezTo>
                    <a:pt x="3602966" y="1382824"/>
                    <a:pt x="3647019" y="1481220"/>
                    <a:pt x="3718244" y="1552445"/>
                  </a:cubicBezTo>
                  <a:lnTo>
                    <a:pt x="3755851" y="1583473"/>
                  </a:lnTo>
                  <a:lnTo>
                    <a:pt x="263917" y="1583473"/>
                  </a:lnTo>
                  <a:cubicBezTo>
                    <a:pt x="118160" y="1583473"/>
                    <a:pt x="0" y="1465313"/>
                    <a:pt x="0" y="1319556"/>
                  </a:cubicBezTo>
                  <a:lnTo>
                    <a:pt x="0" y="263917"/>
                  </a:lnTo>
                  <a:cubicBezTo>
                    <a:pt x="0" y="118160"/>
                    <a:pt x="118160" y="0"/>
                    <a:pt x="263917" y="0"/>
                  </a:cubicBezTo>
                  <a:close/>
                </a:path>
              </a:pathLst>
            </a:custGeom>
            <a:solidFill>
              <a:srgbClr val="BBE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0" name="Forma libre 19">
              <a:extLst>
                <a:ext uri="{FF2B5EF4-FFF2-40B4-BE49-F238E27FC236}">
                  <a16:creationId xmlns:a16="http://schemas.microsoft.com/office/drawing/2014/main" id="{06475E1C-5BEB-4BBB-838F-AC89E1D9749F}"/>
                </a:ext>
              </a:extLst>
            </p:cNvPr>
            <p:cNvSpPr/>
            <p:nvPr/>
          </p:nvSpPr>
          <p:spPr>
            <a:xfrm>
              <a:off x="5789959" y="3156249"/>
              <a:ext cx="4114799" cy="1583473"/>
            </a:xfrm>
            <a:custGeom>
              <a:avLst/>
              <a:gdLst>
                <a:gd name="connsiteX0" fmla="*/ 263917 w 4114799"/>
                <a:gd name="connsiteY0" fmla="*/ 0 h 1583473"/>
                <a:gd name="connsiteX1" fmla="*/ 3850882 w 4114799"/>
                <a:gd name="connsiteY1" fmla="*/ 0 h 1583473"/>
                <a:gd name="connsiteX2" fmla="*/ 4114799 w 4114799"/>
                <a:gd name="connsiteY2" fmla="*/ 263917 h 1583473"/>
                <a:gd name="connsiteX3" fmla="*/ 4114799 w 4114799"/>
                <a:gd name="connsiteY3" fmla="*/ 900635 h 1583473"/>
                <a:gd name="connsiteX4" fmla="*/ 4075871 w 4114799"/>
                <a:gd name="connsiteY4" fmla="*/ 888551 h 1583473"/>
                <a:gd name="connsiteX5" fmla="*/ 3996550 w 4114799"/>
                <a:gd name="connsiteY5" fmla="*/ 880555 h 1583473"/>
                <a:gd name="connsiteX6" fmla="*/ 3602966 w 4114799"/>
                <a:gd name="connsiteY6" fmla="*/ 1274139 h 1583473"/>
                <a:gd name="connsiteX7" fmla="*/ 3718244 w 4114799"/>
                <a:gd name="connsiteY7" fmla="*/ 1552445 h 1583473"/>
                <a:gd name="connsiteX8" fmla="*/ 3755851 w 4114799"/>
                <a:gd name="connsiteY8" fmla="*/ 1583473 h 1583473"/>
                <a:gd name="connsiteX9" fmla="*/ 263917 w 4114799"/>
                <a:gd name="connsiteY9" fmla="*/ 1583473 h 1583473"/>
                <a:gd name="connsiteX10" fmla="*/ 0 w 4114799"/>
                <a:gd name="connsiteY10" fmla="*/ 1319556 h 1583473"/>
                <a:gd name="connsiteX11" fmla="*/ 0 w 4114799"/>
                <a:gd name="connsiteY11" fmla="*/ 263917 h 1583473"/>
                <a:gd name="connsiteX12" fmla="*/ 263917 w 4114799"/>
                <a:gd name="connsiteY12" fmla="*/ 0 h 158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14799" h="1583473">
                  <a:moveTo>
                    <a:pt x="263917" y="0"/>
                  </a:moveTo>
                  <a:lnTo>
                    <a:pt x="3850882" y="0"/>
                  </a:lnTo>
                  <a:cubicBezTo>
                    <a:pt x="3996639" y="0"/>
                    <a:pt x="4114799" y="118160"/>
                    <a:pt x="4114799" y="263917"/>
                  </a:cubicBezTo>
                  <a:lnTo>
                    <a:pt x="4114799" y="900635"/>
                  </a:lnTo>
                  <a:lnTo>
                    <a:pt x="4075871" y="888551"/>
                  </a:lnTo>
                  <a:cubicBezTo>
                    <a:pt x="4050249" y="883308"/>
                    <a:pt x="4023721" y="880555"/>
                    <a:pt x="3996550" y="880555"/>
                  </a:cubicBezTo>
                  <a:cubicBezTo>
                    <a:pt x="3779180" y="880555"/>
                    <a:pt x="3602966" y="1056769"/>
                    <a:pt x="3602966" y="1274139"/>
                  </a:cubicBezTo>
                  <a:cubicBezTo>
                    <a:pt x="3602966" y="1382824"/>
                    <a:pt x="3647019" y="1481220"/>
                    <a:pt x="3718244" y="1552445"/>
                  </a:cubicBezTo>
                  <a:lnTo>
                    <a:pt x="3755851" y="1583473"/>
                  </a:lnTo>
                  <a:lnTo>
                    <a:pt x="263917" y="1583473"/>
                  </a:lnTo>
                  <a:cubicBezTo>
                    <a:pt x="118160" y="1583473"/>
                    <a:pt x="0" y="1465313"/>
                    <a:pt x="0" y="1319556"/>
                  </a:cubicBezTo>
                  <a:lnTo>
                    <a:pt x="0" y="263917"/>
                  </a:lnTo>
                  <a:cubicBezTo>
                    <a:pt x="0" y="118160"/>
                    <a:pt x="118160" y="0"/>
                    <a:pt x="263917" y="0"/>
                  </a:cubicBezTo>
                  <a:close/>
                </a:path>
              </a:pathLst>
            </a:custGeom>
            <a:solidFill>
              <a:srgbClr val="BBE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" name="CuadroTexto 90">
              <a:extLst>
                <a:ext uri="{FF2B5EF4-FFF2-40B4-BE49-F238E27FC236}">
                  <a16:creationId xmlns:a16="http://schemas.microsoft.com/office/drawing/2014/main" id="{2E487454-A4E5-4634-ADC8-32438CB497AA}"/>
                </a:ext>
              </a:extLst>
            </p:cNvPr>
            <p:cNvSpPr txBox="1"/>
            <p:nvPr/>
          </p:nvSpPr>
          <p:spPr>
            <a:xfrm>
              <a:off x="6095918" y="3246183"/>
              <a:ext cx="3502878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This ensures three key properties: 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Local accuracy: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the sum of SHAP values equals the model output.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Consistency: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increasing a feature's impact in the model cannot decrease its SHAP value.</a:t>
              </a:r>
            </a:p>
            <a:p>
              <a:pPr marL="342900" marR="0" lvl="0" indent="-3429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Missingness: </a:t>
              </a:r>
              <a:r>
                <a: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features not used in a prediction receive zero contribution.  </a:t>
              </a:r>
            </a:p>
          </p:txBody>
        </p:sp>
        <p:pic>
          <p:nvPicPr>
            <p:cNvPr id="92" name="Imagen 91">
              <a:extLst>
                <a:ext uri="{FF2B5EF4-FFF2-40B4-BE49-F238E27FC236}">
                  <a16:creationId xmlns:a16="http://schemas.microsoft.com/office/drawing/2014/main" id="{8EBC70EF-78F8-4221-B02C-ED8688D41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21436" y="4161606"/>
              <a:ext cx="507845" cy="507845"/>
            </a:xfrm>
            <a:prstGeom prst="rect">
              <a:avLst/>
            </a:prstGeom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F89BF57E-2BE3-4613-A392-67DBCB412C1C}"/>
              </a:ext>
            </a:extLst>
          </p:cNvPr>
          <p:cNvGrpSpPr/>
          <p:nvPr/>
        </p:nvGrpSpPr>
        <p:grpSpPr>
          <a:xfrm>
            <a:off x="2189624" y="3834179"/>
            <a:ext cx="4239322" cy="1583473"/>
            <a:chOff x="6203799" y="4977265"/>
            <a:chExt cx="4239322" cy="1583473"/>
          </a:xfrm>
        </p:grpSpPr>
        <p:sp>
          <p:nvSpPr>
            <p:cNvPr id="95" name="Forma libre 19">
              <a:extLst>
                <a:ext uri="{FF2B5EF4-FFF2-40B4-BE49-F238E27FC236}">
                  <a16:creationId xmlns:a16="http://schemas.microsoft.com/office/drawing/2014/main" id="{D83D6FD4-6EB3-4CAF-BC20-DE39EFB5F6DD}"/>
                </a:ext>
              </a:extLst>
            </p:cNvPr>
            <p:cNvSpPr/>
            <p:nvPr/>
          </p:nvSpPr>
          <p:spPr>
            <a:xfrm>
              <a:off x="6203799" y="4977265"/>
              <a:ext cx="4114799" cy="1583473"/>
            </a:xfrm>
            <a:custGeom>
              <a:avLst/>
              <a:gdLst>
                <a:gd name="connsiteX0" fmla="*/ 263917 w 4114799"/>
                <a:gd name="connsiteY0" fmla="*/ 0 h 1583473"/>
                <a:gd name="connsiteX1" fmla="*/ 3850882 w 4114799"/>
                <a:gd name="connsiteY1" fmla="*/ 0 h 1583473"/>
                <a:gd name="connsiteX2" fmla="*/ 4114799 w 4114799"/>
                <a:gd name="connsiteY2" fmla="*/ 263917 h 1583473"/>
                <a:gd name="connsiteX3" fmla="*/ 4114799 w 4114799"/>
                <a:gd name="connsiteY3" fmla="*/ 900635 h 1583473"/>
                <a:gd name="connsiteX4" fmla="*/ 4075871 w 4114799"/>
                <a:gd name="connsiteY4" fmla="*/ 888551 h 1583473"/>
                <a:gd name="connsiteX5" fmla="*/ 3996550 w 4114799"/>
                <a:gd name="connsiteY5" fmla="*/ 880555 h 1583473"/>
                <a:gd name="connsiteX6" fmla="*/ 3602966 w 4114799"/>
                <a:gd name="connsiteY6" fmla="*/ 1274139 h 1583473"/>
                <a:gd name="connsiteX7" fmla="*/ 3718244 w 4114799"/>
                <a:gd name="connsiteY7" fmla="*/ 1552445 h 1583473"/>
                <a:gd name="connsiteX8" fmla="*/ 3755851 w 4114799"/>
                <a:gd name="connsiteY8" fmla="*/ 1583473 h 1583473"/>
                <a:gd name="connsiteX9" fmla="*/ 263917 w 4114799"/>
                <a:gd name="connsiteY9" fmla="*/ 1583473 h 1583473"/>
                <a:gd name="connsiteX10" fmla="*/ 0 w 4114799"/>
                <a:gd name="connsiteY10" fmla="*/ 1319556 h 1583473"/>
                <a:gd name="connsiteX11" fmla="*/ 0 w 4114799"/>
                <a:gd name="connsiteY11" fmla="*/ 263917 h 1583473"/>
                <a:gd name="connsiteX12" fmla="*/ 263917 w 4114799"/>
                <a:gd name="connsiteY12" fmla="*/ 0 h 158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14799" h="1583473">
                  <a:moveTo>
                    <a:pt x="263917" y="0"/>
                  </a:moveTo>
                  <a:lnTo>
                    <a:pt x="3850882" y="0"/>
                  </a:lnTo>
                  <a:cubicBezTo>
                    <a:pt x="3996639" y="0"/>
                    <a:pt x="4114799" y="118160"/>
                    <a:pt x="4114799" y="263917"/>
                  </a:cubicBezTo>
                  <a:lnTo>
                    <a:pt x="4114799" y="900635"/>
                  </a:lnTo>
                  <a:lnTo>
                    <a:pt x="4075871" y="888551"/>
                  </a:lnTo>
                  <a:cubicBezTo>
                    <a:pt x="4050249" y="883308"/>
                    <a:pt x="4023721" y="880555"/>
                    <a:pt x="3996550" y="880555"/>
                  </a:cubicBezTo>
                  <a:cubicBezTo>
                    <a:pt x="3779180" y="880555"/>
                    <a:pt x="3602966" y="1056769"/>
                    <a:pt x="3602966" y="1274139"/>
                  </a:cubicBezTo>
                  <a:cubicBezTo>
                    <a:pt x="3602966" y="1382824"/>
                    <a:pt x="3647019" y="1481220"/>
                    <a:pt x="3718244" y="1552445"/>
                  </a:cubicBezTo>
                  <a:lnTo>
                    <a:pt x="3755851" y="1583473"/>
                  </a:lnTo>
                  <a:lnTo>
                    <a:pt x="263917" y="1583473"/>
                  </a:lnTo>
                  <a:cubicBezTo>
                    <a:pt x="118160" y="1583473"/>
                    <a:pt x="0" y="1465313"/>
                    <a:pt x="0" y="1319556"/>
                  </a:cubicBezTo>
                  <a:lnTo>
                    <a:pt x="0" y="263917"/>
                  </a:lnTo>
                  <a:cubicBezTo>
                    <a:pt x="0" y="118160"/>
                    <a:pt x="118160" y="0"/>
                    <a:pt x="263917" y="0"/>
                  </a:cubicBezTo>
                  <a:close/>
                </a:path>
              </a:pathLst>
            </a:custGeom>
            <a:solidFill>
              <a:srgbClr val="BBE55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6" name="CuadroTexto 95">
              <a:extLst>
                <a:ext uri="{FF2B5EF4-FFF2-40B4-BE49-F238E27FC236}">
                  <a16:creationId xmlns:a16="http://schemas.microsoft.com/office/drawing/2014/main" id="{3D69A810-27D3-4217-8F8F-2D29FEEFED09}"/>
                </a:ext>
              </a:extLst>
            </p:cNvPr>
            <p:cNvSpPr txBox="1"/>
            <p:nvPr/>
          </p:nvSpPr>
          <p:spPr>
            <a:xfrm>
              <a:off x="6432398" y="5168836"/>
              <a:ext cx="36576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SHAP values show how much a single feature changes the model’s average prediction when we know the value of that feature.</a:t>
              </a: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97" name="Imagen 96">
              <a:extLst>
                <a:ext uri="{FF2B5EF4-FFF2-40B4-BE49-F238E27FC236}">
                  <a16:creationId xmlns:a16="http://schemas.microsoft.com/office/drawing/2014/main" id="{C47D0F6F-7616-4AEF-91A3-CEDDE37A2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35276" y="5982622"/>
              <a:ext cx="507845" cy="507845"/>
            </a:xfrm>
            <a:prstGeom prst="rect">
              <a:avLst/>
            </a:prstGeom>
          </p:spPr>
        </p:pic>
      </p:grpSp>
      <p:sp>
        <p:nvSpPr>
          <p:cNvPr id="20" name="Rectángulo 19">
            <a:extLst>
              <a:ext uri="{FF2B5EF4-FFF2-40B4-BE49-F238E27FC236}">
                <a16:creationId xmlns:a16="http://schemas.microsoft.com/office/drawing/2014/main" id="{38EA84AC-2918-4DFD-A428-A9AD15F860FF}"/>
              </a:ext>
            </a:extLst>
          </p:cNvPr>
          <p:cNvSpPr/>
          <p:nvPr/>
        </p:nvSpPr>
        <p:spPr>
          <a:xfrm>
            <a:off x="5602806" y="1426554"/>
            <a:ext cx="318295" cy="26324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1</a:t>
            </a:r>
            <a:endParaRPr kumimoji="0" lang="es-CO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05" name="Rectángulo 104">
            <a:extLst>
              <a:ext uri="{FF2B5EF4-FFF2-40B4-BE49-F238E27FC236}">
                <a16:creationId xmlns:a16="http://schemas.microsoft.com/office/drawing/2014/main" id="{8BA6FFE5-697E-4368-863D-BC130072A5C7}"/>
              </a:ext>
            </a:extLst>
          </p:cNvPr>
          <p:cNvSpPr/>
          <p:nvPr/>
        </p:nvSpPr>
        <p:spPr>
          <a:xfrm>
            <a:off x="7080186" y="3369067"/>
            <a:ext cx="318295" cy="26324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2</a:t>
            </a:r>
            <a:endParaRPr kumimoji="0" lang="es-CO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00F9DDC1-149A-45DD-A59A-91C46C4E1D41}"/>
              </a:ext>
            </a:extLst>
          </p:cNvPr>
          <p:cNvSpPr/>
          <p:nvPr/>
        </p:nvSpPr>
        <p:spPr>
          <a:xfrm>
            <a:off x="2056902" y="4094135"/>
            <a:ext cx="318295" cy="26324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3</a:t>
            </a:r>
            <a:endParaRPr kumimoji="0" lang="es-CO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38091A73-33D6-44CE-BC0E-D7E595D59580}"/>
              </a:ext>
            </a:extLst>
          </p:cNvPr>
          <p:cNvGrpSpPr/>
          <p:nvPr/>
        </p:nvGrpSpPr>
        <p:grpSpPr>
          <a:xfrm>
            <a:off x="3248353" y="5516625"/>
            <a:ext cx="3292911" cy="1180745"/>
            <a:chOff x="3248353" y="5678683"/>
            <a:chExt cx="3292911" cy="1180745"/>
          </a:xfrm>
        </p:grpSpPr>
        <p:sp>
          <p:nvSpPr>
            <p:cNvPr id="111" name="Forma libre 19">
              <a:extLst>
                <a:ext uri="{FF2B5EF4-FFF2-40B4-BE49-F238E27FC236}">
                  <a16:creationId xmlns:a16="http://schemas.microsoft.com/office/drawing/2014/main" id="{25BEB332-F270-42A9-BF99-75F603E98650}"/>
                </a:ext>
              </a:extLst>
            </p:cNvPr>
            <p:cNvSpPr>
              <a:spLocks noChangeAspect="1"/>
            </p:cNvSpPr>
            <p:nvPr/>
          </p:nvSpPr>
          <p:spPr>
            <a:xfrm flipH="1" flipV="1">
              <a:off x="3360671" y="5678683"/>
              <a:ext cx="3180592" cy="1180745"/>
            </a:xfrm>
            <a:custGeom>
              <a:avLst/>
              <a:gdLst>
                <a:gd name="connsiteX0" fmla="*/ 263917 w 4114799"/>
                <a:gd name="connsiteY0" fmla="*/ 0 h 1583473"/>
                <a:gd name="connsiteX1" fmla="*/ 3850882 w 4114799"/>
                <a:gd name="connsiteY1" fmla="*/ 0 h 1583473"/>
                <a:gd name="connsiteX2" fmla="*/ 4114799 w 4114799"/>
                <a:gd name="connsiteY2" fmla="*/ 263917 h 1583473"/>
                <a:gd name="connsiteX3" fmla="*/ 4114799 w 4114799"/>
                <a:gd name="connsiteY3" fmla="*/ 900635 h 1583473"/>
                <a:gd name="connsiteX4" fmla="*/ 4075871 w 4114799"/>
                <a:gd name="connsiteY4" fmla="*/ 888551 h 1583473"/>
                <a:gd name="connsiteX5" fmla="*/ 3996550 w 4114799"/>
                <a:gd name="connsiteY5" fmla="*/ 880555 h 1583473"/>
                <a:gd name="connsiteX6" fmla="*/ 3602966 w 4114799"/>
                <a:gd name="connsiteY6" fmla="*/ 1274139 h 1583473"/>
                <a:gd name="connsiteX7" fmla="*/ 3718244 w 4114799"/>
                <a:gd name="connsiteY7" fmla="*/ 1552445 h 1583473"/>
                <a:gd name="connsiteX8" fmla="*/ 3755851 w 4114799"/>
                <a:gd name="connsiteY8" fmla="*/ 1583473 h 1583473"/>
                <a:gd name="connsiteX9" fmla="*/ 263917 w 4114799"/>
                <a:gd name="connsiteY9" fmla="*/ 1583473 h 1583473"/>
                <a:gd name="connsiteX10" fmla="*/ 0 w 4114799"/>
                <a:gd name="connsiteY10" fmla="*/ 1319556 h 1583473"/>
                <a:gd name="connsiteX11" fmla="*/ 0 w 4114799"/>
                <a:gd name="connsiteY11" fmla="*/ 263917 h 1583473"/>
                <a:gd name="connsiteX12" fmla="*/ 263917 w 4114799"/>
                <a:gd name="connsiteY12" fmla="*/ 0 h 15834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114799" h="1583473">
                  <a:moveTo>
                    <a:pt x="263917" y="0"/>
                  </a:moveTo>
                  <a:lnTo>
                    <a:pt x="3850882" y="0"/>
                  </a:lnTo>
                  <a:cubicBezTo>
                    <a:pt x="3996639" y="0"/>
                    <a:pt x="4114799" y="118160"/>
                    <a:pt x="4114799" y="263917"/>
                  </a:cubicBezTo>
                  <a:lnTo>
                    <a:pt x="4114799" y="900635"/>
                  </a:lnTo>
                  <a:lnTo>
                    <a:pt x="4075871" y="888551"/>
                  </a:lnTo>
                  <a:cubicBezTo>
                    <a:pt x="4050249" y="883308"/>
                    <a:pt x="4023721" y="880555"/>
                    <a:pt x="3996550" y="880555"/>
                  </a:cubicBezTo>
                  <a:cubicBezTo>
                    <a:pt x="3779180" y="880555"/>
                    <a:pt x="3602966" y="1056769"/>
                    <a:pt x="3602966" y="1274139"/>
                  </a:cubicBezTo>
                  <a:cubicBezTo>
                    <a:pt x="3602966" y="1382824"/>
                    <a:pt x="3647019" y="1481220"/>
                    <a:pt x="3718244" y="1552445"/>
                  </a:cubicBezTo>
                  <a:lnTo>
                    <a:pt x="3755851" y="1583473"/>
                  </a:lnTo>
                  <a:lnTo>
                    <a:pt x="263917" y="1583473"/>
                  </a:lnTo>
                  <a:cubicBezTo>
                    <a:pt x="118160" y="1583473"/>
                    <a:pt x="0" y="1465313"/>
                    <a:pt x="0" y="1319556"/>
                  </a:cubicBezTo>
                  <a:lnTo>
                    <a:pt x="0" y="263917"/>
                  </a:lnTo>
                  <a:cubicBezTo>
                    <a:pt x="0" y="118160"/>
                    <a:pt x="118160" y="0"/>
                    <a:pt x="263917" y="0"/>
                  </a:cubicBezTo>
                  <a:close/>
                </a:path>
              </a:pathLst>
            </a:custGeom>
            <a:solidFill>
              <a:srgbClr val="B278E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_tradnl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pic>
          <p:nvPicPr>
            <p:cNvPr id="112" name="Imagen 111">
              <a:extLst>
                <a:ext uri="{FF2B5EF4-FFF2-40B4-BE49-F238E27FC236}">
                  <a16:creationId xmlns:a16="http://schemas.microsoft.com/office/drawing/2014/main" id="{5FD1B1FB-6739-4C8B-8A87-DF286B57D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flipH="1">
              <a:off x="3248353" y="5722121"/>
              <a:ext cx="396000" cy="396000"/>
            </a:xfrm>
            <a:prstGeom prst="rect">
              <a:avLst/>
            </a:prstGeom>
          </p:spPr>
        </p:pic>
        <p:sp>
          <p:nvSpPr>
            <p:cNvPr id="113" name="CuadroTexto 112">
              <a:extLst>
                <a:ext uri="{FF2B5EF4-FFF2-40B4-BE49-F238E27FC236}">
                  <a16:creationId xmlns:a16="http://schemas.microsoft.com/office/drawing/2014/main" id="{44A249B4-9571-4CB6-B18C-AAC99AA78AEC}"/>
                </a:ext>
              </a:extLst>
            </p:cNvPr>
            <p:cNvSpPr txBox="1"/>
            <p:nvPr/>
          </p:nvSpPr>
          <p:spPr>
            <a:xfrm>
              <a:off x="3746596" y="5787122"/>
              <a:ext cx="2794668" cy="95410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SHAP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value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for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a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feature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tells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you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: "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How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much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does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this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feature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shift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prediction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away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from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the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average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when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it's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known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?</a:t>
              </a:r>
            </a:p>
          </p:txBody>
        </p:sp>
      </p:grp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AD3D86E5-0321-4720-8667-24897E258179}"/>
              </a:ext>
            </a:extLst>
          </p:cNvPr>
          <p:cNvSpPr txBox="1"/>
          <p:nvPr/>
        </p:nvSpPr>
        <p:spPr>
          <a:xfrm>
            <a:off x="1051970" y="1608667"/>
            <a:ext cx="3816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SHAP (</a:t>
            </a:r>
            <a:r>
              <a:rPr kumimoji="0" lang="en-US" sz="1800" b="1" i="1" u="sng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</a:t>
            </a:r>
            <a:r>
              <a:rPr kumimoji="0" lang="en-US" sz="1800" b="0" i="1" u="sng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apley</a:t>
            </a:r>
            <a:r>
              <a:rPr kumimoji="0" lang="en-US" sz="1800" b="0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  <a:r>
              <a:rPr kumimoji="0" lang="en-US" sz="1800" b="1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</a:t>
            </a:r>
            <a:r>
              <a:rPr kumimoji="0" lang="en-US" sz="1800" b="0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dditive </a:t>
            </a:r>
            <a:r>
              <a:rPr kumimoji="0" lang="en-US" sz="1800" b="0" i="1" u="sng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ex</a:t>
            </a:r>
            <a:r>
              <a:rPr kumimoji="0" lang="en-US" sz="1800" b="1" i="1" u="sng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</a:t>
            </a:r>
            <a:r>
              <a:rPr kumimoji="0" lang="en-US" sz="1800" b="0" i="1" u="sng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lanations</a:t>
            </a:r>
            <a:r>
              <a:rPr kumimoji="0" lang="en-US" sz="1800" b="0" i="1" u="sng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)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15674A3A-003F-48DF-29A4-CD731AFE242F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367D3DE9-6090-DD7C-B6CA-4FCCF7F875A2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1" name="Rectángulo redondeado 10">
              <a:extLst>
                <a:ext uri="{FF2B5EF4-FFF2-40B4-BE49-F238E27FC236}">
                  <a16:creationId xmlns:a16="http://schemas.microsoft.com/office/drawing/2014/main" id="{5C1A3836-B6B5-2E8A-DA82-BB7C76E8E8F5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A9D27CF4-4909-1A93-1585-E5BD337E4691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592223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alpha val="3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26BEDDA-4269-442C-A8F8-D6ABBC68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5BBF6A24-290B-4A56-832E-2001D9E597B5}"/>
              </a:ext>
            </a:extLst>
          </p:cNvPr>
          <p:cNvSpPr txBox="1"/>
          <p:nvPr/>
        </p:nvSpPr>
        <p:spPr>
          <a:xfrm>
            <a:off x="1099882" y="986634"/>
            <a:ext cx="3476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TreeSHAP</a:t>
            </a:r>
            <a:endParaRPr kumimoji="0" lang="es-CO" sz="36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+mn-cs"/>
            </a:endParaRP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58695020-6416-4FBB-97A5-8FF031D99A6F}"/>
              </a:ext>
            </a:extLst>
          </p:cNvPr>
          <p:cNvSpPr txBox="1"/>
          <p:nvPr/>
        </p:nvSpPr>
        <p:spPr>
          <a:xfrm>
            <a:off x="2622486" y="1078967"/>
            <a:ext cx="21957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(for Trees and Forests)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445C2D6-DD4C-4913-8875-04B773C0D1CE}"/>
              </a:ext>
            </a:extLst>
          </p:cNvPr>
          <p:cNvSpPr txBox="1"/>
          <p:nvPr/>
        </p:nvSpPr>
        <p:spPr>
          <a:xfrm>
            <a:off x="1099883" y="1447428"/>
            <a:ext cx="38156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TreeSHAP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efficiently computes exact Shapley values for tree-based models by exploiting the tree structure to avoid enumerating all feature subsets.</a:t>
            </a: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B17C857-617A-4C69-B9BB-68634A338191}"/>
              </a:ext>
            </a:extLst>
          </p:cNvPr>
          <p:cNvSpPr txBox="1"/>
          <p:nvPr/>
        </p:nvSpPr>
        <p:spPr>
          <a:xfrm>
            <a:off x="5160453" y="1760761"/>
            <a:ext cx="21422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Algorithm</a:t>
            </a:r>
            <a:endParaRPr kumimoji="0" lang="es-CO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A660E83-F54B-449E-82F5-9865810CDA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452" y="2222428"/>
            <a:ext cx="6691904" cy="4036566"/>
          </a:xfrm>
          <a:prstGeom prst="roundRect">
            <a:avLst>
              <a:gd name="adj" fmla="val 1725"/>
            </a:avLst>
          </a:prstGeom>
          <a:ln w="28575">
            <a:solidFill>
              <a:srgbClr val="B278E6"/>
            </a:solidFill>
          </a:ln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26EF99DA-3105-47F9-BDA9-B892354FD6F8}"/>
              </a:ext>
            </a:extLst>
          </p:cNvPr>
          <p:cNvSpPr txBox="1"/>
          <p:nvPr/>
        </p:nvSpPr>
        <p:spPr>
          <a:xfrm>
            <a:off x="1016466" y="2752121"/>
            <a:ext cx="1670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Advantages:</a:t>
            </a:r>
          </a:p>
        </p:txBody>
      </p:sp>
      <p:sp>
        <p:nvSpPr>
          <p:cNvPr id="26" name="Google Shape;1869;p37">
            <a:extLst>
              <a:ext uri="{FF2B5EF4-FFF2-40B4-BE49-F238E27FC236}">
                <a16:creationId xmlns:a16="http://schemas.microsoft.com/office/drawing/2014/main" id="{104EC32B-98BA-4AA4-BC6B-7A0A8C5B0769}"/>
              </a:ext>
            </a:extLst>
          </p:cNvPr>
          <p:cNvSpPr txBox="1"/>
          <p:nvPr/>
        </p:nvSpPr>
        <p:spPr>
          <a:xfrm>
            <a:off x="1016467" y="3016218"/>
            <a:ext cx="3801808" cy="2013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It computes the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exact Shapley values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without the need for sampling or approximations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It is computationally efficient due to its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dynamic programming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approach.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It is </a:t>
            </a: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specifically designed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for tree-based models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, which are widely used in practice.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4940E1D-0444-475A-AB9F-C2D8951C2FB1}"/>
              </a:ext>
            </a:extLst>
          </p:cNvPr>
          <p:cNvSpPr txBox="1"/>
          <p:nvPr/>
        </p:nvSpPr>
        <p:spPr>
          <a:xfrm>
            <a:off x="1099882" y="6154132"/>
            <a:ext cx="1231056" cy="369332"/>
          </a:xfrm>
          <a:prstGeom prst="rect">
            <a:avLst/>
          </a:prstGeom>
          <a:solidFill>
            <a:srgbClr val="008B2E"/>
          </a:solidFill>
          <a:ln>
            <a:solidFill>
              <a:srgbClr val="B278E6"/>
            </a:solidFill>
          </a:ln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SA</a:t>
            </a:r>
            <a:endParaRPr kumimoji="0" lang="es-CO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D85FBEF2-6322-0BB0-F262-603A64921D1F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2041D75D-8006-BFFC-4847-B586CF94167B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1" name="Rectángulo redondeado 10">
              <a:extLst>
                <a:ext uri="{FF2B5EF4-FFF2-40B4-BE49-F238E27FC236}">
                  <a16:creationId xmlns:a16="http://schemas.microsoft.com/office/drawing/2014/main" id="{DA472591-65E2-C68B-E6C5-4F3238EE7F0D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0E93F8E1-3849-AB86-704F-FEBC5CD5CB0E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944729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grpSp>
        <p:nvGrpSpPr>
          <p:cNvPr id="21" name="Google Shape;1776;p40">
            <a:extLst>
              <a:ext uri="{FF2B5EF4-FFF2-40B4-BE49-F238E27FC236}">
                <a16:creationId xmlns:a16="http://schemas.microsoft.com/office/drawing/2014/main" id="{E7BE87FC-C557-416F-9256-D1B9BE7B404D}"/>
              </a:ext>
            </a:extLst>
          </p:cNvPr>
          <p:cNvGrpSpPr/>
          <p:nvPr/>
        </p:nvGrpSpPr>
        <p:grpSpPr>
          <a:xfrm flipH="1">
            <a:off x="7852770" y="1481760"/>
            <a:ext cx="3567290" cy="627682"/>
            <a:chOff x="651700" y="1307700"/>
            <a:chExt cx="2762825" cy="473400"/>
          </a:xfrm>
        </p:grpSpPr>
        <p:cxnSp>
          <p:nvCxnSpPr>
            <p:cNvPr id="62" name="Google Shape;1777;p40">
              <a:extLst>
                <a:ext uri="{FF2B5EF4-FFF2-40B4-BE49-F238E27FC236}">
                  <a16:creationId xmlns:a16="http://schemas.microsoft.com/office/drawing/2014/main" id="{1BF90AD9-BA11-4AA7-9A0B-A67BB2D9815D}"/>
                </a:ext>
              </a:extLst>
            </p:cNvPr>
            <p:cNvCxnSpPr/>
            <p:nvPr/>
          </p:nvCxnSpPr>
          <p:spPr>
            <a:xfrm rot="10800000">
              <a:off x="2941125" y="1307700"/>
              <a:ext cx="473400" cy="473400"/>
            </a:xfrm>
            <a:prstGeom prst="straightConnector1">
              <a:avLst/>
            </a:prstGeom>
            <a:noFill/>
            <a:ln w="19050" cap="flat" cmpd="sng">
              <a:solidFill>
                <a:srgbClr val="8879F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1778;p40">
              <a:extLst>
                <a:ext uri="{FF2B5EF4-FFF2-40B4-BE49-F238E27FC236}">
                  <a16:creationId xmlns:a16="http://schemas.microsoft.com/office/drawing/2014/main" id="{DD5C620B-8ED5-4A4A-B502-EEAF2186146B}"/>
                </a:ext>
              </a:extLst>
            </p:cNvPr>
            <p:cNvCxnSpPr/>
            <p:nvPr/>
          </p:nvCxnSpPr>
          <p:spPr>
            <a:xfrm rot="10800000">
              <a:off x="651700" y="1310150"/>
              <a:ext cx="2294700" cy="0"/>
            </a:xfrm>
            <a:prstGeom prst="straightConnector1">
              <a:avLst/>
            </a:prstGeom>
            <a:noFill/>
            <a:ln w="19050" cap="flat" cmpd="sng">
              <a:solidFill>
                <a:srgbClr val="8879F5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43" name="Google Shape;1803;p40">
            <a:extLst>
              <a:ext uri="{FF2B5EF4-FFF2-40B4-BE49-F238E27FC236}">
                <a16:creationId xmlns:a16="http://schemas.microsoft.com/office/drawing/2014/main" id="{1D7846B7-E6D3-4774-9E60-900F574FEB35}"/>
              </a:ext>
            </a:extLst>
          </p:cNvPr>
          <p:cNvGrpSpPr/>
          <p:nvPr/>
        </p:nvGrpSpPr>
        <p:grpSpPr>
          <a:xfrm rot="10800000">
            <a:off x="7852770" y="5281365"/>
            <a:ext cx="3567290" cy="627682"/>
            <a:chOff x="651700" y="1307700"/>
            <a:chExt cx="2762825" cy="473400"/>
          </a:xfrm>
        </p:grpSpPr>
        <p:cxnSp>
          <p:nvCxnSpPr>
            <p:cNvPr id="52" name="Google Shape;1804;p40">
              <a:extLst>
                <a:ext uri="{FF2B5EF4-FFF2-40B4-BE49-F238E27FC236}">
                  <a16:creationId xmlns:a16="http://schemas.microsoft.com/office/drawing/2014/main" id="{0D1E4AC4-6641-46EB-8B5E-3C0DFF13F63D}"/>
                </a:ext>
              </a:extLst>
            </p:cNvPr>
            <p:cNvCxnSpPr/>
            <p:nvPr/>
          </p:nvCxnSpPr>
          <p:spPr>
            <a:xfrm rot="10800000">
              <a:off x="2941125" y="1307700"/>
              <a:ext cx="473400" cy="473400"/>
            </a:xfrm>
            <a:prstGeom prst="straightConnector1">
              <a:avLst/>
            </a:prstGeom>
            <a:noFill/>
            <a:ln w="19050" cap="flat" cmpd="sng">
              <a:solidFill>
                <a:srgbClr val="FFB90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3" name="Google Shape;1805;p40">
              <a:extLst>
                <a:ext uri="{FF2B5EF4-FFF2-40B4-BE49-F238E27FC236}">
                  <a16:creationId xmlns:a16="http://schemas.microsoft.com/office/drawing/2014/main" id="{05B1E482-09E7-48B1-93A6-7633BC8442E2}"/>
                </a:ext>
              </a:extLst>
            </p:cNvPr>
            <p:cNvCxnSpPr/>
            <p:nvPr/>
          </p:nvCxnSpPr>
          <p:spPr>
            <a:xfrm rot="10800000">
              <a:off x="651700" y="1310150"/>
              <a:ext cx="2294700" cy="0"/>
            </a:xfrm>
            <a:prstGeom prst="straightConnector1">
              <a:avLst/>
            </a:prstGeom>
            <a:noFill/>
            <a:ln w="19050" cap="flat" cmpd="sng">
              <a:solidFill>
                <a:srgbClr val="FFB903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44" name="Google Shape;1806;p40">
            <a:extLst>
              <a:ext uri="{FF2B5EF4-FFF2-40B4-BE49-F238E27FC236}">
                <a16:creationId xmlns:a16="http://schemas.microsoft.com/office/drawing/2014/main" id="{718F7339-8581-47E9-AFC6-E9C2715F8638}"/>
              </a:ext>
            </a:extLst>
          </p:cNvPr>
          <p:cNvGrpSpPr/>
          <p:nvPr/>
        </p:nvGrpSpPr>
        <p:grpSpPr>
          <a:xfrm>
            <a:off x="1279206" y="1481760"/>
            <a:ext cx="3567290" cy="627682"/>
            <a:chOff x="651700" y="1307700"/>
            <a:chExt cx="2762825" cy="473400"/>
          </a:xfrm>
        </p:grpSpPr>
        <p:cxnSp>
          <p:nvCxnSpPr>
            <p:cNvPr id="50" name="Google Shape;1807;p40">
              <a:extLst>
                <a:ext uri="{FF2B5EF4-FFF2-40B4-BE49-F238E27FC236}">
                  <a16:creationId xmlns:a16="http://schemas.microsoft.com/office/drawing/2014/main" id="{2126C440-9AE2-4589-8A2A-3539A93CAE2A}"/>
                </a:ext>
              </a:extLst>
            </p:cNvPr>
            <p:cNvCxnSpPr/>
            <p:nvPr/>
          </p:nvCxnSpPr>
          <p:spPr>
            <a:xfrm rot="10800000">
              <a:off x="2941125" y="1307700"/>
              <a:ext cx="473400" cy="473400"/>
            </a:xfrm>
            <a:prstGeom prst="straightConnector1">
              <a:avLst/>
            </a:prstGeom>
            <a:noFill/>
            <a:ln w="19050" cap="flat" cmpd="sng">
              <a:solidFill>
                <a:srgbClr val="8879F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1808;p40">
              <a:extLst>
                <a:ext uri="{FF2B5EF4-FFF2-40B4-BE49-F238E27FC236}">
                  <a16:creationId xmlns:a16="http://schemas.microsoft.com/office/drawing/2014/main" id="{78B4DCA2-1054-4DE9-AB32-B1A89070C74E}"/>
                </a:ext>
              </a:extLst>
            </p:cNvPr>
            <p:cNvCxnSpPr/>
            <p:nvPr/>
          </p:nvCxnSpPr>
          <p:spPr>
            <a:xfrm rot="10800000">
              <a:off x="651700" y="1310150"/>
              <a:ext cx="2294700" cy="0"/>
            </a:xfrm>
            <a:prstGeom prst="straightConnector1">
              <a:avLst/>
            </a:prstGeom>
            <a:noFill/>
            <a:ln w="19050" cap="flat" cmpd="sng">
              <a:solidFill>
                <a:srgbClr val="8879F5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grpSp>
        <p:nvGrpSpPr>
          <p:cNvPr id="45" name="Google Shape;1809;p40">
            <a:extLst>
              <a:ext uri="{FF2B5EF4-FFF2-40B4-BE49-F238E27FC236}">
                <a16:creationId xmlns:a16="http://schemas.microsoft.com/office/drawing/2014/main" id="{E9470C81-DA98-4265-BBF0-00E8F1B85EFF}"/>
              </a:ext>
            </a:extLst>
          </p:cNvPr>
          <p:cNvGrpSpPr/>
          <p:nvPr/>
        </p:nvGrpSpPr>
        <p:grpSpPr>
          <a:xfrm rot="10800000" flipH="1">
            <a:off x="1279206" y="5281365"/>
            <a:ext cx="3567290" cy="627682"/>
            <a:chOff x="651700" y="1307700"/>
            <a:chExt cx="2762825" cy="473400"/>
          </a:xfrm>
        </p:grpSpPr>
        <p:cxnSp>
          <p:nvCxnSpPr>
            <p:cNvPr id="48" name="Google Shape;1810;p40">
              <a:extLst>
                <a:ext uri="{FF2B5EF4-FFF2-40B4-BE49-F238E27FC236}">
                  <a16:creationId xmlns:a16="http://schemas.microsoft.com/office/drawing/2014/main" id="{D93A97D9-0DEE-4066-99F8-ACC60B02AAFE}"/>
                </a:ext>
              </a:extLst>
            </p:cNvPr>
            <p:cNvCxnSpPr/>
            <p:nvPr/>
          </p:nvCxnSpPr>
          <p:spPr>
            <a:xfrm rot="10800000">
              <a:off x="2941125" y="1307700"/>
              <a:ext cx="473400" cy="473400"/>
            </a:xfrm>
            <a:prstGeom prst="straightConnector1">
              <a:avLst/>
            </a:prstGeom>
            <a:noFill/>
            <a:ln w="19050" cap="flat" cmpd="sng">
              <a:solidFill>
                <a:srgbClr val="FFB903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9" name="Google Shape;1811;p40">
              <a:extLst>
                <a:ext uri="{FF2B5EF4-FFF2-40B4-BE49-F238E27FC236}">
                  <a16:creationId xmlns:a16="http://schemas.microsoft.com/office/drawing/2014/main" id="{33359981-F2C7-41BC-B697-F3A225315596}"/>
                </a:ext>
              </a:extLst>
            </p:cNvPr>
            <p:cNvCxnSpPr/>
            <p:nvPr/>
          </p:nvCxnSpPr>
          <p:spPr>
            <a:xfrm rot="10800000">
              <a:off x="651700" y="1310150"/>
              <a:ext cx="2294700" cy="0"/>
            </a:xfrm>
            <a:prstGeom prst="straightConnector1">
              <a:avLst/>
            </a:prstGeom>
            <a:noFill/>
            <a:ln w="19050" cap="flat" cmpd="sng">
              <a:solidFill>
                <a:srgbClr val="FFB903"/>
              </a:solidFill>
              <a:prstDash val="solid"/>
              <a:round/>
              <a:headEnd type="none" w="med" len="med"/>
              <a:tailEnd type="oval" w="med" len="med"/>
            </a:ln>
          </p:spPr>
        </p:cxnSp>
      </p:grpSp>
      <p:sp>
        <p:nvSpPr>
          <p:cNvPr id="46" name="Google Shape;1812;p40">
            <a:extLst>
              <a:ext uri="{FF2B5EF4-FFF2-40B4-BE49-F238E27FC236}">
                <a16:creationId xmlns:a16="http://schemas.microsoft.com/office/drawing/2014/main" id="{29C62605-56E7-4B44-8F93-E51F34696A1C}"/>
              </a:ext>
            </a:extLst>
          </p:cNvPr>
          <p:cNvSpPr txBox="1"/>
          <p:nvPr/>
        </p:nvSpPr>
        <p:spPr>
          <a:xfrm>
            <a:off x="5331956" y="3420172"/>
            <a:ext cx="1858103" cy="420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  <a:sym typeface="Fira Sans Extra Condensed Medium"/>
              </a:rPr>
              <a:t>Pros &amp; cons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  <a:sym typeface="Fira Sans Extra Condensed Medium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24836F4-36A5-4B93-9AD5-7A06DAC60F73}"/>
              </a:ext>
            </a:extLst>
          </p:cNvPr>
          <p:cNvGrpSpPr/>
          <p:nvPr/>
        </p:nvGrpSpPr>
        <p:grpSpPr>
          <a:xfrm>
            <a:off x="4367654" y="1621995"/>
            <a:ext cx="1893600" cy="1994400"/>
            <a:chOff x="4367654" y="1621995"/>
            <a:chExt cx="1893600" cy="1994400"/>
          </a:xfrm>
          <a:solidFill>
            <a:srgbClr val="8879F5"/>
          </a:solidFill>
        </p:grpSpPr>
        <p:sp>
          <p:nvSpPr>
            <p:cNvPr id="29" name="Google Shape;1783;p40">
              <a:extLst>
                <a:ext uri="{FF2B5EF4-FFF2-40B4-BE49-F238E27FC236}">
                  <a16:creationId xmlns:a16="http://schemas.microsoft.com/office/drawing/2014/main" id="{9D8E5DDA-B87C-49A0-A453-397C35DD6636}"/>
                </a:ext>
              </a:extLst>
            </p:cNvPr>
            <p:cNvSpPr/>
            <p:nvPr/>
          </p:nvSpPr>
          <p:spPr>
            <a:xfrm flipH="1">
              <a:off x="4810015" y="2093991"/>
              <a:ext cx="1451195" cy="1522018"/>
            </a:xfrm>
            <a:custGeom>
              <a:avLst/>
              <a:gdLst/>
              <a:ahLst/>
              <a:cxnLst/>
              <a:rect l="l" t="t" r="r" b="b"/>
              <a:pathLst>
                <a:path w="61079" h="62382" extrusionOk="0">
                  <a:moveTo>
                    <a:pt x="1" y="0"/>
                  </a:moveTo>
                  <a:lnTo>
                    <a:pt x="1" y="15263"/>
                  </a:lnTo>
                  <a:lnTo>
                    <a:pt x="201" y="15288"/>
                  </a:lnTo>
                  <a:cubicBezTo>
                    <a:pt x="25339" y="16817"/>
                    <a:pt x="44963" y="36993"/>
                    <a:pt x="45790" y="62181"/>
                  </a:cubicBezTo>
                  <a:lnTo>
                    <a:pt x="45815" y="62381"/>
                  </a:lnTo>
                  <a:lnTo>
                    <a:pt x="61079" y="62381"/>
                  </a:lnTo>
                  <a:lnTo>
                    <a:pt x="61054" y="62181"/>
                  </a:lnTo>
                  <a:cubicBezTo>
                    <a:pt x="60653" y="45990"/>
                    <a:pt x="54161" y="30677"/>
                    <a:pt x="42808" y="19098"/>
                  </a:cubicBezTo>
                  <a:cubicBezTo>
                    <a:pt x="31479" y="7544"/>
                    <a:pt x="16367" y="752"/>
                    <a:pt x="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4" name="Google Shape;1783;p40">
              <a:extLst>
                <a:ext uri="{FF2B5EF4-FFF2-40B4-BE49-F238E27FC236}">
                  <a16:creationId xmlns:a16="http://schemas.microsoft.com/office/drawing/2014/main" id="{282EE9BF-3596-4C48-AA73-C9C46D583C21}"/>
                </a:ext>
              </a:extLst>
            </p:cNvPr>
            <p:cNvSpPr/>
            <p:nvPr/>
          </p:nvSpPr>
          <p:spPr>
            <a:xfrm flipH="1">
              <a:off x="4367654" y="1621995"/>
              <a:ext cx="1893600" cy="1994400"/>
            </a:xfrm>
            <a:custGeom>
              <a:avLst/>
              <a:gdLst/>
              <a:ahLst/>
              <a:cxnLst/>
              <a:rect l="l" t="t" r="r" b="b"/>
              <a:pathLst>
                <a:path w="61079" h="62382" extrusionOk="0">
                  <a:moveTo>
                    <a:pt x="1" y="0"/>
                  </a:moveTo>
                  <a:lnTo>
                    <a:pt x="1" y="15263"/>
                  </a:lnTo>
                  <a:lnTo>
                    <a:pt x="201" y="15288"/>
                  </a:lnTo>
                  <a:cubicBezTo>
                    <a:pt x="25339" y="16817"/>
                    <a:pt x="44963" y="36993"/>
                    <a:pt x="45790" y="62181"/>
                  </a:cubicBezTo>
                  <a:lnTo>
                    <a:pt x="45815" y="62381"/>
                  </a:lnTo>
                  <a:lnTo>
                    <a:pt x="61079" y="62381"/>
                  </a:lnTo>
                  <a:lnTo>
                    <a:pt x="61054" y="62181"/>
                  </a:lnTo>
                  <a:cubicBezTo>
                    <a:pt x="60653" y="45990"/>
                    <a:pt x="54161" y="30677"/>
                    <a:pt x="42808" y="19098"/>
                  </a:cubicBezTo>
                  <a:cubicBezTo>
                    <a:pt x="31479" y="7544"/>
                    <a:pt x="16367" y="752"/>
                    <a:pt x="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89" name="Grupo 88">
            <a:extLst>
              <a:ext uri="{FF2B5EF4-FFF2-40B4-BE49-F238E27FC236}">
                <a16:creationId xmlns:a16="http://schemas.microsoft.com/office/drawing/2014/main" id="{D5F300A1-3B0C-4F51-932F-B1E4DD9DB6DB}"/>
              </a:ext>
            </a:extLst>
          </p:cNvPr>
          <p:cNvGrpSpPr/>
          <p:nvPr/>
        </p:nvGrpSpPr>
        <p:grpSpPr>
          <a:xfrm flipV="1">
            <a:off x="4383059" y="3791172"/>
            <a:ext cx="1893600" cy="1994400"/>
            <a:chOff x="4367654" y="1621995"/>
            <a:chExt cx="1893600" cy="1994400"/>
          </a:xfrm>
          <a:solidFill>
            <a:srgbClr val="FFB903"/>
          </a:solidFill>
        </p:grpSpPr>
        <p:sp>
          <p:nvSpPr>
            <p:cNvPr id="90" name="Google Shape;1783;p40">
              <a:extLst>
                <a:ext uri="{FF2B5EF4-FFF2-40B4-BE49-F238E27FC236}">
                  <a16:creationId xmlns:a16="http://schemas.microsoft.com/office/drawing/2014/main" id="{AC65B456-E627-46F4-81DE-1C2FE86CEAD3}"/>
                </a:ext>
              </a:extLst>
            </p:cNvPr>
            <p:cNvSpPr/>
            <p:nvPr/>
          </p:nvSpPr>
          <p:spPr>
            <a:xfrm flipH="1">
              <a:off x="4810015" y="2093991"/>
              <a:ext cx="1451195" cy="1522018"/>
            </a:xfrm>
            <a:custGeom>
              <a:avLst/>
              <a:gdLst/>
              <a:ahLst/>
              <a:cxnLst/>
              <a:rect l="l" t="t" r="r" b="b"/>
              <a:pathLst>
                <a:path w="61079" h="62382" extrusionOk="0">
                  <a:moveTo>
                    <a:pt x="1" y="0"/>
                  </a:moveTo>
                  <a:lnTo>
                    <a:pt x="1" y="15263"/>
                  </a:lnTo>
                  <a:lnTo>
                    <a:pt x="201" y="15288"/>
                  </a:lnTo>
                  <a:cubicBezTo>
                    <a:pt x="25339" y="16817"/>
                    <a:pt x="44963" y="36993"/>
                    <a:pt x="45790" y="62181"/>
                  </a:cubicBezTo>
                  <a:lnTo>
                    <a:pt x="45815" y="62381"/>
                  </a:lnTo>
                  <a:lnTo>
                    <a:pt x="61079" y="62381"/>
                  </a:lnTo>
                  <a:lnTo>
                    <a:pt x="61054" y="62181"/>
                  </a:lnTo>
                  <a:cubicBezTo>
                    <a:pt x="60653" y="45990"/>
                    <a:pt x="54161" y="30677"/>
                    <a:pt x="42808" y="19098"/>
                  </a:cubicBezTo>
                  <a:cubicBezTo>
                    <a:pt x="31479" y="7544"/>
                    <a:pt x="16367" y="752"/>
                    <a:pt x="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1" name="Google Shape;1783;p40">
              <a:extLst>
                <a:ext uri="{FF2B5EF4-FFF2-40B4-BE49-F238E27FC236}">
                  <a16:creationId xmlns:a16="http://schemas.microsoft.com/office/drawing/2014/main" id="{7DE57CEE-4293-44A1-A525-EBC714BFB01A}"/>
                </a:ext>
              </a:extLst>
            </p:cNvPr>
            <p:cNvSpPr/>
            <p:nvPr/>
          </p:nvSpPr>
          <p:spPr>
            <a:xfrm flipH="1">
              <a:off x="4367654" y="1621995"/>
              <a:ext cx="1893600" cy="1994400"/>
            </a:xfrm>
            <a:custGeom>
              <a:avLst/>
              <a:gdLst/>
              <a:ahLst/>
              <a:cxnLst/>
              <a:rect l="l" t="t" r="r" b="b"/>
              <a:pathLst>
                <a:path w="61079" h="62382" extrusionOk="0">
                  <a:moveTo>
                    <a:pt x="1" y="0"/>
                  </a:moveTo>
                  <a:lnTo>
                    <a:pt x="1" y="15263"/>
                  </a:lnTo>
                  <a:lnTo>
                    <a:pt x="201" y="15288"/>
                  </a:lnTo>
                  <a:cubicBezTo>
                    <a:pt x="25339" y="16817"/>
                    <a:pt x="44963" y="36993"/>
                    <a:pt x="45790" y="62181"/>
                  </a:cubicBezTo>
                  <a:lnTo>
                    <a:pt x="45815" y="62381"/>
                  </a:lnTo>
                  <a:lnTo>
                    <a:pt x="61079" y="62381"/>
                  </a:lnTo>
                  <a:lnTo>
                    <a:pt x="61054" y="62181"/>
                  </a:lnTo>
                  <a:cubicBezTo>
                    <a:pt x="60653" y="45990"/>
                    <a:pt x="54161" y="30677"/>
                    <a:pt x="42808" y="19098"/>
                  </a:cubicBezTo>
                  <a:cubicBezTo>
                    <a:pt x="31479" y="7544"/>
                    <a:pt x="16367" y="752"/>
                    <a:pt x="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2" name="Grupo 91">
            <a:extLst>
              <a:ext uri="{FF2B5EF4-FFF2-40B4-BE49-F238E27FC236}">
                <a16:creationId xmlns:a16="http://schemas.microsoft.com/office/drawing/2014/main" id="{E56B0B46-A34B-4DD6-B3CC-D65D6AC4D3CD}"/>
              </a:ext>
            </a:extLst>
          </p:cNvPr>
          <p:cNvGrpSpPr/>
          <p:nvPr/>
        </p:nvGrpSpPr>
        <p:grpSpPr>
          <a:xfrm flipH="1" flipV="1">
            <a:off x="6454413" y="3793365"/>
            <a:ext cx="1893600" cy="1994400"/>
            <a:chOff x="4367654" y="1621995"/>
            <a:chExt cx="1893600" cy="1994400"/>
          </a:xfrm>
          <a:solidFill>
            <a:schemeClr val="bg2">
              <a:lumMod val="50000"/>
            </a:schemeClr>
          </a:solidFill>
        </p:grpSpPr>
        <p:sp>
          <p:nvSpPr>
            <p:cNvPr id="93" name="Google Shape;1783;p40">
              <a:extLst>
                <a:ext uri="{FF2B5EF4-FFF2-40B4-BE49-F238E27FC236}">
                  <a16:creationId xmlns:a16="http://schemas.microsoft.com/office/drawing/2014/main" id="{2346AE19-A374-49A0-947C-2BCADABD823A}"/>
                </a:ext>
              </a:extLst>
            </p:cNvPr>
            <p:cNvSpPr/>
            <p:nvPr/>
          </p:nvSpPr>
          <p:spPr>
            <a:xfrm flipH="1">
              <a:off x="4810015" y="2093991"/>
              <a:ext cx="1451195" cy="1522018"/>
            </a:xfrm>
            <a:custGeom>
              <a:avLst/>
              <a:gdLst/>
              <a:ahLst/>
              <a:cxnLst/>
              <a:rect l="l" t="t" r="r" b="b"/>
              <a:pathLst>
                <a:path w="61079" h="62382" extrusionOk="0">
                  <a:moveTo>
                    <a:pt x="1" y="0"/>
                  </a:moveTo>
                  <a:lnTo>
                    <a:pt x="1" y="15263"/>
                  </a:lnTo>
                  <a:lnTo>
                    <a:pt x="201" y="15288"/>
                  </a:lnTo>
                  <a:cubicBezTo>
                    <a:pt x="25339" y="16817"/>
                    <a:pt x="44963" y="36993"/>
                    <a:pt x="45790" y="62181"/>
                  </a:cubicBezTo>
                  <a:lnTo>
                    <a:pt x="45815" y="62381"/>
                  </a:lnTo>
                  <a:lnTo>
                    <a:pt x="61079" y="62381"/>
                  </a:lnTo>
                  <a:lnTo>
                    <a:pt x="61054" y="62181"/>
                  </a:lnTo>
                  <a:cubicBezTo>
                    <a:pt x="60653" y="45990"/>
                    <a:pt x="54161" y="30677"/>
                    <a:pt x="42808" y="19098"/>
                  </a:cubicBezTo>
                  <a:cubicBezTo>
                    <a:pt x="31479" y="7544"/>
                    <a:pt x="16367" y="752"/>
                    <a:pt x="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4" name="Google Shape;1783;p40">
              <a:extLst>
                <a:ext uri="{FF2B5EF4-FFF2-40B4-BE49-F238E27FC236}">
                  <a16:creationId xmlns:a16="http://schemas.microsoft.com/office/drawing/2014/main" id="{789FBFF8-18F1-4589-845B-C17179027E1C}"/>
                </a:ext>
              </a:extLst>
            </p:cNvPr>
            <p:cNvSpPr/>
            <p:nvPr/>
          </p:nvSpPr>
          <p:spPr>
            <a:xfrm flipH="1">
              <a:off x="4367654" y="1621995"/>
              <a:ext cx="1893600" cy="1994400"/>
            </a:xfrm>
            <a:custGeom>
              <a:avLst/>
              <a:gdLst/>
              <a:ahLst/>
              <a:cxnLst/>
              <a:rect l="l" t="t" r="r" b="b"/>
              <a:pathLst>
                <a:path w="61079" h="62382" extrusionOk="0">
                  <a:moveTo>
                    <a:pt x="1" y="0"/>
                  </a:moveTo>
                  <a:lnTo>
                    <a:pt x="1" y="15263"/>
                  </a:lnTo>
                  <a:lnTo>
                    <a:pt x="201" y="15288"/>
                  </a:lnTo>
                  <a:cubicBezTo>
                    <a:pt x="25339" y="16817"/>
                    <a:pt x="44963" y="36993"/>
                    <a:pt x="45790" y="62181"/>
                  </a:cubicBezTo>
                  <a:lnTo>
                    <a:pt x="45815" y="62381"/>
                  </a:lnTo>
                  <a:lnTo>
                    <a:pt x="61079" y="62381"/>
                  </a:lnTo>
                  <a:lnTo>
                    <a:pt x="61054" y="62181"/>
                  </a:lnTo>
                  <a:cubicBezTo>
                    <a:pt x="60653" y="45990"/>
                    <a:pt x="54161" y="30677"/>
                    <a:pt x="42808" y="19098"/>
                  </a:cubicBezTo>
                  <a:cubicBezTo>
                    <a:pt x="31479" y="7544"/>
                    <a:pt x="16367" y="752"/>
                    <a:pt x="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7C233840-8A06-4981-B248-D3DC5F67D775}"/>
              </a:ext>
            </a:extLst>
          </p:cNvPr>
          <p:cNvGrpSpPr/>
          <p:nvPr/>
        </p:nvGrpSpPr>
        <p:grpSpPr>
          <a:xfrm flipH="1">
            <a:off x="6464418" y="1629767"/>
            <a:ext cx="1893600" cy="1994400"/>
            <a:chOff x="4367654" y="1621995"/>
            <a:chExt cx="1893600" cy="1994400"/>
          </a:xfrm>
          <a:solidFill>
            <a:schemeClr val="bg2">
              <a:lumMod val="90000"/>
            </a:schemeClr>
          </a:solidFill>
        </p:grpSpPr>
        <p:sp>
          <p:nvSpPr>
            <p:cNvPr id="96" name="Google Shape;1783;p40">
              <a:extLst>
                <a:ext uri="{FF2B5EF4-FFF2-40B4-BE49-F238E27FC236}">
                  <a16:creationId xmlns:a16="http://schemas.microsoft.com/office/drawing/2014/main" id="{72ACDAFC-1A6A-499B-95A9-5CD7E8D5EF7D}"/>
                </a:ext>
              </a:extLst>
            </p:cNvPr>
            <p:cNvSpPr/>
            <p:nvPr/>
          </p:nvSpPr>
          <p:spPr>
            <a:xfrm flipH="1">
              <a:off x="4810015" y="2093991"/>
              <a:ext cx="1451195" cy="1522018"/>
            </a:xfrm>
            <a:custGeom>
              <a:avLst/>
              <a:gdLst/>
              <a:ahLst/>
              <a:cxnLst/>
              <a:rect l="l" t="t" r="r" b="b"/>
              <a:pathLst>
                <a:path w="61079" h="62382" extrusionOk="0">
                  <a:moveTo>
                    <a:pt x="1" y="0"/>
                  </a:moveTo>
                  <a:lnTo>
                    <a:pt x="1" y="15263"/>
                  </a:lnTo>
                  <a:lnTo>
                    <a:pt x="201" y="15288"/>
                  </a:lnTo>
                  <a:cubicBezTo>
                    <a:pt x="25339" y="16817"/>
                    <a:pt x="44963" y="36993"/>
                    <a:pt x="45790" y="62181"/>
                  </a:cubicBezTo>
                  <a:lnTo>
                    <a:pt x="45815" y="62381"/>
                  </a:lnTo>
                  <a:lnTo>
                    <a:pt x="61079" y="62381"/>
                  </a:lnTo>
                  <a:lnTo>
                    <a:pt x="61054" y="62181"/>
                  </a:lnTo>
                  <a:cubicBezTo>
                    <a:pt x="60653" y="45990"/>
                    <a:pt x="54161" y="30677"/>
                    <a:pt x="42808" y="19098"/>
                  </a:cubicBezTo>
                  <a:cubicBezTo>
                    <a:pt x="31479" y="7544"/>
                    <a:pt x="16367" y="752"/>
                    <a:pt x="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7" name="Google Shape;1783;p40">
              <a:extLst>
                <a:ext uri="{FF2B5EF4-FFF2-40B4-BE49-F238E27FC236}">
                  <a16:creationId xmlns:a16="http://schemas.microsoft.com/office/drawing/2014/main" id="{341CDFAE-F1FB-4365-A4B6-613CC1EFE5BA}"/>
                </a:ext>
              </a:extLst>
            </p:cNvPr>
            <p:cNvSpPr/>
            <p:nvPr/>
          </p:nvSpPr>
          <p:spPr>
            <a:xfrm flipH="1">
              <a:off x="4367654" y="1621995"/>
              <a:ext cx="1893600" cy="1994400"/>
            </a:xfrm>
            <a:custGeom>
              <a:avLst/>
              <a:gdLst/>
              <a:ahLst/>
              <a:cxnLst/>
              <a:rect l="l" t="t" r="r" b="b"/>
              <a:pathLst>
                <a:path w="61079" h="62382" extrusionOk="0">
                  <a:moveTo>
                    <a:pt x="1" y="0"/>
                  </a:moveTo>
                  <a:lnTo>
                    <a:pt x="1" y="15263"/>
                  </a:lnTo>
                  <a:lnTo>
                    <a:pt x="201" y="15288"/>
                  </a:lnTo>
                  <a:cubicBezTo>
                    <a:pt x="25339" y="16817"/>
                    <a:pt x="44963" y="36993"/>
                    <a:pt x="45790" y="62181"/>
                  </a:cubicBezTo>
                  <a:lnTo>
                    <a:pt x="45815" y="62381"/>
                  </a:lnTo>
                  <a:lnTo>
                    <a:pt x="61079" y="62381"/>
                  </a:lnTo>
                  <a:lnTo>
                    <a:pt x="61054" y="62181"/>
                  </a:lnTo>
                  <a:cubicBezTo>
                    <a:pt x="60653" y="45990"/>
                    <a:pt x="54161" y="30677"/>
                    <a:pt x="42808" y="19098"/>
                  </a:cubicBezTo>
                  <a:cubicBezTo>
                    <a:pt x="31479" y="7544"/>
                    <a:pt x="16367" y="752"/>
                    <a:pt x="2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3AE5A1E-ABAE-4451-9FFC-B635F16378E5}"/>
              </a:ext>
            </a:extLst>
          </p:cNvPr>
          <p:cNvGrpSpPr/>
          <p:nvPr/>
        </p:nvGrpSpPr>
        <p:grpSpPr>
          <a:xfrm>
            <a:off x="5290939" y="2445757"/>
            <a:ext cx="2161584" cy="553696"/>
            <a:chOff x="1279206" y="1851687"/>
            <a:chExt cx="2161584" cy="553696"/>
          </a:xfrm>
        </p:grpSpPr>
        <p:sp>
          <p:nvSpPr>
            <p:cNvPr id="10" name="Rectángulo: esquinas redondeadas 9">
              <a:extLst>
                <a:ext uri="{FF2B5EF4-FFF2-40B4-BE49-F238E27FC236}">
                  <a16:creationId xmlns:a16="http://schemas.microsoft.com/office/drawing/2014/main" id="{C1D72412-37D7-4AE3-B526-506B458F092D}"/>
                </a:ext>
              </a:extLst>
            </p:cNvPr>
            <p:cNvSpPr/>
            <p:nvPr/>
          </p:nvSpPr>
          <p:spPr>
            <a:xfrm>
              <a:off x="1279206" y="1851687"/>
              <a:ext cx="2161584" cy="5536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6350F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8" name="CuadroTexto 97">
              <a:extLst>
                <a:ext uri="{FF2B5EF4-FFF2-40B4-BE49-F238E27FC236}">
                  <a16:creationId xmlns:a16="http://schemas.microsoft.com/office/drawing/2014/main" id="{54B19E48-63CD-4334-9B54-27F77FAA55FE}"/>
                </a:ext>
              </a:extLst>
            </p:cNvPr>
            <p:cNvSpPr txBox="1"/>
            <p:nvPr/>
          </p:nvSpPr>
          <p:spPr>
            <a:xfrm>
              <a:off x="1411606" y="1898720"/>
              <a:ext cx="188047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400" b="0" i="1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rPr>
                <a:t>Sobol</a:t>
              </a:r>
              <a:r>
                <a:rPr kumimoji="0" lang="es-ES_tradnl" sz="24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rPr>
                <a:t> </a:t>
              </a:r>
              <a:r>
                <a:rPr kumimoji="0" lang="es-ES" sz="2400" b="0" i="1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rPr>
                <a:t>Indices</a:t>
              </a:r>
              <a:endParaRPr kumimoji="0" lang="es-ES_tradnl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endParaRPr>
            </a:p>
          </p:txBody>
        </p:sp>
      </p:grpSp>
      <p:grpSp>
        <p:nvGrpSpPr>
          <p:cNvPr id="99" name="Grupo 98">
            <a:extLst>
              <a:ext uri="{FF2B5EF4-FFF2-40B4-BE49-F238E27FC236}">
                <a16:creationId xmlns:a16="http://schemas.microsoft.com/office/drawing/2014/main" id="{A70BBD16-80EB-49EE-8DD2-E4FF0AFF8855}"/>
              </a:ext>
            </a:extLst>
          </p:cNvPr>
          <p:cNvGrpSpPr/>
          <p:nvPr/>
        </p:nvGrpSpPr>
        <p:grpSpPr>
          <a:xfrm>
            <a:off x="5290939" y="4211891"/>
            <a:ext cx="2161584" cy="553696"/>
            <a:chOff x="1279206" y="1851687"/>
            <a:chExt cx="2161584" cy="553696"/>
          </a:xfrm>
        </p:grpSpPr>
        <p:sp>
          <p:nvSpPr>
            <p:cNvPr id="100" name="Rectángulo: esquinas redondeadas 99">
              <a:extLst>
                <a:ext uri="{FF2B5EF4-FFF2-40B4-BE49-F238E27FC236}">
                  <a16:creationId xmlns:a16="http://schemas.microsoft.com/office/drawing/2014/main" id="{D92F0C07-6C1B-469A-BD0E-17379CA62B7F}"/>
                </a:ext>
              </a:extLst>
            </p:cNvPr>
            <p:cNvSpPr/>
            <p:nvPr/>
          </p:nvSpPr>
          <p:spPr>
            <a:xfrm>
              <a:off x="1279206" y="1851687"/>
              <a:ext cx="2161584" cy="553696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rgbClr val="FFB90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1" name="CuadroTexto 100">
              <a:extLst>
                <a:ext uri="{FF2B5EF4-FFF2-40B4-BE49-F238E27FC236}">
                  <a16:creationId xmlns:a16="http://schemas.microsoft.com/office/drawing/2014/main" id="{5E8A58CC-ACB3-46E2-8966-E188EE35476A}"/>
                </a:ext>
              </a:extLst>
            </p:cNvPr>
            <p:cNvSpPr txBox="1"/>
            <p:nvPr/>
          </p:nvSpPr>
          <p:spPr>
            <a:xfrm>
              <a:off x="1411606" y="1898720"/>
              <a:ext cx="1880473" cy="4616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24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rPr>
                <a:t>SHAP</a:t>
              </a:r>
              <a:r>
                <a:rPr kumimoji="0" lang="es-ES_tradnl" sz="16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" sz="2400" b="0" i="1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 Light" panose="020B0403030403020204" pitchFamily="34" charset="0"/>
                  <a:ea typeface="Source Sans Pro Light" panose="020B0403030403020204" pitchFamily="34" charset="0"/>
                  <a:cs typeface="+mn-cs"/>
                </a:rPr>
                <a:t>Values</a:t>
              </a:r>
              <a:endParaRPr kumimoji="0" lang="es-ES_tradnl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endParaRPr>
            </a:p>
          </p:txBody>
        </p:sp>
      </p:grp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F068CA1B-A094-4763-BBC8-9981F007A2D0}"/>
              </a:ext>
            </a:extLst>
          </p:cNvPr>
          <p:cNvSpPr txBox="1"/>
          <p:nvPr/>
        </p:nvSpPr>
        <p:spPr>
          <a:xfrm>
            <a:off x="1301388" y="1541761"/>
            <a:ext cx="303821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Global sensitivity quantifies how inputs influence output variance.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Accounts for interactions.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Applies to any model.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Offers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a </a:t>
            </a: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clear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variance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decomposition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</p:txBody>
      </p:sp>
      <p:sp>
        <p:nvSpPr>
          <p:cNvPr id="104" name="CuadroTexto 103">
            <a:extLst>
              <a:ext uri="{FF2B5EF4-FFF2-40B4-BE49-F238E27FC236}">
                <a16:creationId xmlns:a16="http://schemas.microsoft.com/office/drawing/2014/main" id="{11C31C84-0005-4F79-AF9A-708EC7067582}"/>
              </a:ext>
            </a:extLst>
          </p:cNvPr>
          <p:cNvSpPr txBox="1"/>
          <p:nvPr/>
        </p:nvSpPr>
        <p:spPr>
          <a:xfrm>
            <a:off x="1301388" y="3758817"/>
            <a:ext cx="318723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Local explanations clarify individual predictions.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Applies to any model.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Handle interactions.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They are grounded in fair game-theoretic principles, with </a:t>
            </a: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guarantees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of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fairness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and </a:t>
            </a:r>
            <a:r>
              <a:rPr kumimoji="0" lang="es-CO" sz="16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consistency</a:t>
            </a:r>
            <a:r>
              <a:rPr kumimoji="0" lang="es-CO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</p:txBody>
      </p:sp>
      <p:sp>
        <p:nvSpPr>
          <p:cNvPr id="105" name="CuadroTexto 104">
            <a:extLst>
              <a:ext uri="{FF2B5EF4-FFF2-40B4-BE49-F238E27FC236}">
                <a16:creationId xmlns:a16="http://schemas.microsoft.com/office/drawing/2014/main" id="{E92B7674-9073-42A7-A38B-70978BFF0361}"/>
              </a:ext>
            </a:extLst>
          </p:cNvPr>
          <p:cNvSpPr txBox="1"/>
          <p:nvPr/>
        </p:nvSpPr>
        <p:spPr>
          <a:xfrm>
            <a:off x="8348013" y="1515768"/>
            <a:ext cx="306460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 marL="285750" indent="-285750">
              <a:buFont typeface="Wingdings" panose="05000000000000000000" pitchFamily="2" charset="2"/>
              <a:buChar char="§"/>
              <a:defRPr sz="1600"/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High computational cost.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Assumes input independence.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Provides only global insights.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Struggles with high-dimensional data.</a:t>
            </a:r>
            <a:endParaRPr kumimoji="0" lang="es-CO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06" name="CuadroTexto 105">
            <a:extLst>
              <a:ext uri="{FF2B5EF4-FFF2-40B4-BE49-F238E27FC236}">
                <a16:creationId xmlns:a16="http://schemas.microsoft.com/office/drawing/2014/main" id="{DD2F354A-4C34-4D79-8A28-F19F176C1F8C}"/>
              </a:ext>
            </a:extLst>
          </p:cNvPr>
          <p:cNvSpPr txBox="1"/>
          <p:nvPr/>
        </p:nvSpPr>
        <p:spPr>
          <a:xfrm>
            <a:off x="8457202" y="4720589"/>
            <a:ext cx="28970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s-CO"/>
            </a:defPPr>
            <a:lvl1pPr marL="285750" indent="-285750">
              <a:buFont typeface="Wingdings" panose="05000000000000000000" pitchFamily="2" charset="2"/>
              <a:buChar char="§"/>
              <a:defRPr sz="1600"/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Computationally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intensive.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May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give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misleading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results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if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feature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dependence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isn't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handled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well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.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16C0C66-2A9A-4E8C-80A3-9F5AEA498EF9}"/>
              </a:ext>
            </a:extLst>
          </p:cNvPr>
          <p:cNvSpPr txBox="1"/>
          <p:nvPr/>
        </p:nvSpPr>
        <p:spPr>
          <a:xfrm>
            <a:off x="10960944" y="6043810"/>
            <a:ext cx="1231056" cy="369332"/>
          </a:xfrm>
          <a:prstGeom prst="rect">
            <a:avLst/>
          </a:prstGeom>
          <a:solidFill>
            <a:srgbClr val="008B2E"/>
          </a:solidFill>
          <a:ln>
            <a:solidFill>
              <a:srgbClr val="B278E6"/>
            </a:solidFill>
          </a:ln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</a:t>
            </a:r>
            <a:r>
              <a:rPr kumimoji="0" lang="es-ES" sz="18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SA</a:t>
            </a:r>
            <a:endParaRPr kumimoji="0" lang="es-CO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B3B0CB71-209B-61E4-9EAE-3A5B7767D72D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A4CC143C-B2F9-0F0C-573A-1065D1946221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4" name="Rectángulo redondeado 13">
              <a:extLst>
                <a:ext uri="{FF2B5EF4-FFF2-40B4-BE49-F238E27FC236}">
                  <a16:creationId xmlns:a16="http://schemas.microsoft.com/office/drawing/2014/main" id="{FBF37016-F77F-EB8C-CB39-44361E0B8A2B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E1BD9A33-B885-3AC6-5DDC-9411744A2AE8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1921640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BD9AE610-AA0A-4B62-8B84-1B1E69B6BFC2}"/>
              </a:ext>
            </a:extLst>
          </p:cNvPr>
          <p:cNvSpPr/>
          <p:nvPr/>
        </p:nvSpPr>
        <p:spPr>
          <a:xfrm>
            <a:off x="1124865" y="881417"/>
            <a:ext cx="5490213" cy="6678594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BF4DA4E9-F098-4C52-A5A6-D2E65EA04D6C}"/>
              </a:ext>
            </a:extLst>
          </p:cNvPr>
          <p:cNvSpPr txBox="1"/>
          <p:nvPr/>
        </p:nvSpPr>
        <p:spPr>
          <a:xfrm>
            <a:off x="1643824" y="1078241"/>
            <a:ext cx="3423922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Sampling</a:t>
            </a:r>
            <a:r>
              <a:rPr kumimoji="0" lang="es-CO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 </a:t>
            </a:r>
            <a:r>
              <a:rPr kumimoji="0" lang="es-CO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strategy</a:t>
            </a:r>
            <a:r>
              <a:rPr kumimoji="0" lang="es-CO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: </a:t>
            </a:r>
            <a:r>
              <a:rPr kumimoji="0" lang="es-CO" sz="2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Sobol</a:t>
            </a:r>
            <a:r>
              <a:rPr kumimoji="0" lang="es-CO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  <a:r>
              <a:rPr kumimoji="0" lang="es-CO" sz="2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sequences</a:t>
            </a:r>
            <a:endParaRPr kumimoji="0" lang="es-CO" sz="2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 Light" panose="020B0403030403020204" pitchFamily="34" charset="0"/>
              <a:ea typeface="Source Sans Pro Light" panose="020B0403030403020204" pitchFamily="34" charset="0"/>
              <a:cs typeface="+mn-cs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B6FAC6E-AD5A-43A2-B5D3-52B2EE1AA409}"/>
              </a:ext>
            </a:extLst>
          </p:cNvPr>
          <p:cNvSpPr txBox="1"/>
          <p:nvPr/>
        </p:nvSpPr>
        <p:spPr>
          <a:xfrm>
            <a:off x="1881779" y="2586346"/>
            <a:ext cx="441086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It generates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quasi-random sequences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that are uniformly distributed sample points in high-dimensional spaces.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Calculating the Sobol indices over those configurations lead into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more stable and consistent results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due to the uniformity of the samples.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They allow incrementally increase the sample size, while preserving and building upon previous points saving computing time.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8883EEF2-CB39-46A5-AE40-09F55C109DB4}"/>
              </a:ext>
            </a:extLst>
          </p:cNvPr>
          <p:cNvSpPr txBox="1"/>
          <p:nvPr/>
        </p:nvSpPr>
        <p:spPr>
          <a:xfrm>
            <a:off x="10960944" y="6043810"/>
            <a:ext cx="1231056" cy="369332"/>
          </a:xfrm>
          <a:prstGeom prst="rect">
            <a:avLst/>
          </a:prstGeom>
          <a:solidFill>
            <a:srgbClr val="008B2E"/>
          </a:solidFill>
          <a:ln>
            <a:solidFill>
              <a:srgbClr val="B278E6"/>
            </a:solidFill>
          </a:ln>
        </p:spPr>
        <p:txBody>
          <a:bodyPr wrap="square" rtlCol="0">
            <a:spAutoFit/>
          </a:bodyPr>
          <a:lstStyle>
            <a:defPPr>
              <a:defRPr lang="es-CO"/>
            </a:defPPr>
            <a:lvl1pPr>
              <a:defRPr b="1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2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to SA</a:t>
            </a:r>
            <a:endParaRPr kumimoji="0" lang="es-CO" sz="1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48C04FED-33EB-48B8-816A-B4D67084E635}"/>
              </a:ext>
            </a:extLst>
          </p:cNvPr>
          <p:cNvSpPr txBox="1"/>
          <p:nvPr/>
        </p:nvSpPr>
        <p:spPr>
          <a:xfrm>
            <a:off x="7049558" y="2497165"/>
            <a:ext cx="4146755" cy="2826306"/>
          </a:xfrm>
          <a:prstGeom prst="roundRect">
            <a:avLst/>
          </a:prstGeom>
          <a:noFill/>
          <a:ln w="28575">
            <a:solidFill>
              <a:srgbClr val="068B2E"/>
            </a:solidFill>
          </a:ln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Sobol’s implementation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Sample size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calculating only first-order indices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(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S1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):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N × (D + 2)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For both first-order (S1) and second-order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(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S2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) indices: </a:t>
            </a: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+mn-ea"/>
                <a:cs typeface="+mn-cs"/>
              </a:rPr>
              <a:t>N × (2D + 2)</a:t>
            </a: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5FA71F18-1D7D-F740-40CB-0A229FC7F2B6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9A583C0F-3A07-3EEC-D774-07FC9E177647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2" name="Rectángulo redondeado 11">
              <a:extLst>
                <a:ext uri="{FF2B5EF4-FFF2-40B4-BE49-F238E27FC236}">
                  <a16:creationId xmlns:a16="http://schemas.microsoft.com/office/drawing/2014/main" id="{3FDF4AF6-DBB9-E4E6-7E5F-F8AADB67B83F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84DA7961-CE67-CA88-4177-75C2F82FF34B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33584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4E423E9-06CD-3D8B-BD5B-4695B8DA0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DC1504A-AE99-AE08-615F-5E4CD5C6E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8722F6D-C31E-2AB9-65CC-07AB3FE5646B}"/>
              </a:ext>
            </a:extLst>
          </p:cNvPr>
          <p:cNvSpPr txBox="1"/>
          <p:nvPr/>
        </p:nvSpPr>
        <p:spPr>
          <a:xfrm>
            <a:off x="893442" y="943947"/>
            <a:ext cx="36538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: Sobol 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BEA2D49A-F23C-B18A-F6BF-CFEBB307BB03}"/>
              </a:ext>
            </a:extLst>
          </p:cNvPr>
          <p:cNvGrpSpPr/>
          <p:nvPr/>
        </p:nvGrpSpPr>
        <p:grpSpPr>
          <a:xfrm>
            <a:off x="8140498" y="1008011"/>
            <a:ext cx="4239456" cy="584774"/>
            <a:chOff x="8161511" y="1082238"/>
            <a:chExt cx="4239456" cy="584774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517EE28A-07A3-4FC9-C814-2B1820DD1993}"/>
                </a:ext>
              </a:extLst>
            </p:cNvPr>
            <p:cNvSpPr/>
            <p:nvPr/>
          </p:nvSpPr>
          <p:spPr>
            <a:xfrm>
              <a:off x="8161511" y="1082238"/>
              <a:ext cx="4137999" cy="584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94FC603B-F842-EEA2-5810-717A777CA632}"/>
                </a:ext>
              </a:extLst>
            </p:cNvPr>
            <p:cNvSpPr txBox="1"/>
            <p:nvPr/>
          </p:nvSpPr>
          <p:spPr>
            <a:xfrm>
              <a:off x="8262969" y="1113015"/>
              <a:ext cx="413799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For the </a:t>
              </a: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Sobol’s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 implementation: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 = </a:t>
              </a:r>
              <a:r>
                <a:rPr lang="es-CO" sz="1400" b="1">
                  <a:solidFill>
                    <a:prstClr val="black"/>
                  </a:solidFill>
                  <a:latin typeface="Aptos" panose="02110004020202020204"/>
                </a:rPr>
                <a:t>1024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(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sample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size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) → </a:t>
              </a:r>
              <a:r>
                <a:rPr lang="es-CO" sz="1400" b="1">
                  <a:solidFill>
                    <a:prstClr val="black"/>
                  </a:solidFill>
                  <a:latin typeface="Aptos" panose="02110004020202020204"/>
                </a:rPr>
                <a:t>28644</a:t>
              </a:r>
              <a:r>
                <a:rPr kumimoji="0" lang="es-CO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configurations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1" name="Google Shape;429;g36edeb4292e_0_25">
            <a:extLst>
              <a:ext uri="{FF2B5EF4-FFF2-40B4-BE49-F238E27FC236}">
                <a16:creationId xmlns:a16="http://schemas.microsoft.com/office/drawing/2014/main" id="{D31E6EA5-16C3-40FB-DC79-6B93C3CADABC}"/>
              </a:ext>
            </a:extLst>
          </p:cNvPr>
          <p:cNvSpPr/>
          <p:nvPr/>
        </p:nvSpPr>
        <p:spPr>
          <a:xfrm>
            <a:off x="8156610" y="1714812"/>
            <a:ext cx="4137999" cy="301773"/>
          </a:xfrm>
          <a:prstGeom prst="roundRect">
            <a:avLst>
              <a:gd name="adj" fmla="val 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" sz="12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*Confidence </a:t>
            </a: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 is based on bootstrapping-like resampling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6B30728A-3496-A5D4-4C6F-A5A928A92EE3}"/>
              </a:ext>
            </a:extLst>
          </p:cNvPr>
          <p:cNvSpPr txBox="1"/>
          <p:nvPr/>
        </p:nvSpPr>
        <p:spPr>
          <a:xfrm>
            <a:off x="893443" y="1370254"/>
            <a:ext cx="1769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S1 Indices</a:t>
            </a:r>
            <a:endParaRPr lang="es-CO" sz="360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5685156-A522-C5FC-E047-9999F7AE52CB}"/>
              </a:ext>
            </a:extLst>
          </p:cNvPr>
          <p:cNvSpPr txBox="1"/>
          <p:nvPr/>
        </p:nvSpPr>
        <p:spPr>
          <a:xfrm>
            <a:off x="1765552" y="5937481"/>
            <a:ext cx="89720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latin typeface="Source Sans Pro" panose="020B0503030403020204" pitchFamily="34" charset="0"/>
                <a:ea typeface="Source Sans Pro" panose="020B0503030403020204" pitchFamily="34" charset="0"/>
              </a:rPr>
              <a:t>Table XX:</a:t>
            </a:r>
            <a:r>
              <a:rPr lang="en-US" sz="1400">
                <a:latin typeface="Source Sans Pro" panose="020B0503030403020204" pitchFamily="34" charset="0"/>
                <a:ea typeface="Source Sans Pro" panose="020B0503030403020204" pitchFamily="34" charset="0"/>
              </a:rPr>
              <a:t> First-order Sobol indices (S1) with 95% bootstrapped confidence intervals for each input parameter across the three current density regions of the </a:t>
            </a:r>
            <a:r>
              <a:rPr lang="en-US" sz="1400" err="1"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r>
              <a:rPr lang="en-US" sz="1400">
                <a:latin typeface="Source Sans Pro" panose="020B0503030403020204" pitchFamily="34" charset="0"/>
                <a:ea typeface="Source Sans Pro" panose="020B0503030403020204" pitchFamily="34" charset="0"/>
              </a:rPr>
              <a:t> model. Rankings indicate relative importance within each region. </a:t>
            </a:r>
            <a:endParaRPr lang="en" sz="1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A709A0C7-E1F1-CE9D-0A13-1DBBA8CBF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724274"/>
              </p:ext>
            </p:extLst>
          </p:nvPr>
        </p:nvGraphicFramePr>
        <p:xfrm>
          <a:off x="1765552" y="2169389"/>
          <a:ext cx="8786168" cy="3743325"/>
        </p:xfrm>
        <a:graphic>
          <a:graphicData uri="http://schemas.openxmlformats.org/drawingml/2006/table">
            <a:tbl>
              <a:tblPr/>
              <a:tblGrid>
                <a:gridCol w="1061501">
                  <a:extLst>
                    <a:ext uri="{9D8B030D-6E8A-4147-A177-3AD203B41FA5}">
                      <a16:colId xmlns:a16="http://schemas.microsoft.com/office/drawing/2014/main" val="153666418"/>
                    </a:ext>
                  </a:extLst>
                </a:gridCol>
                <a:gridCol w="1500598">
                  <a:extLst>
                    <a:ext uri="{9D8B030D-6E8A-4147-A177-3AD203B41FA5}">
                      <a16:colId xmlns:a16="http://schemas.microsoft.com/office/drawing/2014/main" val="1528734438"/>
                    </a:ext>
                  </a:extLst>
                </a:gridCol>
                <a:gridCol w="1074291">
                  <a:extLst>
                    <a:ext uri="{9D8B030D-6E8A-4147-A177-3AD203B41FA5}">
                      <a16:colId xmlns:a16="http://schemas.microsoft.com/office/drawing/2014/main" val="3002777239"/>
                    </a:ext>
                  </a:extLst>
                </a:gridCol>
                <a:gridCol w="1500598">
                  <a:extLst>
                    <a:ext uri="{9D8B030D-6E8A-4147-A177-3AD203B41FA5}">
                      <a16:colId xmlns:a16="http://schemas.microsoft.com/office/drawing/2014/main" val="2092843784"/>
                    </a:ext>
                  </a:extLst>
                </a:gridCol>
                <a:gridCol w="1074291">
                  <a:extLst>
                    <a:ext uri="{9D8B030D-6E8A-4147-A177-3AD203B41FA5}">
                      <a16:colId xmlns:a16="http://schemas.microsoft.com/office/drawing/2014/main" val="37435154"/>
                    </a:ext>
                  </a:extLst>
                </a:gridCol>
                <a:gridCol w="1500598">
                  <a:extLst>
                    <a:ext uri="{9D8B030D-6E8A-4147-A177-3AD203B41FA5}">
                      <a16:colId xmlns:a16="http://schemas.microsoft.com/office/drawing/2014/main" val="268899933"/>
                    </a:ext>
                  </a:extLst>
                </a:gridCol>
                <a:gridCol w="1074291">
                  <a:extLst>
                    <a:ext uri="{9D8B030D-6E8A-4147-A177-3AD203B41FA5}">
                      <a16:colId xmlns:a16="http://schemas.microsoft.com/office/drawing/2014/main" val="229325031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Activation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5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Ohmic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Mass Transport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05085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Parameter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S1 index CI (95%)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Ranking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index CI (95%)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Ranking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 kern="1200">
                          <a:solidFill>
                            <a:srgbClr val="333333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S1 index CI (95%)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+mj-lt"/>
                        </a:rPr>
                        <a:t>Ranking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59248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i0_c_ref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0.550 ± 0.09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0.429 ± 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0.325 ± 0.07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595622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kappa_c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0.229 ± 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0.136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0.043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62788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Tfc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0.085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0.133 ± 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0.144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851605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Pa_des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0.059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0.156 ± 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0.176 ± 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40499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kappa_co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0.024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0.003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0.000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96283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tau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0.005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0.030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0.062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11424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0.002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0.023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0.087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6289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epsilon_mc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0.002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0.015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0.037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27187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Phi_c_des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0.000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0.004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0.005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81266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epsilon_gdl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0.001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-0.001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-0.005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47928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epsilon_c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0.001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-0.001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-0.005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70477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0.008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0.000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-0.002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850215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0.004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0.003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-0.000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9724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Sum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0.867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6024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Avg Conf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0.0192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0.0216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0.0228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8652286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E8574033-AE98-E334-5450-D18D070D84B5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A6966797-9A75-160E-EE39-8F828CB9F543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C584FEFA-157B-DC52-9788-42E554C4F1DA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DEF50EB8-7969-E77C-23BF-593152EEF69A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82143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BE870BF-488D-199F-01F4-F1314CDE0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upo 12">
            <a:extLst>
              <a:ext uri="{FF2B5EF4-FFF2-40B4-BE49-F238E27FC236}">
                <a16:creationId xmlns:a16="http://schemas.microsoft.com/office/drawing/2014/main" id="{2346EBA5-F0A8-7BFD-9314-5A8B3B691F34}"/>
              </a:ext>
            </a:extLst>
          </p:cNvPr>
          <p:cNvGrpSpPr/>
          <p:nvPr/>
        </p:nvGrpSpPr>
        <p:grpSpPr>
          <a:xfrm>
            <a:off x="1873404" y="175882"/>
            <a:ext cx="8608742" cy="307779"/>
            <a:chOff x="740794" y="334534"/>
            <a:chExt cx="8608742" cy="307779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95FDC8BB-C0BC-DDBC-45C3-FB5AFF59DEA7}"/>
                </a:ext>
              </a:extLst>
            </p:cNvPr>
            <p:cNvSpPr txBox="1"/>
            <p:nvPr/>
          </p:nvSpPr>
          <p:spPr>
            <a:xfrm>
              <a:off x="740794" y="334536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Future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Work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1" name="Rectángulo redondeado 5">
              <a:extLst>
                <a:ext uri="{FF2B5EF4-FFF2-40B4-BE49-F238E27FC236}">
                  <a16:creationId xmlns:a16="http://schemas.microsoft.com/office/drawing/2014/main" id="{4DD7540B-563C-AA7E-17A4-EE33F8DF6EBC}"/>
                </a:ext>
              </a:extLst>
            </p:cNvPr>
            <p:cNvSpPr/>
            <p:nvPr/>
          </p:nvSpPr>
          <p:spPr>
            <a:xfrm>
              <a:off x="4424498" y="334535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5519FA8F-374A-9A77-FD84-BC5436243F91}"/>
                </a:ext>
              </a:extLst>
            </p:cNvPr>
            <p:cNvSpPr txBox="1"/>
            <p:nvPr/>
          </p:nvSpPr>
          <p:spPr>
            <a:xfrm>
              <a:off x="2242239" y="334534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validity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3ACF7D-4FE2-06DE-A514-A0C31DB78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4E84813-5C18-A7D5-F4DA-DB25DC0B5324}"/>
              </a:ext>
            </a:extLst>
          </p:cNvPr>
          <p:cNvSpPr txBox="1"/>
          <p:nvPr/>
        </p:nvSpPr>
        <p:spPr>
          <a:xfrm>
            <a:off x="893442" y="943947"/>
            <a:ext cx="3863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Sobol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6E23172-FB38-2F3B-A517-1FF9738885DE}"/>
              </a:ext>
            </a:extLst>
          </p:cNvPr>
          <p:cNvSpPr txBox="1"/>
          <p:nvPr/>
        </p:nvSpPr>
        <p:spPr>
          <a:xfrm>
            <a:off x="893442" y="1577050"/>
            <a:ext cx="4506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ST-based Feature Ranking</a:t>
            </a:r>
            <a:endParaRPr lang="es-CO" sz="2800"/>
          </a:p>
        </p:txBody>
      </p:sp>
      <p:sp>
        <p:nvSpPr>
          <p:cNvPr id="35" name="Google Shape;453;g36edeb4292e_1_43">
            <a:extLst>
              <a:ext uri="{FF2B5EF4-FFF2-40B4-BE49-F238E27FC236}">
                <a16:creationId xmlns:a16="http://schemas.microsoft.com/office/drawing/2014/main" id="{C5183564-4AAC-AF4B-1468-C2E82A9174AD}"/>
              </a:ext>
            </a:extLst>
          </p:cNvPr>
          <p:cNvSpPr/>
          <p:nvPr/>
        </p:nvSpPr>
        <p:spPr>
          <a:xfrm>
            <a:off x="2192877" y="2613906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BE5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Activation</a:t>
            </a:r>
            <a:endParaRPr sz="16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36" name="Google Shape;453;g36edeb4292e_1_43">
            <a:extLst>
              <a:ext uri="{FF2B5EF4-FFF2-40B4-BE49-F238E27FC236}">
                <a16:creationId xmlns:a16="http://schemas.microsoft.com/office/drawing/2014/main" id="{217AD446-F126-F3AD-ED57-0A0F0DA6AF49}"/>
              </a:ext>
            </a:extLst>
          </p:cNvPr>
          <p:cNvSpPr/>
          <p:nvPr/>
        </p:nvSpPr>
        <p:spPr>
          <a:xfrm>
            <a:off x="5809023" y="2613906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27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Ohmic</a:t>
            </a:r>
            <a:endParaRPr sz="1600" b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37" name="Google Shape;453;g36edeb4292e_1_43">
            <a:extLst>
              <a:ext uri="{FF2B5EF4-FFF2-40B4-BE49-F238E27FC236}">
                <a16:creationId xmlns:a16="http://schemas.microsoft.com/office/drawing/2014/main" id="{58934F1F-49FC-4D7E-4FAF-D1C7A82B0C53}"/>
              </a:ext>
            </a:extLst>
          </p:cNvPr>
          <p:cNvSpPr/>
          <p:nvPr/>
        </p:nvSpPr>
        <p:spPr>
          <a:xfrm>
            <a:off x="9208174" y="2631574"/>
            <a:ext cx="1865870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Mass Transport</a:t>
            </a:r>
            <a:endParaRPr sz="1600" b="1"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3709AA6F-AB62-86F2-27CA-1C8FBBBE9B5F}"/>
              </a:ext>
            </a:extLst>
          </p:cNvPr>
          <p:cNvSpPr txBox="1"/>
          <p:nvPr/>
        </p:nvSpPr>
        <p:spPr>
          <a:xfrm>
            <a:off x="1349752" y="5370166"/>
            <a:ext cx="1046208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latin typeface="Source Sans Pro" panose="020B0503030403020204" pitchFamily="34" charset="0"/>
                <a:ea typeface="Source Sans Pro" panose="020B0503030403020204" pitchFamily="34" charset="0"/>
              </a:rPr>
              <a:t>Figure XX:</a:t>
            </a:r>
            <a:r>
              <a:rPr lang="en-US" sz="1400">
                <a:latin typeface="Source Sans Pro" panose="020B0503030403020204" pitchFamily="34" charset="0"/>
                <a:ea typeface="Source Sans Pro" panose="020B0503030403020204" pitchFamily="34" charset="0"/>
              </a:rPr>
              <a:t> Total Sobol (ST) sensitivity indices for the </a:t>
            </a:r>
            <a:r>
              <a:rPr lang="en-US" sz="1400" err="1"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r>
              <a:rPr lang="en-US" sz="1400">
                <a:latin typeface="Source Sans Pro" panose="020B0503030403020204" pitchFamily="34" charset="0"/>
                <a:ea typeface="Source Sans Pro" panose="020B0503030403020204" pitchFamily="34" charset="0"/>
              </a:rPr>
              <a:t> model, grouped by current density region: Activation, Ohmic, and Mass Transport. Bars show the ST value for each parameter, with black error bars indicating 95% confidence intervals. Rankings reflect the relative influence of each parameter within the region.</a:t>
            </a:r>
            <a:endParaRPr lang="en" sz="1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C0FA48D9-1F47-6F64-F20B-AD934D2F8A72}"/>
              </a:ext>
            </a:extLst>
          </p:cNvPr>
          <p:cNvGrpSpPr/>
          <p:nvPr/>
        </p:nvGrpSpPr>
        <p:grpSpPr>
          <a:xfrm>
            <a:off x="8112043" y="1017715"/>
            <a:ext cx="4239456" cy="584774"/>
            <a:chOff x="8161511" y="1082238"/>
            <a:chExt cx="4239456" cy="584774"/>
          </a:xfrm>
        </p:grpSpPr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0E5C3C2F-2BC0-AAEB-27D4-F03D0CA536BD}"/>
                </a:ext>
              </a:extLst>
            </p:cNvPr>
            <p:cNvSpPr/>
            <p:nvPr/>
          </p:nvSpPr>
          <p:spPr>
            <a:xfrm>
              <a:off x="8161511" y="1082238"/>
              <a:ext cx="4137999" cy="584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6F62EB15-84CA-8AC4-A660-7C896494BC09}"/>
                </a:ext>
              </a:extLst>
            </p:cNvPr>
            <p:cNvSpPr txBox="1"/>
            <p:nvPr/>
          </p:nvSpPr>
          <p:spPr>
            <a:xfrm>
              <a:off x="8262969" y="1113015"/>
              <a:ext cx="413799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For the </a:t>
              </a: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Sobol’s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 implementation: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 = </a:t>
              </a:r>
              <a:r>
                <a:rPr lang="es-CO" sz="1400" b="1">
                  <a:solidFill>
                    <a:prstClr val="black"/>
                  </a:solidFill>
                  <a:latin typeface="Aptos" panose="02110004020202020204"/>
                </a:rPr>
                <a:t>1024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(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sample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size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) → </a:t>
              </a:r>
              <a:r>
                <a:rPr lang="es-CO" sz="1400" b="1">
                  <a:solidFill>
                    <a:prstClr val="black"/>
                  </a:solidFill>
                  <a:latin typeface="Aptos" panose="02110004020202020204"/>
                </a:rPr>
                <a:t>28644</a:t>
              </a:r>
              <a:r>
                <a:rPr kumimoji="0" lang="es-CO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configurations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1" name="Google Shape;429;g36edeb4292e_0_25">
            <a:extLst>
              <a:ext uri="{FF2B5EF4-FFF2-40B4-BE49-F238E27FC236}">
                <a16:creationId xmlns:a16="http://schemas.microsoft.com/office/drawing/2014/main" id="{E723D0F7-40D1-47E0-1A7D-FD7B351292B5}"/>
              </a:ext>
            </a:extLst>
          </p:cNvPr>
          <p:cNvSpPr/>
          <p:nvPr/>
        </p:nvSpPr>
        <p:spPr>
          <a:xfrm>
            <a:off x="8128155" y="1724516"/>
            <a:ext cx="4137999" cy="301773"/>
          </a:xfrm>
          <a:prstGeom prst="roundRect">
            <a:avLst>
              <a:gd name="adj" fmla="val 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" sz="12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*Confidence </a:t>
            </a: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 is based on bootstrapping-like resampling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953D294-0E9E-5E2C-8E06-3B1BB57718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63" y="2938355"/>
            <a:ext cx="3600000" cy="237966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22C8E30-A00C-4610-107E-EE2E0A670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033" y="2916524"/>
            <a:ext cx="3600000" cy="23796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77CC489A-2329-23C0-1542-B26222C5B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4498" y="2938355"/>
            <a:ext cx="3600000" cy="237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1929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5DA2A982-63CB-AE2C-0BB9-D28A9AFB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157DDF6-9275-4BC7-05DF-29F916AF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E322D80-8C14-E730-C3D5-EF6D15253912}"/>
              </a:ext>
            </a:extLst>
          </p:cNvPr>
          <p:cNvSpPr txBox="1"/>
          <p:nvPr/>
        </p:nvSpPr>
        <p:spPr>
          <a:xfrm>
            <a:off x="893442" y="943947"/>
            <a:ext cx="365384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: Sobol 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A419EA9C-AE55-EFE3-B058-473D4FFAFD5A}"/>
              </a:ext>
            </a:extLst>
          </p:cNvPr>
          <p:cNvGrpSpPr/>
          <p:nvPr/>
        </p:nvGrpSpPr>
        <p:grpSpPr>
          <a:xfrm>
            <a:off x="8140498" y="1008011"/>
            <a:ext cx="4239456" cy="584774"/>
            <a:chOff x="8161511" y="1082238"/>
            <a:chExt cx="4239456" cy="584774"/>
          </a:xfrm>
        </p:grpSpPr>
        <p:sp>
          <p:nvSpPr>
            <p:cNvPr id="11" name="Rectángulo: esquinas redondeadas 10">
              <a:extLst>
                <a:ext uri="{FF2B5EF4-FFF2-40B4-BE49-F238E27FC236}">
                  <a16:creationId xmlns:a16="http://schemas.microsoft.com/office/drawing/2014/main" id="{703436E8-52FD-D77B-CC66-38AE14017E63}"/>
                </a:ext>
              </a:extLst>
            </p:cNvPr>
            <p:cNvSpPr/>
            <p:nvPr/>
          </p:nvSpPr>
          <p:spPr>
            <a:xfrm>
              <a:off x="8161511" y="1082238"/>
              <a:ext cx="4137999" cy="584774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CO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6B00300D-5065-3AFF-8FB2-6F100174EB80}"/>
                </a:ext>
              </a:extLst>
            </p:cNvPr>
            <p:cNvSpPr txBox="1"/>
            <p:nvPr/>
          </p:nvSpPr>
          <p:spPr>
            <a:xfrm>
              <a:off x="8262969" y="1113015"/>
              <a:ext cx="413799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For the </a:t>
              </a:r>
              <a:r>
                <a:rPr kumimoji="0" lang="en-US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Sobol’s</a:t>
              </a: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ource Sans Pro" panose="020B0503030403020204" pitchFamily="34" charset="0"/>
                  <a:ea typeface="+mn-ea"/>
                  <a:cs typeface="+mn-cs"/>
                </a:rPr>
                <a:t> implementation: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CO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N = </a:t>
              </a:r>
              <a:r>
                <a:rPr lang="es-CO" sz="1400" b="1">
                  <a:solidFill>
                    <a:prstClr val="black"/>
                  </a:solidFill>
                  <a:latin typeface="Aptos" panose="02110004020202020204"/>
                </a:rPr>
                <a:t>1024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(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sample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CO" sz="14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size</a:t>
              </a:r>
              <a:r>
                <a:rPr kumimoji="0" lang="es-CO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) → </a:t>
              </a:r>
              <a:r>
                <a:rPr lang="es-CO" sz="1400" b="1">
                  <a:solidFill>
                    <a:prstClr val="black"/>
                  </a:solidFill>
                  <a:latin typeface="Aptos" panose="02110004020202020204"/>
                </a:rPr>
                <a:t>28644</a:t>
              </a:r>
              <a:r>
                <a:rPr kumimoji="0" lang="es-CO" sz="14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configurations</a:t>
              </a:r>
              <a:endParaRPr kumimoji="0" lang="en-US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21" name="Google Shape;429;g36edeb4292e_0_25">
            <a:extLst>
              <a:ext uri="{FF2B5EF4-FFF2-40B4-BE49-F238E27FC236}">
                <a16:creationId xmlns:a16="http://schemas.microsoft.com/office/drawing/2014/main" id="{1C91B112-7691-E84D-88F7-3CF27A343413}"/>
              </a:ext>
            </a:extLst>
          </p:cNvPr>
          <p:cNvSpPr/>
          <p:nvPr/>
        </p:nvSpPr>
        <p:spPr>
          <a:xfrm>
            <a:off x="8156610" y="1714812"/>
            <a:ext cx="4137999" cy="301773"/>
          </a:xfrm>
          <a:prstGeom prst="roundRect">
            <a:avLst>
              <a:gd name="adj" fmla="val 0"/>
            </a:avLst>
          </a:prstGeom>
          <a:solidFill>
            <a:srgbClr val="C9D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n" sz="12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*Confidence </a:t>
            </a:r>
            <a:r>
              <a:rPr kumimoji="0" lang="en" sz="1200" b="0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Nunito"/>
                <a:ea typeface="Nunito"/>
                <a:cs typeface="Nunito"/>
                <a:sym typeface="Nunito"/>
              </a:rPr>
              <a:t> is based on bootstrapping-like resampling</a:t>
            </a:r>
            <a:endParaRPr kumimoji="0" sz="8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849D8B8-B164-1131-EF0E-4FC7B571D680}"/>
              </a:ext>
            </a:extLst>
          </p:cNvPr>
          <p:cNvSpPr txBox="1"/>
          <p:nvPr/>
        </p:nvSpPr>
        <p:spPr>
          <a:xfrm>
            <a:off x="893443" y="1370254"/>
            <a:ext cx="17697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ST Indices</a:t>
            </a:r>
            <a:endParaRPr lang="es-CO" sz="360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03229450-11E4-39CB-349F-BE7A2EFF9DA3}"/>
              </a:ext>
            </a:extLst>
          </p:cNvPr>
          <p:cNvSpPr txBox="1"/>
          <p:nvPr/>
        </p:nvSpPr>
        <p:spPr>
          <a:xfrm>
            <a:off x="1695976" y="5849989"/>
            <a:ext cx="88699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>
                <a:latin typeface="Source Sans Pro" panose="020B0503030403020204" pitchFamily="34" charset="0"/>
                <a:ea typeface="Source Sans Pro" panose="020B0503030403020204" pitchFamily="34" charset="0"/>
              </a:rPr>
              <a:t>Table XX:</a:t>
            </a:r>
            <a:r>
              <a:rPr lang="en-US" sz="1400">
                <a:latin typeface="Source Sans Pro" panose="020B0503030403020204" pitchFamily="34" charset="0"/>
                <a:ea typeface="Source Sans Pro" panose="020B0503030403020204" pitchFamily="34" charset="0"/>
              </a:rPr>
              <a:t> Total </a:t>
            </a:r>
            <a:r>
              <a:rPr lang="en-US" sz="1400" err="1"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lang="en-US" sz="1400">
                <a:latin typeface="Source Sans Pro" panose="020B0503030403020204" pitchFamily="34" charset="0"/>
                <a:ea typeface="Source Sans Pro" panose="020B0503030403020204" pitchFamily="34" charset="0"/>
              </a:rPr>
              <a:t> indices (ST) with 95% bootstrapped confidence intervals for each input parameter across the three current density regions of the </a:t>
            </a:r>
            <a:r>
              <a:rPr lang="en-US" sz="1400" err="1"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r>
              <a:rPr lang="en-US" sz="1400">
                <a:latin typeface="Source Sans Pro" panose="020B0503030403020204" pitchFamily="34" charset="0"/>
                <a:ea typeface="Source Sans Pro" panose="020B0503030403020204" pitchFamily="34" charset="0"/>
              </a:rPr>
              <a:t> model. Rankings indicate relative importance within each region. </a:t>
            </a:r>
            <a:endParaRPr lang="en" sz="1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62866A2B-07B8-2637-0F7E-0ADADF7A5F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6362263"/>
              </p:ext>
            </p:extLst>
          </p:nvPr>
        </p:nvGraphicFramePr>
        <p:xfrm>
          <a:off x="1778340" y="2118774"/>
          <a:ext cx="8787602" cy="3629025"/>
        </p:xfrm>
        <a:graphic>
          <a:graphicData uri="http://schemas.openxmlformats.org/drawingml/2006/table">
            <a:tbl>
              <a:tblPr/>
              <a:tblGrid>
                <a:gridCol w="1061675">
                  <a:extLst>
                    <a:ext uri="{9D8B030D-6E8A-4147-A177-3AD203B41FA5}">
                      <a16:colId xmlns:a16="http://schemas.microsoft.com/office/drawing/2014/main" val="308806216"/>
                    </a:ext>
                  </a:extLst>
                </a:gridCol>
                <a:gridCol w="1500842">
                  <a:extLst>
                    <a:ext uri="{9D8B030D-6E8A-4147-A177-3AD203B41FA5}">
                      <a16:colId xmlns:a16="http://schemas.microsoft.com/office/drawing/2014/main" val="3333922055"/>
                    </a:ext>
                  </a:extLst>
                </a:gridCol>
                <a:gridCol w="1074467">
                  <a:extLst>
                    <a:ext uri="{9D8B030D-6E8A-4147-A177-3AD203B41FA5}">
                      <a16:colId xmlns:a16="http://schemas.microsoft.com/office/drawing/2014/main" val="4144141740"/>
                    </a:ext>
                  </a:extLst>
                </a:gridCol>
                <a:gridCol w="1500842">
                  <a:extLst>
                    <a:ext uri="{9D8B030D-6E8A-4147-A177-3AD203B41FA5}">
                      <a16:colId xmlns:a16="http://schemas.microsoft.com/office/drawing/2014/main" val="251090702"/>
                    </a:ext>
                  </a:extLst>
                </a:gridCol>
                <a:gridCol w="1074467">
                  <a:extLst>
                    <a:ext uri="{9D8B030D-6E8A-4147-A177-3AD203B41FA5}">
                      <a16:colId xmlns:a16="http://schemas.microsoft.com/office/drawing/2014/main" val="2172578152"/>
                    </a:ext>
                  </a:extLst>
                </a:gridCol>
                <a:gridCol w="1500842">
                  <a:extLst>
                    <a:ext uri="{9D8B030D-6E8A-4147-A177-3AD203B41FA5}">
                      <a16:colId xmlns:a16="http://schemas.microsoft.com/office/drawing/2014/main" val="1246168825"/>
                    </a:ext>
                  </a:extLst>
                </a:gridCol>
                <a:gridCol w="1074467">
                  <a:extLst>
                    <a:ext uri="{9D8B030D-6E8A-4147-A177-3AD203B41FA5}">
                      <a16:colId xmlns:a16="http://schemas.microsoft.com/office/drawing/2014/main" val="1031277237"/>
                    </a:ext>
                  </a:extLst>
                </a:gridCol>
              </a:tblGrid>
              <a:tr h="247650">
                <a:tc>
                  <a:txBody>
                    <a:bodyPr/>
                    <a:lstStyle/>
                    <a:p>
                      <a:pPr algn="l" fontAlgn="b"/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Activation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BE55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Ohmic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78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Mass Transport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37018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b="1" i="0" u="none" strike="noStrike">
                          <a:solidFill>
                            <a:srgbClr val="000000"/>
                          </a:solidFill>
                          <a:effectLst/>
                          <a:latin typeface="Aptos Display" panose="020B0004020202020204" pitchFamily="34" charset="0"/>
                        </a:rPr>
                        <a:t>Parameter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Source Sans Pro" panose="020B0503030403020204" pitchFamily="34" charset="0"/>
                        </a:rPr>
                        <a:t>ST index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Source Sans Pro" panose="020B0503030403020204" pitchFamily="34" charset="0"/>
                        </a:rPr>
                        <a:t>Ranking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Source Sans Pro" panose="020B0503030403020204" pitchFamily="34" charset="0"/>
                        </a:rPr>
                        <a:t>ST index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Source Sans Pro" panose="020B0503030403020204" pitchFamily="34" charset="0"/>
                        </a:rPr>
                        <a:t>Ranking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Source Sans Pro" panose="020B0503030403020204" pitchFamily="34" charset="0"/>
                        </a:rPr>
                        <a:t>ST index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1" i="0" u="none" strike="noStrike">
                          <a:solidFill>
                            <a:srgbClr val="333333"/>
                          </a:solidFill>
                          <a:effectLst/>
                          <a:latin typeface="Source Sans Pro" panose="020B0503030403020204" pitchFamily="34" charset="0"/>
                        </a:rPr>
                        <a:t>Ranking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8865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i0_c_ref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0.550 ± 0.09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0.429 ± 0.08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0.325 ± 0.07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817155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kappa_c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0.229 ± 0.05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0.136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0.043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69040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Tfc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0.085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0.133 ± 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0.144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64145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Pa_des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0.059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0.156 ± 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0.176 ± 0.04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06106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kappa_co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0.024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0.003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0.000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4686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tau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0.005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0.030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0.062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02391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Re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0.002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0.023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0.087 ± 0.03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82361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epsilon_mc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0.002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0.015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0.037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85427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Phi_c_des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0.000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0.004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0.005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711893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epsilon_gdl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0.001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-0.001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-0.005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02581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epsilon_c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0.001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-0.001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-0.005 ± 0.00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86904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Sc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0.008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0.000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-0.002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536462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0.004 ± 0.01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0.003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-0.000 ± 0.02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9153329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Sum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0.97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0.93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0.867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61147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FFFFFF"/>
                          </a:solidFill>
                          <a:effectLst/>
                          <a:latin typeface="Source Sans Pro" panose="020B0503030403020204" pitchFamily="34" charset="0"/>
                        </a:rPr>
                        <a:t>Avg Conf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0.0192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0.0216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Source Sans Pro" panose="020B0503030403020204" pitchFamily="34" charset="0"/>
                        </a:rPr>
                        <a:t>0.0228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3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145329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6EE38F9-BCC9-7015-D6F4-9F96DF3E4E61}"/>
              </a:ext>
            </a:extLst>
          </p:cNvPr>
          <p:cNvGrpSpPr/>
          <p:nvPr/>
        </p:nvGrpSpPr>
        <p:grpSpPr>
          <a:xfrm>
            <a:off x="1873404" y="175882"/>
            <a:ext cx="8608742" cy="307779"/>
            <a:chOff x="740794" y="334534"/>
            <a:chExt cx="8608742" cy="307779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35464893-E303-1B13-11EF-30AB8EB48710}"/>
                </a:ext>
              </a:extLst>
            </p:cNvPr>
            <p:cNvSpPr txBox="1"/>
            <p:nvPr/>
          </p:nvSpPr>
          <p:spPr>
            <a:xfrm>
              <a:off x="740794" y="334536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Future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Work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5" name="Rectángulo redondeado 5">
              <a:extLst>
                <a:ext uri="{FF2B5EF4-FFF2-40B4-BE49-F238E27FC236}">
                  <a16:creationId xmlns:a16="http://schemas.microsoft.com/office/drawing/2014/main" id="{59F32DE1-6497-A4D3-6CC0-E24DCF5DB848}"/>
                </a:ext>
              </a:extLst>
            </p:cNvPr>
            <p:cNvSpPr/>
            <p:nvPr/>
          </p:nvSpPr>
          <p:spPr>
            <a:xfrm>
              <a:off x="4424498" y="334535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AF99D7DD-711B-29E2-D174-DFB2930C6B73}"/>
                </a:ext>
              </a:extLst>
            </p:cNvPr>
            <p:cNvSpPr txBox="1"/>
            <p:nvPr/>
          </p:nvSpPr>
          <p:spPr>
            <a:xfrm>
              <a:off x="2242239" y="334534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validity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9678833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632635-E0E2-4563-0216-8F18A348C2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CE1AD46-107B-3992-89D4-28555D657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1F2EFB-FA9F-1C26-448C-705E9813376C}"/>
              </a:ext>
            </a:extLst>
          </p:cNvPr>
          <p:cNvSpPr txBox="1"/>
          <p:nvPr/>
        </p:nvSpPr>
        <p:spPr>
          <a:xfrm>
            <a:off x="893442" y="943947"/>
            <a:ext cx="3863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Sobol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44BE1799-F743-02A7-17C2-CD59B5CAAF5F}"/>
              </a:ext>
            </a:extLst>
          </p:cNvPr>
          <p:cNvSpPr txBox="1"/>
          <p:nvPr/>
        </p:nvSpPr>
        <p:spPr>
          <a:xfrm>
            <a:off x="893442" y="1451066"/>
            <a:ext cx="4506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ST Index convergence (2)</a:t>
            </a:r>
            <a:endParaRPr lang="es-CO"/>
          </a:p>
        </p:txBody>
      </p:sp>
      <p:sp>
        <p:nvSpPr>
          <p:cNvPr id="9" name="Google Shape;453;g36edeb4292e_1_43">
            <a:extLst>
              <a:ext uri="{FF2B5EF4-FFF2-40B4-BE49-F238E27FC236}">
                <a16:creationId xmlns:a16="http://schemas.microsoft.com/office/drawing/2014/main" id="{32E734C2-116B-8CF3-C112-4FA07F261B8A}"/>
              </a:ext>
            </a:extLst>
          </p:cNvPr>
          <p:cNvSpPr/>
          <p:nvPr/>
        </p:nvSpPr>
        <p:spPr>
          <a:xfrm>
            <a:off x="8820531" y="1236334"/>
            <a:ext cx="1818635" cy="307777"/>
          </a:xfrm>
          <a:prstGeom prst="roundRect">
            <a:avLst>
              <a:gd name="adj" fmla="val 50000"/>
            </a:avLst>
          </a:prstGeom>
          <a:solidFill>
            <a:srgbClr val="B27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0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Ohmic</a:t>
            </a:r>
            <a:endParaRPr sz="2000" b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2FB8B3-EF4B-DD54-C224-4BEE77AD23C4}"/>
              </a:ext>
            </a:extLst>
          </p:cNvPr>
          <p:cNvSpPr txBox="1"/>
          <p:nvPr/>
        </p:nvSpPr>
        <p:spPr>
          <a:xfrm>
            <a:off x="2184927" y="5812217"/>
            <a:ext cx="8144406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>
                <a:latin typeface="Source Sans Pro" panose="020B0503030403020204" pitchFamily="34" charset="0"/>
                <a:ea typeface="Source Sans Pro" panose="020B0503030403020204" pitchFamily="34" charset="0"/>
              </a:rPr>
              <a:t>Figure:</a:t>
            </a:r>
            <a:r>
              <a:rPr lang="en-US" sz="1300">
                <a:latin typeface="Source Sans Pro" panose="020B0503030403020204" pitchFamily="34" charset="0"/>
                <a:ea typeface="Source Sans Pro" panose="020B0503030403020204" pitchFamily="34" charset="0"/>
              </a:rPr>
              <a:t> Total </a:t>
            </a:r>
            <a:r>
              <a:rPr lang="en-US" sz="1300" err="1"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lang="en-US" sz="1300">
                <a:latin typeface="Source Sans Pro" panose="020B0503030403020204" pitchFamily="34" charset="0"/>
                <a:ea typeface="Source Sans Pro" panose="020B0503030403020204" pitchFamily="34" charset="0"/>
              </a:rPr>
              <a:t> indices (ST) for the </a:t>
            </a:r>
            <a:r>
              <a:rPr lang="en-US" sz="1300" b="1">
                <a:solidFill>
                  <a:srgbClr val="B278E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Ohmic </a:t>
            </a:r>
            <a:r>
              <a:rPr lang="en-US" sz="1300">
                <a:latin typeface="Source Sans Pro" panose="020B0503030403020204" pitchFamily="34" charset="0"/>
                <a:ea typeface="Source Sans Pro" panose="020B0503030403020204" pitchFamily="34" charset="0"/>
              </a:rPr>
              <a:t>region as a function of </a:t>
            </a:r>
            <a:r>
              <a:rPr lang="en-US" sz="1300" err="1"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lang="en-US" sz="1300">
                <a:latin typeface="Source Sans Pro" panose="020B0503030403020204" pitchFamily="34" charset="0"/>
                <a:ea typeface="Source Sans Pro" panose="020B0503030403020204" pitchFamily="34" charset="0"/>
              </a:rPr>
              <a:t> base sample size N. Each curve shows how the ST estimate stabilizes as more configurations are used (up to N=1024, corresponding to 28,644 total evaluations). This helps assess the reliability and convergence behavior of the sensitivity estimates per parameter.</a:t>
            </a:r>
            <a:endParaRPr lang="en" sz="13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813A024-0607-E98A-CAF2-3B8DC6B2C143}"/>
              </a:ext>
            </a:extLst>
          </p:cNvPr>
          <p:cNvGrpSpPr/>
          <p:nvPr/>
        </p:nvGrpSpPr>
        <p:grpSpPr>
          <a:xfrm>
            <a:off x="1873404" y="175882"/>
            <a:ext cx="8608742" cy="307779"/>
            <a:chOff x="740794" y="334534"/>
            <a:chExt cx="8608742" cy="307779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72251844-C8D7-A0E1-2A42-A43166568927}"/>
                </a:ext>
              </a:extLst>
            </p:cNvPr>
            <p:cNvSpPr txBox="1"/>
            <p:nvPr/>
          </p:nvSpPr>
          <p:spPr>
            <a:xfrm>
              <a:off x="740794" y="334536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Future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Work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5" name="Rectángulo redondeado 5">
              <a:extLst>
                <a:ext uri="{FF2B5EF4-FFF2-40B4-BE49-F238E27FC236}">
                  <a16:creationId xmlns:a16="http://schemas.microsoft.com/office/drawing/2014/main" id="{94F55602-91A8-713B-DDAE-D23AFE0B3CAC}"/>
                </a:ext>
              </a:extLst>
            </p:cNvPr>
            <p:cNvSpPr/>
            <p:nvPr/>
          </p:nvSpPr>
          <p:spPr>
            <a:xfrm>
              <a:off x="4424498" y="334535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453534B3-50FB-C584-580D-E25D62E771BB}"/>
                </a:ext>
              </a:extLst>
            </p:cNvPr>
            <p:cNvSpPr txBox="1"/>
            <p:nvPr/>
          </p:nvSpPr>
          <p:spPr>
            <a:xfrm>
              <a:off x="2242239" y="334534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validity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E0839C9C-64E2-46D9-9D2B-CC0190ED53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200" y="1974286"/>
            <a:ext cx="6476100" cy="38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40751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5FB2309-E8AF-9D2A-4CC7-6F5F06276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4BDB2D1-F4F4-2CC7-1D7C-5A9396573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B2B1EFD-D699-ED07-8D03-96FE8E38D0F7}"/>
              </a:ext>
            </a:extLst>
          </p:cNvPr>
          <p:cNvSpPr txBox="1"/>
          <p:nvPr/>
        </p:nvSpPr>
        <p:spPr>
          <a:xfrm>
            <a:off x="893442" y="943947"/>
            <a:ext cx="3863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Sobol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865DB4DC-E13B-D77B-0D33-527BABFFF400}"/>
              </a:ext>
            </a:extLst>
          </p:cNvPr>
          <p:cNvSpPr txBox="1"/>
          <p:nvPr/>
        </p:nvSpPr>
        <p:spPr>
          <a:xfrm>
            <a:off x="893442" y="1451066"/>
            <a:ext cx="45064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ST Index convergence (3)</a:t>
            </a:r>
            <a:endParaRPr lang="es-CO"/>
          </a:p>
        </p:txBody>
      </p:sp>
      <p:sp>
        <p:nvSpPr>
          <p:cNvPr id="11" name="Google Shape;453;g36edeb4292e_1_43">
            <a:extLst>
              <a:ext uri="{FF2B5EF4-FFF2-40B4-BE49-F238E27FC236}">
                <a16:creationId xmlns:a16="http://schemas.microsoft.com/office/drawing/2014/main" id="{7310E924-665B-2154-6939-4FC406285B80}"/>
              </a:ext>
            </a:extLst>
          </p:cNvPr>
          <p:cNvSpPr/>
          <p:nvPr/>
        </p:nvSpPr>
        <p:spPr>
          <a:xfrm>
            <a:off x="8820531" y="1236334"/>
            <a:ext cx="2478027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2000" b="1"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Mass transport</a:t>
            </a:r>
            <a:endParaRPr sz="2000" b="1"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48D3698A-D163-3DF8-47AA-28AFA3DB2F81}"/>
              </a:ext>
            </a:extLst>
          </p:cNvPr>
          <p:cNvSpPr txBox="1"/>
          <p:nvPr/>
        </p:nvSpPr>
        <p:spPr>
          <a:xfrm>
            <a:off x="2049003" y="5828318"/>
            <a:ext cx="822953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>
                <a:latin typeface="Source Sans Pro" panose="020B0503030403020204" pitchFamily="34" charset="0"/>
                <a:ea typeface="Source Sans Pro" panose="020B0503030403020204" pitchFamily="34" charset="0"/>
              </a:rPr>
              <a:t>Figure:</a:t>
            </a:r>
            <a:r>
              <a:rPr lang="en-US" sz="1300">
                <a:latin typeface="Source Sans Pro" panose="020B0503030403020204" pitchFamily="34" charset="0"/>
                <a:ea typeface="Source Sans Pro" panose="020B0503030403020204" pitchFamily="34" charset="0"/>
              </a:rPr>
              <a:t> Total Sobol indices (ST) for the </a:t>
            </a:r>
            <a:r>
              <a:rPr lang="en-US" sz="1300" b="1">
                <a:solidFill>
                  <a:srgbClr val="B278E6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Mass transport </a:t>
            </a:r>
            <a:r>
              <a:rPr lang="en-US" sz="1300">
                <a:latin typeface="Source Sans Pro" panose="020B0503030403020204" pitchFamily="34" charset="0"/>
                <a:ea typeface="Source Sans Pro" panose="020B0503030403020204" pitchFamily="34" charset="0"/>
              </a:rPr>
              <a:t>region as a function of Sobol base sample size N. Each curve shows how the ST estimate stabilizes as more configurations are used (up to N=1024, corresponding to 28,644 total evaluations). This helps assess the reliability and convergence behavior of the sensitivity estimates per parameter.</a:t>
            </a:r>
            <a:endParaRPr lang="en" sz="13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352920A2-FEB2-BCAD-879F-E76AE34D32D2}"/>
              </a:ext>
            </a:extLst>
          </p:cNvPr>
          <p:cNvGrpSpPr/>
          <p:nvPr/>
        </p:nvGrpSpPr>
        <p:grpSpPr>
          <a:xfrm>
            <a:off x="1873404" y="175882"/>
            <a:ext cx="8608742" cy="307779"/>
            <a:chOff x="740794" y="334534"/>
            <a:chExt cx="8608742" cy="307779"/>
          </a:xfrm>
        </p:grpSpPr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B14884B1-A39F-A48A-C37B-F9B5AF309F1B}"/>
                </a:ext>
              </a:extLst>
            </p:cNvPr>
            <p:cNvSpPr txBox="1"/>
            <p:nvPr/>
          </p:nvSpPr>
          <p:spPr>
            <a:xfrm>
              <a:off x="740794" y="334536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Future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Work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6" name="Rectángulo redondeado 5">
              <a:extLst>
                <a:ext uri="{FF2B5EF4-FFF2-40B4-BE49-F238E27FC236}">
                  <a16:creationId xmlns:a16="http://schemas.microsoft.com/office/drawing/2014/main" id="{302B3A39-57DC-EB9C-B2DA-889FFD572967}"/>
                </a:ext>
              </a:extLst>
            </p:cNvPr>
            <p:cNvSpPr/>
            <p:nvPr/>
          </p:nvSpPr>
          <p:spPr>
            <a:xfrm>
              <a:off x="4424498" y="334535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2AC8DBCD-1DCC-00ED-A23E-FB6DE991732C}"/>
                </a:ext>
              </a:extLst>
            </p:cNvPr>
            <p:cNvSpPr txBox="1"/>
            <p:nvPr/>
          </p:nvSpPr>
          <p:spPr>
            <a:xfrm>
              <a:off x="2242239" y="334534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validity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  <p:pic>
        <p:nvPicPr>
          <p:cNvPr id="10" name="Imagen 9">
            <a:extLst>
              <a:ext uri="{FF2B5EF4-FFF2-40B4-BE49-F238E27FC236}">
                <a16:creationId xmlns:a16="http://schemas.microsoft.com/office/drawing/2014/main" id="{72F50E9B-2C4A-4337-8329-0069CC49A2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200" y="1972800"/>
            <a:ext cx="6476101" cy="38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80789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41E3BD2-8F6A-3CA8-671A-0691742F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D4D17B-55E8-3E73-65A5-968573656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78ADC5-04F9-5FDD-553B-884E854FE02B}"/>
              </a:ext>
            </a:extLst>
          </p:cNvPr>
          <p:cNvSpPr txBox="1"/>
          <p:nvPr/>
        </p:nvSpPr>
        <p:spPr>
          <a:xfrm>
            <a:off x="893442" y="818374"/>
            <a:ext cx="38635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AlphaPEM</a:t>
            </a:r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: Sobol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E1F30053-37A3-E2E2-056B-7FD9846BCB01}"/>
              </a:ext>
            </a:extLst>
          </p:cNvPr>
          <p:cNvSpPr txBox="1"/>
          <p:nvPr/>
        </p:nvSpPr>
        <p:spPr>
          <a:xfrm>
            <a:off x="893442" y="1317600"/>
            <a:ext cx="81489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Total Sobol (ST) Index–based Feature Importance</a:t>
            </a:r>
            <a:endParaRPr lang="es-CO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745105-642F-FD45-7C57-FCDD3FAF54A6}"/>
              </a:ext>
            </a:extLst>
          </p:cNvPr>
          <p:cNvSpPr txBox="1"/>
          <p:nvPr/>
        </p:nvSpPr>
        <p:spPr>
          <a:xfrm>
            <a:off x="2293495" y="5540400"/>
            <a:ext cx="7869835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" b="1">
                <a:latin typeface="Source Sans Pro" panose="020B0503030403020204" pitchFamily="34" charset="0"/>
                <a:ea typeface="Source Sans Pro" panose="020B0503030403020204" pitchFamily="34" charset="0"/>
              </a:rPr>
              <a:t>Figure:</a:t>
            </a:r>
            <a:r>
              <a:rPr lang="en-US" sz="1300">
                <a:latin typeface="Source Sans Pro" panose="020B0503030403020204" pitchFamily="34" charset="0"/>
                <a:ea typeface="Source Sans Pro" panose="020B0503030403020204" pitchFamily="34" charset="0"/>
              </a:rPr>
              <a:t> Ranking of the top 13 input parameters based on total Sobol indices (ST) across the three current density regions of the </a:t>
            </a:r>
            <a:r>
              <a:rPr lang="en-US" sz="1300" err="1">
                <a:latin typeface="Source Sans Pro" panose="020B0503030403020204" pitchFamily="34" charset="0"/>
                <a:ea typeface="Source Sans Pro" panose="020B0503030403020204" pitchFamily="34" charset="0"/>
              </a:rPr>
              <a:t>AlphaPEM</a:t>
            </a:r>
            <a:r>
              <a:rPr lang="en-US" sz="1300">
                <a:latin typeface="Source Sans Pro" panose="020B0503030403020204" pitchFamily="34" charset="0"/>
                <a:ea typeface="Source Sans Pro" panose="020B0503030403020204" pitchFamily="34" charset="0"/>
              </a:rPr>
              <a:t> model. Rank 1 indicates the most influential parameter in a given region. Lines track how each parameter’s importance changes between regions, revealing stable drivers (e.g., i_0c_ref​​) and region-specific effects (e.g. Re).</a:t>
            </a:r>
            <a:endParaRPr lang="en" sz="13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18177FE0-97EE-AF49-E731-887E8A624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5148" y="1813067"/>
            <a:ext cx="6241704" cy="3727333"/>
          </a:xfrm>
          <a:prstGeom prst="rect">
            <a:avLst/>
          </a:prstGeom>
        </p:spPr>
      </p:pic>
      <p:grpSp>
        <p:nvGrpSpPr>
          <p:cNvPr id="2" name="Grupo 1">
            <a:extLst>
              <a:ext uri="{FF2B5EF4-FFF2-40B4-BE49-F238E27FC236}">
                <a16:creationId xmlns:a16="http://schemas.microsoft.com/office/drawing/2014/main" id="{0E0E7F92-2654-0817-E33A-3E458D1AB63B}"/>
              </a:ext>
            </a:extLst>
          </p:cNvPr>
          <p:cNvGrpSpPr/>
          <p:nvPr/>
        </p:nvGrpSpPr>
        <p:grpSpPr>
          <a:xfrm>
            <a:off x="1873404" y="175882"/>
            <a:ext cx="8608742" cy="307779"/>
            <a:chOff x="740794" y="334534"/>
            <a:chExt cx="8608742" cy="307779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4F84011A-67A3-41F2-0E77-F209A9D3CF96}"/>
                </a:ext>
              </a:extLst>
            </p:cNvPr>
            <p:cNvSpPr txBox="1"/>
            <p:nvPr/>
          </p:nvSpPr>
          <p:spPr>
            <a:xfrm>
              <a:off x="740794" y="334536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Future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Work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5" name="Rectángulo redondeado 5">
              <a:extLst>
                <a:ext uri="{FF2B5EF4-FFF2-40B4-BE49-F238E27FC236}">
                  <a16:creationId xmlns:a16="http://schemas.microsoft.com/office/drawing/2014/main" id="{859E3A26-137F-D0F7-C451-FC37A7B90746}"/>
                </a:ext>
              </a:extLst>
            </p:cNvPr>
            <p:cNvSpPr/>
            <p:nvPr/>
          </p:nvSpPr>
          <p:spPr>
            <a:xfrm>
              <a:off x="4424498" y="334535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3001BC67-5CFB-FE80-2561-32FB26D271EF}"/>
                </a:ext>
              </a:extLst>
            </p:cNvPr>
            <p:cNvSpPr txBox="1"/>
            <p:nvPr/>
          </p:nvSpPr>
          <p:spPr>
            <a:xfrm>
              <a:off x="2242239" y="334534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validity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2091815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23A767F-4D9A-46A5-9995-3E2926EAB6D3}"/>
              </a:ext>
            </a:extLst>
          </p:cNvPr>
          <p:cNvSpPr txBox="1"/>
          <p:nvPr/>
        </p:nvSpPr>
        <p:spPr>
          <a:xfrm>
            <a:off x="1372686" y="1631066"/>
            <a:ext cx="430478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Data preparation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We are fitting the voltage as a function of the 13 features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&amp; the current density.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Only valid polarization curves (~55k configurations</a:t>
            </a:r>
            <a:r>
              <a:rPr lang="en-US" dirty="0">
                <a:solidFill>
                  <a:srgbClr val="242121"/>
                </a:solidFill>
                <a:latin typeface="Source Sans Pro" panose="020B0503030403020204" pitchFamily="34" charset="0"/>
              </a:rPr>
              <a:t>)</a:t>
            </a:r>
            <a:endParaRPr kumimoji="0" lang="es-CO" b="0" i="0" u="none" strike="noStrike" kern="1200" cap="none" spc="0" normalizeH="0" baseline="0" noProof="0" dirty="0">
              <a:ln>
                <a:noFill/>
              </a:ln>
              <a:solidFill>
                <a:srgbClr val="24212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8BFB17B8-F205-4FEE-9C5F-A240216ADA9D}"/>
              </a:ext>
            </a:extLst>
          </p:cNvPr>
          <p:cNvSpPr txBox="1"/>
          <p:nvPr/>
        </p:nvSpPr>
        <p:spPr>
          <a:xfrm>
            <a:off x="1372686" y="4031396"/>
            <a:ext cx="430478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Train the model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0" i="0" u="none" strike="noStrike" kern="1200" cap="none" spc="0" normalizeH="0" baseline="0" noProof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XGBoost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with nested CV</a:t>
            </a: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s-CO" b="1" i="0" u="none" strike="noStrike" kern="1200" cap="none" spc="0" normalizeH="0" baseline="0" noProof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Inner</a:t>
            </a:r>
            <a:r>
              <a:rPr kumimoji="0" lang="es-CO" b="1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3-fold CV: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for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tuning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XGBoost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 </a:t>
            </a:r>
            <a:r>
              <a:rPr kumimoji="0" lang="es-CO" b="0" i="0" u="none" strike="noStrike" kern="1200" cap="none" spc="0" normalizeH="0" baseline="0" noProof="0" err="1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hyperparameters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.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24212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  <a:p>
            <a:pPr marL="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→"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Outer 5-fold CV: </a:t>
            </a:r>
            <a:r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to assess generalization performance</a:t>
            </a:r>
            <a:r>
              <a:rPr kumimoji="0" lang="es-CO" b="0" i="0" u="none" strike="noStrike" kern="1200" cap="none" spc="0" normalizeH="0" baseline="0" noProof="0">
                <a:ln>
                  <a:noFill/>
                </a:ln>
                <a:solidFill>
                  <a:srgbClr val="242121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.</a:t>
            </a:r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srgbClr val="242121"/>
              </a:solidFill>
              <a:effectLst/>
              <a:uLnTx/>
              <a:uFillTx/>
              <a:latin typeface="Source Sans Pro" panose="020B0503030403020204" pitchFamily="34" charset="0"/>
              <a:ea typeface="+mn-ea"/>
              <a:cs typeface="+mn-cs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2907A354-FB5F-4FF7-BF96-FC74F5313B1F}"/>
              </a:ext>
            </a:extLst>
          </p:cNvPr>
          <p:cNvSpPr txBox="1"/>
          <p:nvPr/>
        </p:nvSpPr>
        <p:spPr>
          <a:xfrm>
            <a:off x="6001258" y="1708839"/>
            <a:ext cx="3456641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defRPr/>
            </a:pPr>
            <a:r>
              <a:rPr lang="es-CO" b="1" err="1">
                <a:solidFill>
                  <a:srgbClr val="242121"/>
                </a:solidFill>
                <a:latin typeface="Source Sans Pro" panose="020B0503030403020204" pitchFamily="34" charset="0"/>
              </a:rPr>
              <a:t>XGBRegressor</a:t>
            </a:r>
            <a:endParaRPr lang="es-CO" b="1">
              <a:solidFill>
                <a:srgbClr val="242121"/>
              </a:solidFill>
              <a:latin typeface="Source Sans Pro" panose="020B0503030403020204" pitchFamily="34" charset="0"/>
            </a:endParaRPr>
          </a:p>
          <a:p>
            <a:pPr indent="-285750" fontAlgn="base">
              <a:buFontTx/>
              <a:buChar char="→"/>
              <a:defRPr/>
            </a:pPr>
            <a:r>
              <a:rPr lang="es-CO" err="1">
                <a:solidFill>
                  <a:srgbClr val="242121"/>
                </a:solidFill>
                <a:latin typeface="Source Sans Pro" panose="020B0503030403020204" pitchFamily="34" charset="0"/>
              </a:rPr>
              <a:t>n_estimators</a:t>
            </a:r>
            <a:r>
              <a:rPr lang="es-CO">
                <a:solidFill>
                  <a:srgbClr val="242121"/>
                </a:solidFill>
                <a:latin typeface="Source Sans Pro" panose="020B0503030403020204" pitchFamily="34" charset="0"/>
              </a:rPr>
              <a:t>: [300, 500, 700] </a:t>
            </a:r>
          </a:p>
          <a:p>
            <a:pPr indent="-285750" fontAlgn="base">
              <a:buFontTx/>
              <a:buChar char="→"/>
              <a:defRPr/>
            </a:pPr>
            <a:r>
              <a:rPr lang="es-CO" err="1">
                <a:solidFill>
                  <a:srgbClr val="242121"/>
                </a:solidFill>
                <a:latin typeface="Source Sans Pro" panose="020B0503030403020204" pitchFamily="34" charset="0"/>
              </a:rPr>
              <a:t>max_depth</a:t>
            </a:r>
            <a:r>
              <a:rPr lang="es-CO">
                <a:solidFill>
                  <a:srgbClr val="242121"/>
                </a:solidFill>
                <a:latin typeface="Source Sans Pro" panose="020B0503030403020204" pitchFamily="34" charset="0"/>
              </a:rPr>
              <a:t>: [6, 8, 10] </a:t>
            </a:r>
          </a:p>
          <a:p>
            <a:pPr indent="-285750" fontAlgn="base">
              <a:buFontTx/>
              <a:buChar char="→"/>
              <a:defRPr/>
            </a:pPr>
            <a:r>
              <a:rPr lang="es-CO" err="1">
                <a:solidFill>
                  <a:srgbClr val="242121"/>
                </a:solidFill>
                <a:latin typeface="Source Sans Pro" panose="020B0503030403020204" pitchFamily="34" charset="0"/>
              </a:rPr>
              <a:t>learning_rate</a:t>
            </a:r>
            <a:r>
              <a:rPr lang="es-CO">
                <a:solidFill>
                  <a:srgbClr val="242121"/>
                </a:solidFill>
                <a:latin typeface="Source Sans Pro" panose="020B0503030403020204" pitchFamily="34" charset="0"/>
              </a:rPr>
              <a:t>: [0.01, 0.05] </a:t>
            </a:r>
          </a:p>
          <a:p>
            <a:pPr indent="-285750" fontAlgn="base">
              <a:buFontTx/>
              <a:buChar char="→"/>
              <a:defRPr/>
            </a:pPr>
            <a:r>
              <a:rPr lang="es-CO" err="1">
                <a:solidFill>
                  <a:srgbClr val="242121"/>
                </a:solidFill>
                <a:latin typeface="Source Sans Pro" panose="020B0503030403020204" pitchFamily="34" charset="0"/>
              </a:rPr>
              <a:t>subsample</a:t>
            </a:r>
            <a:r>
              <a:rPr lang="es-CO">
                <a:solidFill>
                  <a:srgbClr val="242121"/>
                </a:solidFill>
                <a:latin typeface="Source Sans Pro" panose="020B0503030403020204" pitchFamily="34" charset="0"/>
              </a:rPr>
              <a:t>: [0.8, 1.0] </a:t>
            </a:r>
          </a:p>
          <a:p>
            <a:pPr indent="-285750" fontAlgn="base">
              <a:buFontTx/>
              <a:buChar char="→"/>
              <a:defRPr/>
            </a:pPr>
            <a:r>
              <a:rPr lang="es-CO" err="1">
                <a:solidFill>
                  <a:srgbClr val="242121"/>
                </a:solidFill>
                <a:latin typeface="Source Sans Pro" panose="020B0503030403020204" pitchFamily="34" charset="0"/>
              </a:rPr>
              <a:t>colsample_bytree</a:t>
            </a:r>
            <a:r>
              <a:rPr lang="es-CO">
                <a:solidFill>
                  <a:srgbClr val="242121"/>
                </a:solidFill>
                <a:latin typeface="Source Sans Pro" panose="020B0503030403020204" pitchFamily="34" charset="0"/>
              </a:rPr>
              <a:t>: [0.8, 1.0]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24E6220-292A-402E-BB1B-6617537AA575}"/>
              </a:ext>
            </a:extLst>
          </p:cNvPr>
          <p:cNvSpPr txBox="1"/>
          <p:nvPr/>
        </p:nvSpPr>
        <p:spPr>
          <a:xfrm>
            <a:off x="5999013" y="3951915"/>
            <a:ext cx="300850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+mn-ea"/>
                <a:cs typeface="+mn-cs"/>
              </a:rPr>
              <a:t>Best configuration</a:t>
            </a:r>
          </a:p>
          <a:p>
            <a:pPr indent="-285750" fontAlgn="base">
              <a:buFontTx/>
              <a:buChar char="→"/>
              <a:defRPr/>
            </a:pPr>
            <a:r>
              <a:rPr lang="en-US" err="1">
                <a:solidFill>
                  <a:srgbClr val="242121"/>
                </a:solidFill>
                <a:latin typeface="Source Sans Pro" panose="020B0503030403020204" pitchFamily="34" charset="0"/>
              </a:rPr>
              <a:t>colsample_bytree</a:t>
            </a:r>
            <a:r>
              <a:rPr lang="en-US">
                <a:solidFill>
                  <a:srgbClr val="242121"/>
                </a:solidFill>
                <a:latin typeface="Source Sans Pro" panose="020B0503030403020204" pitchFamily="34" charset="0"/>
              </a:rPr>
              <a:t>: 0.8</a:t>
            </a:r>
          </a:p>
          <a:p>
            <a:pPr indent="-285750" fontAlgn="base">
              <a:buFontTx/>
              <a:buChar char="→"/>
              <a:defRPr/>
            </a:pPr>
            <a:r>
              <a:rPr lang="en-US" err="1">
                <a:solidFill>
                  <a:srgbClr val="242121"/>
                </a:solidFill>
                <a:latin typeface="Source Sans Pro" panose="020B0503030403020204" pitchFamily="34" charset="0"/>
              </a:rPr>
              <a:t>learning_rate</a:t>
            </a:r>
            <a:r>
              <a:rPr lang="en-US">
                <a:solidFill>
                  <a:srgbClr val="242121"/>
                </a:solidFill>
                <a:latin typeface="Source Sans Pro" panose="020B0503030403020204" pitchFamily="34" charset="0"/>
              </a:rPr>
              <a:t>: 0.05</a:t>
            </a:r>
          </a:p>
          <a:p>
            <a:pPr indent="-285750" fontAlgn="base">
              <a:buFontTx/>
              <a:buChar char="→"/>
              <a:defRPr/>
            </a:pPr>
            <a:r>
              <a:rPr lang="en-US" err="1">
                <a:solidFill>
                  <a:srgbClr val="242121"/>
                </a:solidFill>
                <a:latin typeface="Source Sans Pro" panose="020B0503030403020204" pitchFamily="34" charset="0"/>
              </a:rPr>
              <a:t>max_depth</a:t>
            </a:r>
            <a:r>
              <a:rPr lang="en-US">
                <a:solidFill>
                  <a:srgbClr val="242121"/>
                </a:solidFill>
                <a:latin typeface="Source Sans Pro" panose="020B0503030403020204" pitchFamily="34" charset="0"/>
              </a:rPr>
              <a:t>: 8</a:t>
            </a:r>
          </a:p>
          <a:p>
            <a:pPr indent="-285750" fontAlgn="base">
              <a:buFontTx/>
              <a:buChar char="→"/>
              <a:defRPr/>
            </a:pPr>
            <a:r>
              <a:rPr lang="en-US" err="1">
                <a:solidFill>
                  <a:srgbClr val="242121"/>
                </a:solidFill>
                <a:latin typeface="Source Sans Pro" panose="020B0503030403020204" pitchFamily="34" charset="0"/>
              </a:rPr>
              <a:t>n_estimators</a:t>
            </a:r>
            <a:r>
              <a:rPr lang="en-US">
                <a:solidFill>
                  <a:srgbClr val="242121"/>
                </a:solidFill>
                <a:latin typeface="Source Sans Pro" panose="020B0503030403020204" pitchFamily="34" charset="0"/>
              </a:rPr>
              <a:t>: 700</a:t>
            </a:r>
          </a:p>
          <a:p>
            <a:pPr indent="-285750" fontAlgn="base">
              <a:buFontTx/>
              <a:buChar char="→"/>
              <a:defRPr/>
            </a:pPr>
            <a:r>
              <a:rPr lang="en-US">
                <a:solidFill>
                  <a:srgbClr val="242121"/>
                </a:solidFill>
                <a:latin typeface="Source Sans Pro" panose="020B0503030403020204" pitchFamily="34" charset="0"/>
              </a:rPr>
              <a:t>subsample: 0.8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A5A7F0B-5FF7-468D-AD21-70B912C06C26}"/>
              </a:ext>
            </a:extLst>
          </p:cNvPr>
          <p:cNvSpPr txBox="1"/>
          <p:nvPr/>
        </p:nvSpPr>
        <p:spPr>
          <a:xfrm>
            <a:off x="10339754" y="6043810"/>
            <a:ext cx="1852246" cy="369332"/>
          </a:xfrm>
          <a:prstGeom prst="rect">
            <a:avLst/>
          </a:prstGeom>
          <a:solidFill>
            <a:srgbClr val="068B2E"/>
          </a:solidFill>
          <a:ln>
            <a:solidFill>
              <a:srgbClr val="B278E6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8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 </a:t>
            </a:r>
            <a:r>
              <a:rPr kumimoji="0" lang="es-ES" sz="180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to</a:t>
            </a:r>
            <a:r>
              <a:rPr kumimoji="0" lang="es-ES" sz="18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kumimoji="0" lang="es-ES" sz="180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hlinkClick r:id="rId3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XGBoost</a:t>
            </a:r>
            <a:endParaRPr kumimoji="0" lang="es-CO" sz="180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5197FBA-C0C3-CA78-B112-C9E1D0E13086}"/>
              </a:ext>
            </a:extLst>
          </p:cNvPr>
          <p:cNvSpPr txBox="1"/>
          <p:nvPr/>
        </p:nvSpPr>
        <p:spPr>
          <a:xfrm>
            <a:off x="2924859" y="175685"/>
            <a:ext cx="26212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610CA85-7716-13B8-C9EE-445AFADE7CDD}"/>
              </a:ext>
            </a:extLst>
          </p:cNvPr>
          <p:cNvSpPr txBox="1"/>
          <p:nvPr/>
        </p:nvSpPr>
        <p:spPr>
          <a:xfrm>
            <a:off x="7812910" y="175686"/>
            <a:ext cx="2522579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4F0F9A2F-D32B-D083-079A-786AD6884551}"/>
              </a:ext>
            </a:extLst>
          </p:cNvPr>
          <p:cNvSpPr/>
          <p:nvPr/>
        </p:nvSpPr>
        <p:spPr>
          <a:xfrm>
            <a:off x="5546141" y="175687"/>
            <a:ext cx="2336219" cy="307777"/>
          </a:xfrm>
          <a:prstGeom prst="roundRect">
            <a:avLst>
              <a:gd name="adj" fmla="val 50000"/>
            </a:avLst>
          </a:prstGeom>
          <a:solidFill>
            <a:srgbClr val="068B2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bg1"/>
                </a:solidFill>
              </a:rPr>
              <a:t>3.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4F1222A-80FF-D4DF-B4B8-21F4E067C4D3}"/>
              </a:ext>
            </a:extLst>
          </p:cNvPr>
          <p:cNvSpPr txBox="1"/>
          <p:nvPr/>
        </p:nvSpPr>
        <p:spPr>
          <a:xfrm>
            <a:off x="1283300" y="803764"/>
            <a:ext cx="65990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sz="3200" b="1" dirty="0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XGBoost</a:t>
            </a:r>
            <a:r>
              <a:rPr lang="en-US" sz="3200" b="1" dirty="0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hyperparameter tuning</a:t>
            </a:r>
          </a:p>
        </p:txBody>
      </p:sp>
      <p:sp>
        <p:nvSpPr>
          <p:cNvPr id="7" name="Rectángulo redondeado 6">
            <a:extLst>
              <a:ext uri="{FF2B5EF4-FFF2-40B4-BE49-F238E27FC236}">
                <a16:creationId xmlns:a16="http://schemas.microsoft.com/office/drawing/2014/main" id="{E397F7A6-EBED-6483-D7B7-FF00C5246E0E}"/>
              </a:ext>
            </a:extLst>
          </p:cNvPr>
          <p:cNvSpPr/>
          <p:nvPr/>
        </p:nvSpPr>
        <p:spPr>
          <a:xfrm>
            <a:off x="5800299" y="1514902"/>
            <a:ext cx="4026089" cy="2194486"/>
          </a:xfrm>
          <a:prstGeom prst="roundRect">
            <a:avLst>
              <a:gd name="adj" fmla="val 1207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redondeado 8">
            <a:extLst>
              <a:ext uri="{FF2B5EF4-FFF2-40B4-BE49-F238E27FC236}">
                <a16:creationId xmlns:a16="http://schemas.microsoft.com/office/drawing/2014/main" id="{76941398-5127-AFD7-DAE0-01223E83CAB6}"/>
              </a:ext>
            </a:extLst>
          </p:cNvPr>
          <p:cNvSpPr/>
          <p:nvPr/>
        </p:nvSpPr>
        <p:spPr>
          <a:xfrm>
            <a:off x="1187356" y="1514902"/>
            <a:ext cx="4490113" cy="2194486"/>
          </a:xfrm>
          <a:prstGeom prst="roundRect">
            <a:avLst>
              <a:gd name="adj" fmla="val 1207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redondeado 10">
            <a:extLst>
              <a:ext uri="{FF2B5EF4-FFF2-40B4-BE49-F238E27FC236}">
                <a16:creationId xmlns:a16="http://schemas.microsoft.com/office/drawing/2014/main" id="{31D7B3CE-E613-4A58-5C65-EBFE180F8188}"/>
              </a:ext>
            </a:extLst>
          </p:cNvPr>
          <p:cNvSpPr/>
          <p:nvPr/>
        </p:nvSpPr>
        <p:spPr>
          <a:xfrm>
            <a:off x="5800299" y="3821373"/>
            <a:ext cx="4026089" cy="2194486"/>
          </a:xfrm>
          <a:prstGeom prst="roundRect">
            <a:avLst>
              <a:gd name="adj" fmla="val 1207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redondeado 11">
            <a:extLst>
              <a:ext uri="{FF2B5EF4-FFF2-40B4-BE49-F238E27FC236}">
                <a16:creationId xmlns:a16="http://schemas.microsoft.com/office/drawing/2014/main" id="{7F3836D5-2D69-956E-C034-D3658F8BBDEB}"/>
              </a:ext>
            </a:extLst>
          </p:cNvPr>
          <p:cNvSpPr/>
          <p:nvPr/>
        </p:nvSpPr>
        <p:spPr>
          <a:xfrm>
            <a:off x="1187356" y="3821373"/>
            <a:ext cx="4490113" cy="2194486"/>
          </a:xfrm>
          <a:prstGeom prst="roundRect">
            <a:avLst>
              <a:gd name="adj" fmla="val 1207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50158054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EF675-A3B6-443F-A291-A402B178BE10}"/>
              </a:ext>
            </a:extLst>
          </p:cNvPr>
          <p:cNvSpPr txBox="1"/>
          <p:nvPr/>
        </p:nvSpPr>
        <p:spPr>
          <a:xfrm>
            <a:off x="893443" y="1370254"/>
            <a:ext cx="32445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SHAP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</a:p>
          <a:p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Feature</a:t>
            </a:r>
          </a:p>
          <a:p>
            <a:r>
              <a:rPr lang="en-US" sz="28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Importance</a:t>
            </a:r>
            <a:endParaRPr lang="es-CO" sz="36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6630B0-2AF7-45BA-A028-A6EB132952DB}"/>
              </a:ext>
            </a:extLst>
          </p:cNvPr>
          <p:cNvSpPr txBox="1"/>
          <p:nvPr/>
        </p:nvSpPr>
        <p:spPr>
          <a:xfrm>
            <a:off x="893443" y="943947"/>
            <a:ext cx="2137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1" name="Google Shape;453;g36edeb4292e_1_43">
            <a:extLst>
              <a:ext uri="{FF2B5EF4-FFF2-40B4-BE49-F238E27FC236}">
                <a16:creationId xmlns:a16="http://schemas.microsoft.com/office/drawing/2014/main" id="{F2A4A3F0-A046-4B84-ACAE-67C7026FA800}"/>
              </a:ext>
            </a:extLst>
          </p:cNvPr>
          <p:cNvSpPr/>
          <p:nvPr/>
        </p:nvSpPr>
        <p:spPr>
          <a:xfrm>
            <a:off x="893443" y="2909918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BE5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Activation</a:t>
            </a:r>
            <a:endParaRPr sz="16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0D88F71A-D4BE-4524-8EAD-518DF502C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4002" y="1830356"/>
            <a:ext cx="4027897" cy="346924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A4AD0AB4-E0E4-4954-AA12-0A9F60FDCD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231" y="1830356"/>
            <a:ext cx="5431242" cy="3373015"/>
          </a:xfrm>
          <a:prstGeom prst="rect">
            <a:avLst/>
          </a:prstGeom>
        </p:spPr>
      </p:pic>
      <p:sp>
        <p:nvSpPr>
          <p:cNvPr id="25" name="CuadroTexto 24">
            <a:extLst>
              <a:ext uri="{FF2B5EF4-FFF2-40B4-BE49-F238E27FC236}">
                <a16:creationId xmlns:a16="http://schemas.microsoft.com/office/drawing/2014/main" id="{DB092F93-DF71-4F57-B7EB-7DC3DD6F69F0}"/>
              </a:ext>
            </a:extLst>
          </p:cNvPr>
          <p:cNvSpPr txBox="1"/>
          <p:nvPr/>
        </p:nvSpPr>
        <p:spPr>
          <a:xfrm>
            <a:off x="9172914" y="1528722"/>
            <a:ext cx="1790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Summary</a:t>
            </a:r>
            <a:r>
              <a:rPr lang="es-CO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plot</a:t>
            </a:r>
            <a:r>
              <a:rPr lang="es-CO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E181DF9-5FFE-43A4-AE30-75F711D47CF4}"/>
              </a:ext>
            </a:extLst>
          </p:cNvPr>
          <p:cNvSpPr txBox="1"/>
          <p:nvPr/>
        </p:nvSpPr>
        <p:spPr>
          <a:xfrm>
            <a:off x="3942574" y="1528722"/>
            <a:ext cx="2784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Feature</a:t>
            </a:r>
            <a:r>
              <a:rPr lang="es-CO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importance</a:t>
            </a:r>
            <a:endParaRPr lang="es-CO" sz="20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43" name="Grupo 42">
            <a:extLst>
              <a:ext uri="{FF2B5EF4-FFF2-40B4-BE49-F238E27FC236}">
                <a16:creationId xmlns:a16="http://schemas.microsoft.com/office/drawing/2014/main" id="{2D087BF0-7BC3-4660-A3A6-988909649B9E}"/>
              </a:ext>
            </a:extLst>
          </p:cNvPr>
          <p:cNvGrpSpPr/>
          <p:nvPr/>
        </p:nvGrpSpPr>
        <p:grpSpPr>
          <a:xfrm>
            <a:off x="2682240" y="2124306"/>
            <a:ext cx="488766" cy="2630574"/>
            <a:chOff x="2682240" y="2124306"/>
            <a:chExt cx="488766" cy="2630574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B6F2F6E-D829-4E01-B66D-A2618AF1E2ED}"/>
                </a:ext>
              </a:extLst>
            </p:cNvPr>
            <p:cNvSpPr/>
            <p:nvPr/>
          </p:nvSpPr>
          <p:spPr>
            <a:xfrm>
              <a:off x="2682240" y="2124306"/>
              <a:ext cx="445008" cy="26305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B908A331-8854-4027-88FC-18854D73E7E0}"/>
                    </a:ext>
                  </a:extLst>
                </p:cNvPr>
                <p:cNvSpPr txBox="1"/>
                <p:nvPr/>
              </p:nvSpPr>
              <p:spPr>
                <a:xfrm>
                  <a:off x="2792762" y="2849198"/>
                  <a:ext cx="37824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B908A331-8854-4027-88FC-18854D73E7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92762" y="2849198"/>
                  <a:ext cx="378244" cy="169277"/>
                </a:xfrm>
                <a:prstGeom prst="rect">
                  <a:avLst/>
                </a:prstGeom>
                <a:blipFill>
                  <a:blip r:embed="rId4"/>
                  <a:stretch>
                    <a:fillRect l="-8065" r="-3226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C2E78934-9427-4745-A2A2-25EE4537F882}"/>
                    </a:ext>
                  </a:extLst>
                </p:cNvPr>
                <p:cNvSpPr txBox="1"/>
                <p:nvPr/>
              </p:nvSpPr>
              <p:spPr>
                <a:xfrm>
                  <a:off x="2811997" y="3960014"/>
                  <a:ext cx="35900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C2E78934-9427-4745-A2A2-25EE4537F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1997" y="3960014"/>
                  <a:ext cx="359009" cy="169277"/>
                </a:xfrm>
                <a:prstGeom prst="rect">
                  <a:avLst/>
                </a:prstGeom>
                <a:blipFill>
                  <a:blip r:embed="rId5"/>
                  <a:stretch>
                    <a:fillRect l="-13559" r="-5085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98C3A9D2-B915-4A37-9FFC-E459717B2F5D}"/>
                    </a:ext>
                  </a:extLst>
                </p:cNvPr>
                <p:cNvSpPr txBox="1"/>
                <p:nvPr/>
              </p:nvSpPr>
              <p:spPr>
                <a:xfrm>
                  <a:off x="2899970" y="4137275"/>
                  <a:ext cx="271036" cy="182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𝑔𝑑𝑙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98C3A9D2-B915-4A37-9FFC-E459717B2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99970" y="4137275"/>
                  <a:ext cx="271036" cy="182999"/>
                </a:xfrm>
                <a:prstGeom prst="rect">
                  <a:avLst/>
                </a:prstGeom>
                <a:blipFill>
                  <a:blip r:embed="rId6"/>
                  <a:stretch>
                    <a:fillRect l="-6818" r="-11364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EA047C54-2BFC-4269-B72B-64770B085F3A}"/>
                    </a:ext>
                  </a:extLst>
                </p:cNvPr>
                <p:cNvSpPr txBox="1"/>
                <p:nvPr/>
              </p:nvSpPr>
              <p:spPr>
                <a:xfrm>
                  <a:off x="2916641" y="3596163"/>
                  <a:ext cx="25436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𝑚𝑐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EA047C54-2BFC-4269-B72B-64770B085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6641" y="3596163"/>
                  <a:ext cx="254365" cy="169277"/>
                </a:xfrm>
                <a:prstGeom prst="rect">
                  <a:avLst/>
                </a:prstGeom>
                <a:blipFill>
                  <a:blip r:embed="rId7"/>
                  <a:stretch>
                    <a:fillRect l="-7143" r="-238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1F186997-7A23-4123-A3CB-D6C213AD4F26}"/>
                    </a:ext>
                  </a:extLst>
                </p:cNvPr>
                <p:cNvSpPr txBox="1"/>
                <p:nvPr/>
              </p:nvSpPr>
              <p:spPr>
                <a:xfrm>
                  <a:off x="3012822" y="4346286"/>
                  <a:ext cx="15818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1F186997-7A23-4123-A3CB-D6C213AD4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12822" y="4346286"/>
                  <a:ext cx="158184" cy="169277"/>
                </a:xfrm>
                <a:prstGeom prst="rect">
                  <a:avLst/>
                </a:prstGeom>
                <a:blipFill>
                  <a:blip r:embed="rId8"/>
                  <a:stretch>
                    <a:fillRect l="-11538" r="-7692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C3FBBE94-2EBD-4D55-A3DA-69DB50558D58}"/>
                    </a:ext>
                  </a:extLst>
                </p:cNvPr>
                <p:cNvSpPr txBox="1"/>
                <p:nvPr/>
              </p:nvSpPr>
              <p:spPr>
                <a:xfrm>
                  <a:off x="3071812" y="3253317"/>
                  <a:ext cx="991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C3FBBE94-2EBD-4D55-A3DA-69DB50558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1812" y="3253317"/>
                  <a:ext cx="99194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18750" r="-25000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7844387A-917F-4DF1-906B-CBD12FDD79B4}"/>
                    </a:ext>
                  </a:extLst>
                </p:cNvPr>
                <p:cNvSpPr txBox="1"/>
                <p:nvPr/>
              </p:nvSpPr>
              <p:spPr>
                <a:xfrm>
                  <a:off x="2756790" y="2286946"/>
                  <a:ext cx="414216" cy="1828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7844387A-917F-4DF1-906B-CBD12FDD79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6790" y="2286946"/>
                  <a:ext cx="414216" cy="182807"/>
                </a:xfrm>
                <a:prstGeom prst="rect">
                  <a:avLst/>
                </a:prstGeom>
                <a:blipFill>
                  <a:blip r:embed="rId10"/>
                  <a:stretch>
                    <a:fillRect l="-7353" r="-5882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6E725AAF-99FF-4746-98A3-982708322466}"/>
                    </a:ext>
                  </a:extLst>
                </p:cNvPr>
                <p:cNvSpPr txBox="1"/>
                <p:nvPr/>
              </p:nvSpPr>
              <p:spPr>
                <a:xfrm>
                  <a:off x="2941712" y="3392923"/>
                  <a:ext cx="2292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6E725AAF-99FF-4746-98A3-982708322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1712" y="3392923"/>
                  <a:ext cx="229294" cy="169277"/>
                </a:xfrm>
                <a:prstGeom prst="rect">
                  <a:avLst/>
                </a:prstGeom>
                <a:blipFill>
                  <a:blip r:embed="rId11"/>
                  <a:stretch>
                    <a:fillRect l="-8108" r="-2703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5C2ABCF1-AFED-4F1D-B366-8AB53FD606C2}"/>
                    </a:ext>
                  </a:extLst>
                </p:cNvPr>
                <p:cNvSpPr txBox="1"/>
                <p:nvPr/>
              </p:nvSpPr>
              <p:spPr>
                <a:xfrm>
                  <a:off x="3001601" y="2469753"/>
                  <a:ext cx="16940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5C2ABCF1-AFED-4F1D-B366-8AB53FD60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01601" y="2469753"/>
                  <a:ext cx="169405" cy="169277"/>
                </a:xfrm>
                <a:prstGeom prst="rect">
                  <a:avLst/>
                </a:prstGeom>
                <a:blipFill>
                  <a:blip r:embed="rId12"/>
                  <a:stretch>
                    <a:fillRect l="-10714" r="-3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E5AF79C3-C541-4F09-8271-A56131A158D9}"/>
                    </a:ext>
                  </a:extLst>
                </p:cNvPr>
                <p:cNvSpPr txBox="1"/>
                <p:nvPr/>
              </p:nvSpPr>
              <p:spPr>
                <a:xfrm>
                  <a:off x="2910037" y="2697814"/>
                  <a:ext cx="26096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𝑇𝑓𝑐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E5AF79C3-C541-4F09-8271-A56131A15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0037" y="2697814"/>
                  <a:ext cx="260969" cy="169277"/>
                </a:xfrm>
                <a:prstGeom prst="rect">
                  <a:avLst/>
                </a:prstGeom>
                <a:blipFill>
                  <a:blip r:embed="rId13"/>
                  <a:stretch>
                    <a:fillRect l="-18605" r="-18605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7DED916-00D3-4253-9146-63A3520EECCD}"/>
                    </a:ext>
                  </a:extLst>
                </p:cNvPr>
                <p:cNvSpPr txBox="1"/>
                <p:nvPr/>
              </p:nvSpPr>
              <p:spPr>
                <a:xfrm>
                  <a:off x="2994996" y="3820408"/>
                  <a:ext cx="17601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𝑆𝑐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7DED916-00D3-4253-9146-63A3520EE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4996" y="3820408"/>
                  <a:ext cx="176010" cy="169277"/>
                </a:xfrm>
                <a:prstGeom prst="rect">
                  <a:avLst/>
                </a:prstGeom>
                <a:blipFill>
                  <a:blip r:embed="rId14"/>
                  <a:stretch>
                    <a:fillRect l="-17241" r="-17241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5D2FD654-FB3F-49E2-AED6-3EFF05D53AF9}"/>
                    </a:ext>
                  </a:extLst>
                </p:cNvPr>
                <p:cNvSpPr txBox="1"/>
                <p:nvPr/>
              </p:nvSpPr>
              <p:spPr>
                <a:xfrm>
                  <a:off x="2948509" y="2153736"/>
                  <a:ext cx="222497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𝑖𝑓𝑐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5D2FD654-FB3F-49E2-AED6-3EFF05D53A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48509" y="2153736"/>
                  <a:ext cx="222497" cy="169277"/>
                </a:xfrm>
                <a:prstGeom prst="rect">
                  <a:avLst/>
                </a:prstGeom>
                <a:blipFill>
                  <a:blip r:embed="rId15"/>
                  <a:stretch>
                    <a:fillRect l="-22222" r="-25000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97D895B1-66FF-4C17-A446-78FBDA4490F1}"/>
                    </a:ext>
                  </a:extLst>
                </p:cNvPr>
                <p:cNvSpPr txBox="1"/>
                <p:nvPr/>
              </p:nvSpPr>
              <p:spPr>
                <a:xfrm>
                  <a:off x="3065336" y="4554275"/>
                  <a:ext cx="10567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97D895B1-66FF-4C17-A446-78FBDA449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5336" y="4554275"/>
                  <a:ext cx="105670" cy="169277"/>
                </a:xfrm>
                <a:prstGeom prst="rect">
                  <a:avLst/>
                </a:prstGeom>
                <a:blipFill>
                  <a:blip r:embed="rId16"/>
                  <a:stretch>
                    <a:fillRect l="-17647" r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8CDD01DE-87CA-4754-9495-1958870F20B7}"/>
                    </a:ext>
                  </a:extLst>
                </p:cNvPr>
                <p:cNvSpPr txBox="1"/>
                <p:nvPr/>
              </p:nvSpPr>
              <p:spPr>
                <a:xfrm>
                  <a:off x="2975568" y="3069342"/>
                  <a:ext cx="19543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8CDD01DE-87CA-4754-9495-1958870F2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5568" y="3069342"/>
                  <a:ext cx="195438" cy="169277"/>
                </a:xfrm>
                <a:prstGeom prst="rect">
                  <a:avLst/>
                </a:prstGeom>
                <a:blipFill>
                  <a:blip r:embed="rId17"/>
                  <a:stretch>
                    <a:fillRect l="-15625" r="-15625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66C17668-2922-41AE-8740-47D19EE124E6}"/>
              </a:ext>
            </a:extLst>
          </p:cNvPr>
          <p:cNvGrpSpPr/>
          <p:nvPr/>
        </p:nvGrpSpPr>
        <p:grpSpPr>
          <a:xfrm>
            <a:off x="8050473" y="1970853"/>
            <a:ext cx="569970" cy="2969127"/>
            <a:chOff x="8050473" y="1970853"/>
            <a:chExt cx="569970" cy="2969127"/>
          </a:xfrm>
        </p:grpSpPr>
        <p:sp>
          <p:nvSpPr>
            <p:cNvPr id="45" name="Rectángulo 44">
              <a:extLst>
                <a:ext uri="{FF2B5EF4-FFF2-40B4-BE49-F238E27FC236}">
                  <a16:creationId xmlns:a16="http://schemas.microsoft.com/office/drawing/2014/main" id="{48AFD3D0-B83F-4D73-85E2-45C9B2D1785A}"/>
                </a:ext>
              </a:extLst>
            </p:cNvPr>
            <p:cNvSpPr/>
            <p:nvPr/>
          </p:nvSpPr>
          <p:spPr>
            <a:xfrm>
              <a:off x="8050473" y="1970853"/>
              <a:ext cx="569970" cy="296912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8223E0D5-8E94-4ED2-AE63-769D47FB0246}"/>
                    </a:ext>
                  </a:extLst>
                </p:cNvPr>
                <p:cNvSpPr txBox="1"/>
                <p:nvPr/>
              </p:nvSpPr>
              <p:spPr>
                <a:xfrm>
                  <a:off x="8236083" y="2816483"/>
                  <a:ext cx="37824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6" name="CuadroTexto 45">
                  <a:extLst>
                    <a:ext uri="{FF2B5EF4-FFF2-40B4-BE49-F238E27FC236}">
                      <a16:creationId xmlns:a16="http://schemas.microsoft.com/office/drawing/2014/main" id="{8223E0D5-8E94-4ED2-AE63-769D47FB024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36083" y="2816483"/>
                  <a:ext cx="378244" cy="169277"/>
                </a:xfrm>
                <a:prstGeom prst="rect">
                  <a:avLst/>
                </a:prstGeom>
                <a:blipFill>
                  <a:blip r:embed="rId4"/>
                  <a:stretch>
                    <a:fillRect l="-8065" r="-3226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D58E39C9-710C-4150-9D86-570F6B04FB7B}"/>
                    </a:ext>
                  </a:extLst>
                </p:cNvPr>
                <p:cNvSpPr txBox="1"/>
                <p:nvPr/>
              </p:nvSpPr>
              <p:spPr>
                <a:xfrm>
                  <a:off x="8255318" y="4034035"/>
                  <a:ext cx="35900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7" name="CuadroTexto 46">
                  <a:extLst>
                    <a:ext uri="{FF2B5EF4-FFF2-40B4-BE49-F238E27FC236}">
                      <a16:creationId xmlns:a16="http://schemas.microsoft.com/office/drawing/2014/main" id="{D58E39C9-710C-4150-9D86-570F6B04FB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55318" y="4034035"/>
                  <a:ext cx="359009" cy="169277"/>
                </a:xfrm>
                <a:prstGeom prst="rect">
                  <a:avLst/>
                </a:prstGeom>
                <a:blipFill>
                  <a:blip r:embed="rId5"/>
                  <a:stretch>
                    <a:fillRect l="-13559" r="-5085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D739309-3E62-46B1-AEC8-CEAD3EEDEAE6}"/>
                    </a:ext>
                  </a:extLst>
                </p:cNvPr>
                <p:cNvSpPr txBox="1"/>
                <p:nvPr/>
              </p:nvSpPr>
              <p:spPr>
                <a:xfrm>
                  <a:off x="8343291" y="4242770"/>
                  <a:ext cx="271036" cy="182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𝑔𝑑𝑙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8" name="CuadroTexto 47">
                  <a:extLst>
                    <a:ext uri="{FF2B5EF4-FFF2-40B4-BE49-F238E27FC236}">
                      <a16:creationId xmlns:a16="http://schemas.microsoft.com/office/drawing/2014/main" id="{9D739309-3E62-46B1-AEC8-CEAD3EEDEAE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43291" y="4242770"/>
                  <a:ext cx="271036" cy="182999"/>
                </a:xfrm>
                <a:prstGeom prst="rect">
                  <a:avLst/>
                </a:prstGeom>
                <a:blipFill>
                  <a:blip r:embed="rId6"/>
                  <a:stretch>
                    <a:fillRect l="-6818" r="-11364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996934D0-3598-4DC4-95B8-0C32AD37649A}"/>
                    </a:ext>
                  </a:extLst>
                </p:cNvPr>
                <p:cNvSpPr txBox="1"/>
                <p:nvPr/>
              </p:nvSpPr>
              <p:spPr>
                <a:xfrm>
                  <a:off x="8359962" y="3621126"/>
                  <a:ext cx="25436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𝑚𝑐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9" name="CuadroTexto 48">
                  <a:extLst>
                    <a:ext uri="{FF2B5EF4-FFF2-40B4-BE49-F238E27FC236}">
                      <a16:creationId xmlns:a16="http://schemas.microsoft.com/office/drawing/2014/main" id="{996934D0-3598-4DC4-95B8-0C32AD3764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9962" y="3621126"/>
                  <a:ext cx="254365" cy="169277"/>
                </a:xfrm>
                <a:prstGeom prst="rect">
                  <a:avLst/>
                </a:prstGeom>
                <a:blipFill>
                  <a:blip r:embed="rId18"/>
                  <a:stretch>
                    <a:fillRect l="-7143" r="-238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308DA5E6-CD97-4AB9-8BFB-AD7ED880E9B9}"/>
                    </a:ext>
                  </a:extLst>
                </p:cNvPr>
                <p:cNvSpPr txBox="1"/>
                <p:nvPr/>
              </p:nvSpPr>
              <p:spPr>
                <a:xfrm>
                  <a:off x="8456143" y="4432151"/>
                  <a:ext cx="15818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0" name="CuadroTexto 49">
                  <a:extLst>
                    <a:ext uri="{FF2B5EF4-FFF2-40B4-BE49-F238E27FC236}">
                      <a16:creationId xmlns:a16="http://schemas.microsoft.com/office/drawing/2014/main" id="{308DA5E6-CD97-4AB9-8BFB-AD7ED880E9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56143" y="4432151"/>
                  <a:ext cx="158184" cy="169277"/>
                </a:xfrm>
                <a:prstGeom prst="rect">
                  <a:avLst/>
                </a:prstGeom>
                <a:blipFill>
                  <a:blip r:embed="rId19"/>
                  <a:stretch>
                    <a:fillRect l="-11538" r="-7692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667A09E5-33B9-49C7-AFF1-724A1976AEB8}"/>
                    </a:ext>
                  </a:extLst>
                </p:cNvPr>
                <p:cNvSpPr txBox="1"/>
                <p:nvPr/>
              </p:nvSpPr>
              <p:spPr>
                <a:xfrm>
                  <a:off x="8515133" y="3244108"/>
                  <a:ext cx="991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1" name="CuadroTexto 50">
                  <a:extLst>
                    <a:ext uri="{FF2B5EF4-FFF2-40B4-BE49-F238E27FC236}">
                      <a16:creationId xmlns:a16="http://schemas.microsoft.com/office/drawing/2014/main" id="{667A09E5-33B9-49C7-AFF1-724A1976AE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15133" y="3244108"/>
                  <a:ext cx="99194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18750" r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24931D76-4C52-4DAE-9FCD-0765B6160561}"/>
                    </a:ext>
                  </a:extLst>
                </p:cNvPr>
                <p:cNvSpPr txBox="1"/>
                <p:nvPr/>
              </p:nvSpPr>
              <p:spPr>
                <a:xfrm>
                  <a:off x="8200111" y="2191582"/>
                  <a:ext cx="414216" cy="1828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2" name="CuadroTexto 51">
                  <a:extLst>
                    <a:ext uri="{FF2B5EF4-FFF2-40B4-BE49-F238E27FC236}">
                      <a16:creationId xmlns:a16="http://schemas.microsoft.com/office/drawing/2014/main" id="{24931D76-4C52-4DAE-9FCD-0765B6160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00111" y="2191582"/>
                  <a:ext cx="414216" cy="182807"/>
                </a:xfrm>
                <a:prstGeom prst="rect">
                  <a:avLst/>
                </a:prstGeom>
                <a:blipFill>
                  <a:blip r:embed="rId10"/>
                  <a:stretch>
                    <a:fillRect l="-7353" r="-5882" b="-344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996EEAC7-41F0-4D24-9832-73EDC199381A}"/>
                    </a:ext>
                  </a:extLst>
                </p:cNvPr>
                <p:cNvSpPr txBox="1"/>
                <p:nvPr/>
              </p:nvSpPr>
              <p:spPr>
                <a:xfrm>
                  <a:off x="8385033" y="3413385"/>
                  <a:ext cx="2292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3" name="CuadroTexto 52">
                  <a:extLst>
                    <a:ext uri="{FF2B5EF4-FFF2-40B4-BE49-F238E27FC236}">
                      <a16:creationId xmlns:a16="http://schemas.microsoft.com/office/drawing/2014/main" id="{996EEAC7-41F0-4D24-9832-73EDC19938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5033" y="3413385"/>
                  <a:ext cx="229294" cy="169277"/>
                </a:xfrm>
                <a:prstGeom prst="rect">
                  <a:avLst/>
                </a:prstGeom>
                <a:blipFill>
                  <a:blip r:embed="rId20"/>
                  <a:stretch>
                    <a:fillRect l="-7895" r="-2632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7342A977-36C4-480A-AADF-5B6971C5F4BB}"/>
                    </a:ext>
                  </a:extLst>
                </p:cNvPr>
                <p:cNvSpPr txBox="1"/>
                <p:nvPr/>
              </p:nvSpPr>
              <p:spPr>
                <a:xfrm>
                  <a:off x="8444922" y="2405250"/>
                  <a:ext cx="16940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4" name="CuadroTexto 53">
                  <a:extLst>
                    <a:ext uri="{FF2B5EF4-FFF2-40B4-BE49-F238E27FC236}">
                      <a16:creationId xmlns:a16="http://schemas.microsoft.com/office/drawing/2014/main" id="{7342A977-36C4-480A-AADF-5B6971C5F4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4922" y="2405250"/>
                  <a:ext cx="169405" cy="169277"/>
                </a:xfrm>
                <a:prstGeom prst="rect">
                  <a:avLst/>
                </a:prstGeom>
                <a:blipFill>
                  <a:blip r:embed="rId21"/>
                  <a:stretch>
                    <a:fillRect l="-10714" r="-3571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7F522A16-5B89-45AD-8394-5C26E1AAA88E}"/>
                    </a:ext>
                  </a:extLst>
                </p:cNvPr>
                <p:cNvSpPr txBox="1"/>
                <p:nvPr/>
              </p:nvSpPr>
              <p:spPr>
                <a:xfrm>
                  <a:off x="8353358" y="2608136"/>
                  <a:ext cx="26096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𝑇𝑓𝑐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5" name="CuadroTexto 54">
                  <a:extLst>
                    <a:ext uri="{FF2B5EF4-FFF2-40B4-BE49-F238E27FC236}">
                      <a16:creationId xmlns:a16="http://schemas.microsoft.com/office/drawing/2014/main" id="{7F522A16-5B89-45AD-8394-5C26E1AAA8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53358" y="2608136"/>
                  <a:ext cx="260969" cy="169277"/>
                </a:xfrm>
                <a:prstGeom prst="rect">
                  <a:avLst/>
                </a:prstGeom>
                <a:blipFill>
                  <a:blip r:embed="rId13"/>
                  <a:stretch>
                    <a:fillRect l="-18605" r="-18605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FE018DD9-E1EC-436E-9B3F-79E2F5EE1ED0}"/>
                    </a:ext>
                  </a:extLst>
                </p:cNvPr>
                <p:cNvSpPr txBox="1"/>
                <p:nvPr/>
              </p:nvSpPr>
              <p:spPr>
                <a:xfrm>
                  <a:off x="8438317" y="3858376"/>
                  <a:ext cx="17601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𝑆𝑐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6" name="CuadroTexto 55">
                  <a:extLst>
                    <a:ext uri="{FF2B5EF4-FFF2-40B4-BE49-F238E27FC236}">
                      <a16:creationId xmlns:a16="http://schemas.microsoft.com/office/drawing/2014/main" id="{FE018DD9-E1EC-436E-9B3F-79E2F5EE1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38317" y="3858376"/>
                  <a:ext cx="176010" cy="169277"/>
                </a:xfrm>
                <a:prstGeom prst="rect">
                  <a:avLst/>
                </a:prstGeom>
                <a:blipFill>
                  <a:blip r:embed="rId14"/>
                  <a:stretch>
                    <a:fillRect l="-17241" r="-17241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A740E73C-B3C4-4BFE-BEA7-E00CEFE89B1F}"/>
                    </a:ext>
                  </a:extLst>
                </p:cNvPr>
                <p:cNvSpPr txBox="1"/>
                <p:nvPr/>
              </p:nvSpPr>
              <p:spPr>
                <a:xfrm>
                  <a:off x="8391830" y="2015522"/>
                  <a:ext cx="222497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𝑖𝑓𝑐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7" name="CuadroTexto 56">
                  <a:extLst>
                    <a:ext uri="{FF2B5EF4-FFF2-40B4-BE49-F238E27FC236}">
                      <a16:creationId xmlns:a16="http://schemas.microsoft.com/office/drawing/2014/main" id="{A740E73C-B3C4-4BFE-BEA7-E00CEFE89B1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91830" y="2015522"/>
                  <a:ext cx="222497" cy="169277"/>
                </a:xfrm>
                <a:prstGeom prst="rect">
                  <a:avLst/>
                </a:prstGeom>
                <a:blipFill>
                  <a:blip r:embed="rId15"/>
                  <a:stretch>
                    <a:fillRect l="-22222" r="-25000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C687BB4A-1CBE-4732-A9C4-A559872D56B0}"/>
                    </a:ext>
                  </a:extLst>
                </p:cNvPr>
                <p:cNvSpPr txBox="1"/>
                <p:nvPr/>
              </p:nvSpPr>
              <p:spPr>
                <a:xfrm>
                  <a:off x="8508657" y="4686066"/>
                  <a:ext cx="10567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8" name="CuadroTexto 57">
                  <a:extLst>
                    <a:ext uri="{FF2B5EF4-FFF2-40B4-BE49-F238E27FC236}">
                      <a16:creationId xmlns:a16="http://schemas.microsoft.com/office/drawing/2014/main" id="{C687BB4A-1CBE-4732-A9C4-A559872D56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08657" y="4686066"/>
                  <a:ext cx="105670" cy="169277"/>
                </a:xfrm>
                <a:prstGeom prst="rect">
                  <a:avLst/>
                </a:prstGeom>
                <a:blipFill>
                  <a:blip r:embed="rId16"/>
                  <a:stretch>
                    <a:fillRect l="-17647" r="-17647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E3638183-B676-4E9A-8959-BCF2DF245452}"/>
                    </a:ext>
                  </a:extLst>
                </p:cNvPr>
                <p:cNvSpPr txBox="1"/>
                <p:nvPr/>
              </p:nvSpPr>
              <p:spPr>
                <a:xfrm>
                  <a:off x="8418889" y="3026106"/>
                  <a:ext cx="19543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59" name="CuadroTexto 58">
                  <a:extLst>
                    <a:ext uri="{FF2B5EF4-FFF2-40B4-BE49-F238E27FC236}">
                      <a16:creationId xmlns:a16="http://schemas.microsoft.com/office/drawing/2014/main" id="{E3638183-B676-4E9A-8959-BCF2DF24545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18889" y="3026106"/>
                  <a:ext cx="195438" cy="169277"/>
                </a:xfrm>
                <a:prstGeom prst="rect">
                  <a:avLst/>
                </a:prstGeom>
                <a:blipFill>
                  <a:blip r:embed="rId17"/>
                  <a:stretch>
                    <a:fillRect l="-15625" r="-15625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CuadroTexto 60">
            <a:extLst>
              <a:ext uri="{FF2B5EF4-FFF2-40B4-BE49-F238E27FC236}">
                <a16:creationId xmlns:a16="http://schemas.microsoft.com/office/drawing/2014/main" id="{A5FB4F6E-4673-4113-A43E-2AE399576ABF}"/>
              </a:ext>
            </a:extLst>
          </p:cNvPr>
          <p:cNvSpPr txBox="1"/>
          <p:nvPr/>
        </p:nvSpPr>
        <p:spPr>
          <a:xfrm>
            <a:off x="2997816" y="5136732"/>
            <a:ext cx="4876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n-US" sz="1200"/>
              <a:t>SHAP feature importance ranking based on the </a:t>
            </a:r>
            <a:r>
              <a:rPr lang="en-US" sz="1200" err="1"/>
              <a:t>XGBoost</a:t>
            </a:r>
            <a:r>
              <a:rPr lang="en-US" sz="1200"/>
              <a:t> model, showing the top contributors to the output in the Activation region.</a:t>
            </a:r>
            <a:endParaRPr lang="es-CO" sz="1200"/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7083B35-AE59-4B39-8E3E-60E2E6E39913}"/>
              </a:ext>
            </a:extLst>
          </p:cNvPr>
          <p:cNvSpPr txBox="1"/>
          <p:nvPr/>
        </p:nvSpPr>
        <p:spPr>
          <a:xfrm>
            <a:off x="8265189" y="5315905"/>
            <a:ext cx="36055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n-US" sz="1200"/>
              <a:t>SHAP summary plot showing feature impact on the </a:t>
            </a:r>
            <a:r>
              <a:rPr lang="en-US" sz="1200" err="1"/>
              <a:t>XGBoost</a:t>
            </a:r>
            <a:r>
              <a:rPr lang="en-US" sz="1200"/>
              <a:t> model for the Activation region. Color indicates feature value; horizontal spread reflects influence.</a:t>
            </a:r>
            <a:endParaRPr lang="es-CO" sz="1200"/>
          </a:p>
          <a:p>
            <a:endParaRPr lang="es-CO" sz="1200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F009E30E-DE13-CDD1-C0A9-DFA9E9261512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9D06674-0A7C-BB72-41E1-EF85C1DDE48A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0321BA20-E76E-850F-A6E5-4B90E6F57FA5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2C2CD8CB-D172-BB8B-A751-31455C846DBD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0098386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EF675-A3B6-443F-A291-A402B178BE10}"/>
              </a:ext>
            </a:extLst>
          </p:cNvPr>
          <p:cNvSpPr txBox="1"/>
          <p:nvPr/>
        </p:nvSpPr>
        <p:spPr>
          <a:xfrm>
            <a:off x="893443" y="1370254"/>
            <a:ext cx="3244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6630B0-2AF7-45BA-A028-A6EB132952DB}"/>
              </a:ext>
            </a:extLst>
          </p:cNvPr>
          <p:cNvSpPr txBox="1"/>
          <p:nvPr/>
        </p:nvSpPr>
        <p:spPr>
          <a:xfrm>
            <a:off x="893443" y="943947"/>
            <a:ext cx="2137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1" name="Google Shape;453;g36edeb4292e_1_43">
            <a:extLst>
              <a:ext uri="{FF2B5EF4-FFF2-40B4-BE49-F238E27FC236}">
                <a16:creationId xmlns:a16="http://schemas.microsoft.com/office/drawing/2014/main" id="{F2A4A3F0-A046-4B84-ACAE-67C7026FA800}"/>
              </a:ext>
            </a:extLst>
          </p:cNvPr>
          <p:cNvSpPr/>
          <p:nvPr/>
        </p:nvSpPr>
        <p:spPr>
          <a:xfrm>
            <a:off x="893443" y="2909918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BE5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Activation</a:t>
            </a:r>
            <a:endParaRPr sz="16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80D9CC7-D777-45F3-A749-30B5C18B48F3}"/>
              </a:ext>
            </a:extLst>
          </p:cNvPr>
          <p:cNvSpPr txBox="1"/>
          <p:nvPr/>
        </p:nvSpPr>
        <p:spPr>
          <a:xfrm>
            <a:off x="907097" y="3429000"/>
            <a:ext cx="235829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/>
              <a:t>N = 8.192</a:t>
            </a:r>
          </a:p>
          <a:p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→ </a:t>
            </a:r>
            <a:r>
              <a:rPr kumimoji="0" lang="es-CO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245,760 </a:t>
            </a:r>
            <a:r>
              <a:rPr kumimoji="0" lang="es-CO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configurations</a:t>
            </a:r>
            <a:endParaRPr kumimoji="0" lang="es-CO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s-CO" sz="1400" b="1"/>
          </a:p>
          <a:p>
            <a:r>
              <a:rPr lang="es-CO" sz="1400"/>
              <a:t>Sum S1 = 0.9547</a:t>
            </a:r>
          </a:p>
          <a:p>
            <a:r>
              <a:rPr lang="es-CO" sz="1400"/>
              <a:t>Sum S2 = 0.0830</a:t>
            </a:r>
          </a:p>
          <a:p>
            <a:r>
              <a:rPr lang="es-CO" sz="1400"/>
              <a:t>Sum S1 + S2 = 1.0377</a:t>
            </a:r>
          </a:p>
          <a:p>
            <a:r>
              <a:rPr lang="es-CO" sz="1400"/>
              <a:t>Sum ST = 1.0665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CDBB3F57-8E91-4EC2-A620-D052DCF46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015685"/>
              </p:ext>
            </p:extLst>
          </p:nvPr>
        </p:nvGraphicFramePr>
        <p:xfrm>
          <a:off x="3525520" y="1636947"/>
          <a:ext cx="8118612" cy="4044068"/>
        </p:xfrm>
        <a:graphic>
          <a:graphicData uri="http://schemas.openxmlformats.org/drawingml/2006/table">
            <a:tbl>
              <a:tblPr/>
              <a:tblGrid>
                <a:gridCol w="1216281">
                  <a:extLst>
                    <a:ext uri="{9D8B030D-6E8A-4147-A177-3AD203B41FA5}">
                      <a16:colId xmlns:a16="http://schemas.microsoft.com/office/drawing/2014/main" val="3158671648"/>
                    </a:ext>
                  </a:extLst>
                </a:gridCol>
                <a:gridCol w="1086293">
                  <a:extLst>
                    <a:ext uri="{9D8B030D-6E8A-4147-A177-3AD203B41FA5}">
                      <a16:colId xmlns:a16="http://schemas.microsoft.com/office/drawing/2014/main" val="923774245"/>
                    </a:ext>
                  </a:extLst>
                </a:gridCol>
                <a:gridCol w="1484574">
                  <a:extLst>
                    <a:ext uri="{9D8B030D-6E8A-4147-A177-3AD203B41FA5}">
                      <a16:colId xmlns:a16="http://schemas.microsoft.com/office/drawing/2014/main" val="2406905423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2756400743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3705247648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2855012562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93067512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Feature</a:t>
                      </a:r>
                      <a:endParaRPr lang="es-CO" sz="1600" b="1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S1 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ST 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S2 Total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S2 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2328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i0_c_ref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0.4344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(0.41, 0.459)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0.4422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(0.425, 0.459)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0.0050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(-0.119, 0.129)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9649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 err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kappa_c</a:t>
                      </a:r>
                      <a:endParaRPr lang="es-CO" sz="1050" kern="120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0.1834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(0.169, 0.198)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0.2108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(0.202, 0.219)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-0.0006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(-0.021, 0.019)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0205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 err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ifc</a:t>
                      </a:r>
                      <a:endParaRPr lang="es-CO" sz="1050" kern="120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0.1870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(0.175, 0.199)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0.1939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(0.186, 0.202)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(0.0, 0.0)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7301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 err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Tfc</a:t>
                      </a:r>
                      <a:endParaRPr lang="es-CO" sz="1050" kern="120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0.0768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(0.068, 0.086)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0.0818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(0.079, 0.085)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0.0018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(-0.184, 0.187)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4014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 err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Pa_des</a:t>
                      </a:r>
                      <a:endParaRPr lang="es-CO" sz="1050" kern="120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0.0466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(0.038, 0.055)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0.0739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(0.07, 0.078)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0.0725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(-0.078, 0.223)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1999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 err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kappa_co</a:t>
                      </a:r>
                      <a:endParaRPr lang="es-CO" sz="1050" kern="120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0.0098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(0.006, 0.014)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0.0183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(0.017, 0.019)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0.0114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(-0.001, 0.024)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622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Sc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0.0057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(0.003, 0.009)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0.0136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(0.013, 0.014)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0.0070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(-0.044, 0.058)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5875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tau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0.0040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(0.001, 0.007)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0.0095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(0.009, 0.01)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-0.0069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(-0.041, 0.028)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8758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 err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epsilon_mc</a:t>
                      </a:r>
                      <a:endParaRPr lang="es-CO" sz="1050" kern="120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0.0032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(0.001, 0.006)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0.0071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(0.007, 0.007)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-0.0007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(-0.027, 0.026)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934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Re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0.0017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(-0.001, 0.004)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0.0056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(0.005, 0.006)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0.0007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(-0.013, 0.014)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210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 err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Phi_c_des</a:t>
                      </a:r>
                      <a:endParaRPr lang="es-CO" sz="1050" kern="120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0.0024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(0.001, 0.004)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0.0046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(0.004, 0.005)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-0.0168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(-0.048, 0.014)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8443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 err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epsilon_gdl</a:t>
                      </a:r>
                      <a:endParaRPr lang="es-CO" sz="1050" kern="120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-0.0003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(-0.002, 0.001)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0.0026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(0.002, 0.003)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0.0070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(-0.014, 0.028)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5941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 err="1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epsilon_c</a:t>
                      </a:r>
                      <a:endParaRPr lang="es-CO" sz="1050" kern="1200">
                        <a:solidFill>
                          <a:schemeClr val="bg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-0.0005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(-0.002, 0.001)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0.0023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(0.002, 0.002)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0.0052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(-0.007, 0.017)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2012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lvl="0" indent="0" algn="l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050" kern="1200">
                          <a:solidFill>
                            <a:schemeClr val="bg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e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(-0.0, 0.001)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(0.0, 0.0)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-0.0027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(-0.007, 0.002)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6072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4F2C4ECB-C629-46E7-BF18-754169DA7F57}"/>
                  </a:ext>
                </a:extLst>
              </p:cNvPr>
              <p:cNvSpPr txBox="1"/>
              <p:nvPr/>
            </p:nvSpPr>
            <p:spPr>
              <a:xfrm>
                <a:off x="3984742" y="3040366"/>
                <a:ext cx="41267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𝑃𝑎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4F2C4ECB-C629-46E7-BF18-754169DA7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4742" y="3040366"/>
                <a:ext cx="412677" cy="184666"/>
              </a:xfrm>
              <a:prstGeom prst="rect">
                <a:avLst/>
              </a:prstGeom>
              <a:blipFill>
                <a:blip r:embed="rId2"/>
                <a:stretch>
                  <a:fillRect l="-8955" r="-4478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1E7BE181-B325-4438-9DEC-D23A5600015F}"/>
                  </a:ext>
                </a:extLst>
              </p:cNvPr>
              <p:cNvSpPr txBox="1"/>
              <p:nvPr/>
            </p:nvSpPr>
            <p:spPr>
              <a:xfrm>
                <a:off x="3991956" y="4636144"/>
                <a:ext cx="3934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𝑐𝑑𝑒𝑠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1E7BE181-B325-4438-9DEC-D23A56000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1956" y="4636144"/>
                <a:ext cx="393441" cy="184666"/>
              </a:xfrm>
              <a:prstGeom prst="rect">
                <a:avLst/>
              </a:prstGeom>
              <a:blipFill>
                <a:blip r:embed="rId3"/>
                <a:stretch>
                  <a:fillRect l="-14063" r="-3125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3DC2449D-4307-4501-90CB-8E9E1892BF32}"/>
                  </a:ext>
                </a:extLst>
              </p:cNvPr>
              <p:cNvSpPr txBox="1"/>
              <p:nvPr/>
            </p:nvSpPr>
            <p:spPr>
              <a:xfrm>
                <a:off x="4027511" y="4866685"/>
                <a:ext cx="297004" cy="199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𝑔𝑑𝑙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3DC2449D-4307-4501-90CB-8E9E1892B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511" y="4866685"/>
                <a:ext cx="297004" cy="199735"/>
              </a:xfrm>
              <a:prstGeom prst="rect">
                <a:avLst/>
              </a:prstGeom>
              <a:blipFill>
                <a:blip r:embed="rId4"/>
                <a:stretch>
                  <a:fillRect l="-8333" r="-8333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DBC4CD14-8C46-455C-9086-9FE8F877C5D9}"/>
                  </a:ext>
                </a:extLst>
              </p:cNvPr>
              <p:cNvSpPr txBox="1"/>
              <p:nvPr/>
            </p:nvSpPr>
            <p:spPr>
              <a:xfrm>
                <a:off x="4034756" y="4104218"/>
                <a:ext cx="2793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𝑚𝑐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DBC4CD14-8C46-455C-9086-9FE8F877C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4756" y="4104218"/>
                <a:ext cx="279307" cy="184666"/>
              </a:xfrm>
              <a:prstGeom prst="rect">
                <a:avLst/>
              </a:prstGeom>
              <a:blipFill>
                <a:blip r:embed="rId5"/>
                <a:stretch>
                  <a:fillRect l="-8696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8B1836FB-5579-42D5-9234-9D4ABBFA6E28}"/>
                  </a:ext>
                </a:extLst>
              </p:cNvPr>
              <p:cNvSpPr txBox="1"/>
              <p:nvPr/>
            </p:nvSpPr>
            <p:spPr>
              <a:xfrm>
                <a:off x="4074030" y="5179298"/>
                <a:ext cx="17350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8B1836FB-5579-42D5-9234-9D4ABBFA6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4030" y="5179298"/>
                <a:ext cx="173509" cy="184666"/>
              </a:xfrm>
              <a:prstGeom prst="rect">
                <a:avLst/>
              </a:prstGeom>
              <a:blipFill>
                <a:blip r:embed="rId6"/>
                <a:stretch>
                  <a:fillRect l="-10345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345A5BD-D15D-4649-ABCE-0998824A98E7}"/>
                  </a:ext>
                </a:extLst>
              </p:cNvPr>
              <p:cNvSpPr txBox="1"/>
              <p:nvPr/>
            </p:nvSpPr>
            <p:spPr>
              <a:xfrm>
                <a:off x="4098972" y="3838255"/>
                <a:ext cx="1091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345A5BD-D15D-4649-ABCE-0998824A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8972" y="3838255"/>
                <a:ext cx="109132" cy="184666"/>
              </a:xfrm>
              <a:prstGeom prst="rect">
                <a:avLst/>
              </a:prstGeom>
              <a:blipFill>
                <a:blip r:embed="rId7"/>
                <a:stretch>
                  <a:fillRect l="-16667" r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80A0C03C-D2E3-462A-BD1A-F09AA0A6400C}"/>
                  </a:ext>
                </a:extLst>
              </p:cNvPr>
              <p:cNvSpPr txBox="1"/>
              <p:nvPr/>
            </p:nvSpPr>
            <p:spPr>
              <a:xfrm>
                <a:off x="3968712" y="1965485"/>
                <a:ext cx="449034" cy="1994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80A0C03C-D2E3-462A-BD1A-F09AA0A6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712" y="1965485"/>
                <a:ext cx="449034" cy="199478"/>
              </a:xfrm>
              <a:prstGeom prst="rect">
                <a:avLst/>
              </a:prstGeom>
              <a:blipFill>
                <a:blip r:embed="rId8"/>
                <a:stretch>
                  <a:fillRect l="-8108" r="-540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C53949A9-A964-4687-A178-EF36799CA539}"/>
                  </a:ext>
                </a:extLst>
              </p:cNvPr>
              <p:cNvSpPr txBox="1"/>
              <p:nvPr/>
            </p:nvSpPr>
            <p:spPr>
              <a:xfrm>
                <a:off x="4045592" y="3306329"/>
                <a:ext cx="24929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𝑐𝑜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C53949A9-A964-4687-A178-EF36799CA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5592" y="3306329"/>
                <a:ext cx="249299" cy="184666"/>
              </a:xfrm>
              <a:prstGeom prst="rect">
                <a:avLst/>
              </a:prstGeom>
              <a:blipFill>
                <a:blip r:embed="rId9"/>
                <a:stretch>
                  <a:fillRect l="-9756" r="-2439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86D22166-D8EE-45CE-AEAB-0327F5B7230C}"/>
                  </a:ext>
                </a:extLst>
              </p:cNvPr>
              <p:cNvSpPr txBox="1"/>
              <p:nvPr/>
            </p:nvSpPr>
            <p:spPr>
              <a:xfrm>
                <a:off x="4070022" y="2242477"/>
                <a:ext cx="18473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86D22166-D8EE-45CE-AEAB-0327F5B72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0022" y="2242477"/>
                <a:ext cx="184731" cy="184666"/>
              </a:xfrm>
              <a:prstGeom prst="rect">
                <a:avLst/>
              </a:prstGeom>
              <a:blipFill>
                <a:blip r:embed="rId10"/>
                <a:stretch>
                  <a:fillRect l="-13333" r="-333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67333791-8F16-4277-93CB-DB857270FAD7}"/>
                  </a:ext>
                </a:extLst>
              </p:cNvPr>
              <p:cNvSpPr txBox="1"/>
              <p:nvPr/>
            </p:nvSpPr>
            <p:spPr>
              <a:xfrm>
                <a:off x="4031870" y="2774403"/>
                <a:ext cx="2870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𝑇𝑓𝑐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67333791-8F16-4277-93CB-DB857270F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1870" y="2774403"/>
                <a:ext cx="287002" cy="184666"/>
              </a:xfrm>
              <a:prstGeom prst="rect">
                <a:avLst/>
              </a:prstGeom>
              <a:blipFill>
                <a:blip r:embed="rId11"/>
                <a:stretch>
                  <a:fillRect l="-19149" t="-3333" r="-1914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5D349F7A-F390-47C7-B34B-9176C95479F3}"/>
                  </a:ext>
                </a:extLst>
              </p:cNvPr>
              <p:cNvSpPr txBox="1"/>
              <p:nvPr/>
            </p:nvSpPr>
            <p:spPr>
              <a:xfrm>
                <a:off x="4067938" y="3572292"/>
                <a:ext cx="19242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𝑆𝑐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5D349F7A-F390-47C7-B34B-9176C9547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7938" y="3572292"/>
                <a:ext cx="192425" cy="184666"/>
              </a:xfrm>
              <a:prstGeom prst="rect">
                <a:avLst/>
              </a:prstGeom>
              <a:blipFill>
                <a:blip r:embed="rId12"/>
                <a:stretch>
                  <a:fillRect l="-18750" r="-1562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E332D206-63C9-4E95-9E04-7DCB24EA1C8D}"/>
                  </a:ext>
                </a:extLst>
              </p:cNvPr>
              <p:cNvSpPr txBox="1"/>
              <p:nvPr/>
            </p:nvSpPr>
            <p:spPr>
              <a:xfrm>
                <a:off x="4047901" y="2508440"/>
                <a:ext cx="243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𝑖𝑓𝑐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E332D206-63C9-4E95-9E04-7DCB24EA1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7901" y="2508440"/>
                <a:ext cx="243721" cy="184666"/>
              </a:xfrm>
              <a:prstGeom prst="rect">
                <a:avLst/>
              </a:prstGeom>
              <a:blipFill>
                <a:blip r:embed="rId13"/>
                <a:stretch>
                  <a:fillRect l="-22500" t="-3226" r="-22500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E7BEED46-3B21-4B8F-AC25-C962244AF413}"/>
                  </a:ext>
                </a:extLst>
              </p:cNvPr>
              <p:cNvSpPr txBox="1"/>
              <p:nvPr/>
            </p:nvSpPr>
            <p:spPr>
              <a:xfrm>
                <a:off x="4096536" y="5445261"/>
                <a:ext cx="11560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E7BEED46-3B21-4B8F-AC25-C962244AF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536" y="5445261"/>
                <a:ext cx="115608" cy="184666"/>
              </a:xfrm>
              <a:prstGeom prst="rect">
                <a:avLst/>
              </a:prstGeom>
              <a:blipFill>
                <a:blip r:embed="rId14"/>
                <a:stretch>
                  <a:fillRect l="-15789" r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A1640CF-3047-4361-8CD2-8821BB2E0C29}"/>
                  </a:ext>
                </a:extLst>
              </p:cNvPr>
              <p:cNvSpPr txBox="1"/>
              <p:nvPr/>
            </p:nvSpPr>
            <p:spPr>
              <a:xfrm>
                <a:off x="4059667" y="4370181"/>
                <a:ext cx="2133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𝑅𝑒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A1640CF-3047-4361-8CD2-8821BB2E0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9667" y="4370181"/>
                <a:ext cx="213392" cy="184666"/>
              </a:xfrm>
              <a:prstGeom prst="rect">
                <a:avLst/>
              </a:prstGeom>
              <a:blipFill>
                <a:blip r:embed="rId15"/>
                <a:stretch>
                  <a:fillRect l="-17143" r="-1428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uadroTexto 28">
            <a:extLst>
              <a:ext uri="{FF2B5EF4-FFF2-40B4-BE49-F238E27FC236}">
                <a16:creationId xmlns:a16="http://schemas.microsoft.com/office/drawing/2014/main" id="{C3652E7E-118C-42FD-9A5E-0FB856AB167A}"/>
              </a:ext>
            </a:extLst>
          </p:cNvPr>
          <p:cNvSpPr txBox="1"/>
          <p:nvPr/>
        </p:nvSpPr>
        <p:spPr>
          <a:xfrm>
            <a:off x="4062039" y="5703218"/>
            <a:ext cx="7045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s-CO" sz="1200" err="1"/>
              <a:t>Sobol</a:t>
            </a:r>
            <a:r>
              <a:rPr lang="es-CO" sz="1200"/>
              <a:t> </a:t>
            </a:r>
            <a:r>
              <a:rPr lang="es-CO" sz="1200" err="1"/>
              <a:t>sensitivity</a:t>
            </a:r>
            <a:r>
              <a:rPr lang="es-CO" sz="1200"/>
              <a:t> </a:t>
            </a:r>
            <a:r>
              <a:rPr lang="es-CO" sz="1200" err="1"/>
              <a:t>indices</a:t>
            </a:r>
            <a:r>
              <a:rPr lang="es-CO" sz="1200"/>
              <a:t> </a:t>
            </a:r>
            <a:r>
              <a:rPr lang="es-CO" sz="1200" err="1"/>
              <a:t>for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Activation</a:t>
            </a:r>
            <a:r>
              <a:rPr lang="es-CO" sz="1200"/>
              <a:t> </a:t>
            </a:r>
            <a:r>
              <a:rPr lang="es-CO" sz="1200" err="1"/>
              <a:t>region</a:t>
            </a:r>
            <a:r>
              <a:rPr lang="es-CO" sz="1200"/>
              <a:t> </a:t>
            </a:r>
            <a:r>
              <a:rPr lang="es-CO" sz="1200" err="1"/>
              <a:t>based</a:t>
            </a:r>
            <a:r>
              <a:rPr lang="es-CO" sz="1200"/>
              <a:t> </a:t>
            </a:r>
            <a:r>
              <a:rPr lang="es-CO" sz="1200" err="1"/>
              <a:t>on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XGBoost</a:t>
            </a:r>
            <a:r>
              <a:rPr lang="es-CO" sz="1200"/>
              <a:t> </a:t>
            </a:r>
            <a:r>
              <a:rPr lang="es-CO" sz="1200" err="1"/>
              <a:t>model</a:t>
            </a:r>
            <a:r>
              <a:rPr lang="es-CO" sz="1200"/>
              <a:t>, </a:t>
            </a:r>
            <a:r>
              <a:rPr lang="es-CO" sz="1200" err="1"/>
              <a:t>showing</a:t>
            </a:r>
            <a:r>
              <a:rPr lang="es-CO" sz="1200"/>
              <a:t> </a:t>
            </a:r>
            <a:r>
              <a:rPr lang="es-CO" sz="1200" err="1"/>
              <a:t>first-order</a:t>
            </a:r>
            <a:r>
              <a:rPr lang="es-CO" sz="1200"/>
              <a:t> (S1), total-</a:t>
            </a:r>
            <a:r>
              <a:rPr lang="es-CO" sz="1200" err="1"/>
              <a:t>order</a:t>
            </a:r>
            <a:r>
              <a:rPr lang="es-CO" sz="1200"/>
              <a:t> (ST), and </a:t>
            </a:r>
            <a:r>
              <a:rPr lang="es-CO" sz="1200" err="1"/>
              <a:t>second-order</a:t>
            </a:r>
            <a:r>
              <a:rPr lang="es-CO" sz="1200"/>
              <a:t> (S2) </a:t>
            </a:r>
            <a:r>
              <a:rPr lang="es-CO" sz="1200" err="1"/>
              <a:t>effects</a:t>
            </a:r>
            <a:r>
              <a:rPr lang="es-CO" sz="1200"/>
              <a:t> </a:t>
            </a:r>
            <a:r>
              <a:rPr lang="es-CO" sz="1200" err="1"/>
              <a:t>with</a:t>
            </a:r>
            <a:r>
              <a:rPr lang="es-CO" sz="1200"/>
              <a:t> </a:t>
            </a:r>
            <a:r>
              <a:rPr lang="es-CO" sz="1200" err="1"/>
              <a:t>confidence</a:t>
            </a:r>
            <a:r>
              <a:rPr lang="es-CO" sz="1200"/>
              <a:t> </a:t>
            </a:r>
            <a:r>
              <a:rPr lang="es-CO" sz="1200" err="1"/>
              <a:t>intervals</a:t>
            </a:r>
            <a:r>
              <a:rPr lang="es-CO" sz="1200"/>
              <a:t>. </a:t>
            </a:r>
            <a:r>
              <a:rPr lang="es-CO" sz="1200" err="1"/>
              <a:t>Parameters</a:t>
            </a:r>
            <a:r>
              <a:rPr lang="es-CO" sz="1200"/>
              <a:t> i0_ref, </a:t>
            </a:r>
            <a:r>
              <a:rPr lang="es-CO" sz="1200" err="1"/>
              <a:t>κ_c</a:t>
            </a:r>
            <a:r>
              <a:rPr lang="es-CO" sz="1200"/>
              <a:t>, and </a:t>
            </a:r>
            <a:r>
              <a:rPr lang="es-CO" sz="1200" err="1"/>
              <a:t>ifc</a:t>
            </a:r>
            <a:r>
              <a:rPr lang="es-CO" sz="1200"/>
              <a:t> </a:t>
            </a:r>
            <a:r>
              <a:rPr lang="es-CO" sz="1200" err="1"/>
              <a:t>exhibit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highest</a:t>
            </a:r>
            <a:r>
              <a:rPr lang="es-CO" sz="1200"/>
              <a:t> </a:t>
            </a:r>
            <a:r>
              <a:rPr lang="es-CO" sz="1200" err="1"/>
              <a:t>influence</a:t>
            </a:r>
            <a:r>
              <a:rPr lang="es-CO" sz="1200"/>
              <a:t> </a:t>
            </a:r>
            <a:r>
              <a:rPr lang="es-CO" sz="1200" err="1"/>
              <a:t>on</a:t>
            </a:r>
            <a:r>
              <a:rPr lang="es-CO" sz="1200"/>
              <a:t> </a:t>
            </a:r>
            <a:r>
              <a:rPr lang="es-CO" sz="1200" err="1"/>
              <a:t>model</a:t>
            </a:r>
            <a:r>
              <a:rPr lang="es-CO" sz="1200"/>
              <a:t> output.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437A06D-0D20-CE3F-9B8F-920E681BF81E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BD582149-FD21-810B-9D2B-28196543EE0A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02E7FB59-9050-625A-529C-F2116027A0B2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C5B57691-3EB8-9A8A-316C-6063CD24DE49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990277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EF675-A3B6-443F-A291-A402B178BE10}"/>
              </a:ext>
            </a:extLst>
          </p:cNvPr>
          <p:cNvSpPr txBox="1"/>
          <p:nvPr/>
        </p:nvSpPr>
        <p:spPr>
          <a:xfrm>
            <a:off x="893443" y="1370254"/>
            <a:ext cx="32445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</a:p>
          <a:p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ST</a:t>
            </a:r>
            <a:endParaRPr lang="es-CO" sz="36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6630B0-2AF7-45BA-A028-A6EB132952DB}"/>
              </a:ext>
            </a:extLst>
          </p:cNvPr>
          <p:cNvSpPr txBox="1"/>
          <p:nvPr/>
        </p:nvSpPr>
        <p:spPr>
          <a:xfrm>
            <a:off x="893443" y="943947"/>
            <a:ext cx="2137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1" name="Google Shape;453;g36edeb4292e_1_43">
            <a:extLst>
              <a:ext uri="{FF2B5EF4-FFF2-40B4-BE49-F238E27FC236}">
                <a16:creationId xmlns:a16="http://schemas.microsoft.com/office/drawing/2014/main" id="{F2A4A3F0-A046-4B84-ACAE-67C7026FA800}"/>
              </a:ext>
            </a:extLst>
          </p:cNvPr>
          <p:cNvSpPr/>
          <p:nvPr/>
        </p:nvSpPr>
        <p:spPr>
          <a:xfrm>
            <a:off x="893443" y="2909918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BE55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Activation</a:t>
            </a:r>
            <a:endParaRPr sz="16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8CF9720-0724-4470-91C9-15B5321908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8195" y="943947"/>
            <a:ext cx="8557387" cy="5089575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752AB792-1AB4-4DC8-A1DE-A936E7BA5E88}"/>
              </a:ext>
            </a:extLst>
          </p:cNvPr>
          <p:cNvGrpSpPr/>
          <p:nvPr/>
        </p:nvGrpSpPr>
        <p:grpSpPr>
          <a:xfrm>
            <a:off x="11030630" y="1295490"/>
            <a:ext cx="569970" cy="2338575"/>
            <a:chOff x="10903308" y="1295490"/>
            <a:chExt cx="569970" cy="2338575"/>
          </a:xfrm>
        </p:grpSpPr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5ACB8813-EC56-4327-9560-7072AE81192F}"/>
                </a:ext>
              </a:extLst>
            </p:cNvPr>
            <p:cNvSpPr/>
            <p:nvPr/>
          </p:nvSpPr>
          <p:spPr>
            <a:xfrm>
              <a:off x="10903308" y="1329689"/>
              <a:ext cx="569970" cy="2277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267F1AB6-9D1B-40C9-9EBE-67663A7462C9}"/>
                    </a:ext>
                  </a:extLst>
                </p:cNvPr>
                <p:cNvSpPr txBox="1"/>
                <p:nvPr/>
              </p:nvSpPr>
              <p:spPr>
                <a:xfrm>
                  <a:off x="10982628" y="1972001"/>
                  <a:ext cx="30950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267F1AB6-9D1B-40C9-9EBE-67663A746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2628" y="1972001"/>
                  <a:ext cx="309508" cy="138499"/>
                </a:xfrm>
                <a:prstGeom prst="rect">
                  <a:avLst/>
                </a:prstGeom>
                <a:blipFill>
                  <a:blip r:embed="rId4"/>
                  <a:stretch>
                    <a:fillRect l="-9804" r="-3922" b="-173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AB0492B2-58E1-476D-BF0E-1CA2EABD299C}"/>
                    </a:ext>
                  </a:extLst>
                </p:cNvPr>
                <p:cNvSpPr txBox="1"/>
                <p:nvPr/>
              </p:nvSpPr>
              <p:spPr>
                <a:xfrm>
                  <a:off x="10958853" y="2992433"/>
                  <a:ext cx="29508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𝑐𝑑𝑒𝑠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AB0492B2-58E1-476D-BF0E-1CA2EABD2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8853" y="2992433"/>
                  <a:ext cx="295081" cy="138499"/>
                </a:xfrm>
                <a:prstGeom prst="rect">
                  <a:avLst/>
                </a:prstGeom>
                <a:blipFill>
                  <a:blip r:embed="rId5"/>
                  <a:stretch>
                    <a:fillRect l="-14583" r="-6250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64CD3A81-9ECD-4EBD-AF2D-380020380477}"/>
                    </a:ext>
                  </a:extLst>
                </p:cNvPr>
                <p:cNvSpPr txBox="1"/>
                <p:nvPr/>
              </p:nvSpPr>
              <p:spPr>
                <a:xfrm>
                  <a:off x="10975461" y="3307955"/>
                  <a:ext cx="223971" cy="149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𝑔𝑑𝑙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64CD3A81-9ECD-4EBD-AF2D-380020380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461" y="3307955"/>
                  <a:ext cx="223971" cy="149721"/>
                </a:xfrm>
                <a:prstGeom prst="rect">
                  <a:avLst/>
                </a:prstGeom>
                <a:blipFill>
                  <a:blip r:embed="rId6"/>
                  <a:stretch>
                    <a:fillRect l="-8108" r="-8108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6A9B451-F317-484B-BA14-5B4AFB975E40}"/>
                    </a:ext>
                  </a:extLst>
                </p:cNvPr>
                <p:cNvSpPr txBox="1"/>
                <p:nvPr/>
              </p:nvSpPr>
              <p:spPr>
                <a:xfrm>
                  <a:off x="10969483" y="2651111"/>
                  <a:ext cx="20948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𝑚𝑐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6A9B451-F317-484B-BA14-5B4AFB975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69483" y="2651111"/>
                  <a:ext cx="209480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857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C0E0F14F-FE71-472A-A1FE-F777F90E765D}"/>
                    </a:ext>
                  </a:extLst>
                </p:cNvPr>
                <p:cNvSpPr txBox="1"/>
                <p:nvPr/>
              </p:nvSpPr>
              <p:spPr>
                <a:xfrm>
                  <a:off x="10982307" y="3156200"/>
                  <a:ext cx="13093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C0E0F14F-FE71-472A-A1FE-F777F90E76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2307" y="3156200"/>
                  <a:ext cx="130933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3636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AD2952EC-CADE-4F6F-9CC4-3528A352EE0A}"/>
                    </a:ext>
                  </a:extLst>
                </p:cNvPr>
                <p:cNvSpPr txBox="1"/>
                <p:nvPr/>
              </p:nvSpPr>
              <p:spPr>
                <a:xfrm>
                  <a:off x="10982628" y="2481978"/>
                  <a:ext cx="8104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AD2952EC-CADE-4F6F-9CC4-3528A352E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2628" y="2481978"/>
                  <a:ext cx="81048" cy="138499"/>
                </a:xfrm>
                <a:prstGeom prst="rect">
                  <a:avLst/>
                </a:prstGeom>
                <a:blipFill>
                  <a:blip r:embed="rId9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FDD430FD-FAD3-4D96-AC7B-40B98DC8D104}"/>
                    </a:ext>
                  </a:extLst>
                </p:cNvPr>
                <p:cNvSpPr txBox="1"/>
                <p:nvPr/>
              </p:nvSpPr>
              <p:spPr>
                <a:xfrm>
                  <a:off x="10977941" y="1295490"/>
                  <a:ext cx="341568" cy="1495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FDD430FD-FAD3-4D96-AC7B-40B98DC8D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7941" y="1295490"/>
                  <a:ext cx="341568" cy="149528"/>
                </a:xfrm>
                <a:prstGeom prst="rect">
                  <a:avLst/>
                </a:prstGeom>
                <a:blipFill>
                  <a:blip r:embed="rId10"/>
                  <a:stretch>
                    <a:fillRect l="-8929" r="-3571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2E2185EB-023D-40C4-A168-047D7819C39A}"/>
                    </a:ext>
                  </a:extLst>
                </p:cNvPr>
                <p:cNvSpPr txBox="1"/>
                <p:nvPr/>
              </p:nvSpPr>
              <p:spPr>
                <a:xfrm>
                  <a:off x="10974445" y="2132213"/>
                  <a:ext cx="18780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2E2185EB-023D-40C4-A168-047D7819C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4445" y="2132213"/>
                  <a:ext cx="187808" cy="138499"/>
                </a:xfrm>
                <a:prstGeom prst="rect">
                  <a:avLst/>
                </a:prstGeom>
                <a:blipFill>
                  <a:blip r:embed="rId11"/>
                  <a:stretch>
                    <a:fillRect l="-9677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EDC03CC7-FD8A-4F95-884D-48FFC30DCCC0}"/>
                    </a:ext>
                  </a:extLst>
                </p:cNvPr>
                <p:cNvSpPr txBox="1"/>
                <p:nvPr/>
              </p:nvSpPr>
              <p:spPr>
                <a:xfrm>
                  <a:off x="10985815" y="1456336"/>
                  <a:ext cx="13894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EDC03CC7-FD8A-4F95-884D-48FFC30DC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5815" y="1456336"/>
                  <a:ext cx="138949" cy="138499"/>
                </a:xfrm>
                <a:prstGeom prst="rect">
                  <a:avLst/>
                </a:prstGeom>
                <a:blipFill>
                  <a:blip r:embed="rId12"/>
                  <a:stretch>
                    <a:fillRect l="-1304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A4E1F230-5736-42F9-A501-99EC2CB00ABB}"/>
                    </a:ext>
                  </a:extLst>
                </p:cNvPr>
                <p:cNvSpPr txBox="1"/>
                <p:nvPr/>
              </p:nvSpPr>
              <p:spPr>
                <a:xfrm>
                  <a:off x="10972575" y="1816764"/>
                  <a:ext cx="215252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𝑇𝑓𝑐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A4E1F230-5736-42F9-A501-99EC2CB00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2575" y="1816764"/>
                  <a:ext cx="215252" cy="138499"/>
                </a:xfrm>
                <a:prstGeom prst="rect">
                  <a:avLst/>
                </a:prstGeom>
                <a:blipFill>
                  <a:blip r:embed="rId13"/>
                  <a:stretch>
                    <a:fillRect l="-20000" r="-1714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232881F5-4525-42C8-BCFD-B9A0398006CA}"/>
                    </a:ext>
                  </a:extLst>
                </p:cNvPr>
                <p:cNvSpPr txBox="1"/>
                <p:nvPr/>
              </p:nvSpPr>
              <p:spPr>
                <a:xfrm>
                  <a:off x="10972575" y="2327009"/>
                  <a:ext cx="143116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𝑆𝑐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232881F5-4525-42C8-BCFD-B9A0398006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2575" y="2327009"/>
                  <a:ext cx="143116" cy="138499"/>
                </a:xfrm>
                <a:prstGeom prst="rect">
                  <a:avLst/>
                </a:prstGeom>
                <a:blipFill>
                  <a:blip r:embed="rId14"/>
                  <a:stretch>
                    <a:fillRect l="-21739" r="-21739" b="-1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346F945E-10A2-4DD2-A551-B041351A47EC}"/>
                    </a:ext>
                  </a:extLst>
                </p:cNvPr>
                <p:cNvSpPr txBox="1"/>
                <p:nvPr/>
              </p:nvSpPr>
              <p:spPr>
                <a:xfrm>
                  <a:off x="10982628" y="1644066"/>
                  <a:ext cx="18319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𝑖𝑓𝑐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346F945E-10A2-4DD2-A551-B041351A4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82628" y="1644066"/>
                  <a:ext cx="183191" cy="138499"/>
                </a:xfrm>
                <a:prstGeom prst="rect">
                  <a:avLst/>
                </a:prstGeom>
                <a:blipFill>
                  <a:blip r:embed="rId15"/>
                  <a:stretch>
                    <a:fillRect l="-22581" r="-16129" b="-4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67CF0A76-9260-48E6-A13E-9CA5AF30F0DA}"/>
                    </a:ext>
                  </a:extLst>
                </p:cNvPr>
                <p:cNvSpPr txBox="1"/>
                <p:nvPr/>
              </p:nvSpPr>
              <p:spPr>
                <a:xfrm>
                  <a:off x="10977755" y="3495566"/>
                  <a:ext cx="8592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67CF0A76-9260-48E6-A13E-9CA5AF30F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7755" y="3495566"/>
                  <a:ext cx="85921" cy="138499"/>
                </a:xfrm>
                <a:prstGeom prst="rect">
                  <a:avLst/>
                </a:prstGeom>
                <a:blipFill>
                  <a:blip r:embed="rId16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B1428FA-134B-476D-8F3C-678BE5C0E1E4}"/>
                    </a:ext>
                  </a:extLst>
                </p:cNvPr>
                <p:cNvSpPr txBox="1"/>
                <p:nvPr/>
              </p:nvSpPr>
              <p:spPr>
                <a:xfrm>
                  <a:off x="10973537" y="2824776"/>
                  <a:ext cx="15965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B1428FA-134B-476D-8F3C-678BE5C0E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3537" y="2824776"/>
                  <a:ext cx="159659" cy="138499"/>
                </a:xfrm>
                <a:prstGeom prst="rect">
                  <a:avLst/>
                </a:prstGeom>
                <a:blipFill>
                  <a:blip r:embed="rId17"/>
                  <a:stretch>
                    <a:fillRect l="-19231" r="-15385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80D9CC7-D777-45F3-A749-30B5C18B48F3}"/>
              </a:ext>
            </a:extLst>
          </p:cNvPr>
          <p:cNvSpPr txBox="1"/>
          <p:nvPr/>
        </p:nvSpPr>
        <p:spPr>
          <a:xfrm>
            <a:off x="907097" y="3429000"/>
            <a:ext cx="235829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/>
              <a:t>N = 8.192</a:t>
            </a:r>
          </a:p>
          <a:p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→ </a:t>
            </a:r>
            <a:r>
              <a:rPr kumimoji="0" lang="es-CO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245,760 </a:t>
            </a:r>
            <a:r>
              <a:rPr kumimoji="0" lang="es-CO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configurations</a:t>
            </a:r>
            <a:endParaRPr kumimoji="0" lang="es-CO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s-CO" sz="1400" b="1"/>
          </a:p>
          <a:p>
            <a:r>
              <a:rPr lang="es-CO" sz="1400"/>
              <a:t>Sum S1 = 0.9547</a:t>
            </a:r>
          </a:p>
          <a:p>
            <a:r>
              <a:rPr lang="es-CO" sz="1400"/>
              <a:t>Sum S2 = 0.0830</a:t>
            </a:r>
          </a:p>
          <a:p>
            <a:r>
              <a:rPr lang="es-CO" sz="1400"/>
              <a:t>Sum S1 + S2 = 1.0377</a:t>
            </a:r>
          </a:p>
          <a:p>
            <a:r>
              <a:rPr lang="es-CO" sz="1400"/>
              <a:t>Sum ST = 1.0665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CE4640A-1ED6-4C0F-8710-167B4A86E956}"/>
              </a:ext>
            </a:extLst>
          </p:cNvPr>
          <p:cNvSpPr txBox="1"/>
          <p:nvPr/>
        </p:nvSpPr>
        <p:spPr>
          <a:xfrm>
            <a:off x="4050510" y="5884952"/>
            <a:ext cx="6431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s-CO" sz="1200" err="1"/>
              <a:t>Convergence</a:t>
            </a:r>
            <a:r>
              <a:rPr lang="es-CO" sz="1200"/>
              <a:t> </a:t>
            </a:r>
            <a:r>
              <a:rPr lang="es-CO" sz="1200" err="1"/>
              <a:t>of</a:t>
            </a:r>
            <a:r>
              <a:rPr lang="es-CO" sz="1200"/>
              <a:t> total-</a:t>
            </a:r>
            <a:r>
              <a:rPr lang="es-CO" sz="1200" err="1"/>
              <a:t>order</a:t>
            </a:r>
            <a:r>
              <a:rPr lang="es-CO" sz="1200"/>
              <a:t> (ST) </a:t>
            </a:r>
            <a:r>
              <a:rPr lang="es-CO" sz="1200" err="1"/>
              <a:t>Sobol</a:t>
            </a:r>
            <a:r>
              <a:rPr lang="es-CO" sz="1200"/>
              <a:t> </a:t>
            </a:r>
            <a:r>
              <a:rPr lang="es-CO" sz="1200" err="1"/>
              <a:t>indices</a:t>
            </a:r>
            <a:r>
              <a:rPr lang="es-CO" sz="1200"/>
              <a:t> </a:t>
            </a:r>
            <a:r>
              <a:rPr lang="es-CO" sz="1200" err="1"/>
              <a:t>for</a:t>
            </a:r>
            <a:r>
              <a:rPr lang="es-CO" sz="1200"/>
              <a:t> </a:t>
            </a:r>
            <a:r>
              <a:rPr lang="es-CO" sz="1200" err="1"/>
              <a:t>features</a:t>
            </a:r>
            <a:r>
              <a:rPr lang="es-CO" sz="1200"/>
              <a:t> in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Activation</a:t>
            </a:r>
            <a:r>
              <a:rPr lang="es-CO" sz="1200"/>
              <a:t> </a:t>
            </a:r>
            <a:r>
              <a:rPr lang="es-CO" sz="1200" err="1"/>
              <a:t>region</a:t>
            </a:r>
            <a:r>
              <a:rPr lang="es-CO" sz="1200"/>
              <a:t> </a:t>
            </a:r>
            <a:r>
              <a:rPr lang="es-CO" sz="1200" err="1"/>
              <a:t>across</a:t>
            </a:r>
            <a:r>
              <a:rPr lang="es-CO" sz="1200"/>
              <a:t> </a:t>
            </a:r>
            <a:r>
              <a:rPr lang="es-CO" sz="1200" err="1"/>
              <a:t>increasing</a:t>
            </a:r>
            <a:r>
              <a:rPr lang="es-CO" sz="1200"/>
              <a:t> </a:t>
            </a:r>
            <a:r>
              <a:rPr lang="es-CO" sz="1200" err="1"/>
              <a:t>sample</a:t>
            </a:r>
            <a:r>
              <a:rPr lang="es-CO" sz="1200"/>
              <a:t> </a:t>
            </a:r>
            <a:r>
              <a:rPr lang="es-CO" sz="1200" err="1"/>
              <a:t>sizes</a:t>
            </a:r>
            <a:r>
              <a:rPr lang="es-CO" sz="1200"/>
              <a:t>.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indices</a:t>
            </a:r>
            <a:r>
              <a:rPr lang="es-CO" sz="1200"/>
              <a:t> </a:t>
            </a:r>
            <a:r>
              <a:rPr lang="es-CO" sz="1200" err="1"/>
              <a:t>stabilize</a:t>
            </a:r>
            <a:r>
              <a:rPr lang="es-CO" sz="1200"/>
              <a:t> as </a:t>
            </a:r>
            <a:r>
              <a:rPr lang="es-CO" sz="1200" err="1"/>
              <a:t>sample</a:t>
            </a:r>
            <a:r>
              <a:rPr lang="es-CO" sz="1200"/>
              <a:t> </a:t>
            </a:r>
            <a:r>
              <a:rPr lang="es-CO" sz="1200" err="1"/>
              <a:t>size</a:t>
            </a:r>
            <a:r>
              <a:rPr lang="es-CO" sz="1200"/>
              <a:t> </a:t>
            </a:r>
            <a:r>
              <a:rPr lang="es-CO" sz="1200" err="1"/>
              <a:t>grows</a:t>
            </a:r>
            <a:r>
              <a:rPr lang="es-CO" sz="1200"/>
              <a:t>, </a:t>
            </a:r>
            <a:r>
              <a:rPr lang="es-CO" sz="1200" err="1"/>
              <a:t>with</a:t>
            </a:r>
            <a:r>
              <a:rPr lang="es-CO" sz="1200"/>
              <a:t> i0'_c </a:t>
            </a:r>
            <a:r>
              <a:rPr lang="es-CO" sz="1200" err="1"/>
              <a:t>ref</a:t>
            </a:r>
            <a:r>
              <a:rPr lang="es-CO" sz="1200"/>
              <a:t>, </a:t>
            </a:r>
            <a:r>
              <a:rPr lang="es-CO" sz="1200" err="1"/>
              <a:t>κ_c</a:t>
            </a:r>
            <a:r>
              <a:rPr lang="es-CO" sz="1200"/>
              <a:t>, and </a:t>
            </a:r>
            <a:r>
              <a:rPr lang="es-CO" sz="1200" err="1"/>
              <a:t>ifc</a:t>
            </a:r>
            <a:r>
              <a:rPr lang="es-CO" sz="1200"/>
              <a:t> </a:t>
            </a:r>
            <a:r>
              <a:rPr lang="es-CO" sz="1200" err="1"/>
              <a:t>showing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highest</a:t>
            </a:r>
            <a:r>
              <a:rPr lang="es-CO" sz="1200"/>
              <a:t> total </a:t>
            </a:r>
            <a:r>
              <a:rPr lang="es-CO" sz="1200" err="1"/>
              <a:t>contributions</a:t>
            </a:r>
            <a:r>
              <a:rPr lang="es-CO" sz="1200"/>
              <a:t> </a:t>
            </a:r>
            <a:r>
              <a:rPr lang="es-CO" sz="1200" err="1"/>
              <a:t>to</a:t>
            </a:r>
            <a:r>
              <a:rPr lang="es-CO" sz="1200"/>
              <a:t> output </a:t>
            </a:r>
            <a:r>
              <a:rPr lang="es-CO" sz="1200" err="1"/>
              <a:t>variance</a:t>
            </a:r>
            <a:r>
              <a:rPr lang="es-CO" sz="1200"/>
              <a:t>.</a:t>
            </a: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47DDD6F4-B333-49EB-9B04-8DE969CD68B4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36FBED6C-E8FA-7120-ECFF-2B56292AEC4C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0" name="Rectángulo redondeado 9">
              <a:extLst>
                <a:ext uri="{FF2B5EF4-FFF2-40B4-BE49-F238E27FC236}">
                  <a16:creationId xmlns:a16="http://schemas.microsoft.com/office/drawing/2014/main" id="{40D92CC6-DF23-D752-B8C0-907D45569E74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0CDBFB51-264F-0BD1-E88E-E5BA99E76070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67486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95F39DA7-3ED0-4E6C-A3C1-0D9DF75DC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200" y="1828800"/>
            <a:ext cx="4029241" cy="34704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6DAE3EE-308F-41C1-8DDD-E9BBC20A0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9969" y="1828800"/>
            <a:ext cx="5431540" cy="33732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EF675-A3B6-443F-A291-A402B178BE10}"/>
              </a:ext>
            </a:extLst>
          </p:cNvPr>
          <p:cNvSpPr txBox="1"/>
          <p:nvPr/>
        </p:nvSpPr>
        <p:spPr>
          <a:xfrm>
            <a:off x="893443" y="1370254"/>
            <a:ext cx="32445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SHAP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</a:p>
          <a:p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Feature</a:t>
            </a:r>
          </a:p>
          <a:p>
            <a:r>
              <a:rPr lang="en-US" sz="28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Importance</a:t>
            </a:r>
            <a:endParaRPr lang="es-CO" sz="36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6630B0-2AF7-45BA-A028-A6EB132952DB}"/>
              </a:ext>
            </a:extLst>
          </p:cNvPr>
          <p:cNvSpPr txBox="1"/>
          <p:nvPr/>
        </p:nvSpPr>
        <p:spPr>
          <a:xfrm>
            <a:off x="893443" y="943947"/>
            <a:ext cx="2137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B092F93-DF71-4F57-B7EB-7DC3DD6F69F0}"/>
              </a:ext>
            </a:extLst>
          </p:cNvPr>
          <p:cNvSpPr txBox="1"/>
          <p:nvPr/>
        </p:nvSpPr>
        <p:spPr>
          <a:xfrm>
            <a:off x="9172914" y="1528722"/>
            <a:ext cx="1790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Summary</a:t>
            </a:r>
            <a:r>
              <a:rPr lang="es-CO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plot</a:t>
            </a:r>
            <a:r>
              <a:rPr lang="es-CO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E181DF9-5FFE-43A4-AE30-75F711D47CF4}"/>
              </a:ext>
            </a:extLst>
          </p:cNvPr>
          <p:cNvSpPr txBox="1"/>
          <p:nvPr/>
        </p:nvSpPr>
        <p:spPr>
          <a:xfrm>
            <a:off x="3942574" y="1528722"/>
            <a:ext cx="2784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Feature</a:t>
            </a:r>
            <a:r>
              <a:rPr lang="es-CO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importance</a:t>
            </a:r>
            <a:endParaRPr lang="es-CO" sz="20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36BCDFC-D00E-4F58-99B8-433C72DB0942}"/>
              </a:ext>
            </a:extLst>
          </p:cNvPr>
          <p:cNvGrpSpPr/>
          <p:nvPr/>
        </p:nvGrpSpPr>
        <p:grpSpPr>
          <a:xfrm>
            <a:off x="2688347" y="2124132"/>
            <a:ext cx="450147" cy="2630574"/>
            <a:chOff x="2342907" y="2124132"/>
            <a:chExt cx="450147" cy="2630574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B6F2F6E-D829-4E01-B66D-A2618AF1E2ED}"/>
                </a:ext>
              </a:extLst>
            </p:cNvPr>
            <p:cNvSpPr/>
            <p:nvPr/>
          </p:nvSpPr>
          <p:spPr>
            <a:xfrm>
              <a:off x="2342907" y="2124132"/>
              <a:ext cx="445008" cy="26305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B908A331-8854-4027-88FC-18854D73E7E0}"/>
                    </a:ext>
                  </a:extLst>
                </p:cNvPr>
                <p:cNvSpPr txBox="1"/>
                <p:nvPr/>
              </p:nvSpPr>
              <p:spPr>
                <a:xfrm>
                  <a:off x="2414810" y="2470198"/>
                  <a:ext cx="37824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B908A331-8854-4027-88FC-18854D73E7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4810" y="2470198"/>
                  <a:ext cx="378244" cy="169277"/>
                </a:xfrm>
                <a:prstGeom prst="rect">
                  <a:avLst/>
                </a:prstGeom>
                <a:blipFill>
                  <a:blip r:embed="rId4"/>
                  <a:stretch>
                    <a:fillRect l="-8065" r="-3226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C2E78934-9427-4745-A2A2-25EE4537F882}"/>
                    </a:ext>
                  </a:extLst>
                </p:cNvPr>
                <p:cNvSpPr txBox="1"/>
                <p:nvPr/>
              </p:nvSpPr>
              <p:spPr>
                <a:xfrm>
                  <a:off x="2434045" y="3571601"/>
                  <a:ext cx="35900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C2E78934-9427-4745-A2A2-25EE4537F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045" y="3571601"/>
                  <a:ext cx="359009" cy="169277"/>
                </a:xfrm>
                <a:prstGeom prst="rect">
                  <a:avLst/>
                </a:prstGeom>
                <a:blipFill>
                  <a:blip r:embed="rId5"/>
                  <a:stretch>
                    <a:fillRect l="-13559" r="-5085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98C3A9D2-B915-4A37-9FFC-E459717B2F5D}"/>
                    </a:ext>
                  </a:extLst>
                </p:cNvPr>
                <p:cNvSpPr txBox="1"/>
                <p:nvPr/>
              </p:nvSpPr>
              <p:spPr>
                <a:xfrm>
                  <a:off x="2522018" y="4137275"/>
                  <a:ext cx="271036" cy="182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𝑔𝑑𝑙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98C3A9D2-B915-4A37-9FFC-E459717B2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2018" y="4137275"/>
                  <a:ext cx="271036" cy="182999"/>
                </a:xfrm>
                <a:prstGeom prst="rect">
                  <a:avLst/>
                </a:prstGeom>
                <a:blipFill>
                  <a:blip r:embed="rId6"/>
                  <a:stretch>
                    <a:fillRect l="-6667" r="-8889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EA047C54-2BFC-4269-B72B-64770B085F3A}"/>
                    </a:ext>
                  </a:extLst>
                </p:cNvPr>
                <p:cNvSpPr txBox="1"/>
                <p:nvPr/>
              </p:nvSpPr>
              <p:spPr>
                <a:xfrm>
                  <a:off x="2538689" y="3389126"/>
                  <a:ext cx="25436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𝑚𝑐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EA047C54-2BFC-4269-B72B-64770B085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8689" y="3389126"/>
                  <a:ext cx="254365" cy="169277"/>
                </a:xfrm>
                <a:prstGeom prst="rect">
                  <a:avLst/>
                </a:prstGeom>
                <a:blipFill>
                  <a:blip r:embed="rId7"/>
                  <a:stretch>
                    <a:fillRect l="-7143" r="-238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1F186997-7A23-4123-A3CB-D6C213AD4F26}"/>
                    </a:ext>
                  </a:extLst>
                </p:cNvPr>
                <p:cNvSpPr txBox="1"/>
                <p:nvPr/>
              </p:nvSpPr>
              <p:spPr>
                <a:xfrm>
                  <a:off x="2634870" y="4346286"/>
                  <a:ext cx="15818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1F186997-7A23-4123-A3CB-D6C213AD4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4870" y="4346286"/>
                  <a:ext cx="158184" cy="169277"/>
                </a:xfrm>
                <a:prstGeom prst="rect">
                  <a:avLst/>
                </a:prstGeom>
                <a:blipFill>
                  <a:blip r:embed="rId8"/>
                  <a:stretch>
                    <a:fillRect l="-11538" r="-3846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C3FBBE94-2EBD-4D55-A3DA-69DB50558D58}"/>
                    </a:ext>
                  </a:extLst>
                </p:cNvPr>
                <p:cNvSpPr txBox="1"/>
                <p:nvPr/>
              </p:nvSpPr>
              <p:spPr>
                <a:xfrm>
                  <a:off x="2693860" y="3253317"/>
                  <a:ext cx="991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C3FBBE94-2EBD-4D55-A3DA-69DB50558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860" y="3253317"/>
                  <a:ext cx="99194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18750" r="-25000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7844387A-917F-4DF1-906B-CBD12FDD79B4}"/>
                    </a:ext>
                  </a:extLst>
                </p:cNvPr>
                <p:cNvSpPr txBox="1"/>
                <p:nvPr/>
              </p:nvSpPr>
              <p:spPr>
                <a:xfrm>
                  <a:off x="2378838" y="2286946"/>
                  <a:ext cx="414216" cy="1828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7844387A-917F-4DF1-906B-CBD12FDD79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8838" y="2286946"/>
                  <a:ext cx="414216" cy="182807"/>
                </a:xfrm>
                <a:prstGeom prst="rect">
                  <a:avLst/>
                </a:prstGeom>
                <a:blipFill>
                  <a:blip r:embed="rId10"/>
                  <a:stretch>
                    <a:fillRect l="-7353" r="-5882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6E725AAF-99FF-4746-98A3-982708322466}"/>
                    </a:ext>
                  </a:extLst>
                </p:cNvPr>
                <p:cNvSpPr txBox="1"/>
                <p:nvPr/>
              </p:nvSpPr>
              <p:spPr>
                <a:xfrm>
                  <a:off x="2563760" y="3941783"/>
                  <a:ext cx="2292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6E725AAF-99FF-4746-98A3-982708322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3760" y="3941783"/>
                  <a:ext cx="229294" cy="169277"/>
                </a:xfrm>
                <a:prstGeom prst="rect">
                  <a:avLst/>
                </a:prstGeom>
                <a:blipFill>
                  <a:blip r:embed="rId11"/>
                  <a:stretch>
                    <a:fillRect l="-7895" r="-2632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5C2ABCF1-AFED-4F1D-B366-8AB53FD606C2}"/>
                    </a:ext>
                  </a:extLst>
                </p:cNvPr>
                <p:cNvSpPr txBox="1"/>
                <p:nvPr/>
              </p:nvSpPr>
              <p:spPr>
                <a:xfrm>
                  <a:off x="2623649" y="2843893"/>
                  <a:ext cx="16940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5C2ABCF1-AFED-4F1D-B366-8AB53FD60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3649" y="2843893"/>
                  <a:ext cx="169405" cy="169277"/>
                </a:xfrm>
                <a:prstGeom prst="rect">
                  <a:avLst/>
                </a:prstGeom>
                <a:blipFill>
                  <a:blip r:embed="rId12"/>
                  <a:stretch>
                    <a:fillRect l="-10714" r="-3571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E5AF79C3-C541-4F09-8271-A56131A158D9}"/>
                    </a:ext>
                  </a:extLst>
                </p:cNvPr>
                <p:cNvSpPr txBox="1"/>
                <p:nvPr/>
              </p:nvSpPr>
              <p:spPr>
                <a:xfrm>
                  <a:off x="2532085" y="2697814"/>
                  <a:ext cx="26096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𝑇𝑓𝑐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E5AF79C3-C541-4F09-8271-A56131A15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085" y="2697814"/>
                  <a:ext cx="260969" cy="169277"/>
                </a:xfrm>
                <a:prstGeom prst="rect">
                  <a:avLst/>
                </a:prstGeom>
                <a:blipFill>
                  <a:blip r:embed="rId13"/>
                  <a:stretch>
                    <a:fillRect l="-18605" r="-18605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7DED916-00D3-4253-9146-63A3520EECCD}"/>
                    </a:ext>
                  </a:extLst>
                </p:cNvPr>
                <p:cNvSpPr txBox="1"/>
                <p:nvPr/>
              </p:nvSpPr>
              <p:spPr>
                <a:xfrm>
                  <a:off x="2617044" y="3820408"/>
                  <a:ext cx="17601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𝑆𝑐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7DED916-00D3-4253-9146-63A3520EE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044" y="3820408"/>
                  <a:ext cx="176010" cy="169277"/>
                </a:xfrm>
                <a:prstGeom prst="rect">
                  <a:avLst/>
                </a:prstGeom>
                <a:blipFill>
                  <a:blip r:embed="rId14"/>
                  <a:stretch>
                    <a:fillRect l="-17241" r="-17241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5D2FD654-FB3F-49E2-AED6-3EFF05D53AF9}"/>
                    </a:ext>
                  </a:extLst>
                </p:cNvPr>
                <p:cNvSpPr txBox="1"/>
                <p:nvPr/>
              </p:nvSpPr>
              <p:spPr>
                <a:xfrm>
                  <a:off x="2570557" y="2153736"/>
                  <a:ext cx="222497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𝑖𝑓𝑐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5D2FD654-FB3F-49E2-AED6-3EFF05D53A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557" y="2153736"/>
                  <a:ext cx="222497" cy="169277"/>
                </a:xfrm>
                <a:prstGeom prst="rect">
                  <a:avLst/>
                </a:prstGeom>
                <a:blipFill>
                  <a:blip r:embed="rId15"/>
                  <a:stretch>
                    <a:fillRect l="-21622" r="-21622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97D895B1-66FF-4C17-A446-78FBDA4490F1}"/>
                    </a:ext>
                  </a:extLst>
                </p:cNvPr>
                <p:cNvSpPr txBox="1"/>
                <p:nvPr/>
              </p:nvSpPr>
              <p:spPr>
                <a:xfrm>
                  <a:off x="2687384" y="4554275"/>
                  <a:ext cx="10567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97D895B1-66FF-4C17-A446-78FBDA449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7384" y="4554275"/>
                  <a:ext cx="105670" cy="169277"/>
                </a:xfrm>
                <a:prstGeom prst="rect">
                  <a:avLst/>
                </a:prstGeom>
                <a:blipFill>
                  <a:blip r:embed="rId16"/>
                  <a:stretch>
                    <a:fillRect l="-17647" r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8CDD01DE-87CA-4754-9495-1958870F20B7}"/>
                    </a:ext>
                  </a:extLst>
                </p:cNvPr>
                <p:cNvSpPr txBox="1"/>
                <p:nvPr/>
              </p:nvSpPr>
              <p:spPr>
                <a:xfrm>
                  <a:off x="2597616" y="3069342"/>
                  <a:ext cx="19543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8CDD01DE-87CA-4754-9495-1958870F2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7616" y="3069342"/>
                  <a:ext cx="195438" cy="169277"/>
                </a:xfrm>
                <a:prstGeom prst="rect">
                  <a:avLst/>
                </a:prstGeom>
                <a:blipFill>
                  <a:blip r:embed="rId17"/>
                  <a:stretch>
                    <a:fillRect l="-15625" r="-15625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1" name="Google Shape;453;g36edeb4292e_1_43">
            <a:extLst>
              <a:ext uri="{FF2B5EF4-FFF2-40B4-BE49-F238E27FC236}">
                <a16:creationId xmlns:a16="http://schemas.microsoft.com/office/drawing/2014/main" id="{0EFE991A-ABA7-47BC-B01E-10C5E809DEDF}"/>
              </a:ext>
            </a:extLst>
          </p:cNvPr>
          <p:cNvSpPr/>
          <p:nvPr/>
        </p:nvSpPr>
        <p:spPr>
          <a:xfrm>
            <a:off x="892800" y="2908800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27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Ohmic</a:t>
            </a:r>
            <a:endParaRPr sz="1600" b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71F9AF2-44F0-445C-91F2-F3A3E7B34443}"/>
              </a:ext>
            </a:extLst>
          </p:cNvPr>
          <p:cNvSpPr txBox="1"/>
          <p:nvPr/>
        </p:nvSpPr>
        <p:spPr>
          <a:xfrm>
            <a:off x="2997816" y="5136732"/>
            <a:ext cx="46758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n-US" sz="1200"/>
              <a:t>SHAP feature importance ranking based on the </a:t>
            </a:r>
            <a:r>
              <a:rPr lang="en-US" sz="1200" err="1"/>
              <a:t>XGBoost</a:t>
            </a:r>
            <a:r>
              <a:rPr lang="en-US" sz="1200"/>
              <a:t> model, showing the top contributors to the output in the Ohmic region.</a:t>
            </a:r>
            <a:endParaRPr lang="es-CO" sz="120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3896E080-0E53-48E4-B458-F980106CCA52}"/>
              </a:ext>
            </a:extLst>
          </p:cNvPr>
          <p:cNvSpPr txBox="1"/>
          <p:nvPr/>
        </p:nvSpPr>
        <p:spPr>
          <a:xfrm>
            <a:off x="8265189" y="5315905"/>
            <a:ext cx="36055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n-US" sz="1200"/>
              <a:t>SHAP summary plot showing feature impact on the </a:t>
            </a:r>
            <a:r>
              <a:rPr lang="en-US" sz="1200" err="1"/>
              <a:t>XGBoost</a:t>
            </a:r>
            <a:r>
              <a:rPr lang="en-US" sz="1200"/>
              <a:t> model for the Ohmic region. Color indicates feature value; horizontal spread reflects influence.</a:t>
            </a:r>
            <a:endParaRPr lang="es-CO" sz="1200"/>
          </a:p>
          <a:p>
            <a:endParaRPr lang="es-CO" sz="1200"/>
          </a:p>
        </p:txBody>
      </p:sp>
      <p:grpSp>
        <p:nvGrpSpPr>
          <p:cNvPr id="69" name="Grupo 68">
            <a:extLst>
              <a:ext uri="{FF2B5EF4-FFF2-40B4-BE49-F238E27FC236}">
                <a16:creationId xmlns:a16="http://schemas.microsoft.com/office/drawing/2014/main" id="{6690D451-C1B7-4DED-AE73-9401828F3A86}"/>
              </a:ext>
            </a:extLst>
          </p:cNvPr>
          <p:cNvGrpSpPr/>
          <p:nvPr/>
        </p:nvGrpSpPr>
        <p:grpSpPr>
          <a:xfrm>
            <a:off x="8114875" y="2014782"/>
            <a:ext cx="450147" cy="2973778"/>
            <a:chOff x="2342907" y="2124132"/>
            <a:chExt cx="450147" cy="2973778"/>
          </a:xfrm>
        </p:grpSpPr>
        <p:sp>
          <p:nvSpPr>
            <p:cNvPr id="70" name="Rectángulo 69">
              <a:extLst>
                <a:ext uri="{FF2B5EF4-FFF2-40B4-BE49-F238E27FC236}">
                  <a16:creationId xmlns:a16="http://schemas.microsoft.com/office/drawing/2014/main" id="{33BF5018-203D-4841-AB26-C96F5BAD9D12}"/>
                </a:ext>
              </a:extLst>
            </p:cNvPr>
            <p:cNvSpPr/>
            <p:nvPr/>
          </p:nvSpPr>
          <p:spPr>
            <a:xfrm>
              <a:off x="2342907" y="2124132"/>
              <a:ext cx="445008" cy="297377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2B0FC92E-A682-492D-B7B4-9A20EB0D14A2}"/>
                    </a:ext>
                  </a:extLst>
                </p:cNvPr>
                <p:cNvSpPr txBox="1"/>
                <p:nvPr/>
              </p:nvSpPr>
              <p:spPr>
                <a:xfrm>
                  <a:off x="2414810" y="2510838"/>
                  <a:ext cx="37824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2B0FC92E-A682-492D-B7B4-9A20EB0D1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4810" y="2510838"/>
                  <a:ext cx="378244" cy="169277"/>
                </a:xfrm>
                <a:prstGeom prst="rect">
                  <a:avLst/>
                </a:prstGeom>
                <a:blipFill>
                  <a:blip r:embed="rId4"/>
                  <a:stretch>
                    <a:fillRect l="-8065" r="-3226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2B79C0DB-9C32-4493-A91C-DE4521312620}"/>
                    </a:ext>
                  </a:extLst>
                </p:cNvPr>
                <p:cNvSpPr txBox="1"/>
                <p:nvPr/>
              </p:nvSpPr>
              <p:spPr>
                <a:xfrm>
                  <a:off x="2434045" y="3729081"/>
                  <a:ext cx="35900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2B79C0DB-9C32-4493-A91C-DE452131262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045" y="3729081"/>
                  <a:ext cx="359009" cy="169277"/>
                </a:xfrm>
                <a:prstGeom prst="rect">
                  <a:avLst/>
                </a:prstGeom>
                <a:blipFill>
                  <a:blip r:embed="rId5"/>
                  <a:stretch>
                    <a:fillRect l="-13559" r="-5085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F77250B0-B8D9-4311-A169-B7CBE14280EA}"/>
                    </a:ext>
                  </a:extLst>
                </p:cNvPr>
                <p:cNvSpPr txBox="1"/>
                <p:nvPr/>
              </p:nvSpPr>
              <p:spPr>
                <a:xfrm>
                  <a:off x="2522018" y="4345555"/>
                  <a:ext cx="271036" cy="182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𝑔𝑑𝑙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F77250B0-B8D9-4311-A169-B7CBE14280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2018" y="4345555"/>
                  <a:ext cx="271036" cy="182999"/>
                </a:xfrm>
                <a:prstGeom prst="rect">
                  <a:avLst/>
                </a:prstGeom>
                <a:blipFill>
                  <a:blip r:embed="rId6"/>
                  <a:stretch>
                    <a:fillRect l="-6818" r="-11364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3E2504CF-2EA0-4475-AB66-63B38CDDB0F7}"/>
                    </a:ext>
                  </a:extLst>
                </p:cNvPr>
                <p:cNvSpPr txBox="1"/>
                <p:nvPr/>
              </p:nvSpPr>
              <p:spPr>
                <a:xfrm>
                  <a:off x="2538689" y="3521206"/>
                  <a:ext cx="25436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𝑚𝑐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3E2504CF-2EA0-4475-AB66-63B38CDDB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8689" y="3521206"/>
                  <a:ext cx="254365" cy="169277"/>
                </a:xfrm>
                <a:prstGeom prst="rect">
                  <a:avLst/>
                </a:prstGeom>
                <a:blipFill>
                  <a:blip r:embed="rId7"/>
                  <a:stretch>
                    <a:fillRect l="-7143" r="-2381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A7E70C11-8029-4C79-AA49-C43A28982FB0}"/>
                    </a:ext>
                  </a:extLst>
                </p:cNvPr>
                <p:cNvSpPr txBox="1"/>
                <p:nvPr/>
              </p:nvSpPr>
              <p:spPr>
                <a:xfrm>
                  <a:off x="2634870" y="4554566"/>
                  <a:ext cx="15818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A7E70C11-8029-4C79-AA49-C43A28982F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4870" y="4554566"/>
                  <a:ext cx="158184" cy="169277"/>
                </a:xfrm>
                <a:prstGeom prst="rect">
                  <a:avLst/>
                </a:prstGeom>
                <a:blipFill>
                  <a:blip r:embed="rId18"/>
                  <a:stretch>
                    <a:fillRect l="-11538" r="-7692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4A7BBF78-8FC3-4F9F-AF5B-E0B8AD6B2190}"/>
                    </a:ext>
                  </a:extLst>
                </p:cNvPr>
                <p:cNvSpPr txBox="1"/>
                <p:nvPr/>
              </p:nvSpPr>
              <p:spPr>
                <a:xfrm>
                  <a:off x="2693860" y="3339677"/>
                  <a:ext cx="991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4A7BBF78-8FC3-4F9F-AF5B-E0B8AD6B219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860" y="3339677"/>
                  <a:ext cx="99194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18750" r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9CC4E2E9-34C2-4D9B-9CE4-385A9E38ECA5}"/>
                    </a:ext>
                  </a:extLst>
                </p:cNvPr>
                <p:cNvSpPr txBox="1"/>
                <p:nvPr/>
              </p:nvSpPr>
              <p:spPr>
                <a:xfrm>
                  <a:off x="2378838" y="2302186"/>
                  <a:ext cx="414216" cy="1828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9CC4E2E9-34C2-4D9B-9CE4-385A9E38EC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8838" y="2302186"/>
                  <a:ext cx="414216" cy="182807"/>
                </a:xfrm>
                <a:prstGeom prst="rect">
                  <a:avLst/>
                </a:prstGeom>
                <a:blipFill>
                  <a:blip r:embed="rId10"/>
                  <a:stretch>
                    <a:fillRect l="-7353" r="-5882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5F500BD2-E6A8-441A-A25D-1569D4FD4740}"/>
                    </a:ext>
                  </a:extLst>
                </p:cNvPr>
                <p:cNvSpPr txBox="1"/>
                <p:nvPr/>
              </p:nvSpPr>
              <p:spPr>
                <a:xfrm>
                  <a:off x="2563760" y="4150063"/>
                  <a:ext cx="2292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5F500BD2-E6A8-441A-A25D-1569D4FD47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3760" y="4150063"/>
                  <a:ext cx="229294" cy="169277"/>
                </a:xfrm>
                <a:prstGeom prst="rect">
                  <a:avLst/>
                </a:prstGeom>
                <a:blipFill>
                  <a:blip r:embed="rId11"/>
                  <a:stretch>
                    <a:fillRect l="-7895" r="-2632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CuadroTexto 78">
                  <a:extLst>
                    <a:ext uri="{FF2B5EF4-FFF2-40B4-BE49-F238E27FC236}">
                      <a16:creationId xmlns:a16="http://schemas.microsoft.com/office/drawing/2014/main" id="{FAF9C2EB-76DE-4B4C-A324-B95B5DC8FB36}"/>
                    </a:ext>
                  </a:extLst>
                </p:cNvPr>
                <p:cNvSpPr txBox="1"/>
                <p:nvPr/>
              </p:nvSpPr>
              <p:spPr>
                <a:xfrm>
                  <a:off x="2623649" y="2920093"/>
                  <a:ext cx="16940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9" name="CuadroTexto 78">
                  <a:extLst>
                    <a:ext uri="{FF2B5EF4-FFF2-40B4-BE49-F238E27FC236}">
                      <a16:creationId xmlns:a16="http://schemas.microsoft.com/office/drawing/2014/main" id="{FAF9C2EB-76DE-4B4C-A324-B95B5DC8FB3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3649" y="2920093"/>
                  <a:ext cx="169405" cy="169277"/>
                </a:xfrm>
                <a:prstGeom prst="rect">
                  <a:avLst/>
                </a:prstGeom>
                <a:blipFill>
                  <a:blip r:embed="rId19"/>
                  <a:stretch>
                    <a:fillRect l="-10714" r="-3571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uadroTexto 79">
                  <a:extLst>
                    <a:ext uri="{FF2B5EF4-FFF2-40B4-BE49-F238E27FC236}">
                      <a16:creationId xmlns:a16="http://schemas.microsoft.com/office/drawing/2014/main" id="{BCE2370F-8963-4F35-81E6-09984B538B71}"/>
                    </a:ext>
                  </a:extLst>
                </p:cNvPr>
                <p:cNvSpPr txBox="1"/>
                <p:nvPr/>
              </p:nvSpPr>
              <p:spPr>
                <a:xfrm>
                  <a:off x="2532085" y="2733374"/>
                  <a:ext cx="26096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𝑇𝑓𝑐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80" name="CuadroTexto 79">
                  <a:extLst>
                    <a:ext uri="{FF2B5EF4-FFF2-40B4-BE49-F238E27FC236}">
                      <a16:creationId xmlns:a16="http://schemas.microsoft.com/office/drawing/2014/main" id="{BCE2370F-8963-4F35-81E6-09984B538B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085" y="2733374"/>
                  <a:ext cx="260969" cy="169277"/>
                </a:xfrm>
                <a:prstGeom prst="rect">
                  <a:avLst/>
                </a:prstGeom>
                <a:blipFill>
                  <a:blip r:embed="rId13"/>
                  <a:stretch>
                    <a:fillRect l="-18605" r="-18605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1F68B1B0-4705-407D-88E6-5EC328B697EA}"/>
                    </a:ext>
                  </a:extLst>
                </p:cNvPr>
                <p:cNvSpPr txBox="1"/>
                <p:nvPr/>
              </p:nvSpPr>
              <p:spPr>
                <a:xfrm>
                  <a:off x="2617044" y="3967728"/>
                  <a:ext cx="17601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𝑆𝑐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81" name="CuadroTexto 80">
                  <a:extLst>
                    <a:ext uri="{FF2B5EF4-FFF2-40B4-BE49-F238E27FC236}">
                      <a16:creationId xmlns:a16="http://schemas.microsoft.com/office/drawing/2014/main" id="{1F68B1B0-4705-407D-88E6-5EC328B697E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044" y="3967728"/>
                  <a:ext cx="176010" cy="169277"/>
                </a:xfrm>
                <a:prstGeom prst="rect">
                  <a:avLst/>
                </a:prstGeom>
                <a:blipFill>
                  <a:blip r:embed="rId14"/>
                  <a:stretch>
                    <a:fillRect l="-17241" r="-17241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F5A3AD49-57E3-4ABD-B1E5-BADF0B87261D}"/>
                    </a:ext>
                  </a:extLst>
                </p:cNvPr>
                <p:cNvSpPr txBox="1"/>
                <p:nvPr/>
              </p:nvSpPr>
              <p:spPr>
                <a:xfrm>
                  <a:off x="2570557" y="2153736"/>
                  <a:ext cx="222497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𝑖𝑓𝑐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F5A3AD49-57E3-4ABD-B1E5-BADF0B8726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557" y="2153736"/>
                  <a:ext cx="222497" cy="169277"/>
                </a:xfrm>
                <a:prstGeom prst="rect">
                  <a:avLst/>
                </a:prstGeom>
                <a:blipFill>
                  <a:blip r:embed="rId15"/>
                  <a:stretch>
                    <a:fillRect l="-22222" r="-25000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D27FA1C1-A0A7-4AE0-A174-1318259ED40C}"/>
                    </a:ext>
                  </a:extLst>
                </p:cNvPr>
                <p:cNvSpPr txBox="1"/>
                <p:nvPr/>
              </p:nvSpPr>
              <p:spPr>
                <a:xfrm>
                  <a:off x="2687384" y="4762555"/>
                  <a:ext cx="10567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83" name="CuadroTexto 82">
                  <a:extLst>
                    <a:ext uri="{FF2B5EF4-FFF2-40B4-BE49-F238E27FC236}">
                      <a16:creationId xmlns:a16="http://schemas.microsoft.com/office/drawing/2014/main" id="{D27FA1C1-A0A7-4AE0-A174-1318259ED4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7384" y="4762555"/>
                  <a:ext cx="105670" cy="169277"/>
                </a:xfrm>
                <a:prstGeom prst="rect">
                  <a:avLst/>
                </a:prstGeom>
                <a:blipFill>
                  <a:blip r:embed="rId16"/>
                  <a:stretch>
                    <a:fillRect l="-17647" r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AE5A6338-6FE0-49BC-8A6A-9C0BDEFC9EBC}"/>
                    </a:ext>
                  </a:extLst>
                </p:cNvPr>
                <p:cNvSpPr txBox="1"/>
                <p:nvPr/>
              </p:nvSpPr>
              <p:spPr>
                <a:xfrm>
                  <a:off x="2597616" y="3135382"/>
                  <a:ext cx="19543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84" name="CuadroTexto 83">
                  <a:extLst>
                    <a:ext uri="{FF2B5EF4-FFF2-40B4-BE49-F238E27FC236}">
                      <a16:creationId xmlns:a16="http://schemas.microsoft.com/office/drawing/2014/main" id="{AE5A6338-6FE0-49BC-8A6A-9C0BDEFC9E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7616" y="3135382"/>
                  <a:ext cx="195438" cy="169277"/>
                </a:xfrm>
                <a:prstGeom prst="rect">
                  <a:avLst/>
                </a:prstGeom>
                <a:blipFill>
                  <a:blip r:embed="rId17"/>
                  <a:stretch>
                    <a:fillRect l="-15625" r="-15625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C875559D-2E92-5596-1C34-EB049D317E14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D7DBD27-408E-835D-0140-389A3BB00824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0" name="Rectángulo redondeado 9">
              <a:extLst>
                <a:ext uri="{FF2B5EF4-FFF2-40B4-BE49-F238E27FC236}">
                  <a16:creationId xmlns:a16="http://schemas.microsoft.com/office/drawing/2014/main" id="{0F63F25E-65AE-AD68-494D-07968F558AD7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99CFD556-0256-72A2-7B48-1B749F44F4A4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325205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EF675-A3B6-443F-A291-A402B178BE10}"/>
              </a:ext>
            </a:extLst>
          </p:cNvPr>
          <p:cNvSpPr txBox="1"/>
          <p:nvPr/>
        </p:nvSpPr>
        <p:spPr>
          <a:xfrm>
            <a:off x="893443" y="1370254"/>
            <a:ext cx="3244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6630B0-2AF7-45BA-A028-A6EB132952DB}"/>
              </a:ext>
            </a:extLst>
          </p:cNvPr>
          <p:cNvSpPr txBox="1"/>
          <p:nvPr/>
        </p:nvSpPr>
        <p:spPr>
          <a:xfrm>
            <a:off x="893443" y="943947"/>
            <a:ext cx="2137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80D9CC7-D777-45F3-A749-30B5C18B48F3}"/>
              </a:ext>
            </a:extLst>
          </p:cNvPr>
          <p:cNvSpPr txBox="1"/>
          <p:nvPr/>
        </p:nvSpPr>
        <p:spPr>
          <a:xfrm>
            <a:off x="907097" y="3429000"/>
            <a:ext cx="235829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/>
              <a:t>N = 8.192</a:t>
            </a:r>
          </a:p>
          <a:p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→ </a:t>
            </a:r>
            <a:r>
              <a:rPr kumimoji="0" lang="es-CO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245,760 </a:t>
            </a:r>
            <a:r>
              <a:rPr kumimoji="0" lang="es-CO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configurations</a:t>
            </a:r>
            <a:endParaRPr kumimoji="0" lang="es-CO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s-CO" sz="1400" b="1"/>
          </a:p>
          <a:p>
            <a:r>
              <a:rPr lang="es-CO" sz="1400"/>
              <a:t>Sum S1 = 0.9464</a:t>
            </a:r>
          </a:p>
          <a:p>
            <a:r>
              <a:rPr lang="es-CO" sz="1400"/>
              <a:t>Sum S2 = 0.0675</a:t>
            </a:r>
          </a:p>
          <a:p>
            <a:r>
              <a:rPr lang="es-CO" sz="1400"/>
              <a:t>Sum S1 + S2 = 1.0139 </a:t>
            </a:r>
          </a:p>
          <a:p>
            <a:r>
              <a:rPr lang="es-CO" sz="1400"/>
              <a:t>Sum ST = 1.0799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CDBB3F57-8E91-4EC2-A620-D052DCF46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021525"/>
              </p:ext>
            </p:extLst>
          </p:nvPr>
        </p:nvGraphicFramePr>
        <p:xfrm>
          <a:off x="3525520" y="1636947"/>
          <a:ext cx="8118612" cy="4044068"/>
        </p:xfrm>
        <a:graphic>
          <a:graphicData uri="http://schemas.openxmlformats.org/drawingml/2006/table">
            <a:tbl>
              <a:tblPr/>
              <a:tblGrid>
                <a:gridCol w="1216281">
                  <a:extLst>
                    <a:ext uri="{9D8B030D-6E8A-4147-A177-3AD203B41FA5}">
                      <a16:colId xmlns:a16="http://schemas.microsoft.com/office/drawing/2014/main" val="3158671648"/>
                    </a:ext>
                  </a:extLst>
                </a:gridCol>
                <a:gridCol w="1086293">
                  <a:extLst>
                    <a:ext uri="{9D8B030D-6E8A-4147-A177-3AD203B41FA5}">
                      <a16:colId xmlns:a16="http://schemas.microsoft.com/office/drawing/2014/main" val="923774245"/>
                    </a:ext>
                  </a:extLst>
                </a:gridCol>
                <a:gridCol w="1484574">
                  <a:extLst>
                    <a:ext uri="{9D8B030D-6E8A-4147-A177-3AD203B41FA5}">
                      <a16:colId xmlns:a16="http://schemas.microsoft.com/office/drawing/2014/main" val="2406905423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2756400743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3705247648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2855012562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93067512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Feature</a:t>
                      </a:r>
                      <a:endParaRPr lang="es-CO" sz="1600" b="1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S1 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ST 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S2 Total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S2 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2328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i0_c_ref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0.3046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(0.285, 0.324)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0.3145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(0.3, 0.329)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0.0055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(-0.089, 0.1)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9649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ifc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0.2770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(0.262, 0.292)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0.2881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(0.277, 0.299)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(0.0, 0.0)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0205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Pa_des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0.1069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(0.096, 0.118)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0.1319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(0.126, 0.138)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0.0479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(-0.158, 0.254)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7301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kappa_c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0.0958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(0.085, 0.107)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0.1191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(0.114, 0.124)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0.0007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(-0.016, 0.017)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4014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Tfc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0.1050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(0.095, 0.115)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0.1164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(0.112, 0.121)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0.0102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(-0.193, 0.213)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1999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tau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0.0183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(0.014, 0.023)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0.0286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(0.027, 0.03)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0.0088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(-0.049, 0.066)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622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Re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0.0151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(0.01, 0.02)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0.0231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(0.022, 0.024)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0.0026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(-0.025, 0.031)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5875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epsilon_mc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0.0116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(0.007, 0.016)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0.0193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(0.018, 0.02)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-0.0039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(-0.047, 0.039)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8758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Phi_c_des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0.0083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(0.005, 0.012)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0.0151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(0.014, 0.016)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-0.0051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(-0.058, 0.048)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934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Sc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0.0017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(-0.001, 0.004)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0.0096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(0.009, 0.01)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-0.0058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(-0.047, 0.036)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210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kappa_co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0.0020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(-0.0, 0.004)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0.0063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(0.006, 0.007)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0.0023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(-0.004, 0.009)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8443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epsilon_gdl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(-0.002, 0.002)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0.0039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(0.003, 0.004)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0.0051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(-0.021, 0.031)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5941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epsilon_c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-0.0004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(-0.002, 0.001)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0.0034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(0.003, 0.004)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(-0.014, 0.016)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2012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e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(-0.0, 0.001)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(0.0, 0.001)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-0.0016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(-0.006, 0.003)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6072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4F2C4ECB-C629-46E7-BF18-754169DA7F57}"/>
                  </a:ext>
                </a:extLst>
              </p:cNvPr>
              <p:cNvSpPr txBox="1"/>
              <p:nvPr/>
            </p:nvSpPr>
            <p:spPr>
              <a:xfrm>
                <a:off x="3986891" y="2467068"/>
                <a:ext cx="41267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𝑃𝑎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4F2C4ECB-C629-46E7-BF18-754169DA7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891" y="2467068"/>
                <a:ext cx="412677" cy="184666"/>
              </a:xfrm>
              <a:prstGeom prst="rect">
                <a:avLst/>
              </a:prstGeom>
              <a:blipFill>
                <a:blip r:embed="rId2"/>
                <a:stretch>
                  <a:fillRect l="-8824" r="-441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1E7BE181-B325-4438-9DEC-D23A5600015F}"/>
                  </a:ext>
                </a:extLst>
              </p:cNvPr>
              <p:cNvSpPr txBox="1"/>
              <p:nvPr/>
            </p:nvSpPr>
            <p:spPr>
              <a:xfrm>
                <a:off x="3996509" y="4052253"/>
                <a:ext cx="3934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𝑐𝑑𝑒𝑠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1E7BE181-B325-4438-9DEC-D23A56000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509" y="4052253"/>
                <a:ext cx="393441" cy="184666"/>
              </a:xfrm>
              <a:prstGeom prst="rect">
                <a:avLst/>
              </a:prstGeom>
              <a:blipFill>
                <a:blip r:embed="rId3"/>
                <a:stretch>
                  <a:fillRect l="-14063" r="-3125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3DC2449D-4307-4501-90CB-8E9E1892BF32}"/>
                  </a:ext>
                </a:extLst>
              </p:cNvPr>
              <p:cNvSpPr txBox="1"/>
              <p:nvPr/>
            </p:nvSpPr>
            <p:spPr>
              <a:xfrm>
                <a:off x="4044727" y="4866685"/>
                <a:ext cx="297004" cy="199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𝑔𝑑𝑙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3DC2449D-4307-4501-90CB-8E9E1892B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727" y="4866685"/>
                <a:ext cx="297004" cy="199735"/>
              </a:xfrm>
              <a:prstGeom prst="rect">
                <a:avLst/>
              </a:prstGeom>
              <a:blipFill>
                <a:blip r:embed="rId4"/>
                <a:stretch>
                  <a:fillRect l="-8333" r="-8333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DBC4CD14-8C46-455C-9086-9FE8F877C5D9}"/>
                  </a:ext>
                </a:extLst>
              </p:cNvPr>
              <p:cNvSpPr txBox="1"/>
              <p:nvPr/>
            </p:nvSpPr>
            <p:spPr>
              <a:xfrm>
                <a:off x="4053576" y="3818763"/>
                <a:ext cx="2793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𝑚𝑐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DBC4CD14-8C46-455C-9086-9FE8F877C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576" y="3818763"/>
                <a:ext cx="279307" cy="184666"/>
              </a:xfrm>
              <a:prstGeom prst="rect">
                <a:avLst/>
              </a:prstGeom>
              <a:blipFill>
                <a:blip r:embed="rId5"/>
                <a:stretch>
                  <a:fillRect l="-8696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8B1836FB-5579-42D5-9234-9D4ABBFA6E28}"/>
                  </a:ext>
                </a:extLst>
              </p:cNvPr>
              <p:cNvSpPr txBox="1"/>
              <p:nvPr/>
            </p:nvSpPr>
            <p:spPr>
              <a:xfrm>
                <a:off x="4106475" y="5179298"/>
                <a:ext cx="17350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8B1836FB-5579-42D5-9234-9D4ABBFA6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475" y="5179298"/>
                <a:ext cx="173509" cy="184666"/>
              </a:xfrm>
              <a:prstGeom prst="rect">
                <a:avLst/>
              </a:prstGeom>
              <a:blipFill>
                <a:blip r:embed="rId6"/>
                <a:stretch>
                  <a:fillRect l="-14286" r="-357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345A5BD-D15D-4649-ABCE-0998824A98E7}"/>
                  </a:ext>
                </a:extLst>
              </p:cNvPr>
              <p:cNvSpPr txBox="1"/>
              <p:nvPr/>
            </p:nvSpPr>
            <p:spPr>
              <a:xfrm>
                <a:off x="4138663" y="3306329"/>
                <a:ext cx="1091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345A5BD-D15D-4649-ABCE-0998824A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663" y="3306329"/>
                <a:ext cx="109132" cy="184666"/>
              </a:xfrm>
              <a:prstGeom prst="rect">
                <a:avLst/>
              </a:prstGeom>
              <a:blipFill>
                <a:blip r:embed="rId7"/>
                <a:stretch>
                  <a:fillRect l="-22222"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80A0C03C-D2E3-462A-BD1A-F09AA0A6400C}"/>
                  </a:ext>
                </a:extLst>
              </p:cNvPr>
              <p:cNvSpPr txBox="1"/>
              <p:nvPr/>
            </p:nvSpPr>
            <p:spPr>
              <a:xfrm>
                <a:off x="3968712" y="1965485"/>
                <a:ext cx="449034" cy="1994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80A0C03C-D2E3-462A-BD1A-F09AA0A6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712" y="1965485"/>
                <a:ext cx="449034" cy="199478"/>
              </a:xfrm>
              <a:prstGeom prst="rect">
                <a:avLst/>
              </a:prstGeom>
              <a:blipFill>
                <a:blip r:embed="rId8"/>
                <a:stretch>
                  <a:fillRect l="-8108" r="-540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C53949A9-A964-4687-A178-EF36799CA539}"/>
                  </a:ext>
                </a:extLst>
              </p:cNvPr>
              <p:cNvSpPr txBox="1"/>
              <p:nvPr/>
            </p:nvSpPr>
            <p:spPr>
              <a:xfrm>
                <a:off x="4068580" y="4641006"/>
                <a:ext cx="24929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𝑐𝑜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C53949A9-A964-4687-A178-EF36799CA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580" y="4641006"/>
                <a:ext cx="249299" cy="184666"/>
              </a:xfrm>
              <a:prstGeom prst="rect">
                <a:avLst/>
              </a:prstGeom>
              <a:blipFill>
                <a:blip r:embed="rId9"/>
                <a:stretch>
                  <a:fillRect l="-7317" r="-2439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86D22166-D8EE-45CE-AEAB-0327F5B7230C}"/>
                  </a:ext>
                </a:extLst>
              </p:cNvPr>
              <p:cNvSpPr txBox="1"/>
              <p:nvPr/>
            </p:nvSpPr>
            <p:spPr>
              <a:xfrm>
                <a:off x="4100864" y="2722719"/>
                <a:ext cx="18473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86D22166-D8EE-45CE-AEAB-0327F5B72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864" y="2722719"/>
                <a:ext cx="184731" cy="184666"/>
              </a:xfrm>
              <a:prstGeom prst="rect">
                <a:avLst/>
              </a:prstGeom>
              <a:blipFill>
                <a:blip r:embed="rId10"/>
                <a:stretch>
                  <a:fillRect l="-13333" r="-333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67333791-8F16-4277-93CB-DB857270FAD7}"/>
                  </a:ext>
                </a:extLst>
              </p:cNvPr>
              <p:cNvSpPr txBox="1"/>
              <p:nvPr/>
            </p:nvSpPr>
            <p:spPr>
              <a:xfrm>
                <a:off x="4049728" y="3026769"/>
                <a:ext cx="2870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𝑇𝑓𝑐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67333791-8F16-4277-93CB-DB857270F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728" y="3026769"/>
                <a:ext cx="287002" cy="184666"/>
              </a:xfrm>
              <a:prstGeom prst="rect">
                <a:avLst/>
              </a:prstGeom>
              <a:blipFill>
                <a:blip r:embed="rId11"/>
                <a:stretch>
                  <a:fillRect l="-19149" t="-6667" r="-19149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5D349F7A-F390-47C7-B34B-9176C95479F3}"/>
                  </a:ext>
                </a:extLst>
              </p:cNvPr>
              <p:cNvSpPr txBox="1"/>
              <p:nvPr/>
            </p:nvSpPr>
            <p:spPr>
              <a:xfrm>
                <a:off x="4097017" y="4393296"/>
                <a:ext cx="19242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𝑆𝑐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5D349F7A-F390-47C7-B34B-9176C9547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017" y="4393296"/>
                <a:ext cx="192425" cy="184666"/>
              </a:xfrm>
              <a:prstGeom prst="rect">
                <a:avLst/>
              </a:prstGeom>
              <a:blipFill>
                <a:blip r:embed="rId12"/>
                <a:stretch>
                  <a:fillRect l="-18750" r="-1562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E332D206-63C9-4E95-9E04-7DCB24EA1C8D}"/>
                  </a:ext>
                </a:extLst>
              </p:cNvPr>
              <p:cNvSpPr txBox="1"/>
              <p:nvPr/>
            </p:nvSpPr>
            <p:spPr>
              <a:xfrm>
                <a:off x="4071369" y="2252790"/>
                <a:ext cx="243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𝑖𝑓𝑐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E332D206-63C9-4E95-9E04-7DCB24EA1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369" y="2252790"/>
                <a:ext cx="243721" cy="184666"/>
              </a:xfrm>
              <a:prstGeom prst="rect">
                <a:avLst/>
              </a:prstGeom>
              <a:blipFill>
                <a:blip r:embed="rId13"/>
                <a:stretch>
                  <a:fillRect l="-22500" t="-6667" r="-2250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E7BEED46-3B21-4B8F-AC25-C962244AF413}"/>
                  </a:ext>
                </a:extLst>
              </p:cNvPr>
              <p:cNvSpPr txBox="1"/>
              <p:nvPr/>
            </p:nvSpPr>
            <p:spPr>
              <a:xfrm>
                <a:off x="4135425" y="5445261"/>
                <a:ext cx="11560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E7BEED46-3B21-4B8F-AC25-C962244AF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425" y="5445261"/>
                <a:ext cx="115608" cy="184666"/>
              </a:xfrm>
              <a:prstGeom prst="rect">
                <a:avLst/>
              </a:prstGeom>
              <a:blipFill>
                <a:blip r:embed="rId14"/>
                <a:stretch>
                  <a:fillRect l="-15789" r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A1640CF-3047-4361-8CD2-8821BB2E0C29}"/>
                  </a:ext>
                </a:extLst>
              </p:cNvPr>
              <p:cNvSpPr txBox="1"/>
              <p:nvPr/>
            </p:nvSpPr>
            <p:spPr>
              <a:xfrm>
                <a:off x="4086533" y="3574220"/>
                <a:ext cx="2133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𝑅𝑒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A1640CF-3047-4361-8CD2-8821BB2E0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533" y="3574220"/>
                <a:ext cx="213392" cy="184666"/>
              </a:xfrm>
              <a:prstGeom prst="rect">
                <a:avLst/>
              </a:prstGeom>
              <a:blipFill>
                <a:blip r:embed="rId15"/>
                <a:stretch>
                  <a:fillRect l="-17143" r="-14286"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uadroTexto 28">
            <a:extLst>
              <a:ext uri="{FF2B5EF4-FFF2-40B4-BE49-F238E27FC236}">
                <a16:creationId xmlns:a16="http://schemas.microsoft.com/office/drawing/2014/main" id="{C3652E7E-118C-42FD-9A5E-0FB856AB167A}"/>
              </a:ext>
            </a:extLst>
          </p:cNvPr>
          <p:cNvSpPr txBox="1"/>
          <p:nvPr/>
        </p:nvSpPr>
        <p:spPr>
          <a:xfrm>
            <a:off x="4062039" y="5703218"/>
            <a:ext cx="7045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s-CO" sz="1200" err="1"/>
              <a:t>Sobol</a:t>
            </a:r>
            <a:r>
              <a:rPr lang="es-CO" sz="1200"/>
              <a:t> </a:t>
            </a:r>
            <a:r>
              <a:rPr lang="es-CO" sz="1200" err="1"/>
              <a:t>sensitivity</a:t>
            </a:r>
            <a:r>
              <a:rPr lang="es-CO" sz="1200"/>
              <a:t> </a:t>
            </a:r>
            <a:r>
              <a:rPr lang="es-CO" sz="1200" err="1"/>
              <a:t>indices</a:t>
            </a:r>
            <a:r>
              <a:rPr lang="es-CO" sz="1200"/>
              <a:t> </a:t>
            </a:r>
            <a:r>
              <a:rPr lang="es-CO" sz="1200" err="1"/>
              <a:t>for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Ohmic</a:t>
            </a:r>
            <a:r>
              <a:rPr lang="es-CO" sz="1200"/>
              <a:t> </a:t>
            </a:r>
            <a:r>
              <a:rPr lang="es-CO" sz="1200" err="1"/>
              <a:t>region</a:t>
            </a:r>
            <a:r>
              <a:rPr lang="es-CO" sz="1200"/>
              <a:t> </a:t>
            </a:r>
            <a:r>
              <a:rPr lang="es-CO" sz="1200" err="1"/>
              <a:t>based</a:t>
            </a:r>
            <a:r>
              <a:rPr lang="es-CO" sz="1200"/>
              <a:t> </a:t>
            </a:r>
            <a:r>
              <a:rPr lang="es-CO" sz="1200" err="1"/>
              <a:t>on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XGBoost</a:t>
            </a:r>
            <a:r>
              <a:rPr lang="es-CO" sz="1200"/>
              <a:t> </a:t>
            </a:r>
            <a:r>
              <a:rPr lang="es-CO" sz="1200" err="1"/>
              <a:t>model</a:t>
            </a:r>
            <a:r>
              <a:rPr lang="es-CO" sz="1200"/>
              <a:t>, </a:t>
            </a:r>
            <a:r>
              <a:rPr lang="es-CO" sz="1200" err="1"/>
              <a:t>showing</a:t>
            </a:r>
            <a:r>
              <a:rPr lang="es-CO" sz="1200"/>
              <a:t> </a:t>
            </a:r>
            <a:r>
              <a:rPr lang="es-CO" sz="1200" err="1"/>
              <a:t>first-order</a:t>
            </a:r>
            <a:r>
              <a:rPr lang="es-CO" sz="1200"/>
              <a:t> (S1), total-</a:t>
            </a:r>
            <a:r>
              <a:rPr lang="es-CO" sz="1200" err="1"/>
              <a:t>order</a:t>
            </a:r>
            <a:r>
              <a:rPr lang="es-CO" sz="1200"/>
              <a:t> (ST), and </a:t>
            </a:r>
            <a:r>
              <a:rPr lang="es-CO" sz="1200" err="1"/>
              <a:t>second-order</a:t>
            </a:r>
            <a:r>
              <a:rPr lang="es-CO" sz="1200"/>
              <a:t> (S2) </a:t>
            </a:r>
            <a:r>
              <a:rPr lang="es-CO" sz="1200" err="1"/>
              <a:t>effects</a:t>
            </a:r>
            <a:r>
              <a:rPr lang="es-CO" sz="1200"/>
              <a:t> </a:t>
            </a:r>
            <a:r>
              <a:rPr lang="es-CO" sz="1200" err="1"/>
              <a:t>with</a:t>
            </a:r>
            <a:r>
              <a:rPr lang="es-CO" sz="1200"/>
              <a:t> </a:t>
            </a:r>
            <a:r>
              <a:rPr lang="es-CO" sz="1200" err="1"/>
              <a:t>confidence</a:t>
            </a:r>
            <a:r>
              <a:rPr lang="es-CO" sz="1200"/>
              <a:t> </a:t>
            </a:r>
            <a:r>
              <a:rPr lang="es-CO" sz="1200" err="1"/>
              <a:t>intervals</a:t>
            </a:r>
            <a:r>
              <a:rPr lang="es-CO" sz="1200"/>
              <a:t>. </a:t>
            </a:r>
            <a:r>
              <a:rPr lang="es-CO" sz="1200" err="1"/>
              <a:t>Parameters</a:t>
            </a:r>
            <a:r>
              <a:rPr lang="es-CO" sz="1200"/>
              <a:t> i0_ref, </a:t>
            </a:r>
            <a:r>
              <a:rPr lang="es-CO" sz="1200" err="1"/>
              <a:t>κ_c</a:t>
            </a:r>
            <a:r>
              <a:rPr lang="es-CO" sz="1200"/>
              <a:t>, and </a:t>
            </a:r>
            <a:r>
              <a:rPr lang="es-CO" sz="1200" err="1"/>
              <a:t>ifc</a:t>
            </a:r>
            <a:r>
              <a:rPr lang="es-CO" sz="1200"/>
              <a:t> </a:t>
            </a:r>
            <a:r>
              <a:rPr lang="es-CO" sz="1200" err="1"/>
              <a:t>exhibit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highest</a:t>
            </a:r>
            <a:r>
              <a:rPr lang="es-CO" sz="1200"/>
              <a:t> </a:t>
            </a:r>
            <a:r>
              <a:rPr lang="es-CO" sz="1200" err="1"/>
              <a:t>influence</a:t>
            </a:r>
            <a:r>
              <a:rPr lang="es-CO" sz="1200"/>
              <a:t> </a:t>
            </a:r>
            <a:r>
              <a:rPr lang="es-CO" sz="1200" err="1"/>
              <a:t>on</a:t>
            </a:r>
            <a:r>
              <a:rPr lang="es-CO" sz="1200"/>
              <a:t> </a:t>
            </a:r>
            <a:r>
              <a:rPr lang="es-CO" sz="1200" err="1"/>
              <a:t>model</a:t>
            </a:r>
            <a:r>
              <a:rPr lang="es-CO" sz="1200"/>
              <a:t> output.</a:t>
            </a:r>
          </a:p>
        </p:txBody>
      </p:sp>
      <p:sp>
        <p:nvSpPr>
          <p:cNvPr id="28" name="Google Shape;453;g36edeb4292e_1_43">
            <a:extLst>
              <a:ext uri="{FF2B5EF4-FFF2-40B4-BE49-F238E27FC236}">
                <a16:creationId xmlns:a16="http://schemas.microsoft.com/office/drawing/2014/main" id="{5A48B51F-1D6D-444B-AA86-D531D516D141}"/>
              </a:ext>
            </a:extLst>
          </p:cNvPr>
          <p:cNvSpPr/>
          <p:nvPr/>
        </p:nvSpPr>
        <p:spPr>
          <a:xfrm>
            <a:off x="892800" y="2908800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27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Ohmic</a:t>
            </a:r>
            <a:endParaRPr sz="1600" b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5DAC1258-C015-CDD0-61DC-BE8D0E4BC8F6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73CE669E-23A4-740F-C9E6-CA22FD32CC87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458DB54A-B012-941F-6930-2E16FB36CFD9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82DFFEDF-7766-4D97-A024-4D343317FB53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786139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A28F9E2E-910A-496D-AE1D-B0B87993C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200" y="943200"/>
            <a:ext cx="8558774" cy="50904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EF675-A3B6-443F-A291-A402B178BE10}"/>
              </a:ext>
            </a:extLst>
          </p:cNvPr>
          <p:cNvSpPr txBox="1"/>
          <p:nvPr/>
        </p:nvSpPr>
        <p:spPr>
          <a:xfrm>
            <a:off x="893443" y="1370254"/>
            <a:ext cx="32445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</a:p>
          <a:p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ST</a:t>
            </a:r>
            <a:endParaRPr lang="es-CO" sz="36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6630B0-2AF7-45BA-A028-A6EB132952DB}"/>
              </a:ext>
            </a:extLst>
          </p:cNvPr>
          <p:cNvSpPr txBox="1"/>
          <p:nvPr/>
        </p:nvSpPr>
        <p:spPr>
          <a:xfrm>
            <a:off x="893443" y="943947"/>
            <a:ext cx="2137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752AB792-1AB4-4DC8-A1DE-A936E7BA5E88}"/>
              </a:ext>
            </a:extLst>
          </p:cNvPr>
          <p:cNvGrpSpPr/>
          <p:nvPr/>
        </p:nvGrpSpPr>
        <p:grpSpPr>
          <a:xfrm>
            <a:off x="11008492" y="1288344"/>
            <a:ext cx="569970" cy="2338575"/>
            <a:chOff x="10903308" y="1295490"/>
            <a:chExt cx="569970" cy="2338575"/>
          </a:xfrm>
        </p:grpSpPr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5ACB8813-EC56-4327-9560-7072AE81192F}"/>
                </a:ext>
              </a:extLst>
            </p:cNvPr>
            <p:cNvSpPr/>
            <p:nvPr/>
          </p:nvSpPr>
          <p:spPr>
            <a:xfrm>
              <a:off x="10903308" y="1329689"/>
              <a:ext cx="569970" cy="22775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267F1AB6-9D1B-40C9-9EBE-67663A7462C9}"/>
                    </a:ext>
                  </a:extLst>
                </p:cNvPr>
                <p:cNvSpPr txBox="1"/>
                <p:nvPr/>
              </p:nvSpPr>
              <p:spPr>
                <a:xfrm>
                  <a:off x="10962061" y="1638763"/>
                  <a:ext cx="30950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267F1AB6-9D1B-40C9-9EBE-67663A746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62061" y="1638763"/>
                  <a:ext cx="309508" cy="138499"/>
                </a:xfrm>
                <a:prstGeom prst="rect">
                  <a:avLst/>
                </a:prstGeom>
                <a:blipFill>
                  <a:blip r:embed="rId4"/>
                  <a:stretch>
                    <a:fillRect l="-9804" r="-3922" b="-2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AB0492B2-58E1-476D-BF0E-1CA2EABD299C}"/>
                    </a:ext>
                  </a:extLst>
                </p:cNvPr>
                <p:cNvSpPr txBox="1"/>
                <p:nvPr/>
              </p:nvSpPr>
              <p:spPr>
                <a:xfrm>
                  <a:off x="10956742" y="2687551"/>
                  <a:ext cx="29508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𝑐𝑑𝑒𝑠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AB0492B2-58E1-476D-BF0E-1CA2EABD2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6742" y="2687551"/>
                  <a:ext cx="295081" cy="138499"/>
                </a:xfrm>
                <a:prstGeom prst="rect">
                  <a:avLst/>
                </a:prstGeom>
                <a:blipFill>
                  <a:blip r:embed="rId5"/>
                  <a:stretch>
                    <a:fillRect l="-14583" r="-6250" b="-4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64CD3A81-9ECD-4EBD-AF2D-380020380477}"/>
                    </a:ext>
                  </a:extLst>
                </p:cNvPr>
                <p:cNvSpPr txBox="1"/>
                <p:nvPr/>
              </p:nvSpPr>
              <p:spPr>
                <a:xfrm>
                  <a:off x="10975461" y="3183268"/>
                  <a:ext cx="223971" cy="149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𝑔𝑑𝑙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64CD3A81-9ECD-4EBD-AF2D-380020380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461" y="3183268"/>
                  <a:ext cx="223971" cy="149721"/>
                </a:xfrm>
                <a:prstGeom prst="rect">
                  <a:avLst/>
                </a:prstGeom>
                <a:blipFill>
                  <a:blip r:embed="rId6"/>
                  <a:stretch>
                    <a:fillRect l="-8333" r="-8333" b="-2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6A9B451-F317-484B-BA14-5B4AFB975E40}"/>
                    </a:ext>
                  </a:extLst>
                </p:cNvPr>
                <p:cNvSpPr txBox="1"/>
                <p:nvPr/>
              </p:nvSpPr>
              <p:spPr>
                <a:xfrm>
                  <a:off x="10958936" y="2514038"/>
                  <a:ext cx="20948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𝑚𝑐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6A9B451-F317-484B-BA14-5B4AFB975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58936" y="2514038"/>
                  <a:ext cx="209480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8824" r="-294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C0E0F14F-FE71-472A-A1FE-F777F90E765D}"/>
                    </a:ext>
                  </a:extLst>
                </p:cNvPr>
                <p:cNvSpPr txBox="1"/>
                <p:nvPr/>
              </p:nvSpPr>
              <p:spPr>
                <a:xfrm>
                  <a:off x="10961042" y="3353768"/>
                  <a:ext cx="13093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C0E0F14F-FE71-472A-A1FE-F777F90E76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61042" y="3353768"/>
                  <a:ext cx="130933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363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AD2952EC-CADE-4F6F-9CC4-3528A352EE0A}"/>
                    </a:ext>
                  </a:extLst>
                </p:cNvPr>
                <p:cNvSpPr txBox="1"/>
                <p:nvPr/>
              </p:nvSpPr>
              <p:spPr>
                <a:xfrm>
                  <a:off x="10976004" y="2173055"/>
                  <a:ext cx="8104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AD2952EC-CADE-4F6F-9CC4-3528A352E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6004" y="2173055"/>
                  <a:ext cx="81048" cy="138499"/>
                </a:xfrm>
                <a:prstGeom prst="rect">
                  <a:avLst/>
                </a:prstGeom>
                <a:blipFill>
                  <a:blip r:embed="rId9"/>
                  <a:stretch>
                    <a:fillRect l="-23077" r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FDD430FD-FAD3-4D96-AC7B-40B98DC8D104}"/>
                    </a:ext>
                  </a:extLst>
                </p:cNvPr>
                <p:cNvSpPr txBox="1"/>
                <p:nvPr/>
              </p:nvSpPr>
              <p:spPr>
                <a:xfrm>
                  <a:off x="10977941" y="1295490"/>
                  <a:ext cx="341568" cy="1495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FDD430FD-FAD3-4D96-AC7B-40B98DC8D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7941" y="1295490"/>
                  <a:ext cx="341568" cy="149528"/>
                </a:xfrm>
                <a:prstGeom prst="rect">
                  <a:avLst/>
                </a:prstGeom>
                <a:blipFill>
                  <a:blip r:embed="rId10"/>
                  <a:stretch>
                    <a:fillRect l="-8929" r="-5357" b="-2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2E2185EB-023D-40C4-A168-047D7819C39A}"/>
                    </a:ext>
                  </a:extLst>
                </p:cNvPr>
                <p:cNvSpPr txBox="1"/>
                <p:nvPr/>
              </p:nvSpPr>
              <p:spPr>
                <a:xfrm>
                  <a:off x="10975461" y="3005642"/>
                  <a:ext cx="18780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2E2185EB-023D-40C4-A168-047D7819C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5461" y="3005642"/>
                  <a:ext cx="187808" cy="138499"/>
                </a:xfrm>
                <a:prstGeom prst="rect">
                  <a:avLst/>
                </a:prstGeom>
                <a:blipFill>
                  <a:blip r:embed="rId11"/>
                  <a:stretch>
                    <a:fillRect l="-10000" r="-333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EDC03CC7-FD8A-4F95-884D-48FFC30DCCC0}"/>
                    </a:ext>
                  </a:extLst>
                </p:cNvPr>
                <p:cNvSpPr txBox="1"/>
                <p:nvPr/>
              </p:nvSpPr>
              <p:spPr>
                <a:xfrm>
                  <a:off x="10967444" y="1811198"/>
                  <a:ext cx="13894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EDC03CC7-FD8A-4F95-884D-48FFC30DC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67444" y="1811198"/>
                  <a:ext cx="138949" cy="138499"/>
                </a:xfrm>
                <a:prstGeom prst="rect">
                  <a:avLst/>
                </a:prstGeom>
                <a:blipFill>
                  <a:blip r:embed="rId12"/>
                  <a:stretch>
                    <a:fillRect l="-13043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A4E1F230-5736-42F9-A501-99EC2CB00ABB}"/>
                    </a:ext>
                  </a:extLst>
                </p:cNvPr>
                <p:cNvSpPr txBox="1"/>
                <p:nvPr/>
              </p:nvSpPr>
              <p:spPr>
                <a:xfrm>
                  <a:off x="10973041" y="1978320"/>
                  <a:ext cx="215252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𝑇𝑓𝑐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A4E1F230-5736-42F9-A501-99EC2CB00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3041" y="1978320"/>
                  <a:ext cx="215252" cy="138499"/>
                </a:xfrm>
                <a:prstGeom prst="rect">
                  <a:avLst/>
                </a:prstGeom>
                <a:blipFill>
                  <a:blip r:embed="rId13"/>
                  <a:stretch>
                    <a:fillRect l="-19444" r="-13889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232881F5-4525-42C8-BCFD-B9A0398006CA}"/>
                    </a:ext>
                  </a:extLst>
                </p:cNvPr>
                <p:cNvSpPr txBox="1"/>
                <p:nvPr/>
              </p:nvSpPr>
              <p:spPr>
                <a:xfrm>
                  <a:off x="10978203" y="2855548"/>
                  <a:ext cx="143116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𝑆𝑐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232881F5-4525-42C8-BCFD-B9A0398006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8203" y="2855548"/>
                  <a:ext cx="143116" cy="138499"/>
                </a:xfrm>
                <a:prstGeom prst="rect">
                  <a:avLst/>
                </a:prstGeom>
                <a:blipFill>
                  <a:blip r:embed="rId14"/>
                  <a:stretch>
                    <a:fillRect l="-20833" r="-16667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346F945E-10A2-4DD2-A551-B041351A47EC}"/>
                    </a:ext>
                  </a:extLst>
                </p:cNvPr>
                <p:cNvSpPr txBox="1"/>
                <p:nvPr/>
              </p:nvSpPr>
              <p:spPr>
                <a:xfrm>
                  <a:off x="10977513" y="1472641"/>
                  <a:ext cx="18319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𝑖𝑓𝑐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346F945E-10A2-4DD2-A551-B041351A4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7513" y="1472641"/>
                  <a:ext cx="183191" cy="138499"/>
                </a:xfrm>
                <a:prstGeom prst="rect">
                  <a:avLst/>
                </a:prstGeom>
                <a:blipFill>
                  <a:blip r:embed="rId15"/>
                  <a:stretch>
                    <a:fillRect l="-23333" r="-20000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67CF0A76-9260-48E6-A13E-9CA5AF30F0DA}"/>
                    </a:ext>
                  </a:extLst>
                </p:cNvPr>
                <p:cNvSpPr txBox="1"/>
                <p:nvPr/>
              </p:nvSpPr>
              <p:spPr>
                <a:xfrm>
                  <a:off x="10977755" y="3495566"/>
                  <a:ext cx="8592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67CF0A76-9260-48E6-A13E-9CA5AF30F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77755" y="3495566"/>
                  <a:ext cx="85921" cy="138499"/>
                </a:xfrm>
                <a:prstGeom prst="rect">
                  <a:avLst/>
                </a:prstGeom>
                <a:blipFill>
                  <a:blip r:embed="rId16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B1428FA-134B-476D-8F3C-678BE5C0E1E4}"/>
                    </a:ext>
                  </a:extLst>
                </p:cNvPr>
                <p:cNvSpPr txBox="1"/>
                <p:nvPr/>
              </p:nvSpPr>
              <p:spPr>
                <a:xfrm>
                  <a:off x="10969045" y="2341949"/>
                  <a:ext cx="15965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B1428FA-134B-476D-8F3C-678BE5C0E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969045" y="2341949"/>
                  <a:ext cx="159659" cy="138499"/>
                </a:xfrm>
                <a:prstGeom prst="rect">
                  <a:avLst/>
                </a:prstGeom>
                <a:blipFill>
                  <a:blip r:embed="rId17"/>
                  <a:stretch>
                    <a:fillRect l="-19231" r="-15385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CE4640A-1ED6-4C0F-8710-167B4A86E956}"/>
              </a:ext>
            </a:extLst>
          </p:cNvPr>
          <p:cNvSpPr txBox="1"/>
          <p:nvPr/>
        </p:nvSpPr>
        <p:spPr>
          <a:xfrm>
            <a:off x="4050510" y="5884952"/>
            <a:ext cx="6431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s-CO" sz="1200" err="1"/>
              <a:t>Convergence</a:t>
            </a:r>
            <a:r>
              <a:rPr lang="es-CO" sz="1200"/>
              <a:t> </a:t>
            </a:r>
            <a:r>
              <a:rPr lang="es-CO" sz="1200" err="1"/>
              <a:t>of</a:t>
            </a:r>
            <a:r>
              <a:rPr lang="es-CO" sz="1200"/>
              <a:t> total-</a:t>
            </a:r>
            <a:r>
              <a:rPr lang="es-CO" sz="1200" err="1"/>
              <a:t>order</a:t>
            </a:r>
            <a:r>
              <a:rPr lang="es-CO" sz="1200"/>
              <a:t> (ST) </a:t>
            </a:r>
            <a:r>
              <a:rPr lang="es-CO" sz="1200" err="1"/>
              <a:t>Sobol</a:t>
            </a:r>
            <a:r>
              <a:rPr lang="es-CO" sz="1200"/>
              <a:t> </a:t>
            </a:r>
            <a:r>
              <a:rPr lang="es-CO" sz="1200" err="1"/>
              <a:t>indices</a:t>
            </a:r>
            <a:r>
              <a:rPr lang="es-CO" sz="1200"/>
              <a:t> </a:t>
            </a:r>
            <a:r>
              <a:rPr lang="es-CO" sz="1200" err="1"/>
              <a:t>for</a:t>
            </a:r>
            <a:r>
              <a:rPr lang="es-CO" sz="1200"/>
              <a:t> </a:t>
            </a:r>
            <a:r>
              <a:rPr lang="es-CO" sz="1200" err="1"/>
              <a:t>features</a:t>
            </a:r>
            <a:r>
              <a:rPr lang="es-CO" sz="1200"/>
              <a:t> in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Ohmic</a:t>
            </a:r>
            <a:r>
              <a:rPr lang="es-CO" sz="1200"/>
              <a:t> </a:t>
            </a:r>
            <a:r>
              <a:rPr lang="es-CO" sz="1200" err="1"/>
              <a:t>region</a:t>
            </a:r>
            <a:r>
              <a:rPr lang="es-CO" sz="1200"/>
              <a:t> </a:t>
            </a:r>
            <a:r>
              <a:rPr lang="es-CO" sz="1200" err="1"/>
              <a:t>across</a:t>
            </a:r>
            <a:r>
              <a:rPr lang="es-CO" sz="1200"/>
              <a:t> </a:t>
            </a:r>
            <a:r>
              <a:rPr lang="es-CO" sz="1200" err="1"/>
              <a:t>increasing</a:t>
            </a:r>
            <a:r>
              <a:rPr lang="es-CO" sz="1200"/>
              <a:t> </a:t>
            </a:r>
            <a:r>
              <a:rPr lang="es-CO" sz="1200" err="1"/>
              <a:t>sample</a:t>
            </a:r>
            <a:r>
              <a:rPr lang="es-CO" sz="1200"/>
              <a:t> </a:t>
            </a:r>
            <a:r>
              <a:rPr lang="es-CO" sz="1200" err="1"/>
              <a:t>sizes</a:t>
            </a:r>
            <a:r>
              <a:rPr lang="es-CO" sz="1200"/>
              <a:t>.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indices</a:t>
            </a:r>
            <a:r>
              <a:rPr lang="es-CO" sz="1200"/>
              <a:t> </a:t>
            </a:r>
            <a:r>
              <a:rPr lang="es-CO" sz="1200" err="1"/>
              <a:t>stabilize</a:t>
            </a:r>
            <a:r>
              <a:rPr lang="es-CO" sz="1200"/>
              <a:t> as </a:t>
            </a:r>
            <a:r>
              <a:rPr lang="es-CO" sz="1200" err="1"/>
              <a:t>sample</a:t>
            </a:r>
            <a:r>
              <a:rPr lang="es-CO" sz="1200"/>
              <a:t> </a:t>
            </a:r>
            <a:r>
              <a:rPr lang="es-CO" sz="1200" err="1"/>
              <a:t>size</a:t>
            </a:r>
            <a:r>
              <a:rPr lang="es-CO" sz="1200"/>
              <a:t> </a:t>
            </a:r>
            <a:r>
              <a:rPr lang="es-CO" sz="1200" err="1"/>
              <a:t>grows</a:t>
            </a:r>
            <a:r>
              <a:rPr lang="es-CO" sz="1200"/>
              <a:t>, </a:t>
            </a:r>
            <a:r>
              <a:rPr lang="es-CO" sz="1200" err="1"/>
              <a:t>with</a:t>
            </a:r>
            <a:r>
              <a:rPr lang="es-CO" sz="1200"/>
              <a:t> i0'_c </a:t>
            </a:r>
            <a:r>
              <a:rPr lang="es-CO" sz="1200" err="1"/>
              <a:t>ref</a:t>
            </a:r>
            <a:r>
              <a:rPr lang="es-CO" sz="1200"/>
              <a:t>, </a:t>
            </a:r>
            <a:r>
              <a:rPr lang="es-CO" sz="1200" err="1"/>
              <a:t>κ_c</a:t>
            </a:r>
            <a:r>
              <a:rPr lang="es-CO" sz="1200"/>
              <a:t>, and </a:t>
            </a:r>
            <a:r>
              <a:rPr lang="es-CO" sz="1200" err="1"/>
              <a:t>ifc</a:t>
            </a:r>
            <a:r>
              <a:rPr lang="es-CO" sz="1200"/>
              <a:t> </a:t>
            </a:r>
            <a:r>
              <a:rPr lang="es-CO" sz="1200" err="1"/>
              <a:t>showing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highest</a:t>
            </a:r>
            <a:r>
              <a:rPr lang="es-CO" sz="1200"/>
              <a:t> total </a:t>
            </a:r>
            <a:r>
              <a:rPr lang="es-CO" sz="1200" err="1"/>
              <a:t>contributions</a:t>
            </a:r>
            <a:r>
              <a:rPr lang="es-CO" sz="1200"/>
              <a:t> </a:t>
            </a:r>
            <a:r>
              <a:rPr lang="es-CO" sz="1200" err="1"/>
              <a:t>to</a:t>
            </a:r>
            <a:r>
              <a:rPr lang="es-CO" sz="1200"/>
              <a:t> output </a:t>
            </a:r>
            <a:r>
              <a:rPr lang="es-CO" sz="1200" err="1"/>
              <a:t>variance</a:t>
            </a:r>
            <a:r>
              <a:rPr lang="es-CO" sz="1200"/>
              <a:t>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675E6FA-151D-49FF-9779-9B41C27CC8BB}"/>
              </a:ext>
            </a:extLst>
          </p:cNvPr>
          <p:cNvSpPr txBox="1"/>
          <p:nvPr/>
        </p:nvSpPr>
        <p:spPr>
          <a:xfrm>
            <a:off x="907097" y="3429000"/>
            <a:ext cx="235829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/>
              <a:t>N = 8.192</a:t>
            </a:r>
          </a:p>
          <a:p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→ </a:t>
            </a:r>
            <a:r>
              <a:rPr kumimoji="0" lang="es-CO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245,760 </a:t>
            </a:r>
            <a:r>
              <a:rPr kumimoji="0" lang="es-CO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configurations</a:t>
            </a:r>
            <a:endParaRPr kumimoji="0" lang="es-CO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s-CO" sz="1400" b="1"/>
          </a:p>
          <a:p>
            <a:r>
              <a:rPr lang="es-CO" sz="1400"/>
              <a:t>Sum S1 = 0.9464</a:t>
            </a:r>
          </a:p>
          <a:p>
            <a:r>
              <a:rPr lang="es-CO" sz="1400"/>
              <a:t>Sum S2 = 0.0675</a:t>
            </a:r>
          </a:p>
          <a:p>
            <a:r>
              <a:rPr lang="es-CO" sz="1400"/>
              <a:t>Sum S1 + S2 = 1.0139 </a:t>
            </a:r>
          </a:p>
          <a:p>
            <a:r>
              <a:rPr lang="es-CO" sz="1400"/>
              <a:t>Sum ST = 1.0799</a:t>
            </a:r>
          </a:p>
        </p:txBody>
      </p:sp>
      <p:sp>
        <p:nvSpPr>
          <p:cNvPr id="31" name="Google Shape;453;g36edeb4292e_1_43">
            <a:extLst>
              <a:ext uri="{FF2B5EF4-FFF2-40B4-BE49-F238E27FC236}">
                <a16:creationId xmlns:a16="http://schemas.microsoft.com/office/drawing/2014/main" id="{91C4D2A8-ED01-4C1A-AC91-9F36895E3D3C}"/>
              </a:ext>
            </a:extLst>
          </p:cNvPr>
          <p:cNvSpPr/>
          <p:nvPr/>
        </p:nvSpPr>
        <p:spPr>
          <a:xfrm>
            <a:off x="892800" y="2908800"/>
            <a:ext cx="1192800" cy="295200"/>
          </a:xfrm>
          <a:prstGeom prst="roundRect">
            <a:avLst>
              <a:gd name="adj" fmla="val 50000"/>
            </a:avLst>
          </a:prstGeom>
          <a:solidFill>
            <a:srgbClr val="B278E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Ohmic</a:t>
            </a:r>
            <a:endParaRPr sz="1600" b="1">
              <a:solidFill>
                <a:schemeClr val="bg1"/>
              </a:solidFill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0AA834ED-28E0-781C-7BEE-F52DBC4D653C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698BD38A-8FCF-7EF5-6D36-184EF6B9F2DF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10" name="Rectángulo redondeado 9">
              <a:extLst>
                <a:ext uri="{FF2B5EF4-FFF2-40B4-BE49-F238E27FC236}">
                  <a16:creationId xmlns:a16="http://schemas.microsoft.com/office/drawing/2014/main" id="{24D3522C-6BA1-1F53-2ED6-3DBE0FAE2382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D4D62BE6-1DFE-B9B3-8A94-CFC2BAF3D88A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0168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8B3627A4-5FDB-4409-8D94-43164444C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3200" y="1828800"/>
            <a:ext cx="4029241" cy="347040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1AA09D6-3FB3-40A7-BEB2-5D0B25D12E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0800" y="1828800"/>
            <a:ext cx="5431540" cy="33732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EF675-A3B6-443F-A291-A402B178BE10}"/>
              </a:ext>
            </a:extLst>
          </p:cNvPr>
          <p:cNvSpPr txBox="1"/>
          <p:nvPr/>
        </p:nvSpPr>
        <p:spPr>
          <a:xfrm>
            <a:off x="893443" y="1370254"/>
            <a:ext cx="3244557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SHAP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</a:p>
          <a:p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Feature</a:t>
            </a:r>
          </a:p>
          <a:p>
            <a:r>
              <a:rPr lang="en-US" sz="2800" i="1">
                <a:solidFill>
                  <a:prstClr val="black"/>
                </a:solidFill>
                <a:latin typeface="Source Sans Pro Light" panose="020B0403030403020204" pitchFamily="34" charset="0"/>
                <a:ea typeface="Source Sans Pro Light" panose="020B0403030403020204" pitchFamily="34" charset="0"/>
              </a:rPr>
              <a:t>Importance</a:t>
            </a:r>
            <a:endParaRPr lang="es-CO" sz="36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6630B0-2AF7-45BA-A028-A6EB132952DB}"/>
              </a:ext>
            </a:extLst>
          </p:cNvPr>
          <p:cNvSpPr txBox="1"/>
          <p:nvPr/>
        </p:nvSpPr>
        <p:spPr>
          <a:xfrm>
            <a:off x="893443" y="943947"/>
            <a:ext cx="2137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DB092F93-DF71-4F57-B7EB-7DC3DD6F69F0}"/>
              </a:ext>
            </a:extLst>
          </p:cNvPr>
          <p:cNvSpPr txBox="1"/>
          <p:nvPr/>
        </p:nvSpPr>
        <p:spPr>
          <a:xfrm>
            <a:off x="9172914" y="1528722"/>
            <a:ext cx="179007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Summary</a:t>
            </a:r>
            <a:r>
              <a:rPr lang="es-CO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plot</a:t>
            </a:r>
            <a:r>
              <a:rPr lang="es-CO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E181DF9-5FFE-43A4-AE30-75F711D47CF4}"/>
              </a:ext>
            </a:extLst>
          </p:cNvPr>
          <p:cNvSpPr txBox="1"/>
          <p:nvPr/>
        </p:nvSpPr>
        <p:spPr>
          <a:xfrm>
            <a:off x="3942574" y="1528722"/>
            <a:ext cx="27845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Feature</a:t>
            </a:r>
            <a:r>
              <a:rPr lang="es-CO" sz="2000" b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CO" sz="20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importance</a:t>
            </a:r>
            <a:endParaRPr lang="es-CO" sz="2000" b="1">
              <a:solidFill>
                <a:prstClr val="black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436BCDFC-D00E-4F58-99B8-433C72DB0942}"/>
              </a:ext>
            </a:extLst>
          </p:cNvPr>
          <p:cNvGrpSpPr/>
          <p:nvPr/>
        </p:nvGrpSpPr>
        <p:grpSpPr>
          <a:xfrm>
            <a:off x="2676155" y="2124132"/>
            <a:ext cx="456463" cy="2630574"/>
            <a:chOff x="2342907" y="2124132"/>
            <a:chExt cx="456463" cy="2630574"/>
          </a:xfrm>
        </p:grpSpPr>
        <p:sp>
          <p:nvSpPr>
            <p:cNvPr id="42" name="Rectángulo 41">
              <a:extLst>
                <a:ext uri="{FF2B5EF4-FFF2-40B4-BE49-F238E27FC236}">
                  <a16:creationId xmlns:a16="http://schemas.microsoft.com/office/drawing/2014/main" id="{7B6F2F6E-D829-4E01-B66D-A2618AF1E2ED}"/>
                </a:ext>
              </a:extLst>
            </p:cNvPr>
            <p:cNvSpPr/>
            <p:nvPr/>
          </p:nvSpPr>
          <p:spPr>
            <a:xfrm>
              <a:off x="2342907" y="2124132"/>
              <a:ext cx="445008" cy="263057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B908A331-8854-4027-88FC-18854D73E7E0}"/>
                    </a:ext>
                  </a:extLst>
                </p:cNvPr>
                <p:cNvSpPr txBox="1"/>
                <p:nvPr/>
              </p:nvSpPr>
              <p:spPr>
                <a:xfrm>
                  <a:off x="2414810" y="2500678"/>
                  <a:ext cx="37824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28" name="CuadroTexto 27">
                  <a:extLst>
                    <a:ext uri="{FF2B5EF4-FFF2-40B4-BE49-F238E27FC236}">
                      <a16:creationId xmlns:a16="http://schemas.microsoft.com/office/drawing/2014/main" id="{B908A331-8854-4027-88FC-18854D73E7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4810" y="2500678"/>
                  <a:ext cx="378244" cy="169277"/>
                </a:xfrm>
                <a:prstGeom prst="rect">
                  <a:avLst/>
                </a:prstGeom>
                <a:blipFill>
                  <a:blip r:embed="rId4"/>
                  <a:stretch>
                    <a:fillRect l="-8065" r="-3226" b="-178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C2E78934-9427-4745-A2A2-25EE4537F882}"/>
                    </a:ext>
                  </a:extLst>
                </p:cNvPr>
                <p:cNvSpPr txBox="1"/>
                <p:nvPr/>
              </p:nvSpPr>
              <p:spPr>
                <a:xfrm>
                  <a:off x="2434045" y="3608177"/>
                  <a:ext cx="35900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29" name="CuadroTexto 28">
                  <a:extLst>
                    <a:ext uri="{FF2B5EF4-FFF2-40B4-BE49-F238E27FC236}">
                      <a16:creationId xmlns:a16="http://schemas.microsoft.com/office/drawing/2014/main" id="{C2E78934-9427-4745-A2A2-25EE4537F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045" y="3608177"/>
                  <a:ext cx="359009" cy="169277"/>
                </a:xfrm>
                <a:prstGeom prst="rect">
                  <a:avLst/>
                </a:prstGeom>
                <a:blipFill>
                  <a:blip r:embed="rId5"/>
                  <a:stretch>
                    <a:fillRect l="-13559" r="-5085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98C3A9D2-B915-4A37-9FFC-E459717B2F5D}"/>
                    </a:ext>
                  </a:extLst>
                </p:cNvPr>
                <p:cNvSpPr txBox="1"/>
                <p:nvPr/>
              </p:nvSpPr>
              <p:spPr>
                <a:xfrm>
                  <a:off x="2522018" y="4161659"/>
                  <a:ext cx="271036" cy="182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𝑔𝑑𝑙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0" name="CuadroTexto 29">
                  <a:extLst>
                    <a:ext uri="{FF2B5EF4-FFF2-40B4-BE49-F238E27FC236}">
                      <a16:creationId xmlns:a16="http://schemas.microsoft.com/office/drawing/2014/main" id="{98C3A9D2-B915-4A37-9FFC-E459717B2F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2018" y="4161659"/>
                  <a:ext cx="271036" cy="182999"/>
                </a:xfrm>
                <a:prstGeom prst="rect">
                  <a:avLst/>
                </a:prstGeom>
                <a:blipFill>
                  <a:blip r:embed="rId6"/>
                  <a:stretch>
                    <a:fillRect l="-6667" r="-8889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EA047C54-2BFC-4269-B72B-64770B085F3A}"/>
                    </a:ext>
                  </a:extLst>
                </p:cNvPr>
                <p:cNvSpPr txBox="1"/>
                <p:nvPr/>
              </p:nvSpPr>
              <p:spPr>
                <a:xfrm>
                  <a:off x="2538689" y="3389126"/>
                  <a:ext cx="25436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𝑚𝑐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1" name="CuadroTexto 30">
                  <a:extLst>
                    <a:ext uri="{FF2B5EF4-FFF2-40B4-BE49-F238E27FC236}">
                      <a16:creationId xmlns:a16="http://schemas.microsoft.com/office/drawing/2014/main" id="{EA047C54-2BFC-4269-B72B-64770B085F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8689" y="3389126"/>
                  <a:ext cx="254365" cy="169277"/>
                </a:xfrm>
                <a:prstGeom prst="rect">
                  <a:avLst/>
                </a:prstGeom>
                <a:blipFill>
                  <a:blip r:embed="rId7"/>
                  <a:stretch>
                    <a:fillRect l="-7143" r="-238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1F186997-7A23-4123-A3CB-D6C213AD4F26}"/>
                    </a:ext>
                  </a:extLst>
                </p:cNvPr>
                <p:cNvSpPr txBox="1"/>
                <p:nvPr/>
              </p:nvSpPr>
              <p:spPr>
                <a:xfrm>
                  <a:off x="2634870" y="4346286"/>
                  <a:ext cx="15818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2" name="CuadroTexto 31">
                  <a:extLst>
                    <a:ext uri="{FF2B5EF4-FFF2-40B4-BE49-F238E27FC236}">
                      <a16:creationId xmlns:a16="http://schemas.microsoft.com/office/drawing/2014/main" id="{1F186997-7A23-4123-A3CB-D6C213AD4F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4870" y="4346286"/>
                  <a:ext cx="158184" cy="169277"/>
                </a:xfrm>
                <a:prstGeom prst="rect">
                  <a:avLst/>
                </a:prstGeom>
                <a:blipFill>
                  <a:blip r:embed="rId8"/>
                  <a:stretch>
                    <a:fillRect l="-11538" r="-3846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C3FBBE94-2EBD-4D55-A3DA-69DB50558D58}"/>
                    </a:ext>
                  </a:extLst>
                </p:cNvPr>
                <p:cNvSpPr txBox="1"/>
                <p:nvPr/>
              </p:nvSpPr>
              <p:spPr>
                <a:xfrm>
                  <a:off x="2693860" y="3241125"/>
                  <a:ext cx="991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3" name="CuadroTexto 32">
                  <a:extLst>
                    <a:ext uri="{FF2B5EF4-FFF2-40B4-BE49-F238E27FC236}">
                      <a16:creationId xmlns:a16="http://schemas.microsoft.com/office/drawing/2014/main" id="{C3FBBE94-2EBD-4D55-A3DA-69DB50558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860" y="3241125"/>
                  <a:ext cx="99194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18750" r="-25000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7844387A-917F-4DF1-906B-CBD12FDD79B4}"/>
                    </a:ext>
                  </a:extLst>
                </p:cNvPr>
                <p:cNvSpPr txBox="1"/>
                <p:nvPr/>
              </p:nvSpPr>
              <p:spPr>
                <a:xfrm>
                  <a:off x="2378838" y="2286946"/>
                  <a:ext cx="414216" cy="1828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4" name="CuadroTexto 33">
                  <a:extLst>
                    <a:ext uri="{FF2B5EF4-FFF2-40B4-BE49-F238E27FC236}">
                      <a16:creationId xmlns:a16="http://schemas.microsoft.com/office/drawing/2014/main" id="{7844387A-917F-4DF1-906B-CBD12FDD79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8838" y="2286946"/>
                  <a:ext cx="414216" cy="182807"/>
                </a:xfrm>
                <a:prstGeom prst="rect">
                  <a:avLst/>
                </a:prstGeom>
                <a:blipFill>
                  <a:blip r:embed="rId10"/>
                  <a:stretch>
                    <a:fillRect l="-7353" r="-5882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6E725AAF-99FF-4746-98A3-982708322466}"/>
                    </a:ext>
                  </a:extLst>
                </p:cNvPr>
                <p:cNvSpPr txBox="1"/>
                <p:nvPr/>
              </p:nvSpPr>
              <p:spPr>
                <a:xfrm>
                  <a:off x="2563760" y="3972263"/>
                  <a:ext cx="2292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5" name="CuadroTexto 34">
                  <a:extLst>
                    <a:ext uri="{FF2B5EF4-FFF2-40B4-BE49-F238E27FC236}">
                      <a16:creationId xmlns:a16="http://schemas.microsoft.com/office/drawing/2014/main" id="{6E725AAF-99FF-4746-98A3-9827083224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3760" y="3972263"/>
                  <a:ext cx="229294" cy="169277"/>
                </a:xfrm>
                <a:prstGeom prst="rect">
                  <a:avLst/>
                </a:prstGeom>
                <a:blipFill>
                  <a:blip r:embed="rId11"/>
                  <a:stretch>
                    <a:fillRect l="-7895" r="-2632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5C2ABCF1-AFED-4F1D-B366-8AB53FD606C2}"/>
                    </a:ext>
                  </a:extLst>
                </p:cNvPr>
                <p:cNvSpPr txBox="1"/>
                <p:nvPr/>
              </p:nvSpPr>
              <p:spPr>
                <a:xfrm>
                  <a:off x="2624237" y="3064976"/>
                  <a:ext cx="16940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6" name="CuadroTexto 35">
                  <a:extLst>
                    <a:ext uri="{FF2B5EF4-FFF2-40B4-BE49-F238E27FC236}">
                      <a16:creationId xmlns:a16="http://schemas.microsoft.com/office/drawing/2014/main" id="{5C2ABCF1-AFED-4F1D-B366-8AB53FD606C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24237" y="3064976"/>
                  <a:ext cx="169405" cy="169277"/>
                </a:xfrm>
                <a:prstGeom prst="rect">
                  <a:avLst/>
                </a:prstGeom>
                <a:blipFill>
                  <a:blip r:embed="rId12"/>
                  <a:stretch>
                    <a:fillRect l="-10714" r="-3571" b="-10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E5AF79C3-C541-4F09-8271-A56131A158D9}"/>
                    </a:ext>
                  </a:extLst>
                </p:cNvPr>
                <p:cNvSpPr txBox="1"/>
                <p:nvPr/>
              </p:nvSpPr>
              <p:spPr>
                <a:xfrm>
                  <a:off x="2532085" y="2703910"/>
                  <a:ext cx="26096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𝑇𝑓𝑐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7" name="CuadroTexto 36">
                  <a:extLst>
                    <a:ext uri="{FF2B5EF4-FFF2-40B4-BE49-F238E27FC236}">
                      <a16:creationId xmlns:a16="http://schemas.microsoft.com/office/drawing/2014/main" id="{E5AF79C3-C541-4F09-8271-A56131A158D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085" y="2703910"/>
                  <a:ext cx="260969" cy="169277"/>
                </a:xfrm>
                <a:prstGeom prst="rect">
                  <a:avLst/>
                </a:prstGeom>
                <a:blipFill>
                  <a:blip r:embed="rId13"/>
                  <a:stretch>
                    <a:fillRect l="-18605" r="-18605" b="-4074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7DED916-00D3-4253-9146-63A3520EECCD}"/>
                    </a:ext>
                  </a:extLst>
                </p:cNvPr>
                <p:cNvSpPr txBox="1"/>
                <p:nvPr/>
              </p:nvSpPr>
              <p:spPr>
                <a:xfrm>
                  <a:off x="2617044" y="3820408"/>
                  <a:ext cx="17601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𝑆𝑐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8" name="CuadroTexto 37">
                  <a:extLst>
                    <a:ext uri="{FF2B5EF4-FFF2-40B4-BE49-F238E27FC236}">
                      <a16:creationId xmlns:a16="http://schemas.microsoft.com/office/drawing/2014/main" id="{A7DED916-00D3-4253-9146-63A3520EE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044" y="3820408"/>
                  <a:ext cx="176010" cy="169277"/>
                </a:xfrm>
                <a:prstGeom prst="rect">
                  <a:avLst/>
                </a:prstGeom>
                <a:blipFill>
                  <a:blip r:embed="rId14"/>
                  <a:stretch>
                    <a:fillRect l="-17241" r="-17241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5D2FD654-FB3F-49E2-AED6-3EFF05D53AF9}"/>
                    </a:ext>
                  </a:extLst>
                </p:cNvPr>
                <p:cNvSpPr txBox="1"/>
                <p:nvPr/>
              </p:nvSpPr>
              <p:spPr>
                <a:xfrm>
                  <a:off x="2570557" y="2153736"/>
                  <a:ext cx="222497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𝑖𝑓𝑐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1" name="CuadroTexto 40">
                  <a:extLst>
                    <a:ext uri="{FF2B5EF4-FFF2-40B4-BE49-F238E27FC236}">
                      <a16:creationId xmlns:a16="http://schemas.microsoft.com/office/drawing/2014/main" id="{5D2FD654-FB3F-49E2-AED6-3EFF05D53A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557" y="2153736"/>
                  <a:ext cx="222497" cy="169277"/>
                </a:xfrm>
                <a:prstGeom prst="rect">
                  <a:avLst/>
                </a:prstGeom>
                <a:blipFill>
                  <a:blip r:embed="rId15"/>
                  <a:stretch>
                    <a:fillRect l="-21622" r="-21622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97D895B1-66FF-4C17-A446-78FBDA4490F1}"/>
                    </a:ext>
                  </a:extLst>
                </p:cNvPr>
                <p:cNvSpPr txBox="1"/>
                <p:nvPr/>
              </p:nvSpPr>
              <p:spPr>
                <a:xfrm>
                  <a:off x="2687384" y="4554275"/>
                  <a:ext cx="10567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39" name="CuadroTexto 38">
                  <a:extLst>
                    <a:ext uri="{FF2B5EF4-FFF2-40B4-BE49-F238E27FC236}">
                      <a16:creationId xmlns:a16="http://schemas.microsoft.com/office/drawing/2014/main" id="{97D895B1-66FF-4C17-A446-78FBDA4490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7384" y="4554275"/>
                  <a:ext cx="105670" cy="169277"/>
                </a:xfrm>
                <a:prstGeom prst="rect">
                  <a:avLst/>
                </a:prstGeom>
                <a:blipFill>
                  <a:blip r:embed="rId16"/>
                  <a:stretch>
                    <a:fillRect l="-17647" r="-176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8CDD01DE-87CA-4754-9495-1958870F20B7}"/>
                    </a:ext>
                  </a:extLst>
                </p:cNvPr>
                <p:cNvSpPr txBox="1"/>
                <p:nvPr/>
              </p:nvSpPr>
              <p:spPr>
                <a:xfrm>
                  <a:off x="2603932" y="2898231"/>
                  <a:ext cx="19543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40" name="CuadroTexto 39">
                  <a:extLst>
                    <a:ext uri="{FF2B5EF4-FFF2-40B4-BE49-F238E27FC236}">
                      <a16:creationId xmlns:a16="http://schemas.microsoft.com/office/drawing/2014/main" id="{8CDD01DE-87CA-4754-9495-1958870F20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3932" y="2898231"/>
                  <a:ext cx="195438" cy="169277"/>
                </a:xfrm>
                <a:prstGeom prst="rect">
                  <a:avLst/>
                </a:prstGeom>
                <a:blipFill>
                  <a:blip r:embed="rId17"/>
                  <a:stretch>
                    <a:fillRect l="-15625" r="-15625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3" name="CuadroTexto 62">
            <a:extLst>
              <a:ext uri="{FF2B5EF4-FFF2-40B4-BE49-F238E27FC236}">
                <a16:creationId xmlns:a16="http://schemas.microsoft.com/office/drawing/2014/main" id="{771F9AF2-44F0-445C-91F2-F3A3E7B34443}"/>
              </a:ext>
            </a:extLst>
          </p:cNvPr>
          <p:cNvSpPr txBox="1"/>
          <p:nvPr/>
        </p:nvSpPr>
        <p:spPr>
          <a:xfrm>
            <a:off x="2997816" y="5136732"/>
            <a:ext cx="467584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n-US" sz="1200"/>
              <a:t>SHAP feature importance ranking based on the </a:t>
            </a:r>
            <a:r>
              <a:rPr lang="en-US" sz="1200" err="1"/>
              <a:t>XGBoost</a:t>
            </a:r>
            <a:r>
              <a:rPr lang="en-US" sz="1200"/>
              <a:t> model, showing the top contributors to the output in the Mass Transport region.</a:t>
            </a:r>
            <a:endParaRPr lang="es-CO" sz="1200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3896E080-0E53-48E4-B458-F980106CCA52}"/>
              </a:ext>
            </a:extLst>
          </p:cNvPr>
          <p:cNvSpPr txBox="1"/>
          <p:nvPr/>
        </p:nvSpPr>
        <p:spPr>
          <a:xfrm>
            <a:off x="8265189" y="5315905"/>
            <a:ext cx="360552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n-US" sz="1200"/>
              <a:t>SHAP summary plot showing feature impact on the </a:t>
            </a:r>
            <a:r>
              <a:rPr lang="en-US" sz="1200" err="1"/>
              <a:t>XGBoost</a:t>
            </a:r>
            <a:r>
              <a:rPr lang="en-US" sz="1200"/>
              <a:t> model for the Mass Transport region. Color indicates feature value; horizontal spread reflects influence.</a:t>
            </a:r>
            <a:endParaRPr lang="es-CO" sz="1200"/>
          </a:p>
          <a:p>
            <a:endParaRPr lang="es-CO" sz="1200"/>
          </a:p>
        </p:txBody>
      </p:sp>
      <p:sp>
        <p:nvSpPr>
          <p:cNvPr id="62" name="Google Shape;453;g36edeb4292e_1_43">
            <a:extLst>
              <a:ext uri="{FF2B5EF4-FFF2-40B4-BE49-F238E27FC236}">
                <a16:creationId xmlns:a16="http://schemas.microsoft.com/office/drawing/2014/main" id="{C1B5E6F0-657B-4C87-8CD4-0EE7DD712DC6}"/>
              </a:ext>
            </a:extLst>
          </p:cNvPr>
          <p:cNvSpPr/>
          <p:nvPr/>
        </p:nvSpPr>
        <p:spPr>
          <a:xfrm>
            <a:off x="893443" y="2908800"/>
            <a:ext cx="1895293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Mass Transport</a:t>
            </a:r>
            <a:endParaRPr sz="1600" b="1"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grpSp>
        <p:nvGrpSpPr>
          <p:cNvPr id="64" name="Grupo 63">
            <a:extLst>
              <a:ext uri="{FF2B5EF4-FFF2-40B4-BE49-F238E27FC236}">
                <a16:creationId xmlns:a16="http://schemas.microsoft.com/office/drawing/2014/main" id="{DB86981C-5C0B-4092-B799-295DB352CBE2}"/>
              </a:ext>
            </a:extLst>
          </p:cNvPr>
          <p:cNvGrpSpPr/>
          <p:nvPr/>
        </p:nvGrpSpPr>
        <p:grpSpPr>
          <a:xfrm>
            <a:off x="8116414" y="2017150"/>
            <a:ext cx="456463" cy="2829170"/>
            <a:chOff x="2342907" y="2124132"/>
            <a:chExt cx="456463" cy="2829170"/>
          </a:xfrm>
        </p:grpSpPr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B8C8FE5D-7A1A-4E3D-A543-184E15AF862C}"/>
                </a:ext>
              </a:extLst>
            </p:cNvPr>
            <p:cNvSpPr/>
            <p:nvPr/>
          </p:nvSpPr>
          <p:spPr>
            <a:xfrm>
              <a:off x="2342907" y="2124132"/>
              <a:ext cx="445008" cy="28291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07BFA5DB-4E45-421E-A7EE-80D5CB397803}"/>
                    </a:ext>
                  </a:extLst>
                </p:cNvPr>
                <p:cNvSpPr txBox="1"/>
                <p:nvPr/>
              </p:nvSpPr>
              <p:spPr>
                <a:xfrm>
                  <a:off x="2414810" y="2500678"/>
                  <a:ext cx="37824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07BFA5DB-4E45-421E-A7EE-80D5CB3978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14810" y="2500678"/>
                  <a:ext cx="378244" cy="169277"/>
                </a:xfrm>
                <a:prstGeom prst="rect">
                  <a:avLst/>
                </a:prstGeom>
                <a:blipFill>
                  <a:blip r:embed="rId4"/>
                  <a:stretch>
                    <a:fillRect l="-8065" r="-3226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950D3884-A3BE-4AC3-9323-0227CE5FC559}"/>
                    </a:ext>
                  </a:extLst>
                </p:cNvPr>
                <p:cNvSpPr txBox="1"/>
                <p:nvPr/>
              </p:nvSpPr>
              <p:spPr>
                <a:xfrm>
                  <a:off x="2434045" y="3736193"/>
                  <a:ext cx="35900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𝑐𝑑𝑒𝑠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950D3884-A3BE-4AC3-9323-0227CE5FC5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34045" y="3736193"/>
                  <a:ext cx="359009" cy="169277"/>
                </a:xfrm>
                <a:prstGeom prst="rect">
                  <a:avLst/>
                </a:prstGeom>
                <a:blipFill>
                  <a:blip r:embed="rId5"/>
                  <a:stretch>
                    <a:fillRect l="-13559" r="-5085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80BC2B16-ED90-4629-A636-85B9D08BB751}"/>
                    </a:ext>
                  </a:extLst>
                </p:cNvPr>
                <p:cNvSpPr txBox="1"/>
                <p:nvPr/>
              </p:nvSpPr>
              <p:spPr>
                <a:xfrm>
                  <a:off x="2522018" y="4350635"/>
                  <a:ext cx="271036" cy="182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𝑔𝑑𝑙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80BC2B16-ED90-4629-A636-85B9D08BB7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2018" y="4350635"/>
                  <a:ext cx="271036" cy="182999"/>
                </a:xfrm>
                <a:prstGeom prst="rect">
                  <a:avLst/>
                </a:prstGeom>
                <a:blipFill>
                  <a:blip r:embed="rId6"/>
                  <a:stretch>
                    <a:fillRect l="-6818" r="-11364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8894E718-3C33-4BCE-85D7-E335CB1CC189}"/>
                    </a:ext>
                  </a:extLst>
                </p:cNvPr>
                <p:cNvSpPr txBox="1"/>
                <p:nvPr/>
              </p:nvSpPr>
              <p:spPr>
                <a:xfrm>
                  <a:off x="2538689" y="3517142"/>
                  <a:ext cx="25436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𝑚𝑐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8894E718-3C33-4BCE-85D7-E335CB1CC1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8689" y="3517142"/>
                  <a:ext cx="254365" cy="169277"/>
                </a:xfrm>
                <a:prstGeom prst="rect">
                  <a:avLst/>
                </a:prstGeom>
                <a:blipFill>
                  <a:blip r:embed="rId18"/>
                  <a:stretch>
                    <a:fillRect l="-7317" r="-2439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6968FC30-2FC4-43D6-AA01-D5E63381906C}"/>
                    </a:ext>
                  </a:extLst>
                </p:cNvPr>
                <p:cNvSpPr txBox="1"/>
                <p:nvPr/>
              </p:nvSpPr>
              <p:spPr>
                <a:xfrm>
                  <a:off x="2634870" y="4535262"/>
                  <a:ext cx="15818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6968FC30-2FC4-43D6-AA01-D5E6338190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34870" y="4535262"/>
                  <a:ext cx="158184" cy="169277"/>
                </a:xfrm>
                <a:prstGeom prst="rect">
                  <a:avLst/>
                </a:prstGeom>
                <a:blipFill>
                  <a:blip r:embed="rId19"/>
                  <a:stretch>
                    <a:fillRect l="-11538" r="-7692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C3B5E7E0-1E42-43F5-B725-F33DB379F1AA}"/>
                    </a:ext>
                  </a:extLst>
                </p:cNvPr>
                <p:cNvSpPr txBox="1"/>
                <p:nvPr/>
              </p:nvSpPr>
              <p:spPr>
                <a:xfrm>
                  <a:off x="2693860" y="3369141"/>
                  <a:ext cx="991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C3B5E7E0-1E42-43F5-B725-F33DB379F1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93860" y="3369141"/>
                  <a:ext cx="99194" cy="169277"/>
                </a:xfrm>
                <a:prstGeom prst="rect">
                  <a:avLst/>
                </a:prstGeom>
                <a:blipFill>
                  <a:blip r:embed="rId9"/>
                  <a:stretch>
                    <a:fillRect l="-18750" r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E066B26C-0B4C-4523-BA93-FD2B71080E84}"/>
                    </a:ext>
                  </a:extLst>
                </p:cNvPr>
                <p:cNvSpPr txBox="1"/>
                <p:nvPr/>
              </p:nvSpPr>
              <p:spPr>
                <a:xfrm>
                  <a:off x="2378838" y="2286946"/>
                  <a:ext cx="414216" cy="1828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E066B26C-0B4C-4523-BA93-FD2B71080E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78838" y="2286946"/>
                  <a:ext cx="414216" cy="182807"/>
                </a:xfrm>
                <a:prstGeom prst="rect">
                  <a:avLst/>
                </a:prstGeom>
                <a:blipFill>
                  <a:blip r:embed="rId10"/>
                  <a:stretch>
                    <a:fillRect l="-7353" r="-5882" b="-3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EB5640F2-48BF-4484-956A-520351F30B11}"/>
                    </a:ext>
                  </a:extLst>
                </p:cNvPr>
                <p:cNvSpPr txBox="1"/>
                <p:nvPr/>
              </p:nvSpPr>
              <p:spPr>
                <a:xfrm>
                  <a:off x="2563760" y="4136855"/>
                  <a:ext cx="229294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EB5640F2-48BF-4484-956A-520351F30B1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3760" y="4136855"/>
                  <a:ext cx="229294" cy="169277"/>
                </a:xfrm>
                <a:prstGeom prst="rect">
                  <a:avLst/>
                </a:prstGeom>
                <a:blipFill>
                  <a:blip r:embed="rId20"/>
                  <a:stretch>
                    <a:fillRect l="-8108" r="-2703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E814499C-99C8-482C-B46E-6296DDE2EAF3}"/>
                    </a:ext>
                  </a:extLst>
                </p:cNvPr>
                <p:cNvSpPr txBox="1"/>
                <p:nvPr/>
              </p:nvSpPr>
              <p:spPr>
                <a:xfrm>
                  <a:off x="2618510" y="3132831"/>
                  <a:ext cx="16940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11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11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E814499C-99C8-482C-B46E-6296DDE2EAF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8510" y="3132831"/>
                  <a:ext cx="169405" cy="169277"/>
                </a:xfrm>
                <a:prstGeom prst="rect">
                  <a:avLst/>
                </a:prstGeom>
                <a:blipFill>
                  <a:blip r:embed="rId21"/>
                  <a:stretch>
                    <a:fillRect l="-11111" r="-3704" b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A43ED78-4E5B-4703-96D6-3F6DC26E5F9C}"/>
                    </a:ext>
                  </a:extLst>
                </p:cNvPr>
                <p:cNvSpPr txBox="1"/>
                <p:nvPr/>
              </p:nvSpPr>
              <p:spPr>
                <a:xfrm>
                  <a:off x="2532085" y="2734390"/>
                  <a:ext cx="26096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𝑇𝑓𝑐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A43ED78-4E5B-4703-96D6-3F6DC26E5F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2085" y="2734390"/>
                  <a:ext cx="260969" cy="169277"/>
                </a:xfrm>
                <a:prstGeom prst="rect">
                  <a:avLst/>
                </a:prstGeom>
                <a:blipFill>
                  <a:blip r:embed="rId13"/>
                  <a:stretch>
                    <a:fillRect l="-18605" r="-18605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67208A35-CBAD-42AA-B40C-916FD2172873}"/>
                    </a:ext>
                  </a:extLst>
                </p:cNvPr>
                <p:cNvSpPr txBox="1"/>
                <p:nvPr/>
              </p:nvSpPr>
              <p:spPr>
                <a:xfrm>
                  <a:off x="2617044" y="3954520"/>
                  <a:ext cx="17601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𝑆𝑐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7" name="CuadroTexto 76">
                  <a:extLst>
                    <a:ext uri="{FF2B5EF4-FFF2-40B4-BE49-F238E27FC236}">
                      <a16:creationId xmlns:a16="http://schemas.microsoft.com/office/drawing/2014/main" id="{67208A35-CBAD-42AA-B40C-916FD21728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7044" y="3954520"/>
                  <a:ext cx="176010" cy="169277"/>
                </a:xfrm>
                <a:prstGeom prst="rect">
                  <a:avLst/>
                </a:prstGeom>
                <a:blipFill>
                  <a:blip r:embed="rId14"/>
                  <a:stretch>
                    <a:fillRect l="-17241" r="-17241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1F422C9E-E1B3-44A1-A8E4-C5B17392607E}"/>
                    </a:ext>
                  </a:extLst>
                </p:cNvPr>
                <p:cNvSpPr txBox="1"/>
                <p:nvPr/>
              </p:nvSpPr>
              <p:spPr>
                <a:xfrm>
                  <a:off x="2570557" y="2153736"/>
                  <a:ext cx="222497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𝑖𝑓𝑐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8" name="CuadroTexto 77">
                  <a:extLst>
                    <a:ext uri="{FF2B5EF4-FFF2-40B4-BE49-F238E27FC236}">
                      <a16:creationId xmlns:a16="http://schemas.microsoft.com/office/drawing/2014/main" id="{1F422C9E-E1B3-44A1-A8E4-C5B1739260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70557" y="2153736"/>
                  <a:ext cx="222497" cy="169277"/>
                </a:xfrm>
                <a:prstGeom prst="rect">
                  <a:avLst/>
                </a:prstGeom>
                <a:blipFill>
                  <a:blip r:embed="rId15"/>
                  <a:stretch>
                    <a:fillRect l="-22222" r="-25000" b="-3571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CuadroTexto 78">
                  <a:extLst>
                    <a:ext uri="{FF2B5EF4-FFF2-40B4-BE49-F238E27FC236}">
                      <a16:creationId xmlns:a16="http://schemas.microsoft.com/office/drawing/2014/main" id="{DFA89055-275B-469F-9F88-946A0D958B73}"/>
                    </a:ext>
                  </a:extLst>
                </p:cNvPr>
                <p:cNvSpPr txBox="1"/>
                <p:nvPr/>
              </p:nvSpPr>
              <p:spPr>
                <a:xfrm>
                  <a:off x="2687384" y="4767635"/>
                  <a:ext cx="10567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79" name="CuadroTexto 78">
                  <a:extLst>
                    <a:ext uri="{FF2B5EF4-FFF2-40B4-BE49-F238E27FC236}">
                      <a16:creationId xmlns:a16="http://schemas.microsoft.com/office/drawing/2014/main" id="{DFA89055-275B-469F-9F88-946A0D958B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87384" y="4767635"/>
                  <a:ext cx="105670" cy="169277"/>
                </a:xfrm>
                <a:prstGeom prst="rect">
                  <a:avLst/>
                </a:prstGeom>
                <a:blipFill>
                  <a:blip r:embed="rId16"/>
                  <a:stretch>
                    <a:fillRect l="-17647" r="-17647" b="-37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CuadroTexto 79">
                  <a:extLst>
                    <a:ext uri="{FF2B5EF4-FFF2-40B4-BE49-F238E27FC236}">
                      <a16:creationId xmlns:a16="http://schemas.microsoft.com/office/drawing/2014/main" id="{2662CF1A-70BF-4D22-A351-D4194EB1FCF7}"/>
                    </a:ext>
                  </a:extLst>
                </p:cNvPr>
                <p:cNvSpPr txBox="1"/>
                <p:nvPr/>
              </p:nvSpPr>
              <p:spPr>
                <a:xfrm>
                  <a:off x="2603932" y="2928649"/>
                  <a:ext cx="195438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11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oMath>
                    </m:oMathPara>
                  </a14:m>
                  <a:endParaRPr lang="es-CO" sz="1100"/>
                </a:p>
              </p:txBody>
            </p:sp>
          </mc:Choice>
          <mc:Fallback xmlns="">
            <p:sp>
              <p:nvSpPr>
                <p:cNvPr id="80" name="CuadroTexto 79">
                  <a:extLst>
                    <a:ext uri="{FF2B5EF4-FFF2-40B4-BE49-F238E27FC236}">
                      <a16:creationId xmlns:a16="http://schemas.microsoft.com/office/drawing/2014/main" id="{2662CF1A-70BF-4D22-A351-D4194EB1FC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03932" y="2928649"/>
                  <a:ext cx="195438" cy="169277"/>
                </a:xfrm>
                <a:prstGeom prst="rect">
                  <a:avLst/>
                </a:prstGeom>
                <a:blipFill>
                  <a:blip r:embed="rId17"/>
                  <a:stretch>
                    <a:fillRect l="-15625" r="-15625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Grupo 1">
            <a:extLst>
              <a:ext uri="{FF2B5EF4-FFF2-40B4-BE49-F238E27FC236}">
                <a16:creationId xmlns:a16="http://schemas.microsoft.com/office/drawing/2014/main" id="{EEC06203-B060-830A-DD42-41957F2D77A6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048CFDCE-2FF6-8CB5-31E2-36DB42CC59FD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1D074997-E595-E9A7-AFB3-9EB025FF8E6B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EF71229E-F138-607D-A696-1F3FDBD69E0F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0674811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EF675-A3B6-443F-A291-A402B178BE10}"/>
              </a:ext>
            </a:extLst>
          </p:cNvPr>
          <p:cNvSpPr txBox="1"/>
          <p:nvPr/>
        </p:nvSpPr>
        <p:spPr>
          <a:xfrm>
            <a:off x="893443" y="1370254"/>
            <a:ext cx="32445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6630B0-2AF7-45BA-A028-A6EB132952DB}"/>
              </a:ext>
            </a:extLst>
          </p:cNvPr>
          <p:cNvSpPr txBox="1"/>
          <p:nvPr/>
        </p:nvSpPr>
        <p:spPr>
          <a:xfrm>
            <a:off x="893443" y="943947"/>
            <a:ext cx="2137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7" name="CuadroTexto 76">
            <a:extLst>
              <a:ext uri="{FF2B5EF4-FFF2-40B4-BE49-F238E27FC236}">
                <a16:creationId xmlns:a16="http://schemas.microsoft.com/office/drawing/2014/main" id="{780D9CC7-D777-45F3-A749-30B5C18B48F3}"/>
              </a:ext>
            </a:extLst>
          </p:cNvPr>
          <p:cNvSpPr txBox="1"/>
          <p:nvPr/>
        </p:nvSpPr>
        <p:spPr>
          <a:xfrm>
            <a:off x="907097" y="3429000"/>
            <a:ext cx="235829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/>
              <a:t>N = 8.192</a:t>
            </a:r>
          </a:p>
          <a:p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→ </a:t>
            </a:r>
            <a:r>
              <a:rPr kumimoji="0" lang="es-CO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245,760 </a:t>
            </a:r>
            <a:r>
              <a:rPr kumimoji="0" lang="es-CO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configurations</a:t>
            </a:r>
            <a:endParaRPr kumimoji="0" lang="es-CO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s-CO" sz="1400" b="1"/>
          </a:p>
          <a:p>
            <a:r>
              <a:rPr lang="es-CO" sz="1400"/>
              <a:t>Sum S1 = 0.9217</a:t>
            </a:r>
          </a:p>
          <a:p>
            <a:r>
              <a:rPr lang="es-CO" sz="1400"/>
              <a:t>Sum S2 = 0.0510</a:t>
            </a:r>
          </a:p>
          <a:p>
            <a:r>
              <a:rPr lang="es-CO" sz="1400"/>
              <a:t>Sum S1 + S2 = 0.9727</a:t>
            </a:r>
          </a:p>
          <a:p>
            <a:r>
              <a:rPr lang="es-CO" sz="1400"/>
              <a:t>Sum ST = 1.1068</a:t>
            </a:r>
          </a:p>
        </p:txBody>
      </p: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CDBB3F57-8E91-4EC2-A620-D052DCF463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9128099"/>
              </p:ext>
            </p:extLst>
          </p:nvPr>
        </p:nvGraphicFramePr>
        <p:xfrm>
          <a:off x="3525520" y="1636947"/>
          <a:ext cx="8118612" cy="4044068"/>
        </p:xfrm>
        <a:graphic>
          <a:graphicData uri="http://schemas.openxmlformats.org/drawingml/2006/table">
            <a:tbl>
              <a:tblPr/>
              <a:tblGrid>
                <a:gridCol w="1216281">
                  <a:extLst>
                    <a:ext uri="{9D8B030D-6E8A-4147-A177-3AD203B41FA5}">
                      <a16:colId xmlns:a16="http://schemas.microsoft.com/office/drawing/2014/main" val="3158671648"/>
                    </a:ext>
                  </a:extLst>
                </a:gridCol>
                <a:gridCol w="1086293">
                  <a:extLst>
                    <a:ext uri="{9D8B030D-6E8A-4147-A177-3AD203B41FA5}">
                      <a16:colId xmlns:a16="http://schemas.microsoft.com/office/drawing/2014/main" val="923774245"/>
                    </a:ext>
                  </a:extLst>
                </a:gridCol>
                <a:gridCol w="1484574">
                  <a:extLst>
                    <a:ext uri="{9D8B030D-6E8A-4147-A177-3AD203B41FA5}">
                      <a16:colId xmlns:a16="http://schemas.microsoft.com/office/drawing/2014/main" val="2406905423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2756400743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3705247648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2855012562"/>
                    </a:ext>
                  </a:extLst>
                </a:gridCol>
                <a:gridCol w="1082866">
                  <a:extLst>
                    <a:ext uri="{9D8B030D-6E8A-4147-A177-3AD203B41FA5}">
                      <a16:colId xmlns:a16="http://schemas.microsoft.com/office/drawing/2014/main" val="930675123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600" b="1" kern="1200" err="1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Feature</a:t>
                      </a:r>
                      <a:endParaRPr lang="es-CO" sz="1600" b="1" kern="1200">
                        <a:solidFill>
                          <a:schemeClr val="tx1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S1 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ST 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S2 Total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ctr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b="1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S2 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B90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823281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i0_c_ref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0.2734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(0.255, 0.291)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0.2852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(0.272, 0.299)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0.0044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(-0.08, 0.089)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2896498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ifc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0.1726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(0.161, 0.185)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0.1863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(0.179, 0.194)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(0.0, 0.0)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402054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Pa_des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0.1524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(0.14, 0.165)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0.1853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(0.178, 0.193)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0.0381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(-0.203, 0.28)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173017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Tfc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0.1282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(0.118, 0.139)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0.1486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(0.142, 0.155)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-0.0148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(-0.232, 0.203)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54014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Re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0.0696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(0.06, 0.079)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0.0830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(0.08, 0.086)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0.0045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(-0.05, 0.059)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541999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kappa_c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0.0361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(0.028, 0.044)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0.0608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(0.058, 0.063)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0.0023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(-0.009, 0.013)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62205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tau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0.0426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(0.036, 0.049)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0.0550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(0.052, 0.058)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0.0069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(-0.066, 0.08)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58756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epsilon_mc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0.0290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(0.022, 0.036)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0.0395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(0.038, 0.041)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-0.0114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(-0.076, 0.053)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8758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Phi_c_des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0.0104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(0.006, 0.015)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0.0235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(0.021, 0.025)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-0.0081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(-0.076, 0.06)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7934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Sc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0.0047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(0.001, 0.009)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0.0190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(0.018, 0.02)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0.0176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(-0.046, 0.082)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321005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epsilon_gdl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0.0010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(-0.002, 0.004)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0.0093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(0.009, 0.01)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0.0076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(-0.032, 0.047)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584432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kappa_co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0.0023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(-0.0, 0.005)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0.0057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(0.005, 0.006)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-0.0004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(-0.007, 0.006)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659416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 err="1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epsilon_c</a:t>
                      </a:r>
                      <a:endParaRPr lang="es-CO" sz="8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-0.0009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(-0.003, 0.001)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0.0048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(0.004, 0.006)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0.0066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(-0.011, 0.025)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220122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r" fontAlgn="ctr"/>
                      <a:r>
                        <a:rPr lang="es-CO" sz="800" b="0" i="0" u="none" strike="noStrike">
                          <a:solidFill>
                            <a:schemeClr val="bg1"/>
                          </a:solidFill>
                          <a:effectLst/>
                          <a:latin typeface="Segoe UI" panose="020B0502040204020203" pitchFamily="34" charset="0"/>
                        </a:rPr>
                        <a:t>e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0.0003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(-0.001, 0.001)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0.0008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(0.001, 0.001)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-0.0022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defTabSz="914400" rtl="0" eaLnBrk="1" fontAlgn="b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O" sz="1400" kern="1200">
                          <a:solidFill>
                            <a:schemeClr val="tx1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  <a:cs typeface="+mn-cs"/>
                        </a:rPr>
                        <a:t>(-0.009, 0.005)</a:t>
                      </a:r>
                    </a:p>
                  </a:txBody>
                  <a:tcPr marL="7620" marR="7620" marT="30480" marB="3048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97607277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4F2C4ECB-C629-46E7-BF18-754169DA7F57}"/>
                  </a:ext>
                </a:extLst>
              </p:cNvPr>
              <p:cNvSpPr txBox="1"/>
              <p:nvPr/>
            </p:nvSpPr>
            <p:spPr>
              <a:xfrm>
                <a:off x="3986891" y="2467068"/>
                <a:ext cx="41267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𝑃𝑎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𝑑𝑒𝑠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4F2C4ECB-C629-46E7-BF18-754169DA7F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891" y="2467068"/>
                <a:ext cx="412677" cy="184666"/>
              </a:xfrm>
              <a:prstGeom prst="rect">
                <a:avLst/>
              </a:prstGeom>
              <a:blipFill>
                <a:blip r:embed="rId2"/>
                <a:stretch>
                  <a:fillRect l="-8824" r="-441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1E7BE181-B325-4438-9DEC-D23A5600015F}"/>
                  </a:ext>
                </a:extLst>
              </p:cNvPr>
              <p:cNvSpPr txBox="1"/>
              <p:nvPr/>
            </p:nvSpPr>
            <p:spPr>
              <a:xfrm>
                <a:off x="3996509" y="4052253"/>
                <a:ext cx="39344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𝑐𝑑𝑒𝑠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1E7BE181-B325-4438-9DEC-D23A56000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6509" y="4052253"/>
                <a:ext cx="393441" cy="184666"/>
              </a:xfrm>
              <a:prstGeom prst="rect">
                <a:avLst/>
              </a:prstGeom>
              <a:blipFill>
                <a:blip r:embed="rId3"/>
                <a:stretch>
                  <a:fillRect l="-14063" r="-3125" b="-3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3DC2449D-4307-4501-90CB-8E9E1892BF32}"/>
                  </a:ext>
                </a:extLst>
              </p:cNvPr>
              <p:cNvSpPr txBox="1"/>
              <p:nvPr/>
            </p:nvSpPr>
            <p:spPr>
              <a:xfrm>
                <a:off x="4044727" y="4600706"/>
                <a:ext cx="297004" cy="1997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𝑔𝑑𝑙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3DC2449D-4307-4501-90CB-8E9E1892B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4727" y="4600706"/>
                <a:ext cx="297004" cy="199735"/>
              </a:xfrm>
              <a:prstGeom prst="rect">
                <a:avLst/>
              </a:prstGeom>
              <a:blipFill>
                <a:blip r:embed="rId4"/>
                <a:stretch>
                  <a:fillRect l="-8333" r="-8333" b="-28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DBC4CD14-8C46-455C-9086-9FE8F877C5D9}"/>
                  </a:ext>
                </a:extLst>
              </p:cNvPr>
              <p:cNvSpPr txBox="1"/>
              <p:nvPr/>
            </p:nvSpPr>
            <p:spPr>
              <a:xfrm>
                <a:off x="4053576" y="3818763"/>
                <a:ext cx="27930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𝑚𝑐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6" name="CuadroTexto 85">
                <a:extLst>
                  <a:ext uri="{FF2B5EF4-FFF2-40B4-BE49-F238E27FC236}">
                    <a16:creationId xmlns:a16="http://schemas.microsoft.com/office/drawing/2014/main" id="{DBC4CD14-8C46-455C-9086-9FE8F877C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3576" y="3818763"/>
                <a:ext cx="279307" cy="184666"/>
              </a:xfrm>
              <a:prstGeom prst="rect">
                <a:avLst/>
              </a:prstGeom>
              <a:blipFill>
                <a:blip r:embed="rId5"/>
                <a:stretch>
                  <a:fillRect l="-8696" b="-64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8B1836FB-5579-42D5-9234-9D4ABBFA6E28}"/>
                  </a:ext>
                </a:extLst>
              </p:cNvPr>
              <p:cNvSpPr txBox="1"/>
              <p:nvPr/>
            </p:nvSpPr>
            <p:spPr>
              <a:xfrm>
                <a:off x="4106475" y="5127249"/>
                <a:ext cx="17350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7" name="CuadroTexto 86">
                <a:extLst>
                  <a:ext uri="{FF2B5EF4-FFF2-40B4-BE49-F238E27FC236}">
                    <a16:creationId xmlns:a16="http://schemas.microsoft.com/office/drawing/2014/main" id="{8B1836FB-5579-42D5-9234-9D4ABBFA6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6475" y="5127249"/>
                <a:ext cx="173509" cy="184666"/>
              </a:xfrm>
              <a:prstGeom prst="rect">
                <a:avLst/>
              </a:prstGeom>
              <a:blipFill>
                <a:blip r:embed="rId6"/>
                <a:stretch>
                  <a:fillRect l="-14286" r="-3571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345A5BD-D15D-4649-ABCE-0998824A98E7}"/>
                  </a:ext>
                </a:extLst>
              </p:cNvPr>
              <p:cNvSpPr txBox="1"/>
              <p:nvPr/>
            </p:nvSpPr>
            <p:spPr>
              <a:xfrm>
                <a:off x="4138663" y="3602575"/>
                <a:ext cx="10913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8" name="CuadroTexto 87">
                <a:extLst>
                  <a:ext uri="{FF2B5EF4-FFF2-40B4-BE49-F238E27FC236}">
                    <a16:creationId xmlns:a16="http://schemas.microsoft.com/office/drawing/2014/main" id="{2345A5BD-D15D-4649-ABCE-0998824A98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8663" y="3602575"/>
                <a:ext cx="109132" cy="184666"/>
              </a:xfrm>
              <a:prstGeom prst="rect">
                <a:avLst/>
              </a:prstGeom>
              <a:blipFill>
                <a:blip r:embed="rId7"/>
                <a:stretch>
                  <a:fillRect l="-22222" r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80A0C03C-D2E3-462A-BD1A-F09AA0A6400C}"/>
                  </a:ext>
                </a:extLst>
              </p:cNvPr>
              <p:cNvSpPr txBox="1"/>
              <p:nvPr/>
            </p:nvSpPr>
            <p:spPr>
              <a:xfrm>
                <a:off x="3968712" y="1965485"/>
                <a:ext cx="449034" cy="1994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𝑟𝑒𝑓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89" name="CuadroTexto 88">
                <a:extLst>
                  <a:ext uri="{FF2B5EF4-FFF2-40B4-BE49-F238E27FC236}">
                    <a16:creationId xmlns:a16="http://schemas.microsoft.com/office/drawing/2014/main" id="{80A0C03C-D2E3-462A-BD1A-F09AA0A640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712" y="1965485"/>
                <a:ext cx="449034" cy="199478"/>
              </a:xfrm>
              <a:prstGeom prst="rect">
                <a:avLst/>
              </a:prstGeom>
              <a:blipFill>
                <a:blip r:embed="rId8"/>
                <a:stretch>
                  <a:fillRect l="-8108" r="-5405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C53949A9-A964-4687-A178-EF36799CA539}"/>
                  </a:ext>
                </a:extLst>
              </p:cNvPr>
              <p:cNvSpPr txBox="1"/>
              <p:nvPr/>
            </p:nvSpPr>
            <p:spPr>
              <a:xfrm>
                <a:off x="4068580" y="4855611"/>
                <a:ext cx="24929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𝑐𝑜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0" name="CuadroTexto 89">
                <a:extLst>
                  <a:ext uri="{FF2B5EF4-FFF2-40B4-BE49-F238E27FC236}">
                    <a16:creationId xmlns:a16="http://schemas.microsoft.com/office/drawing/2014/main" id="{C53949A9-A964-4687-A178-EF36799CA5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580" y="4855611"/>
                <a:ext cx="249299" cy="184666"/>
              </a:xfrm>
              <a:prstGeom prst="rect">
                <a:avLst/>
              </a:prstGeom>
              <a:blipFill>
                <a:blip r:embed="rId9"/>
                <a:stretch>
                  <a:fillRect l="-7317" r="-2439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86D22166-D8EE-45CE-AEAB-0327F5B7230C}"/>
                  </a:ext>
                </a:extLst>
              </p:cNvPr>
              <p:cNvSpPr txBox="1"/>
              <p:nvPr/>
            </p:nvSpPr>
            <p:spPr>
              <a:xfrm>
                <a:off x="4100864" y="3317046"/>
                <a:ext cx="18473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CO" sz="1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s-ES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1" name="CuadroTexto 90">
                <a:extLst>
                  <a:ext uri="{FF2B5EF4-FFF2-40B4-BE49-F238E27FC236}">
                    <a16:creationId xmlns:a16="http://schemas.microsoft.com/office/drawing/2014/main" id="{86D22166-D8EE-45CE-AEAB-0327F5B723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864" y="3317046"/>
                <a:ext cx="184731" cy="184666"/>
              </a:xfrm>
              <a:prstGeom prst="rect">
                <a:avLst/>
              </a:prstGeom>
              <a:blipFill>
                <a:blip r:embed="rId10"/>
                <a:stretch>
                  <a:fillRect l="-13333" r="-3333"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67333791-8F16-4277-93CB-DB857270FAD7}"/>
                  </a:ext>
                </a:extLst>
              </p:cNvPr>
              <p:cNvSpPr txBox="1"/>
              <p:nvPr/>
            </p:nvSpPr>
            <p:spPr>
              <a:xfrm>
                <a:off x="4049728" y="2793895"/>
                <a:ext cx="28700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𝑇𝑓𝑐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2" name="CuadroTexto 91">
                <a:extLst>
                  <a:ext uri="{FF2B5EF4-FFF2-40B4-BE49-F238E27FC236}">
                    <a16:creationId xmlns:a16="http://schemas.microsoft.com/office/drawing/2014/main" id="{67333791-8F16-4277-93CB-DB857270F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9728" y="2793895"/>
                <a:ext cx="287002" cy="184666"/>
              </a:xfrm>
              <a:prstGeom prst="rect">
                <a:avLst/>
              </a:prstGeom>
              <a:blipFill>
                <a:blip r:embed="rId11"/>
                <a:stretch>
                  <a:fillRect l="-19149" t="-3226" r="-19149" b="-290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5D349F7A-F390-47C7-B34B-9176C95479F3}"/>
                  </a:ext>
                </a:extLst>
              </p:cNvPr>
              <p:cNvSpPr txBox="1"/>
              <p:nvPr/>
            </p:nvSpPr>
            <p:spPr>
              <a:xfrm>
                <a:off x="4097017" y="4393296"/>
                <a:ext cx="19242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𝑆𝑐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3" name="CuadroTexto 92">
                <a:extLst>
                  <a:ext uri="{FF2B5EF4-FFF2-40B4-BE49-F238E27FC236}">
                    <a16:creationId xmlns:a16="http://schemas.microsoft.com/office/drawing/2014/main" id="{5D349F7A-F390-47C7-B34B-9176C9547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017" y="4393296"/>
                <a:ext cx="192425" cy="184666"/>
              </a:xfrm>
              <a:prstGeom prst="rect">
                <a:avLst/>
              </a:prstGeom>
              <a:blipFill>
                <a:blip r:embed="rId12"/>
                <a:stretch>
                  <a:fillRect l="-18750" r="-1562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E332D206-63C9-4E95-9E04-7DCB24EA1C8D}"/>
                  </a:ext>
                </a:extLst>
              </p:cNvPr>
              <p:cNvSpPr txBox="1"/>
              <p:nvPr/>
            </p:nvSpPr>
            <p:spPr>
              <a:xfrm>
                <a:off x="4071369" y="2252790"/>
                <a:ext cx="24372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𝑖𝑓𝑐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4" name="CuadroTexto 93">
                <a:extLst>
                  <a:ext uri="{FF2B5EF4-FFF2-40B4-BE49-F238E27FC236}">
                    <a16:creationId xmlns:a16="http://schemas.microsoft.com/office/drawing/2014/main" id="{E332D206-63C9-4E95-9E04-7DCB24EA1C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369" y="2252790"/>
                <a:ext cx="243721" cy="184666"/>
              </a:xfrm>
              <a:prstGeom prst="rect">
                <a:avLst/>
              </a:prstGeom>
              <a:blipFill>
                <a:blip r:embed="rId13"/>
                <a:stretch>
                  <a:fillRect l="-22500" t="-6667" r="-22500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E7BEED46-3B21-4B8F-AC25-C962244AF413}"/>
                  </a:ext>
                </a:extLst>
              </p:cNvPr>
              <p:cNvSpPr txBox="1"/>
              <p:nvPr/>
            </p:nvSpPr>
            <p:spPr>
              <a:xfrm>
                <a:off x="4135425" y="5445261"/>
                <a:ext cx="11560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5" name="CuadroTexto 94">
                <a:extLst>
                  <a:ext uri="{FF2B5EF4-FFF2-40B4-BE49-F238E27FC236}">
                    <a16:creationId xmlns:a16="http://schemas.microsoft.com/office/drawing/2014/main" id="{E7BEED46-3B21-4B8F-AC25-C962244AF4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5425" y="5445261"/>
                <a:ext cx="115608" cy="184666"/>
              </a:xfrm>
              <a:prstGeom prst="rect">
                <a:avLst/>
              </a:prstGeom>
              <a:blipFill>
                <a:blip r:embed="rId14"/>
                <a:stretch>
                  <a:fillRect l="-15789" r="-15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A1640CF-3047-4361-8CD2-8821BB2E0C29}"/>
                  </a:ext>
                </a:extLst>
              </p:cNvPr>
              <p:cNvSpPr txBox="1"/>
              <p:nvPr/>
            </p:nvSpPr>
            <p:spPr>
              <a:xfrm>
                <a:off x="4086533" y="3070575"/>
                <a:ext cx="21339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1200" b="0" i="1" smtClean="0">
                          <a:latin typeface="Cambria Math" panose="02040503050406030204" pitchFamily="18" charset="0"/>
                        </a:rPr>
                        <m:t>𝑅𝑒</m:t>
                      </m:r>
                    </m:oMath>
                  </m:oMathPara>
                </a14:m>
                <a:endParaRPr lang="es-CO" sz="1200"/>
              </a:p>
            </p:txBody>
          </p:sp>
        </mc:Choice>
        <mc:Fallback xmlns="">
          <p:sp>
            <p:nvSpPr>
              <p:cNvPr id="96" name="CuadroTexto 95">
                <a:extLst>
                  <a:ext uri="{FF2B5EF4-FFF2-40B4-BE49-F238E27FC236}">
                    <a16:creationId xmlns:a16="http://schemas.microsoft.com/office/drawing/2014/main" id="{6A1640CF-3047-4361-8CD2-8821BB2E0C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533" y="3070575"/>
                <a:ext cx="213392" cy="184666"/>
              </a:xfrm>
              <a:prstGeom prst="rect">
                <a:avLst/>
              </a:prstGeom>
              <a:blipFill>
                <a:blip r:embed="rId15"/>
                <a:stretch>
                  <a:fillRect l="-17143" r="-14286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CuadroTexto 28">
            <a:extLst>
              <a:ext uri="{FF2B5EF4-FFF2-40B4-BE49-F238E27FC236}">
                <a16:creationId xmlns:a16="http://schemas.microsoft.com/office/drawing/2014/main" id="{C3652E7E-118C-42FD-9A5E-0FB856AB167A}"/>
              </a:ext>
            </a:extLst>
          </p:cNvPr>
          <p:cNvSpPr txBox="1"/>
          <p:nvPr/>
        </p:nvSpPr>
        <p:spPr>
          <a:xfrm>
            <a:off x="4062039" y="5703218"/>
            <a:ext cx="704557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s-CO" sz="1200" err="1"/>
              <a:t>Sobol</a:t>
            </a:r>
            <a:r>
              <a:rPr lang="es-CO" sz="1200"/>
              <a:t> </a:t>
            </a:r>
            <a:r>
              <a:rPr lang="es-CO" sz="1200" err="1"/>
              <a:t>sensitivity</a:t>
            </a:r>
            <a:r>
              <a:rPr lang="es-CO" sz="1200"/>
              <a:t> </a:t>
            </a:r>
            <a:r>
              <a:rPr lang="es-CO" sz="1200" err="1"/>
              <a:t>indices</a:t>
            </a:r>
            <a:r>
              <a:rPr lang="es-CO" sz="1200"/>
              <a:t> </a:t>
            </a:r>
            <a:r>
              <a:rPr lang="es-CO" sz="1200" err="1"/>
              <a:t>for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Mass</a:t>
            </a:r>
            <a:r>
              <a:rPr lang="es-CO" sz="1200"/>
              <a:t> </a:t>
            </a:r>
            <a:r>
              <a:rPr lang="en-US" sz="1200"/>
              <a:t>Transport </a:t>
            </a:r>
            <a:r>
              <a:rPr lang="es-CO" sz="1200" err="1"/>
              <a:t>region</a:t>
            </a:r>
            <a:r>
              <a:rPr lang="es-CO" sz="1200"/>
              <a:t> </a:t>
            </a:r>
            <a:r>
              <a:rPr lang="es-CO" sz="1200" err="1"/>
              <a:t>based</a:t>
            </a:r>
            <a:r>
              <a:rPr lang="es-CO" sz="1200"/>
              <a:t> </a:t>
            </a:r>
            <a:r>
              <a:rPr lang="es-CO" sz="1200" err="1"/>
              <a:t>on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XGBoost</a:t>
            </a:r>
            <a:r>
              <a:rPr lang="es-CO" sz="1200"/>
              <a:t> </a:t>
            </a:r>
            <a:r>
              <a:rPr lang="es-CO" sz="1200" err="1"/>
              <a:t>model</a:t>
            </a:r>
            <a:r>
              <a:rPr lang="es-CO" sz="1200"/>
              <a:t>, </a:t>
            </a:r>
            <a:r>
              <a:rPr lang="es-CO" sz="1200" err="1"/>
              <a:t>showing</a:t>
            </a:r>
            <a:r>
              <a:rPr lang="es-CO" sz="1200"/>
              <a:t> </a:t>
            </a:r>
            <a:r>
              <a:rPr lang="es-CO" sz="1200" err="1"/>
              <a:t>first-order</a:t>
            </a:r>
            <a:r>
              <a:rPr lang="es-CO" sz="1200"/>
              <a:t> (S1), total-</a:t>
            </a:r>
            <a:r>
              <a:rPr lang="es-CO" sz="1200" err="1"/>
              <a:t>order</a:t>
            </a:r>
            <a:r>
              <a:rPr lang="es-CO" sz="1200"/>
              <a:t> (ST), and </a:t>
            </a:r>
            <a:r>
              <a:rPr lang="es-CO" sz="1200" err="1"/>
              <a:t>second-order</a:t>
            </a:r>
            <a:r>
              <a:rPr lang="es-CO" sz="1200"/>
              <a:t> (S2) </a:t>
            </a:r>
            <a:r>
              <a:rPr lang="es-CO" sz="1200" err="1"/>
              <a:t>effects</a:t>
            </a:r>
            <a:r>
              <a:rPr lang="es-CO" sz="1200"/>
              <a:t> </a:t>
            </a:r>
            <a:r>
              <a:rPr lang="es-CO" sz="1200" err="1"/>
              <a:t>with</a:t>
            </a:r>
            <a:r>
              <a:rPr lang="es-CO" sz="1200"/>
              <a:t> </a:t>
            </a:r>
            <a:r>
              <a:rPr lang="es-CO" sz="1200" err="1"/>
              <a:t>confidence</a:t>
            </a:r>
            <a:r>
              <a:rPr lang="es-CO" sz="1200"/>
              <a:t> </a:t>
            </a:r>
            <a:r>
              <a:rPr lang="es-CO" sz="1200" err="1"/>
              <a:t>intervals</a:t>
            </a:r>
            <a:r>
              <a:rPr lang="es-CO" sz="1200"/>
              <a:t>. </a:t>
            </a:r>
            <a:r>
              <a:rPr lang="es-CO" sz="1200" err="1"/>
              <a:t>Parameters</a:t>
            </a:r>
            <a:r>
              <a:rPr lang="es-CO" sz="1200"/>
              <a:t> i0_ref, </a:t>
            </a:r>
            <a:r>
              <a:rPr lang="es-CO" sz="1200" err="1"/>
              <a:t>Pa_des</a:t>
            </a:r>
            <a:r>
              <a:rPr lang="es-CO" sz="1200"/>
              <a:t>, and </a:t>
            </a:r>
            <a:r>
              <a:rPr lang="es-CO" sz="1200" err="1"/>
              <a:t>ifc</a:t>
            </a:r>
            <a:r>
              <a:rPr lang="es-CO" sz="1200"/>
              <a:t> </a:t>
            </a:r>
            <a:r>
              <a:rPr lang="es-CO" sz="1200" err="1"/>
              <a:t>exhibit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highest</a:t>
            </a:r>
            <a:r>
              <a:rPr lang="es-CO" sz="1200"/>
              <a:t> </a:t>
            </a:r>
            <a:r>
              <a:rPr lang="es-CO" sz="1200" err="1"/>
              <a:t>influence</a:t>
            </a:r>
            <a:r>
              <a:rPr lang="es-CO" sz="1200"/>
              <a:t> </a:t>
            </a:r>
            <a:r>
              <a:rPr lang="es-CO" sz="1200" err="1"/>
              <a:t>on</a:t>
            </a:r>
            <a:r>
              <a:rPr lang="es-CO" sz="1200"/>
              <a:t> </a:t>
            </a:r>
            <a:r>
              <a:rPr lang="es-CO" sz="1200" err="1"/>
              <a:t>model</a:t>
            </a:r>
            <a:r>
              <a:rPr lang="es-CO" sz="1200"/>
              <a:t> output.</a:t>
            </a:r>
          </a:p>
        </p:txBody>
      </p:sp>
      <p:sp>
        <p:nvSpPr>
          <p:cNvPr id="27" name="Google Shape;453;g36edeb4292e_1_43">
            <a:extLst>
              <a:ext uri="{FF2B5EF4-FFF2-40B4-BE49-F238E27FC236}">
                <a16:creationId xmlns:a16="http://schemas.microsoft.com/office/drawing/2014/main" id="{8231D075-0BD2-4667-A868-3AF7AB227A0D}"/>
              </a:ext>
            </a:extLst>
          </p:cNvPr>
          <p:cNvSpPr/>
          <p:nvPr/>
        </p:nvSpPr>
        <p:spPr>
          <a:xfrm>
            <a:off x="893443" y="2908800"/>
            <a:ext cx="1895293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Mass Transport</a:t>
            </a:r>
            <a:endParaRPr sz="1600" b="1"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8607043B-5939-9206-275F-549882807763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F9C442CC-243E-73E9-C0F5-1633FF907F84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8" name="Rectángulo redondeado 7">
              <a:extLst>
                <a:ext uri="{FF2B5EF4-FFF2-40B4-BE49-F238E27FC236}">
                  <a16:creationId xmlns:a16="http://schemas.microsoft.com/office/drawing/2014/main" id="{72AA23AB-0B4B-F18A-8D8C-53F5F45F8A11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2B510253-1B79-EFBD-ECC7-AAADDB4D2FD0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699833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9E996A5-1B4A-4451-98C8-B52B2081C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200" y="943200"/>
            <a:ext cx="8558774" cy="5090400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930EF675-A3B6-443F-A291-A402B178BE10}"/>
              </a:ext>
            </a:extLst>
          </p:cNvPr>
          <p:cNvSpPr txBox="1"/>
          <p:nvPr/>
        </p:nvSpPr>
        <p:spPr>
          <a:xfrm>
            <a:off x="893443" y="1370254"/>
            <a:ext cx="324455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err="1">
                <a:solidFill>
                  <a:prstClr val="black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Sobol</a:t>
            </a:r>
            <a:r>
              <a:rPr kumimoji="0" lang="en-US" sz="36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 </a:t>
            </a:r>
          </a:p>
          <a:p>
            <a:r>
              <a:rPr kumimoji="0" lang="en-US" sz="2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 Light" panose="020B0403030403020204" pitchFamily="34" charset="0"/>
                <a:ea typeface="Source Sans Pro Light" panose="020B0403030403020204" pitchFamily="34" charset="0"/>
                <a:cs typeface="+mn-cs"/>
              </a:rPr>
              <a:t>ST</a:t>
            </a:r>
            <a:endParaRPr lang="es-CO" sz="360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D6CEE86-D7AC-7AB7-2FCA-4D1E4191CA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5BC28E-972B-EC47-BE79-29D89D46B9CA}" type="slidenum">
              <a:rPr kumimoji="0" lang="es-ES_tradnl" sz="1600" b="1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s-ES_tradnl" sz="16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86630B0-2AF7-45BA-A028-A6EB132952DB}"/>
              </a:ext>
            </a:extLst>
          </p:cNvPr>
          <p:cNvSpPr txBox="1"/>
          <p:nvPr/>
        </p:nvSpPr>
        <p:spPr>
          <a:xfrm>
            <a:off x="893443" y="943947"/>
            <a:ext cx="21374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XGBoost</a:t>
            </a:r>
            <a:endParaRPr kumimoji="0" lang="en-US" sz="3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+mn-cs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E0DC2F22-F733-44B8-B511-7D4675098093}"/>
              </a:ext>
            </a:extLst>
          </p:cNvPr>
          <p:cNvSpPr/>
          <p:nvPr/>
        </p:nvSpPr>
        <p:spPr>
          <a:xfrm>
            <a:off x="4757057" y="1707005"/>
            <a:ext cx="16437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A45FB23E-BDCF-4721-A026-289114204ABF}"/>
              </a:ext>
            </a:extLst>
          </p:cNvPr>
          <p:cNvGrpSpPr/>
          <p:nvPr/>
        </p:nvGrpSpPr>
        <p:grpSpPr>
          <a:xfrm>
            <a:off x="11008492" y="1288344"/>
            <a:ext cx="569970" cy="2338575"/>
            <a:chOff x="11582532" y="1288344"/>
            <a:chExt cx="569970" cy="2338575"/>
          </a:xfrm>
        </p:grpSpPr>
        <p:sp>
          <p:nvSpPr>
            <p:cNvPr id="62" name="Rectángulo 61">
              <a:extLst>
                <a:ext uri="{FF2B5EF4-FFF2-40B4-BE49-F238E27FC236}">
                  <a16:creationId xmlns:a16="http://schemas.microsoft.com/office/drawing/2014/main" id="{5ACB8813-EC56-4327-9560-7072AE81192F}"/>
                </a:ext>
              </a:extLst>
            </p:cNvPr>
            <p:cNvSpPr/>
            <p:nvPr/>
          </p:nvSpPr>
          <p:spPr>
            <a:xfrm>
              <a:off x="11582532" y="1322543"/>
              <a:ext cx="569970" cy="230437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s-CO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267F1AB6-9D1B-40C9-9EBE-67663A7462C9}"/>
                    </a:ext>
                  </a:extLst>
                </p:cNvPr>
                <p:cNvSpPr txBox="1"/>
                <p:nvPr/>
              </p:nvSpPr>
              <p:spPr>
                <a:xfrm>
                  <a:off x="11632388" y="1631617"/>
                  <a:ext cx="30950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𝑃𝑎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𝑑𝑒𝑠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3" name="CuadroTexto 62">
                  <a:extLst>
                    <a:ext uri="{FF2B5EF4-FFF2-40B4-BE49-F238E27FC236}">
                      <a16:creationId xmlns:a16="http://schemas.microsoft.com/office/drawing/2014/main" id="{267F1AB6-9D1B-40C9-9EBE-67663A7462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1631617"/>
                  <a:ext cx="309508" cy="138499"/>
                </a:xfrm>
                <a:prstGeom prst="rect">
                  <a:avLst/>
                </a:prstGeom>
                <a:blipFill>
                  <a:blip r:embed="rId4"/>
                  <a:stretch>
                    <a:fillRect l="-9804" r="-3922" b="-2272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AB0492B2-58E1-476D-BF0E-1CA2EABD299C}"/>
                    </a:ext>
                  </a:extLst>
                </p:cNvPr>
                <p:cNvSpPr txBox="1"/>
                <p:nvPr/>
              </p:nvSpPr>
              <p:spPr>
                <a:xfrm>
                  <a:off x="11632388" y="2655005"/>
                  <a:ext cx="29508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𝑐𝑑𝑒𝑠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4" name="CuadroTexto 63">
                  <a:extLst>
                    <a:ext uri="{FF2B5EF4-FFF2-40B4-BE49-F238E27FC236}">
                      <a16:creationId xmlns:a16="http://schemas.microsoft.com/office/drawing/2014/main" id="{AB0492B2-58E1-476D-BF0E-1CA2EABD299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2655005"/>
                  <a:ext cx="295081" cy="138499"/>
                </a:xfrm>
                <a:prstGeom prst="rect">
                  <a:avLst/>
                </a:prstGeom>
                <a:blipFill>
                  <a:blip r:embed="rId5"/>
                  <a:stretch>
                    <a:fillRect l="-14583" r="-6250" b="-4090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64CD3A81-9ECD-4EBD-AF2D-380020380477}"/>
                    </a:ext>
                  </a:extLst>
                </p:cNvPr>
                <p:cNvSpPr txBox="1"/>
                <p:nvPr/>
              </p:nvSpPr>
              <p:spPr>
                <a:xfrm>
                  <a:off x="11632388" y="3150722"/>
                  <a:ext cx="223971" cy="14972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𝑔𝑑𝑙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5" name="CuadroTexto 64">
                  <a:extLst>
                    <a:ext uri="{FF2B5EF4-FFF2-40B4-BE49-F238E27FC236}">
                      <a16:creationId xmlns:a16="http://schemas.microsoft.com/office/drawing/2014/main" id="{64CD3A81-9ECD-4EBD-AF2D-38002038047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3150722"/>
                  <a:ext cx="223971" cy="149721"/>
                </a:xfrm>
                <a:prstGeom prst="rect">
                  <a:avLst/>
                </a:prstGeom>
                <a:blipFill>
                  <a:blip r:embed="rId6"/>
                  <a:stretch>
                    <a:fillRect l="-8108" r="-8108" b="-291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6A9B451-F317-484B-BA14-5B4AFB975E40}"/>
                    </a:ext>
                  </a:extLst>
                </p:cNvPr>
                <p:cNvSpPr txBox="1"/>
                <p:nvPr/>
              </p:nvSpPr>
              <p:spPr>
                <a:xfrm>
                  <a:off x="11632388" y="2476412"/>
                  <a:ext cx="209480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𝑚𝑐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6" name="CuadroTexto 65">
                  <a:extLst>
                    <a:ext uri="{FF2B5EF4-FFF2-40B4-BE49-F238E27FC236}">
                      <a16:creationId xmlns:a16="http://schemas.microsoft.com/office/drawing/2014/main" id="{76A9B451-F317-484B-BA14-5B4AFB975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2476412"/>
                  <a:ext cx="209480" cy="138499"/>
                </a:xfrm>
                <a:prstGeom prst="rect">
                  <a:avLst/>
                </a:prstGeom>
                <a:blipFill>
                  <a:blip r:embed="rId7"/>
                  <a:stretch>
                    <a:fillRect l="-8824" r="-2941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C0E0F14F-FE71-472A-A1FE-F777F90E765D}"/>
                    </a:ext>
                  </a:extLst>
                </p:cNvPr>
                <p:cNvSpPr txBox="1"/>
                <p:nvPr/>
              </p:nvSpPr>
              <p:spPr>
                <a:xfrm>
                  <a:off x="11632388" y="3483782"/>
                  <a:ext cx="130933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7" name="CuadroTexto 66">
                  <a:extLst>
                    <a:ext uri="{FF2B5EF4-FFF2-40B4-BE49-F238E27FC236}">
                      <a16:creationId xmlns:a16="http://schemas.microsoft.com/office/drawing/2014/main" id="{C0E0F14F-FE71-472A-A1FE-F777F90E76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3483782"/>
                  <a:ext cx="130933" cy="138499"/>
                </a:xfrm>
                <a:prstGeom prst="rect">
                  <a:avLst/>
                </a:prstGeom>
                <a:blipFill>
                  <a:blip r:embed="rId8"/>
                  <a:stretch>
                    <a:fillRect l="-13636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AD2952EC-CADE-4F6F-9CC4-3528A352EE0A}"/>
                    </a:ext>
                  </a:extLst>
                </p:cNvPr>
                <p:cNvSpPr txBox="1"/>
                <p:nvPr/>
              </p:nvSpPr>
              <p:spPr>
                <a:xfrm>
                  <a:off x="11632388" y="2165909"/>
                  <a:ext cx="8104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8" name="CuadroTexto 67">
                  <a:extLst>
                    <a:ext uri="{FF2B5EF4-FFF2-40B4-BE49-F238E27FC236}">
                      <a16:creationId xmlns:a16="http://schemas.microsoft.com/office/drawing/2014/main" id="{AD2952EC-CADE-4F6F-9CC4-3528A352E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2165909"/>
                  <a:ext cx="81048" cy="138499"/>
                </a:xfrm>
                <a:prstGeom prst="rect">
                  <a:avLst/>
                </a:prstGeom>
                <a:blipFill>
                  <a:blip r:embed="rId9"/>
                  <a:stretch>
                    <a:fillRect l="-23077" r="-2307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FDD430FD-FAD3-4D96-AC7B-40B98DC8D104}"/>
                    </a:ext>
                  </a:extLst>
                </p:cNvPr>
                <p:cNvSpPr txBox="1"/>
                <p:nvPr/>
              </p:nvSpPr>
              <p:spPr>
                <a:xfrm>
                  <a:off x="11632388" y="1288344"/>
                  <a:ext cx="341568" cy="14952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𝑟𝑒𝑓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69" name="CuadroTexto 68">
                  <a:extLst>
                    <a:ext uri="{FF2B5EF4-FFF2-40B4-BE49-F238E27FC236}">
                      <a16:creationId xmlns:a16="http://schemas.microsoft.com/office/drawing/2014/main" id="{FDD430FD-FAD3-4D96-AC7B-40B98DC8D1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1288344"/>
                  <a:ext cx="341568" cy="149528"/>
                </a:xfrm>
                <a:prstGeom prst="rect">
                  <a:avLst/>
                </a:prstGeom>
                <a:blipFill>
                  <a:blip r:embed="rId10"/>
                  <a:stretch>
                    <a:fillRect l="-8929" r="-5357" b="-28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2E2185EB-023D-40C4-A168-047D7819C39A}"/>
                    </a:ext>
                  </a:extLst>
                </p:cNvPr>
                <p:cNvSpPr txBox="1"/>
                <p:nvPr/>
              </p:nvSpPr>
              <p:spPr>
                <a:xfrm>
                  <a:off x="11632388" y="2983256"/>
                  <a:ext cx="187808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𝑐𝑜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0" name="CuadroTexto 69">
                  <a:extLst>
                    <a:ext uri="{FF2B5EF4-FFF2-40B4-BE49-F238E27FC236}">
                      <a16:creationId xmlns:a16="http://schemas.microsoft.com/office/drawing/2014/main" id="{2E2185EB-023D-40C4-A168-047D7819C3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2983256"/>
                  <a:ext cx="187808" cy="138499"/>
                </a:xfrm>
                <a:prstGeom prst="rect">
                  <a:avLst/>
                </a:prstGeom>
                <a:blipFill>
                  <a:blip r:embed="rId11"/>
                  <a:stretch>
                    <a:fillRect l="-9677" b="-130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EDC03CC7-FD8A-4F95-884D-48FFC30DCCC0}"/>
                    </a:ext>
                  </a:extLst>
                </p:cNvPr>
                <p:cNvSpPr txBox="1"/>
                <p:nvPr/>
              </p:nvSpPr>
              <p:spPr>
                <a:xfrm>
                  <a:off x="11632388" y="2314742"/>
                  <a:ext cx="13894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CO" sz="9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𝜅</m:t>
                            </m:r>
                          </m:e>
                          <m:sub>
                            <m:r>
                              <a:rPr lang="es-ES" sz="9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1" name="CuadroTexto 70">
                  <a:extLst>
                    <a:ext uri="{FF2B5EF4-FFF2-40B4-BE49-F238E27FC236}">
                      <a16:creationId xmlns:a16="http://schemas.microsoft.com/office/drawing/2014/main" id="{EDC03CC7-FD8A-4F95-884D-48FFC30DCC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2314742"/>
                  <a:ext cx="138949" cy="138499"/>
                </a:xfrm>
                <a:prstGeom prst="rect">
                  <a:avLst/>
                </a:prstGeom>
                <a:blipFill>
                  <a:blip r:embed="rId12"/>
                  <a:stretch>
                    <a:fillRect l="-13043" b="-181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A4E1F230-5736-42F9-A501-99EC2CB00ABB}"/>
                    </a:ext>
                  </a:extLst>
                </p:cNvPr>
                <p:cNvSpPr txBox="1"/>
                <p:nvPr/>
              </p:nvSpPr>
              <p:spPr>
                <a:xfrm>
                  <a:off x="11632388" y="1823767"/>
                  <a:ext cx="215252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𝑇𝑓𝑐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2" name="CuadroTexto 71">
                  <a:extLst>
                    <a:ext uri="{FF2B5EF4-FFF2-40B4-BE49-F238E27FC236}">
                      <a16:creationId xmlns:a16="http://schemas.microsoft.com/office/drawing/2014/main" id="{A4E1F230-5736-42F9-A501-99EC2CB00AB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1823767"/>
                  <a:ext cx="215252" cy="138499"/>
                </a:xfrm>
                <a:prstGeom prst="rect">
                  <a:avLst/>
                </a:prstGeom>
                <a:blipFill>
                  <a:blip r:embed="rId13"/>
                  <a:stretch>
                    <a:fillRect l="-20000" r="-17143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232881F5-4525-42C8-BCFD-B9A0398006CA}"/>
                    </a:ext>
                  </a:extLst>
                </p:cNvPr>
                <p:cNvSpPr txBox="1"/>
                <p:nvPr/>
              </p:nvSpPr>
              <p:spPr>
                <a:xfrm>
                  <a:off x="11632388" y="2848402"/>
                  <a:ext cx="143116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𝑆𝑐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3" name="CuadroTexto 72">
                  <a:extLst>
                    <a:ext uri="{FF2B5EF4-FFF2-40B4-BE49-F238E27FC236}">
                      <a16:creationId xmlns:a16="http://schemas.microsoft.com/office/drawing/2014/main" id="{232881F5-4525-42C8-BCFD-B9A0398006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2848402"/>
                  <a:ext cx="143116" cy="138499"/>
                </a:xfrm>
                <a:prstGeom prst="rect">
                  <a:avLst/>
                </a:prstGeom>
                <a:blipFill>
                  <a:blip r:embed="rId14"/>
                  <a:stretch>
                    <a:fillRect l="-20833" r="-16667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346F945E-10A2-4DD2-A551-B041351A47EC}"/>
                    </a:ext>
                  </a:extLst>
                </p:cNvPr>
                <p:cNvSpPr txBox="1"/>
                <p:nvPr/>
              </p:nvSpPr>
              <p:spPr>
                <a:xfrm>
                  <a:off x="11632388" y="1465495"/>
                  <a:ext cx="18319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𝑖𝑓𝑐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346F945E-10A2-4DD2-A551-B041351A47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1465495"/>
                  <a:ext cx="183191" cy="138499"/>
                </a:xfrm>
                <a:prstGeom prst="rect">
                  <a:avLst/>
                </a:prstGeom>
                <a:blipFill>
                  <a:blip r:embed="rId15"/>
                  <a:stretch>
                    <a:fillRect l="-23333" r="-20000" b="-3478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67CF0A76-9260-48E6-A13E-9CA5AF30F0DA}"/>
                    </a:ext>
                  </a:extLst>
                </p:cNvPr>
                <p:cNvSpPr txBox="1"/>
                <p:nvPr/>
              </p:nvSpPr>
              <p:spPr>
                <a:xfrm>
                  <a:off x="11632388" y="3335764"/>
                  <a:ext cx="85921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5" name="CuadroTexto 74">
                  <a:extLst>
                    <a:ext uri="{FF2B5EF4-FFF2-40B4-BE49-F238E27FC236}">
                      <a16:creationId xmlns:a16="http://schemas.microsoft.com/office/drawing/2014/main" id="{67CF0A76-9260-48E6-A13E-9CA5AF30F0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3335764"/>
                  <a:ext cx="85921" cy="138499"/>
                </a:xfrm>
                <a:prstGeom prst="rect">
                  <a:avLst/>
                </a:prstGeom>
                <a:blipFill>
                  <a:blip r:embed="rId16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B1428FA-134B-476D-8F3C-678BE5C0E1E4}"/>
                    </a:ext>
                  </a:extLst>
                </p:cNvPr>
                <p:cNvSpPr txBox="1"/>
                <p:nvPr/>
              </p:nvSpPr>
              <p:spPr>
                <a:xfrm>
                  <a:off x="11632388" y="2006746"/>
                  <a:ext cx="159659" cy="1384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ES" sz="900" b="0" i="1" smtClean="0">
                            <a:latin typeface="Cambria Math" panose="02040503050406030204" pitchFamily="18" charset="0"/>
                          </a:rPr>
                          <m:t>𝑅𝑒</m:t>
                        </m:r>
                      </m:oMath>
                    </m:oMathPara>
                  </a14:m>
                  <a:endParaRPr lang="es-CO" sz="900"/>
                </a:p>
              </p:txBody>
            </p:sp>
          </mc:Choice>
          <mc:Fallback xmlns="">
            <p:sp>
              <p:nvSpPr>
                <p:cNvPr id="76" name="CuadroTexto 75">
                  <a:extLst>
                    <a:ext uri="{FF2B5EF4-FFF2-40B4-BE49-F238E27FC236}">
                      <a16:creationId xmlns:a16="http://schemas.microsoft.com/office/drawing/2014/main" id="{8B1428FA-134B-476D-8F3C-678BE5C0E1E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32388" y="2006746"/>
                  <a:ext cx="159659" cy="138499"/>
                </a:xfrm>
                <a:prstGeom prst="rect">
                  <a:avLst/>
                </a:prstGeom>
                <a:blipFill>
                  <a:blip r:embed="rId17"/>
                  <a:stretch>
                    <a:fillRect l="-19231" r="-15385" b="-869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CE4640A-1ED6-4C0F-8710-167B4A86E956}"/>
              </a:ext>
            </a:extLst>
          </p:cNvPr>
          <p:cNvSpPr txBox="1"/>
          <p:nvPr/>
        </p:nvSpPr>
        <p:spPr>
          <a:xfrm>
            <a:off x="4050510" y="5884952"/>
            <a:ext cx="64316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200" b="1"/>
              <a:t>Figure XX:  </a:t>
            </a:r>
            <a:r>
              <a:rPr lang="es-CO" sz="1200" err="1"/>
              <a:t>Convergence</a:t>
            </a:r>
            <a:r>
              <a:rPr lang="es-CO" sz="1200"/>
              <a:t> </a:t>
            </a:r>
            <a:r>
              <a:rPr lang="es-CO" sz="1200" err="1"/>
              <a:t>of</a:t>
            </a:r>
            <a:r>
              <a:rPr lang="es-CO" sz="1200"/>
              <a:t> total-</a:t>
            </a:r>
            <a:r>
              <a:rPr lang="es-CO" sz="1200" err="1"/>
              <a:t>order</a:t>
            </a:r>
            <a:r>
              <a:rPr lang="es-CO" sz="1200"/>
              <a:t> (ST) </a:t>
            </a:r>
            <a:r>
              <a:rPr lang="es-CO" sz="1200" err="1"/>
              <a:t>Sobol</a:t>
            </a:r>
            <a:r>
              <a:rPr lang="es-CO" sz="1200"/>
              <a:t> </a:t>
            </a:r>
            <a:r>
              <a:rPr lang="es-CO" sz="1200" err="1"/>
              <a:t>indices</a:t>
            </a:r>
            <a:r>
              <a:rPr lang="es-CO" sz="1200"/>
              <a:t> </a:t>
            </a:r>
            <a:r>
              <a:rPr lang="es-CO" sz="1200" err="1"/>
              <a:t>for</a:t>
            </a:r>
            <a:r>
              <a:rPr lang="es-CO" sz="1200"/>
              <a:t> </a:t>
            </a:r>
            <a:r>
              <a:rPr lang="es-CO" sz="1200" err="1"/>
              <a:t>features</a:t>
            </a:r>
            <a:r>
              <a:rPr lang="es-CO" sz="1200"/>
              <a:t> in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Mass</a:t>
            </a:r>
            <a:r>
              <a:rPr lang="es-CO" sz="1200"/>
              <a:t> </a:t>
            </a:r>
            <a:r>
              <a:rPr lang="es-CO" sz="1200" err="1"/>
              <a:t>transport</a:t>
            </a:r>
            <a:r>
              <a:rPr lang="es-CO" sz="1200"/>
              <a:t> </a:t>
            </a:r>
            <a:r>
              <a:rPr lang="es-CO" sz="1200" err="1"/>
              <a:t>region</a:t>
            </a:r>
            <a:r>
              <a:rPr lang="es-CO" sz="1200"/>
              <a:t> </a:t>
            </a:r>
            <a:r>
              <a:rPr lang="es-CO" sz="1200" err="1"/>
              <a:t>across</a:t>
            </a:r>
            <a:r>
              <a:rPr lang="es-CO" sz="1200"/>
              <a:t> </a:t>
            </a:r>
            <a:r>
              <a:rPr lang="es-CO" sz="1200" err="1"/>
              <a:t>increasing</a:t>
            </a:r>
            <a:r>
              <a:rPr lang="es-CO" sz="1200"/>
              <a:t> </a:t>
            </a:r>
            <a:r>
              <a:rPr lang="es-CO" sz="1200" err="1"/>
              <a:t>sample</a:t>
            </a:r>
            <a:r>
              <a:rPr lang="es-CO" sz="1200"/>
              <a:t> </a:t>
            </a:r>
            <a:r>
              <a:rPr lang="es-CO" sz="1200" err="1"/>
              <a:t>sizes</a:t>
            </a:r>
            <a:r>
              <a:rPr lang="es-CO" sz="1200"/>
              <a:t>.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indices</a:t>
            </a:r>
            <a:r>
              <a:rPr lang="es-CO" sz="1200"/>
              <a:t> </a:t>
            </a:r>
            <a:r>
              <a:rPr lang="es-CO" sz="1200" err="1"/>
              <a:t>stabilize</a:t>
            </a:r>
            <a:r>
              <a:rPr lang="es-CO" sz="1200"/>
              <a:t> as </a:t>
            </a:r>
            <a:r>
              <a:rPr lang="es-CO" sz="1200" err="1"/>
              <a:t>sample</a:t>
            </a:r>
            <a:r>
              <a:rPr lang="es-CO" sz="1200"/>
              <a:t> </a:t>
            </a:r>
            <a:r>
              <a:rPr lang="es-CO" sz="1200" err="1"/>
              <a:t>size</a:t>
            </a:r>
            <a:r>
              <a:rPr lang="es-CO" sz="1200"/>
              <a:t> </a:t>
            </a:r>
            <a:r>
              <a:rPr lang="es-CO" sz="1200" err="1"/>
              <a:t>grows</a:t>
            </a:r>
            <a:r>
              <a:rPr lang="es-CO" sz="1200"/>
              <a:t>, </a:t>
            </a:r>
            <a:r>
              <a:rPr lang="es-CO" sz="1200" err="1"/>
              <a:t>with</a:t>
            </a:r>
            <a:r>
              <a:rPr lang="es-CO" sz="1200"/>
              <a:t> i0'_c </a:t>
            </a:r>
            <a:r>
              <a:rPr lang="es-CO" sz="1200" err="1"/>
              <a:t>ref</a:t>
            </a:r>
            <a:r>
              <a:rPr lang="es-CO" sz="1200"/>
              <a:t>, </a:t>
            </a:r>
            <a:r>
              <a:rPr lang="es-CO" sz="1200" err="1"/>
              <a:t>Pa_des</a:t>
            </a:r>
            <a:r>
              <a:rPr lang="es-CO" sz="1200"/>
              <a:t>, and </a:t>
            </a:r>
            <a:r>
              <a:rPr lang="es-CO" sz="1200" err="1"/>
              <a:t>ifc</a:t>
            </a:r>
            <a:r>
              <a:rPr lang="es-CO" sz="1200"/>
              <a:t> </a:t>
            </a:r>
            <a:r>
              <a:rPr lang="es-CO" sz="1200" err="1"/>
              <a:t>showing</a:t>
            </a:r>
            <a:r>
              <a:rPr lang="es-CO" sz="1200"/>
              <a:t> </a:t>
            </a:r>
            <a:r>
              <a:rPr lang="es-CO" sz="1200" err="1"/>
              <a:t>the</a:t>
            </a:r>
            <a:r>
              <a:rPr lang="es-CO" sz="1200"/>
              <a:t> </a:t>
            </a:r>
            <a:r>
              <a:rPr lang="es-CO" sz="1200" err="1"/>
              <a:t>highest</a:t>
            </a:r>
            <a:r>
              <a:rPr lang="es-CO" sz="1200"/>
              <a:t> total </a:t>
            </a:r>
            <a:r>
              <a:rPr lang="es-CO" sz="1200" err="1"/>
              <a:t>contributions</a:t>
            </a:r>
            <a:r>
              <a:rPr lang="es-CO" sz="1200"/>
              <a:t> </a:t>
            </a:r>
            <a:r>
              <a:rPr lang="es-CO" sz="1200" err="1"/>
              <a:t>to</a:t>
            </a:r>
            <a:r>
              <a:rPr lang="es-CO" sz="1200"/>
              <a:t> output </a:t>
            </a:r>
            <a:r>
              <a:rPr lang="es-CO" sz="1200" err="1"/>
              <a:t>variance</a:t>
            </a:r>
            <a:r>
              <a:rPr lang="es-CO" sz="1200"/>
              <a:t>.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11204BC-55DF-4625-A02D-8849511FAE93}"/>
              </a:ext>
            </a:extLst>
          </p:cNvPr>
          <p:cNvSpPr txBox="1"/>
          <p:nvPr/>
        </p:nvSpPr>
        <p:spPr>
          <a:xfrm>
            <a:off x="907097" y="3429000"/>
            <a:ext cx="2358291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400"/>
              <a:t>N = 8.192</a:t>
            </a:r>
          </a:p>
          <a:p>
            <a:r>
              <a:rPr kumimoji="0" lang="es-CO" sz="1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→ </a:t>
            </a:r>
            <a:r>
              <a:rPr kumimoji="0" lang="es-CO" sz="1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245,760 </a:t>
            </a:r>
            <a:r>
              <a:rPr kumimoji="0" lang="es-CO" sz="14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configurations</a:t>
            </a:r>
            <a:endParaRPr kumimoji="0" lang="es-CO" sz="14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endParaRPr lang="es-CO" sz="1400" b="1"/>
          </a:p>
          <a:p>
            <a:r>
              <a:rPr lang="es-CO" sz="1400"/>
              <a:t>Sum S1 = 0.9217</a:t>
            </a:r>
          </a:p>
          <a:p>
            <a:r>
              <a:rPr lang="es-CO" sz="1400"/>
              <a:t>Sum S2 = 0.0510</a:t>
            </a:r>
          </a:p>
          <a:p>
            <a:r>
              <a:rPr lang="es-CO" sz="1400"/>
              <a:t>Sum S1 + S2 = 0.9727</a:t>
            </a:r>
          </a:p>
          <a:p>
            <a:r>
              <a:rPr lang="es-CO" sz="1400"/>
              <a:t>Sum ST = 1.1068</a:t>
            </a:r>
          </a:p>
        </p:txBody>
      </p:sp>
      <p:sp>
        <p:nvSpPr>
          <p:cNvPr id="33" name="Google Shape;453;g36edeb4292e_1_43">
            <a:extLst>
              <a:ext uri="{FF2B5EF4-FFF2-40B4-BE49-F238E27FC236}">
                <a16:creationId xmlns:a16="http://schemas.microsoft.com/office/drawing/2014/main" id="{CC156C94-C0F6-4161-B58B-9B98A4125A96}"/>
              </a:ext>
            </a:extLst>
          </p:cNvPr>
          <p:cNvSpPr/>
          <p:nvPr/>
        </p:nvSpPr>
        <p:spPr>
          <a:xfrm>
            <a:off x="893443" y="2908800"/>
            <a:ext cx="1895293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600" b="1">
                <a:latin typeface="Source Sans Pro" panose="020B0503030403020204" pitchFamily="34" charset="0"/>
                <a:ea typeface="Source Sans Pro" panose="020B0503030403020204" pitchFamily="34" charset="0"/>
                <a:sym typeface="Fira Sans Extra Condensed"/>
              </a:rPr>
              <a:t>Mass Transport</a:t>
            </a:r>
            <a:endParaRPr sz="1600" b="1">
              <a:latin typeface="Source Sans Pro" panose="020B0503030403020204" pitchFamily="34" charset="0"/>
              <a:ea typeface="Source Sans Pro" panose="020B0503030403020204" pitchFamily="34" charset="0"/>
              <a:sym typeface="Arial"/>
            </a:endParaRPr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D1722CB-6125-AA63-D9AB-61A395886390}"/>
              </a:ext>
            </a:extLst>
          </p:cNvPr>
          <p:cNvGrpSpPr/>
          <p:nvPr/>
        </p:nvGrpSpPr>
        <p:grpSpPr>
          <a:xfrm>
            <a:off x="1765552" y="161260"/>
            <a:ext cx="8716594" cy="307779"/>
            <a:chOff x="1765552" y="161260"/>
            <a:chExt cx="8716594" cy="307779"/>
          </a:xfrm>
        </p:grpSpPr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9AC4E547-DA6C-8589-B807-1365B6530E7B}"/>
                </a:ext>
              </a:extLst>
            </p:cNvPr>
            <p:cNvSpPr txBox="1"/>
            <p:nvPr/>
          </p:nvSpPr>
          <p:spPr>
            <a:xfrm>
              <a:off x="1873404" y="161262"/>
              <a:ext cx="86087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Surrogate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Model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Conclusions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next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steps</a:t>
              </a:r>
              <a:endParaRPr kumimoji="0" lang="es-ES_tradnl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65000"/>
                  </a:scheme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endParaRPr>
            </a:p>
          </p:txBody>
        </p:sp>
        <p:sp>
          <p:nvSpPr>
            <p:cNvPr id="9" name="Rectángulo redondeado 8">
              <a:extLst>
                <a:ext uri="{FF2B5EF4-FFF2-40B4-BE49-F238E27FC236}">
                  <a16:creationId xmlns:a16="http://schemas.microsoft.com/office/drawing/2014/main" id="{540AB51F-6C91-2CDF-6DDD-F3C6173AAF2E}"/>
                </a:ext>
              </a:extLst>
            </p:cNvPr>
            <p:cNvSpPr/>
            <p:nvPr/>
          </p:nvSpPr>
          <p:spPr>
            <a:xfrm>
              <a:off x="4424498" y="161261"/>
              <a:ext cx="2450227" cy="307777"/>
            </a:xfrm>
            <a:prstGeom prst="roundRect">
              <a:avLst>
                <a:gd name="adj" fmla="val 50000"/>
              </a:avLst>
            </a:prstGeom>
            <a:solidFill>
              <a:srgbClr val="008B2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3.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Sensitivity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  <a:r>
                <a:rPr kumimoji="0" lang="es-ES_tradnl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Analysis</a:t>
              </a:r>
              <a:r>
                <a:rPr kumimoji="0" lang="es-ES_tradnl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 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9A8C154-68F3-1BD2-7E97-DAEC8B2F021A}"/>
                </a:ext>
              </a:extLst>
            </p:cNvPr>
            <p:cNvSpPr txBox="1"/>
            <p:nvPr/>
          </p:nvSpPr>
          <p:spPr>
            <a:xfrm>
              <a:off x="1765552" y="161260"/>
              <a:ext cx="342392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Introduction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and </a:t>
              </a:r>
              <a:r>
                <a:rPr kumimoji="0" lang="es-ES_tradnl" sz="1400" b="0" i="0" u="none" strike="noStrike" kern="1200" cap="none" spc="0" normalizeH="0" baseline="0" noProof="0" err="1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motivation</a:t>
              </a:r>
              <a:r>
                <a:rPr kumimoji="0" lang="es-ES_tradnl" sz="1400" b="0" i="0" u="none" strike="noStrike" kern="1200" cap="none" spc="0" normalizeH="0" baseline="0" noProof="0">
                  <a:ln>
                    <a:noFill/>
                  </a:ln>
                  <a:solidFill>
                    <a:schemeClr val="bg1">
                      <a:lumMod val="65000"/>
                    </a:schemeClr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  <a:cs typeface="+mn-cs"/>
                </a:rPr>
                <a:t> | IRD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0080469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CFDC9A-7F51-DC14-3A8B-97B4AE551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054B6AE-2110-8ED8-4233-5DA67BB70F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730"/>
              </p:ext>
            </p:extLst>
          </p:nvPr>
        </p:nvGraphicFramePr>
        <p:xfrm>
          <a:off x="1477412" y="1757951"/>
          <a:ext cx="9593303" cy="441502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69476">
                  <a:extLst>
                    <a:ext uri="{9D8B030D-6E8A-4147-A177-3AD203B41FA5}">
                      <a16:colId xmlns:a16="http://schemas.microsoft.com/office/drawing/2014/main" val="3194583904"/>
                    </a:ext>
                  </a:extLst>
                </a:gridCol>
                <a:gridCol w="996461">
                  <a:extLst>
                    <a:ext uri="{9D8B030D-6E8A-4147-A177-3AD203B41FA5}">
                      <a16:colId xmlns:a16="http://schemas.microsoft.com/office/drawing/2014/main" val="3009171992"/>
                    </a:ext>
                  </a:extLst>
                </a:gridCol>
                <a:gridCol w="1027366">
                  <a:extLst>
                    <a:ext uri="{9D8B030D-6E8A-4147-A177-3AD203B41FA5}">
                      <a16:colId xmlns:a16="http://schemas.microsoft.com/office/drawing/2014/main" val="2461294089"/>
                    </a:ext>
                  </a:extLst>
                </a:gridCol>
              </a:tblGrid>
              <a:tr h="5383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Equation</a:t>
                      </a:r>
                    </a:p>
                  </a:txBody>
                  <a:tcPr anchor="ctr"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R²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MSE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8727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0.854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0.0042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194792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0.8496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0.0043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231963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0.8473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0.0043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261169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0.8329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0.0048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010051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0.828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0.0049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668567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85D28352-01EA-79E6-475B-0B32F602AF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4627" y="2474863"/>
            <a:ext cx="6638925" cy="342900"/>
          </a:xfrm>
          <a:prstGeom prst="rect">
            <a:avLst/>
          </a:prstGeom>
        </p:spPr>
      </p:pic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A6092E0-1472-AF89-4D64-2884C4063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65</a:t>
            </a:fld>
            <a:endParaRPr lang="es-ES_tradnl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A3C835-BC12-6A03-0FF6-E383A0207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8887" y="3162002"/>
            <a:ext cx="4829175" cy="6000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581D4F-933A-240C-00D1-BFCEDB543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1694" y="3947681"/>
            <a:ext cx="5010150" cy="60007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71C0BB3-050A-FD85-F0B3-07292C78A8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328" y="4746200"/>
            <a:ext cx="4352925" cy="60007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920B5BC-A85D-D2BC-71EA-F0B125008D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8064" y="5463759"/>
            <a:ext cx="3914775" cy="60007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92C77114-47C9-4BB3-171F-CEF5A179B62B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75D44358-BDDC-C4AF-4326-73D3DC0D7942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AA7A38E2-FE8B-2C43-9EF1-4F3AEF094BD6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8" name="Google Shape;1859;p37">
            <a:extLst>
              <a:ext uri="{FF2B5EF4-FFF2-40B4-BE49-F238E27FC236}">
                <a16:creationId xmlns:a16="http://schemas.microsoft.com/office/drawing/2014/main" id="{C3C17C6A-D25E-70FA-5968-0A8B68C2BBBE}"/>
              </a:ext>
            </a:extLst>
          </p:cNvPr>
          <p:cNvSpPr/>
          <p:nvPr/>
        </p:nvSpPr>
        <p:spPr>
          <a:xfrm>
            <a:off x="1477411" y="990225"/>
            <a:ext cx="9593303" cy="485158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Top 5 Equations for </a:t>
            </a:r>
            <a:r>
              <a:rPr lang="en-US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PySR</a:t>
            </a: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 with unconstrained search space</a:t>
            </a:r>
          </a:p>
        </p:txBody>
      </p:sp>
      <p:sp>
        <p:nvSpPr>
          <p:cNvPr id="13" name="Google Shape;1091;p66">
            <a:extLst>
              <a:ext uri="{FF2B5EF4-FFF2-40B4-BE49-F238E27FC236}">
                <a16:creationId xmlns:a16="http://schemas.microsoft.com/office/drawing/2014/main" id="{79DAB025-2233-48FF-8B32-CB5410D4F074}"/>
              </a:ext>
            </a:extLst>
          </p:cNvPr>
          <p:cNvSpPr txBox="1"/>
          <p:nvPr/>
        </p:nvSpPr>
        <p:spPr>
          <a:xfrm>
            <a:off x="1477411" y="6154806"/>
            <a:ext cx="6403846" cy="74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ea typeface="Source Sans Pro"/>
              </a:rPr>
              <a:t>Table 9</a:t>
            </a:r>
            <a:r>
              <a:rPr lang="en" sz="1200" b="1" dirty="0"/>
              <a:t>: </a:t>
            </a:r>
            <a:r>
              <a:rPr lang="en" sz="1200">
                <a:sym typeface="Roboto"/>
              </a:rPr>
              <a:t>Top 5 equations </a:t>
            </a:r>
            <a:r>
              <a:rPr lang="en" sz="1200" dirty="0">
                <a:sym typeface="Roboto"/>
              </a:rPr>
              <a:t>based on </a:t>
            </a:r>
            <a:r>
              <a:rPr lang="en" sz="1200">
                <a:sym typeface="Roboto"/>
              </a:rPr>
              <a:t>R² with unconstrained search space</a:t>
            </a:r>
            <a:r>
              <a:rPr lang="en" sz="1200" dirty="0">
                <a:sym typeface="Roboto"/>
              </a:rPr>
              <a:t>.</a:t>
            </a:r>
            <a:endParaRPr lang="en" sz="1200"/>
          </a:p>
        </p:txBody>
      </p:sp>
    </p:spTree>
    <p:extLst>
      <p:ext uri="{BB962C8B-B14F-4D97-AF65-F5344CB8AC3E}">
        <p14:creationId xmlns:p14="http://schemas.microsoft.com/office/powerpoint/2010/main" val="218093403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D5594E8-0C21-5C06-5A8A-AE2AA001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B81680BF-3000-9267-C454-5ED93AAB6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66</a:t>
            </a:fld>
            <a:endParaRPr lang="es-ES_tradnl" b="1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BA31C0-E1EB-DDBD-647B-A57CF0BAF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3316" y="2368626"/>
            <a:ext cx="4769411" cy="295984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67D7F47-C8E2-9A9B-3E79-FF9BDF41DDCE}"/>
              </a:ext>
            </a:extLst>
          </p:cNvPr>
          <p:cNvSpPr txBox="1"/>
          <p:nvPr/>
        </p:nvSpPr>
        <p:spPr>
          <a:xfrm>
            <a:off x="1477410" y="5540647"/>
            <a:ext cx="4023503" cy="7386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latin typeface="Source Sans Pro"/>
                <a:ea typeface="Source Sans Pro"/>
              </a:rPr>
              <a:t>Figure 21: </a:t>
            </a:r>
            <a:r>
              <a:rPr lang="en-US" sz="1400">
                <a:latin typeface="Source Sans Pro"/>
                <a:ea typeface="Source Sans Pro"/>
              </a:rPr>
              <a:t>Residuals of the best equation for different current density values. Residuals increase with the current density.</a:t>
            </a:r>
            <a:endParaRPr lang="en-DE" sz="1400">
              <a:latin typeface="Source Sans Pro"/>
              <a:ea typeface="Source Sans Pro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901057F-C8AE-297C-78B1-DE366605092B}"/>
              </a:ext>
            </a:extLst>
          </p:cNvPr>
          <p:cNvSpPr txBox="1"/>
          <p:nvPr/>
        </p:nvSpPr>
        <p:spPr>
          <a:xfrm>
            <a:off x="6726501" y="5540647"/>
            <a:ext cx="4264441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>
                <a:latin typeface="Source Sans Pro"/>
                <a:ea typeface="Source Sans Pro"/>
              </a:rPr>
              <a:t>Figure 22</a:t>
            </a:r>
            <a:r>
              <a:rPr lang="en-US" sz="1400">
                <a:latin typeface="Source Sans Pro"/>
                <a:ea typeface="Source Sans Pro"/>
              </a:rPr>
              <a:t>: Histogram of the residuals of the best equation. </a:t>
            </a:r>
            <a:endParaRPr lang="en-DE" sz="1400">
              <a:latin typeface="Source Sans Pro"/>
              <a:ea typeface="Source Sans Pro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C434266-1781-FA76-EDE2-A386272865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8531" y="1713373"/>
            <a:ext cx="7456142" cy="387073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6C5270A1-1781-F5BE-F37A-FC052A94730B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B29A3F2-92D2-18F2-3343-BD53E4F5A0DD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3C8561FF-E5A4-DB07-9A5E-F618FAD74C88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6" name="Google Shape;1859;p37">
            <a:extLst>
              <a:ext uri="{FF2B5EF4-FFF2-40B4-BE49-F238E27FC236}">
                <a16:creationId xmlns:a16="http://schemas.microsoft.com/office/drawing/2014/main" id="{B48A7715-0E7B-2E7E-27AB-8430A3B51616}"/>
              </a:ext>
            </a:extLst>
          </p:cNvPr>
          <p:cNvSpPr/>
          <p:nvPr/>
        </p:nvSpPr>
        <p:spPr>
          <a:xfrm>
            <a:off x="1477411" y="990225"/>
            <a:ext cx="9593303" cy="485158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b="1">
                <a:latin typeface="Source Sans Pro"/>
                <a:ea typeface="Source Sans Pro"/>
              </a:rPr>
              <a:t>Residuals for the equation with the best R² (unconstrained)</a:t>
            </a:r>
            <a:endParaRPr lang="en-US" b="1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pic>
        <p:nvPicPr>
          <p:cNvPr id="12" name="Picture 11" descr="A diagram of a distribution of current density&#10;&#10;AI-generated content may be incorrect.">
            <a:extLst>
              <a:ext uri="{FF2B5EF4-FFF2-40B4-BE49-F238E27FC236}">
                <a16:creationId xmlns:a16="http://schemas.microsoft.com/office/drawing/2014/main" id="{C8902B4E-8B54-DBB4-A0CC-29FD395D67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0" y="2458876"/>
            <a:ext cx="6223001" cy="2617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3650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D69C40B-F49C-B47B-129D-80FBA5078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D0E5DAB1-635D-2D8F-B991-918D916A8F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5332114"/>
              </p:ext>
            </p:extLst>
          </p:nvPr>
        </p:nvGraphicFramePr>
        <p:xfrm>
          <a:off x="1477412" y="1757951"/>
          <a:ext cx="9593303" cy="4415029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569476">
                  <a:extLst>
                    <a:ext uri="{9D8B030D-6E8A-4147-A177-3AD203B41FA5}">
                      <a16:colId xmlns:a16="http://schemas.microsoft.com/office/drawing/2014/main" val="3194583904"/>
                    </a:ext>
                  </a:extLst>
                </a:gridCol>
                <a:gridCol w="996461">
                  <a:extLst>
                    <a:ext uri="{9D8B030D-6E8A-4147-A177-3AD203B41FA5}">
                      <a16:colId xmlns:a16="http://schemas.microsoft.com/office/drawing/2014/main" val="3009171992"/>
                    </a:ext>
                  </a:extLst>
                </a:gridCol>
                <a:gridCol w="1027366">
                  <a:extLst>
                    <a:ext uri="{9D8B030D-6E8A-4147-A177-3AD203B41FA5}">
                      <a16:colId xmlns:a16="http://schemas.microsoft.com/office/drawing/2014/main" val="2461294089"/>
                    </a:ext>
                  </a:extLst>
                </a:gridCol>
              </a:tblGrid>
              <a:tr h="53830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 i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Equation</a:t>
                      </a:r>
                    </a:p>
                  </a:txBody>
                  <a:tcPr anchor="ctr"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R²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>
                          <a:solidFill>
                            <a:schemeClr val="tx1"/>
                          </a:solidFill>
                          <a:latin typeface="Source Sans Pro"/>
                          <a:ea typeface="Source Sans Pro"/>
                        </a:rPr>
                        <a:t>MSE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448727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0.884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0.0032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194792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0.884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0.0032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231963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0.884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0.0032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4261169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0.8749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0.0036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8010051"/>
                  </a:ext>
                </a:extLst>
              </a:tr>
              <a:tr h="775344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/>
                    </a:p>
                  </a:txBody>
                  <a:tcPr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0.8735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>
                          <a:latin typeface="Source Sans Pro"/>
                          <a:ea typeface="Source Sans Pro"/>
                        </a:rPr>
                        <a:t>0.0038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9050" cap="flat" cmpd="sng" algn="ctr">
                      <a:solidFill>
                        <a:srgbClr val="FFB90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53668567"/>
                  </a:ext>
                </a:extLst>
              </a:tr>
            </a:tbl>
          </a:graphicData>
        </a:graphic>
      </p:graphicFrame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A821CF40-7E5B-C698-FB03-D400F443F2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67</a:t>
            </a:fld>
            <a:endParaRPr lang="es-ES_tradnl" b="1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BCA1813-D4FA-971A-BB14-ACE02915FE8C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04100EA0-BB29-FEED-4B3F-95957EFDA158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C23B5068-681C-84C5-71BB-5913C0F42098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sp>
        <p:nvSpPr>
          <p:cNvPr id="7" name="Google Shape;1859;p37">
            <a:extLst>
              <a:ext uri="{FF2B5EF4-FFF2-40B4-BE49-F238E27FC236}">
                <a16:creationId xmlns:a16="http://schemas.microsoft.com/office/drawing/2014/main" id="{07ACCCDD-FFE3-3D23-F690-77249FB9DAD9}"/>
              </a:ext>
            </a:extLst>
          </p:cNvPr>
          <p:cNvSpPr/>
          <p:nvPr/>
        </p:nvSpPr>
        <p:spPr>
          <a:xfrm>
            <a:off x="1477411" y="990225"/>
            <a:ext cx="9593303" cy="485158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Top 5 Equations for </a:t>
            </a:r>
            <a:r>
              <a:rPr lang="en-US" b="1" err="1">
                <a:latin typeface="Source Sans Pro" panose="020B0503030403020204" pitchFamily="34" charset="0"/>
                <a:ea typeface="Source Sans Pro" panose="020B0503030403020204" pitchFamily="34" charset="0"/>
              </a:rPr>
              <a:t>PySR</a:t>
            </a:r>
            <a:r>
              <a:rPr lang="en-US" b="1">
                <a:latin typeface="Source Sans Pro" panose="020B0503030403020204" pitchFamily="34" charset="0"/>
                <a:ea typeface="Source Sans Pro" panose="020B0503030403020204" pitchFamily="34" charset="0"/>
              </a:rPr>
              <a:t> with constrained search space (physics- informed)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7780ABE-DA18-EA7C-F231-D520022019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592" y="2442815"/>
            <a:ext cx="8311817" cy="4411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0E8503B-6269-E7A3-5DCB-5EBE29BE97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39" y="3194965"/>
            <a:ext cx="8314323" cy="4411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0210B19-0E1C-26FA-D557-19C5E3841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87" y="3965408"/>
            <a:ext cx="8406064" cy="44115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A67166-FC06-6621-603A-4E90729DB5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849" y="4767513"/>
            <a:ext cx="8327358" cy="5213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92467E9-71B6-E56A-EFBB-32F4825788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597" y="5479382"/>
            <a:ext cx="8207543" cy="531395"/>
          </a:xfrm>
          <a:prstGeom prst="rect">
            <a:avLst/>
          </a:prstGeom>
        </p:spPr>
      </p:pic>
      <p:sp>
        <p:nvSpPr>
          <p:cNvPr id="6" name="Google Shape;1091;p66">
            <a:extLst>
              <a:ext uri="{FF2B5EF4-FFF2-40B4-BE49-F238E27FC236}">
                <a16:creationId xmlns:a16="http://schemas.microsoft.com/office/drawing/2014/main" id="{F146C8AA-74D5-47E0-A58A-D9EA98375D17}"/>
              </a:ext>
            </a:extLst>
          </p:cNvPr>
          <p:cNvSpPr txBox="1"/>
          <p:nvPr/>
        </p:nvSpPr>
        <p:spPr>
          <a:xfrm>
            <a:off x="1539693" y="5925330"/>
            <a:ext cx="6403846" cy="7473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sz="1200" b="1">
                <a:ea typeface="Source Sans Pro"/>
              </a:rPr>
              <a:t>Table 10</a:t>
            </a:r>
            <a:r>
              <a:rPr lang="en" sz="1200" b="1" dirty="0"/>
              <a:t>: </a:t>
            </a:r>
            <a:r>
              <a:rPr lang="en" sz="1200">
                <a:sym typeface="Roboto"/>
              </a:rPr>
              <a:t>Top 5 equations </a:t>
            </a:r>
            <a:r>
              <a:rPr lang="en" sz="1200" dirty="0">
                <a:sym typeface="Roboto"/>
              </a:rPr>
              <a:t>based on </a:t>
            </a:r>
            <a:r>
              <a:rPr lang="en" sz="1200">
                <a:sym typeface="Roboto"/>
              </a:rPr>
              <a:t>R² with constrained search space </a:t>
            </a:r>
            <a:r>
              <a:rPr lang="en" sz="1200" dirty="0">
                <a:sym typeface="Roboto"/>
              </a:rPr>
              <a:t>(</a:t>
            </a:r>
            <a:r>
              <a:rPr lang="en" sz="1200">
                <a:sym typeface="Roboto"/>
              </a:rPr>
              <a:t>physics-informed</a:t>
            </a:r>
            <a:r>
              <a:rPr lang="en" sz="1200" dirty="0">
                <a:sym typeface="Roboto"/>
              </a:rPr>
              <a:t>).</a:t>
            </a:r>
            <a:endParaRPr lang="en-US" sz="1200"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63860649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66E43E6-80D2-DFFC-CECE-1473A63B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redondeado 3">
            <a:extLst>
              <a:ext uri="{FF2B5EF4-FFF2-40B4-BE49-F238E27FC236}">
                <a16:creationId xmlns:a16="http://schemas.microsoft.com/office/drawing/2014/main" id="{D067A2F6-6512-735A-AEFA-AAD628A4161C}"/>
              </a:ext>
            </a:extLst>
          </p:cNvPr>
          <p:cNvSpPr/>
          <p:nvPr/>
        </p:nvSpPr>
        <p:spPr>
          <a:xfrm>
            <a:off x="1166148" y="942553"/>
            <a:ext cx="10020328" cy="527651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  <a:latin typeface="Source Sans Pro"/>
                <a:ea typeface="Source Sans Pro"/>
              </a:rPr>
              <a:t>Residuals for the equation with the best R² (physics-informed)</a:t>
            </a:r>
            <a:endParaRPr lang="en-DE" b="1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289C40B-F520-2DCE-85FE-ADDB9C299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5BC28E-972B-EC47-BE79-29D89D46B9CA}" type="slidenum">
              <a:rPr lang="es-ES_tradnl" b="1" smtClean="0"/>
              <a:t>68</a:t>
            </a:fld>
            <a:endParaRPr lang="es-ES_tradnl" b="1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496490-548F-E588-0255-CD061BC14898}"/>
              </a:ext>
            </a:extLst>
          </p:cNvPr>
          <p:cNvSpPr txBox="1"/>
          <p:nvPr/>
        </p:nvSpPr>
        <p:spPr>
          <a:xfrm>
            <a:off x="1441114" y="5518436"/>
            <a:ext cx="3696943" cy="95410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400" b="1">
                <a:latin typeface="Source Sans Pro"/>
                <a:ea typeface="Source Sans Pro"/>
              </a:rPr>
              <a:t>Figure 23:  </a:t>
            </a:r>
            <a:r>
              <a:rPr lang="en-US" sz="1400">
                <a:latin typeface="Source Sans Pro"/>
                <a:ea typeface="Source Sans Pro"/>
              </a:rPr>
              <a:t>Residuals of the best equation for different current density values. Residuals increase with the current density.</a:t>
            </a:r>
          </a:p>
          <a:p>
            <a:endParaRPr lang="en-US" sz="14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FD15437-AE1C-046B-CB07-954822827E97}"/>
              </a:ext>
            </a:extLst>
          </p:cNvPr>
          <p:cNvSpPr txBox="1"/>
          <p:nvPr/>
        </p:nvSpPr>
        <p:spPr>
          <a:xfrm>
            <a:off x="6949771" y="5515518"/>
            <a:ext cx="6096000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400" b="1">
                <a:latin typeface="Source Sans Pro"/>
                <a:ea typeface="Source Sans Pro"/>
              </a:rPr>
              <a:t>Figure 24:  </a:t>
            </a:r>
            <a:r>
              <a:rPr lang="en-US" sz="1400">
                <a:latin typeface="Source Sans Pro"/>
                <a:ea typeface="Source Sans Pro"/>
              </a:rPr>
              <a:t>Histogram of the residuals of the best equation.</a:t>
            </a:r>
            <a:endParaRPr lang="en-DE" sz="1400">
              <a:latin typeface="Source Sans Pro"/>
              <a:ea typeface="Source Sans Pro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093CAB8-F278-A3CB-B11D-3AAC61C4CEC9}"/>
              </a:ext>
            </a:extLst>
          </p:cNvPr>
          <p:cNvSpPr txBox="1"/>
          <p:nvPr/>
        </p:nvSpPr>
        <p:spPr>
          <a:xfrm>
            <a:off x="3238199" y="175685"/>
            <a:ext cx="385726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Motivation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Validity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|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Sensitivity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Analysis</a:t>
            </a:r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96D45DD8-0C36-4196-532B-1796BB83DC27}"/>
              </a:ext>
            </a:extLst>
          </p:cNvPr>
          <p:cNvSpPr txBox="1"/>
          <p:nvPr/>
        </p:nvSpPr>
        <p:spPr>
          <a:xfrm>
            <a:off x="9214338" y="175686"/>
            <a:ext cx="1121151" cy="307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_tradnl" sz="1400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Future </a:t>
            </a:r>
            <a:r>
              <a:rPr lang="es-ES_tradnl" sz="1400" err="1">
                <a:solidFill>
                  <a:schemeClr val="bg1">
                    <a:lumMod val="65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Work</a:t>
            </a:r>
            <a:endParaRPr lang="es-ES_tradnl" sz="1400">
              <a:solidFill>
                <a:schemeClr val="bg1">
                  <a:lumMod val="65000"/>
                </a:schemeClr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Rectángulo redondeado 4">
            <a:extLst>
              <a:ext uri="{FF2B5EF4-FFF2-40B4-BE49-F238E27FC236}">
                <a16:creationId xmlns:a16="http://schemas.microsoft.com/office/drawing/2014/main" id="{08C6A1CF-99D7-852C-A36C-A12692922C7F}"/>
              </a:ext>
            </a:extLst>
          </p:cNvPr>
          <p:cNvSpPr/>
          <p:nvPr/>
        </p:nvSpPr>
        <p:spPr>
          <a:xfrm>
            <a:off x="7135335" y="175687"/>
            <a:ext cx="2148669" cy="307777"/>
          </a:xfrm>
          <a:prstGeom prst="roundRect">
            <a:avLst>
              <a:gd name="adj" fmla="val 50000"/>
            </a:avLst>
          </a:prstGeom>
          <a:solidFill>
            <a:srgbClr val="FFB90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>
                <a:solidFill>
                  <a:schemeClr val="tx1"/>
                </a:solidFill>
              </a:rPr>
              <a:t>4.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Surrogate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r>
              <a:rPr lang="es-ES_tradnl" err="1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Model</a:t>
            </a:r>
            <a:r>
              <a:rPr lang="es-ES_tradnl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 </a:t>
            </a:r>
            <a:endParaRPr lang="es-ES_tradnl">
              <a:solidFill>
                <a:schemeClr val="tx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BEC613B-9C08-D2CF-5910-C8450CC361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675" y="1585565"/>
            <a:ext cx="9560650" cy="525825"/>
          </a:xfrm>
          <a:prstGeom prst="rect">
            <a:avLst/>
          </a:prstGeom>
        </p:spPr>
      </p:pic>
      <p:pic>
        <p:nvPicPr>
          <p:cNvPr id="13" name="Picture 12" descr="A graph of a graph&#10;&#10;AI-generated content may be incorrect.">
            <a:extLst>
              <a:ext uri="{FF2B5EF4-FFF2-40B4-BE49-F238E27FC236}">
                <a16:creationId xmlns:a16="http://schemas.microsoft.com/office/drawing/2014/main" id="{5E0E5898-157A-B30B-42C6-1C43DD9172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2722" y="2587625"/>
            <a:ext cx="4594225" cy="28363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9D55D38-4F00-0AAE-CA02-E3D53606DD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999" y="2734042"/>
            <a:ext cx="6096001" cy="255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96190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LMU_slides_Template" id="{1E660083-77C8-CC42-8F4D-F4BD403D79FF}" vid="{02494F8E-484B-C34C-B000-3224F455E1F7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DNC_LMU_slides_Template_v1</Template>
  <TotalTime>1221</TotalTime>
  <Words>8728</Words>
  <Application>Microsoft Office PowerPoint</Application>
  <PresentationFormat>Panorámica</PresentationFormat>
  <Paragraphs>2007</Paragraphs>
  <Slides>68</Slides>
  <Notes>24</Notes>
  <HiddenSlides>26</HiddenSlides>
  <MMClips>0</MMClips>
  <ScaleCrop>false</ScaleCrop>
  <HeadingPairs>
    <vt:vector size="6" baseType="variant">
      <vt:variant>
        <vt:lpstr>Fuentes usadas</vt:lpstr>
      </vt:variant>
      <vt:variant>
        <vt:i4>14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68</vt:i4>
      </vt:variant>
    </vt:vector>
  </HeadingPairs>
  <TitlesOfParts>
    <vt:vector size="83" baseType="lpstr">
      <vt:lpstr>Aptos</vt:lpstr>
      <vt:lpstr>Aptos Display</vt:lpstr>
      <vt:lpstr>Aptos Narrow</vt:lpstr>
      <vt:lpstr>Arial</vt:lpstr>
      <vt:lpstr>Arial,Sans-Serif</vt:lpstr>
      <vt:lpstr>Cambria Math</vt:lpstr>
      <vt:lpstr>Fira Sans Extra Condensed</vt:lpstr>
      <vt:lpstr>Nunito</vt:lpstr>
      <vt:lpstr>Roboto</vt:lpstr>
      <vt:lpstr>Segoe UI</vt:lpstr>
      <vt:lpstr>Source Sans Pro</vt:lpstr>
      <vt:lpstr>Source Sans Pro Light</vt:lpstr>
      <vt:lpstr>Source Sans Pro SemiBold</vt:lpstr>
      <vt:lpstr>Wingdings</vt:lpstr>
      <vt:lpstr>Tema de Office</vt:lpstr>
      <vt:lpstr>Presentación de PowerPoint</vt:lpstr>
      <vt:lpstr>Presentación de PowerPoint</vt:lpstr>
      <vt:lpstr>Presentación de PowerPoint</vt:lpstr>
      <vt:lpstr>Understanding PEMFCs through surrogates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camila bermudez</dc:creator>
  <cp:lastModifiedBy>Camila Bermudez Valderrama</cp:lastModifiedBy>
  <cp:revision>16</cp:revision>
  <cp:lastPrinted>2025-07-31T11:10:49Z</cp:lastPrinted>
  <dcterms:created xsi:type="dcterms:W3CDTF">2025-07-18T14:40:14Z</dcterms:created>
  <dcterms:modified xsi:type="dcterms:W3CDTF">2025-08-01T12:01:00Z</dcterms:modified>
</cp:coreProperties>
</file>